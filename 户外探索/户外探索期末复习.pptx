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401" r:id="rId2"/>
    <p:sldId id="395" r:id="rId3"/>
    <p:sldId id="396" r:id="rId4"/>
    <p:sldId id="431" r:id="rId5"/>
    <p:sldId id="454" r:id="rId6"/>
    <p:sldId id="429" r:id="rId7"/>
    <p:sldId id="455" r:id="rId8"/>
    <p:sldId id="456" r:id="rId9"/>
    <p:sldId id="436" r:id="rId10"/>
    <p:sldId id="458" r:id="rId11"/>
    <p:sldId id="457" r:id="rId12"/>
    <p:sldId id="459" r:id="rId13"/>
    <p:sldId id="460" r:id="rId14"/>
    <p:sldId id="461" r:id="rId15"/>
    <p:sldId id="466" r:id="rId16"/>
    <p:sldId id="467" r:id="rId17"/>
    <p:sldId id="468" r:id="rId18"/>
    <p:sldId id="462" r:id="rId19"/>
    <p:sldId id="463" r:id="rId20"/>
    <p:sldId id="465" r:id="rId21"/>
    <p:sldId id="464" r:id="rId22"/>
    <p:sldId id="469" r:id="rId23"/>
    <p:sldId id="476" r:id="rId24"/>
    <p:sldId id="477" r:id="rId25"/>
    <p:sldId id="475" r:id="rId26"/>
    <p:sldId id="474" r:id="rId27"/>
    <p:sldId id="470" r:id="rId28"/>
    <p:sldId id="471" r:id="rId29"/>
    <p:sldId id="473" r:id="rId30"/>
    <p:sldId id="478" r:id="rId31"/>
    <p:sldId id="482" r:id="rId32"/>
    <p:sldId id="481" r:id="rId33"/>
    <p:sldId id="480" r:id="rId34"/>
    <p:sldId id="479" r:id="rId35"/>
    <p:sldId id="483" r:id="rId36"/>
    <p:sldId id="261" r:id="rId3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>
          <p15:clr>
            <a:srgbClr val="A4A3A4"/>
          </p15:clr>
        </p15:guide>
        <p15:guide id="2" pos="29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lor xu" initials="sx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A70"/>
    <a:srgbClr val="376092"/>
    <a:srgbClr val="7D9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11" autoAdjust="0"/>
    <p:restoredTop sz="86420" autoAdjust="0"/>
  </p:normalViewPr>
  <p:slideViewPr>
    <p:cSldViewPr>
      <p:cViewPr varScale="1">
        <p:scale>
          <a:sx n="77" d="100"/>
          <a:sy n="77" d="100"/>
        </p:scale>
        <p:origin x="564" y="33"/>
      </p:cViewPr>
      <p:guideLst>
        <p:guide orient="horz" pos="1616"/>
        <p:guide pos="2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3" d="100"/>
          <a:sy n="33" d="100"/>
        </p:scale>
        <p:origin x="2115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1ACD-E0D4-45D0-BE2C-FEC48407A5B2}" type="datetimeFigureOut">
              <a:rPr lang="zh-CN" altLang="en-US" smtClean="0">
                <a:ea typeface="微软雅黑" panose="020B0503020204020204" pitchFamily="34" charset="-122"/>
              </a:rPr>
              <a:t>2021/1/2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C79DC-261A-42F5-B052-8CAC5AF6174C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44CDCCFB-89CF-4E70-8B78-57A42D8A8487}" type="datetimeFigureOut">
              <a:rPr lang="zh-CN" altLang="en-US" smtClean="0"/>
              <a:t>2021/1/2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812DE561-3210-4926-AE16-563450E56B6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2DE561-3210-4926-AE16-563450E56B6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2DE561-3210-4926-AE16-563450E56B6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DE561-3210-4926-AE16-563450E56B67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29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首页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2518699" y="3075806"/>
            <a:ext cx="41066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中国登山协会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·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培训部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2019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年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765" y="267494"/>
            <a:ext cx="1764468" cy="1764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335914" y="4336927"/>
            <a:ext cx="72000" cy="72008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4526925" y="4331433"/>
            <a:ext cx="72000" cy="72008"/>
          </a:xfrm>
          <a:prstGeom prst="ellips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4908947" y="4336732"/>
            <a:ext cx="72000" cy="72008"/>
          </a:xfrm>
          <a:prstGeom prst="ellips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4717936" y="4331433"/>
            <a:ext cx="72000" cy="72008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4147809" y="4331433"/>
            <a:ext cx="72000" cy="72008"/>
          </a:xfrm>
          <a:prstGeom prst="ellips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内容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583524"/>
            <a:ext cx="7772400" cy="1556177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2A4A7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239251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rgbClr val="2A4A70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80000"/>
            <a:ext cx="845689" cy="845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页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EDD76B-E6F0-4AA5-8F45-B74ACC251E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76FF65-F548-45EA-B36B-C7430E8B11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E803F-B2E1-4EBB-88EF-A747830E6E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3A59089-F406-4823-84B5-338FABB73C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60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b="35186"/>
          <a:stretch>
            <a:fillRect/>
          </a:stretch>
        </p:blipFill>
        <p:spPr bwMode="auto">
          <a:xfrm flipH="1">
            <a:off x="-1" y="6650"/>
            <a:ext cx="9144000" cy="30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1" name="组合 12"/>
          <p:cNvGrpSpPr/>
          <p:nvPr/>
        </p:nvGrpSpPr>
        <p:grpSpPr bwMode="auto">
          <a:xfrm>
            <a:off x="300355" y="4406265"/>
            <a:ext cx="2115185" cy="299085"/>
            <a:chOff x="497058" y="2212759"/>
            <a:chExt cx="1685677" cy="399495"/>
          </a:xfrm>
        </p:grpSpPr>
        <p:sp>
          <p:nvSpPr>
            <p:cNvPr id="11" name="矩形 10"/>
            <p:cNvSpPr/>
            <p:nvPr/>
          </p:nvSpPr>
          <p:spPr>
            <a:xfrm>
              <a:off x="497058" y="2212934"/>
              <a:ext cx="1685677" cy="399177"/>
            </a:xfrm>
            <a:prstGeom prst="rect">
              <a:avLst/>
            </a:prstGeom>
            <a:solidFill>
              <a:srgbClr val="8F00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15" dirty="0">
                <a:ea typeface="微软雅黑" panose="020B0503020204020204" pitchFamily="34" charset="-122"/>
              </a:endParaRPr>
            </a:p>
          </p:txBody>
        </p:sp>
        <p:sp>
          <p:nvSpPr>
            <p:cNvPr id="27657" name="文本框 10"/>
            <p:cNvSpPr txBox="1">
              <a:spLocks noChangeArrowheads="1"/>
            </p:cNvSpPr>
            <p:nvPr/>
          </p:nvSpPr>
          <p:spPr bwMode="auto">
            <a:xfrm>
              <a:off x="497058" y="2212759"/>
              <a:ext cx="1567260" cy="399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Gill Sans 常规体" charset="0"/>
                  <a:cs typeface="Gill Sans 常规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2020 12 31</a:t>
              </a:r>
              <a:r>
                <a: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日期  方翔</a:t>
              </a:r>
            </a:p>
          </p:txBody>
        </p:sp>
      </p:grpSp>
      <p:sp>
        <p:nvSpPr>
          <p:cNvPr id="27652" name="文本框 6"/>
          <p:cNvSpPr txBox="1">
            <a:spLocks noChangeArrowheads="1"/>
          </p:cNvSpPr>
          <p:nvPr/>
        </p:nvSpPr>
        <p:spPr bwMode="auto">
          <a:xfrm>
            <a:off x="5389960" y="5389960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Gill Sans 常规体" charset="0"/>
                <a:cs typeface="Gill Sans 常规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-11706"/>
            <a:ext cx="9144000" cy="3071813"/>
          </a:xfrm>
          <a:prstGeom prst="rect">
            <a:avLst/>
          </a:prstGeom>
          <a:solidFill>
            <a:schemeClr val="tx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endParaRPr kumimoji="1" lang="zh-CN" altLang="en-US" sz="1350"/>
          </a:p>
        </p:txBody>
      </p:sp>
      <p:pic>
        <p:nvPicPr>
          <p:cNvPr id="27654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23825"/>
            <a:ext cx="1502569" cy="42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7"/>
          <p:cNvSpPr txBox="1">
            <a:spLocks noChangeArrowheads="1"/>
          </p:cNvSpPr>
          <p:nvPr/>
        </p:nvSpPr>
        <p:spPr bwMode="auto">
          <a:xfrm>
            <a:off x="245269" y="3327798"/>
            <a:ext cx="418271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户外探险教育</a:t>
            </a:r>
            <a:b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户外探索期末复习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 txBox="1"/>
          <p:nvPr/>
        </p:nvSpPr>
        <p:spPr>
          <a:xfrm>
            <a:off x="1598295" y="1450975"/>
            <a:ext cx="5948045" cy="2521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kern="1200">
                <a:solidFill>
                  <a:srgbClr val="2A4A7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50000"/>
              </a:lnSpc>
              <a:buClr>
                <a:srgbClr val="FFC000"/>
              </a:buClr>
              <a:buSzTx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什么是户外运动？</a:t>
            </a:r>
          </a:p>
          <a:p>
            <a:pPr marL="0" lvl="1" algn="l">
              <a:lnSpc>
                <a:spcPct val="150000"/>
              </a:lnSpc>
              <a:buClr>
                <a:srgbClr val="FFC000"/>
              </a:buClr>
              <a:buSzTx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户外运动与传统体育运动的区别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marL="0" lvl="1" algn="l">
              <a:lnSpc>
                <a:spcPct val="150000"/>
              </a:lnSpc>
              <a:buClr>
                <a:srgbClr val="FFC000"/>
              </a:buClr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什么是极限运动？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l">
              <a:lnSpc>
                <a:spcPct val="150000"/>
              </a:lnSpc>
              <a:buClr>
                <a:srgbClr val="FFC000"/>
              </a:buClr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户外探索课程都是些什么内容？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l">
              <a:lnSpc>
                <a:spcPct val="150000"/>
              </a:lnSpc>
              <a:buClr>
                <a:srgbClr val="FFC000"/>
              </a:buClr>
            </a:pP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l">
              <a:lnSpc>
                <a:spcPct val="150000"/>
              </a:lnSpc>
              <a:buClr>
                <a:srgbClr val="FFC000"/>
              </a:buClr>
            </a:pP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55" y="605148"/>
            <a:ext cx="7772400" cy="836098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chemeClr val="tx1"/>
                </a:solidFill>
              </a:rPr>
              <a:t>户外运动</a:t>
            </a:r>
          </a:p>
        </p:txBody>
      </p:sp>
      <p:sp>
        <p:nvSpPr>
          <p:cNvPr id="5" name="副标题 2"/>
          <p:cNvSpPr txBox="1"/>
          <p:nvPr/>
        </p:nvSpPr>
        <p:spPr>
          <a:xfrm>
            <a:off x="685800" y="1441450"/>
            <a:ext cx="8062595" cy="991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kern="1200">
                <a:solidFill>
                  <a:srgbClr val="2A4A7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50000"/>
              </a:lnSpc>
              <a:buClr>
                <a:srgbClr val="FFC00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定义：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是人们在</a:t>
            </a:r>
            <a:r>
              <a:rPr 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自然环境</a:t>
            </a: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中进行的，以休闲健身为目的的一类运动项目的统称。</a:t>
            </a:r>
          </a:p>
          <a:p>
            <a:pPr marL="0" lvl="1" algn="l">
              <a:lnSpc>
                <a:spcPct val="150000"/>
              </a:lnSpc>
              <a:buClr>
                <a:srgbClr val="FFC000"/>
              </a:buClr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5" name="TextBox 102"/>
          <p:cNvSpPr txBox="1"/>
          <p:nvPr/>
        </p:nvSpPr>
        <p:spPr>
          <a:xfrm>
            <a:off x="685855" y="2432794"/>
            <a:ext cx="6048672" cy="1495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：自然环境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借助自然环境  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依托“自然”环境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defTabSz="685800"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：遵从运动项目原有的基础规则</a:t>
            </a:r>
          </a:p>
          <a:p>
            <a:pPr defTabSz="685800"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：目的是为了休闲健身，而不是竞技比赛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14919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ym typeface="+mn-ea"/>
              </a:rPr>
              <a:t>竞技体育与休闲体育的区别</a:t>
            </a:r>
            <a:endParaRPr lang="zh-CN" altLang="en-US" sz="4000"/>
          </a:p>
        </p:txBody>
      </p:sp>
      <p:sp>
        <p:nvSpPr>
          <p:cNvPr id="4" name="文本框 3"/>
          <p:cNvSpPr txBox="1"/>
          <p:nvPr/>
        </p:nvSpPr>
        <p:spPr>
          <a:xfrm>
            <a:off x="457200" y="1303020"/>
            <a:ext cx="34366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标准场地为必要条件 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有项目成绩有世界记录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目的是竞技对手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17415" y="1303020"/>
            <a:ext cx="39693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标准场地为非必要条件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只有本场地的项目最好成绩</a:t>
            </a: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目的是调整自我 </a:t>
            </a:r>
            <a:endParaRPr lang="zh-CN" altLang="en-US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9810"/>
            <a:ext cx="3636010" cy="267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 descr="QQ截图202003120013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415" y="2290445"/>
            <a:ext cx="3665855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80959"/>
            <a:ext cx="8229600" cy="857250"/>
          </a:xfrm>
        </p:spPr>
        <p:txBody>
          <a:bodyPr/>
          <a:lstStyle/>
          <a:p>
            <a:pPr algn="l"/>
            <a:r>
              <a:rPr lang="zh-CN" altLang="en-US" sz="2800"/>
              <a:t>极限运动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1422400"/>
            <a:ext cx="6633547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sym typeface="+mn-ea"/>
              </a:rPr>
              <a:t>极限运动（</a:t>
            </a: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） 指难度大 挑战性高的运动项目。</a:t>
            </a:r>
          </a:p>
        </p:txBody>
      </p:sp>
      <p:sp>
        <p:nvSpPr>
          <p:cNvPr id="6" name="椭圆 5"/>
          <p:cNvSpPr/>
          <p:nvPr/>
        </p:nvSpPr>
        <p:spPr>
          <a:xfrm>
            <a:off x="803910" y="2390775"/>
            <a:ext cx="3544570" cy="22078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户外运动项目</a:t>
            </a:r>
          </a:p>
        </p:txBody>
      </p:sp>
      <p:sp>
        <p:nvSpPr>
          <p:cNvPr id="7" name="椭圆 6"/>
          <p:cNvSpPr/>
          <p:nvPr/>
        </p:nvSpPr>
        <p:spPr>
          <a:xfrm>
            <a:off x="3291840" y="2988310"/>
            <a:ext cx="1056005" cy="9791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极限运动项目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12310" y="3033395"/>
            <a:ext cx="42976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登珠峰、翼装飞行、自由深潜、自由攀岩</a:t>
            </a:r>
          </a:p>
          <a:p>
            <a:endParaRPr lang="zh-CN" altLang="en-US"/>
          </a:p>
          <a:p>
            <a:r>
              <a:rPr lang="zh-CN" altLang="en-US"/>
              <a:t>等运动项目本身就具有极高的难度和挑战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9F1DBE-B92A-4857-A709-15D036FDB531}"/>
              </a:ext>
            </a:extLst>
          </p:cNvPr>
          <p:cNvSpPr txBox="1"/>
          <p:nvPr/>
        </p:nvSpPr>
        <p:spPr>
          <a:xfrm>
            <a:off x="465015" y="1859499"/>
            <a:ext cx="8103500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sym typeface="+mn-ea"/>
              </a:rPr>
              <a:t>极限运动（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） 运动相对于个人的技术、体能、心理而言。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92694"/>
            <a:ext cx="8229600" cy="85725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户外探索有哪些内容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603375" y="1753870"/>
            <a:ext cx="604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华文新魏" panose="02010800040101010101" charset="-122"/>
                <a:ea typeface="华文新魏" panose="02010800040101010101" charset="-122"/>
              </a:rPr>
              <a:t>是户外类体育运动项目的</a:t>
            </a:r>
            <a:r>
              <a:rPr lang="zh-CN" altLang="en-US" sz="20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基础运动技术</a:t>
            </a:r>
            <a:r>
              <a:rPr lang="zh-CN" altLang="en-US" sz="2000" b="1">
                <a:latin typeface="华文新魏" panose="02010800040101010101" charset="-122"/>
                <a:ea typeface="华文新魏" panose="02010800040101010101" charset="-122"/>
              </a:rPr>
              <a:t>的组成部分</a:t>
            </a:r>
          </a:p>
        </p:txBody>
      </p:sp>
      <p:sp>
        <p:nvSpPr>
          <p:cNvPr id="4" name="下箭头 3"/>
          <p:cNvSpPr/>
          <p:nvPr/>
        </p:nvSpPr>
        <p:spPr>
          <a:xfrm rot="1380000">
            <a:off x="2965450" y="2428875"/>
            <a:ext cx="285750" cy="924560"/>
          </a:xfrm>
          <a:prstGeom prst="downArrow">
            <a:avLst>
              <a:gd name="adj1" fmla="val 22666"/>
              <a:gd name="adj2" fmla="val 911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下箭头 4"/>
          <p:cNvSpPr/>
          <p:nvPr/>
        </p:nvSpPr>
        <p:spPr>
          <a:xfrm rot="20100000">
            <a:off x="5888990" y="2426970"/>
            <a:ext cx="285750" cy="924560"/>
          </a:xfrm>
          <a:prstGeom prst="downArrow">
            <a:avLst>
              <a:gd name="adj1" fmla="val 22666"/>
              <a:gd name="adj2" fmla="val 911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01825" y="3372485"/>
            <a:ext cx="205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华文新魏" panose="02010800040101010101" charset="-122"/>
                <a:ea typeface="华文新魏" panose="02010800040101010101" charset="-122"/>
              </a:rPr>
              <a:t>运动项目</a:t>
            </a:r>
            <a:r>
              <a:rPr lang="zh-CN" altLang="en-US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专项</a:t>
            </a:r>
            <a:r>
              <a:rPr lang="zh-CN" altLang="en-US">
                <a:latin typeface="华文新魏" panose="02010800040101010101" charset="-122"/>
                <a:ea typeface="华文新魏" panose="02010800040101010101" charset="-122"/>
              </a:rPr>
              <a:t>技术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87315" y="3372485"/>
            <a:ext cx="205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华文新魏" panose="02010800040101010101" charset="-122"/>
                <a:ea typeface="华文新魏" panose="02010800040101010101" charset="-122"/>
              </a:rPr>
              <a:t>运动项目</a:t>
            </a:r>
            <a:r>
              <a:rPr lang="zh-CN" altLang="en-US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基础</a:t>
            </a:r>
            <a:r>
              <a:rPr lang="zh-CN" altLang="en-US">
                <a:latin typeface="华文新魏" panose="02010800040101010101" charset="-122"/>
                <a:ea typeface="华文新魏" panose="02010800040101010101" charset="-122"/>
              </a:rPr>
              <a:t>技术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BED6E-E406-4DC4-BAD2-7F5C1BB8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FB7967-0261-4D5E-8408-5E18A965D1DA}"/>
              </a:ext>
            </a:extLst>
          </p:cNvPr>
          <p:cNvSpPr txBox="1"/>
          <p:nvPr/>
        </p:nvSpPr>
        <p:spPr>
          <a:xfrm>
            <a:off x="1259632" y="1563638"/>
            <a:ext cx="6192688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八个绳结的用途</a:t>
            </a:r>
          </a:p>
          <a:p>
            <a:pPr lvl="0" algn="just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绳结打法的注意事项</a:t>
            </a:r>
          </a:p>
          <a:p>
            <a:pPr lvl="0" algn="just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保护点的设置与绳尾末端的注意事项</a:t>
            </a:r>
          </a:p>
          <a:p>
            <a:pPr lvl="0" algn="just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安全带的穿戴注意事项及装备维护</a:t>
            </a:r>
          </a:p>
        </p:txBody>
      </p:sp>
    </p:spTree>
    <p:extLst>
      <p:ext uri="{BB962C8B-B14F-4D97-AF65-F5344CB8AC3E}">
        <p14:creationId xmlns:p14="http://schemas.microsoft.com/office/powerpoint/2010/main" val="428745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88243-F59D-470D-A3E4-FE23ACF8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我们要</a:t>
            </a:r>
            <a:r>
              <a:rPr lang="zh-CN" altLang="en-US" sz="3600" b="1" dirty="0">
                <a:solidFill>
                  <a:srgbClr val="FF0000"/>
                </a:solidFill>
              </a:rPr>
              <a:t>掌握</a:t>
            </a:r>
            <a:r>
              <a:rPr lang="zh-CN" altLang="en-US" sz="3600" dirty="0"/>
              <a:t>的和我们要</a:t>
            </a:r>
            <a:r>
              <a:rPr lang="zh-CN" altLang="en-US" sz="3600" b="1" dirty="0">
                <a:solidFill>
                  <a:srgbClr val="0000FF"/>
                </a:solidFill>
              </a:rPr>
              <a:t>了解</a:t>
            </a:r>
            <a:r>
              <a:rPr lang="zh-CN" altLang="en-US" sz="3600" dirty="0"/>
              <a:t>的八个结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3EAC397-490D-43EE-9A7F-922A95C577CE}"/>
              </a:ext>
            </a:extLst>
          </p:cNvPr>
          <p:cNvSpPr txBox="1">
            <a:spLocks noChangeArrowheads="1"/>
          </p:cNvSpPr>
          <p:nvPr/>
        </p:nvSpPr>
        <p:spPr>
          <a:xfrm>
            <a:off x="2022873" y="1534716"/>
            <a:ext cx="2502694" cy="3100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  <a:sym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</a:rPr>
              <a:t>布林结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sym typeface="宋体" panose="02010600030101010101" pitchFamily="2" charset="-122"/>
              </a:rPr>
              <a:t>双渔人结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</a:rPr>
              <a:t> 蝴蝶结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sym typeface="宋体" panose="02010600030101010101" pitchFamily="2" charset="-122"/>
              </a:rPr>
              <a:t>双套结</a:t>
            </a: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en-US" altLang="zh-CN" sz="2800" dirty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1D4BE84-8FD4-4E78-B48F-80F611193DDF}"/>
              </a:ext>
            </a:extLst>
          </p:cNvPr>
          <p:cNvSpPr txBox="1"/>
          <p:nvPr/>
        </p:nvSpPr>
        <p:spPr>
          <a:xfrm>
            <a:off x="5076056" y="1563638"/>
            <a:ext cx="2293144" cy="31003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1">
                <a:solidFill>
                  <a:srgbClr val="0000FF"/>
                </a:solidFill>
                <a:ea typeface="微软雅黑" panose="020B0503020204020204" pitchFamily="34" charset="-122"/>
              </a:rPr>
              <a:t>抓结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1">
                <a:solidFill>
                  <a:srgbClr val="0000FF"/>
                </a:solidFill>
                <a:ea typeface="微软雅黑" panose="020B0503020204020204" pitchFamily="34" charset="-122"/>
              </a:rPr>
              <a:t>绳尾结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1">
                <a:solidFill>
                  <a:srgbClr val="0000FF"/>
                </a:solidFill>
                <a:ea typeface="微软雅黑" panose="020B0503020204020204" pitchFamily="34" charset="-122"/>
              </a:rPr>
              <a:t>交织结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1">
                <a:solidFill>
                  <a:srgbClr val="0000FF"/>
                </a:solidFill>
                <a:ea typeface="微软雅黑" panose="020B0503020204020204" pitchFamily="34" charset="-122"/>
              </a:rPr>
              <a:t>盘绳</a:t>
            </a:r>
          </a:p>
          <a:p>
            <a:pPr marL="257175" indent="-257175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sz="2800" b="1" noProof="1">
              <a:ea typeface="微软雅黑" panose="020B0503020204020204" pitchFamily="34" charset="-122"/>
            </a:endParaRPr>
          </a:p>
          <a:p>
            <a:pPr marL="257175" indent="-257175">
              <a:lnSpc>
                <a:spcPct val="150000"/>
              </a:lnSpc>
              <a:spcBef>
                <a:spcPct val="20000"/>
              </a:spcBef>
              <a:buFontTx/>
              <a:buChar char="•"/>
              <a:defRPr/>
            </a:pPr>
            <a:endParaRPr lang="zh-CN" altLang="en-US" sz="2800" b="1" noProof="1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82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0756A7B-4933-47B8-812A-665D17EAD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9569" y="742950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/>
              <a:t>绳结打法的注意事项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0E326E45-8E1D-4A38-A14D-A9FD13BEF3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600200"/>
            <a:ext cx="8131968" cy="310038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绳结的使用会因为绳子的性能、粗细、材质不同而有所不同，所以不仅要了解绳结的优点，还要了解绳结的限制。</a:t>
            </a:r>
          </a:p>
          <a:p>
            <a:pPr>
              <a:lnSpc>
                <a:spcPct val="130000"/>
              </a:lnSpc>
            </a:pP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无论任何绳结对绳子的强度都有一定的损失，打绳结时绳子的扭曲使绳子的受力状态发生改变而影响其性能，所以打绳结前及其打结过程中必须把绳子理顺，尽量顺应绳子的自然方向，减少扭曲程度，同时这样打出的绳子也顺畅、美观，易于检查。</a:t>
            </a:r>
          </a:p>
        </p:txBody>
      </p:sp>
    </p:spTree>
  </p:cSld>
  <p:clrMapOvr>
    <a:masterClrMapping/>
  </p:clrMapOvr>
  <p:transition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4BE61-9F49-4F03-9958-C181AE8E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627534"/>
            <a:ext cx="8229600" cy="857250"/>
          </a:xfrm>
        </p:spPr>
        <p:txBody>
          <a:bodyPr/>
          <a:lstStyle/>
          <a:p>
            <a:r>
              <a:rPr lang="zh-CN" altLang="zh-CN" sz="4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保护点的设置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8B3DD-D6B1-4381-8465-E3DC4D659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3637"/>
            <a:ext cx="8229600" cy="3030985"/>
          </a:xfrm>
        </p:spPr>
        <p:txBody>
          <a:bodyPr/>
          <a:lstStyle/>
          <a:p>
            <a:r>
              <a:rPr lang="zh-CN" altLang="en-US" dirty="0"/>
              <a:t>独立、均衡、有富余</a:t>
            </a:r>
            <a:endParaRPr lang="en-US" altLang="zh-CN" dirty="0"/>
          </a:p>
          <a:p>
            <a:r>
              <a:rPr lang="en-US" altLang="zh-CN" dirty="0"/>
              <a:t>&lt;60°</a:t>
            </a:r>
          </a:p>
          <a:p>
            <a:r>
              <a:rPr lang="zh-CN" altLang="en-US" dirty="0"/>
              <a:t>绳套单边旋转</a:t>
            </a:r>
            <a:r>
              <a:rPr lang="en-US" altLang="zh-CN" dirty="0"/>
              <a:t>180°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8028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ED51D-A861-4934-BF5C-B94ECF3A7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17" y="555526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3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绳尾末端的注意事项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04714-7C4A-4CB0-AB10-1A067A3EF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7614"/>
            <a:ext cx="8229600" cy="3394472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任何绳结打好以后，均要进行末端处理。末端处理，最常用的是双打单结，也就是我们经常用的</a:t>
            </a:r>
            <a:r>
              <a:rPr lang="zh-CN" altLang="en-US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双渔人结</a:t>
            </a:r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的一半。</a:t>
            </a:r>
            <a:endParaRPr lang="zh-CN" altLang="en-US" sz="32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末端处理</a:t>
            </a:r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，就是给绳结做备份，尽管很多绳结非常牢靠，但有可能因为摩擦等原因而发生松脱等问题，所以备份是攀登者所要遵循的基本原则</a:t>
            </a:r>
            <a:r>
              <a:rPr lang="en-US" altLang="zh-CN" sz="32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----</a:t>
            </a:r>
            <a:r>
              <a:rPr lang="zh-CN" altLang="en-US" sz="3200" b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绳尾结</a:t>
            </a:r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32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60000"/>
              </a:lnSpc>
            </a:pPr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末端处理应尽可能靠近绳结，留出的绳头约绳子直径的5-8倍比较合适，若10mm的绳子打结并进行末端处理后的绳尾应在5-8cm，太长影响操作成为隐患，也不美观，太短容易松脱，也不易收紧。</a:t>
            </a:r>
            <a:endParaRPr lang="zh-CN" altLang="en-US" sz="32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2969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5CAE3-2A86-4366-BF63-15104F8ED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745078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zh-CN" altLang="zh-CN" sz="4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安全带的穿戴注意事项及装备维护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3D78D-52E0-4726-9222-D1D20CCE4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65" y="2283718"/>
            <a:ext cx="8229600" cy="230425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平顺不扭曲、锁环要反穿、牢牢系紧于髋关节</a:t>
            </a:r>
            <a:endParaRPr lang="en-US" altLang="zh-CN" sz="2400" dirty="0"/>
          </a:p>
          <a:p>
            <a:r>
              <a:rPr lang="zh-CN" altLang="en-US" sz="2400" dirty="0"/>
              <a:t>阴凉、干燥、避光</a:t>
            </a:r>
          </a:p>
        </p:txBody>
      </p:sp>
    </p:spTree>
    <p:extLst>
      <p:ext uri="{BB962C8B-B14F-4D97-AF65-F5344CB8AC3E}">
        <p14:creationId xmlns:p14="http://schemas.microsoft.com/office/powerpoint/2010/main" val="766817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7F7D1B-5FFF-4EEC-91AA-80D6ABA3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营地的选择</a:t>
            </a: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水与火的安全使用</a:t>
            </a: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环保的最小冲击法则有哪些</a:t>
            </a: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野外垃圾如何处理</a:t>
            </a: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风险哪些</a:t>
            </a:r>
            <a:r>
              <a:rPr lang="zh-CN" altLang="en-US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因素</a:t>
            </a:r>
            <a:endParaRPr lang="zh-CN" altLang="zh-CN" sz="2400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3958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6CFA06F-D440-47F4-AA40-0EB193813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2" y="915566"/>
            <a:ext cx="8872888" cy="4150041"/>
          </a:xfrm>
        </p:spPr>
      </p:pic>
    </p:spTree>
    <p:extLst>
      <p:ext uri="{BB962C8B-B14F-4D97-AF65-F5344CB8AC3E}">
        <p14:creationId xmlns:p14="http://schemas.microsoft.com/office/powerpoint/2010/main" val="2839675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7C34D70-97A2-4414-BB39-EAFDA9EA6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625"/>
            <a:ext cx="9144000" cy="439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20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13350F-5208-48EE-9ACC-3BC4C2607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99" y="843558"/>
            <a:ext cx="8518073" cy="4097096"/>
          </a:xfrm>
        </p:spPr>
      </p:pic>
    </p:spTree>
    <p:extLst>
      <p:ext uri="{BB962C8B-B14F-4D97-AF65-F5344CB8AC3E}">
        <p14:creationId xmlns:p14="http://schemas.microsoft.com/office/powerpoint/2010/main" val="217665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897E9-FC7B-4842-A231-E839EAB4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627534"/>
            <a:ext cx="8229600" cy="857250"/>
          </a:xfrm>
        </p:spPr>
        <p:txBody>
          <a:bodyPr/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水与火的安全使用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65AF65-1BB8-4FBF-99ED-2B60025AF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484313"/>
            <a:ext cx="7272808" cy="3395662"/>
          </a:xfrm>
        </p:spPr>
      </p:pic>
    </p:spTree>
    <p:extLst>
      <p:ext uri="{BB962C8B-B14F-4D97-AF65-F5344CB8AC3E}">
        <p14:creationId xmlns:p14="http://schemas.microsoft.com/office/powerpoint/2010/main" val="2716566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922D4-2D41-4EDA-91EB-FAA9327F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38549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水与火的安全使用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E3BA560-34BF-401A-BF7C-78CACBA45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99" y="1395799"/>
            <a:ext cx="7900201" cy="3198426"/>
          </a:xfrm>
        </p:spPr>
      </p:pic>
    </p:spTree>
    <p:extLst>
      <p:ext uri="{BB962C8B-B14F-4D97-AF65-F5344CB8AC3E}">
        <p14:creationId xmlns:p14="http://schemas.microsoft.com/office/powerpoint/2010/main" val="2368718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B9647-BCB2-4F3B-819F-71475AED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69" y="513667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环保的最小冲击法则有哪些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9C7589-9D50-4239-A3BD-C5AEBF5DD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12" y="1200150"/>
            <a:ext cx="7830159" cy="3710004"/>
          </a:xfrm>
        </p:spPr>
      </p:pic>
    </p:spTree>
    <p:extLst>
      <p:ext uri="{BB962C8B-B14F-4D97-AF65-F5344CB8AC3E}">
        <p14:creationId xmlns:p14="http://schemas.microsoft.com/office/powerpoint/2010/main" val="2180418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2AAB9-469B-4247-AE5D-E39923A4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627534"/>
            <a:ext cx="8229600" cy="857250"/>
          </a:xfrm>
        </p:spPr>
        <p:txBody>
          <a:bodyPr/>
          <a:lstStyle/>
          <a:p>
            <a:r>
              <a:rPr lang="zh-CN" altLang="en-US" dirty="0"/>
              <a:t>野外垃圾如何处理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F3A2E960-FE56-4407-B995-52D816605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47614"/>
            <a:ext cx="7632848" cy="3689448"/>
          </a:xfrm>
        </p:spPr>
      </p:pic>
    </p:spTree>
    <p:extLst>
      <p:ext uri="{BB962C8B-B14F-4D97-AF65-F5344CB8AC3E}">
        <p14:creationId xmlns:p14="http://schemas.microsoft.com/office/powerpoint/2010/main" val="4067240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C21E6-7C47-4957-872B-DBCEB54A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62753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风险</a:t>
            </a:r>
            <a:r>
              <a:rPr lang="zh-CN" altLang="en-US" kern="100" dirty="0">
                <a:solidFill>
                  <a:srgbClr val="FF0000"/>
                </a:solidFill>
                <a:latin typeface="微软雅黑" panose="020B0503020204020204" pitchFamily="34" charset="-122"/>
                <a:cs typeface="Times New Roman" panose="02020603050405020304" pitchFamily="18" charset="0"/>
              </a:rPr>
              <a:t>来源于哪些因素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C9049C-DE5D-43AF-8B9D-E971CAAC5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3394472"/>
          </a:xfrm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  <a:ea typeface="宋体" charset="-122"/>
              </a:rPr>
              <a:t>气象</a:t>
            </a:r>
            <a:r>
              <a:rPr lang="zh-CN" altLang="en-US" sz="3200" dirty="0">
                <a:solidFill>
                  <a:srgbClr val="0000CC"/>
                </a:solidFill>
                <a:ea typeface="宋体" charset="-122"/>
              </a:rPr>
              <a:t>因素</a:t>
            </a:r>
            <a:endParaRPr lang="en-US" altLang="zh-CN" sz="3200" dirty="0">
              <a:solidFill>
                <a:srgbClr val="0000CC"/>
              </a:solidFill>
              <a:ea typeface="宋体" charset="-122"/>
            </a:endParaRPr>
          </a:p>
          <a:p>
            <a:r>
              <a:rPr lang="zh-CN" altLang="en-US" sz="3200" dirty="0">
                <a:solidFill>
                  <a:srgbClr val="0000CC"/>
                </a:solidFill>
                <a:ea typeface="宋体" charset="-122"/>
              </a:rPr>
              <a:t>地貌因素</a:t>
            </a:r>
            <a:endParaRPr lang="en-US" altLang="zh-CN" sz="3200" dirty="0">
              <a:solidFill>
                <a:srgbClr val="0000CC"/>
              </a:solidFill>
              <a:ea typeface="宋体" charset="-122"/>
            </a:endParaRPr>
          </a:p>
          <a:p>
            <a:r>
              <a:rPr lang="zh-CN" altLang="en-US" sz="3200" dirty="0">
                <a:solidFill>
                  <a:srgbClr val="0000CC"/>
                </a:solidFill>
                <a:ea typeface="宋体" charset="-122"/>
              </a:rPr>
              <a:t>动植物因素</a:t>
            </a:r>
            <a:endParaRPr lang="en-US" altLang="zh-CN" sz="3200" dirty="0">
              <a:solidFill>
                <a:srgbClr val="0000CC"/>
              </a:solidFill>
              <a:ea typeface="宋体" charset="-122"/>
            </a:endParaRPr>
          </a:p>
          <a:p>
            <a:r>
              <a:rPr lang="zh-CN" altLang="en-US" sz="3200" dirty="0">
                <a:solidFill>
                  <a:srgbClr val="0000CC"/>
                </a:solidFill>
                <a:ea typeface="宋体" charset="-122"/>
              </a:rPr>
              <a:t>混合因素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550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C20122-A245-472D-869A-83CD5C3D4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如何避免雷击</a:t>
            </a: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如何躲避，逃离泥石流和山洪</a:t>
            </a:r>
          </a:p>
          <a:p>
            <a:pPr marL="0" lvl="0" indent="0" algn="just">
              <a:buNone/>
            </a:pPr>
            <a:r>
              <a:rPr lang="zh-CN" altLang="en-US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野外危险来自哪里</a:t>
            </a:r>
            <a:endParaRPr lang="zh-CN" altLang="zh-CN" sz="2400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维持人体机能的主要营养有哪些</a:t>
            </a:r>
          </a:p>
          <a:p>
            <a:pPr marL="0" lvl="0" indent="0" algn="just"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失温和中暑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9868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D0C54-2754-4660-94C4-43EB74F8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526108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失温和中暑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AAE3009-F0D3-4302-9C03-A0ADB042E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58672"/>
            <a:ext cx="8229600" cy="2677030"/>
          </a:xfrm>
        </p:spPr>
      </p:pic>
    </p:spTree>
    <p:extLst>
      <p:ext uri="{BB962C8B-B14F-4D97-AF65-F5344CB8AC3E}">
        <p14:creationId xmlns:p14="http://schemas.microsoft.com/office/powerpoint/2010/main" val="339214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D0C54-2754-4660-94C4-43EB74F8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526108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失温和中暑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690DABE-06B5-457C-A426-87A54449D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93900"/>
            <a:ext cx="8229600" cy="2806574"/>
          </a:xfrm>
        </p:spPr>
      </p:pic>
    </p:spTree>
    <p:extLst>
      <p:ext uri="{BB962C8B-B14F-4D97-AF65-F5344CB8AC3E}">
        <p14:creationId xmlns:p14="http://schemas.microsoft.com/office/powerpoint/2010/main" val="196845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80F07-BF36-4F26-B9D3-0ABC13647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627534"/>
            <a:ext cx="8229600" cy="857250"/>
          </a:xfrm>
        </p:spPr>
        <p:txBody>
          <a:bodyPr/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维持人体机能的主要营养有哪些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4C29B1-CB4D-4587-A82F-8D460C260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7653"/>
            <a:ext cx="8229600" cy="288696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碳水化合物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蛋白质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脂肪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矿物质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维生素</a:t>
            </a:r>
            <a:endParaRPr lang="en-US" altLang="zh-CN" dirty="0"/>
          </a:p>
          <a:p>
            <a:r>
              <a:rPr lang="zh-CN" altLang="en-US" dirty="0"/>
              <a:t>膳食纤维</a:t>
            </a:r>
          </a:p>
        </p:txBody>
      </p:sp>
    </p:spTree>
    <p:extLst>
      <p:ext uri="{BB962C8B-B14F-4D97-AF65-F5344CB8AC3E}">
        <p14:creationId xmlns:p14="http://schemas.microsoft.com/office/powerpoint/2010/main" val="1151170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3489F-9BF7-4394-AA1C-1E5E5008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62753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36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野外危险来自哪里？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8B753-B184-4376-A3C0-5FC951422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8317"/>
            <a:ext cx="8229600" cy="339447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Gill Sans 常规体"/>
              </a:rPr>
              <a:t>人为因素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Gill Sans 常规体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Gill Sans 常规体"/>
              </a:rPr>
              <a:t>自然因素  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Gill Sans 常规体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Gill Sans 常规体"/>
              </a:rPr>
              <a:t>混合因素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Gill Sans 常规体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2660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B4659-A9CF-4EC0-9E5B-13213A12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10" y="62753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如何避免雷击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4AC0F86-BB03-46BE-AFA7-E721620FD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8" y="1470562"/>
            <a:ext cx="8229600" cy="3292989"/>
          </a:xfrm>
        </p:spPr>
      </p:pic>
    </p:spTree>
    <p:extLst>
      <p:ext uri="{BB962C8B-B14F-4D97-AF65-F5344CB8AC3E}">
        <p14:creationId xmlns:p14="http://schemas.microsoft.com/office/powerpoint/2010/main" val="2579780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5D1C7-FFEA-4393-9972-4AA37D4B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79" y="62753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如何躲避，逃离泥石流和山洪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E33645F-98D8-4A8B-8399-8E42B079C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63688"/>
            <a:ext cx="6840759" cy="3456334"/>
          </a:xfrm>
        </p:spPr>
      </p:pic>
    </p:spTree>
    <p:extLst>
      <p:ext uri="{BB962C8B-B14F-4D97-AF65-F5344CB8AC3E}">
        <p14:creationId xmlns:p14="http://schemas.microsoft.com/office/powerpoint/2010/main" val="1761501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5D1C7-FFEA-4393-9972-4AA37D4B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79" y="627534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如何躲避，逃离泥石流和山洪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3AD27A56-B71A-4417-86A9-976248BF4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7804"/>
            <a:ext cx="8229600" cy="3136194"/>
          </a:xfrm>
        </p:spPr>
      </p:pic>
    </p:spTree>
    <p:extLst>
      <p:ext uri="{BB962C8B-B14F-4D97-AF65-F5344CB8AC3E}">
        <p14:creationId xmlns:p14="http://schemas.microsoft.com/office/powerpoint/2010/main" val="3098556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801D2D-CE18-4590-B5C1-5F2FA57F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131590"/>
            <a:ext cx="4536504" cy="3394472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人体热丧失的四个途径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zh-CN" altLang="en-US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地形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图三要素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zh-CN" altLang="zh-CN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户外急救的基本原则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zh-CN" altLang="en-US" sz="2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治疗流程和技术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4585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63C56-580C-4F53-B434-84743DDB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63430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40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人体</a:t>
            </a:r>
            <a:r>
              <a:rPr lang="zh-CN" altLang="en-US" sz="4000" dirty="0">
                <a:solidFill>
                  <a:srgbClr val="FF0000"/>
                </a:solidFill>
              </a:rPr>
              <a:t>人体热丧失的四个途径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EA7CDDB-623F-4C90-8876-B587A9EEA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42" y="1420680"/>
            <a:ext cx="8169315" cy="3173545"/>
          </a:xfrm>
        </p:spPr>
      </p:pic>
    </p:spTree>
    <p:extLst>
      <p:ext uri="{BB962C8B-B14F-4D97-AF65-F5344CB8AC3E}">
        <p14:creationId xmlns:p14="http://schemas.microsoft.com/office/powerpoint/2010/main" val="2071325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8077F-6A16-4BED-A0C2-194CEB98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548877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zh-CN" sz="44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地形图三要素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D766409-ECBD-4DE7-9A0A-DCE47A949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08" y="1406127"/>
            <a:ext cx="7207983" cy="3188098"/>
          </a:xfrm>
        </p:spPr>
      </p:pic>
    </p:spTree>
    <p:extLst>
      <p:ext uri="{BB962C8B-B14F-4D97-AF65-F5344CB8AC3E}">
        <p14:creationId xmlns:p14="http://schemas.microsoft.com/office/powerpoint/2010/main" val="2835621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B087C-8ED1-4F75-983A-FAD439BC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70" y="699542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户外救急的基本原则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A2FA33-7849-44BC-974D-49D3E47E6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91630"/>
            <a:ext cx="6916325" cy="3394075"/>
          </a:xfrm>
        </p:spPr>
      </p:pic>
    </p:spTree>
    <p:extLst>
      <p:ext uri="{BB962C8B-B14F-4D97-AF65-F5344CB8AC3E}">
        <p14:creationId xmlns:p14="http://schemas.microsoft.com/office/powerpoint/2010/main" val="2981550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6A9C0-A5FC-4A4D-A14D-CF73A857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86" y="483518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/>
              <a:t>治疗流程和技术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554540A-73CB-48DC-A05C-4A1AC93B4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275606"/>
            <a:ext cx="4968552" cy="3603848"/>
          </a:xfrm>
        </p:spPr>
      </p:pic>
    </p:spTree>
    <p:extLst>
      <p:ext uri="{BB962C8B-B14F-4D97-AF65-F5344CB8AC3E}">
        <p14:creationId xmlns:p14="http://schemas.microsoft.com/office/powerpoint/2010/main" val="338876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6A9C0-A5FC-4A4D-A14D-CF73A857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86" y="483518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/>
              <a:t>治疗流程和技术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D09DDCD-5F07-4F47-8805-225B52474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1" y="1340768"/>
            <a:ext cx="7762858" cy="3253457"/>
          </a:xfrm>
        </p:spPr>
      </p:pic>
    </p:spTree>
    <p:extLst>
      <p:ext uri="{BB962C8B-B14F-4D97-AF65-F5344CB8AC3E}">
        <p14:creationId xmlns:p14="http://schemas.microsoft.com/office/powerpoint/2010/main" val="165061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494235" y="1869282"/>
            <a:ext cx="6172200" cy="1403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做好充足准备     享受安全户外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预祝福考试顺利！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新年快乐！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762</Words>
  <Application>Microsoft Office PowerPoint</Application>
  <PresentationFormat>全屏显示(16:9)</PresentationFormat>
  <Paragraphs>108</Paragraphs>
  <Slides>36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华文仿宋</vt:lpstr>
      <vt:lpstr>华文新魏</vt:lpstr>
      <vt:lpstr>宋体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户外运动</vt:lpstr>
      <vt:lpstr>竞技体育与休闲体育的区别</vt:lpstr>
      <vt:lpstr>极限运动</vt:lpstr>
      <vt:lpstr>户外探索有哪些内容</vt:lpstr>
      <vt:lpstr>PowerPoint 演示文稿</vt:lpstr>
      <vt:lpstr>我们要掌握的和我们要了解的八个结</vt:lpstr>
      <vt:lpstr>绳结打法的注意事项</vt:lpstr>
      <vt:lpstr>保护点的设置</vt:lpstr>
      <vt:lpstr>绳尾末端的注意事项</vt:lpstr>
      <vt:lpstr>安全带的穿戴注意事项及装备维护</vt:lpstr>
      <vt:lpstr>PowerPoint 演示文稿</vt:lpstr>
      <vt:lpstr>PowerPoint 演示文稿</vt:lpstr>
      <vt:lpstr>PowerPoint 演示文稿</vt:lpstr>
      <vt:lpstr>PowerPoint 演示文稿</vt:lpstr>
      <vt:lpstr>水与火的安全使用</vt:lpstr>
      <vt:lpstr>水与火的安全使用</vt:lpstr>
      <vt:lpstr>环保的最小冲击法则有哪些</vt:lpstr>
      <vt:lpstr>野外垃圾如何处理</vt:lpstr>
      <vt:lpstr>风险来源于哪些因素</vt:lpstr>
      <vt:lpstr>PowerPoint 演示文稿</vt:lpstr>
      <vt:lpstr>失温和中暑</vt:lpstr>
      <vt:lpstr>失温和中暑</vt:lpstr>
      <vt:lpstr>维持人体机能的主要营养有哪些</vt:lpstr>
      <vt:lpstr>野外危险来自哪里？</vt:lpstr>
      <vt:lpstr>如何避免雷击</vt:lpstr>
      <vt:lpstr>如何躲避，逃离泥石流和山洪</vt:lpstr>
      <vt:lpstr>如何躲避，逃离泥石流和山洪</vt:lpstr>
      <vt:lpstr>PowerPoint 演示文稿</vt:lpstr>
      <vt:lpstr>人体人体热丧失的四个途径</vt:lpstr>
      <vt:lpstr>地形图三要素</vt:lpstr>
      <vt:lpstr>户外救急的基本原则</vt:lpstr>
      <vt:lpstr>治疗流程和技术</vt:lpstr>
      <vt:lpstr>治疗流程和技术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方 翔</cp:lastModifiedBy>
  <cp:revision>299</cp:revision>
  <dcterms:created xsi:type="dcterms:W3CDTF">2016-07-11T01:51:00Z</dcterms:created>
  <dcterms:modified xsi:type="dcterms:W3CDTF">2021-01-02T13:39:45Z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