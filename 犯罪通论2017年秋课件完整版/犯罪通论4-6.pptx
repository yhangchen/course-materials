
<file path=[Content_Types].xml><?xml version="1.0" encoding="utf-8"?>
<Types xmlns="http://schemas.openxmlformats.org/package/2006/content-types">
  <Default Extension="xml" ContentType="application/xml"/>
  <Default Extension="jpeg" ContentType="image/jpeg"/>
  <Default Extension="wav" ContentType="audio/wav"/>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9"/>
  </p:notesMasterIdLst>
  <p:handoutMasterIdLst>
    <p:handoutMasterId r:id="rId130"/>
  </p:handoutMasterIdLst>
  <p:sldIdLst>
    <p:sldId id="589" r:id="rId2"/>
    <p:sldId id="569" r:id="rId3"/>
    <p:sldId id="570" r:id="rId4"/>
    <p:sldId id="571" r:id="rId5"/>
    <p:sldId id="572" r:id="rId6"/>
    <p:sldId id="573" r:id="rId7"/>
    <p:sldId id="574" r:id="rId8"/>
    <p:sldId id="575" r:id="rId9"/>
    <p:sldId id="576" r:id="rId10"/>
    <p:sldId id="592" r:id="rId11"/>
    <p:sldId id="590" r:id="rId12"/>
    <p:sldId id="591" r:id="rId13"/>
    <p:sldId id="593" r:id="rId14"/>
    <p:sldId id="594" r:id="rId15"/>
    <p:sldId id="595" r:id="rId16"/>
    <p:sldId id="596" r:id="rId17"/>
    <p:sldId id="419" r:id="rId18"/>
    <p:sldId id="485" r:id="rId19"/>
    <p:sldId id="486" r:id="rId20"/>
    <p:sldId id="487" r:id="rId21"/>
    <p:sldId id="488" r:id="rId22"/>
    <p:sldId id="489" r:id="rId23"/>
    <p:sldId id="490" r:id="rId24"/>
    <p:sldId id="491" r:id="rId25"/>
    <p:sldId id="505" r:id="rId26"/>
    <p:sldId id="604" r:id="rId27"/>
    <p:sldId id="492" r:id="rId28"/>
    <p:sldId id="493" r:id="rId29"/>
    <p:sldId id="494" r:id="rId30"/>
    <p:sldId id="495" r:id="rId31"/>
    <p:sldId id="496" r:id="rId32"/>
    <p:sldId id="497" r:id="rId33"/>
    <p:sldId id="498" r:id="rId34"/>
    <p:sldId id="500" r:id="rId35"/>
    <p:sldId id="501" r:id="rId36"/>
    <p:sldId id="503" r:id="rId37"/>
    <p:sldId id="504" r:id="rId38"/>
    <p:sldId id="599" r:id="rId39"/>
    <p:sldId id="600" r:id="rId40"/>
    <p:sldId id="601" r:id="rId41"/>
    <p:sldId id="602" r:id="rId42"/>
    <p:sldId id="579" r:id="rId43"/>
    <p:sldId id="580" r:id="rId44"/>
    <p:sldId id="581" r:id="rId45"/>
    <p:sldId id="582" r:id="rId46"/>
    <p:sldId id="583" r:id="rId47"/>
    <p:sldId id="584" r:id="rId48"/>
    <p:sldId id="585" r:id="rId49"/>
    <p:sldId id="586" r:id="rId50"/>
    <p:sldId id="587" r:id="rId51"/>
    <p:sldId id="588" r:id="rId52"/>
    <p:sldId id="597" r:id="rId53"/>
    <p:sldId id="605" r:id="rId54"/>
    <p:sldId id="606" r:id="rId55"/>
    <p:sldId id="607" r:id="rId56"/>
    <p:sldId id="608" r:id="rId57"/>
    <p:sldId id="609" r:id="rId58"/>
    <p:sldId id="633" r:id="rId59"/>
    <p:sldId id="611" r:id="rId60"/>
    <p:sldId id="612" r:id="rId61"/>
    <p:sldId id="613" r:id="rId62"/>
    <p:sldId id="614" r:id="rId63"/>
    <p:sldId id="615" r:id="rId64"/>
    <p:sldId id="616" r:id="rId65"/>
    <p:sldId id="617" r:id="rId66"/>
    <p:sldId id="618" r:id="rId67"/>
    <p:sldId id="619" r:id="rId68"/>
    <p:sldId id="620" r:id="rId69"/>
    <p:sldId id="621" r:id="rId70"/>
    <p:sldId id="622" r:id="rId71"/>
    <p:sldId id="623" r:id="rId72"/>
    <p:sldId id="624" r:id="rId73"/>
    <p:sldId id="631" r:id="rId74"/>
    <p:sldId id="632" r:id="rId75"/>
    <p:sldId id="625" r:id="rId76"/>
    <p:sldId id="626" r:id="rId77"/>
    <p:sldId id="627" r:id="rId78"/>
    <p:sldId id="628" r:id="rId79"/>
    <p:sldId id="629" r:id="rId80"/>
    <p:sldId id="630" r:id="rId81"/>
    <p:sldId id="506" r:id="rId82"/>
    <p:sldId id="434" r:id="rId83"/>
    <p:sldId id="507" r:id="rId84"/>
    <p:sldId id="508" r:id="rId85"/>
    <p:sldId id="513" r:id="rId86"/>
    <p:sldId id="514" r:id="rId87"/>
    <p:sldId id="509" r:id="rId88"/>
    <p:sldId id="515" r:id="rId89"/>
    <p:sldId id="510" r:id="rId90"/>
    <p:sldId id="516" r:id="rId91"/>
    <p:sldId id="511" r:id="rId92"/>
    <p:sldId id="512" r:id="rId93"/>
    <p:sldId id="436" r:id="rId94"/>
    <p:sldId id="517" r:id="rId95"/>
    <p:sldId id="518" r:id="rId96"/>
    <p:sldId id="519" r:id="rId97"/>
    <p:sldId id="520" r:id="rId98"/>
    <p:sldId id="521" r:id="rId99"/>
    <p:sldId id="522" r:id="rId100"/>
    <p:sldId id="523" r:id="rId101"/>
    <p:sldId id="524" r:id="rId102"/>
    <p:sldId id="526" r:id="rId103"/>
    <p:sldId id="525" r:id="rId104"/>
    <p:sldId id="527" r:id="rId105"/>
    <p:sldId id="528" r:id="rId106"/>
    <p:sldId id="529" r:id="rId107"/>
    <p:sldId id="530" r:id="rId108"/>
    <p:sldId id="531" r:id="rId109"/>
    <p:sldId id="532" r:id="rId110"/>
    <p:sldId id="533" r:id="rId111"/>
    <p:sldId id="535" r:id="rId112"/>
    <p:sldId id="634" r:id="rId113"/>
    <p:sldId id="635" r:id="rId114"/>
    <p:sldId id="636" r:id="rId115"/>
    <p:sldId id="637" r:id="rId116"/>
    <p:sldId id="638" r:id="rId117"/>
    <p:sldId id="639" r:id="rId118"/>
    <p:sldId id="640" r:id="rId119"/>
    <p:sldId id="641" r:id="rId120"/>
    <p:sldId id="534" r:id="rId121"/>
    <p:sldId id="536" r:id="rId122"/>
    <p:sldId id="603" r:id="rId123"/>
    <p:sldId id="541" r:id="rId124"/>
    <p:sldId id="543" r:id="rId125"/>
    <p:sldId id="552" r:id="rId126"/>
    <p:sldId id="554" r:id="rId127"/>
    <p:sldId id="598" r:id="rId128"/>
  </p:sldIdLst>
  <p:sldSz cx="9144000" cy="6858000" type="screen4x3"/>
  <p:notesSz cx="6858000" cy="9144000"/>
  <p:defaultTextStyle>
    <a:defPPr>
      <a:defRPr lang="zh-CN"/>
    </a:defPPr>
    <a:lvl1pPr algn="l" rtl="0" fontAlgn="base">
      <a:spcBef>
        <a:spcPct val="0"/>
      </a:spcBef>
      <a:spcAft>
        <a:spcPct val="0"/>
      </a:spcAft>
      <a:defRPr b="1" kern="1200">
        <a:solidFill>
          <a:schemeClr val="tx1"/>
        </a:solidFill>
        <a:latin typeface="Arial" pitchFamily="34" charset="0"/>
        <a:ea typeface="+mn-ea"/>
        <a:cs typeface="+mn-cs"/>
      </a:defRPr>
    </a:lvl1pPr>
    <a:lvl2pPr marL="457200" algn="l" rtl="0" fontAlgn="base">
      <a:spcBef>
        <a:spcPct val="0"/>
      </a:spcBef>
      <a:spcAft>
        <a:spcPct val="0"/>
      </a:spcAft>
      <a:defRPr b="1" kern="1200">
        <a:solidFill>
          <a:schemeClr val="tx1"/>
        </a:solidFill>
        <a:latin typeface="Arial" pitchFamily="34" charset="0"/>
        <a:ea typeface="+mn-ea"/>
        <a:cs typeface="+mn-cs"/>
      </a:defRPr>
    </a:lvl2pPr>
    <a:lvl3pPr marL="914400" algn="l" rtl="0" fontAlgn="base">
      <a:spcBef>
        <a:spcPct val="0"/>
      </a:spcBef>
      <a:spcAft>
        <a:spcPct val="0"/>
      </a:spcAft>
      <a:defRPr b="1" kern="1200">
        <a:solidFill>
          <a:schemeClr val="tx1"/>
        </a:solidFill>
        <a:latin typeface="Arial" pitchFamily="34" charset="0"/>
        <a:ea typeface="+mn-ea"/>
        <a:cs typeface="+mn-cs"/>
      </a:defRPr>
    </a:lvl3pPr>
    <a:lvl4pPr marL="1371600" algn="l" rtl="0" fontAlgn="base">
      <a:spcBef>
        <a:spcPct val="0"/>
      </a:spcBef>
      <a:spcAft>
        <a:spcPct val="0"/>
      </a:spcAft>
      <a:defRPr b="1" kern="1200">
        <a:solidFill>
          <a:schemeClr val="tx1"/>
        </a:solidFill>
        <a:latin typeface="Arial" pitchFamily="34" charset="0"/>
        <a:ea typeface="+mn-ea"/>
        <a:cs typeface="+mn-cs"/>
      </a:defRPr>
    </a:lvl4pPr>
    <a:lvl5pPr marL="1828800" algn="l" rtl="0" fontAlgn="base">
      <a:spcBef>
        <a:spcPct val="0"/>
      </a:spcBef>
      <a:spcAft>
        <a:spcPct val="0"/>
      </a:spcAft>
      <a:defRPr b="1" kern="1200">
        <a:solidFill>
          <a:schemeClr val="tx1"/>
        </a:solidFill>
        <a:latin typeface="Arial" pitchFamily="34" charset="0"/>
        <a:ea typeface="+mn-ea"/>
        <a:cs typeface="+mn-cs"/>
      </a:defRPr>
    </a:lvl5pPr>
    <a:lvl6pPr marL="2286000" algn="l" defTabSz="914400" rtl="0" eaLnBrk="1" latinLnBrk="0" hangingPunct="1">
      <a:defRPr b="1" kern="1200">
        <a:solidFill>
          <a:schemeClr val="tx1"/>
        </a:solidFill>
        <a:latin typeface="Arial" pitchFamily="34" charset="0"/>
        <a:ea typeface="+mn-ea"/>
        <a:cs typeface="+mn-cs"/>
      </a:defRPr>
    </a:lvl6pPr>
    <a:lvl7pPr marL="2743200" algn="l" defTabSz="914400" rtl="0" eaLnBrk="1" latinLnBrk="0" hangingPunct="1">
      <a:defRPr b="1" kern="1200">
        <a:solidFill>
          <a:schemeClr val="tx1"/>
        </a:solidFill>
        <a:latin typeface="Arial" pitchFamily="34" charset="0"/>
        <a:ea typeface="+mn-ea"/>
        <a:cs typeface="+mn-cs"/>
      </a:defRPr>
    </a:lvl7pPr>
    <a:lvl8pPr marL="3200400" algn="l" defTabSz="914400" rtl="0" eaLnBrk="1" latinLnBrk="0" hangingPunct="1">
      <a:defRPr b="1" kern="1200">
        <a:solidFill>
          <a:schemeClr val="tx1"/>
        </a:solidFill>
        <a:latin typeface="Arial" pitchFamily="34" charset="0"/>
        <a:ea typeface="+mn-ea"/>
        <a:cs typeface="+mn-cs"/>
      </a:defRPr>
    </a:lvl8pPr>
    <a:lvl9pPr marL="3657600" algn="l" defTabSz="914400" rtl="0" eaLnBrk="1" latinLnBrk="0" hangingPunct="1">
      <a:defRPr b="1"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452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浅色样式 1 - 强调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3" autoAdjust="0"/>
    <p:restoredTop sz="92758" autoAdjust="0"/>
  </p:normalViewPr>
  <p:slideViewPr>
    <p:cSldViewPr>
      <p:cViewPr varScale="1">
        <p:scale>
          <a:sx n="100" d="100"/>
          <a:sy n="100" d="100"/>
        </p:scale>
        <p:origin x="720" y="160"/>
      </p:cViewPr>
      <p:guideLst>
        <p:guide orient="horz" pos="2160"/>
        <p:guide pos="2880"/>
      </p:guideLst>
    </p:cSldViewPr>
  </p:slideViewPr>
  <p:outlineViewPr>
    <p:cViewPr>
      <p:scale>
        <a:sx n="33" d="100"/>
        <a:sy n="33" d="100"/>
      </p:scale>
      <p:origin x="0" y="2102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notesMaster" Target="notesMasters/notesMaster1.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00" Type="http://schemas.openxmlformats.org/officeDocument/2006/relationships/slide" Target="slides/slide99.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30" Type="http://schemas.openxmlformats.org/officeDocument/2006/relationships/handoutMaster" Target="handoutMasters/handoutMaster1.xml"/><Relationship Id="rId131" Type="http://schemas.openxmlformats.org/officeDocument/2006/relationships/presProps" Target="presProps.xml"/><Relationship Id="rId132" Type="http://schemas.openxmlformats.org/officeDocument/2006/relationships/viewProps" Target="viewProps.xml"/><Relationship Id="rId133" Type="http://schemas.openxmlformats.org/officeDocument/2006/relationships/theme" Target="theme/theme1.xml"/><Relationship Id="rId134"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s>
</file>

<file path=ppt/charts/_rels/chart1.xml.rels><?xml version="1.0" encoding="UTF-8" standalone="yes"?>
<Relationships xmlns="http://schemas.openxmlformats.org/package/2006/relationships"><Relationship Id="rId1" Type="http://schemas.openxmlformats.org/officeDocument/2006/relationships/oleObject" Target="Macintosh%20HD:Users:bjj:Documents:&#30740;&#31350;&#23460;:&#39033;&#30446;&#36827;&#34892;&#26102;:A&#21009;&#27861;&#38382;&#21367;&#35843;&#26597;:&#20013;&#26399;&#21450;&#26368;&#32456;&#25104;&#26524;:CFPS:&#23548;&#20986;:&#20559;&#22909;2.xls"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0"/>
    <c:view3D>
      <c:rotX val="15"/>
      <c:rotY val="20"/>
      <c:rAngAx val="1"/>
    </c:view3D>
    <c:floor>
      <c:thickness val="0"/>
    </c:floor>
    <c:sideWall>
      <c:thickness val="0"/>
    </c:sideWall>
    <c:backWall>
      <c:thickness val="0"/>
    </c:backWall>
    <c:plotArea>
      <c:layout/>
      <c:bar3DChart>
        <c:barDir val="col"/>
        <c:grouping val="clustered"/>
        <c:varyColors val="0"/>
        <c:ser>
          <c:idx val="0"/>
          <c:order val="0"/>
          <c:invertIfNegative val="0"/>
          <c:val>
            <c:numRef>
              <c:f>Sheet1!$D$3:$D$14</c:f>
              <c:numCache>
                <c:formatCode>###0.0</c:formatCode>
                <c:ptCount val="12"/>
                <c:pt idx="0">
                  <c:v>3.079109426811938</c:v>
                </c:pt>
                <c:pt idx="1">
                  <c:v>8.037265119216798</c:v>
                </c:pt>
                <c:pt idx="2">
                  <c:v>13.93652297489341</c:v>
                </c:pt>
                <c:pt idx="3">
                  <c:v>18.80309489973157</c:v>
                </c:pt>
                <c:pt idx="4">
                  <c:v>18.20937944102321</c:v>
                </c:pt>
                <c:pt idx="5">
                  <c:v>15.84083372809095</c:v>
                </c:pt>
                <c:pt idx="6">
                  <c:v>10.99005210800568</c:v>
                </c:pt>
                <c:pt idx="7">
                  <c:v>6.300331596399809</c:v>
                </c:pt>
                <c:pt idx="8">
                  <c:v>3.439128375177641</c:v>
                </c:pt>
                <c:pt idx="9">
                  <c:v>1.143218064108637</c:v>
                </c:pt>
                <c:pt idx="10" formatCode="####.0">
                  <c:v>0.154744986578241</c:v>
                </c:pt>
                <c:pt idx="11" formatCode="####.0">
                  <c:v>0.0663192799621033</c:v>
                </c:pt>
              </c:numCache>
            </c:numRef>
          </c:val>
        </c:ser>
        <c:dLbls>
          <c:showLegendKey val="0"/>
          <c:showVal val="0"/>
          <c:showCatName val="0"/>
          <c:showSerName val="0"/>
          <c:showPercent val="0"/>
          <c:showBubbleSize val="0"/>
        </c:dLbls>
        <c:gapWidth val="150"/>
        <c:shape val="box"/>
        <c:axId val="-1900320960"/>
        <c:axId val="-1900364928"/>
        <c:axId val="0"/>
      </c:bar3DChart>
      <c:catAx>
        <c:axId val="-1900320960"/>
        <c:scaling>
          <c:orientation val="minMax"/>
        </c:scaling>
        <c:delete val="0"/>
        <c:axPos val="b"/>
        <c:majorTickMark val="out"/>
        <c:minorTickMark val="none"/>
        <c:tickLblPos val="nextTo"/>
        <c:crossAx val="-1900364928"/>
        <c:crosses val="autoZero"/>
        <c:auto val="1"/>
        <c:lblAlgn val="ctr"/>
        <c:lblOffset val="100"/>
        <c:noMultiLvlLbl val="0"/>
      </c:catAx>
      <c:valAx>
        <c:axId val="-1900364928"/>
        <c:scaling>
          <c:orientation val="minMax"/>
        </c:scaling>
        <c:delete val="0"/>
        <c:axPos val="l"/>
        <c:majorGridlines/>
        <c:numFmt formatCode="###0.0" sourceLinked="1"/>
        <c:majorTickMark val="out"/>
        <c:minorTickMark val="none"/>
        <c:tickLblPos val="nextTo"/>
        <c:crossAx val="-1900320960"/>
        <c:crosses val="autoZero"/>
        <c:crossBetween val="between"/>
      </c:valAx>
    </c:plotArea>
    <c:plotVisOnly val="1"/>
    <c:dispBlanksAs val="gap"/>
    <c:showDLblsOverMax val="0"/>
  </c:chart>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CABAC2B-40E7-8C42-B9BA-662E24161D01}" type="doc">
      <dgm:prSet loTypeId="urn:microsoft.com/office/officeart/2005/8/layout/orgChart1" loCatId="" qsTypeId="urn:microsoft.com/office/officeart/2005/8/quickstyle/simple4" qsCatId="simple" csTypeId="urn:microsoft.com/office/officeart/2005/8/colors/accent3_3" csCatId="accent3" phldr="1"/>
      <dgm:spPr/>
      <dgm:t>
        <a:bodyPr/>
        <a:lstStyle/>
        <a:p>
          <a:endParaRPr lang="zh-CN" altLang="en-US"/>
        </a:p>
      </dgm:t>
    </dgm:pt>
    <dgm:pt modelId="{775CC84C-E19A-E146-99DF-CAC1AFEA1CEB}">
      <dgm:prSet phldrT="[文本]"/>
      <dgm:spPr/>
      <dgm:t>
        <a:bodyPr/>
        <a:lstStyle/>
        <a:p>
          <a:r>
            <a:rPr lang="zh-CN" altLang="en-US" dirty="0" smtClean="0">
              <a:solidFill>
                <a:srgbClr val="302C24"/>
              </a:solidFill>
            </a:rPr>
            <a:t>刑法宽严</a:t>
          </a:r>
          <a:endParaRPr lang="zh-CN" altLang="en-US" dirty="0">
            <a:solidFill>
              <a:srgbClr val="302C24"/>
            </a:solidFill>
          </a:endParaRPr>
        </a:p>
      </dgm:t>
    </dgm:pt>
    <dgm:pt modelId="{6E9F1475-30A0-BE4F-B51A-124FE5FD1519}" type="parTrans" cxnId="{7FD99FC1-3B92-B949-B4D2-3DAFC9260461}">
      <dgm:prSet/>
      <dgm:spPr/>
      <dgm:t>
        <a:bodyPr/>
        <a:lstStyle/>
        <a:p>
          <a:endParaRPr lang="zh-CN" altLang="en-US"/>
        </a:p>
      </dgm:t>
    </dgm:pt>
    <dgm:pt modelId="{FD75FE89-1AAF-3B46-9597-68C1229ABA1F}" type="sibTrans" cxnId="{7FD99FC1-3B92-B949-B4D2-3DAFC9260461}">
      <dgm:prSet/>
      <dgm:spPr/>
      <dgm:t>
        <a:bodyPr/>
        <a:lstStyle/>
        <a:p>
          <a:endParaRPr lang="zh-CN" altLang="en-US"/>
        </a:p>
      </dgm:t>
    </dgm:pt>
    <dgm:pt modelId="{2AAC0203-D275-FE45-9834-B3509CA8E121}">
      <dgm:prSet phldrT="[文本]"/>
      <dgm:spPr/>
      <dgm:t>
        <a:bodyPr/>
        <a:lstStyle/>
        <a:p>
          <a:r>
            <a:rPr lang="zh-CN" altLang="en-US" dirty="0" smtClean="0">
              <a:solidFill>
                <a:srgbClr val="302C24"/>
              </a:solidFill>
            </a:rPr>
            <a:t>犯罪圈</a:t>
          </a:r>
        </a:p>
        <a:p>
          <a:r>
            <a:rPr lang="zh-CN" altLang="en-US" dirty="0" smtClean="0">
              <a:solidFill>
                <a:srgbClr val="302C24"/>
              </a:solidFill>
            </a:rPr>
            <a:t>大小</a:t>
          </a:r>
          <a:endParaRPr lang="zh-CN" altLang="en-US" dirty="0">
            <a:solidFill>
              <a:srgbClr val="302C24"/>
            </a:solidFill>
          </a:endParaRPr>
        </a:p>
      </dgm:t>
    </dgm:pt>
    <dgm:pt modelId="{37D74B86-A4A4-C740-82B5-C0D21284CE29}" type="parTrans" cxnId="{218760E3-36E4-8A49-9E49-D634A2DDEB6D}">
      <dgm:prSet/>
      <dgm:spPr/>
      <dgm:t>
        <a:bodyPr/>
        <a:lstStyle/>
        <a:p>
          <a:endParaRPr lang="zh-CN" altLang="en-US"/>
        </a:p>
      </dgm:t>
    </dgm:pt>
    <dgm:pt modelId="{EAD77D54-3E42-6E4A-BD20-DC5BE2C91142}" type="sibTrans" cxnId="{218760E3-36E4-8A49-9E49-D634A2DDEB6D}">
      <dgm:prSet/>
      <dgm:spPr/>
      <dgm:t>
        <a:bodyPr/>
        <a:lstStyle/>
        <a:p>
          <a:endParaRPr lang="zh-CN" altLang="en-US"/>
        </a:p>
      </dgm:t>
    </dgm:pt>
    <dgm:pt modelId="{23340A45-0B83-AF43-A65D-E23A651BCB7D}">
      <dgm:prSet phldrT="[文本]"/>
      <dgm:spPr/>
      <dgm:t>
        <a:bodyPr/>
        <a:lstStyle/>
        <a:p>
          <a:r>
            <a:rPr lang="zh-CN" altLang="en-US" dirty="0" smtClean="0">
              <a:solidFill>
                <a:srgbClr val="302C24"/>
              </a:solidFill>
            </a:rPr>
            <a:t>刑罚轻重</a:t>
          </a:r>
          <a:endParaRPr lang="zh-CN" altLang="en-US" dirty="0">
            <a:solidFill>
              <a:srgbClr val="302C24"/>
            </a:solidFill>
          </a:endParaRPr>
        </a:p>
      </dgm:t>
    </dgm:pt>
    <dgm:pt modelId="{0241E81C-A40F-1444-BAB2-D8AC1516FF09}" type="parTrans" cxnId="{9A45A939-37B7-C24E-8559-B2DA40E16C9A}">
      <dgm:prSet/>
      <dgm:spPr/>
      <dgm:t>
        <a:bodyPr/>
        <a:lstStyle/>
        <a:p>
          <a:endParaRPr lang="zh-CN" altLang="en-US"/>
        </a:p>
      </dgm:t>
    </dgm:pt>
    <dgm:pt modelId="{231AF1E4-E7F3-BD40-9FB1-52D0EABC2049}" type="sibTrans" cxnId="{9A45A939-37B7-C24E-8559-B2DA40E16C9A}">
      <dgm:prSet/>
      <dgm:spPr/>
      <dgm:t>
        <a:bodyPr/>
        <a:lstStyle/>
        <a:p>
          <a:endParaRPr lang="zh-CN" altLang="en-US"/>
        </a:p>
      </dgm:t>
    </dgm:pt>
    <dgm:pt modelId="{4CF60CAE-EFD4-7245-A832-39E31AE3DF76}">
      <dgm:prSet phldrT="[文本]"/>
      <dgm:spPr/>
      <dgm:t>
        <a:bodyPr/>
        <a:lstStyle/>
        <a:p>
          <a:r>
            <a:rPr lang="zh-CN" altLang="en-US" dirty="0" smtClean="0">
              <a:solidFill>
                <a:srgbClr val="302C24"/>
              </a:solidFill>
            </a:rPr>
            <a:t>罪刑关系</a:t>
          </a:r>
        </a:p>
        <a:p>
          <a:r>
            <a:rPr lang="zh-CN" altLang="en-US" dirty="0" smtClean="0">
              <a:solidFill>
                <a:srgbClr val="302C24"/>
              </a:solidFill>
            </a:rPr>
            <a:t>排序</a:t>
          </a:r>
          <a:endParaRPr lang="zh-CN" altLang="en-US" dirty="0">
            <a:solidFill>
              <a:srgbClr val="302C24"/>
            </a:solidFill>
          </a:endParaRPr>
        </a:p>
      </dgm:t>
    </dgm:pt>
    <dgm:pt modelId="{656C8FD6-7C90-BE48-8BEF-978A3A59E06E}" type="parTrans" cxnId="{535178CC-F3D9-CE4E-BFEC-8668423F7BDA}">
      <dgm:prSet/>
      <dgm:spPr/>
      <dgm:t>
        <a:bodyPr/>
        <a:lstStyle/>
        <a:p>
          <a:endParaRPr lang="zh-CN" altLang="en-US"/>
        </a:p>
      </dgm:t>
    </dgm:pt>
    <dgm:pt modelId="{F314CA1B-C48A-1F4D-A514-C4EE3FAE488F}" type="sibTrans" cxnId="{535178CC-F3D9-CE4E-BFEC-8668423F7BDA}">
      <dgm:prSet/>
      <dgm:spPr/>
      <dgm:t>
        <a:bodyPr/>
        <a:lstStyle/>
        <a:p>
          <a:endParaRPr lang="zh-CN" altLang="en-US"/>
        </a:p>
      </dgm:t>
    </dgm:pt>
    <dgm:pt modelId="{95769952-E8F1-2847-9253-67CF3A2F3763}" type="pres">
      <dgm:prSet presAssocID="{0CABAC2B-40E7-8C42-B9BA-662E24161D01}" presName="hierChild1" presStyleCnt="0">
        <dgm:presLayoutVars>
          <dgm:orgChart val="1"/>
          <dgm:chPref val="1"/>
          <dgm:dir/>
          <dgm:animOne val="branch"/>
          <dgm:animLvl val="lvl"/>
          <dgm:resizeHandles/>
        </dgm:presLayoutVars>
      </dgm:prSet>
      <dgm:spPr/>
      <dgm:t>
        <a:bodyPr/>
        <a:lstStyle/>
        <a:p>
          <a:endParaRPr lang="zh-CN" altLang="en-US"/>
        </a:p>
      </dgm:t>
    </dgm:pt>
    <dgm:pt modelId="{5AA604C6-5B02-F44E-931C-91E957D68D50}" type="pres">
      <dgm:prSet presAssocID="{775CC84C-E19A-E146-99DF-CAC1AFEA1CEB}" presName="hierRoot1" presStyleCnt="0">
        <dgm:presLayoutVars>
          <dgm:hierBranch val="init"/>
        </dgm:presLayoutVars>
      </dgm:prSet>
      <dgm:spPr/>
    </dgm:pt>
    <dgm:pt modelId="{46447F4D-2B76-4647-9A03-54D13118F8D1}" type="pres">
      <dgm:prSet presAssocID="{775CC84C-E19A-E146-99DF-CAC1AFEA1CEB}" presName="rootComposite1" presStyleCnt="0"/>
      <dgm:spPr/>
    </dgm:pt>
    <dgm:pt modelId="{59764513-F9FF-254B-AF80-E53285D8B810}" type="pres">
      <dgm:prSet presAssocID="{775CC84C-E19A-E146-99DF-CAC1AFEA1CEB}" presName="rootText1" presStyleLbl="node0" presStyleIdx="0" presStyleCnt="1">
        <dgm:presLayoutVars>
          <dgm:chPref val="3"/>
        </dgm:presLayoutVars>
      </dgm:prSet>
      <dgm:spPr/>
      <dgm:t>
        <a:bodyPr/>
        <a:lstStyle/>
        <a:p>
          <a:endParaRPr lang="zh-CN" altLang="en-US"/>
        </a:p>
      </dgm:t>
    </dgm:pt>
    <dgm:pt modelId="{261438B3-7BB7-8540-8950-3A221D772B43}" type="pres">
      <dgm:prSet presAssocID="{775CC84C-E19A-E146-99DF-CAC1AFEA1CEB}" presName="rootConnector1" presStyleLbl="node1" presStyleIdx="0" presStyleCnt="0"/>
      <dgm:spPr/>
      <dgm:t>
        <a:bodyPr/>
        <a:lstStyle/>
        <a:p>
          <a:endParaRPr lang="zh-CN" altLang="en-US"/>
        </a:p>
      </dgm:t>
    </dgm:pt>
    <dgm:pt modelId="{47182EE6-4458-0B43-8AC1-3F47E541E9DC}" type="pres">
      <dgm:prSet presAssocID="{775CC84C-E19A-E146-99DF-CAC1AFEA1CEB}" presName="hierChild2" presStyleCnt="0"/>
      <dgm:spPr/>
    </dgm:pt>
    <dgm:pt modelId="{08A21B20-41DA-2A47-BA77-6032850966E9}" type="pres">
      <dgm:prSet presAssocID="{37D74B86-A4A4-C740-82B5-C0D21284CE29}" presName="Name37" presStyleLbl="parChTrans1D2" presStyleIdx="0" presStyleCnt="3"/>
      <dgm:spPr/>
      <dgm:t>
        <a:bodyPr/>
        <a:lstStyle/>
        <a:p>
          <a:endParaRPr lang="zh-CN" altLang="en-US"/>
        </a:p>
      </dgm:t>
    </dgm:pt>
    <dgm:pt modelId="{96C82DBA-B114-9F44-9200-0C498A127934}" type="pres">
      <dgm:prSet presAssocID="{2AAC0203-D275-FE45-9834-B3509CA8E121}" presName="hierRoot2" presStyleCnt="0">
        <dgm:presLayoutVars>
          <dgm:hierBranch val="init"/>
        </dgm:presLayoutVars>
      </dgm:prSet>
      <dgm:spPr/>
    </dgm:pt>
    <dgm:pt modelId="{834BAF19-9C69-C44F-AE5D-2E0EA7FC5D84}" type="pres">
      <dgm:prSet presAssocID="{2AAC0203-D275-FE45-9834-B3509CA8E121}" presName="rootComposite" presStyleCnt="0"/>
      <dgm:spPr/>
    </dgm:pt>
    <dgm:pt modelId="{B71095A0-A050-A14C-B688-DF2701783CE5}" type="pres">
      <dgm:prSet presAssocID="{2AAC0203-D275-FE45-9834-B3509CA8E121}" presName="rootText" presStyleLbl="node2" presStyleIdx="0" presStyleCnt="3">
        <dgm:presLayoutVars>
          <dgm:chPref val="3"/>
        </dgm:presLayoutVars>
      </dgm:prSet>
      <dgm:spPr/>
      <dgm:t>
        <a:bodyPr/>
        <a:lstStyle/>
        <a:p>
          <a:endParaRPr lang="zh-CN" altLang="en-US"/>
        </a:p>
      </dgm:t>
    </dgm:pt>
    <dgm:pt modelId="{2A6F4D9F-3DA6-F649-B6F3-05BE05C05BAD}" type="pres">
      <dgm:prSet presAssocID="{2AAC0203-D275-FE45-9834-B3509CA8E121}" presName="rootConnector" presStyleLbl="node2" presStyleIdx="0" presStyleCnt="3"/>
      <dgm:spPr/>
      <dgm:t>
        <a:bodyPr/>
        <a:lstStyle/>
        <a:p>
          <a:endParaRPr lang="zh-CN" altLang="en-US"/>
        </a:p>
      </dgm:t>
    </dgm:pt>
    <dgm:pt modelId="{45A607D9-0536-7D49-85F1-B9C277981C65}" type="pres">
      <dgm:prSet presAssocID="{2AAC0203-D275-FE45-9834-B3509CA8E121}" presName="hierChild4" presStyleCnt="0"/>
      <dgm:spPr/>
    </dgm:pt>
    <dgm:pt modelId="{75C6EE6A-63DD-F644-8571-212ACD93AF9C}" type="pres">
      <dgm:prSet presAssocID="{2AAC0203-D275-FE45-9834-B3509CA8E121}" presName="hierChild5" presStyleCnt="0"/>
      <dgm:spPr/>
    </dgm:pt>
    <dgm:pt modelId="{7C8A7280-5EFC-E246-B8F0-BF8534CA3C76}" type="pres">
      <dgm:prSet presAssocID="{0241E81C-A40F-1444-BAB2-D8AC1516FF09}" presName="Name37" presStyleLbl="parChTrans1D2" presStyleIdx="1" presStyleCnt="3"/>
      <dgm:spPr/>
      <dgm:t>
        <a:bodyPr/>
        <a:lstStyle/>
        <a:p>
          <a:endParaRPr lang="zh-CN" altLang="en-US"/>
        </a:p>
      </dgm:t>
    </dgm:pt>
    <dgm:pt modelId="{B0156EE4-32D8-7448-A158-45E9A8025713}" type="pres">
      <dgm:prSet presAssocID="{23340A45-0B83-AF43-A65D-E23A651BCB7D}" presName="hierRoot2" presStyleCnt="0">
        <dgm:presLayoutVars>
          <dgm:hierBranch val="init"/>
        </dgm:presLayoutVars>
      </dgm:prSet>
      <dgm:spPr/>
    </dgm:pt>
    <dgm:pt modelId="{824E0220-76C8-DB4C-AD22-6E1D59F6ABC6}" type="pres">
      <dgm:prSet presAssocID="{23340A45-0B83-AF43-A65D-E23A651BCB7D}" presName="rootComposite" presStyleCnt="0"/>
      <dgm:spPr/>
    </dgm:pt>
    <dgm:pt modelId="{0101F856-1B71-DD4E-842E-FBD24A103305}" type="pres">
      <dgm:prSet presAssocID="{23340A45-0B83-AF43-A65D-E23A651BCB7D}" presName="rootText" presStyleLbl="node2" presStyleIdx="1" presStyleCnt="3">
        <dgm:presLayoutVars>
          <dgm:chPref val="3"/>
        </dgm:presLayoutVars>
      </dgm:prSet>
      <dgm:spPr/>
      <dgm:t>
        <a:bodyPr/>
        <a:lstStyle/>
        <a:p>
          <a:endParaRPr lang="zh-CN" altLang="en-US"/>
        </a:p>
      </dgm:t>
    </dgm:pt>
    <dgm:pt modelId="{8A0B0A00-23EC-994F-B59B-72FF6AA016E4}" type="pres">
      <dgm:prSet presAssocID="{23340A45-0B83-AF43-A65D-E23A651BCB7D}" presName="rootConnector" presStyleLbl="node2" presStyleIdx="1" presStyleCnt="3"/>
      <dgm:spPr/>
      <dgm:t>
        <a:bodyPr/>
        <a:lstStyle/>
        <a:p>
          <a:endParaRPr lang="zh-CN" altLang="en-US"/>
        </a:p>
      </dgm:t>
    </dgm:pt>
    <dgm:pt modelId="{06E3EDCD-51EF-054B-BC4A-313301686645}" type="pres">
      <dgm:prSet presAssocID="{23340A45-0B83-AF43-A65D-E23A651BCB7D}" presName="hierChild4" presStyleCnt="0"/>
      <dgm:spPr/>
    </dgm:pt>
    <dgm:pt modelId="{77C6FBB2-5344-F940-B5AD-D53FE4BB40F2}" type="pres">
      <dgm:prSet presAssocID="{23340A45-0B83-AF43-A65D-E23A651BCB7D}" presName="hierChild5" presStyleCnt="0"/>
      <dgm:spPr/>
    </dgm:pt>
    <dgm:pt modelId="{49BA8FE0-77E5-CD4F-BC78-CA34C8F334BD}" type="pres">
      <dgm:prSet presAssocID="{656C8FD6-7C90-BE48-8BEF-978A3A59E06E}" presName="Name37" presStyleLbl="parChTrans1D2" presStyleIdx="2" presStyleCnt="3"/>
      <dgm:spPr/>
      <dgm:t>
        <a:bodyPr/>
        <a:lstStyle/>
        <a:p>
          <a:endParaRPr lang="zh-CN" altLang="en-US"/>
        </a:p>
      </dgm:t>
    </dgm:pt>
    <dgm:pt modelId="{F5E204B0-BFA0-174D-BE98-A4F3E67AB6B5}" type="pres">
      <dgm:prSet presAssocID="{4CF60CAE-EFD4-7245-A832-39E31AE3DF76}" presName="hierRoot2" presStyleCnt="0">
        <dgm:presLayoutVars>
          <dgm:hierBranch val="init"/>
        </dgm:presLayoutVars>
      </dgm:prSet>
      <dgm:spPr/>
    </dgm:pt>
    <dgm:pt modelId="{8DE7AABF-4BAC-AA4D-A885-AC3D6B684065}" type="pres">
      <dgm:prSet presAssocID="{4CF60CAE-EFD4-7245-A832-39E31AE3DF76}" presName="rootComposite" presStyleCnt="0"/>
      <dgm:spPr/>
    </dgm:pt>
    <dgm:pt modelId="{76E4B545-A5D4-2E49-A993-3FE3EE116016}" type="pres">
      <dgm:prSet presAssocID="{4CF60CAE-EFD4-7245-A832-39E31AE3DF76}" presName="rootText" presStyleLbl="node2" presStyleIdx="2" presStyleCnt="3">
        <dgm:presLayoutVars>
          <dgm:chPref val="3"/>
        </dgm:presLayoutVars>
      </dgm:prSet>
      <dgm:spPr/>
      <dgm:t>
        <a:bodyPr/>
        <a:lstStyle/>
        <a:p>
          <a:endParaRPr lang="zh-CN" altLang="en-US"/>
        </a:p>
      </dgm:t>
    </dgm:pt>
    <dgm:pt modelId="{540B51AA-D717-BD45-A605-92496FBA87BB}" type="pres">
      <dgm:prSet presAssocID="{4CF60CAE-EFD4-7245-A832-39E31AE3DF76}" presName="rootConnector" presStyleLbl="node2" presStyleIdx="2" presStyleCnt="3"/>
      <dgm:spPr/>
      <dgm:t>
        <a:bodyPr/>
        <a:lstStyle/>
        <a:p>
          <a:endParaRPr lang="zh-CN" altLang="en-US"/>
        </a:p>
      </dgm:t>
    </dgm:pt>
    <dgm:pt modelId="{81BC2F5D-440E-8347-970B-4E3C665E9EFD}" type="pres">
      <dgm:prSet presAssocID="{4CF60CAE-EFD4-7245-A832-39E31AE3DF76}" presName="hierChild4" presStyleCnt="0"/>
      <dgm:spPr/>
    </dgm:pt>
    <dgm:pt modelId="{B8A57133-EBB0-E744-A4B5-E30DF6DFFC08}" type="pres">
      <dgm:prSet presAssocID="{4CF60CAE-EFD4-7245-A832-39E31AE3DF76}" presName="hierChild5" presStyleCnt="0"/>
      <dgm:spPr/>
    </dgm:pt>
    <dgm:pt modelId="{CFF25962-5E28-584E-B04F-E1D39E1FACD9}" type="pres">
      <dgm:prSet presAssocID="{775CC84C-E19A-E146-99DF-CAC1AFEA1CEB}" presName="hierChild3" presStyleCnt="0"/>
      <dgm:spPr/>
    </dgm:pt>
  </dgm:ptLst>
  <dgm:cxnLst>
    <dgm:cxn modelId="{218760E3-36E4-8A49-9E49-D634A2DDEB6D}" srcId="{775CC84C-E19A-E146-99DF-CAC1AFEA1CEB}" destId="{2AAC0203-D275-FE45-9834-B3509CA8E121}" srcOrd="0" destOrd="0" parTransId="{37D74B86-A4A4-C740-82B5-C0D21284CE29}" sibTransId="{EAD77D54-3E42-6E4A-BD20-DC5BE2C91142}"/>
    <dgm:cxn modelId="{9A45A939-37B7-C24E-8559-B2DA40E16C9A}" srcId="{775CC84C-E19A-E146-99DF-CAC1AFEA1CEB}" destId="{23340A45-0B83-AF43-A65D-E23A651BCB7D}" srcOrd="1" destOrd="0" parTransId="{0241E81C-A40F-1444-BAB2-D8AC1516FF09}" sibTransId="{231AF1E4-E7F3-BD40-9FB1-52D0EABC2049}"/>
    <dgm:cxn modelId="{535178CC-F3D9-CE4E-BFEC-8668423F7BDA}" srcId="{775CC84C-E19A-E146-99DF-CAC1AFEA1CEB}" destId="{4CF60CAE-EFD4-7245-A832-39E31AE3DF76}" srcOrd="2" destOrd="0" parTransId="{656C8FD6-7C90-BE48-8BEF-978A3A59E06E}" sibTransId="{F314CA1B-C48A-1F4D-A514-C4EE3FAE488F}"/>
    <dgm:cxn modelId="{BAA4FF6E-D2C7-E04C-9F8D-A1D6D8408779}" type="presOf" srcId="{23340A45-0B83-AF43-A65D-E23A651BCB7D}" destId="{0101F856-1B71-DD4E-842E-FBD24A103305}" srcOrd="0" destOrd="0" presId="urn:microsoft.com/office/officeart/2005/8/layout/orgChart1"/>
    <dgm:cxn modelId="{761B6EFF-36DB-0145-833E-409E42D203C8}" type="presOf" srcId="{23340A45-0B83-AF43-A65D-E23A651BCB7D}" destId="{8A0B0A00-23EC-994F-B59B-72FF6AA016E4}" srcOrd="1" destOrd="0" presId="urn:microsoft.com/office/officeart/2005/8/layout/orgChart1"/>
    <dgm:cxn modelId="{1CDA2D93-6C32-C843-BE98-6FD7EDB25D8B}" type="presOf" srcId="{37D74B86-A4A4-C740-82B5-C0D21284CE29}" destId="{08A21B20-41DA-2A47-BA77-6032850966E9}" srcOrd="0" destOrd="0" presId="urn:microsoft.com/office/officeart/2005/8/layout/orgChart1"/>
    <dgm:cxn modelId="{9CB5179D-9BB8-A04D-AAB0-6F315D0F89AB}" type="presOf" srcId="{0241E81C-A40F-1444-BAB2-D8AC1516FF09}" destId="{7C8A7280-5EFC-E246-B8F0-BF8534CA3C76}" srcOrd="0" destOrd="0" presId="urn:microsoft.com/office/officeart/2005/8/layout/orgChart1"/>
    <dgm:cxn modelId="{BB8E08C0-F587-0C40-BD8A-9B39284E1E4B}" type="presOf" srcId="{4CF60CAE-EFD4-7245-A832-39E31AE3DF76}" destId="{76E4B545-A5D4-2E49-A993-3FE3EE116016}" srcOrd="0" destOrd="0" presId="urn:microsoft.com/office/officeart/2005/8/layout/orgChart1"/>
    <dgm:cxn modelId="{E8C4C9D1-C66C-3D4E-A847-7BC74499CD29}" type="presOf" srcId="{775CC84C-E19A-E146-99DF-CAC1AFEA1CEB}" destId="{59764513-F9FF-254B-AF80-E53285D8B810}" srcOrd="0" destOrd="0" presId="urn:microsoft.com/office/officeart/2005/8/layout/orgChart1"/>
    <dgm:cxn modelId="{A3ACF1B3-3F58-AB41-9AB4-6CCEF86C5D31}" type="presOf" srcId="{2AAC0203-D275-FE45-9834-B3509CA8E121}" destId="{B71095A0-A050-A14C-B688-DF2701783CE5}" srcOrd="0" destOrd="0" presId="urn:microsoft.com/office/officeart/2005/8/layout/orgChart1"/>
    <dgm:cxn modelId="{7FD99FC1-3B92-B949-B4D2-3DAFC9260461}" srcId="{0CABAC2B-40E7-8C42-B9BA-662E24161D01}" destId="{775CC84C-E19A-E146-99DF-CAC1AFEA1CEB}" srcOrd="0" destOrd="0" parTransId="{6E9F1475-30A0-BE4F-B51A-124FE5FD1519}" sibTransId="{FD75FE89-1AAF-3B46-9597-68C1229ABA1F}"/>
    <dgm:cxn modelId="{BCD9C8CE-CBEF-F249-AE2B-DCCA5BF17C7D}" type="presOf" srcId="{4CF60CAE-EFD4-7245-A832-39E31AE3DF76}" destId="{540B51AA-D717-BD45-A605-92496FBA87BB}" srcOrd="1" destOrd="0" presId="urn:microsoft.com/office/officeart/2005/8/layout/orgChart1"/>
    <dgm:cxn modelId="{EBDB9B67-77C4-F943-8DA4-3CCE466A7D32}" type="presOf" srcId="{2AAC0203-D275-FE45-9834-B3509CA8E121}" destId="{2A6F4D9F-3DA6-F649-B6F3-05BE05C05BAD}" srcOrd="1" destOrd="0" presId="urn:microsoft.com/office/officeart/2005/8/layout/orgChart1"/>
    <dgm:cxn modelId="{73E3E67A-DE36-3843-B6F9-236C09BF015F}" type="presOf" srcId="{656C8FD6-7C90-BE48-8BEF-978A3A59E06E}" destId="{49BA8FE0-77E5-CD4F-BC78-CA34C8F334BD}" srcOrd="0" destOrd="0" presId="urn:microsoft.com/office/officeart/2005/8/layout/orgChart1"/>
    <dgm:cxn modelId="{9BF262A1-78A1-9747-A32E-402ED93754DC}" type="presOf" srcId="{0CABAC2B-40E7-8C42-B9BA-662E24161D01}" destId="{95769952-E8F1-2847-9253-67CF3A2F3763}" srcOrd="0" destOrd="0" presId="urn:microsoft.com/office/officeart/2005/8/layout/orgChart1"/>
    <dgm:cxn modelId="{6F034946-C616-6245-AB40-846163BA278D}" type="presOf" srcId="{775CC84C-E19A-E146-99DF-CAC1AFEA1CEB}" destId="{261438B3-7BB7-8540-8950-3A221D772B43}" srcOrd="1" destOrd="0" presId="urn:microsoft.com/office/officeart/2005/8/layout/orgChart1"/>
    <dgm:cxn modelId="{E0F0E575-EDE0-294B-BA7F-CB72F57AC07A}" type="presParOf" srcId="{95769952-E8F1-2847-9253-67CF3A2F3763}" destId="{5AA604C6-5B02-F44E-931C-91E957D68D50}" srcOrd="0" destOrd="0" presId="urn:microsoft.com/office/officeart/2005/8/layout/orgChart1"/>
    <dgm:cxn modelId="{D3FE3F56-8828-284C-9911-C91410FBF906}" type="presParOf" srcId="{5AA604C6-5B02-F44E-931C-91E957D68D50}" destId="{46447F4D-2B76-4647-9A03-54D13118F8D1}" srcOrd="0" destOrd="0" presId="urn:microsoft.com/office/officeart/2005/8/layout/orgChart1"/>
    <dgm:cxn modelId="{938F4577-6749-8C4E-86EA-A1F433D353DC}" type="presParOf" srcId="{46447F4D-2B76-4647-9A03-54D13118F8D1}" destId="{59764513-F9FF-254B-AF80-E53285D8B810}" srcOrd="0" destOrd="0" presId="urn:microsoft.com/office/officeart/2005/8/layout/orgChart1"/>
    <dgm:cxn modelId="{B9E3C9A5-C422-9348-AD30-E3CC096A3E8F}" type="presParOf" srcId="{46447F4D-2B76-4647-9A03-54D13118F8D1}" destId="{261438B3-7BB7-8540-8950-3A221D772B43}" srcOrd="1" destOrd="0" presId="urn:microsoft.com/office/officeart/2005/8/layout/orgChart1"/>
    <dgm:cxn modelId="{9BD8BB8C-BB75-A84D-8D5B-D47C5EE44CA4}" type="presParOf" srcId="{5AA604C6-5B02-F44E-931C-91E957D68D50}" destId="{47182EE6-4458-0B43-8AC1-3F47E541E9DC}" srcOrd="1" destOrd="0" presId="urn:microsoft.com/office/officeart/2005/8/layout/orgChart1"/>
    <dgm:cxn modelId="{06BF16FE-7BE2-054B-A407-F8BD97E4EF2E}" type="presParOf" srcId="{47182EE6-4458-0B43-8AC1-3F47E541E9DC}" destId="{08A21B20-41DA-2A47-BA77-6032850966E9}" srcOrd="0" destOrd="0" presId="urn:microsoft.com/office/officeart/2005/8/layout/orgChart1"/>
    <dgm:cxn modelId="{4169D8D4-61DB-804B-83DC-D3F03BDE0A37}" type="presParOf" srcId="{47182EE6-4458-0B43-8AC1-3F47E541E9DC}" destId="{96C82DBA-B114-9F44-9200-0C498A127934}" srcOrd="1" destOrd="0" presId="urn:microsoft.com/office/officeart/2005/8/layout/orgChart1"/>
    <dgm:cxn modelId="{2EE6F5B5-7754-A549-8601-C55E11A23711}" type="presParOf" srcId="{96C82DBA-B114-9F44-9200-0C498A127934}" destId="{834BAF19-9C69-C44F-AE5D-2E0EA7FC5D84}" srcOrd="0" destOrd="0" presId="urn:microsoft.com/office/officeart/2005/8/layout/orgChart1"/>
    <dgm:cxn modelId="{890775B9-034F-9F45-88D6-200CD2AA2396}" type="presParOf" srcId="{834BAF19-9C69-C44F-AE5D-2E0EA7FC5D84}" destId="{B71095A0-A050-A14C-B688-DF2701783CE5}" srcOrd="0" destOrd="0" presId="urn:microsoft.com/office/officeart/2005/8/layout/orgChart1"/>
    <dgm:cxn modelId="{435C9432-C5B3-DE49-94AB-29FE293FB77E}" type="presParOf" srcId="{834BAF19-9C69-C44F-AE5D-2E0EA7FC5D84}" destId="{2A6F4D9F-3DA6-F649-B6F3-05BE05C05BAD}" srcOrd="1" destOrd="0" presId="urn:microsoft.com/office/officeart/2005/8/layout/orgChart1"/>
    <dgm:cxn modelId="{BA8B3A37-4D5F-B943-BE2C-152F608EF5CA}" type="presParOf" srcId="{96C82DBA-B114-9F44-9200-0C498A127934}" destId="{45A607D9-0536-7D49-85F1-B9C277981C65}" srcOrd="1" destOrd="0" presId="urn:microsoft.com/office/officeart/2005/8/layout/orgChart1"/>
    <dgm:cxn modelId="{1A19D698-959F-8144-8E17-F341DC19BE73}" type="presParOf" srcId="{96C82DBA-B114-9F44-9200-0C498A127934}" destId="{75C6EE6A-63DD-F644-8571-212ACD93AF9C}" srcOrd="2" destOrd="0" presId="urn:microsoft.com/office/officeart/2005/8/layout/orgChart1"/>
    <dgm:cxn modelId="{8194F6A4-8448-884C-8119-10B3E80CC710}" type="presParOf" srcId="{47182EE6-4458-0B43-8AC1-3F47E541E9DC}" destId="{7C8A7280-5EFC-E246-B8F0-BF8534CA3C76}" srcOrd="2" destOrd="0" presId="urn:microsoft.com/office/officeart/2005/8/layout/orgChart1"/>
    <dgm:cxn modelId="{7217BB41-FCE2-FF45-B06E-D3B429F71273}" type="presParOf" srcId="{47182EE6-4458-0B43-8AC1-3F47E541E9DC}" destId="{B0156EE4-32D8-7448-A158-45E9A8025713}" srcOrd="3" destOrd="0" presId="urn:microsoft.com/office/officeart/2005/8/layout/orgChart1"/>
    <dgm:cxn modelId="{CE66B2B9-8546-FB42-8505-27AE686B5E42}" type="presParOf" srcId="{B0156EE4-32D8-7448-A158-45E9A8025713}" destId="{824E0220-76C8-DB4C-AD22-6E1D59F6ABC6}" srcOrd="0" destOrd="0" presId="urn:microsoft.com/office/officeart/2005/8/layout/orgChart1"/>
    <dgm:cxn modelId="{1D68B152-3B97-934A-AADE-9875D698A8E9}" type="presParOf" srcId="{824E0220-76C8-DB4C-AD22-6E1D59F6ABC6}" destId="{0101F856-1B71-DD4E-842E-FBD24A103305}" srcOrd="0" destOrd="0" presId="urn:microsoft.com/office/officeart/2005/8/layout/orgChart1"/>
    <dgm:cxn modelId="{5122B18A-FC15-3944-AFFA-62C3FA07B9D4}" type="presParOf" srcId="{824E0220-76C8-DB4C-AD22-6E1D59F6ABC6}" destId="{8A0B0A00-23EC-994F-B59B-72FF6AA016E4}" srcOrd="1" destOrd="0" presId="urn:microsoft.com/office/officeart/2005/8/layout/orgChart1"/>
    <dgm:cxn modelId="{F6F84320-E867-864F-8F7B-5774BFC36D6E}" type="presParOf" srcId="{B0156EE4-32D8-7448-A158-45E9A8025713}" destId="{06E3EDCD-51EF-054B-BC4A-313301686645}" srcOrd="1" destOrd="0" presId="urn:microsoft.com/office/officeart/2005/8/layout/orgChart1"/>
    <dgm:cxn modelId="{88D5A151-463B-6F41-AEEF-59C49F7844E4}" type="presParOf" srcId="{B0156EE4-32D8-7448-A158-45E9A8025713}" destId="{77C6FBB2-5344-F940-B5AD-D53FE4BB40F2}" srcOrd="2" destOrd="0" presId="urn:microsoft.com/office/officeart/2005/8/layout/orgChart1"/>
    <dgm:cxn modelId="{FB395BFA-28A8-2D4F-BBC0-6915001F3128}" type="presParOf" srcId="{47182EE6-4458-0B43-8AC1-3F47E541E9DC}" destId="{49BA8FE0-77E5-CD4F-BC78-CA34C8F334BD}" srcOrd="4" destOrd="0" presId="urn:microsoft.com/office/officeart/2005/8/layout/orgChart1"/>
    <dgm:cxn modelId="{58B86CB8-2D80-2F4A-BDB0-774A2A67A600}" type="presParOf" srcId="{47182EE6-4458-0B43-8AC1-3F47E541E9DC}" destId="{F5E204B0-BFA0-174D-BE98-A4F3E67AB6B5}" srcOrd="5" destOrd="0" presId="urn:microsoft.com/office/officeart/2005/8/layout/orgChart1"/>
    <dgm:cxn modelId="{20687370-C4F3-BF47-87E6-1B07E132E344}" type="presParOf" srcId="{F5E204B0-BFA0-174D-BE98-A4F3E67AB6B5}" destId="{8DE7AABF-4BAC-AA4D-A885-AC3D6B684065}" srcOrd="0" destOrd="0" presId="urn:microsoft.com/office/officeart/2005/8/layout/orgChart1"/>
    <dgm:cxn modelId="{AAFD0D0A-90A2-C349-9C4B-B4DB44DC45D3}" type="presParOf" srcId="{8DE7AABF-4BAC-AA4D-A885-AC3D6B684065}" destId="{76E4B545-A5D4-2E49-A993-3FE3EE116016}" srcOrd="0" destOrd="0" presId="urn:microsoft.com/office/officeart/2005/8/layout/orgChart1"/>
    <dgm:cxn modelId="{9F3525A6-9B78-1741-B004-91494430B177}" type="presParOf" srcId="{8DE7AABF-4BAC-AA4D-A885-AC3D6B684065}" destId="{540B51AA-D717-BD45-A605-92496FBA87BB}" srcOrd="1" destOrd="0" presId="urn:microsoft.com/office/officeart/2005/8/layout/orgChart1"/>
    <dgm:cxn modelId="{DF89CCA5-F104-1A4B-BCAD-708B27724F68}" type="presParOf" srcId="{F5E204B0-BFA0-174D-BE98-A4F3E67AB6B5}" destId="{81BC2F5D-440E-8347-970B-4E3C665E9EFD}" srcOrd="1" destOrd="0" presId="urn:microsoft.com/office/officeart/2005/8/layout/orgChart1"/>
    <dgm:cxn modelId="{6A429218-266D-4142-9156-E4D467E940B3}" type="presParOf" srcId="{F5E204B0-BFA0-174D-BE98-A4F3E67AB6B5}" destId="{B8A57133-EBB0-E744-A4B5-E30DF6DFFC08}" srcOrd="2" destOrd="0" presId="urn:microsoft.com/office/officeart/2005/8/layout/orgChart1"/>
    <dgm:cxn modelId="{7F2F0817-CEC3-A242-83D2-51B2CC9C5326}" type="presParOf" srcId="{5AA604C6-5B02-F44E-931C-91E957D68D50}" destId="{CFF25962-5E28-584E-B04F-E1D39E1FACD9}"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BA8FE0-77E5-CD4F-BC78-CA34C8F334BD}">
      <dsp:nvSpPr>
        <dsp:cNvPr id="0" name=""/>
        <dsp:cNvSpPr/>
      </dsp:nvSpPr>
      <dsp:spPr>
        <a:xfrm>
          <a:off x="4114799" y="2247683"/>
          <a:ext cx="2911251" cy="505258"/>
        </a:xfrm>
        <a:custGeom>
          <a:avLst/>
          <a:gdLst/>
          <a:ahLst/>
          <a:cxnLst/>
          <a:rect l="0" t="0" r="0" b="0"/>
          <a:pathLst>
            <a:path>
              <a:moveTo>
                <a:pt x="0" y="0"/>
              </a:moveTo>
              <a:lnTo>
                <a:pt x="0" y="252629"/>
              </a:lnTo>
              <a:lnTo>
                <a:pt x="2911251" y="252629"/>
              </a:lnTo>
              <a:lnTo>
                <a:pt x="2911251" y="505258"/>
              </a:lnTo>
            </a:path>
          </a:pathLst>
        </a:custGeom>
        <a:noFill/>
        <a:ln w="9525" cap="flat" cmpd="sng" algn="ctr">
          <a:solidFill>
            <a:schemeClr val="accent3">
              <a:tint val="99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7C8A7280-5EFC-E246-B8F0-BF8534CA3C76}">
      <dsp:nvSpPr>
        <dsp:cNvPr id="0" name=""/>
        <dsp:cNvSpPr/>
      </dsp:nvSpPr>
      <dsp:spPr>
        <a:xfrm>
          <a:off x="4069079" y="2247683"/>
          <a:ext cx="91440" cy="505258"/>
        </a:xfrm>
        <a:custGeom>
          <a:avLst/>
          <a:gdLst/>
          <a:ahLst/>
          <a:cxnLst/>
          <a:rect l="0" t="0" r="0" b="0"/>
          <a:pathLst>
            <a:path>
              <a:moveTo>
                <a:pt x="45720" y="0"/>
              </a:moveTo>
              <a:lnTo>
                <a:pt x="45720" y="505258"/>
              </a:lnTo>
            </a:path>
          </a:pathLst>
        </a:custGeom>
        <a:noFill/>
        <a:ln w="9525" cap="flat" cmpd="sng" algn="ctr">
          <a:solidFill>
            <a:schemeClr val="accent3">
              <a:tint val="99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8A21B20-41DA-2A47-BA77-6032850966E9}">
      <dsp:nvSpPr>
        <dsp:cNvPr id="0" name=""/>
        <dsp:cNvSpPr/>
      </dsp:nvSpPr>
      <dsp:spPr>
        <a:xfrm>
          <a:off x="1203548" y="2247683"/>
          <a:ext cx="2911251" cy="505258"/>
        </a:xfrm>
        <a:custGeom>
          <a:avLst/>
          <a:gdLst/>
          <a:ahLst/>
          <a:cxnLst/>
          <a:rect l="0" t="0" r="0" b="0"/>
          <a:pathLst>
            <a:path>
              <a:moveTo>
                <a:pt x="2911251" y="0"/>
              </a:moveTo>
              <a:lnTo>
                <a:pt x="2911251" y="252629"/>
              </a:lnTo>
              <a:lnTo>
                <a:pt x="0" y="252629"/>
              </a:lnTo>
              <a:lnTo>
                <a:pt x="0" y="505258"/>
              </a:lnTo>
            </a:path>
          </a:pathLst>
        </a:custGeom>
        <a:noFill/>
        <a:ln w="9525" cap="flat" cmpd="sng" algn="ctr">
          <a:solidFill>
            <a:schemeClr val="accent3">
              <a:tint val="99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9764513-F9FF-254B-AF80-E53285D8B810}">
      <dsp:nvSpPr>
        <dsp:cNvPr id="0" name=""/>
        <dsp:cNvSpPr/>
      </dsp:nvSpPr>
      <dsp:spPr>
        <a:xfrm>
          <a:off x="2911803" y="1044686"/>
          <a:ext cx="2405992" cy="1202996"/>
        </a:xfrm>
        <a:prstGeom prst="rect">
          <a:avLst/>
        </a:prstGeom>
        <a:gradFill rotWithShape="0">
          <a:gsLst>
            <a:gs pos="0">
              <a:schemeClr val="accent3">
                <a:shade val="80000"/>
                <a:hueOff val="0"/>
                <a:satOff val="0"/>
                <a:lumOff val="0"/>
                <a:alphaOff val="0"/>
                <a:shade val="51000"/>
                <a:satMod val="130000"/>
              </a:schemeClr>
            </a:gs>
            <a:gs pos="80000">
              <a:schemeClr val="accent3">
                <a:shade val="80000"/>
                <a:hueOff val="0"/>
                <a:satOff val="0"/>
                <a:lumOff val="0"/>
                <a:alphaOff val="0"/>
                <a:shade val="93000"/>
                <a:satMod val="130000"/>
              </a:schemeClr>
            </a:gs>
            <a:gs pos="100000">
              <a:schemeClr val="accent3">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zh-CN" altLang="en-US" sz="3200" kern="1200" dirty="0" smtClean="0">
              <a:solidFill>
                <a:srgbClr val="302C24"/>
              </a:solidFill>
            </a:rPr>
            <a:t>刑法宽严</a:t>
          </a:r>
          <a:endParaRPr lang="zh-CN" altLang="en-US" sz="3200" kern="1200" dirty="0">
            <a:solidFill>
              <a:srgbClr val="302C24"/>
            </a:solidFill>
          </a:endParaRPr>
        </a:p>
      </dsp:txBody>
      <dsp:txXfrm>
        <a:off x="2911803" y="1044686"/>
        <a:ext cx="2405992" cy="1202996"/>
      </dsp:txXfrm>
    </dsp:sp>
    <dsp:sp modelId="{B71095A0-A050-A14C-B688-DF2701783CE5}">
      <dsp:nvSpPr>
        <dsp:cNvPr id="0" name=""/>
        <dsp:cNvSpPr/>
      </dsp:nvSpPr>
      <dsp:spPr>
        <a:xfrm>
          <a:off x="552" y="2752941"/>
          <a:ext cx="2405992" cy="1202996"/>
        </a:xfrm>
        <a:prstGeom prst="rect">
          <a:avLst/>
        </a:prstGeom>
        <a:gradFill rotWithShape="0">
          <a:gsLst>
            <a:gs pos="0">
              <a:schemeClr val="accent3">
                <a:tint val="99000"/>
                <a:hueOff val="0"/>
                <a:satOff val="0"/>
                <a:lumOff val="0"/>
                <a:alphaOff val="0"/>
                <a:shade val="51000"/>
                <a:satMod val="130000"/>
              </a:schemeClr>
            </a:gs>
            <a:gs pos="80000">
              <a:schemeClr val="accent3">
                <a:tint val="99000"/>
                <a:hueOff val="0"/>
                <a:satOff val="0"/>
                <a:lumOff val="0"/>
                <a:alphaOff val="0"/>
                <a:shade val="93000"/>
                <a:satMod val="130000"/>
              </a:schemeClr>
            </a:gs>
            <a:gs pos="100000">
              <a:schemeClr val="accent3">
                <a:tint val="99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zh-CN" altLang="en-US" sz="3200" kern="1200" dirty="0" smtClean="0">
              <a:solidFill>
                <a:srgbClr val="302C24"/>
              </a:solidFill>
            </a:rPr>
            <a:t>犯罪圈</a:t>
          </a:r>
        </a:p>
        <a:p>
          <a:pPr lvl="0" algn="ctr" defTabSz="1422400">
            <a:lnSpc>
              <a:spcPct val="90000"/>
            </a:lnSpc>
            <a:spcBef>
              <a:spcPct val="0"/>
            </a:spcBef>
            <a:spcAft>
              <a:spcPct val="35000"/>
            </a:spcAft>
          </a:pPr>
          <a:r>
            <a:rPr lang="zh-CN" altLang="en-US" sz="3200" kern="1200" dirty="0" smtClean="0">
              <a:solidFill>
                <a:srgbClr val="302C24"/>
              </a:solidFill>
            </a:rPr>
            <a:t>大小</a:t>
          </a:r>
          <a:endParaRPr lang="zh-CN" altLang="en-US" sz="3200" kern="1200" dirty="0">
            <a:solidFill>
              <a:srgbClr val="302C24"/>
            </a:solidFill>
          </a:endParaRPr>
        </a:p>
      </dsp:txBody>
      <dsp:txXfrm>
        <a:off x="552" y="2752941"/>
        <a:ext cx="2405992" cy="1202996"/>
      </dsp:txXfrm>
    </dsp:sp>
    <dsp:sp modelId="{0101F856-1B71-DD4E-842E-FBD24A103305}">
      <dsp:nvSpPr>
        <dsp:cNvPr id="0" name=""/>
        <dsp:cNvSpPr/>
      </dsp:nvSpPr>
      <dsp:spPr>
        <a:xfrm>
          <a:off x="2911803" y="2752941"/>
          <a:ext cx="2405992" cy="1202996"/>
        </a:xfrm>
        <a:prstGeom prst="rect">
          <a:avLst/>
        </a:prstGeom>
        <a:gradFill rotWithShape="0">
          <a:gsLst>
            <a:gs pos="0">
              <a:schemeClr val="accent3">
                <a:tint val="99000"/>
                <a:hueOff val="0"/>
                <a:satOff val="0"/>
                <a:lumOff val="0"/>
                <a:alphaOff val="0"/>
                <a:shade val="51000"/>
                <a:satMod val="130000"/>
              </a:schemeClr>
            </a:gs>
            <a:gs pos="80000">
              <a:schemeClr val="accent3">
                <a:tint val="99000"/>
                <a:hueOff val="0"/>
                <a:satOff val="0"/>
                <a:lumOff val="0"/>
                <a:alphaOff val="0"/>
                <a:shade val="93000"/>
                <a:satMod val="130000"/>
              </a:schemeClr>
            </a:gs>
            <a:gs pos="100000">
              <a:schemeClr val="accent3">
                <a:tint val="99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zh-CN" altLang="en-US" sz="3200" kern="1200" dirty="0" smtClean="0">
              <a:solidFill>
                <a:srgbClr val="302C24"/>
              </a:solidFill>
            </a:rPr>
            <a:t>刑罚轻重</a:t>
          </a:r>
          <a:endParaRPr lang="zh-CN" altLang="en-US" sz="3200" kern="1200" dirty="0">
            <a:solidFill>
              <a:srgbClr val="302C24"/>
            </a:solidFill>
          </a:endParaRPr>
        </a:p>
      </dsp:txBody>
      <dsp:txXfrm>
        <a:off x="2911803" y="2752941"/>
        <a:ext cx="2405992" cy="1202996"/>
      </dsp:txXfrm>
    </dsp:sp>
    <dsp:sp modelId="{76E4B545-A5D4-2E49-A993-3FE3EE116016}">
      <dsp:nvSpPr>
        <dsp:cNvPr id="0" name=""/>
        <dsp:cNvSpPr/>
      </dsp:nvSpPr>
      <dsp:spPr>
        <a:xfrm>
          <a:off x="5823054" y="2752941"/>
          <a:ext cx="2405992" cy="1202996"/>
        </a:xfrm>
        <a:prstGeom prst="rect">
          <a:avLst/>
        </a:prstGeom>
        <a:gradFill rotWithShape="0">
          <a:gsLst>
            <a:gs pos="0">
              <a:schemeClr val="accent3">
                <a:tint val="99000"/>
                <a:hueOff val="0"/>
                <a:satOff val="0"/>
                <a:lumOff val="0"/>
                <a:alphaOff val="0"/>
                <a:shade val="51000"/>
                <a:satMod val="130000"/>
              </a:schemeClr>
            </a:gs>
            <a:gs pos="80000">
              <a:schemeClr val="accent3">
                <a:tint val="99000"/>
                <a:hueOff val="0"/>
                <a:satOff val="0"/>
                <a:lumOff val="0"/>
                <a:alphaOff val="0"/>
                <a:shade val="93000"/>
                <a:satMod val="130000"/>
              </a:schemeClr>
            </a:gs>
            <a:gs pos="100000">
              <a:schemeClr val="accent3">
                <a:tint val="99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zh-CN" altLang="en-US" sz="3200" kern="1200" dirty="0" smtClean="0">
              <a:solidFill>
                <a:srgbClr val="302C24"/>
              </a:solidFill>
            </a:rPr>
            <a:t>罪刑关系</a:t>
          </a:r>
        </a:p>
        <a:p>
          <a:pPr lvl="0" algn="ctr" defTabSz="1422400">
            <a:lnSpc>
              <a:spcPct val="90000"/>
            </a:lnSpc>
            <a:spcBef>
              <a:spcPct val="0"/>
            </a:spcBef>
            <a:spcAft>
              <a:spcPct val="35000"/>
            </a:spcAft>
          </a:pPr>
          <a:r>
            <a:rPr lang="zh-CN" altLang="en-US" sz="3200" kern="1200" dirty="0" smtClean="0">
              <a:solidFill>
                <a:srgbClr val="302C24"/>
              </a:solidFill>
            </a:rPr>
            <a:t>排序</a:t>
          </a:r>
          <a:endParaRPr lang="zh-CN" altLang="en-US" sz="3200" kern="1200" dirty="0">
            <a:solidFill>
              <a:srgbClr val="302C24"/>
            </a:solidFill>
          </a:endParaRPr>
        </a:p>
      </dsp:txBody>
      <dsp:txXfrm>
        <a:off x="5823054" y="2752941"/>
        <a:ext cx="2405992" cy="120299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DFF86F-1731-234C-9ACF-49D9DE0C37D6}" type="datetimeFigureOut">
              <a:rPr kumimoji="1" lang="zh-CN" altLang="en-US" smtClean="0"/>
              <a:t>2017/11/15</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1F7AD1-B4DD-D748-8AE1-2A760F741F4E}" type="slidenum">
              <a:rPr kumimoji="1" lang="zh-CN" altLang="en-US" smtClean="0"/>
              <a:t>‹#›</a:t>
            </a:fld>
            <a:endParaRPr kumimoji="1" lang="zh-CN" altLang="en-US"/>
          </a:p>
        </p:txBody>
      </p:sp>
    </p:spTree>
    <p:extLst>
      <p:ext uri="{BB962C8B-B14F-4D97-AF65-F5344CB8AC3E}">
        <p14:creationId xmlns:p14="http://schemas.microsoft.com/office/powerpoint/2010/main" val="100015766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4FFF1E6-5EEB-6F4C-B5DA-AA78FFF733A7}" type="datetimeFigureOut">
              <a:rPr kumimoji="1" lang="zh-CN" altLang="en-US" smtClean="0"/>
              <a:t>2017/11/15</a:t>
            </a:fld>
            <a:endParaRPr kumimoji="1"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059420-69DC-DE40-B635-663B8812AE3C}" type="slidenum">
              <a:rPr kumimoji="1" lang="zh-CN" altLang="en-US" smtClean="0"/>
              <a:t>‹#›</a:t>
            </a:fld>
            <a:endParaRPr kumimoji="1" lang="zh-CN" altLang="en-US"/>
          </a:p>
        </p:txBody>
      </p:sp>
    </p:spTree>
    <p:extLst>
      <p:ext uri="{BB962C8B-B14F-4D97-AF65-F5344CB8AC3E}">
        <p14:creationId xmlns:p14="http://schemas.microsoft.com/office/powerpoint/2010/main" val="79651073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pic>
        <p:nvPicPr>
          <p:cNvPr id="3074" name="Picture 2" descr="technical-drawin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076" name="Rectangle 4"/>
          <p:cNvSpPr>
            <a:spLocks noGrp="1" noChangeArrowheads="1"/>
          </p:cNvSpPr>
          <p:nvPr>
            <p:ph type="ctrTitle"/>
          </p:nvPr>
        </p:nvSpPr>
        <p:spPr>
          <a:xfrm>
            <a:off x="323850" y="1916113"/>
            <a:ext cx="7772400" cy="663575"/>
          </a:xfrm>
        </p:spPr>
        <p:txBody>
          <a:bodyPr/>
          <a:lstStyle>
            <a:lvl1pPr>
              <a:defRPr sz="3600" noProof="1"/>
            </a:lvl1pPr>
          </a:lstStyle>
          <a:p>
            <a:r>
              <a:rPr lang="zh-CN" altLang="en-US" noProof="1" smtClean="0"/>
              <a:t>单击此处编辑母版标题样式</a:t>
            </a:r>
            <a:endParaRPr lang="en-US" altLang="zh-CN" noProof="1"/>
          </a:p>
        </p:txBody>
      </p:sp>
      <p:sp>
        <p:nvSpPr>
          <p:cNvPr id="3077" name="Rectangle 5"/>
          <p:cNvSpPr>
            <a:spLocks noGrp="1" noChangeArrowheads="1"/>
          </p:cNvSpPr>
          <p:nvPr>
            <p:ph type="subTitle" idx="1"/>
          </p:nvPr>
        </p:nvSpPr>
        <p:spPr>
          <a:xfrm>
            <a:off x="323850" y="2816225"/>
            <a:ext cx="6400800" cy="1620838"/>
          </a:xfrm>
        </p:spPr>
        <p:txBody>
          <a:bodyPr/>
          <a:lstStyle>
            <a:lvl1pPr marL="0" indent="0">
              <a:buFontTx/>
              <a:buNone/>
              <a:defRPr noProof="1"/>
            </a:lvl1pPr>
          </a:lstStyle>
          <a:p>
            <a:r>
              <a:rPr lang="zh-CN" altLang="en-US" noProof="1" smtClean="0"/>
              <a:t>单击此处编辑母版副标题样式</a:t>
            </a:r>
            <a:endParaRPr lang="en-US" altLang="zh-CN" noProof="1"/>
          </a:p>
        </p:txBody>
      </p:sp>
      <p:sp>
        <p:nvSpPr>
          <p:cNvPr id="3081" name="Rectangle 9"/>
          <p:cNvSpPr>
            <a:spLocks noGrp="1" noChangeArrowheads="1"/>
          </p:cNvSpPr>
          <p:nvPr>
            <p:ph type="dt" sz="half" idx="2"/>
          </p:nvPr>
        </p:nvSpPr>
        <p:spPr/>
        <p:txBody>
          <a:bodyPr/>
          <a:lstStyle>
            <a:lvl1pPr>
              <a:defRPr/>
            </a:lvl1pPr>
          </a:lstStyle>
          <a:p>
            <a:endParaRPr lang="en-US" altLang="zh-CN"/>
          </a:p>
        </p:txBody>
      </p:sp>
      <p:sp>
        <p:nvSpPr>
          <p:cNvPr id="3082" name="Rectangle 10"/>
          <p:cNvSpPr>
            <a:spLocks noGrp="1" noChangeArrowheads="1"/>
          </p:cNvSpPr>
          <p:nvPr>
            <p:ph type="ftr" sz="quarter" idx="3"/>
          </p:nvPr>
        </p:nvSpPr>
        <p:spPr/>
        <p:txBody>
          <a:bodyPr/>
          <a:lstStyle>
            <a:lvl1pPr>
              <a:defRPr/>
            </a:lvl1pPr>
          </a:lstStyle>
          <a:p>
            <a:endParaRPr lang="zh-CN" altLang="zh-CN"/>
          </a:p>
        </p:txBody>
      </p:sp>
      <p:sp>
        <p:nvSpPr>
          <p:cNvPr id="3083" name="Rectangle 11"/>
          <p:cNvSpPr>
            <a:spLocks noGrp="1" noChangeArrowheads="1"/>
          </p:cNvSpPr>
          <p:nvPr>
            <p:ph type="sldNum" sz="quarter" idx="4"/>
          </p:nvPr>
        </p:nvSpPr>
        <p:spPr/>
        <p:txBody>
          <a:bodyPr/>
          <a:lstStyle>
            <a:lvl1pPr>
              <a:defRPr/>
            </a:lvl1pPr>
          </a:lstStyle>
          <a:p>
            <a:fld id="{6B072979-0336-418D-B7D9-C99A80321136}" type="slidenum">
              <a:rPr altLang="zh-CN"/>
              <a:pPr/>
              <a:t>‹#›</a:t>
            </a:fld>
            <a:endParaRPr lang="zh-CN" altLang="zh-CN"/>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iterate type="lt">
                                    <p:tmPct val="4000"/>
                                  </p:iterate>
                                  <p:childTnLst>
                                    <p:set>
                                      <p:cBhvr>
                                        <p:cTn id="6" dur="1" fill="hold">
                                          <p:stCondLst>
                                            <p:cond delay="0"/>
                                          </p:stCondLst>
                                        </p:cTn>
                                        <p:tgtEl>
                                          <p:spTgt spid="3076"/>
                                        </p:tgtEl>
                                        <p:attrNameLst>
                                          <p:attrName>style.visibility</p:attrName>
                                        </p:attrNameLst>
                                      </p:cBhvr>
                                      <p:to>
                                        <p:strVal val="visible"/>
                                      </p:to>
                                    </p:set>
                                    <p:anim calcmode="lin" valueType="num">
                                      <p:cBhvr>
                                        <p:cTn id="7" dur="500" fill="hold"/>
                                        <p:tgtEl>
                                          <p:spTgt spid="3076"/>
                                        </p:tgtEl>
                                        <p:attrNameLst>
                                          <p:attrName>ppt_w</p:attrName>
                                        </p:attrNameLst>
                                      </p:cBhvr>
                                      <p:tavLst>
                                        <p:tav tm="0">
                                          <p:val>
                                            <p:fltVal val="0"/>
                                          </p:val>
                                        </p:tav>
                                        <p:tav tm="100000">
                                          <p:val>
                                            <p:strVal val="#ppt_w"/>
                                          </p:val>
                                        </p:tav>
                                      </p:tavLst>
                                    </p:anim>
                                    <p:anim calcmode="lin" valueType="num">
                                      <p:cBhvr>
                                        <p:cTn id="8" dur="500" fill="hold"/>
                                        <p:tgtEl>
                                          <p:spTgt spid="3076"/>
                                        </p:tgtEl>
                                        <p:attrNameLst>
                                          <p:attrName>ppt_h</p:attrName>
                                        </p:attrNameLst>
                                      </p:cBhvr>
                                      <p:tavLst>
                                        <p:tav tm="0">
                                          <p:val>
                                            <p:fltVal val="0"/>
                                          </p:val>
                                        </p:tav>
                                        <p:tav tm="100000">
                                          <p:val>
                                            <p:strVal val="#ppt_h"/>
                                          </p:val>
                                        </p:tav>
                                      </p:tavLst>
                                    </p:anim>
                                    <p:animEffect transition="in" filter="fade">
                                      <p:cBhvr>
                                        <p:cTn id="9" dur="500"/>
                                        <p:tgtEl>
                                          <p:spTgt spid="3076"/>
                                        </p:tgtEl>
                                      </p:cBhvr>
                                    </p:animEffect>
                                  </p:childTnLst>
                                </p:cTn>
                              </p:par>
                            </p:childTnLst>
                          </p:cTn>
                        </p:par>
                        <p:par>
                          <p:cTn id="10" fill="hold">
                            <p:stCondLst>
                              <p:cond delay="1020"/>
                            </p:stCondLst>
                            <p:childTnLst>
                              <p:par>
                                <p:cTn id="11" presetID="42" presetClass="entr" presetSubtype="0" fill="hold" grpId="0" nodeType="afterEffect">
                                  <p:stCondLst>
                                    <p:cond delay="0"/>
                                  </p:stCondLst>
                                  <p:childTnLst>
                                    <p:set>
                                      <p:cBhvr>
                                        <p:cTn id="12" dur="1" fill="hold">
                                          <p:stCondLst>
                                            <p:cond delay="0"/>
                                          </p:stCondLst>
                                        </p:cTn>
                                        <p:tgtEl>
                                          <p:spTgt spid="3077">
                                            <p:txEl>
                                              <p:pRg st="0" end="0"/>
                                            </p:txEl>
                                          </p:spTgt>
                                        </p:tgtEl>
                                        <p:attrNameLst>
                                          <p:attrName>style.visibility</p:attrName>
                                        </p:attrNameLst>
                                      </p:cBhvr>
                                      <p:to>
                                        <p:strVal val="visible"/>
                                      </p:to>
                                    </p:set>
                                    <p:animEffect transition="in" filter="fade">
                                      <p:cBhvr>
                                        <p:cTn id="13" dur="500"/>
                                        <p:tgtEl>
                                          <p:spTgt spid="3077">
                                            <p:txEl>
                                              <p:pRg st="0" end="0"/>
                                            </p:txEl>
                                          </p:spTgt>
                                        </p:tgtEl>
                                      </p:cBhvr>
                                    </p:animEffect>
                                    <p:anim calcmode="lin" valueType="num">
                                      <p:cBhvr>
                                        <p:cTn id="14" dur="500" fill="hold"/>
                                        <p:tgtEl>
                                          <p:spTgt spid="3077">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307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6" grpId="0"/>
      <p:bldP spid="3077" grpId="0" build="p">
        <p:tmplLst>
          <p:tmpl lvl="1">
            <p:tnLst>
              <p:par>
                <p:cTn presetID="42" presetClass="entr" presetSubtype="0" fill="hold" nodeType="afterEffect">
                  <p:stCondLst>
                    <p:cond delay="0"/>
                  </p:stCondLst>
                  <p:childTnLst>
                    <p:set>
                      <p:cBhvr>
                        <p:cTn dur="1" fill="hold">
                          <p:stCondLst>
                            <p:cond delay="0"/>
                          </p:stCondLst>
                        </p:cTn>
                        <p:tgtEl>
                          <p:spTgt spid="3077"/>
                        </p:tgtEl>
                        <p:attrNameLst>
                          <p:attrName>style.visibility</p:attrName>
                        </p:attrNameLst>
                      </p:cBhvr>
                      <p:to>
                        <p:strVal val="visible"/>
                      </p:to>
                    </p:set>
                    <p:animEffect transition="in" filter="fade">
                      <p:cBhvr>
                        <p:cTn dur="500"/>
                        <p:tgtEl>
                          <p:spTgt spid="3077"/>
                        </p:tgtEl>
                      </p:cBhvr>
                    </p:animEffect>
                    <p:anim calcmode="lin" valueType="num">
                      <p:cBhvr>
                        <p:cTn dur="500" fill="hold"/>
                        <p:tgtEl>
                          <p:spTgt spid="3077"/>
                        </p:tgtEl>
                        <p:attrNameLst>
                          <p:attrName>ppt_x</p:attrName>
                        </p:attrNameLst>
                      </p:cBhvr>
                      <p:tavLst>
                        <p:tav tm="0">
                          <p:val>
                            <p:strVal val="#ppt_x"/>
                          </p:val>
                        </p:tav>
                        <p:tav tm="100000">
                          <p:val>
                            <p:strVal val="#ppt_x"/>
                          </p:val>
                        </p:tav>
                      </p:tavLst>
                    </p:anim>
                    <p:anim calcmode="lin" valueType="num">
                      <p:cBhvr>
                        <p:cTn dur="500" fill="hold"/>
                        <p:tgtEl>
                          <p:spTgt spid="3077"/>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837C144C-5A62-4B53-B939-FE9C4EDA708D}" type="slidenum">
              <a:rPr lang="en-US" altLang="zh-CN"/>
              <a:pPr/>
              <a:t>‹#›</a:t>
            </a:fld>
            <a:endParaRPr lang="zh-CN" alt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16F9D51D-9118-4800-B174-69EACE3FF5A3}" type="slidenum">
              <a:rPr lang="en-US" altLang="zh-CN"/>
              <a:pPr/>
              <a:t>‹#›</a:t>
            </a:fld>
            <a:endParaRPr lang="zh-CN" alt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125538"/>
            <a:ext cx="4038600" cy="5000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125538"/>
            <a:ext cx="4038600" cy="50006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67ED21AA-184C-4641-9370-082D8E62746A}" type="slidenum">
              <a:rPr lang="en-US" altLang="zh-CN"/>
              <a:pPr/>
              <a:t>‹#›</a:t>
            </a:fld>
            <a:endParaRPr lang="zh-CN" alt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E0F415CA-CD6A-40FF-A5CF-9E8E9B8FB1E1}" type="slidenum">
              <a:rPr lang="en-US" altLang="zh-CN"/>
              <a:pPr/>
              <a:t>‹#›</a:t>
            </a:fld>
            <a:endParaRPr lang="zh-CN" alt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316743F3-7996-4B80-B69B-C4065A2A9338}" type="slidenum">
              <a:rPr lang="en-US" altLang="zh-CN"/>
              <a:pPr/>
              <a:t>‹#›</a:t>
            </a:fld>
            <a:endParaRPr lang="zh-CN" alt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E48E8300-F0AA-4671-8397-F49141120FA8}" type="slidenum">
              <a:rPr lang="en-US" altLang="zh-CN"/>
              <a:pPr/>
              <a:t>‹#›</a:t>
            </a:fld>
            <a:endParaRPr lang="zh-CN" alt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8788E868-9910-4165-BD4C-637EC4D8665E}" type="slidenum">
              <a:rPr lang="en-US" altLang="zh-CN"/>
              <a:pPr/>
              <a:t>‹#›</a:t>
            </a:fld>
            <a:endParaRPr lang="zh-CN" alt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ED3A4B21-5C7B-4591-AE90-6381C065307E}" type="slidenum">
              <a:rPr lang="en-US" altLang="zh-CN"/>
              <a:pPr/>
              <a:t>‹#›</a:t>
            </a:fld>
            <a:endParaRPr lang="zh-CN" alt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B485D422-BFCC-41E2-88E6-6D5664ED9BFC}" type="slidenum">
              <a:rPr lang="en-US" altLang="zh-CN"/>
              <a:pPr/>
              <a:t>‹#›</a:t>
            </a:fld>
            <a:endParaRPr lang="zh-CN" alt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34150" y="211138"/>
            <a:ext cx="2152650" cy="59150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71438" y="211138"/>
            <a:ext cx="6310312" cy="59150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CD583125-6E9C-4AB4-ADB7-DE34C969AE71}" type="slidenum">
              <a:rPr lang="en-US" altLang="zh-CN"/>
              <a:pPr/>
              <a:t>‹#›</a:t>
            </a:fld>
            <a:endParaRPr lang="zh-CN" alt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96515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32" name="Picture 8" descr="technical-drawing"/>
          <p:cNvPicPr>
            <a:picLocks noChangeAspect="1" noChangeArrowheads="1"/>
          </p:cNvPicPr>
          <p:nvPr/>
        </p:nvPicPr>
        <p:blipFill>
          <a:blip r:embed="rId14" cstate="print"/>
          <a:srcRect/>
          <a:stretch>
            <a:fillRect/>
          </a:stretch>
        </p:blipFill>
        <p:spPr bwMode="auto">
          <a:xfrm>
            <a:off x="0" y="0"/>
            <a:ext cx="9144000" cy="6858000"/>
          </a:xfrm>
          <a:prstGeom prst="rect">
            <a:avLst/>
          </a:prstGeom>
          <a:noFill/>
        </p:spPr>
      </p:pic>
      <p:sp>
        <p:nvSpPr>
          <p:cNvPr id="1026" name="Rectangle 2"/>
          <p:cNvSpPr>
            <a:spLocks noGrp="1" noChangeArrowheads="1"/>
          </p:cNvSpPr>
          <p:nvPr>
            <p:ph type="title"/>
          </p:nvPr>
        </p:nvSpPr>
        <p:spPr bwMode="auto">
          <a:xfrm>
            <a:off x="71438" y="211138"/>
            <a:ext cx="7170737" cy="492125"/>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p>
            <a:pPr lvl="0"/>
            <a:r>
              <a:rPr lang="zh-CN" altLang="en-US" noProof="1" smtClean="0"/>
              <a:t>单击此处编辑母版标题样式</a:t>
            </a:r>
            <a:endParaRPr lang="en-US" altLang="zh-CN" noProof="1" smtClean="0"/>
          </a:p>
        </p:txBody>
      </p:sp>
      <p:sp>
        <p:nvSpPr>
          <p:cNvPr id="1027" name="Rectangle 3"/>
          <p:cNvSpPr>
            <a:spLocks noGrp="1" noChangeArrowheads="1"/>
          </p:cNvSpPr>
          <p:nvPr>
            <p:ph type="body" idx="1"/>
          </p:nvPr>
        </p:nvSpPr>
        <p:spPr bwMode="auto">
          <a:xfrm>
            <a:off x="457200" y="1125538"/>
            <a:ext cx="8229600" cy="50006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en-US" altLang="zh-CN" noProof="1" smtClean="0"/>
          </a:p>
        </p:txBody>
      </p:sp>
      <p:sp>
        <p:nvSpPr>
          <p:cNvPr id="1028" name="Rectangle 4"/>
          <p:cNvSpPr>
            <a:spLocks noGrp="1" noChangeArrowheads="1"/>
          </p:cNvSpPr>
          <p:nvPr>
            <p:ph type="dt" sz="half" idx="2"/>
          </p:nvPr>
        </p:nvSpPr>
        <p:spPr bwMode="auto">
          <a:xfrm>
            <a:off x="457200" y="6408738"/>
            <a:ext cx="2133600" cy="349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noProof="1"/>
            </a:lvl1pPr>
          </a:lstStyle>
          <a:p>
            <a:endParaRPr lang="en-US" altLang="zh-CN"/>
          </a:p>
        </p:txBody>
      </p:sp>
      <p:sp>
        <p:nvSpPr>
          <p:cNvPr id="1029" name="Rectangle 5"/>
          <p:cNvSpPr>
            <a:spLocks noGrp="1" noChangeArrowheads="1"/>
          </p:cNvSpPr>
          <p:nvPr>
            <p:ph type="ftr" sz="quarter" idx="3"/>
          </p:nvPr>
        </p:nvSpPr>
        <p:spPr bwMode="auto">
          <a:xfrm>
            <a:off x="2663825" y="6408738"/>
            <a:ext cx="3816350" cy="349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noProof="1"/>
            </a:lvl1pPr>
          </a:lstStyle>
          <a:p>
            <a:endParaRPr lang="zh-CN" altLang="zh-CN"/>
          </a:p>
        </p:txBody>
      </p:sp>
      <p:sp>
        <p:nvSpPr>
          <p:cNvPr id="1030" name="Rectangle 6"/>
          <p:cNvSpPr>
            <a:spLocks noGrp="1" noChangeArrowheads="1"/>
          </p:cNvSpPr>
          <p:nvPr>
            <p:ph type="sldNum" sz="quarter" idx="4"/>
          </p:nvPr>
        </p:nvSpPr>
        <p:spPr bwMode="auto">
          <a:xfrm>
            <a:off x="6553200" y="6408738"/>
            <a:ext cx="2133600" cy="349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noProof="1"/>
            </a:lvl1pPr>
          </a:lstStyle>
          <a:p>
            <a:fld id="{82D62DC1-3E5B-4839-85A1-5781019FC661}" type="slidenum">
              <a:rPr altLang="zh-CN"/>
              <a:pPr/>
              <a:t>‹#›</a:t>
            </a:fld>
            <a:endParaRPr lang="zh-CN"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iterate type="lt">
                                    <p:tmPct val="4000"/>
                                  </p:iterate>
                                  <p:childTnLst>
                                    <p:set>
                                      <p:cBhvr>
                                        <p:cTn id="6" dur="1" fill="hold">
                                          <p:stCondLst>
                                            <p:cond delay="0"/>
                                          </p:stCondLst>
                                        </p:cTn>
                                        <p:tgtEl>
                                          <p:spTgt spid="1026"/>
                                        </p:tgtEl>
                                        <p:attrNameLst>
                                          <p:attrName>style.visibility</p:attrName>
                                        </p:attrNameLst>
                                      </p:cBhvr>
                                      <p:to>
                                        <p:strVal val="visible"/>
                                      </p:to>
                                    </p:set>
                                    <p:anim calcmode="lin" valueType="num">
                                      <p:cBhvr>
                                        <p:cTn id="7" dur="500" fill="hold"/>
                                        <p:tgtEl>
                                          <p:spTgt spid="1026"/>
                                        </p:tgtEl>
                                        <p:attrNameLst>
                                          <p:attrName>ppt_w</p:attrName>
                                        </p:attrNameLst>
                                      </p:cBhvr>
                                      <p:tavLst>
                                        <p:tav tm="0">
                                          <p:val>
                                            <p:fltVal val="0"/>
                                          </p:val>
                                        </p:tav>
                                        <p:tav tm="100000">
                                          <p:val>
                                            <p:strVal val="#ppt_w"/>
                                          </p:val>
                                        </p:tav>
                                      </p:tavLst>
                                    </p:anim>
                                    <p:anim calcmode="lin" valueType="num">
                                      <p:cBhvr>
                                        <p:cTn id="8" dur="500" fill="hold"/>
                                        <p:tgtEl>
                                          <p:spTgt spid="1026"/>
                                        </p:tgtEl>
                                        <p:attrNameLst>
                                          <p:attrName>ppt_h</p:attrName>
                                        </p:attrNameLst>
                                      </p:cBhvr>
                                      <p:tavLst>
                                        <p:tav tm="0">
                                          <p:val>
                                            <p:fltVal val="0"/>
                                          </p:val>
                                        </p:tav>
                                        <p:tav tm="100000">
                                          <p:val>
                                            <p:strVal val="#ppt_h"/>
                                          </p:val>
                                        </p:tav>
                                      </p:tavLst>
                                    </p:anim>
                                    <p:animEffect transition="in" filter="fade">
                                      <p:cBhvr>
                                        <p:cTn id="9" dur="500"/>
                                        <p:tgtEl>
                                          <p:spTgt spid="1026"/>
                                        </p:tgtEl>
                                      </p:cBhvr>
                                    </p:animEffect>
                                  </p:childTnLst>
                                </p:cTn>
                              </p:par>
                            </p:childTnLst>
                          </p:cTn>
                        </p:par>
                        <p:par>
                          <p:cTn id="10" fill="hold">
                            <p:stCondLst>
                              <p:cond delay="1020"/>
                            </p:stCondLst>
                            <p:childTnLst>
                              <p:par>
                                <p:cTn id="11" presetID="10" presetClass="entr" presetSubtype="0" fill="hold" grpId="0" nodeType="afterEffect">
                                  <p:stCondLst>
                                    <p:cond delay="0"/>
                                  </p:stCondLst>
                                  <p:childTnLst>
                                    <p:set>
                                      <p:cBhvr>
                                        <p:cTn id="12" dur="1" fill="hold">
                                          <p:stCondLst>
                                            <p:cond delay="0"/>
                                          </p:stCondLst>
                                        </p:cTn>
                                        <p:tgtEl>
                                          <p:spTgt spid="1027">
                                            <p:txEl>
                                              <p:pRg st="0" end="0"/>
                                            </p:txEl>
                                          </p:spTgt>
                                        </p:tgtEl>
                                        <p:attrNameLst>
                                          <p:attrName>style.visibility</p:attrName>
                                        </p:attrNameLst>
                                      </p:cBhvr>
                                      <p:to>
                                        <p:strVal val="visible"/>
                                      </p:to>
                                    </p:set>
                                    <p:animEffect transition="in" filter="fade">
                                      <p:cBhvr>
                                        <p:cTn id="13" dur="500"/>
                                        <p:tgtEl>
                                          <p:spTgt spid="1027">
                                            <p:txEl>
                                              <p:pRg st="0" end="0"/>
                                            </p:txEl>
                                          </p:spTgt>
                                        </p:tgtEl>
                                      </p:cBhvr>
                                    </p:animEffect>
                                  </p:childTnLst>
                                </p:cTn>
                              </p:par>
                            </p:childTnLst>
                          </p:cTn>
                        </p:par>
                        <p:par>
                          <p:cTn id="14" fill="hold">
                            <p:stCondLst>
                              <p:cond delay="1520"/>
                            </p:stCondLst>
                            <p:childTnLst>
                              <p:par>
                                <p:cTn id="15" presetID="10" presetClass="entr" presetSubtype="0" fill="hold" grpId="0" nodeType="afterEffect">
                                  <p:stCondLst>
                                    <p:cond delay="0"/>
                                  </p:stCondLst>
                                  <p:childTnLst>
                                    <p:set>
                                      <p:cBhvr>
                                        <p:cTn id="16" dur="1" fill="hold">
                                          <p:stCondLst>
                                            <p:cond delay="0"/>
                                          </p:stCondLst>
                                        </p:cTn>
                                        <p:tgtEl>
                                          <p:spTgt spid="1027">
                                            <p:txEl>
                                              <p:pRg st="1" end="1"/>
                                            </p:txEl>
                                          </p:spTgt>
                                        </p:tgtEl>
                                        <p:attrNameLst>
                                          <p:attrName>style.visibility</p:attrName>
                                        </p:attrNameLst>
                                      </p:cBhvr>
                                      <p:to>
                                        <p:strVal val="visible"/>
                                      </p:to>
                                    </p:set>
                                    <p:animEffect transition="in" filter="fade">
                                      <p:cBhvr>
                                        <p:cTn id="17" dur="500"/>
                                        <p:tgtEl>
                                          <p:spTgt spid="1027">
                                            <p:txEl>
                                              <p:pRg st="1" end="1"/>
                                            </p:txEl>
                                          </p:spTgt>
                                        </p:tgtEl>
                                      </p:cBhvr>
                                    </p:animEffect>
                                  </p:childTnLst>
                                </p:cTn>
                              </p:par>
                            </p:childTnLst>
                          </p:cTn>
                        </p:par>
                        <p:par>
                          <p:cTn id="18" fill="hold">
                            <p:stCondLst>
                              <p:cond delay="2020"/>
                            </p:stCondLst>
                            <p:childTnLst>
                              <p:par>
                                <p:cTn id="19" presetID="10" presetClass="entr" presetSubtype="0" fill="hold" grpId="0" nodeType="afterEffect">
                                  <p:stCondLst>
                                    <p:cond delay="0"/>
                                  </p:stCondLst>
                                  <p:childTnLst>
                                    <p:set>
                                      <p:cBhvr>
                                        <p:cTn id="20" dur="1" fill="hold">
                                          <p:stCondLst>
                                            <p:cond delay="0"/>
                                          </p:stCondLst>
                                        </p:cTn>
                                        <p:tgtEl>
                                          <p:spTgt spid="1027">
                                            <p:txEl>
                                              <p:pRg st="2" end="2"/>
                                            </p:txEl>
                                          </p:spTgt>
                                        </p:tgtEl>
                                        <p:attrNameLst>
                                          <p:attrName>style.visibility</p:attrName>
                                        </p:attrNameLst>
                                      </p:cBhvr>
                                      <p:to>
                                        <p:strVal val="visible"/>
                                      </p:to>
                                    </p:set>
                                    <p:animEffect transition="in" filter="fade">
                                      <p:cBhvr>
                                        <p:cTn id="21" dur="500"/>
                                        <p:tgtEl>
                                          <p:spTgt spid="1027">
                                            <p:txEl>
                                              <p:pRg st="2" end="2"/>
                                            </p:txEl>
                                          </p:spTgt>
                                        </p:tgtEl>
                                      </p:cBhvr>
                                    </p:animEffect>
                                  </p:childTnLst>
                                </p:cTn>
                              </p:par>
                            </p:childTnLst>
                          </p:cTn>
                        </p:par>
                        <p:par>
                          <p:cTn id="22" fill="hold">
                            <p:stCondLst>
                              <p:cond delay="2520"/>
                            </p:stCondLst>
                            <p:childTnLst>
                              <p:par>
                                <p:cTn id="23" presetID="10" presetClass="entr" presetSubtype="0" fill="hold" grpId="0" nodeType="afterEffect">
                                  <p:stCondLst>
                                    <p:cond delay="0"/>
                                  </p:stCondLst>
                                  <p:childTnLst>
                                    <p:set>
                                      <p:cBhvr>
                                        <p:cTn id="24" dur="1" fill="hold">
                                          <p:stCondLst>
                                            <p:cond delay="0"/>
                                          </p:stCondLst>
                                        </p:cTn>
                                        <p:tgtEl>
                                          <p:spTgt spid="1027">
                                            <p:txEl>
                                              <p:pRg st="3" end="3"/>
                                            </p:txEl>
                                          </p:spTgt>
                                        </p:tgtEl>
                                        <p:attrNameLst>
                                          <p:attrName>style.visibility</p:attrName>
                                        </p:attrNameLst>
                                      </p:cBhvr>
                                      <p:to>
                                        <p:strVal val="visible"/>
                                      </p:to>
                                    </p:set>
                                    <p:animEffect transition="in" filter="fade">
                                      <p:cBhvr>
                                        <p:cTn id="25" dur="500"/>
                                        <p:tgtEl>
                                          <p:spTgt spid="1027">
                                            <p:txEl>
                                              <p:pRg st="3" end="3"/>
                                            </p:txEl>
                                          </p:spTgt>
                                        </p:tgtEl>
                                      </p:cBhvr>
                                    </p:animEffect>
                                  </p:childTnLst>
                                </p:cTn>
                              </p:par>
                            </p:childTnLst>
                          </p:cTn>
                        </p:par>
                        <p:par>
                          <p:cTn id="26" fill="hold">
                            <p:stCondLst>
                              <p:cond delay="3020"/>
                            </p:stCondLst>
                            <p:childTnLst>
                              <p:par>
                                <p:cTn id="27" presetID="10" presetClass="entr" presetSubtype="0" fill="hold" grpId="0" nodeType="afterEffect">
                                  <p:stCondLst>
                                    <p:cond delay="0"/>
                                  </p:stCondLst>
                                  <p:childTnLst>
                                    <p:set>
                                      <p:cBhvr>
                                        <p:cTn id="28" dur="1" fill="hold">
                                          <p:stCondLst>
                                            <p:cond delay="0"/>
                                          </p:stCondLst>
                                        </p:cTn>
                                        <p:tgtEl>
                                          <p:spTgt spid="1027">
                                            <p:txEl>
                                              <p:pRg st="4" end="4"/>
                                            </p:txEl>
                                          </p:spTgt>
                                        </p:tgtEl>
                                        <p:attrNameLst>
                                          <p:attrName>style.visibility</p:attrName>
                                        </p:attrNameLst>
                                      </p:cBhvr>
                                      <p:to>
                                        <p:strVal val="visible"/>
                                      </p:to>
                                    </p:set>
                                    <p:animEffect transition="in" filter="fade">
                                      <p:cBhvr>
                                        <p:cTn id="29"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p:bldP spid="1027" grpId="0" build="p">
        <p:tmplLst>
          <p:tmpl lvl="1">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fade">
                      <p:cBhvr>
                        <p:cTn dur="500"/>
                        <p:tgtEl>
                          <p:spTgt spid="1027"/>
                        </p:tgtEl>
                      </p:cBhvr>
                    </p:animEffect>
                  </p:childTnLst>
                </p:cTn>
              </p:par>
            </p:tnLst>
          </p:tmpl>
        </p:tmplLst>
      </p:bldP>
    </p:bldLst>
  </p:timing>
  <p:hf hdr="0" ftr="0" dt="0"/>
  <p:txStyles>
    <p:titleStyle>
      <a:lvl1pPr algn="l" rtl="0" eaLnBrk="1" fontAlgn="base" hangingPunct="1">
        <a:spcBef>
          <a:spcPct val="0"/>
        </a:spcBef>
        <a:spcAft>
          <a:spcPct val="0"/>
        </a:spcAft>
        <a:defRPr sz="2800">
          <a:solidFill>
            <a:schemeClr val="tx2"/>
          </a:solidFill>
          <a:latin typeface="+mj-lt"/>
          <a:ea typeface="+mj-ea"/>
          <a:cs typeface="+mj-cs"/>
        </a:defRPr>
      </a:lvl1pPr>
      <a:lvl2pPr algn="l" rtl="0" eaLnBrk="1" fontAlgn="base" hangingPunct="1">
        <a:spcBef>
          <a:spcPct val="0"/>
        </a:spcBef>
        <a:spcAft>
          <a:spcPct val="0"/>
        </a:spcAft>
        <a:defRPr sz="2800">
          <a:solidFill>
            <a:schemeClr val="tx2"/>
          </a:solidFill>
          <a:latin typeface="Arial" pitchFamily="34" charset="0"/>
        </a:defRPr>
      </a:lvl2pPr>
      <a:lvl3pPr algn="l" rtl="0" eaLnBrk="1" fontAlgn="base" hangingPunct="1">
        <a:spcBef>
          <a:spcPct val="0"/>
        </a:spcBef>
        <a:spcAft>
          <a:spcPct val="0"/>
        </a:spcAft>
        <a:defRPr sz="2800">
          <a:solidFill>
            <a:schemeClr val="tx2"/>
          </a:solidFill>
          <a:latin typeface="Arial" pitchFamily="34" charset="0"/>
        </a:defRPr>
      </a:lvl3pPr>
      <a:lvl4pPr algn="l" rtl="0" eaLnBrk="1" fontAlgn="base" hangingPunct="1">
        <a:spcBef>
          <a:spcPct val="0"/>
        </a:spcBef>
        <a:spcAft>
          <a:spcPct val="0"/>
        </a:spcAft>
        <a:defRPr sz="2800">
          <a:solidFill>
            <a:schemeClr val="tx2"/>
          </a:solidFill>
          <a:latin typeface="Arial" pitchFamily="34" charset="0"/>
        </a:defRPr>
      </a:lvl4pPr>
      <a:lvl5pPr algn="l" rtl="0" eaLnBrk="1" fontAlgn="base" hangingPunct="1">
        <a:spcBef>
          <a:spcPct val="0"/>
        </a:spcBef>
        <a:spcAft>
          <a:spcPct val="0"/>
        </a:spcAft>
        <a:defRPr sz="2800">
          <a:solidFill>
            <a:schemeClr val="tx2"/>
          </a:solidFill>
          <a:latin typeface="Arial" pitchFamily="34" charset="0"/>
        </a:defRPr>
      </a:lvl5pPr>
      <a:lvl6pPr marL="457200" algn="l" rtl="0" eaLnBrk="1" fontAlgn="base" hangingPunct="1">
        <a:spcBef>
          <a:spcPct val="0"/>
        </a:spcBef>
        <a:spcAft>
          <a:spcPct val="0"/>
        </a:spcAft>
        <a:defRPr sz="2800">
          <a:solidFill>
            <a:schemeClr val="tx2"/>
          </a:solidFill>
          <a:latin typeface="Arial" pitchFamily="34" charset="0"/>
        </a:defRPr>
      </a:lvl6pPr>
      <a:lvl7pPr marL="914400" algn="l" rtl="0" eaLnBrk="1" fontAlgn="base" hangingPunct="1">
        <a:spcBef>
          <a:spcPct val="0"/>
        </a:spcBef>
        <a:spcAft>
          <a:spcPct val="0"/>
        </a:spcAft>
        <a:defRPr sz="2800">
          <a:solidFill>
            <a:schemeClr val="tx2"/>
          </a:solidFill>
          <a:latin typeface="Arial" pitchFamily="34" charset="0"/>
        </a:defRPr>
      </a:lvl7pPr>
      <a:lvl8pPr marL="1371600" algn="l" rtl="0" eaLnBrk="1" fontAlgn="base" hangingPunct="1">
        <a:spcBef>
          <a:spcPct val="0"/>
        </a:spcBef>
        <a:spcAft>
          <a:spcPct val="0"/>
        </a:spcAft>
        <a:defRPr sz="2800">
          <a:solidFill>
            <a:schemeClr val="tx2"/>
          </a:solidFill>
          <a:latin typeface="Arial" pitchFamily="34" charset="0"/>
        </a:defRPr>
      </a:lvl8pPr>
      <a:lvl9pPr marL="1828800" algn="l" rtl="0" eaLnBrk="1" fontAlgn="base" hangingPunct="1">
        <a:spcBef>
          <a:spcPct val="0"/>
        </a:spcBef>
        <a:spcAft>
          <a:spcPct val="0"/>
        </a:spcAft>
        <a:defRPr sz="2800">
          <a:solidFill>
            <a:schemeClr val="tx2"/>
          </a:solidFill>
          <a:latin typeface="Arial" pitchFamily="34" charset="0"/>
        </a:defRPr>
      </a:lvl9pPr>
    </p:titleStyle>
    <p:bodyStyle>
      <a:lvl1pPr marL="342900" indent="-342900" algn="l" rtl="0" eaLnBrk="1" fontAlgn="base" hangingPunct="1">
        <a:spcBef>
          <a:spcPct val="20000"/>
        </a:spcBef>
        <a:spcAft>
          <a:spcPct val="0"/>
        </a:spcAft>
        <a:buChar char="•"/>
        <a:defRPr sz="24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400">
          <a:solidFill>
            <a:schemeClr val="tx1"/>
          </a:solidFill>
          <a:latin typeface="+mn-lt"/>
        </a:defRPr>
      </a:lvl3pPr>
      <a:lvl4pPr marL="1600200" indent="-228600" algn="l" rtl="0" eaLnBrk="1" fontAlgn="base" hangingPunct="1">
        <a:spcBef>
          <a:spcPct val="20000"/>
        </a:spcBef>
        <a:spcAft>
          <a:spcPct val="0"/>
        </a:spcAft>
        <a:buChar char="–"/>
        <a:defRPr sz="2400">
          <a:solidFill>
            <a:schemeClr val="tx1"/>
          </a:solidFill>
          <a:latin typeface="+mn-lt"/>
        </a:defRPr>
      </a:lvl4pPr>
      <a:lvl5pPr marL="2057400" indent="-228600" algn="l" rtl="0" eaLnBrk="1" fontAlgn="base" hangingPunct="1">
        <a:spcBef>
          <a:spcPct val="20000"/>
        </a:spcBef>
        <a:spcAft>
          <a:spcPct val="0"/>
        </a:spcAft>
        <a:buChar char="»"/>
        <a:defRPr sz="2400">
          <a:solidFill>
            <a:schemeClr val="tx1"/>
          </a:solidFill>
          <a:latin typeface="+mn-lt"/>
        </a:defRPr>
      </a:lvl5pPr>
      <a:lvl6pPr marL="2514600" indent="-228600" algn="l" rtl="0" eaLnBrk="1" fontAlgn="base" hangingPunct="1">
        <a:spcBef>
          <a:spcPct val="20000"/>
        </a:spcBef>
        <a:spcAft>
          <a:spcPct val="0"/>
        </a:spcAft>
        <a:buChar char="»"/>
        <a:defRPr sz="2400">
          <a:solidFill>
            <a:schemeClr val="tx1"/>
          </a:solidFill>
          <a:latin typeface="+mn-lt"/>
        </a:defRPr>
      </a:lvl6pPr>
      <a:lvl7pPr marL="2971800" indent="-228600" algn="l" rtl="0" eaLnBrk="1" fontAlgn="base" hangingPunct="1">
        <a:spcBef>
          <a:spcPct val="20000"/>
        </a:spcBef>
        <a:spcAft>
          <a:spcPct val="0"/>
        </a:spcAft>
        <a:buChar char="»"/>
        <a:defRPr sz="2400">
          <a:solidFill>
            <a:schemeClr val="tx1"/>
          </a:solidFill>
          <a:latin typeface="+mn-lt"/>
        </a:defRPr>
      </a:lvl7pPr>
      <a:lvl8pPr marL="3429000" indent="-228600" algn="l" rtl="0" eaLnBrk="1" fontAlgn="base" hangingPunct="1">
        <a:spcBef>
          <a:spcPct val="20000"/>
        </a:spcBef>
        <a:spcAft>
          <a:spcPct val="0"/>
        </a:spcAft>
        <a:buChar char="»"/>
        <a:defRPr sz="2400">
          <a:solidFill>
            <a:schemeClr val="tx1"/>
          </a:solidFill>
          <a:latin typeface="+mn-lt"/>
        </a:defRPr>
      </a:lvl8pPr>
      <a:lvl9pPr marL="3886200" indent="-228600" algn="l" rtl="0" eaLnBrk="1" fontAlgn="base" hangingPunct="1">
        <a:spcBef>
          <a:spcPct val="20000"/>
        </a:spcBef>
        <a:spcAft>
          <a:spcPct val="0"/>
        </a:spcAft>
        <a:buChar char="»"/>
        <a:defRPr sz="2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1" Type="http://schemas.openxmlformats.org/officeDocument/2006/relationships/slideLayout" Target="../slideLayouts/slideLayout2.xml"/><Relationship Id="rId2" Type="http://schemas.openxmlformats.org/officeDocument/2006/relationships/diagramData" Target="../diagrams/data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audio" Target="../media/audio1.wav"/><Relationship Id="rId3" Type="http://schemas.openxmlformats.org/officeDocument/2006/relationships/audio" Target="../media/audio2.wav"/></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sz="3600" b="1" dirty="0">
                <a:latin typeface="黑体"/>
                <a:ea typeface="黑体"/>
                <a:cs typeface="黑体"/>
              </a:rPr>
              <a:t>第四讲</a:t>
            </a:r>
            <a:r>
              <a:rPr lang="en-US" altLang="zh-CN" sz="3600" b="1" dirty="0">
                <a:latin typeface="黑体"/>
                <a:ea typeface="黑体"/>
                <a:cs typeface="黑体"/>
              </a:rPr>
              <a:t>  </a:t>
            </a:r>
            <a:r>
              <a:rPr lang="zh-CN" altLang="zh-CN" sz="3600" b="1" dirty="0">
                <a:latin typeface="黑体"/>
                <a:ea typeface="黑体"/>
                <a:cs typeface="黑体"/>
              </a:rPr>
              <a:t>犯罪人</a:t>
            </a:r>
            <a:endParaRPr kumimoji="1" lang="zh-CN" altLang="en-US" sz="3600" dirty="0"/>
          </a:p>
        </p:txBody>
      </p:sp>
      <p:sp>
        <p:nvSpPr>
          <p:cNvPr id="3" name="内容占位符 2"/>
          <p:cNvSpPr>
            <a:spLocks noGrp="1"/>
          </p:cNvSpPr>
          <p:nvPr>
            <p:ph idx="1"/>
          </p:nvPr>
        </p:nvSpPr>
        <p:spPr/>
        <p:txBody>
          <a:bodyPr/>
          <a:lstStyle/>
          <a:p>
            <a:r>
              <a:rPr lang="zh-CN" altLang="zh-CN" dirty="0">
                <a:latin typeface="宋体"/>
                <a:ea typeface="宋体"/>
                <a:cs typeface="宋体"/>
              </a:rPr>
              <a:t>犯罪行为是人实施</a:t>
            </a:r>
            <a:r>
              <a:rPr lang="zh-CN" altLang="zh-CN" dirty="0" smtClean="0">
                <a:latin typeface="宋体"/>
                <a:ea typeface="宋体"/>
                <a:cs typeface="宋体"/>
              </a:rPr>
              <a:t>的</a:t>
            </a:r>
            <a:endParaRPr lang="en-US" altLang="zh-CN" dirty="0" smtClean="0">
              <a:latin typeface="宋体"/>
              <a:ea typeface="宋体"/>
              <a:cs typeface="宋体"/>
            </a:endParaRPr>
          </a:p>
          <a:p>
            <a:r>
              <a:rPr lang="zh-CN" altLang="zh-CN" dirty="0" smtClean="0">
                <a:latin typeface="宋体"/>
                <a:ea typeface="宋体"/>
                <a:cs typeface="宋体"/>
              </a:rPr>
              <a:t>动</a:t>
            </a:r>
            <a:r>
              <a:rPr lang="zh-CN" altLang="zh-CN" dirty="0">
                <a:latin typeface="宋体"/>
                <a:ea typeface="宋体"/>
                <a:cs typeface="宋体"/>
              </a:rPr>
              <a:t>刑的对</a:t>
            </a:r>
            <a:r>
              <a:rPr lang="zh-CN" altLang="zh-CN" dirty="0" smtClean="0">
                <a:latin typeface="宋体"/>
                <a:ea typeface="宋体"/>
                <a:cs typeface="宋体"/>
              </a:rPr>
              <a:t>象</a:t>
            </a:r>
            <a:r>
              <a:rPr lang="zh-CN" altLang="en-US" dirty="0" smtClean="0">
                <a:latin typeface="宋体"/>
                <a:ea typeface="宋体"/>
                <a:cs typeface="宋体"/>
              </a:rPr>
              <a:t>不</a:t>
            </a:r>
            <a:r>
              <a:rPr lang="zh-CN" altLang="zh-CN" dirty="0" smtClean="0">
                <a:latin typeface="宋体"/>
                <a:ea typeface="宋体"/>
                <a:cs typeface="宋体"/>
              </a:rPr>
              <a:t>是</a:t>
            </a:r>
            <a:r>
              <a:rPr lang="zh-CN" altLang="zh-CN" dirty="0">
                <a:latin typeface="宋体"/>
                <a:ea typeface="宋体"/>
                <a:cs typeface="宋体"/>
              </a:rPr>
              <a:t>犯罪性或犯罪行为</a:t>
            </a:r>
            <a:r>
              <a:rPr lang="zh-CN" altLang="zh-CN" dirty="0" smtClean="0">
                <a:latin typeface="宋体"/>
                <a:ea typeface="宋体"/>
                <a:cs typeface="宋体"/>
              </a:rPr>
              <a:t>，</a:t>
            </a:r>
            <a:r>
              <a:rPr lang="zh-CN" altLang="en-US" dirty="0" smtClean="0">
                <a:latin typeface="宋体"/>
                <a:ea typeface="宋体"/>
                <a:cs typeface="宋体"/>
              </a:rPr>
              <a:t>而是犯罪人。</a:t>
            </a:r>
            <a:endParaRPr lang="en-US" altLang="zh-CN" dirty="0" smtClean="0">
              <a:latin typeface="宋体"/>
              <a:ea typeface="宋体"/>
              <a:cs typeface="宋体"/>
            </a:endParaRPr>
          </a:p>
          <a:p>
            <a:r>
              <a:rPr lang="zh-CN" altLang="en-US" dirty="0" smtClean="0">
                <a:latin typeface="宋体"/>
                <a:ea typeface="宋体"/>
                <a:cs typeface="宋体"/>
              </a:rPr>
              <a:t>犯罪学上，</a:t>
            </a:r>
            <a:r>
              <a:rPr lang="zh-CN" altLang="zh-CN" dirty="0" smtClean="0">
                <a:latin typeface="宋体"/>
                <a:ea typeface="宋体"/>
                <a:cs typeface="宋体"/>
              </a:rPr>
              <a:t>犯罪人既包括已经实施</a:t>
            </a:r>
            <a:r>
              <a:rPr lang="zh-CN" altLang="zh-CN" dirty="0">
                <a:latin typeface="宋体"/>
                <a:ea typeface="宋体"/>
                <a:cs typeface="宋体"/>
              </a:rPr>
              <a:t>了犯罪的人，也包括很可能犯罪，也就是犯罪倾向比较明显的人</a:t>
            </a:r>
            <a:r>
              <a:rPr lang="zh-CN" altLang="zh-CN" dirty="0" smtClean="0">
                <a:latin typeface="宋体"/>
                <a:ea typeface="宋体"/>
                <a:cs typeface="宋体"/>
              </a:rPr>
              <a:t>。</a:t>
            </a:r>
            <a:endParaRPr lang="en-US" altLang="zh-CN" dirty="0" smtClean="0">
              <a:latin typeface="宋体"/>
              <a:ea typeface="宋体"/>
              <a:cs typeface="宋体"/>
            </a:endParaRPr>
          </a:p>
          <a:p>
            <a:r>
              <a:rPr lang="zh-CN" altLang="zh-CN" dirty="0" smtClean="0">
                <a:latin typeface="宋体"/>
                <a:ea typeface="宋体"/>
                <a:cs typeface="宋体"/>
              </a:rPr>
              <a:t>有</a:t>
            </a:r>
            <a:r>
              <a:rPr lang="zh-CN" altLang="en-US" dirty="0" smtClean="0">
                <a:latin typeface="宋体"/>
                <a:ea typeface="宋体"/>
                <a:cs typeface="宋体"/>
              </a:rPr>
              <a:t>学者</a:t>
            </a:r>
            <a:r>
              <a:rPr lang="zh-CN" altLang="zh-CN" dirty="0" smtClean="0">
                <a:latin typeface="宋体"/>
                <a:ea typeface="宋体"/>
                <a:cs typeface="宋体"/>
              </a:rPr>
              <a:t>甚至认为</a:t>
            </a:r>
            <a:r>
              <a:rPr lang="zh-CN" altLang="zh-CN" dirty="0">
                <a:latin typeface="宋体"/>
                <a:ea typeface="宋体"/>
                <a:cs typeface="宋体"/>
              </a:rPr>
              <a:t>，所谓犯罪学，其实就是研究犯罪人的学问</a:t>
            </a:r>
            <a:r>
              <a:rPr lang="zh-CN" altLang="zh-CN" dirty="0" smtClean="0">
                <a:latin typeface="宋体"/>
                <a:ea typeface="宋体"/>
                <a:cs typeface="宋体"/>
              </a:rPr>
              <a:t>。理解</a:t>
            </a:r>
            <a:r>
              <a:rPr lang="zh-CN" altLang="zh-CN" dirty="0">
                <a:latin typeface="宋体"/>
                <a:ea typeface="宋体"/>
                <a:cs typeface="宋体"/>
              </a:rPr>
              <a:t>了犯罪人，才能说清楚为什么会有犯罪</a:t>
            </a:r>
            <a:r>
              <a:rPr lang="zh-CN" altLang="zh-CN" dirty="0" smtClean="0">
                <a:latin typeface="宋体"/>
                <a:ea typeface="宋体"/>
                <a:cs typeface="宋体"/>
              </a:rPr>
              <a:t>。</a:t>
            </a:r>
            <a:endParaRPr lang="en-US" altLang="zh-CN" dirty="0" smtClean="0">
              <a:latin typeface="宋体"/>
              <a:ea typeface="宋体"/>
              <a:cs typeface="宋体"/>
            </a:endParaRPr>
          </a:p>
          <a:p>
            <a:r>
              <a:rPr lang="zh-CN" altLang="en-US" dirty="0" smtClean="0">
                <a:latin typeface="宋体"/>
                <a:ea typeface="宋体"/>
                <a:cs typeface="宋体"/>
              </a:rPr>
              <a:t>有这么一种犯罪人：</a:t>
            </a:r>
            <a:endParaRPr lang="en-US" altLang="zh-CN" dirty="0" smtClean="0">
              <a:latin typeface="宋体"/>
              <a:ea typeface="宋体"/>
              <a:cs typeface="宋体"/>
            </a:endParaRPr>
          </a:p>
          <a:p>
            <a:pPr marL="0" indent="0">
              <a:buNone/>
            </a:pPr>
            <a:r>
              <a:rPr lang="en-US" altLang="zh-CN" dirty="0">
                <a:latin typeface="宋体"/>
                <a:ea typeface="宋体"/>
                <a:cs typeface="宋体"/>
              </a:rPr>
              <a:t> </a:t>
            </a:r>
            <a:r>
              <a:rPr lang="en-US" altLang="zh-CN" dirty="0" smtClean="0">
                <a:latin typeface="宋体"/>
                <a:ea typeface="宋体"/>
                <a:cs typeface="宋体"/>
              </a:rPr>
              <a:t>   </a:t>
            </a:r>
            <a:r>
              <a:rPr lang="zh-CN" altLang="en-US" dirty="0" smtClean="0">
                <a:latin typeface="宋体"/>
                <a:ea typeface="宋体"/>
                <a:cs typeface="宋体"/>
              </a:rPr>
              <a:t>没有杀人越货那么勇猛</a:t>
            </a:r>
            <a:endParaRPr lang="en-US" altLang="zh-CN" dirty="0" smtClean="0">
              <a:latin typeface="宋体"/>
              <a:ea typeface="宋体"/>
              <a:cs typeface="宋体"/>
            </a:endParaRPr>
          </a:p>
          <a:p>
            <a:pPr marL="0" indent="0">
              <a:buNone/>
            </a:pPr>
            <a:r>
              <a:rPr lang="en-US" altLang="zh-CN" dirty="0">
                <a:latin typeface="宋体"/>
                <a:ea typeface="宋体"/>
                <a:cs typeface="宋体"/>
              </a:rPr>
              <a:t> </a:t>
            </a:r>
            <a:r>
              <a:rPr lang="en-US" altLang="zh-CN" dirty="0" smtClean="0">
                <a:latin typeface="宋体"/>
                <a:ea typeface="宋体"/>
                <a:cs typeface="宋体"/>
              </a:rPr>
              <a:t>     </a:t>
            </a:r>
            <a:r>
              <a:rPr lang="zh-CN" altLang="en-US" dirty="0" smtClean="0">
                <a:latin typeface="宋体"/>
                <a:ea typeface="宋体"/>
                <a:cs typeface="宋体"/>
              </a:rPr>
              <a:t>没有诈骗诈欺那么智慧</a:t>
            </a:r>
            <a:endParaRPr lang="en-US" altLang="zh-CN" dirty="0" smtClean="0">
              <a:latin typeface="宋体"/>
              <a:ea typeface="宋体"/>
              <a:cs typeface="宋体"/>
            </a:endParaRPr>
          </a:p>
          <a:p>
            <a:pPr marL="0" indent="0">
              <a:buNone/>
            </a:pPr>
            <a:r>
              <a:rPr lang="en-US" altLang="zh-CN" dirty="0">
                <a:latin typeface="宋体"/>
                <a:ea typeface="宋体"/>
                <a:cs typeface="宋体"/>
              </a:rPr>
              <a:t> </a:t>
            </a:r>
            <a:r>
              <a:rPr lang="en-US" altLang="zh-CN" dirty="0" smtClean="0">
                <a:latin typeface="宋体"/>
                <a:ea typeface="宋体"/>
                <a:cs typeface="宋体"/>
              </a:rPr>
              <a:t>       </a:t>
            </a:r>
            <a:r>
              <a:rPr lang="zh-CN" altLang="en-US" dirty="0" smtClean="0">
                <a:latin typeface="宋体"/>
                <a:ea typeface="宋体"/>
                <a:cs typeface="宋体"/>
              </a:rPr>
              <a:t>没有盗窃那么实惠</a:t>
            </a:r>
            <a:endParaRPr lang="en-US" altLang="zh-CN" dirty="0" smtClean="0">
              <a:latin typeface="宋体"/>
              <a:ea typeface="宋体"/>
              <a:cs typeface="宋体"/>
            </a:endParaRPr>
          </a:p>
          <a:p>
            <a:pPr marL="0" indent="0">
              <a:buNone/>
            </a:pPr>
            <a:r>
              <a:rPr lang="en-US" altLang="zh-CN" dirty="0" smtClean="0">
                <a:latin typeface="宋体"/>
                <a:ea typeface="宋体"/>
                <a:cs typeface="宋体"/>
              </a:rPr>
              <a:t>    </a:t>
            </a:r>
            <a:r>
              <a:rPr lang="zh-CN" altLang="en-US" sz="3200" dirty="0" smtClean="0">
                <a:latin typeface="黑体"/>
                <a:ea typeface="黑体"/>
                <a:cs typeface="黑体"/>
              </a:rPr>
              <a:t>是谁？</a:t>
            </a:r>
            <a:r>
              <a:rPr lang="zh-CN" altLang="zh-CN" sz="3200" dirty="0" smtClean="0">
                <a:latin typeface="黑体"/>
                <a:ea typeface="黑体"/>
                <a:cs typeface="黑体"/>
              </a:rPr>
              <a:t> </a:t>
            </a:r>
            <a:endParaRPr kumimoji="1" lang="zh-CN" altLang="en-US" sz="3200" dirty="0">
              <a:latin typeface="黑体"/>
              <a:ea typeface="黑体"/>
              <a:cs typeface="黑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a:t>
            </a:fld>
            <a:endParaRPr lang="zh-CN" altLang="en-US"/>
          </a:p>
        </p:txBody>
      </p:sp>
    </p:spTree>
    <p:extLst>
      <p:ext uri="{BB962C8B-B14F-4D97-AF65-F5344CB8AC3E}">
        <p14:creationId xmlns:p14="http://schemas.microsoft.com/office/powerpoint/2010/main" val="321867547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778098"/>
          </a:xfrm>
        </p:spPr>
        <p:txBody>
          <a:bodyPr/>
          <a:lstStyle/>
          <a:p>
            <a:r>
              <a:rPr kumimoji="1" lang="en-US" altLang="zh-CN" sz="4000" dirty="0">
                <a:latin typeface="黑体"/>
                <a:ea typeface="黑体"/>
                <a:cs typeface="黑体"/>
              </a:rPr>
              <a:t> </a:t>
            </a:r>
            <a:r>
              <a:rPr kumimoji="1" lang="en-US" altLang="zh-CN" sz="4000" dirty="0" smtClean="0">
                <a:latin typeface="黑体"/>
                <a:ea typeface="黑体"/>
                <a:cs typeface="黑体"/>
              </a:rPr>
              <a:t>            </a:t>
            </a:r>
            <a:r>
              <a:rPr kumimoji="1" lang="zh-CN" altLang="en-US" sz="4000" dirty="0" smtClean="0">
                <a:latin typeface="黑体"/>
                <a:ea typeface="黑体"/>
                <a:cs typeface="黑体"/>
              </a:rPr>
              <a:t>风化犯</a:t>
            </a:r>
            <a:endParaRPr kumimoji="1" lang="zh-CN" altLang="en-US" sz="4000" dirty="0">
              <a:latin typeface="黑体"/>
              <a:ea typeface="黑体"/>
              <a:cs typeface="黑体"/>
            </a:endParaRPr>
          </a:p>
        </p:txBody>
      </p:sp>
      <p:sp>
        <p:nvSpPr>
          <p:cNvPr id="3" name="文本占位符 2"/>
          <p:cNvSpPr>
            <a:spLocks noGrp="1"/>
          </p:cNvSpPr>
          <p:nvPr>
            <p:ph type="body" idx="1"/>
          </p:nvPr>
        </p:nvSpPr>
        <p:spPr>
          <a:xfrm>
            <a:off x="467544" y="1052736"/>
            <a:ext cx="4040188" cy="639762"/>
          </a:xfrm>
        </p:spPr>
        <p:txBody>
          <a:bodyPr/>
          <a:lstStyle/>
          <a:p>
            <a:pPr algn="ctr"/>
            <a:r>
              <a:rPr kumimoji="1" lang="zh-CN" altLang="en-US" dirty="0" smtClean="0"/>
              <a:t>狭义</a:t>
            </a:r>
            <a:endParaRPr kumimoji="1" lang="zh-CN" altLang="en-US" dirty="0"/>
          </a:p>
        </p:txBody>
      </p:sp>
      <p:sp>
        <p:nvSpPr>
          <p:cNvPr id="4" name="内容占位符 3"/>
          <p:cNvSpPr>
            <a:spLocks noGrp="1"/>
          </p:cNvSpPr>
          <p:nvPr>
            <p:ph sz="half" idx="2"/>
          </p:nvPr>
        </p:nvSpPr>
        <p:spPr>
          <a:xfrm>
            <a:off x="467544" y="1844824"/>
            <a:ext cx="4040188" cy="3951288"/>
          </a:xfrm>
        </p:spPr>
        <p:txBody>
          <a:bodyPr/>
          <a:lstStyle/>
          <a:p>
            <a:r>
              <a:rPr kumimoji="1" lang="zh-CN" altLang="en-US" sz="2800" b="1" dirty="0" smtClean="0">
                <a:latin typeface="宋体"/>
                <a:ea typeface="宋体"/>
                <a:cs typeface="宋体"/>
              </a:rPr>
              <a:t>嫖</a:t>
            </a:r>
            <a:r>
              <a:rPr kumimoji="1" lang="zh-CN" altLang="en-US" sz="2800" b="1" dirty="0">
                <a:latin typeface="宋体"/>
                <a:ea typeface="宋体"/>
                <a:cs typeface="宋体"/>
              </a:rPr>
              <a:t>宿幼女罪</a:t>
            </a:r>
          </a:p>
          <a:p>
            <a:r>
              <a:rPr kumimoji="1" lang="zh-CN" altLang="en-US" sz="2800" b="1" dirty="0">
                <a:latin typeface="宋体"/>
                <a:ea typeface="宋体"/>
                <a:cs typeface="宋体"/>
              </a:rPr>
              <a:t>猥亵儿童罪</a:t>
            </a:r>
          </a:p>
          <a:p>
            <a:r>
              <a:rPr kumimoji="1" lang="zh-CN" altLang="en-US" sz="2800" b="1" dirty="0" smtClean="0">
                <a:latin typeface="宋体"/>
                <a:ea typeface="宋体"/>
                <a:cs typeface="宋体"/>
              </a:rPr>
              <a:t>重婚</a:t>
            </a:r>
            <a:r>
              <a:rPr kumimoji="1" lang="zh-CN" altLang="en-US" sz="2800" b="1" dirty="0">
                <a:latin typeface="宋体"/>
                <a:ea typeface="宋体"/>
                <a:cs typeface="宋体"/>
              </a:rPr>
              <a:t>罪</a:t>
            </a:r>
          </a:p>
          <a:p>
            <a:r>
              <a:rPr kumimoji="1" lang="zh-CN" altLang="en-US" sz="2800" b="1" dirty="0" smtClean="0">
                <a:latin typeface="宋体"/>
                <a:ea typeface="宋体"/>
                <a:cs typeface="宋体"/>
              </a:rPr>
              <a:t>盗窃</a:t>
            </a:r>
            <a:r>
              <a:rPr kumimoji="1" lang="zh-CN" altLang="en-US" sz="2800" b="1" dirty="0">
                <a:latin typeface="宋体"/>
                <a:ea typeface="宋体"/>
                <a:cs typeface="宋体"/>
              </a:rPr>
              <a:t>、侮辱尸体罪</a:t>
            </a:r>
          </a:p>
          <a:p>
            <a:r>
              <a:rPr kumimoji="1" lang="zh-CN" altLang="en-US" sz="2800" b="1" dirty="0">
                <a:latin typeface="宋体"/>
                <a:ea typeface="宋体"/>
                <a:cs typeface="宋体"/>
              </a:rPr>
              <a:t>聚众淫乱罪</a:t>
            </a:r>
          </a:p>
          <a:p>
            <a:r>
              <a:rPr kumimoji="1" lang="zh-CN" altLang="en-US" sz="2800" b="1" dirty="0" smtClean="0">
                <a:latin typeface="宋体"/>
                <a:ea typeface="宋体"/>
                <a:cs typeface="宋体"/>
              </a:rPr>
              <a:t>强奸</a:t>
            </a:r>
            <a:r>
              <a:rPr kumimoji="1" lang="zh-CN" altLang="en-US" sz="2800" b="1" dirty="0">
                <a:latin typeface="宋体"/>
                <a:ea typeface="宋体"/>
                <a:cs typeface="宋体"/>
              </a:rPr>
              <a:t>罪</a:t>
            </a:r>
          </a:p>
          <a:p>
            <a:r>
              <a:rPr kumimoji="1" lang="zh-CN" altLang="en-US" sz="2800" b="1" dirty="0" smtClean="0">
                <a:latin typeface="宋体"/>
                <a:ea typeface="宋体"/>
                <a:cs typeface="宋体"/>
              </a:rPr>
              <a:t>强制猥亵</a:t>
            </a:r>
            <a:r>
              <a:rPr kumimoji="1" lang="zh-CN" altLang="en-US" sz="2800" b="1" dirty="0">
                <a:latin typeface="宋体"/>
                <a:ea typeface="宋体"/>
                <a:cs typeface="宋体"/>
              </a:rPr>
              <a:t>、侮辱妇女罪</a:t>
            </a:r>
          </a:p>
        </p:txBody>
      </p:sp>
      <p:sp>
        <p:nvSpPr>
          <p:cNvPr id="5" name="文本占位符 4"/>
          <p:cNvSpPr>
            <a:spLocks noGrp="1"/>
          </p:cNvSpPr>
          <p:nvPr>
            <p:ph type="body" sz="quarter" idx="3"/>
          </p:nvPr>
        </p:nvSpPr>
        <p:spPr>
          <a:xfrm>
            <a:off x="4644008" y="1052736"/>
            <a:ext cx="4041775" cy="639762"/>
          </a:xfrm>
        </p:spPr>
        <p:txBody>
          <a:bodyPr/>
          <a:lstStyle/>
          <a:p>
            <a:pPr algn="ctr"/>
            <a:r>
              <a:rPr kumimoji="1" lang="zh-CN" altLang="en-US" dirty="0" smtClean="0"/>
              <a:t>广义</a:t>
            </a:r>
            <a:endParaRPr kumimoji="1" lang="zh-CN" altLang="en-US" dirty="0"/>
          </a:p>
        </p:txBody>
      </p:sp>
      <p:sp>
        <p:nvSpPr>
          <p:cNvPr id="6" name="内容占位符 5"/>
          <p:cNvSpPr>
            <a:spLocks noGrp="1"/>
          </p:cNvSpPr>
          <p:nvPr>
            <p:ph sz="quarter" idx="4"/>
          </p:nvPr>
        </p:nvSpPr>
        <p:spPr>
          <a:xfrm>
            <a:off x="4644008" y="1916832"/>
            <a:ext cx="4041775" cy="4464496"/>
          </a:xfrm>
        </p:spPr>
        <p:txBody>
          <a:bodyPr/>
          <a:lstStyle/>
          <a:p>
            <a:r>
              <a:rPr kumimoji="1" lang="zh-CN" altLang="en-US" b="1" dirty="0">
                <a:latin typeface="宋体"/>
                <a:ea typeface="宋体"/>
                <a:cs typeface="宋体"/>
              </a:rPr>
              <a:t>组织播放淫秽音像制品罪</a:t>
            </a:r>
          </a:p>
          <a:p>
            <a:r>
              <a:rPr kumimoji="1" lang="zh-CN" altLang="en-US" b="1" dirty="0">
                <a:latin typeface="宋体"/>
                <a:ea typeface="宋体"/>
                <a:cs typeface="宋体"/>
              </a:rPr>
              <a:t>组织淫秽表演罪</a:t>
            </a:r>
          </a:p>
          <a:p>
            <a:r>
              <a:rPr kumimoji="1" lang="zh-CN" altLang="en-US" b="1" dirty="0" smtClean="0">
                <a:latin typeface="宋体"/>
                <a:ea typeface="宋体"/>
                <a:cs typeface="宋体"/>
              </a:rPr>
              <a:t>组织卖淫</a:t>
            </a:r>
            <a:r>
              <a:rPr kumimoji="1" lang="zh-CN" altLang="en-US" b="1" dirty="0">
                <a:latin typeface="宋体"/>
                <a:ea typeface="宋体"/>
                <a:cs typeface="宋体"/>
              </a:rPr>
              <a:t>罪</a:t>
            </a:r>
          </a:p>
          <a:p>
            <a:r>
              <a:rPr kumimoji="1" lang="zh-CN" altLang="en-US" b="1" dirty="0">
                <a:latin typeface="宋体"/>
                <a:ea typeface="宋体"/>
                <a:cs typeface="宋体"/>
              </a:rPr>
              <a:t>强迫卖淫罪</a:t>
            </a:r>
          </a:p>
          <a:p>
            <a:r>
              <a:rPr kumimoji="1" lang="zh-CN" altLang="en-US" b="1" dirty="0">
                <a:latin typeface="宋体"/>
                <a:ea typeface="宋体"/>
                <a:cs typeface="宋体"/>
              </a:rPr>
              <a:t>引诱幼女卖淫罪</a:t>
            </a:r>
          </a:p>
          <a:p>
            <a:r>
              <a:rPr kumimoji="1" lang="zh-CN" altLang="en-US" b="1" dirty="0" smtClean="0">
                <a:latin typeface="宋体"/>
                <a:ea typeface="宋体"/>
                <a:cs typeface="宋体"/>
              </a:rPr>
              <a:t>传播淫秽</a:t>
            </a:r>
            <a:r>
              <a:rPr kumimoji="1" lang="zh-CN" altLang="en-US" b="1" dirty="0">
                <a:latin typeface="宋体"/>
                <a:ea typeface="宋体"/>
                <a:cs typeface="宋体"/>
              </a:rPr>
              <a:t>物品罪</a:t>
            </a:r>
          </a:p>
          <a:p>
            <a:r>
              <a:rPr kumimoji="1" lang="zh-CN" altLang="en-US" b="1" dirty="0" smtClean="0">
                <a:latin typeface="宋体"/>
                <a:ea typeface="宋体"/>
                <a:cs typeface="宋体"/>
              </a:rPr>
              <a:t>传</a:t>
            </a:r>
            <a:r>
              <a:rPr kumimoji="1" lang="zh-CN" altLang="en-US" b="1" dirty="0">
                <a:latin typeface="宋体"/>
                <a:ea typeface="宋体"/>
                <a:cs typeface="宋体"/>
              </a:rPr>
              <a:t>播性病</a:t>
            </a:r>
            <a:r>
              <a:rPr kumimoji="1" lang="zh-CN" altLang="en-US" b="1" dirty="0" smtClean="0">
                <a:latin typeface="宋体"/>
                <a:ea typeface="宋体"/>
                <a:cs typeface="宋体"/>
              </a:rPr>
              <a:t>罪</a:t>
            </a:r>
            <a:endParaRPr kumimoji="1" lang="zh-CN" altLang="en-US" b="1" dirty="0">
              <a:latin typeface="宋体"/>
              <a:ea typeface="宋体"/>
              <a:cs typeface="宋体"/>
            </a:endParaRPr>
          </a:p>
          <a:p>
            <a:r>
              <a:rPr kumimoji="1" lang="zh-CN" altLang="en-US" b="1" dirty="0">
                <a:latin typeface="宋体"/>
                <a:ea typeface="宋体"/>
                <a:cs typeface="宋体"/>
              </a:rPr>
              <a:t>走私淫秽物品</a:t>
            </a:r>
            <a:r>
              <a:rPr kumimoji="1" lang="zh-CN" altLang="en-US" b="1" dirty="0" smtClean="0">
                <a:latin typeface="宋体"/>
                <a:ea typeface="宋体"/>
                <a:cs typeface="宋体"/>
              </a:rPr>
              <a:t>罪</a:t>
            </a:r>
            <a:endParaRPr kumimoji="1" lang="en-US" altLang="zh-CN" b="1" dirty="0" smtClean="0">
              <a:latin typeface="宋体"/>
              <a:ea typeface="宋体"/>
              <a:cs typeface="宋体"/>
            </a:endParaRPr>
          </a:p>
          <a:p>
            <a:r>
              <a:rPr kumimoji="1" lang="en-US" altLang="zh-CN" b="1" dirty="0" smtClean="0">
                <a:latin typeface="宋体"/>
                <a:ea typeface="宋体"/>
                <a:cs typeface="宋体"/>
              </a:rPr>
              <a:t>…………</a:t>
            </a:r>
            <a:endParaRPr kumimoji="1" lang="zh-CN" altLang="en-US" b="1" dirty="0">
              <a:latin typeface="宋体"/>
              <a:ea typeface="宋体"/>
              <a:cs typeface="宋体"/>
            </a:endParaRPr>
          </a:p>
        </p:txBody>
      </p:sp>
    </p:spTree>
    <p:extLst>
      <p:ext uri="{BB962C8B-B14F-4D97-AF65-F5344CB8AC3E}">
        <p14:creationId xmlns:p14="http://schemas.microsoft.com/office/powerpoint/2010/main" val="230951652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332656"/>
            <a:ext cx="7170737" cy="492125"/>
          </a:xfrm>
        </p:spPr>
        <p:txBody>
          <a:bodyPr/>
          <a:lstStyle/>
          <a:p>
            <a:pPr algn="ctr"/>
            <a:r>
              <a:rPr kumimoji="1" lang="zh-CN" altLang="en-US" sz="4000" dirty="0" smtClean="0">
                <a:latin typeface="黑体"/>
                <a:ea typeface="黑体"/>
                <a:cs typeface="黑体"/>
              </a:rPr>
              <a:t>强奸罪的概念和构成条件</a:t>
            </a:r>
            <a:endParaRPr kumimoji="1" lang="zh-CN" altLang="en-US" sz="4000" dirty="0">
              <a:latin typeface="黑体"/>
              <a:ea typeface="黑体"/>
              <a:cs typeface="黑体"/>
            </a:endParaRPr>
          </a:p>
        </p:txBody>
      </p:sp>
      <p:sp>
        <p:nvSpPr>
          <p:cNvPr id="3" name="内容占位符 2"/>
          <p:cNvSpPr>
            <a:spLocks noGrp="1"/>
          </p:cNvSpPr>
          <p:nvPr>
            <p:ph idx="1"/>
          </p:nvPr>
        </p:nvSpPr>
        <p:spPr/>
        <p:txBody>
          <a:bodyPr/>
          <a:lstStyle/>
          <a:p>
            <a:r>
              <a:rPr lang="zh-CN" altLang="zh-CN" sz="2800" b="1" dirty="0">
                <a:latin typeface="宋体"/>
                <a:ea typeface="宋体"/>
                <a:cs typeface="宋体"/>
              </a:rPr>
              <a:t>刑法</a:t>
            </a:r>
            <a:r>
              <a:rPr lang="en-US" altLang="zh-CN" sz="2800" b="1" dirty="0">
                <a:latin typeface="宋体"/>
                <a:ea typeface="宋体"/>
                <a:cs typeface="宋体"/>
              </a:rPr>
              <a:t>236</a:t>
            </a:r>
            <a:r>
              <a:rPr lang="zh-CN" altLang="zh-CN" sz="2800" b="1" dirty="0">
                <a:latin typeface="宋体"/>
                <a:ea typeface="宋体"/>
                <a:cs typeface="宋体"/>
              </a:rPr>
              <a:t>条规定，违背妇女意志，以暴力、胁迫或者其他手段强奸妇女的，以及，奸淫不满十四周岁的幼女的，构成强奸罪</a:t>
            </a:r>
            <a:r>
              <a:rPr lang="zh-CN" altLang="zh-CN" sz="2800" b="1" dirty="0" smtClean="0">
                <a:latin typeface="宋体"/>
                <a:ea typeface="宋体"/>
                <a:cs typeface="宋体"/>
              </a:rPr>
              <a:t>。</a:t>
            </a:r>
            <a:endParaRPr lang="zh-CN" altLang="zh-CN" sz="2800" b="1" dirty="0">
              <a:latin typeface="宋体"/>
              <a:ea typeface="宋体"/>
              <a:cs typeface="宋体"/>
            </a:endParaRPr>
          </a:p>
          <a:p>
            <a:r>
              <a:rPr lang="zh-CN" altLang="zh-CN" sz="2800" b="1" dirty="0">
                <a:latin typeface="宋体"/>
                <a:ea typeface="宋体"/>
                <a:cs typeface="宋体"/>
              </a:rPr>
              <a:t>强奸罪构成的核心要件就是“违背妇女意志”</a:t>
            </a:r>
            <a:r>
              <a:rPr lang="zh-CN" altLang="zh-CN" sz="2800" b="1" dirty="0" smtClean="0">
                <a:latin typeface="宋体"/>
                <a:ea typeface="宋体"/>
                <a:cs typeface="宋体"/>
              </a:rPr>
              <a:t>。</a:t>
            </a:r>
            <a:endParaRPr lang="en-US" altLang="zh-CN" sz="2800" b="1" dirty="0" smtClean="0">
              <a:latin typeface="宋体"/>
              <a:ea typeface="宋体"/>
              <a:cs typeface="宋体"/>
            </a:endParaRPr>
          </a:p>
          <a:p>
            <a:r>
              <a:rPr lang="zh-CN" altLang="en-US" sz="2800" b="1" dirty="0" smtClean="0">
                <a:latin typeface="宋体"/>
                <a:ea typeface="宋体"/>
                <a:cs typeface="宋体"/>
              </a:rPr>
              <a:t>中世纪强奸案。</a:t>
            </a:r>
            <a:endParaRPr lang="en-US" altLang="zh-CN" sz="2800" b="1" dirty="0" smtClean="0">
              <a:latin typeface="宋体"/>
              <a:ea typeface="宋体"/>
              <a:cs typeface="宋体"/>
            </a:endParaRPr>
          </a:p>
          <a:p>
            <a:r>
              <a:rPr lang="zh-CN" altLang="zh-CN" sz="2800" b="1" dirty="0" smtClean="0">
                <a:latin typeface="宋体"/>
                <a:ea typeface="宋体"/>
                <a:cs typeface="宋体"/>
              </a:rPr>
              <a:t>伏尔泰</a:t>
            </a:r>
            <a:r>
              <a:rPr lang="zh-CN" altLang="en-US" sz="2800" b="1" dirty="0" smtClean="0">
                <a:latin typeface="宋体"/>
                <a:ea typeface="宋体"/>
                <a:cs typeface="宋体"/>
              </a:rPr>
              <a:t>：</a:t>
            </a:r>
            <a:r>
              <a:rPr lang="zh-CN" altLang="zh-CN" sz="2800" b="1" dirty="0" smtClean="0">
                <a:latin typeface="宋体"/>
                <a:ea typeface="宋体"/>
                <a:cs typeface="宋体"/>
              </a:rPr>
              <a:t>对于那些来起诉说自己受到了强奸</a:t>
            </a:r>
            <a:r>
              <a:rPr lang="zh-CN" altLang="zh-CN" sz="2800" b="1" dirty="0">
                <a:latin typeface="宋体"/>
                <a:ea typeface="宋体"/>
                <a:cs typeface="宋体"/>
              </a:rPr>
              <a:t>的年轻姑娘或妇女，我觉得，好像应该给她们讲一讲这个故事，看看从前有一位皇后是怎样让一位女人撤销起诉的：皇后拿起一个剑鞘，不停地晃动着，让那位女人看见剑根本就没有可能插进去。 </a:t>
            </a:r>
            <a:r>
              <a:rPr lang="zh-CN" altLang="zh-CN" sz="2800" b="1" dirty="0" smtClean="0">
                <a:latin typeface="宋体"/>
                <a:ea typeface="宋体"/>
                <a:cs typeface="宋体"/>
              </a:rPr>
              <a:t> </a:t>
            </a:r>
            <a:endParaRPr kumimoji="1" lang="zh-CN" altLang="en-US" sz="2800" b="1" dirty="0">
              <a:latin typeface="宋体"/>
              <a:ea typeface="宋体"/>
              <a:cs typeface="宋体"/>
            </a:endParaRPr>
          </a:p>
        </p:txBody>
      </p:sp>
    </p:spTree>
    <p:extLst>
      <p:ext uri="{BB962C8B-B14F-4D97-AF65-F5344CB8AC3E}">
        <p14:creationId xmlns:p14="http://schemas.microsoft.com/office/powerpoint/2010/main" val="2425751153"/>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怎样判断“违背妇女意志”？</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r>
              <a:rPr lang="zh-CN" altLang="zh-CN" sz="2800" dirty="0" smtClean="0">
                <a:latin typeface="宋体"/>
                <a:ea typeface="宋体"/>
                <a:cs typeface="宋体"/>
              </a:rPr>
              <a:t>张某系某宾馆内从事卖淫活动的女性工作者。一天，张某见一外地游客李某来住宿，遂主动上门勾引李某。李某问“休息费”多少，张某说</a:t>
            </a:r>
            <a:r>
              <a:rPr lang="en-US" altLang="zh-CN" sz="2800" dirty="0" smtClean="0">
                <a:latin typeface="宋体"/>
                <a:ea typeface="宋体"/>
                <a:cs typeface="宋体"/>
              </a:rPr>
              <a:t>300</a:t>
            </a:r>
            <a:r>
              <a:rPr lang="zh-CN" altLang="zh-CN" sz="2800" dirty="0" smtClean="0">
                <a:latin typeface="宋体"/>
                <a:ea typeface="宋体"/>
                <a:cs typeface="宋体"/>
              </a:rPr>
              <a:t>元。李认为太贵，只同意出</a:t>
            </a:r>
            <a:r>
              <a:rPr lang="en-US" altLang="zh-CN" sz="2800" dirty="0" smtClean="0">
                <a:latin typeface="宋体"/>
                <a:ea typeface="宋体"/>
                <a:cs typeface="宋体"/>
              </a:rPr>
              <a:t>100</a:t>
            </a:r>
            <a:r>
              <a:rPr lang="zh-CN" altLang="zh-CN" sz="2800" dirty="0" smtClean="0">
                <a:latin typeface="宋体"/>
                <a:ea typeface="宋体"/>
                <a:cs typeface="宋体"/>
              </a:rPr>
              <a:t>元。张某嫌钱少，正欲出门，被李某挡住。张将李推开，李打了张一个耳光，骂张为臭婊子，并将张拉回推倒在床上，卡压张的脖子，至张不再反抗后，对张实施了奸淫。后，李拿出</a:t>
            </a:r>
            <a:r>
              <a:rPr lang="en-US" altLang="zh-CN" sz="2800" dirty="0" smtClean="0">
                <a:latin typeface="宋体"/>
                <a:ea typeface="宋体"/>
                <a:cs typeface="宋体"/>
              </a:rPr>
              <a:t>300</a:t>
            </a:r>
            <a:r>
              <a:rPr lang="zh-CN" altLang="zh-CN" sz="2800" dirty="0" smtClean="0">
                <a:latin typeface="宋体"/>
                <a:ea typeface="宋体"/>
                <a:cs typeface="宋体"/>
              </a:rPr>
              <a:t>元给张，张拒收</a:t>
            </a:r>
            <a:r>
              <a:rPr lang="zh-CN" altLang="zh-CN" sz="2800" dirty="0">
                <a:latin typeface="宋体"/>
                <a:ea typeface="宋体"/>
                <a:cs typeface="宋体"/>
              </a:rPr>
              <a:t>。</a:t>
            </a:r>
          </a:p>
          <a:p>
            <a:r>
              <a:rPr lang="zh-CN" altLang="zh-CN" sz="2800" b="1" dirty="0" smtClean="0">
                <a:latin typeface="楷体"/>
                <a:ea typeface="楷体"/>
                <a:cs typeface="楷体"/>
              </a:rPr>
              <a:t>问题是</a:t>
            </a:r>
            <a:r>
              <a:rPr lang="zh-CN" altLang="zh-CN" sz="2800" b="1" dirty="0">
                <a:latin typeface="楷体"/>
                <a:ea typeface="楷体"/>
                <a:cs typeface="楷体"/>
              </a:rPr>
              <a:t>，强行与卖淫女发生性行为的行为是否构成强奸罪？ </a:t>
            </a:r>
            <a:endParaRPr kumimoji="1" lang="zh-CN" altLang="en-US" sz="2800" b="1" dirty="0">
              <a:latin typeface="楷体"/>
              <a:ea typeface="楷体"/>
              <a:cs typeface="楷体"/>
            </a:endParaRPr>
          </a:p>
        </p:txBody>
      </p:sp>
    </p:spTree>
    <p:extLst>
      <p:ext uri="{BB962C8B-B14F-4D97-AF65-F5344CB8AC3E}">
        <p14:creationId xmlns:p14="http://schemas.microsoft.com/office/powerpoint/2010/main" val="164417073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a:xfrm>
            <a:off x="457200" y="476672"/>
            <a:ext cx="8229600" cy="6120680"/>
          </a:xfrm>
        </p:spPr>
        <p:txBody>
          <a:bodyPr/>
          <a:lstStyle/>
          <a:p>
            <a:r>
              <a:rPr lang="zh-CN" altLang="zh-CN" sz="2800" dirty="0">
                <a:latin typeface="宋体"/>
                <a:ea typeface="宋体"/>
                <a:cs typeface="宋体"/>
              </a:rPr>
              <a:t>杨某，农民，平时常常装神弄鬼，以给人解灾看病为名骗人钱财</a:t>
            </a:r>
            <a:r>
              <a:rPr lang="zh-CN" altLang="zh-CN" sz="2800" dirty="0" smtClean="0">
                <a:latin typeface="宋体"/>
                <a:ea typeface="宋体"/>
                <a:cs typeface="宋体"/>
              </a:rPr>
              <a:t>。同乡农民王某女儿</a:t>
            </a:r>
            <a:r>
              <a:rPr lang="zh-CN" altLang="zh-CN" sz="2800" dirty="0">
                <a:latin typeface="宋体"/>
                <a:ea typeface="宋体"/>
                <a:cs typeface="宋体"/>
              </a:rPr>
              <a:t>（</a:t>
            </a:r>
            <a:r>
              <a:rPr lang="en-US" altLang="zh-CN" sz="2800" dirty="0">
                <a:latin typeface="宋体"/>
                <a:ea typeface="宋体"/>
                <a:cs typeface="宋体"/>
              </a:rPr>
              <a:t>15</a:t>
            </a:r>
            <a:r>
              <a:rPr lang="zh-CN" altLang="zh-CN" sz="2800" dirty="0">
                <a:latin typeface="宋体"/>
                <a:ea typeface="宋体"/>
                <a:cs typeface="宋体"/>
              </a:rPr>
              <a:t>岁）久病不好，前来求治，</a:t>
            </a:r>
            <a:r>
              <a:rPr lang="zh-CN" altLang="zh-CN" sz="2800" dirty="0" smtClean="0">
                <a:latin typeface="宋体"/>
                <a:ea typeface="宋体"/>
                <a:cs typeface="宋体"/>
              </a:rPr>
              <a:t>杨要求病女与生肖为龙</a:t>
            </a:r>
            <a:r>
              <a:rPr lang="zh-CN" altLang="zh-CN" sz="2800" dirty="0">
                <a:latin typeface="宋体"/>
                <a:ea typeface="宋体"/>
                <a:cs typeface="宋体"/>
              </a:rPr>
              <a:t>、兔、牛、马的男人搞</a:t>
            </a:r>
            <a:r>
              <a:rPr lang="en-US" altLang="zh-CN" sz="2800" dirty="0">
                <a:latin typeface="宋体"/>
                <a:ea typeface="宋体"/>
                <a:cs typeface="宋体"/>
              </a:rPr>
              <a:t>7</a:t>
            </a:r>
            <a:r>
              <a:rPr lang="zh-CN" altLang="zh-CN" sz="2800" dirty="0">
                <a:latin typeface="宋体"/>
                <a:ea typeface="宋体"/>
                <a:cs typeface="宋体"/>
              </a:rPr>
              <a:t>次两性关系，就能治好病</a:t>
            </a:r>
            <a:r>
              <a:rPr lang="zh-CN" altLang="zh-CN" sz="2800" dirty="0" smtClean="0">
                <a:latin typeface="宋体"/>
                <a:ea typeface="宋体"/>
                <a:cs typeface="宋体"/>
              </a:rPr>
              <a:t>。</a:t>
            </a:r>
            <a:r>
              <a:rPr lang="zh-CN" altLang="en-US" sz="2800" dirty="0" smtClean="0">
                <a:latin typeface="宋体"/>
                <a:ea typeface="宋体"/>
                <a:cs typeface="宋体"/>
              </a:rPr>
              <a:t>后，</a:t>
            </a:r>
            <a:r>
              <a:rPr lang="zh-CN" altLang="zh-CN" sz="2800" dirty="0" smtClean="0">
                <a:latin typeface="宋体"/>
                <a:ea typeface="宋体"/>
                <a:cs typeface="宋体"/>
              </a:rPr>
              <a:t>杨妻于某在门外放哨</a:t>
            </a:r>
            <a:r>
              <a:rPr lang="zh-CN" altLang="zh-CN" sz="2800" dirty="0">
                <a:latin typeface="宋体"/>
                <a:ea typeface="宋体"/>
                <a:cs typeface="宋体"/>
              </a:rPr>
              <a:t>，杨让王女把衣服脱光，然后在其身上乱摸，正要行奸时，王女不同意，杨说：你要不干的话，灾病就不能除。王女只好同意了。在发生关系时，王女问几次能免灾，杨说得七次。当第三次时，被王父告发。</a:t>
            </a:r>
          </a:p>
          <a:p>
            <a:r>
              <a:rPr lang="zh-CN" altLang="zh-CN" sz="2800" b="1" dirty="0" smtClean="0">
                <a:latin typeface="楷体"/>
                <a:ea typeface="楷体"/>
                <a:cs typeface="楷体"/>
              </a:rPr>
              <a:t>问题</a:t>
            </a:r>
            <a:r>
              <a:rPr lang="zh-CN" altLang="en-US" sz="2800" b="1" dirty="0" smtClean="0">
                <a:latin typeface="楷体"/>
                <a:ea typeface="楷体"/>
                <a:cs typeface="楷体"/>
              </a:rPr>
              <a:t>：</a:t>
            </a:r>
            <a:r>
              <a:rPr lang="zh-CN" altLang="zh-CN" sz="2800" b="1" dirty="0" smtClean="0">
                <a:latin typeface="楷体"/>
                <a:ea typeface="楷体"/>
                <a:cs typeface="楷体"/>
              </a:rPr>
              <a:t>利用</a:t>
            </a:r>
            <a:r>
              <a:rPr lang="zh-CN" altLang="zh-CN" sz="2800" b="1" dirty="0">
                <a:latin typeface="楷体"/>
                <a:ea typeface="楷体"/>
                <a:cs typeface="楷体"/>
              </a:rPr>
              <a:t>被害人的愚昧而骗奸被害人的行为是否违背妇女意志而构成强奸罪</a:t>
            </a:r>
            <a:r>
              <a:rPr lang="zh-CN" altLang="zh-CN" sz="2800" b="1" dirty="0" smtClean="0">
                <a:latin typeface="楷体"/>
                <a:ea typeface="楷体"/>
                <a:cs typeface="楷体"/>
              </a:rPr>
              <a:t>？</a:t>
            </a:r>
            <a:endParaRPr lang="en-US" altLang="zh-CN" sz="2800" b="1" dirty="0" smtClean="0">
              <a:latin typeface="楷体"/>
              <a:ea typeface="楷体"/>
              <a:cs typeface="楷体"/>
            </a:endParaRPr>
          </a:p>
          <a:p>
            <a:r>
              <a:rPr lang="zh-CN" altLang="zh-CN" sz="2800" b="1" dirty="0" smtClean="0">
                <a:latin typeface="楷体"/>
                <a:ea typeface="楷体"/>
                <a:cs typeface="楷体"/>
              </a:rPr>
              <a:t>法律确认并保护</a:t>
            </a:r>
            <a:r>
              <a:rPr lang="zh-CN" altLang="en-US" sz="2800" b="1" dirty="0" smtClean="0">
                <a:latin typeface="楷体"/>
                <a:ea typeface="楷体"/>
                <a:cs typeface="楷体"/>
              </a:rPr>
              <a:t>的</a:t>
            </a:r>
            <a:r>
              <a:rPr lang="zh-CN" altLang="zh-CN" sz="2800" b="1" dirty="0" smtClean="0">
                <a:latin typeface="楷体"/>
                <a:ea typeface="楷体"/>
                <a:cs typeface="楷体"/>
              </a:rPr>
              <a:t>这种抽象权</a:t>
            </a:r>
            <a:r>
              <a:rPr lang="zh-CN" altLang="zh-CN" sz="2800" b="1" dirty="0">
                <a:latin typeface="楷体"/>
                <a:ea typeface="楷体"/>
                <a:cs typeface="楷体"/>
              </a:rPr>
              <a:t>利不因具体被害人的无知而灭失。 </a:t>
            </a:r>
            <a:endParaRPr kumimoji="1" lang="zh-CN" altLang="en-US" sz="2800" b="1" dirty="0">
              <a:latin typeface="楷体"/>
              <a:ea typeface="楷体"/>
              <a:cs typeface="楷体"/>
            </a:endParaRPr>
          </a:p>
        </p:txBody>
      </p:sp>
    </p:spTree>
    <p:extLst>
      <p:ext uri="{BB962C8B-B14F-4D97-AF65-F5344CB8AC3E}">
        <p14:creationId xmlns:p14="http://schemas.microsoft.com/office/powerpoint/2010/main" val="392479702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dirty="0"/>
          </a:p>
        </p:txBody>
      </p:sp>
      <p:sp>
        <p:nvSpPr>
          <p:cNvPr id="3" name="内容占位符 2"/>
          <p:cNvSpPr>
            <a:spLocks noGrp="1"/>
          </p:cNvSpPr>
          <p:nvPr>
            <p:ph idx="1"/>
          </p:nvPr>
        </p:nvSpPr>
        <p:spPr>
          <a:xfrm>
            <a:off x="457200" y="548680"/>
            <a:ext cx="8229600" cy="5832648"/>
          </a:xfrm>
        </p:spPr>
        <p:txBody>
          <a:bodyPr/>
          <a:lstStyle/>
          <a:p>
            <a:r>
              <a:rPr lang="zh-CN" altLang="zh-CN" sz="2800" dirty="0" smtClean="0">
                <a:latin typeface="楷体"/>
                <a:ea typeface="楷体"/>
                <a:cs typeface="楷体"/>
              </a:rPr>
              <a:t>李某平时生活作风不检点</a:t>
            </a:r>
            <a:r>
              <a:rPr lang="zh-CN" altLang="zh-CN" sz="2800" dirty="0">
                <a:latin typeface="楷体"/>
                <a:ea typeface="楷体"/>
                <a:cs typeface="楷体"/>
              </a:rPr>
              <a:t>，与同村多名男子</a:t>
            </a:r>
            <a:r>
              <a:rPr lang="zh-CN" altLang="zh-CN" sz="2800" dirty="0" smtClean="0">
                <a:latin typeface="楷体"/>
                <a:ea typeface="楷体"/>
                <a:cs typeface="楷体"/>
              </a:rPr>
              <a:t>有性行为</a:t>
            </a:r>
            <a:r>
              <a:rPr lang="zh-CN" altLang="zh-CN" sz="2800" dirty="0">
                <a:latin typeface="楷体"/>
                <a:ea typeface="楷体"/>
                <a:cs typeface="楷体"/>
              </a:rPr>
              <a:t>，名声不好。同村男青年丁某口臭，平日自卑感很强。丁想与李发生关系，但又怕李拒绝。一天晚上，丁摸到李家房外，李某发现了在外徘徊的丁，知道丁的意思，于是悄悄抽开了门闩，躺在床上装睡。丁轻推房门，认为李有意不关门，是为了与其他男子来往，便悄悄摸到李的床边，猛然掐住李的脖子，</a:t>
            </a:r>
            <a:r>
              <a:rPr lang="zh-CN" altLang="zh-CN" sz="2800" dirty="0" smtClean="0">
                <a:latin typeface="楷体"/>
                <a:ea typeface="楷体"/>
                <a:cs typeface="楷体"/>
              </a:rPr>
              <a:t>将李掐昏后将其奸淫</a:t>
            </a:r>
            <a:r>
              <a:rPr lang="zh-CN" altLang="en-US" sz="2800" dirty="0" smtClean="0">
                <a:latin typeface="楷体"/>
                <a:ea typeface="楷体"/>
                <a:cs typeface="楷体"/>
              </a:rPr>
              <a:t>。</a:t>
            </a:r>
            <a:endParaRPr lang="zh-CN" altLang="zh-CN" sz="2800" dirty="0">
              <a:latin typeface="楷体"/>
              <a:ea typeface="楷体"/>
              <a:cs typeface="楷体"/>
            </a:endParaRPr>
          </a:p>
          <a:p>
            <a:r>
              <a:rPr lang="zh-CN" altLang="zh-CN" sz="2800" b="1" dirty="0" smtClean="0">
                <a:latin typeface="宋体"/>
                <a:ea typeface="宋体"/>
                <a:cs typeface="宋体"/>
              </a:rPr>
              <a:t>问题</a:t>
            </a:r>
            <a:r>
              <a:rPr lang="zh-CN" altLang="en-US" sz="2800" b="1" dirty="0" smtClean="0">
                <a:latin typeface="宋体"/>
                <a:ea typeface="宋体"/>
                <a:cs typeface="宋体"/>
              </a:rPr>
              <a:t>：</a:t>
            </a:r>
            <a:r>
              <a:rPr lang="zh-CN" altLang="zh-CN" sz="2800" b="1" dirty="0" smtClean="0">
                <a:latin typeface="宋体"/>
                <a:ea typeface="宋体"/>
                <a:cs typeface="宋体"/>
              </a:rPr>
              <a:t>强</a:t>
            </a:r>
            <a:r>
              <a:rPr lang="zh-CN" altLang="zh-CN" sz="2800" b="1" dirty="0">
                <a:latin typeface="宋体"/>
                <a:ea typeface="宋体"/>
                <a:cs typeface="宋体"/>
              </a:rPr>
              <a:t>行与本愿与其发生性关系的女性发生性行为，是否违背妇女意志而构成强奸罪</a:t>
            </a:r>
            <a:r>
              <a:rPr lang="zh-CN" altLang="zh-CN" sz="2800" b="1" dirty="0" smtClean="0">
                <a:latin typeface="宋体"/>
                <a:ea typeface="宋体"/>
                <a:cs typeface="宋体"/>
              </a:rPr>
              <a:t>？</a:t>
            </a:r>
            <a:endParaRPr lang="en-US" altLang="zh-CN" sz="2800" b="1" dirty="0" smtClean="0">
              <a:latin typeface="宋体"/>
              <a:ea typeface="宋体"/>
              <a:cs typeface="宋体"/>
            </a:endParaRPr>
          </a:p>
          <a:p>
            <a:r>
              <a:rPr lang="zh-CN" altLang="en-US" sz="2800" b="1" dirty="0" smtClean="0">
                <a:latin typeface="宋体"/>
                <a:ea typeface="宋体"/>
                <a:cs typeface="宋体"/>
              </a:rPr>
              <a:t>方式不对？</a:t>
            </a:r>
            <a:r>
              <a:rPr lang="en-US" altLang="zh-CN" sz="2800" b="1" dirty="0" smtClean="0">
                <a:latin typeface="宋体"/>
                <a:ea typeface="宋体"/>
                <a:cs typeface="宋体"/>
              </a:rPr>
              <a:t>——</a:t>
            </a:r>
            <a:r>
              <a:rPr lang="zh-CN" altLang="en-US" sz="2800" b="1" dirty="0" smtClean="0">
                <a:latin typeface="宋体"/>
                <a:ea typeface="宋体"/>
                <a:cs typeface="宋体"/>
              </a:rPr>
              <a:t>另一案件：男方不按女方要求采取措施，结果被女方以强奸罪告到派出所。两案有何不同？</a:t>
            </a:r>
            <a:endParaRPr lang="en-US" altLang="zh-CN" sz="2800" b="1" dirty="0" smtClean="0">
              <a:latin typeface="宋体"/>
              <a:ea typeface="宋体"/>
              <a:cs typeface="宋体"/>
            </a:endParaRPr>
          </a:p>
        </p:txBody>
      </p:sp>
    </p:spTree>
    <p:extLst>
      <p:ext uri="{BB962C8B-B14F-4D97-AF65-F5344CB8AC3E}">
        <p14:creationId xmlns:p14="http://schemas.microsoft.com/office/powerpoint/2010/main" val="181626819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dirty="0"/>
          </a:p>
        </p:txBody>
      </p:sp>
      <p:sp>
        <p:nvSpPr>
          <p:cNvPr id="3" name="内容占位符 2"/>
          <p:cNvSpPr>
            <a:spLocks noGrp="1"/>
          </p:cNvSpPr>
          <p:nvPr>
            <p:ph idx="1"/>
          </p:nvPr>
        </p:nvSpPr>
        <p:spPr>
          <a:xfrm>
            <a:off x="457200" y="620688"/>
            <a:ext cx="8229600" cy="5505475"/>
          </a:xfrm>
        </p:spPr>
        <p:txBody>
          <a:bodyPr/>
          <a:lstStyle/>
          <a:p>
            <a:r>
              <a:rPr lang="zh-CN" altLang="zh-CN" sz="2800" dirty="0">
                <a:latin typeface="宋体"/>
                <a:ea typeface="宋体"/>
                <a:cs typeface="宋体"/>
              </a:rPr>
              <a:t>被告人王某先后</a:t>
            </a:r>
            <a:r>
              <a:rPr lang="en-US" altLang="zh-CN" sz="2800" dirty="0">
                <a:latin typeface="宋体"/>
                <a:ea typeface="宋体"/>
                <a:cs typeface="宋体"/>
              </a:rPr>
              <a:t>2</a:t>
            </a:r>
            <a:r>
              <a:rPr lang="zh-CN" altLang="zh-CN" sz="2800" dirty="0">
                <a:latin typeface="宋体"/>
                <a:ea typeface="宋体"/>
                <a:cs typeface="宋体"/>
              </a:rPr>
              <a:t>次以夫妻感情确已破裂为由向法院提出离婚诉讼请求。法院作出一审准予离婚的判决并将判决书送达了双方当事人</a:t>
            </a:r>
            <a:r>
              <a:rPr lang="zh-CN" altLang="zh-CN" sz="2800" dirty="0" smtClean="0">
                <a:latin typeface="宋体"/>
                <a:ea typeface="宋体"/>
                <a:cs typeface="宋体"/>
              </a:rPr>
              <a:t>。</a:t>
            </a:r>
            <a:r>
              <a:rPr lang="zh-CN" altLang="en-US" sz="2800" dirty="0" smtClean="0">
                <a:latin typeface="宋体"/>
                <a:ea typeface="宋体"/>
                <a:cs typeface="宋体"/>
              </a:rPr>
              <a:t>王到</a:t>
            </a:r>
            <a:r>
              <a:rPr lang="zh-CN" altLang="zh-CN" sz="2800" dirty="0" smtClean="0">
                <a:latin typeface="宋体"/>
                <a:ea typeface="宋体"/>
                <a:cs typeface="宋体"/>
              </a:rPr>
              <a:t>原住处见被害人钱某也在</a:t>
            </a:r>
            <a:r>
              <a:rPr lang="zh-CN" altLang="zh-CN" sz="2800" dirty="0">
                <a:latin typeface="宋体"/>
                <a:ea typeface="宋体"/>
                <a:cs typeface="宋体"/>
              </a:rPr>
              <a:t>，便上前从背后抱住钱某欲与之发生性关系，遭拒绝后，被告人王卫明即将被害人钱某的双手反扭住并推倒在床上，用一手扯脱被害人的衣裤，强行与钱某发生了两性关系，并抓伤、咬伤了被害人的胸部等处。当晚被害人即向公安机关报案而案发。</a:t>
            </a:r>
          </a:p>
          <a:p>
            <a:r>
              <a:rPr lang="zh-CN" altLang="zh-CN" sz="2800" b="1" dirty="0">
                <a:latin typeface="楷体"/>
                <a:ea typeface="楷体"/>
                <a:cs typeface="楷体"/>
              </a:rPr>
              <a:t>问题争议：丈夫能否成为强奸罪的主体？即是否存在所谓“婚内强奸”？婚内强暴性行为违背妇女意志吗？</a:t>
            </a:r>
          </a:p>
          <a:p>
            <a:endParaRPr kumimoji="1" lang="zh-CN" altLang="en-US" sz="2800" dirty="0">
              <a:latin typeface="宋体"/>
              <a:ea typeface="宋体"/>
              <a:cs typeface="宋体"/>
            </a:endParaRPr>
          </a:p>
        </p:txBody>
      </p:sp>
    </p:spTree>
    <p:extLst>
      <p:ext uri="{BB962C8B-B14F-4D97-AF65-F5344CB8AC3E}">
        <p14:creationId xmlns:p14="http://schemas.microsoft.com/office/powerpoint/2010/main" val="1451023480"/>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t>婚内一定无奸？</a:t>
            </a:r>
            <a:endParaRPr kumimoji="1" lang="zh-CN" altLang="en-US" sz="3600" dirty="0"/>
          </a:p>
        </p:txBody>
      </p:sp>
      <p:sp>
        <p:nvSpPr>
          <p:cNvPr id="3" name="内容占位符 2"/>
          <p:cNvSpPr>
            <a:spLocks noGrp="1"/>
          </p:cNvSpPr>
          <p:nvPr>
            <p:ph idx="1"/>
          </p:nvPr>
        </p:nvSpPr>
        <p:spPr>
          <a:xfrm>
            <a:off x="457200" y="836712"/>
            <a:ext cx="8229600" cy="5289451"/>
          </a:xfrm>
        </p:spPr>
        <p:txBody>
          <a:bodyPr/>
          <a:lstStyle/>
          <a:p>
            <a:r>
              <a:rPr lang="zh-CN" altLang="zh-CN" dirty="0">
                <a:latin typeface="宋体"/>
                <a:ea typeface="宋体"/>
                <a:cs typeface="宋体"/>
              </a:rPr>
              <a:t>张某之妻魏某与同村青年丁某通奸。一日，被张某当场发现。在张的追问下，魏某承认了长期通奸的事实。于是，张带着魏，到丁家对证。二人承认。张某当面狠打魏某，并对丁说，“你和我爱人搞几次，我就和你爱人搞几次。不然完不了”。丁之妻李某听后当即说，“你干，我还不干呢！”随后往外跑，被魏某劝回。张见李不干，又狠狠打其妻，丁见状，对张说，先别打了。你们先回去，我们商量一下。丁便劝其妻同意此事。经过再三劝说，李哭着被送到张家。李对张说，你与我睡可以，但千万不能对外公开，不然的话，我以后不好作人。此后，张又多次去丁家，被拒绝。张说，再搞一次就算了帐，否则就公开出去。丁就对李说，你就答应这最后一次吧。李无奈，在自家与张又发生了一次关系。</a:t>
            </a:r>
          </a:p>
          <a:p>
            <a:r>
              <a:rPr lang="zh-CN" altLang="zh-CN" sz="2800" b="1" dirty="0" smtClean="0">
                <a:latin typeface="楷体"/>
                <a:ea typeface="楷体"/>
                <a:cs typeface="楷体"/>
              </a:rPr>
              <a:t>丁</a:t>
            </a:r>
            <a:r>
              <a:rPr lang="zh-CN" altLang="zh-CN" sz="2800" b="1" dirty="0">
                <a:latin typeface="楷体"/>
                <a:ea typeface="楷体"/>
                <a:cs typeface="楷体"/>
              </a:rPr>
              <a:t>某的行为是否构成强奸罪共犯？ </a:t>
            </a:r>
            <a:endParaRPr kumimoji="1" lang="zh-CN" altLang="en-US" sz="2800" b="1" dirty="0">
              <a:latin typeface="楷体"/>
              <a:ea typeface="楷体"/>
              <a:cs typeface="楷体"/>
            </a:endParaRPr>
          </a:p>
        </p:txBody>
      </p:sp>
    </p:spTree>
    <p:extLst>
      <p:ext uri="{BB962C8B-B14F-4D97-AF65-F5344CB8AC3E}">
        <p14:creationId xmlns:p14="http://schemas.microsoft.com/office/powerpoint/2010/main" val="232596547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smtClean="0"/>
              <a:t>美国学者科恩的分类：</a:t>
            </a:r>
            <a:endParaRPr kumimoji="1" lang="zh-CN" altLang="en-US" sz="4000" dirty="0"/>
          </a:p>
        </p:txBody>
      </p:sp>
      <p:sp>
        <p:nvSpPr>
          <p:cNvPr id="3" name="内容占位符 2"/>
          <p:cNvSpPr>
            <a:spLocks noGrp="1"/>
          </p:cNvSpPr>
          <p:nvPr>
            <p:ph idx="1"/>
          </p:nvPr>
        </p:nvSpPr>
        <p:spPr>
          <a:xfrm>
            <a:off x="457200" y="980728"/>
            <a:ext cx="8229600" cy="5400600"/>
          </a:xfrm>
        </p:spPr>
        <p:txBody>
          <a:bodyPr/>
          <a:lstStyle/>
          <a:p>
            <a:r>
              <a:rPr lang="zh-CN" altLang="zh-CN" sz="2800" dirty="0">
                <a:latin typeface="黑体"/>
                <a:ea typeface="黑体"/>
                <a:cs typeface="黑体"/>
              </a:rPr>
              <a:t>替代攻击型</a:t>
            </a:r>
            <a:r>
              <a:rPr lang="zh-CN" altLang="zh-CN" sz="2800" dirty="0">
                <a:latin typeface="宋体"/>
                <a:ea typeface="宋体"/>
                <a:cs typeface="宋体"/>
              </a:rPr>
              <a:t>强奸犯主要不是出于性要求，而是攻击倾向的表现而实施强奸行为，因此往往手段残忍，发生在行为人与妻子、女友、母亲冲突之后。</a:t>
            </a:r>
          </a:p>
          <a:p>
            <a:r>
              <a:rPr lang="zh-CN" altLang="zh-CN" sz="2800" dirty="0">
                <a:latin typeface="黑体"/>
                <a:ea typeface="黑体"/>
                <a:cs typeface="黑体"/>
              </a:rPr>
              <a:t>补偿型</a:t>
            </a:r>
            <a:r>
              <a:rPr lang="zh-CN" altLang="zh-CN" sz="2800" dirty="0">
                <a:latin typeface="宋体"/>
                <a:ea typeface="宋体"/>
                <a:cs typeface="宋体"/>
              </a:rPr>
              <a:t>强奸犯主要出于性欲、自尊心不强、社会关系不完整等原因而实施强奸行为，他们往往幻想能以自己杰出的性能力赢得被害人的同情。因此他们遇到反抗时往往会放弃。</a:t>
            </a:r>
          </a:p>
          <a:p>
            <a:r>
              <a:rPr lang="zh-CN" altLang="zh-CN" sz="2800" dirty="0">
                <a:latin typeface="黑体"/>
                <a:ea typeface="黑体"/>
                <a:cs typeface="黑体"/>
              </a:rPr>
              <a:t>混合型</a:t>
            </a:r>
            <a:r>
              <a:rPr lang="zh-CN" altLang="zh-CN" sz="2800" dirty="0">
                <a:latin typeface="宋体"/>
                <a:ea typeface="宋体"/>
                <a:cs typeface="宋体"/>
              </a:rPr>
              <a:t>强奸犯主要是在暴力和性欲相伴随</a:t>
            </a:r>
            <a:r>
              <a:rPr lang="zh-CN" altLang="zh-CN" sz="2800" dirty="0" smtClean="0">
                <a:latin typeface="宋体"/>
                <a:ea typeface="宋体"/>
                <a:cs typeface="宋体"/>
              </a:rPr>
              <a:t>的情况下强奸</a:t>
            </a:r>
            <a:r>
              <a:rPr lang="zh-CN" altLang="zh-CN" sz="2800" dirty="0">
                <a:latin typeface="宋体"/>
                <a:ea typeface="宋体"/>
                <a:cs typeface="宋体"/>
              </a:rPr>
              <a:t>，被害</a:t>
            </a:r>
            <a:r>
              <a:rPr lang="zh-CN" altLang="zh-CN" sz="2800" dirty="0" smtClean="0">
                <a:latin typeface="宋体"/>
                <a:ea typeface="宋体"/>
                <a:cs typeface="宋体"/>
              </a:rPr>
              <a:t>人的反抗恰恰能引起</a:t>
            </a:r>
            <a:r>
              <a:rPr lang="zh-CN" altLang="en-US" sz="2800" dirty="0" smtClean="0">
                <a:latin typeface="宋体"/>
                <a:ea typeface="宋体"/>
                <a:cs typeface="宋体"/>
              </a:rPr>
              <a:t>他们</a:t>
            </a:r>
            <a:r>
              <a:rPr lang="zh-CN" altLang="zh-CN" sz="2800" dirty="0" smtClean="0">
                <a:latin typeface="宋体"/>
                <a:ea typeface="宋体"/>
                <a:cs typeface="宋体"/>
              </a:rPr>
              <a:t>的兴奋</a:t>
            </a:r>
            <a:r>
              <a:rPr lang="zh-CN" altLang="zh-CN" sz="2800" dirty="0">
                <a:latin typeface="宋体"/>
                <a:ea typeface="宋体"/>
                <a:cs typeface="宋体"/>
              </a:rPr>
              <a:t>。</a:t>
            </a:r>
          </a:p>
          <a:p>
            <a:r>
              <a:rPr lang="zh-CN" altLang="zh-CN" sz="2800" dirty="0">
                <a:latin typeface="黑体"/>
                <a:ea typeface="黑体"/>
                <a:cs typeface="黑体"/>
              </a:rPr>
              <a:t>冲动型</a:t>
            </a:r>
            <a:r>
              <a:rPr lang="zh-CN" altLang="zh-CN" sz="2800" dirty="0">
                <a:latin typeface="宋体"/>
                <a:ea typeface="宋体"/>
                <a:cs typeface="宋体"/>
              </a:rPr>
              <a:t>强奸犯主要是由于偶然的机会诱发的强奸行为。</a:t>
            </a:r>
          </a:p>
          <a:p>
            <a:endParaRPr kumimoji="1" lang="zh-CN" altLang="en-US" dirty="0"/>
          </a:p>
        </p:txBody>
      </p:sp>
    </p:spTree>
    <p:extLst>
      <p:ext uri="{BB962C8B-B14F-4D97-AF65-F5344CB8AC3E}">
        <p14:creationId xmlns:p14="http://schemas.microsoft.com/office/powerpoint/2010/main" val="357788728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t>性滥用</a:t>
            </a:r>
            <a:endParaRPr kumimoji="1" lang="zh-CN" altLang="en-US" sz="3600" dirty="0"/>
          </a:p>
        </p:txBody>
      </p:sp>
      <p:sp>
        <p:nvSpPr>
          <p:cNvPr id="3" name="内容占位符 2"/>
          <p:cNvSpPr>
            <a:spLocks noGrp="1"/>
          </p:cNvSpPr>
          <p:nvPr>
            <p:ph idx="1"/>
          </p:nvPr>
        </p:nvSpPr>
        <p:spPr>
          <a:xfrm>
            <a:off x="457200" y="1125538"/>
            <a:ext cx="8229600" cy="5327798"/>
          </a:xfrm>
        </p:spPr>
        <p:txBody>
          <a:bodyPr/>
          <a:lstStyle/>
          <a:p>
            <a:r>
              <a:rPr kumimoji="1" lang="zh-CN" altLang="en-US" sz="2800" dirty="0" smtClean="0">
                <a:latin typeface="宋体"/>
                <a:ea typeface="宋体"/>
                <a:cs typeface="宋体"/>
              </a:rPr>
              <a:t>乱伦：</a:t>
            </a:r>
            <a:r>
              <a:rPr lang="en-US" altLang="zh-CN" sz="2800" dirty="0" smtClean="0">
                <a:latin typeface="宋体"/>
                <a:ea typeface="宋体"/>
                <a:cs typeface="宋体"/>
              </a:rPr>
              <a:t>28</a:t>
            </a:r>
            <a:r>
              <a:rPr lang="zh-CN" altLang="zh-CN" sz="2800" dirty="0">
                <a:latin typeface="宋体"/>
                <a:ea typeface="宋体"/>
                <a:cs typeface="宋体"/>
              </a:rPr>
              <a:t>个</a:t>
            </a:r>
            <a:r>
              <a:rPr lang="zh-CN" altLang="zh-CN" sz="2800" dirty="0" smtClean="0">
                <a:latin typeface="宋体"/>
                <a:ea typeface="宋体"/>
                <a:cs typeface="宋体"/>
              </a:rPr>
              <a:t>国家的刑法都规定了乱伦</a:t>
            </a:r>
            <a:r>
              <a:rPr lang="zh-CN" altLang="zh-CN" sz="2800" dirty="0">
                <a:latin typeface="宋体"/>
                <a:ea typeface="宋体"/>
                <a:cs typeface="宋体"/>
              </a:rPr>
              <a:t>罪，涉及罪名</a:t>
            </a:r>
            <a:r>
              <a:rPr lang="en-US" altLang="zh-CN" sz="2800" dirty="0">
                <a:latin typeface="宋体"/>
                <a:ea typeface="宋体"/>
                <a:cs typeface="宋体"/>
              </a:rPr>
              <a:t>45</a:t>
            </a:r>
            <a:r>
              <a:rPr lang="zh-CN" altLang="zh-CN" sz="2800" dirty="0">
                <a:latin typeface="宋体"/>
                <a:ea typeface="宋体"/>
                <a:cs typeface="宋体"/>
              </a:rPr>
              <a:t>个。 </a:t>
            </a:r>
            <a:endParaRPr lang="en-US" altLang="zh-CN" sz="2800" dirty="0" smtClean="0">
              <a:latin typeface="宋体"/>
              <a:ea typeface="宋体"/>
              <a:cs typeface="宋体"/>
            </a:endParaRPr>
          </a:p>
          <a:p>
            <a:r>
              <a:rPr lang="zh-CN" altLang="zh-CN" sz="2800" dirty="0">
                <a:latin typeface="宋体"/>
                <a:ea typeface="宋体"/>
                <a:cs typeface="宋体"/>
              </a:rPr>
              <a:t>分为血亲间的乱伦与非血亲间</a:t>
            </a:r>
            <a:r>
              <a:rPr lang="zh-CN" altLang="zh-CN" sz="2800" dirty="0" smtClean="0">
                <a:latin typeface="宋体"/>
                <a:ea typeface="宋体"/>
                <a:cs typeface="宋体"/>
              </a:rPr>
              <a:t>的乱伦</a:t>
            </a:r>
            <a:endParaRPr lang="en-US" altLang="zh-CN" sz="2800" dirty="0" smtClean="0">
              <a:latin typeface="宋体"/>
              <a:ea typeface="宋体"/>
              <a:cs typeface="宋体"/>
            </a:endParaRPr>
          </a:p>
          <a:p>
            <a:r>
              <a:rPr lang="zh-CN" altLang="zh-CN" sz="2800" dirty="0" smtClean="0">
                <a:latin typeface="宋体"/>
                <a:ea typeface="宋体"/>
                <a:cs typeface="宋体"/>
              </a:rPr>
              <a:t>奥地利刑法</a:t>
            </a:r>
            <a:r>
              <a:rPr lang="zh-CN" altLang="en-US" sz="2800" dirty="0" smtClean="0">
                <a:latin typeface="宋体"/>
                <a:ea typeface="宋体"/>
                <a:cs typeface="宋体"/>
              </a:rPr>
              <a:t>：</a:t>
            </a:r>
            <a:r>
              <a:rPr lang="zh-CN" altLang="zh-CN" sz="2800" dirty="0" smtClean="0">
                <a:latin typeface="宋体"/>
                <a:ea typeface="宋体"/>
                <a:cs typeface="宋体"/>
              </a:rPr>
              <a:t>乱伦</a:t>
            </a:r>
            <a:r>
              <a:rPr lang="zh-CN" altLang="zh-CN" sz="2800" dirty="0">
                <a:latin typeface="宋体"/>
                <a:ea typeface="宋体"/>
                <a:cs typeface="宋体"/>
              </a:rPr>
              <a:t>罪是指与自己的直系亲属性交的，或者诱奸自己的卑亲属的，或者与自己的兄弟或姐妹性交的行为。 </a:t>
            </a:r>
            <a:endParaRPr lang="en-US" altLang="zh-CN" sz="2800" dirty="0" smtClean="0">
              <a:latin typeface="宋体"/>
              <a:ea typeface="宋体"/>
              <a:cs typeface="宋体"/>
            </a:endParaRPr>
          </a:p>
          <a:p>
            <a:r>
              <a:rPr lang="zh-CN" altLang="zh-CN" sz="2800" dirty="0">
                <a:latin typeface="宋体"/>
                <a:ea typeface="宋体"/>
                <a:cs typeface="宋体"/>
              </a:rPr>
              <a:t>在丹麦，关于乱伦的规定同样适用于两个性别相同者间之性关系和自然性交以外之其他性行为。 </a:t>
            </a:r>
            <a:endParaRPr lang="en-US" altLang="zh-CN" sz="2800" dirty="0" smtClean="0">
              <a:latin typeface="宋体"/>
              <a:ea typeface="宋体"/>
              <a:cs typeface="宋体"/>
            </a:endParaRPr>
          </a:p>
          <a:p>
            <a:r>
              <a:rPr lang="zh-CN" altLang="zh-CN" sz="2800" dirty="0" smtClean="0">
                <a:latin typeface="宋体"/>
                <a:ea typeface="宋体"/>
                <a:cs typeface="宋体"/>
              </a:rPr>
              <a:t>非自然性越轨</a:t>
            </a:r>
            <a:r>
              <a:rPr lang="zh-CN" altLang="zh-CN" sz="2800" dirty="0">
                <a:latin typeface="宋体"/>
                <a:ea typeface="宋体"/>
                <a:cs typeface="宋体"/>
              </a:rPr>
              <a:t>：</a:t>
            </a:r>
            <a:r>
              <a:rPr lang="zh-CN" altLang="zh-CN" sz="2800" dirty="0" smtClean="0">
                <a:latin typeface="宋体"/>
                <a:ea typeface="宋体"/>
                <a:cs typeface="宋体"/>
              </a:rPr>
              <a:t>“</a:t>
            </a:r>
            <a:r>
              <a:rPr lang="zh-CN" altLang="zh-CN" sz="2800" dirty="0">
                <a:latin typeface="宋体"/>
                <a:ea typeface="宋体"/>
                <a:cs typeface="宋体"/>
              </a:rPr>
              <a:t>肛交罪”、“兽交罪”、“兽奸罪”或“猥亵动物罪</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en-US" sz="2800" dirty="0" smtClean="0">
                <a:latin typeface="宋体"/>
                <a:ea typeface="宋体"/>
                <a:cs typeface="宋体"/>
              </a:rPr>
              <a:t>还有性剥削、对未成年人的性滥用、骗奸等等。</a:t>
            </a:r>
            <a:endParaRPr lang="en-US" altLang="zh-CN" sz="2800" dirty="0" smtClean="0">
              <a:latin typeface="宋体"/>
              <a:ea typeface="宋体"/>
              <a:cs typeface="宋体"/>
            </a:endParaRPr>
          </a:p>
          <a:p>
            <a:endParaRPr kumimoji="1" lang="zh-CN" altLang="en-US" dirty="0"/>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10</a:t>
            </a:fld>
            <a:endParaRPr lang="zh-CN" altLang="en-US"/>
          </a:p>
        </p:txBody>
      </p:sp>
    </p:spTree>
    <p:extLst>
      <p:ext uri="{BB962C8B-B14F-4D97-AF65-F5344CB8AC3E}">
        <p14:creationId xmlns:p14="http://schemas.microsoft.com/office/powerpoint/2010/main" val="279512304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260648"/>
            <a:ext cx="7170737" cy="492125"/>
          </a:xfrm>
        </p:spPr>
        <p:txBody>
          <a:bodyPr/>
          <a:lstStyle/>
          <a:p>
            <a:pPr algn="ctr"/>
            <a:r>
              <a:rPr kumimoji="1" lang="zh-CN" altLang="en-US" sz="4400" dirty="0" smtClean="0">
                <a:latin typeface="黑体"/>
                <a:ea typeface="黑体"/>
                <a:cs typeface="黑体"/>
              </a:rPr>
              <a:t>到底该怎样理解犯罪人？</a:t>
            </a:r>
            <a:endParaRPr kumimoji="1" lang="zh-CN" altLang="en-US" sz="4400" dirty="0">
              <a:latin typeface="黑体"/>
              <a:ea typeface="黑体"/>
              <a:cs typeface="黑体"/>
            </a:endParaRPr>
          </a:p>
        </p:txBody>
      </p:sp>
      <p:sp>
        <p:nvSpPr>
          <p:cNvPr id="3" name="内容占位符 2"/>
          <p:cNvSpPr>
            <a:spLocks noGrp="1"/>
          </p:cNvSpPr>
          <p:nvPr>
            <p:ph idx="1"/>
          </p:nvPr>
        </p:nvSpPr>
        <p:spPr>
          <a:xfrm>
            <a:off x="457200" y="1125538"/>
            <a:ext cx="8229600" cy="5327798"/>
          </a:xfrm>
        </p:spPr>
        <p:txBody>
          <a:bodyPr/>
          <a:lstStyle/>
          <a:p>
            <a:pPr marL="0" indent="0">
              <a:buNone/>
            </a:pPr>
            <a:r>
              <a:rPr lang="en-US" altLang="zh-CN" dirty="0" smtClean="0"/>
              <a:t>    </a:t>
            </a:r>
            <a:r>
              <a:rPr lang="zh-CN" altLang="zh-CN" dirty="0" smtClean="0">
                <a:latin typeface="楷体"/>
                <a:ea typeface="楷体"/>
                <a:cs typeface="楷体"/>
              </a:rPr>
              <a:t>美国电</a:t>
            </a:r>
            <a:r>
              <a:rPr lang="zh-CN" altLang="zh-CN" dirty="0">
                <a:latin typeface="楷体"/>
                <a:ea typeface="楷体"/>
                <a:cs typeface="楷体"/>
              </a:rPr>
              <a:t>影《火线重生》（</a:t>
            </a:r>
            <a:r>
              <a:rPr lang="en-US" altLang="zh-CN" dirty="0">
                <a:latin typeface="楷体"/>
                <a:ea typeface="楷体"/>
                <a:cs typeface="楷体"/>
              </a:rPr>
              <a:t>control</a:t>
            </a:r>
            <a:r>
              <a:rPr lang="zh-CN" altLang="zh-CN" dirty="0">
                <a:latin typeface="楷体"/>
                <a:ea typeface="楷体"/>
                <a:cs typeface="楷体"/>
              </a:rPr>
              <a:t>）中，因残暴地枪杀多人而被判死刑的利伟执行死刑后，被送到停尸房。发现自己没有死，并被告知，如果配合医药公司进行一项新药试验，就可以不死。否则，将就地执行死刑。该药物为精神类药物，作用是使被试产生道德感、良心感，减少其攻击性和暴力倾向。风险是严重的副作用，甚至死亡。</a:t>
            </a:r>
          </a:p>
          <a:p>
            <a:pPr marL="0" indent="0">
              <a:buNone/>
            </a:pPr>
            <a:r>
              <a:rPr lang="en-US" altLang="zh-CN" dirty="0" smtClean="0">
                <a:latin typeface="楷体"/>
                <a:ea typeface="楷体"/>
                <a:cs typeface="楷体"/>
              </a:rPr>
              <a:t>    </a:t>
            </a:r>
            <a:r>
              <a:rPr lang="zh-CN" altLang="zh-CN" dirty="0" smtClean="0">
                <a:latin typeface="楷体"/>
                <a:ea typeface="楷体"/>
                <a:cs typeface="楷体"/>
              </a:rPr>
              <a:t>试验</a:t>
            </a:r>
            <a:r>
              <a:rPr lang="zh-CN" altLang="zh-CN" dirty="0">
                <a:latin typeface="楷体"/>
                <a:ea typeface="楷体"/>
                <a:cs typeface="楷体"/>
              </a:rPr>
              <a:t>初期，利伟仍然极具攻击性，并且常被严重的失眠所困扰。梦中常想起一次抢劫毒贩时，误伤了一个无辜男子的可怕经历，强烈的自责和罪恶感是他失眠的主要原因。但主持试验的医生以为，他的药物开始生效。于是，利伟被有条件地放归社会。其间，他趁机去看望了被他误伤的人。结果，被误伤者的哥哥发现了他并没有被真正执行死刑，便绑架了利伟，还杀害了监视利伟的保安</a:t>
            </a:r>
            <a:r>
              <a:rPr lang="zh-CN" altLang="zh-CN" dirty="0" smtClean="0">
                <a:latin typeface="楷体"/>
                <a:ea typeface="楷体"/>
                <a:cs typeface="楷体"/>
              </a:rPr>
              <a:t>。</a:t>
            </a:r>
            <a:endParaRPr lang="zh-CN" altLang="zh-CN" dirty="0">
              <a:latin typeface="楷体"/>
              <a:ea typeface="楷体"/>
              <a:cs typeface="楷体"/>
            </a:endParaRPr>
          </a:p>
        </p:txBody>
      </p:sp>
    </p:spTree>
    <p:extLst>
      <p:ext uri="{BB962C8B-B14F-4D97-AF65-F5344CB8AC3E}">
        <p14:creationId xmlns:p14="http://schemas.microsoft.com/office/powerpoint/2010/main" val="2770318585"/>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a:xfrm>
            <a:off x="457200" y="404664"/>
            <a:ext cx="8229600" cy="6120680"/>
          </a:xfrm>
        </p:spPr>
        <p:txBody>
          <a:bodyPr/>
          <a:lstStyle/>
          <a:p>
            <a:pPr marL="0" indent="0">
              <a:buNone/>
            </a:pPr>
            <a:r>
              <a:rPr lang="en-US" altLang="zh-CN" dirty="0" smtClean="0">
                <a:latin typeface="楷体"/>
                <a:ea typeface="楷体"/>
                <a:cs typeface="楷体"/>
              </a:rPr>
              <a:t>    </a:t>
            </a:r>
            <a:r>
              <a:rPr lang="zh-CN" altLang="zh-CN" sz="2800" dirty="0" smtClean="0">
                <a:latin typeface="楷体"/>
                <a:ea typeface="楷体"/>
                <a:cs typeface="楷体"/>
              </a:rPr>
              <a:t>医生和医药</a:t>
            </a:r>
            <a:r>
              <a:rPr lang="zh-CN" altLang="zh-CN" sz="2800" dirty="0">
                <a:latin typeface="楷体"/>
                <a:ea typeface="楷体"/>
                <a:cs typeface="楷体"/>
              </a:rPr>
              <a:t>公司的人认为利伟不可救药。但在追逃过程中，医生接到利伟的电话，恳求再给他一些试验药物，于是意识到应该继续药物治疗。在设法保护利伟时被公司老板告知，利伟其实一直是对照组被试，从未服用试验药物。而真正的试验组被试多数已经死亡，同时要求医生交出利伟。这一刻，医生决定帮助利伟逃离。路上，利伟知道真相以后向医生表示，是医生改变了自己。最终，在没有任何暴力反抗的情况下，利伟被前来追赶的人当场击毙。医生辞去了在医药公司的工作，开始从事社区学校的工作。 </a:t>
            </a:r>
            <a:endParaRPr kumimoji="1" lang="en-US" altLang="zh-CN" dirty="0" smtClean="0">
              <a:latin typeface="楷体"/>
              <a:ea typeface="楷体"/>
              <a:cs typeface="楷体"/>
            </a:endParaRPr>
          </a:p>
          <a:p>
            <a:pPr marL="0" indent="0">
              <a:buNone/>
            </a:pPr>
            <a:r>
              <a:rPr kumimoji="1" lang="zh-CN" altLang="en-US" sz="3200" b="1" dirty="0" smtClean="0">
                <a:latin typeface="宋体"/>
                <a:ea typeface="宋体"/>
                <a:cs typeface="宋体"/>
              </a:rPr>
              <a:t>思考：</a:t>
            </a:r>
            <a:r>
              <a:rPr kumimoji="1" lang="zh-CN" altLang="zh-CN" sz="2800" b="1" dirty="0">
                <a:latin typeface="宋体"/>
                <a:ea typeface="宋体"/>
                <a:cs typeface="宋体"/>
              </a:rPr>
              <a:t>罪人和恶人是不是一回事？罪人，或者恶人，到底是不是与其他普通人完全不同的人？ </a:t>
            </a:r>
            <a:endParaRPr kumimoji="1" lang="en-US" altLang="zh-CN" sz="2800" b="1" dirty="0">
              <a:latin typeface="宋体"/>
              <a:ea typeface="宋体"/>
              <a:cs typeface="宋体"/>
            </a:endParaRPr>
          </a:p>
        </p:txBody>
      </p:sp>
    </p:spTree>
    <p:extLst>
      <p:ext uri="{BB962C8B-B14F-4D97-AF65-F5344CB8AC3E}">
        <p14:creationId xmlns:p14="http://schemas.microsoft.com/office/powerpoint/2010/main" val="334784076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sz="3200" dirty="0" smtClean="0">
                <a:latin typeface="黑体"/>
                <a:ea typeface="黑体"/>
                <a:cs typeface="黑体"/>
              </a:rPr>
              <a:t>龙布罗梭</a:t>
            </a:r>
            <a:r>
              <a:rPr lang="zh-CN" altLang="en-US" sz="3200" dirty="0" smtClean="0">
                <a:latin typeface="黑体"/>
                <a:ea typeface="黑体"/>
                <a:cs typeface="黑体"/>
              </a:rPr>
              <a:t>的观察与回答</a:t>
            </a:r>
            <a:endParaRPr kumimoji="1" lang="zh-CN" altLang="en-US" sz="3200" dirty="0">
              <a:latin typeface="黑体"/>
              <a:ea typeface="黑体"/>
              <a:cs typeface="黑体"/>
            </a:endParaRPr>
          </a:p>
        </p:txBody>
      </p:sp>
      <p:sp>
        <p:nvSpPr>
          <p:cNvPr id="3" name="内容占位符 2"/>
          <p:cNvSpPr>
            <a:spLocks noGrp="1"/>
          </p:cNvSpPr>
          <p:nvPr>
            <p:ph idx="1"/>
          </p:nvPr>
        </p:nvSpPr>
        <p:spPr>
          <a:xfrm>
            <a:off x="395536" y="836712"/>
            <a:ext cx="8229600" cy="5760640"/>
          </a:xfrm>
        </p:spPr>
        <p:txBody>
          <a:bodyPr/>
          <a:lstStyle/>
          <a:p>
            <a:r>
              <a:rPr lang="zh-CN" altLang="zh-CN" dirty="0" smtClean="0">
                <a:latin typeface="宋体"/>
                <a:ea typeface="宋体"/>
                <a:cs typeface="宋体"/>
              </a:rPr>
              <a:t>一名盗窃犯已经被判过</a:t>
            </a:r>
            <a:r>
              <a:rPr lang="en-US" altLang="zh-CN" dirty="0">
                <a:latin typeface="宋体"/>
                <a:ea typeface="宋体"/>
                <a:cs typeface="宋体"/>
              </a:rPr>
              <a:t>13</a:t>
            </a:r>
            <a:r>
              <a:rPr lang="zh-CN" altLang="zh-CN" dirty="0">
                <a:latin typeface="宋体"/>
                <a:ea typeface="宋体"/>
                <a:cs typeface="宋体"/>
              </a:rPr>
              <a:t>次刑，他借口右腿疼痛而拒绝参加劳动。后来护士发现他真的有病，但不是右腿而是左</a:t>
            </a:r>
            <a:r>
              <a:rPr lang="zh-CN" altLang="zh-CN" dirty="0" smtClean="0">
                <a:latin typeface="宋体"/>
                <a:ea typeface="宋体"/>
                <a:cs typeface="宋体"/>
              </a:rPr>
              <a:t>腿。</a:t>
            </a:r>
            <a:endParaRPr lang="zh-CN" altLang="zh-CN" dirty="0">
              <a:latin typeface="宋体"/>
              <a:ea typeface="宋体"/>
              <a:cs typeface="宋体"/>
            </a:endParaRPr>
          </a:p>
          <a:p>
            <a:r>
              <a:rPr lang="zh-CN" altLang="zh-CN" dirty="0" smtClean="0">
                <a:latin typeface="宋体"/>
                <a:ea typeface="宋体"/>
                <a:cs typeface="宋体"/>
              </a:rPr>
              <a:t>一个谋杀犯为了逃避监狱</a:t>
            </a:r>
            <a:r>
              <a:rPr lang="zh-CN" altLang="zh-CN" dirty="0">
                <a:latin typeface="宋体"/>
                <a:ea typeface="宋体"/>
                <a:cs typeface="宋体"/>
              </a:rPr>
              <a:t>的某个决定，有意把腿搞伤，伤口愈合后，他又用头发穿进膝盖，拉出关节，而后死去。</a:t>
            </a:r>
          </a:p>
          <a:p>
            <a:r>
              <a:rPr lang="zh-CN" altLang="zh-CN" dirty="0" smtClean="0">
                <a:latin typeface="宋体"/>
                <a:ea typeface="宋体"/>
                <a:cs typeface="宋体"/>
              </a:rPr>
              <a:t>为了掩盖</a:t>
            </a:r>
            <a:r>
              <a:rPr lang="zh-CN" altLang="zh-CN" dirty="0">
                <a:latin typeface="宋体"/>
                <a:ea typeface="宋体"/>
                <a:cs typeface="宋体"/>
              </a:rPr>
              <a:t>自己的某个特征，某罪犯用火药炸掉了自己的</a:t>
            </a:r>
            <a:r>
              <a:rPr lang="en-US" altLang="zh-CN" dirty="0">
                <a:latin typeface="宋体"/>
                <a:ea typeface="宋体"/>
                <a:cs typeface="宋体"/>
              </a:rPr>
              <a:t>3</a:t>
            </a:r>
            <a:r>
              <a:rPr lang="zh-CN" altLang="zh-CN" dirty="0">
                <a:latin typeface="宋体"/>
                <a:ea typeface="宋体"/>
                <a:cs typeface="宋体"/>
              </a:rPr>
              <a:t>颗牙。</a:t>
            </a:r>
          </a:p>
          <a:p>
            <a:r>
              <a:rPr lang="zh-CN" altLang="zh-CN" dirty="0">
                <a:latin typeface="宋体"/>
                <a:ea typeface="宋体"/>
                <a:cs typeface="宋体"/>
              </a:rPr>
              <a:t>为了掩盖自己的某个特征，某罪犯用玻璃划破了自己的脸。</a:t>
            </a:r>
          </a:p>
          <a:p>
            <a:r>
              <a:rPr lang="zh-CN" altLang="zh-CN" dirty="0">
                <a:latin typeface="宋体"/>
                <a:ea typeface="宋体"/>
                <a:cs typeface="宋体"/>
              </a:rPr>
              <a:t>一罪犯在袭击一辆马车时被砍了一刀，前臂被砍断，他从容地用另一只手臂将其捡起，带回家中，藏在床底下，直到后来因出血过多而死去</a:t>
            </a:r>
            <a:r>
              <a:rPr lang="zh-CN" altLang="zh-CN" dirty="0" smtClean="0">
                <a:latin typeface="宋体"/>
                <a:ea typeface="宋体"/>
                <a:cs typeface="宋体"/>
              </a:rPr>
              <a:t>。</a:t>
            </a:r>
            <a:endParaRPr lang="en-US" altLang="zh-CN" dirty="0" smtClean="0">
              <a:latin typeface="宋体"/>
              <a:ea typeface="宋体"/>
              <a:cs typeface="宋体"/>
            </a:endParaRPr>
          </a:p>
          <a:p>
            <a:r>
              <a:rPr lang="zh-CN" altLang="zh-CN" dirty="0">
                <a:latin typeface="宋体"/>
                <a:ea typeface="宋体"/>
                <a:cs typeface="宋体"/>
              </a:rPr>
              <a:t>一个</a:t>
            </a:r>
            <a:r>
              <a:rPr lang="en-US" altLang="zh-CN" dirty="0">
                <a:latin typeface="宋体"/>
                <a:ea typeface="宋体"/>
                <a:cs typeface="宋体"/>
              </a:rPr>
              <a:t>21</a:t>
            </a:r>
            <a:r>
              <a:rPr lang="zh-CN" altLang="zh-CN" dirty="0">
                <a:latin typeface="宋体"/>
                <a:ea typeface="宋体"/>
                <a:cs typeface="宋体"/>
              </a:rPr>
              <a:t>岁的罪犯冷酷地在母亲身上扎了</a:t>
            </a:r>
            <a:r>
              <a:rPr lang="en-US" altLang="zh-CN" dirty="0">
                <a:latin typeface="宋体"/>
                <a:ea typeface="宋体"/>
                <a:cs typeface="宋体"/>
              </a:rPr>
              <a:t>50</a:t>
            </a:r>
            <a:r>
              <a:rPr lang="zh-CN" altLang="zh-CN" dirty="0">
                <a:latin typeface="宋体"/>
                <a:ea typeface="宋体"/>
                <a:cs typeface="宋体"/>
              </a:rPr>
              <a:t>刀，当他感到累了时，就躺在尸体旁边的床上，平静地睡着了。 </a:t>
            </a:r>
          </a:p>
          <a:p>
            <a:r>
              <a:rPr lang="zh-CN" altLang="zh-CN" dirty="0" smtClean="0">
                <a:latin typeface="宋体"/>
                <a:ea typeface="宋体"/>
                <a:cs typeface="宋体"/>
              </a:rPr>
              <a:t>三个罪犯沿着阴茎刺绘</a:t>
            </a:r>
            <a:r>
              <a:rPr lang="zh-CN" altLang="zh-CN" dirty="0">
                <a:latin typeface="宋体"/>
                <a:ea typeface="宋体"/>
                <a:cs typeface="宋体"/>
              </a:rPr>
              <a:t>了裸体女人</a:t>
            </a:r>
            <a:r>
              <a:rPr lang="zh-CN" altLang="zh-CN" dirty="0" smtClean="0">
                <a:latin typeface="宋体"/>
                <a:ea typeface="宋体"/>
                <a:cs typeface="宋体"/>
              </a:rPr>
              <a:t>。</a:t>
            </a:r>
            <a:endParaRPr lang="en-US" altLang="zh-CN" dirty="0" smtClean="0">
              <a:latin typeface="宋体"/>
              <a:ea typeface="宋体"/>
              <a:cs typeface="宋体"/>
            </a:endParaRPr>
          </a:p>
          <a:p>
            <a:r>
              <a:rPr lang="en-US" altLang="zh-CN" dirty="0" smtClean="0">
                <a:latin typeface="宋体"/>
                <a:ea typeface="宋体"/>
                <a:cs typeface="宋体"/>
              </a:rPr>
              <a:t>……</a:t>
            </a:r>
            <a:endParaRPr lang="zh-CN" altLang="zh-CN" dirty="0">
              <a:latin typeface="宋体"/>
              <a:ea typeface="宋体"/>
              <a:cs typeface="宋体"/>
            </a:endParaRPr>
          </a:p>
          <a:p>
            <a:endParaRPr kumimoji="1" lang="zh-CN" altLang="en-US" dirty="0"/>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13</a:t>
            </a:fld>
            <a:endParaRPr lang="zh-CN" altLang="en-US"/>
          </a:p>
        </p:txBody>
      </p:sp>
    </p:spTree>
    <p:extLst>
      <p:ext uri="{BB962C8B-B14F-4D97-AF65-F5344CB8AC3E}">
        <p14:creationId xmlns:p14="http://schemas.microsoft.com/office/powerpoint/2010/main" val="181854353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如果犯罪人是天生异类，那么</a:t>
            </a:r>
            <a:r>
              <a:rPr kumimoji="1" lang="en-US" altLang="zh-CN" sz="3200" dirty="0" smtClean="0">
                <a:latin typeface="黑体"/>
                <a:ea typeface="黑体"/>
                <a:cs typeface="黑体"/>
              </a:rPr>
              <a:t>——</a:t>
            </a:r>
            <a:endParaRPr kumimoji="1" lang="zh-CN" altLang="en-US" sz="3200" dirty="0">
              <a:latin typeface="黑体"/>
              <a:ea typeface="黑体"/>
              <a:cs typeface="黑体"/>
            </a:endParaRPr>
          </a:p>
        </p:txBody>
      </p:sp>
      <p:sp>
        <p:nvSpPr>
          <p:cNvPr id="3" name="内容占位符 2"/>
          <p:cNvSpPr>
            <a:spLocks noGrp="1"/>
          </p:cNvSpPr>
          <p:nvPr>
            <p:ph idx="1"/>
          </p:nvPr>
        </p:nvSpPr>
        <p:spPr>
          <a:xfrm>
            <a:off x="457200" y="1125538"/>
            <a:ext cx="8229600" cy="5327798"/>
          </a:xfrm>
        </p:spPr>
        <p:txBody>
          <a:bodyPr/>
          <a:lstStyle/>
          <a:p>
            <a:r>
              <a:rPr lang="zh-CN" altLang="zh-CN" dirty="0">
                <a:latin typeface="宋体"/>
                <a:ea typeface="宋体"/>
                <a:cs typeface="宋体"/>
              </a:rPr>
              <a:t>意大利小说家卡尔维诺有一篇经典的小说叫《黑羊》，大意是说：从前有个国家，里面人人是贼。 一到傍晚，他们出门，走到邻居家里行窃。破晓时分，他们提着偷来的东西回到家里，总能发现自己家也失窃了。 </a:t>
            </a:r>
          </a:p>
          <a:p>
            <a:r>
              <a:rPr lang="zh-CN" altLang="zh-CN" dirty="0">
                <a:latin typeface="宋体"/>
                <a:ea typeface="宋体"/>
                <a:cs typeface="宋体"/>
              </a:rPr>
              <a:t>他们就这样幸福地居住在一起。没有不幸的人，因为每个人都从别人家里偷东西，别人又再从别人家里偷，依次下去，直到最后一个人去第一个窃贼家行窃。</a:t>
            </a:r>
          </a:p>
          <a:p>
            <a:r>
              <a:rPr lang="zh-CN" altLang="zh-CN" dirty="0">
                <a:latin typeface="宋体"/>
                <a:ea typeface="宋体"/>
                <a:cs typeface="宋体"/>
              </a:rPr>
              <a:t>有一天，一个“诚实的人”来此定居，他没有出去偷窃，但他的行为每天都使一家人偷不到次日的口粮，而另一家则莫名地多了一分财产。于是他被勒令每晚同样要离家出门，但由于此人不去偷盗，他的家很快就空了，依然每天都有人偷不到，有另一人变富……这只“黑羊”不可逆地打破了这个国家原有的平衡，当然他最后因为“诚实”而饿死了。 </a:t>
            </a:r>
            <a:endParaRPr kumimoji="1" lang="zh-CN" altLang="en-US"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14</a:t>
            </a:fld>
            <a:endParaRPr lang="zh-CN" altLang="en-US"/>
          </a:p>
        </p:txBody>
      </p:sp>
    </p:spTree>
    <p:extLst>
      <p:ext uri="{BB962C8B-B14F-4D97-AF65-F5344CB8AC3E}">
        <p14:creationId xmlns:p14="http://schemas.microsoft.com/office/powerpoint/2010/main" val="13768757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438" y="211138"/>
            <a:ext cx="8533010" cy="1057622"/>
          </a:xfrm>
        </p:spPr>
        <p:txBody>
          <a:bodyPr/>
          <a:lstStyle/>
          <a:p>
            <a:r>
              <a:rPr kumimoji="1" lang="en-US" altLang="zh-CN" sz="3200" dirty="0" smtClean="0"/>
              <a:t>     </a:t>
            </a:r>
            <a:r>
              <a:rPr kumimoji="1" lang="zh-CN" altLang="en-US" sz="3200" dirty="0" smtClean="0">
                <a:latin typeface="黑体"/>
                <a:ea typeface="黑体"/>
                <a:cs typeface="黑体"/>
              </a:rPr>
              <a:t>既然犯罪人不一定是异类，就要看行为本身是否恶性十足了？</a:t>
            </a:r>
            <a:endParaRPr kumimoji="1" lang="zh-CN" altLang="en-US" sz="3200" dirty="0">
              <a:latin typeface="黑体"/>
              <a:ea typeface="黑体"/>
              <a:cs typeface="黑体"/>
            </a:endParaRPr>
          </a:p>
        </p:txBody>
      </p:sp>
      <p:sp>
        <p:nvSpPr>
          <p:cNvPr id="3" name="内容占位符 2"/>
          <p:cNvSpPr>
            <a:spLocks noGrp="1"/>
          </p:cNvSpPr>
          <p:nvPr>
            <p:ph idx="1"/>
          </p:nvPr>
        </p:nvSpPr>
        <p:spPr>
          <a:xfrm>
            <a:off x="457200" y="1412776"/>
            <a:ext cx="8229600" cy="4713387"/>
          </a:xfrm>
        </p:spPr>
        <p:txBody>
          <a:bodyPr/>
          <a:lstStyle/>
          <a:p>
            <a:r>
              <a:rPr lang="zh-CN" altLang="zh-CN" sz="2800" dirty="0">
                <a:latin typeface="楷体"/>
                <a:ea typeface="楷体"/>
                <a:cs typeface="楷体"/>
              </a:rPr>
              <a:t>日本电影《梄山节考》说了这么一个故事：在日本一个贫困山村，人们为节制人口形成了送老人上山等死的传统：所有活到</a:t>
            </a:r>
            <a:r>
              <a:rPr lang="en-US" altLang="zh-CN" sz="2800" dirty="0">
                <a:latin typeface="楷体"/>
                <a:ea typeface="楷体"/>
                <a:cs typeface="楷体"/>
              </a:rPr>
              <a:t>70</a:t>
            </a:r>
            <a:r>
              <a:rPr lang="zh-CN" altLang="zh-CN" sz="2800" dirty="0">
                <a:latin typeface="楷体"/>
                <a:ea typeface="楷体"/>
                <a:cs typeface="楷体"/>
              </a:rPr>
              <a:t>岁的老人，都要被家人丢弃到楢山上。男主角不忍遗弃奶奶而杀死父亲，三十年后却不得不将老母送上山等死。拂晓，男主角背着妈妈攀上了楢山的山路。山上白骨成堆，到了山顶，辰平依依不舍地告别妈妈。返回途中，天上飘下大片大片的雪花儿，男主角认为这是吉兆，老母却独自在楢山大雪中平静地等待着死亡。</a:t>
            </a:r>
          </a:p>
          <a:p>
            <a:endParaRPr kumimoji="1" lang="zh-CN" altLang="en-US" dirty="0"/>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15</a:t>
            </a:fld>
            <a:endParaRPr lang="zh-CN" altLang="en-US"/>
          </a:p>
        </p:txBody>
      </p:sp>
    </p:spTree>
    <p:extLst>
      <p:ext uri="{BB962C8B-B14F-4D97-AF65-F5344CB8AC3E}">
        <p14:creationId xmlns:p14="http://schemas.microsoft.com/office/powerpoint/2010/main" val="86510893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dirty="0" smtClean="0">
                <a:latin typeface="黑体"/>
                <a:ea typeface="黑体"/>
                <a:cs typeface="黑体"/>
              </a:rPr>
              <a:t>可见：</a:t>
            </a:r>
            <a:endParaRPr kumimoji="1" lang="zh-CN" altLang="en-US" dirty="0">
              <a:latin typeface="黑体"/>
              <a:ea typeface="黑体"/>
              <a:cs typeface="黑体"/>
            </a:endParaRPr>
          </a:p>
        </p:txBody>
      </p:sp>
      <p:sp>
        <p:nvSpPr>
          <p:cNvPr id="3" name="内容占位符 2"/>
          <p:cNvSpPr>
            <a:spLocks noGrp="1"/>
          </p:cNvSpPr>
          <p:nvPr>
            <p:ph idx="1"/>
          </p:nvPr>
        </p:nvSpPr>
        <p:spPr>
          <a:xfrm>
            <a:off x="457200" y="836712"/>
            <a:ext cx="8229600" cy="5544616"/>
          </a:xfrm>
        </p:spPr>
        <p:txBody>
          <a:bodyPr/>
          <a:lstStyle/>
          <a:p>
            <a:r>
              <a:rPr lang="zh-CN" altLang="zh-CN" b="1" dirty="0" smtClean="0">
                <a:latin typeface="楷体"/>
                <a:ea typeface="楷体"/>
                <a:cs typeface="楷体"/>
              </a:rPr>
              <a:t>是否</a:t>
            </a:r>
            <a:r>
              <a:rPr lang="zh-CN" altLang="zh-CN" b="1" dirty="0">
                <a:latin typeface="楷体"/>
                <a:ea typeface="楷体"/>
                <a:cs typeface="楷体"/>
              </a:rPr>
              <a:t>犯罪</a:t>
            </a:r>
            <a:r>
              <a:rPr lang="zh-CN" altLang="zh-CN" b="1" dirty="0" smtClean="0">
                <a:latin typeface="楷体"/>
                <a:ea typeface="楷体"/>
                <a:cs typeface="楷体"/>
              </a:rPr>
              <a:t>，不在于人数</a:t>
            </a:r>
            <a:r>
              <a:rPr lang="zh-CN" altLang="zh-CN" b="1" dirty="0">
                <a:latin typeface="楷体"/>
                <a:ea typeface="楷体"/>
                <a:cs typeface="楷体"/>
              </a:rPr>
              <a:t>多少，</a:t>
            </a:r>
            <a:r>
              <a:rPr lang="zh-CN" altLang="zh-CN" b="1" dirty="0" smtClean="0">
                <a:latin typeface="楷体"/>
                <a:ea typeface="楷体"/>
                <a:cs typeface="楷体"/>
              </a:rPr>
              <a:t>是否异类，而在于根据谁</a:t>
            </a:r>
            <a:r>
              <a:rPr lang="zh-CN" altLang="zh-CN" b="1" dirty="0">
                <a:latin typeface="楷体"/>
                <a:ea typeface="楷体"/>
                <a:cs typeface="楷体"/>
              </a:rPr>
              <a:t>的价值标准，对何种行为赋予犯罪的意义和属性。 </a:t>
            </a:r>
            <a:endParaRPr lang="en-US" altLang="zh-CN" b="1" dirty="0" smtClean="0">
              <a:latin typeface="楷体"/>
              <a:ea typeface="楷体"/>
              <a:cs typeface="楷体"/>
            </a:endParaRPr>
          </a:p>
          <a:p>
            <a:r>
              <a:rPr lang="zh-CN" altLang="zh-CN" b="1" dirty="0">
                <a:latin typeface="楷体"/>
                <a:ea typeface="楷体"/>
                <a:cs typeface="楷体"/>
              </a:rPr>
              <a:t>犯罪就是被定义为犯罪的行为，罪人就是一定犯罪定义所不容的人</a:t>
            </a:r>
            <a:r>
              <a:rPr lang="zh-CN" altLang="zh-CN" b="1" dirty="0" smtClean="0">
                <a:latin typeface="楷体"/>
                <a:ea typeface="楷体"/>
                <a:cs typeface="楷体"/>
              </a:rPr>
              <a:t>。</a:t>
            </a:r>
            <a:endParaRPr lang="en-US" altLang="zh-CN" b="1" dirty="0" smtClean="0">
              <a:latin typeface="楷体"/>
              <a:ea typeface="楷体"/>
              <a:cs typeface="楷体"/>
            </a:endParaRPr>
          </a:p>
          <a:p>
            <a:r>
              <a:rPr lang="zh-CN" altLang="zh-CN" b="1" dirty="0" smtClean="0">
                <a:latin typeface="楷体"/>
                <a:ea typeface="楷体"/>
                <a:cs typeface="楷体"/>
              </a:rPr>
              <a:t>重要的</a:t>
            </a:r>
            <a:r>
              <a:rPr lang="zh-CN" altLang="zh-CN" b="1" dirty="0">
                <a:latin typeface="楷体"/>
                <a:ea typeface="楷体"/>
                <a:cs typeface="楷体"/>
              </a:rPr>
              <a:t>不是</a:t>
            </a:r>
            <a:r>
              <a:rPr lang="zh-CN" altLang="zh-CN" b="1" dirty="0" smtClean="0">
                <a:latin typeface="楷体"/>
                <a:ea typeface="楷体"/>
                <a:cs typeface="楷体"/>
              </a:rPr>
              <a:t>研究</a:t>
            </a:r>
            <a:r>
              <a:rPr lang="zh-CN" altLang="en-US" b="1" dirty="0" smtClean="0">
                <a:latin typeface="楷体"/>
                <a:ea typeface="楷体"/>
                <a:cs typeface="楷体"/>
              </a:rPr>
              <a:t>罪行或罪人的</a:t>
            </a:r>
            <a:r>
              <a:rPr lang="zh-CN" altLang="zh-CN" b="1" dirty="0" smtClean="0">
                <a:latin typeface="楷体"/>
                <a:ea typeface="楷体"/>
                <a:cs typeface="楷体"/>
              </a:rPr>
              <a:t>特点</a:t>
            </a:r>
            <a:r>
              <a:rPr lang="zh-CN" altLang="en-US" b="1" dirty="0" smtClean="0">
                <a:latin typeface="楷体"/>
                <a:ea typeface="楷体"/>
                <a:cs typeface="楷体"/>
              </a:rPr>
              <a:t>，而</a:t>
            </a:r>
            <a:r>
              <a:rPr lang="zh-CN" altLang="zh-CN" b="1" dirty="0" smtClean="0">
                <a:latin typeface="楷体"/>
                <a:ea typeface="楷体"/>
                <a:cs typeface="楷体"/>
              </a:rPr>
              <a:t>是研究为什么把某种行为定义为</a:t>
            </a:r>
            <a:r>
              <a:rPr lang="zh-CN" altLang="zh-CN" b="1" dirty="0">
                <a:latin typeface="楷体"/>
                <a:ea typeface="楷体"/>
                <a:cs typeface="楷体"/>
              </a:rPr>
              <a:t>犯罪，为什么某些人会被主流犯罪定义者视为局外人。 </a:t>
            </a:r>
            <a:endParaRPr lang="en-US" altLang="zh-CN" b="1" dirty="0" smtClean="0">
              <a:latin typeface="楷体"/>
              <a:ea typeface="楷体"/>
              <a:cs typeface="楷体"/>
            </a:endParaRPr>
          </a:p>
          <a:p>
            <a:r>
              <a:rPr lang="zh-CN" altLang="en-US" b="1" dirty="0" smtClean="0">
                <a:latin typeface="楷体"/>
                <a:ea typeface="楷体"/>
                <a:cs typeface="楷体"/>
              </a:rPr>
              <a:t>所以，</a:t>
            </a:r>
            <a:r>
              <a:rPr lang="zh-CN" altLang="zh-CN" b="1" dirty="0" smtClean="0">
                <a:latin typeface="楷体"/>
                <a:ea typeface="楷体"/>
                <a:cs typeface="楷体"/>
              </a:rPr>
              <a:t>“</a:t>
            </a:r>
            <a:r>
              <a:rPr lang="zh-CN" altLang="zh-CN" b="1" dirty="0">
                <a:latin typeface="楷体"/>
                <a:ea typeface="楷体"/>
                <a:cs typeface="楷体"/>
              </a:rPr>
              <a:t>罪”和“恶”不是在任何时候都可以自由兑换的。</a:t>
            </a:r>
          </a:p>
          <a:p>
            <a:r>
              <a:rPr lang="zh-CN" altLang="en-US" b="1" dirty="0" smtClean="0">
                <a:latin typeface="楷体"/>
                <a:ea typeface="楷体"/>
                <a:cs typeface="楷体"/>
              </a:rPr>
              <a:t>于是可以回答</a:t>
            </a:r>
            <a:r>
              <a:rPr lang="zh-CN" altLang="zh-CN" b="1" dirty="0" smtClean="0">
                <a:latin typeface="楷体"/>
                <a:ea typeface="楷体"/>
                <a:cs typeface="楷体"/>
              </a:rPr>
              <a:t>：</a:t>
            </a:r>
            <a:endParaRPr lang="zh-CN" altLang="zh-CN" b="1" dirty="0">
              <a:latin typeface="楷体"/>
              <a:ea typeface="楷体"/>
              <a:cs typeface="楷体"/>
            </a:endParaRPr>
          </a:p>
          <a:p>
            <a:r>
              <a:rPr lang="zh-CN" altLang="zh-CN" b="1" dirty="0">
                <a:latin typeface="楷体"/>
                <a:ea typeface="楷体"/>
                <a:cs typeface="楷体"/>
              </a:rPr>
              <a:t>为什么</a:t>
            </a:r>
            <a:r>
              <a:rPr lang="zh-CN" altLang="zh-CN" b="1" dirty="0" smtClean="0">
                <a:latin typeface="楷体"/>
                <a:ea typeface="楷体"/>
                <a:cs typeface="楷体"/>
              </a:rPr>
              <a:t>法西斯在一定时</a:t>
            </a:r>
            <a:r>
              <a:rPr lang="zh-CN" altLang="zh-CN" b="1" dirty="0">
                <a:latin typeface="楷体"/>
                <a:ea typeface="楷体"/>
                <a:cs typeface="楷体"/>
              </a:rPr>
              <a:t>空条件下可以让整个国家陷入疯狂？</a:t>
            </a:r>
          </a:p>
          <a:p>
            <a:r>
              <a:rPr lang="zh-CN" altLang="zh-CN" b="1" dirty="0" smtClean="0">
                <a:latin typeface="楷体"/>
                <a:ea typeface="楷体"/>
                <a:cs typeface="楷体"/>
              </a:rPr>
              <a:t>为什么贪腐亚文化会让拒绝贪腐</a:t>
            </a:r>
            <a:r>
              <a:rPr lang="zh-CN" altLang="zh-CN" b="1" dirty="0">
                <a:latin typeface="楷体"/>
                <a:ea typeface="楷体"/>
                <a:cs typeface="楷体"/>
              </a:rPr>
              <a:t>的人反倒被视为异类？</a:t>
            </a:r>
          </a:p>
          <a:p>
            <a:r>
              <a:rPr lang="zh-CN" altLang="zh-CN" b="1" dirty="0">
                <a:latin typeface="楷体"/>
                <a:ea typeface="楷体"/>
                <a:cs typeface="楷体"/>
              </a:rPr>
              <a:t>为什么面对欺诈、滥权，沉默的大多数不仅因为懦弱更是因为麻木而集体失声？</a:t>
            </a:r>
          </a:p>
          <a:p>
            <a:endParaRPr kumimoji="1" lang="zh-CN" altLang="en-US" dirty="0"/>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16</a:t>
            </a:fld>
            <a:endParaRPr lang="zh-CN" altLang="en-US"/>
          </a:p>
        </p:txBody>
      </p:sp>
    </p:spTree>
    <p:extLst>
      <p:ext uri="{BB962C8B-B14F-4D97-AF65-F5344CB8AC3E}">
        <p14:creationId xmlns:p14="http://schemas.microsoft.com/office/powerpoint/2010/main" val="146491382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260648"/>
            <a:ext cx="7170737" cy="492125"/>
          </a:xfrm>
        </p:spPr>
        <p:txBody>
          <a:bodyPr/>
          <a:lstStyle/>
          <a:p>
            <a:pPr algn="ctr"/>
            <a:r>
              <a:rPr lang="zh-CN" altLang="en-US" sz="4400" b="1" dirty="0" smtClean="0">
                <a:latin typeface="黑体"/>
                <a:ea typeface="黑体"/>
                <a:cs typeface="黑体"/>
              </a:rPr>
              <a:t>第五讲</a:t>
            </a:r>
            <a:r>
              <a:rPr lang="en-US" altLang="zh-CN" sz="4400" b="1" dirty="0" smtClean="0">
                <a:latin typeface="黑体"/>
                <a:ea typeface="黑体"/>
                <a:cs typeface="黑体"/>
              </a:rPr>
              <a:t>  </a:t>
            </a:r>
            <a:r>
              <a:rPr lang="zh-CN" altLang="zh-CN" sz="4400" b="1" dirty="0" smtClean="0">
                <a:latin typeface="黑体"/>
                <a:ea typeface="黑体"/>
                <a:cs typeface="黑体"/>
              </a:rPr>
              <a:t>犯罪</a:t>
            </a:r>
            <a:r>
              <a:rPr lang="zh-CN" altLang="en-US" sz="4400" b="1" dirty="0" smtClean="0">
                <a:latin typeface="黑体"/>
                <a:ea typeface="黑体"/>
                <a:cs typeface="黑体"/>
              </a:rPr>
              <a:t>化</a:t>
            </a:r>
            <a:endParaRPr kumimoji="1" lang="zh-CN" altLang="en-US" sz="4400" dirty="0">
              <a:latin typeface="黑体"/>
              <a:ea typeface="黑体"/>
              <a:cs typeface="黑体"/>
            </a:endParaRPr>
          </a:p>
        </p:txBody>
      </p:sp>
      <p:sp>
        <p:nvSpPr>
          <p:cNvPr id="3" name="内容占位符 2"/>
          <p:cNvSpPr>
            <a:spLocks noGrp="1"/>
          </p:cNvSpPr>
          <p:nvPr>
            <p:ph idx="1"/>
          </p:nvPr>
        </p:nvSpPr>
        <p:spPr>
          <a:xfrm>
            <a:off x="457200" y="980728"/>
            <a:ext cx="8229600" cy="5400600"/>
          </a:xfrm>
        </p:spPr>
        <p:txBody>
          <a:bodyPr/>
          <a:lstStyle/>
          <a:p>
            <a:r>
              <a:rPr kumimoji="1" lang="zh-CN" altLang="en-US" sz="2800" dirty="0" smtClean="0">
                <a:latin typeface="宋体"/>
                <a:ea typeface="宋体"/>
                <a:cs typeface="宋体"/>
              </a:rPr>
              <a:t>由犯罪本身的复杂性决定，把什么说成是犯罪，涉及许多复杂因素。</a:t>
            </a:r>
            <a:endParaRPr kumimoji="1" lang="en-US" altLang="zh-CN" sz="2800" dirty="0" smtClean="0">
              <a:latin typeface="宋体"/>
              <a:ea typeface="宋体"/>
              <a:cs typeface="宋体"/>
            </a:endParaRPr>
          </a:p>
          <a:p>
            <a:r>
              <a:rPr lang="zh-CN" altLang="zh-CN" sz="3600" b="1" dirty="0">
                <a:latin typeface="黑体"/>
                <a:ea typeface="黑体"/>
                <a:cs typeface="黑体"/>
              </a:rPr>
              <a:t>犯罪化，</a:t>
            </a:r>
            <a:r>
              <a:rPr lang="zh-CN" altLang="zh-CN" sz="2800" dirty="0">
                <a:latin typeface="宋体"/>
                <a:ea typeface="宋体"/>
                <a:cs typeface="宋体"/>
              </a:rPr>
              <a:t>就是将某种行为规定为、判决为——定义为犯罪</a:t>
            </a:r>
            <a:r>
              <a:rPr lang="zh-CN" altLang="zh-CN" sz="2800" dirty="0" smtClean="0">
                <a:latin typeface="宋体"/>
                <a:ea typeface="宋体"/>
                <a:cs typeface="宋体"/>
              </a:rPr>
              <a:t>。</a:t>
            </a:r>
            <a:r>
              <a:rPr lang="zh-CN" altLang="en-US" sz="2800" dirty="0" smtClean="0">
                <a:latin typeface="宋体"/>
                <a:ea typeface="宋体"/>
                <a:cs typeface="宋体"/>
              </a:rPr>
              <a:t>（酒驾）</a:t>
            </a:r>
            <a:endParaRPr lang="en-US" altLang="zh-CN" sz="2800" dirty="0" smtClean="0">
              <a:latin typeface="宋体"/>
              <a:ea typeface="宋体"/>
              <a:cs typeface="宋体"/>
            </a:endParaRPr>
          </a:p>
          <a:p>
            <a:r>
              <a:rPr lang="zh-CN" altLang="zh-CN" sz="3600" b="1" dirty="0">
                <a:latin typeface="黑体"/>
                <a:ea typeface="黑体"/>
                <a:cs typeface="黑体"/>
              </a:rPr>
              <a:t>非犯罪化，</a:t>
            </a:r>
            <a:r>
              <a:rPr lang="zh-CN" altLang="zh-CN" sz="2800" dirty="0">
                <a:latin typeface="宋体"/>
                <a:ea typeface="宋体"/>
                <a:cs typeface="宋体"/>
              </a:rPr>
              <a:t>就是将某种犯罪合法化处理</a:t>
            </a:r>
            <a:r>
              <a:rPr lang="zh-CN" altLang="zh-CN" sz="2800" dirty="0" smtClean="0">
                <a:latin typeface="宋体"/>
                <a:ea typeface="宋体"/>
                <a:cs typeface="宋体"/>
              </a:rPr>
              <a:t>（刘邦约法三章</a:t>
            </a:r>
            <a:r>
              <a:rPr lang="zh-CN" altLang="en-US" sz="2800" dirty="0" smtClean="0">
                <a:latin typeface="宋体"/>
                <a:ea typeface="宋体"/>
                <a:cs typeface="宋体"/>
              </a:rPr>
              <a:t>、投机倒把</a:t>
            </a:r>
            <a:r>
              <a:rPr lang="zh-CN" altLang="zh-CN" sz="2800" dirty="0" smtClean="0">
                <a:latin typeface="宋体"/>
                <a:ea typeface="宋体"/>
                <a:cs typeface="宋体"/>
              </a:rPr>
              <a:t>）</a:t>
            </a:r>
            <a:r>
              <a:rPr lang="zh-CN" altLang="zh-CN" sz="2800" dirty="0">
                <a:latin typeface="宋体"/>
                <a:ea typeface="宋体"/>
                <a:cs typeface="宋体"/>
              </a:rPr>
              <a:t>。</a:t>
            </a:r>
          </a:p>
          <a:p>
            <a:r>
              <a:rPr lang="zh-CN" altLang="zh-CN" sz="2800" dirty="0" smtClean="0">
                <a:latin typeface="宋体"/>
                <a:ea typeface="宋体"/>
                <a:cs typeface="宋体"/>
              </a:rPr>
              <a:t>犯罪化过程所</a:t>
            </a:r>
            <a:r>
              <a:rPr lang="zh-CN" altLang="zh-CN" sz="2800" dirty="0">
                <a:latin typeface="宋体"/>
                <a:ea typeface="宋体"/>
                <a:cs typeface="宋体"/>
              </a:rPr>
              <a:t>反映的，主要是社会与犯罪之间评价被评价的关系，而不是认识被认识、反映被反映的关系</a:t>
            </a:r>
            <a:r>
              <a:rPr lang="zh-CN" altLang="zh-CN" sz="2800" dirty="0" smtClean="0">
                <a:latin typeface="宋体"/>
                <a:ea typeface="宋体"/>
                <a:cs typeface="宋体"/>
              </a:rPr>
              <a:t>。</a:t>
            </a:r>
            <a:endParaRPr lang="en-US" altLang="zh-CN" sz="2800" dirty="0">
              <a:latin typeface="宋体"/>
              <a:ea typeface="宋体"/>
              <a:cs typeface="宋体"/>
            </a:endParaRPr>
          </a:p>
          <a:p>
            <a:r>
              <a:rPr lang="zh-CN" altLang="en-US" sz="2800" dirty="0" smtClean="0">
                <a:latin typeface="宋体"/>
                <a:ea typeface="宋体"/>
                <a:cs typeface="宋体"/>
              </a:rPr>
              <a:t>认识活动取决于认识工具，评价活动与评价者自身有关。</a:t>
            </a:r>
            <a:endParaRPr lang="zh-CN" altLang="zh-CN"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17</a:t>
            </a:fld>
            <a:endParaRPr lang="zh-CN" altLang="en-US"/>
          </a:p>
        </p:txBody>
      </p:sp>
    </p:spTree>
    <p:extLst>
      <p:ext uri="{BB962C8B-B14F-4D97-AF65-F5344CB8AC3E}">
        <p14:creationId xmlns:p14="http://schemas.microsoft.com/office/powerpoint/2010/main" val="73154144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犯罪化与对象化</a:t>
            </a:r>
            <a:endParaRPr kumimoji="1" lang="zh-CN" altLang="en-US" sz="3600" dirty="0">
              <a:latin typeface="黑体"/>
              <a:ea typeface="黑体"/>
              <a:cs typeface="黑体"/>
            </a:endParaRPr>
          </a:p>
        </p:txBody>
      </p:sp>
      <p:sp>
        <p:nvSpPr>
          <p:cNvPr id="3" name="内容占位符 2"/>
          <p:cNvSpPr>
            <a:spLocks noGrp="1"/>
          </p:cNvSpPr>
          <p:nvPr>
            <p:ph idx="1"/>
          </p:nvPr>
        </p:nvSpPr>
        <p:spPr>
          <a:xfrm>
            <a:off x="467544" y="980728"/>
            <a:ext cx="8229600" cy="5000625"/>
          </a:xfrm>
        </p:spPr>
        <p:txBody>
          <a:bodyPr/>
          <a:lstStyle/>
          <a:p>
            <a:r>
              <a:rPr lang="zh-CN" altLang="en-US" sz="2800" dirty="0" smtClean="0">
                <a:latin typeface="宋体"/>
                <a:ea typeface="宋体"/>
                <a:cs typeface="宋体"/>
              </a:rPr>
              <a:t>对象化：</a:t>
            </a:r>
            <a:r>
              <a:rPr lang="zh-CN" altLang="zh-CN" sz="2800" dirty="0" smtClean="0">
                <a:latin typeface="宋体"/>
                <a:ea typeface="宋体"/>
                <a:cs typeface="宋体"/>
              </a:rPr>
              <a:t>赋予某种</a:t>
            </a:r>
            <a:r>
              <a:rPr lang="zh-CN" altLang="en-US" sz="2800" dirty="0" smtClean="0">
                <a:latin typeface="宋体"/>
                <a:ea typeface="宋体"/>
                <a:cs typeface="宋体"/>
              </a:rPr>
              <a:t>事物</a:t>
            </a:r>
            <a:r>
              <a:rPr lang="zh-CN" altLang="zh-CN" sz="2800" dirty="0" smtClean="0">
                <a:latin typeface="宋体"/>
                <a:ea typeface="宋体"/>
                <a:cs typeface="宋体"/>
              </a:rPr>
              <a:t>或行为以</a:t>
            </a:r>
            <a:r>
              <a:rPr lang="zh-CN" altLang="en-US" sz="2800" dirty="0" smtClean="0">
                <a:latin typeface="宋体"/>
                <a:ea typeface="宋体"/>
                <a:cs typeface="宋体"/>
              </a:rPr>
              <a:t>某种</a:t>
            </a:r>
            <a:r>
              <a:rPr lang="zh-CN" altLang="zh-CN" sz="2800" dirty="0" smtClean="0">
                <a:latin typeface="宋体"/>
                <a:ea typeface="宋体"/>
                <a:cs typeface="宋体"/>
              </a:rPr>
              <a:t>意义</a:t>
            </a:r>
            <a:r>
              <a:rPr lang="zh-CN" altLang="en-US" sz="2800" dirty="0" smtClean="0">
                <a:latin typeface="宋体"/>
                <a:ea typeface="宋体"/>
                <a:cs typeface="宋体"/>
              </a:rPr>
              <a:t>、价值</a:t>
            </a:r>
            <a:r>
              <a:rPr lang="zh-CN" altLang="zh-CN" sz="2800" dirty="0" smtClean="0">
                <a:latin typeface="宋体"/>
                <a:ea typeface="宋体"/>
                <a:cs typeface="宋体"/>
              </a:rPr>
              <a:t>和属性</a:t>
            </a:r>
            <a:r>
              <a:rPr lang="zh-CN" altLang="en-US"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没有对象化过</a:t>
            </a:r>
            <a:r>
              <a:rPr lang="zh-CN" altLang="zh-CN" sz="2800" dirty="0">
                <a:latin typeface="宋体"/>
                <a:ea typeface="宋体"/>
                <a:cs typeface="宋体"/>
              </a:rPr>
              <a:t>程，</a:t>
            </a:r>
            <a:r>
              <a:rPr lang="zh-CN" altLang="zh-CN" sz="2800" dirty="0" smtClean="0">
                <a:latin typeface="宋体"/>
                <a:ea typeface="宋体"/>
                <a:cs typeface="宋体"/>
              </a:rPr>
              <a:t>只有</a:t>
            </a:r>
            <a:r>
              <a:rPr lang="zh-CN" altLang="zh-CN" sz="2800" b="1" dirty="0" smtClean="0">
                <a:latin typeface="宋体"/>
                <a:ea typeface="宋体"/>
                <a:cs typeface="宋体"/>
              </a:rPr>
              <a:t>裸的行为</a:t>
            </a:r>
            <a:r>
              <a:rPr lang="zh-CN" altLang="zh-CN" sz="2800" dirty="0" smtClean="0">
                <a:latin typeface="宋体"/>
                <a:ea typeface="宋体"/>
                <a:cs typeface="宋体"/>
              </a:rPr>
              <a:t>，没</a:t>
            </a:r>
            <a:r>
              <a:rPr lang="zh-CN" altLang="zh-CN" sz="2800" dirty="0">
                <a:latin typeface="宋体"/>
                <a:ea typeface="宋体"/>
                <a:cs typeface="宋体"/>
              </a:rPr>
              <a:t>有犯罪</a:t>
            </a:r>
            <a:r>
              <a:rPr lang="zh-CN" altLang="zh-CN" sz="2800" dirty="0" smtClean="0">
                <a:latin typeface="宋体"/>
                <a:ea typeface="宋体"/>
                <a:cs typeface="宋体"/>
              </a:rPr>
              <a:t>。</a:t>
            </a:r>
            <a:endParaRPr lang="zh-CN" altLang="zh-CN" sz="2800" dirty="0">
              <a:latin typeface="宋体"/>
              <a:ea typeface="宋体"/>
              <a:cs typeface="宋体"/>
            </a:endParaRPr>
          </a:p>
          <a:p>
            <a:r>
              <a:rPr lang="zh-CN" altLang="zh-CN" sz="2800" dirty="0">
                <a:latin typeface="宋体"/>
                <a:ea typeface="宋体"/>
                <a:cs typeface="宋体"/>
              </a:rPr>
              <a:t>比如，关于内幕交易犯罪化的争论。</a:t>
            </a:r>
          </a:p>
          <a:p>
            <a:r>
              <a:rPr lang="zh-CN" altLang="zh-CN" sz="2800" dirty="0" smtClean="0">
                <a:latin typeface="宋体"/>
                <a:ea typeface="宋体"/>
                <a:cs typeface="宋体"/>
              </a:rPr>
              <a:t>同样</a:t>
            </a:r>
            <a:r>
              <a:rPr lang="zh-CN" altLang="zh-CN" sz="2800" dirty="0">
                <a:latin typeface="宋体"/>
                <a:ea typeface="宋体"/>
                <a:cs typeface="宋体"/>
              </a:rPr>
              <a:t>的行为，被不同的评价活动赋予不同的意义，就获得或者失去了犯罪的意义和属性。</a:t>
            </a:r>
          </a:p>
          <a:p>
            <a:r>
              <a:rPr lang="zh-CN" altLang="en-US" sz="2800" dirty="0" smtClean="0">
                <a:latin typeface="宋体"/>
                <a:ea typeface="宋体"/>
                <a:cs typeface="宋体"/>
              </a:rPr>
              <a:t>可见，</a:t>
            </a:r>
            <a:r>
              <a:rPr lang="zh-CN" altLang="zh-CN" sz="2800" dirty="0" smtClean="0">
                <a:latin typeface="宋体"/>
                <a:ea typeface="宋体"/>
                <a:cs typeface="宋体"/>
              </a:rPr>
              <a:t>犯罪都是被说</a:t>
            </a:r>
            <a:r>
              <a:rPr lang="zh-CN" altLang="zh-CN" sz="2800" dirty="0">
                <a:latin typeface="宋体"/>
                <a:ea typeface="宋体"/>
                <a:cs typeface="宋体"/>
              </a:rPr>
              <a:t>成是犯罪的行为。</a:t>
            </a:r>
          </a:p>
          <a:p>
            <a:r>
              <a:rPr lang="zh-CN" altLang="zh-CN" sz="2800" dirty="0">
                <a:latin typeface="宋体"/>
                <a:ea typeface="宋体"/>
                <a:cs typeface="宋体"/>
              </a:rPr>
              <a:t>没有犯罪定义，就没有犯罪，尽管可以有行为本</a:t>
            </a:r>
            <a:r>
              <a:rPr lang="zh-CN" altLang="zh-CN" sz="2800" dirty="0" smtClean="0">
                <a:latin typeface="宋体"/>
                <a:ea typeface="宋体"/>
                <a:cs typeface="宋体"/>
              </a:rPr>
              <a:t>身</a:t>
            </a:r>
            <a:r>
              <a:rPr lang="en-US" altLang="zh-CN" sz="2800" dirty="0" smtClean="0">
                <a:latin typeface="宋体"/>
                <a:ea typeface="宋体"/>
                <a:cs typeface="宋体"/>
              </a:rPr>
              <a:t>——</a:t>
            </a:r>
            <a:r>
              <a:rPr lang="zh-CN" altLang="en-US" sz="2800" dirty="0" smtClean="0">
                <a:latin typeface="宋体"/>
                <a:ea typeface="宋体"/>
                <a:cs typeface="宋体"/>
              </a:rPr>
              <a:t>婚外性行为：“通奸”、“性交易”、“包二奶”、“强奸”</a:t>
            </a:r>
            <a:r>
              <a:rPr lang="en-US" altLang="zh-CN" sz="2800" dirty="0" smtClean="0">
                <a:latin typeface="宋体"/>
                <a:ea typeface="宋体"/>
                <a:cs typeface="宋体"/>
              </a:rPr>
              <a:t>……</a:t>
            </a:r>
            <a:endParaRPr lang="zh-CN" altLang="zh-CN" sz="2800" dirty="0">
              <a:latin typeface="宋体"/>
              <a:ea typeface="宋体"/>
              <a:cs typeface="宋体"/>
            </a:endParaRPr>
          </a:p>
          <a:p>
            <a:endParaRPr kumimoji="1" lang="zh-CN" altLang="en-US" dirty="0"/>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18</a:t>
            </a:fld>
            <a:endParaRPr lang="zh-CN" altLang="en-US"/>
          </a:p>
        </p:txBody>
      </p:sp>
    </p:spTree>
    <p:extLst>
      <p:ext uri="{BB962C8B-B14F-4D97-AF65-F5344CB8AC3E}">
        <p14:creationId xmlns:p14="http://schemas.microsoft.com/office/powerpoint/2010/main" val="223051369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b="1" dirty="0" smtClean="0">
                <a:latin typeface="黑体"/>
                <a:ea typeface="黑体"/>
                <a:cs typeface="黑体"/>
              </a:rPr>
              <a:t>反过来写的价值</a:t>
            </a:r>
            <a:endParaRPr kumimoji="1" lang="zh-CN" altLang="en-US" sz="3600" b="1" dirty="0">
              <a:latin typeface="黑体"/>
              <a:ea typeface="黑体"/>
              <a:cs typeface="黑体"/>
            </a:endParaRPr>
          </a:p>
        </p:txBody>
      </p:sp>
      <p:sp>
        <p:nvSpPr>
          <p:cNvPr id="3" name="内容占位符 2"/>
          <p:cNvSpPr>
            <a:spLocks noGrp="1"/>
          </p:cNvSpPr>
          <p:nvPr>
            <p:ph idx="1"/>
          </p:nvPr>
        </p:nvSpPr>
        <p:spPr>
          <a:xfrm>
            <a:off x="457200" y="1125538"/>
            <a:ext cx="8229600" cy="5327798"/>
          </a:xfrm>
        </p:spPr>
        <p:txBody>
          <a:bodyPr/>
          <a:lstStyle/>
          <a:p>
            <a:r>
              <a:rPr lang="zh-CN" altLang="zh-CN" dirty="0" smtClean="0">
                <a:latin typeface="宋体"/>
                <a:ea typeface="宋体"/>
                <a:cs typeface="宋体"/>
              </a:rPr>
              <a:t>禁止</a:t>
            </a:r>
            <a:r>
              <a:rPr lang="zh-CN" altLang="zh-CN" dirty="0">
                <a:latin typeface="宋体"/>
                <a:ea typeface="宋体"/>
                <a:cs typeface="宋体"/>
              </a:rPr>
              <a:t>自行杀人，彰显的是生命的价值；禁止偷窃财产，彰显的是财产权利的合法性；禁止非法拘禁，彰显的是自由的重要；禁止贪污受贿，彰显的是公共职务的廉洁性…</a:t>
            </a:r>
            <a:r>
              <a:rPr lang="zh-CN" altLang="zh-CN" dirty="0" smtClean="0">
                <a:latin typeface="宋体"/>
                <a:ea typeface="宋体"/>
                <a:cs typeface="宋体"/>
              </a:rPr>
              <a:t>…</a:t>
            </a:r>
            <a:endParaRPr lang="zh-CN" altLang="zh-CN" dirty="0">
              <a:latin typeface="宋体"/>
              <a:ea typeface="宋体"/>
              <a:cs typeface="宋体"/>
            </a:endParaRPr>
          </a:p>
          <a:p>
            <a:r>
              <a:rPr lang="zh-CN" altLang="zh-CN" dirty="0">
                <a:latin typeface="宋体"/>
                <a:ea typeface="宋体"/>
                <a:cs typeface="宋体"/>
              </a:rPr>
              <a:t>国家安全（分则第一章）</a:t>
            </a:r>
            <a:r>
              <a:rPr lang="en-US" altLang="zh-CN" dirty="0">
                <a:latin typeface="宋体"/>
                <a:ea typeface="宋体"/>
                <a:cs typeface="宋体"/>
              </a:rPr>
              <a:t> </a:t>
            </a:r>
            <a:endParaRPr lang="zh-CN" altLang="zh-CN" dirty="0">
              <a:latin typeface="宋体"/>
              <a:ea typeface="宋体"/>
              <a:cs typeface="宋体"/>
            </a:endParaRPr>
          </a:p>
          <a:p>
            <a:r>
              <a:rPr lang="zh-CN" altLang="zh-CN" dirty="0">
                <a:latin typeface="宋体"/>
                <a:ea typeface="宋体"/>
                <a:cs typeface="宋体"/>
              </a:rPr>
              <a:t>公共安全（分则第二章）</a:t>
            </a:r>
            <a:r>
              <a:rPr lang="en-US" altLang="zh-CN" dirty="0">
                <a:latin typeface="宋体"/>
                <a:ea typeface="宋体"/>
                <a:cs typeface="宋体"/>
              </a:rPr>
              <a:t> </a:t>
            </a:r>
            <a:endParaRPr lang="zh-CN" altLang="zh-CN" dirty="0">
              <a:latin typeface="宋体"/>
              <a:ea typeface="宋体"/>
              <a:cs typeface="宋体"/>
            </a:endParaRPr>
          </a:p>
          <a:p>
            <a:r>
              <a:rPr lang="zh-CN" altLang="zh-CN" dirty="0">
                <a:latin typeface="宋体"/>
                <a:ea typeface="宋体"/>
                <a:cs typeface="宋体"/>
              </a:rPr>
              <a:t>社会主义市场经济秩序（分则第三章）</a:t>
            </a:r>
            <a:r>
              <a:rPr lang="en-US" altLang="zh-CN" dirty="0">
                <a:latin typeface="宋体"/>
                <a:ea typeface="宋体"/>
                <a:cs typeface="宋体"/>
              </a:rPr>
              <a:t> </a:t>
            </a:r>
            <a:endParaRPr lang="zh-CN" altLang="zh-CN" dirty="0">
              <a:latin typeface="宋体"/>
              <a:ea typeface="宋体"/>
              <a:cs typeface="宋体"/>
            </a:endParaRPr>
          </a:p>
          <a:p>
            <a:r>
              <a:rPr lang="zh-CN" altLang="zh-CN" dirty="0">
                <a:latin typeface="宋体"/>
                <a:ea typeface="宋体"/>
                <a:cs typeface="宋体"/>
              </a:rPr>
              <a:t>公民人身权利、民主权利（分则第四章）</a:t>
            </a:r>
            <a:r>
              <a:rPr lang="en-US" altLang="zh-CN" dirty="0">
                <a:latin typeface="宋体"/>
                <a:ea typeface="宋体"/>
                <a:cs typeface="宋体"/>
              </a:rPr>
              <a:t> </a:t>
            </a:r>
            <a:endParaRPr lang="zh-CN" altLang="zh-CN" dirty="0">
              <a:latin typeface="宋体"/>
              <a:ea typeface="宋体"/>
              <a:cs typeface="宋体"/>
            </a:endParaRPr>
          </a:p>
          <a:p>
            <a:r>
              <a:rPr lang="zh-CN" altLang="zh-CN" dirty="0">
                <a:latin typeface="宋体"/>
                <a:ea typeface="宋体"/>
                <a:cs typeface="宋体"/>
              </a:rPr>
              <a:t>财产权利（分则第五章） </a:t>
            </a:r>
          </a:p>
          <a:p>
            <a:r>
              <a:rPr lang="zh-CN" altLang="zh-CN" dirty="0">
                <a:latin typeface="宋体"/>
                <a:ea typeface="宋体"/>
                <a:cs typeface="宋体"/>
              </a:rPr>
              <a:t>社会管理秩序（分则第六章）</a:t>
            </a:r>
          </a:p>
          <a:p>
            <a:r>
              <a:rPr lang="zh-CN" altLang="zh-CN" dirty="0">
                <a:latin typeface="宋体"/>
                <a:ea typeface="宋体"/>
                <a:cs typeface="宋体"/>
              </a:rPr>
              <a:t>国防利益（分则第七章）</a:t>
            </a:r>
            <a:r>
              <a:rPr lang="en-US" altLang="zh-CN" dirty="0">
                <a:latin typeface="宋体"/>
                <a:ea typeface="宋体"/>
                <a:cs typeface="宋体"/>
              </a:rPr>
              <a:t> </a:t>
            </a:r>
            <a:endParaRPr lang="zh-CN" altLang="zh-CN" dirty="0">
              <a:latin typeface="宋体"/>
              <a:ea typeface="宋体"/>
              <a:cs typeface="宋体"/>
            </a:endParaRPr>
          </a:p>
          <a:p>
            <a:r>
              <a:rPr lang="zh-CN" altLang="zh-CN" dirty="0">
                <a:latin typeface="宋体"/>
                <a:ea typeface="宋体"/>
                <a:cs typeface="宋体"/>
              </a:rPr>
              <a:t>公职廉洁性（分则第八、九、十章）贪污贿赂、渎职罪、军人违反职责罪 </a:t>
            </a:r>
          </a:p>
          <a:p>
            <a:endParaRPr kumimoji="1" lang="zh-CN" altLang="en-US" dirty="0"/>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19</a:t>
            </a:fld>
            <a:endParaRPr lang="zh-CN" altLang="en-US"/>
          </a:p>
        </p:txBody>
      </p:sp>
    </p:spTree>
    <p:extLst>
      <p:ext uri="{BB962C8B-B14F-4D97-AF65-F5344CB8AC3E}">
        <p14:creationId xmlns:p14="http://schemas.microsoft.com/office/powerpoint/2010/main" val="389394097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smtClean="0">
                <a:latin typeface="黑体"/>
                <a:ea typeface="黑体"/>
                <a:cs typeface="黑体"/>
              </a:rPr>
              <a:t>类型</a:t>
            </a:r>
            <a:endParaRPr kumimoji="1" lang="zh-CN" altLang="en-US" sz="4000" dirty="0">
              <a:latin typeface="黑体"/>
              <a:ea typeface="黑体"/>
              <a:cs typeface="黑体"/>
            </a:endParaRPr>
          </a:p>
        </p:txBody>
      </p:sp>
      <p:sp>
        <p:nvSpPr>
          <p:cNvPr id="3" name="内容占位符 2"/>
          <p:cNvSpPr>
            <a:spLocks noGrp="1"/>
          </p:cNvSpPr>
          <p:nvPr>
            <p:ph idx="1"/>
          </p:nvPr>
        </p:nvSpPr>
        <p:spPr/>
        <p:txBody>
          <a:bodyPr/>
          <a:lstStyle/>
          <a:p>
            <a:r>
              <a:rPr lang="zh-CN" altLang="en-US" sz="2800" b="1" dirty="0" smtClean="0">
                <a:latin typeface="宋体"/>
                <a:ea typeface="宋体"/>
                <a:cs typeface="宋体"/>
              </a:rPr>
              <a:t>立法上</a:t>
            </a:r>
            <a:r>
              <a:rPr lang="zh-CN" altLang="zh-CN" sz="2800" b="1" dirty="0" smtClean="0">
                <a:latin typeface="宋体"/>
                <a:ea typeface="宋体"/>
                <a:cs typeface="宋体"/>
              </a:rPr>
              <a:t>的犯罪定义</a:t>
            </a:r>
            <a:endParaRPr lang="en-US" altLang="zh-CN" sz="2800" b="1" dirty="0" smtClean="0">
              <a:latin typeface="宋体"/>
              <a:ea typeface="宋体"/>
              <a:cs typeface="宋体"/>
            </a:endParaRPr>
          </a:p>
          <a:p>
            <a:pPr marL="0" indent="0">
              <a:buNone/>
            </a:pPr>
            <a:r>
              <a:rPr lang="en-US" altLang="zh-CN" sz="2800" dirty="0" smtClean="0">
                <a:latin typeface="宋体"/>
                <a:ea typeface="宋体"/>
                <a:cs typeface="宋体"/>
              </a:rPr>
              <a:t>  </a:t>
            </a:r>
            <a:r>
              <a:rPr lang="en-US" altLang="zh-CN" sz="2800" dirty="0" smtClean="0">
                <a:latin typeface="楷体"/>
                <a:ea typeface="楷体"/>
                <a:cs typeface="楷体"/>
              </a:rPr>
              <a:t>79</a:t>
            </a:r>
            <a:r>
              <a:rPr lang="zh-CN" altLang="en-US" sz="2800" dirty="0" smtClean="0">
                <a:latin typeface="楷体"/>
                <a:ea typeface="楷体"/>
                <a:cs typeface="楷体"/>
              </a:rPr>
              <a:t>年刑法</a:t>
            </a:r>
            <a:r>
              <a:rPr lang="en-US" altLang="zh-CN" sz="2800" dirty="0" smtClean="0">
                <a:latin typeface="楷体"/>
                <a:ea typeface="楷体"/>
                <a:cs typeface="楷体"/>
              </a:rPr>
              <a:t>127</a:t>
            </a:r>
            <a:r>
              <a:rPr lang="zh-CN" altLang="en-US" sz="2800" dirty="0" smtClean="0">
                <a:latin typeface="楷体"/>
                <a:ea typeface="楷体"/>
                <a:cs typeface="楷体"/>
              </a:rPr>
              <a:t>个罪名</a:t>
            </a:r>
            <a:endParaRPr lang="zh-CN" altLang="zh-CN" sz="2800" dirty="0">
              <a:latin typeface="楷体"/>
              <a:ea typeface="楷体"/>
              <a:cs typeface="楷体"/>
            </a:endParaRPr>
          </a:p>
          <a:p>
            <a:pPr marL="0" indent="0">
              <a:buNone/>
            </a:pPr>
            <a:r>
              <a:rPr lang="en-US" altLang="zh-CN" sz="2800" dirty="0" smtClean="0">
                <a:latin typeface="楷体"/>
                <a:ea typeface="楷体"/>
                <a:cs typeface="楷体"/>
              </a:rPr>
              <a:t>  97</a:t>
            </a:r>
            <a:r>
              <a:rPr lang="zh-CN" altLang="en-US" sz="2800" dirty="0" smtClean="0">
                <a:latin typeface="楷体"/>
                <a:ea typeface="楷体"/>
                <a:cs typeface="楷体"/>
              </a:rPr>
              <a:t>年刑法</a:t>
            </a:r>
            <a:r>
              <a:rPr lang="en-US" altLang="zh-CN" sz="2800" dirty="0" smtClean="0">
                <a:latin typeface="楷体"/>
                <a:ea typeface="楷体"/>
                <a:cs typeface="楷体"/>
              </a:rPr>
              <a:t>414</a:t>
            </a:r>
            <a:r>
              <a:rPr lang="zh-CN" altLang="en-US" sz="2800" dirty="0" smtClean="0">
                <a:latin typeface="楷体"/>
                <a:ea typeface="楷体"/>
                <a:cs typeface="楷体"/>
              </a:rPr>
              <a:t>个罪名</a:t>
            </a:r>
            <a:endParaRPr lang="zh-CN" altLang="zh-CN" sz="2800" dirty="0">
              <a:latin typeface="楷体"/>
              <a:ea typeface="楷体"/>
              <a:cs typeface="楷体"/>
            </a:endParaRPr>
          </a:p>
          <a:p>
            <a:pPr marL="0" indent="0">
              <a:buNone/>
            </a:pPr>
            <a:r>
              <a:rPr lang="en-US" altLang="zh-CN" sz="2800" dirty="0" smtClean="0">
                <a:latin typeface="楷体"/>
                <a:ea typeface="楷体"/>
                <a:cs typeface="楷体"/>
              </a:rPr>
              <a:t>  11</a:t>
            </a:r>
            <a:r>
              <a:rPr lang="zh-CN" altLang="en-US" sz="2800" dirty="0" smtClean="0">
                <a:latin typeface="楷体"/>
                <a:ea typeface="楷体"/>
                <a:cs typeface="楷体"/>
              </a:rPr>
              <a:t>年刑法</a:t>
            </a:r>
            <a:r>
              <a:rPr lang="en-US" altLang="zh-CN" sz="2800" dirty="0" smtClean="0">
                <a:latin typeface="楷体"/>
                <a:ea typeface="楷体"/>
                <a:cs typeface="楷体"/>
              </a:rPr>
              <a:t>451</a:t>
            </a:r>
            <a:r>
              <a:rPr lang="zh-CN" altLang="en-US" sz="2800" dirty="0" smtClean="0">
                <a:latin typeface="楷体"/>
                <a:ea typeface="楷体"/>
                <a:cs typeface="楷体"/>
              </a:rPr>
              <a:t>个罪名</a:t>
            </a:r>
            <a:endParaRPr lang="en-US" altLang="zh-CN" sz="2800" dirty="0" smtClean="0">
              <a:latin typeface="楷体"/>
              <a:ea typeface="楷体"/>
              <a:cs typeface="楷体"/>
            </a:endParaRPr>
          </a:p>
          <a:p>
            <a:r>
              <a:rPr lang="zh-CN" altLang="en-US" sz="2800" b="1" dirty="0" smtClean="0">
                <a:latin typeface="宋体"/>
                <a:ea typeface="宋体"/>
                <a:cs typeface="宋体"/>
              </a:rPr>
              <a:t>司法上的犯罪定义</a:t>
            </a:r>
            <a:endParaRPr lang="en-US" altLang="zh-CN" sz="2800" b="1" dirty="0">
              <a:latin typeface="宋体"/>
              <a:ea typeface="宋体"/>
              <a:cs typeface="宋体"/>
            </a:endParaRPr>
          </a:p>
          <a:p>
            <a:pPr marL="0" indent="0">
              <a:buNone/>
            </a:pPr>
            <a:r>
              <a:rPr lang="en-US" altLang="zh-CN" sz="2800" dirty="0" smtClean="0">
                <a:latin typeface="宋体"/>
                <a:ea typeface="宋体"/>
                <a:cs typeface="宋体"/>
              </a:rPr>
              <a:t>  </a:t>
            </a:r>
            <a:r>
              <a:rPr lang="zh-CN" altLang="en-US" sz="2800" dirty="0" smtClean="0">
                <a:latin typeface="楷体"/>
                <a:ea typeface="楷体"/>
                <a:cs typeface="楷体"/>
              </a:rPr>
              <a:t>一审、二审、再审</a:t>
            </a:r>
            <a:endParaRPr lang="en-US" altLang="zh-CN" sz="2800" dirty="0" smtClean="0">
              <a:latin typeface="楷体"/>
              <a:ea typeface="楷体"/>
              <a:cs typeface="楷体"/>
            </a:endParaRPr>
          </a:p>
          <a:p>
            <a:r>
              <a:rPr lang="zh-CN" altLang="en-US" sz="2800" b="1" dirty="0" smtClean="0">
                <a:latin typeface="宋体"/>
                <a:ea typeface="宋体"/>
                <a:cs typeface="宋体"/>
              </a:rPr>
              <a:t>实定法以外的犯罪定义</a:t>
            </a:r>
            <a:endParaRPr lang="en-US" altLang="zh-CN" sz="2800" b="1" dirty="0" smtClean="0">
              <a:latin typeface="宋体"/>
              <a:ea typeface="宋体"/>
              <a:cs typeface="宋体"/>
            </a:endParaRPr>
          </a:p>
          <a:p>
            <a:pPr marL="0" indent="0">
              <a:buNone/>
            </a:pPr>
            <a:r>
              <a:rPr lang="en-US" altLang="zh-CN" sz="2800" dirty="0" smtClean="0">
                <a:latin typeface="宋体"/>
                <a:ea typeface="宋体"/>
                <a:cs typeface="宋体"/>
              </a:rPr>
              <a:t>  </a:t>
            </a:r>
            <a:r>
              <a:rPr lang="zh-CN" altLang="zh-CN" sz="2800" dirty="0" smtClean="0">
                <a:latin typeface="楷体"/>
                <a:ea typeface="楷体"/>
                <a:cs typeface="楷体"/>
              </a:rPr>
              <a:t>政策</a:t>
            </a:r>
            <a:r>
              <a:rPr lang="zh-CN" altLang="zh-CN" sz="2800" dirty="0">
                <a:latin typeface="楷体"/>
                <a:ea typeface="楷体"/>
                <a:cs typeface="楷体"/>
              </a:rPr>
              <a:t>、道德</a:t>
            </a:r>
            <a:r>
              <a:rPr lang="zh-CN" altLang="zh-CN" sz="2800" dirty="0" smtClean="0">
                <a:latin typeface="楷体"/>
                <a:ea typeface="楷体"/>
                <a:cs typeface="楷体"/>
              </a:rPr>
              <a:t>、</a:t>
            </a:r>
            <a:r>
              <a:rPr lang="zh-CN" altLang="en-US" sz="2800" dirty="0" smtClean="0">
                <a:latin typeface="楷体"/>
                <a:ea typeface="楷体"/>
                <a:cs typeface="楷体"/>
              </a:rPr>
              <a:t>舆论、</a:t>
            </a:r>
            <a:r>
              <a:rPr lang="zh-CN" altLang="zh-CN" sz="2800" dirty="0" smtClean="0">
                <a:latin typeface="楷体"/>
                <a:ea typeface="楷体"/>
                <a:cs typeface="楷体"/>
              </a:rPr>
              <a:t>宗教</a:t>
            </a:r>
            <a:r>
              <a:rPr lang="zh-CN" altLang="zh-CN" sz="2800" dirty="0">
                <a:latin typeface="楷体"/>
                <a:ea typeface="楷体"/>
                <a:cs typeface="楷体"/>
              </a:rPr>
              <a:t>、习俗</a:t>
            </a:r>
            <a:r>
              <a:rPr lang="zh-CN" altLang="zh-CN" sz="2800" dirty="0" smtClean="0">
                <a:latin typeface="楷体"/>
                <a:ea typeface="楷体"/>
                <a:cs typeface="楷体"/>
              </a:rPr>
              <a:t>、</a:t>
            </a:r>
            <a:r>
              <a:rPr lang="zh-CN" altLang="en-US" sz="2800" dirty="0" smtClean="0">
                <a:latin typeface="楷体"/>
                <a:ea typeface="楷体"/>
                <a:cs typeface="楷体"/>
              </a:rPr>
              <a:t>文学作品</a:t>
            </a:r>
            <a:r>
              <a:rPr lang="zh-CN" altLang="zh-CN" sz="2800" dirty="0" smtClean="0">
                <a:latin typeface="楷体"/>
                <a:ea typeface="楷体"/>
                <a:cs typeface="楷体"/>
              </a:rPr>
              <a:t>、原始禁忌中的犯罪</a:t>
            </a:r>
            <a:r>
              <a:rPr lang="zh-CN" altLang="en-US" sz="2800" dirty="0" smtClean="0">
                <a:latin typeface="楷体"/>
                <a:ea typeface="楷体"/>
                <a:cs typeface="楷体"/>
              </a:rPr>
              <a:t>定义。（实例？）</a:t>
            </a:r>
            <a:endParaRPr lang="en-US" altLang="zh-CN" sz="2800" dirty="0" smtClean="0">
              <a:latin typeface="楷体"/>
              <a:ea typeface="楷体"/>
              <a:cs typeface="楷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20</a:t>
            </a:fld>
            <a:endParaRPr lang="zh-CN" altLang="en-US"/>
          </a:p>
        </p:txBody>
      </p:sp>
    </p:spTree>
    <p:extLst>
      <p:ext uri="{BB962C8B-B14F-4D97-AF65-F5344CB8AC3E}">
        <p14:creationId xmlns:p14="http://schemas.microsoft.com/office/powerpoint/2010/main" val="166209167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smtClean="0">
                <a:latin typeface="黑体"/>
                <a:ea typeface="黑体"/>
                <a:cs typeface="黑体"/>
              </a:rPr>
              <a:t>基本理论</a:t>
            </a:r>
            <a:endParaRPr kumimoji="1" lang="zh-CN" altLang="en-US" sz="4000" dirty="0">
              <a:latin typeface="黑体"/>
              <a:ea typeface="黑体"/>
              <a:cs typeface="黑体"/>
            </a:endParaRPr>
          </a:p>
        </p:txBody>
      </p:sp>
      <p:sp>
        <p:nvSpPr>
          <p:cNvPr id="3" name="内容占位符 2"/>
          <p:cNvSpPr>
            <a:spLocks noGrp="1"/>
          </p:cNvSpPr>
          <p:nvPr>
            <p:ph idx="1"/>
          </p:nvPr>
        </p:nvSpPr>
        <p:spPr/>
        <p:txBody>
          <a:bodyPr/>
          <a:lstStyle/>
          <a:p>
            <a:r>
              <a:rPr lang="zh-CN" altLang="zh-CN" sz="2800" dirty="0">
                <a:latin typeface="宋体"/>
                <a:ea typeface="宋体"/>
                <a:cs typeface="宋体"/>
              </a:rPr>
              <a:t>犯罪定义的</a:t>
            </a:r>
            <a:r>
              <a:rPr lang="zh-CN" altLang="zh-CN" sz="2800" dirty="0" smtClean="0">
                <a:latin typeface="宋体"/>
                <a:ea typeface="宋体"/>
                <a:cs typeface="宋体"/>
              </a:rPr>
              <a:t>内在根据</a:t>
            </a:r>
            <a:r>
              <a:rPr lang="zh-CN" altLang="en-US" sz="2800" dirty="0" smtClean="0">
                <a:latin typeface="宋体"/>
                <a:ea typeface="宋体"/>
                <a:cs typeface="宋体"/>
              </a:rPr>
              <a:t>：</a:t>
            </a:r>
            <a:r>
              <a:rPr lang="zh-CN" altLang="zh-CN" sz="2800" dirty="0" smtClean="0">
                <a:latin typeface="宋体"/>
                <a:ea typeface="宋体"/>
                <a:cs typeface="宋体"/>
              </a:rPr>
              <a:t>一种行为何以被标定为</a:t>
            </a:r>
            <a:r>
              <a:rPr lang="zh-CN" altLang="zh-CN" sz="2800" dirty="0">
                <a:latin typeface="宋体"/>
                <a:ea typeface="宋体"/>
                <a:cs typeface="宋体"/>
              </a:rPr>
              <a:t>犯罪的决</a:t>
            </a:r>
            <a:r>
              <a:rPr lang="zh-CN" altLang="zh-CN" sz="2800" dirty="0" smtClean="0">
                <a:latin typeface="宋体"/>
                <a:ea typeface="宋体"/>
                <a:cs typeface="宋体"/>
              </a:rPr>
              <a:t>定性因素到底是什么</a:t>
            </a:r>
            <a:r>
              <a:rPr lang="zh-CN" altLang="en-US" sz="2800" dirty="0" smtClean="0">
                <a:latin typeface="宋体"/>
                <a:ea typeface="宋体"/>
                <a:cs typeface="宋体"/>
              </a:rPr>
              <a:t>？</a:t>
            </a:r>
            <a:endParaRPr lang="en-US" altLang="zh-CN" sz="2800" dirty="0" smtClean="0">
              <a:latin typeface="宋体"/>
              <a:ea typeface="宋体"/>
              <a:cs typeface="宋体"/>
            </a:endParaRPr>
          </a:p>
          <a:p>
            <a:r>
              <a:rPr lang="zh-CN" altLang="zh-CN" sz="2800" b="1" dirty="0" smtClean="0">
                <a:latin typeface="黑体"/>
                <a:ea typeface="黑体"/>
                <a:cs typeface="黑体"/>
              </a:rPr>
              <a:t>客体本位的犯罪定义观</a:t>
            </a:r>
            <a:endParaRPr lang="en-US" altLang="zh-CN" sz="2800" b="1" dirty="0" smtClean="0">
              <a:latin typeface="黑体"/>
              <a:ea typeface="黑体"/>
              <a:cs typeface="黑体"/>
            </a:endParaRPr>
          </a:p>
          <a:p>
            <a:pPr marL="0" indent="0">
              <a:buNone/>
            </a:pPr>
            <a:r>
              <a:rPr lang="en-US" altLang="zh-CN" sz="2800" dirty="0" smtClean="0">
                <a:latin typeface="楷体"/>
                <a:ea typeface="楷体"/>
                <a:cs typeface="楷体"/>
              </a:rPr>
              <a:t>    </a:t>
            </a:r>
            <a:r>
              <a:rPr lang="zh-CN" altLang="zh-CN" sz="2800" dirty="0" smtClean="0">
                <a:latin typeface="楷体"/>
                <a:ea typeface="楷体"/>
                <a:cs typeface="楷体"/>
              </a:rPr>
              <a:t>认为犯罪定义</a:t>
            </a:r>
            <a:r>
              <a:rPr lang="zh-CN" altLang="zh-CN" sz="2800" dirty="0">
                <a:latin typeface="楷体"/>
                <a:ea typeface="楷体"/>
                <a:cs typeface="楷体"/>
              </a:rPr>
              <a:t>中的主导因素、决定性因素，是被定义的行为本身</a:t>
            </a:r>
            <a:r>
              <a:rPr lang="zh-CN" altLang="zh-CN" sz="2800" dirty="0" smtClean="0">
                <a:latin typeface="楷体"/>
                <a:ea typeface="楷体"/>
                <a:cs typeface="楷体"/>
              </a:rPr>
              <a:t>。犯罪定义</a:t>
            </a:r>
            <a:r>
              <a:rPr lang="zh-CN" altLang="zh-CN" sz="2800" dirty="0">
                <a:latin typeface="楷体"/>
                <a:ea typeface="楷体"/>
                <a:cs typeface="楷体"/>
              </a:rPr>
              <a:t>的客体性，主导着犯罪定义的制定和变化。 </a:t>
            </a:r>
            <a:endParaRPr lang="en-US" altLang="zh-CN" sz="2800" dirty="0" smtClean="0">
              <a:latin typeface="楷体"/>
              <a:ea typeface="楷体"/>
              <a:cs typeface="楷体"/>
            </a:endParaRPr>
          </a:p>
          <a:p>
            <a:r>
              <a:rPr lang="zh-CN" altLang="zh-CN" sz="2800" b="1" dirty="0">
                <a:latin typeface="黑体"/>
                <a:ea typeface="黑体"/>
                <a:cs typeface="黑体"/>
              </a:rPr>
              <a:t>主体本位的犯罪定义观</a:t>
            </a:r>
            <a:endParaRPr lang="en-US" altLang="zh-CN" sz="2800" b="1" dirty="0">
              <a:latin typeface="黑体"/>
              <a:ea typeface="黑体"/>
              <a:cs typeface="黑体"/>
            </a:endParaRPr>
          </a:p>
          <a:p>
            <a:pPr marL="0" indent="0">
              <a:buNone/>
            </a:pPr>
            <a:r>
              <a:rPr lang="en-US" altLang="zh-CN" sz="2800" dirty="0" smtClean="0">
                <a:latin typeface="楷体"/>
                <a:ea typeface="楷体"/>
                <a:cs typeface="楷体"/>
              </a:rPr>
              <a:t>    </a:t>
            </a:r>
            <a:r>
              <a:rPr lang="zh-CN" altLang="en-US" sz="2800" dirty="0" smtClean="0">
                <a:latin typeface="楷体"/>
                <a:ea typeface="楷体"/>
                <a:cs typeface="楷体"/>
              </a:rPr>
              <a:t>认为</a:t>
            </a:r>
            <a:r>
              <a:rPr lang="zh-CN" altLang="zh-CN" sz="2800" dirty="0" smtClean="0">
                <a:latin typeface="楷体"/>
                <a:ea typeface="楷体"/>
                <a:cs typeface="楷体"/>
              </a:rPr>
              <a:t>主导犯罪化过</a:t>
            </a:r>
            <a:r>
              <a:rPr lang="zh-CN" altLang="zh-CN" sz="2800" dirty="0">
                <a:latin typeface="楷体"/>
                <a:ea typeface="楷体"/>
                <a:cs typeface="楷体"/>
              </a:rPr>
              <a:t>程的决定性因素是犯罪定义中的主体性</a:t>
            </a:r>
            <a:r>
              <a:rPr lang="zh-CN" altLang="zh-CN" sz="2800" dirty="0" smtClean="0">
                <a:latin typeface="楷体"/>
                <a:ea typeface="楷体"/>
                <a:cs typeface="楷体"/>
              </a:rPr>
              <a:t>。关键</a:t>
            </a:r>
            <a:r>
              <a:rPr lang="zh-CN" altLang="zh-CN" sz="2800" dirty="0">
                <a:latin typeface="楷体"/>
                <a:ea typeface="楷体"/>
                <a:cs typeface="楷体"/>
              </a:rPr>
              <a:t>不在于什么行为实际上是犯罪，而在于什么行为应当或者需要被称为犯罪。 </a:t>
            </a:r>
          </a:p>
          <a:p>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21</a:t>
            </a:fld>
            <a:endParaRPr lang="zh-CN" altLang="en-US"/>
          </a:p>
        </p:txBody>
      </p:sp>
    </p:spTree>
    <p:extLst>
      <p:ext uri="{BB962C8B-B14F-4D97-AF65-F5344CB8AC3E}">
        <p14:creationId xmlns:p14="http://schemas.microsoft.com/office/powerpoint/2010/main" val="32453534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332656"/>
            <a:ext cx="7170737" cy="492125"/>
          </a:xfrm>
        </p:spPr>
        <p:txBody>
          <a:bodyPr/>
          <a:lstStyle/>
          <a:p>
            <a:pPr algn="ctr"/>
            <a:r>
              <a:rPr kumimoji="1" lang="zh-CN" altLang="en-US" sz="3600" dirty="0" smtClean="0">
                <a:latin typeface="黑体"/>
                <a:ea typeface="黑体"/>
                <a:cs typeface="黑体"/>
              </a:rPr>
              <a:t>两种理论比较：主客体关系</a:t>
            </a:r>
            <a:endParaRPr kumimoji="1" lang="zh-CN" altLang="en-US" sz="3600" dirty="0">
              <a:latin typeface="黑体"/>
              <a:ea typeface="黑体"/>
              <a:cs typeface="黑体"/>
            </a:endParaRPr>
          </a:p>
        </p:txBody>
      </p:sp>
      <p:sp>
        <p:nvSpPr>
          <p:cNvPr id="3" name="内容占位符 2"/>
          <p:cNvSpPr>
            <a:spLocks noGrp="1"/>
          </p:cNvSpPr>
          <p:nvPr>
            <p:ph idx="1"/>
          </p:nvPr>
        </p:nvSpPr>
        <p:spPr>
          <a:xfrm>
            <a:off x="467544" y="980728"/>
            <a:ext cx="8229600" cy="5400600"/>
          </a:xfrm>
        </p:spPr>
        <p:txBody>
          <a:bodyPr/>
          <a:lstStyle/>
          <a:p>
            <a:r>
              <a:rPr kumimoji="1" lang="zh-CN" altLang="en-US" sz="2800" b="1" dirty="0" smtClean="0">
                <a:latin typeface="宋体"/>
                <a:ea typeface="宋体"/>
                <a:cs typeface="宋体"/>
              </a:rPr>
              <a:t>客体理论强调被动</a:t>
            </a:r>
            <a:r>
              <a:rPr kumimoji="1" lang="zh-CN" altLang="en-US" sz="2800" b="1" dirty="0">
                <a:latin typeface="宋体"/>
                <a:ea typeface="宋体"/>
                <a:cs typeface="宋体"/>
              </a:rPr>
              <a:t>性</a:t>
            </a:r>
            <a:r>
              <a:rPr kumimoji="1" lang="zh-CN" altLang="en-US" sz="2800" b="1" dirty="0" smtClean="0">
                <a:latin typeface="宋体"/>
                <a:ea typeface="宋体"/>
                <a:cs typeface="宋体"/>
              </a:rPr>
              <a:t>：</a:t>
            </a:r>
            <a:endParaRPr kumimoji="1" lang="en-US" altLang="zh-CN" sz="2800" b="1" dirty="0" smtClean="0">
              <a:latin typeface="宋体"/>
              <a:ea typeface="宋体"/>
              <a:cs typeface="宋体"/>
            </a:endParaRPr>
          </a:p>
          <a:p>
            <a:pPr marL="0" indent="0">
              <a:buNone/>
            </a:pPr>
            <a:r>
              <a:rPr kumimoji="1" lang="en-US" altLang="zh-CN" sz="2800" dirty="0">
                <a:latin typeface="宋体"/>
                <a:ea typeface="宋体"/>
                <a:cs typeface="宋体"/>
              </a:rPr>
              <a:t> </a:t>
            </a:r>
            <a:r>
              <a:rPr kumimoji="1" lang="en-US" altLang="zh-CN" sz="2800" dirty="0" smtClean="0">
                <a:latin typeface="宋体"/>
                <a:ea typeface="宋体"/>
                <a:cs typeface="宋体"/>
              </a:rPr>
              <a:t>   </a:t>
            </a:r>
            <a:r>
              <a:rPr kumimoji="1" lang="zh-CN" altLang="en-US" sz="2800" dirty="0" smtClean="0">
                <a:latin typeface="宋体"/>
                <a:ea typeface="宋体"/>
                <a:cs typeface="宋体"/>
              </a:rPr>
              <a:t>犯罪</a:t>
            </a:r>
            <a:r>
              <a:rPr kumimoji="1" lang="zh-CN" altLang="zh-CN" sz="2800" dirty="0" smtClean="0">
                <a:latin typeface="宋体"/>
                <a:ea typeface="宋体"/>
                <a:cs typeface="宋体"/>
              </a:rPr>
              <a:t>行为不以</a:t>
            </a:r>
            <a:r>
              <a:rPr kumimoji="1" lang="zh-CN" altLang="en-US" sz="2800" dirty="0" smtClean="0">
                <a:latin typeface="宋体"/>
                <a:ea typeface="宋体"/>
                <a:cs typeface="宋体"/>
              </a:rPr>
              <a:t>立法</a:t>
            </a:r>
            <a:r>
              <a:rPr kumimoji="1" lang="zh-CN" altLang="zh-CN" sz="2800" dirty="0" smtClean="0">
                <a:latin typeface="宋体"/>
                <a:ea typeface="宋体"/>
                <a:cs typeface="宋体"/>
              </a:rPr>
              <a:t>者的意愿而转</a:t>
            </a:r>
            <a:r>
              <a:rPr kumimoji="1" lang="zh-CN" altLang="zh-CN" sz="2800" dirty="0">
                <a:latin typeface="宋体"/>
                <a:ea typeface="宋体"/>
                <a:cs typeface="宋体"/>
              </a:rPr>
              <a:t>移，不随着定义者的需要而变化</a:t>
            </a:r>
            <a:r>
              <a:rPr kumimoji="1" lang="zh-CN" altLang="zh-CN" sz="2800" dirty="0" smtClean="0">
                <a:latin typeface="宋体"/>
                <a:ea typeface="宋体"/>
                <a:cs typeface="宋体"/>
              </a:rPr>
              <a:t>。</a:t>
            </a:r>
            <a:endParaRPr kumimoji="1" lang="en-US" altLang="zh-CN" sz="2800" dirty="0" smtClean="0">
              <a:latin typeface="宋体"/>
              <a:ea typeface="宋体"/>
              <a:cs typeface="宋体"/>
            </a:endParaRPr>
          </a:p>
          <a:p>
            <a:pPr marL="0" indent="0">
              <a:buNone/>
            </a:pPr>
            <a:r>
              <a:rPr kumimoji="1" lang="en-US" altLang="zh-CN" sz="2800" dirty="0">
                <a:latin typeface="宋体"/>
                <a:ea typeface="宋体"/>
                <a:cs typeface="宋体"/>
              </a:rPr>
              <a:t> </a:t>
            </a:r>
            <a:r>
              <a:rPr kumimoji="1" lang="en-US" altLang="zh-CN" sz="2800" dirty="0" smtClean="0">
                <a:latin typeface="宋体"/>
                <a:ea typeface="宋体"/>
                <a:cs typeface="宋体"/>
              </a:rPr>
              <a:t>   </a:t>
            </a:r>
            <a:r>
              <a:rPr kumimoji="1" lang="zh-CN" altLang="zh-CN" sz="2800" dirty="0" smtClean="0">
                <a:latin typeface="宋体"/>
                <a:ea typeface="宋体"/>
                <a:cs typeface="宋体"/>
              </a:rPr>
              <a:t>不论谁是定义者</a:t>
            </a:r>
            <a:r>
              <a:rPr kumimoji="1" lang="zh-CN" altLang="zh-CN" sz="2800" dirty="0">
                <a:latin typeface="宋体"/>
                <a:ea typeface="宋体"/>
                <a:cs typeface="宋体"/>
              </a:rPr>
              <a:t>，只要他尊重事实，只要他从客观的犯罪实际出发，被定义为犯罪的行为都将是一样的。</a:t>
            </a:r>
            <a:endParaRPr kumimoji="1" lang="en-US" altLang="zh-CN" sz="2800" dirty="0">
              <a:latin typeface="宋体"/>
              <a:ea typeface="宋体"/>
              <a:cs typeface="宋体"/>
            </a:endParaRPr>
          </a:p>
          <a:p>
            <a:r>
              <a:rPr kumimoji="1" lang="zh-CN" altLang="en-US" sz="2800" b="1" dirty="0" smtClean="0">
                <a:latin typeface="宋体"/>
                <a:ea typeface="宋体"/>
                <a:cs typeface="宋体"/>
              </a:rPr>
              <a:t>主体理论强调能动</a:t>
            </a:r>
            <a:r>
              <a:rPr kumimoji="1" lang="zh-CN" altLang="en-US" sz="2800" b="1" dirty="0">
                <a:latin typeface="宋体"/>
                <a:ea typeface="宋体"/>
                <a:cs typeface="宋体"/>
              </a:rPr>
              <a:t>性</a:t>
            </a:r>
            <a:r>
              <a:rPr kumimoji="1" lang="zh-CN" altLang="en-US" sz="2800" b="1" dirty="0" smtClean="0">
                <a:latin typeface="宋体"/>
                <a:ea typeface="宋体"/>
                <a:cs typeface="宋体"/>
              </a:rPr>
              <a:t>：</a:t>
            </a:r>
            <a:endParaRPr kumimoji="1" lang="en-US" altLang="zh-CN" sz="2800" b="1" dirty="0" smtClean="0">
              <a:latin typeface="宋体"/>
              <a:ea typeface="宋体"/>
              <a:cs typeface="宋体"/>
            </a:endParaRPr>
          </a:p>
          <a:p>
            <a:pPr marL="0" indent="0">
              <a:buNone/>
            </a:pPr>
            <a:r>
              <a:rPr kumimoji="1" lang="en-US" altLang="zh-CN" sz="2800" dirty="0">
                <a:latin typeface="宋体"/>
                <a:ea typeface="宋体"/>
                <a:cs typeface="宋体"/>
              </a:rPr>
              <a:t> </a:t>
            </a:r>
            <a:r>
              <a:rPr kumimoji="1" lang="en-US" altLang="zh-CN" sz="2800" dirty="0" smtClean="0">
                <a:latin typeface="宋体"/>
                <a:ea typeface="宋体"/>
                <a:cs typeface="宋体"/>
              </a:rPr>
              <a:t>   </a:t>
            </a:r>
            <a:r>
              <a:rPr kumimoji="1" lang="zh-CN" altLang="zh-CN" sz="2800" dirty="0" smtClean="0">
                <a:latin typeface="宋体"/>
                <a:ea typeface="宋体"/>
                <a:cs typeface="宋体"/>
              </a:rPr>
              <a:t>主体性</a:t>
            </a:r>
            <a:r>
              <a:rPr kumimoji="1" lang="zh-CN" altLang="zh-CN" sz="2800" dirty="0">
                <a:latin typeface="宋体"/>
                <a:ea typeface="宋体"/>
                <a:cs typeface="宋体"/>
              </a:rPr>
              <a:t>是人的自觉、自主、能动、创造、认识局限、</a:t>
            </a:r>
            <a:r>
              <a:rPr kumimoji="1" lang="zh-CN" altLang="zh-CN" sz="2800" dirty="0" smtClean="0">
                <a:latin typeface="宋体"/>
                <a:ea typeface="宋体"/>
                <a:cs typeface="宋体"/>
              </a:rPr>
              <a:t>利益局限</a:t>
            </a:r>
            <a:r>
              <a:rPr kumimoji="1" lang="zh-CN" altLang="en-US" sz="2800" dirty="0" smtClean="0">
                <a:latin typeface="宋体"/>
                <a:ea typeface="宋体"/>
                <a:cs typeface="宋体"/>
              </a:rPr>
              <a:t>。（如，钓鱼执法）</a:t>
            </a:r>
            <a:endParaRPr kumimoji="1" lang="en-US" altLang="zh-CN" sz="2800" dirty="0" smtClean="0">
              <a:latin typeface="宋体"/>
              <a:ea typeface="宋体"/>
              <a:cs typeface="宋体"/>
            </a:endParaRPr>
          </a:p>
          <a:p>
            <a:pPr marL="0" indent="0">
              <a:buNone/>
            </a:pPr>
            <a:r>
              <a:rPr kumimoji="1" lang="en-US" altLang="zh-CN" sz="2800" dirty="0">
                <a:latin typeface="宋体"/>
                <a:ea typeface="宋体"/>
                <a:cs typeface="宋体"/>
              </a:rPr>
              <a:t> </a:t>
            </a:r>
            <a:r>
              <a:rPr kumimoji="1" lang="en-US" altLang="zh-CN" sz="2800" dirty="0" smtClean="0">
                <a:latin typeface="宋体"/>
                <a:ea typeface="宋体"/>
                <a:cs typeface="宋体"/>
              </a:rPr>
              <a:t>   </a:t>
            </a:r>
            <a:r>
              <a:rPr kumimoji="1" lang="zh-CN" altLang="zh-CN" sz="2800" dirty="0" smtClean="0">
                <a:latin typeface="宋体"/>
                <a:ea typeface="宋体"/>
                <a:cs typeface="宋体"/>
              </a:rPr>
              <a:t>谁</a:t>
            </a:r>
            <a:r>
              <a:rPr kumimoji="1" lang="zh-CN" altLang="zh-CN" sz="2800" dirty="0">
                <a:latin typeface="宋体"/>
                <a:ea typeface="宋体"/>
                <a:cs typeface="宋体"/>
              </a:rPr>
              <a:t>，根据何种标准，出于何种利益驱动，将何种行为界说为犯罪</a:t>
            </a:r>
            <a:r>
              <a:rPr kumimoji="1" lang="zh-CN" altLang="zh-CN" sz="2800" dirty="0" smtClean="0">
                <a:latin typeface="宋体"/>
                <a:ea typeface="宋体"/>
                <a:cs typeface="宋体"/>
              </a:rPr>
              <a:t>，在犯罪定义中</a:t>
            </a:r>
            <a:r>
              <a:rPr kumimoji="1" lang="zh-CN" altLang="zh-CN" sz="2800" dirty="0">
                <a:latin typeface="宋体"/>
                <a:ea typeface="宋体"/>
                <a:cs typeface="宋体"/>
              </a:rPr>
              <a:t>更具前提意义。 </a:t>
            </a:r>
            <a:endParaRPr kumimoji="1" lang="en-US" altLang="zh-CN"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22</a:t>
            </a:fld>
            <a:endParaRPr lang="zh-CN" altLang="en-US"/>
          </a:p>
        </p:txBody>
      </p:sp>
    </p:spTree>
    <p:extLst>
      <p:ext uri="{BB962C8B-B14F-4D97-AF65-F5344CB8AC3E}">
        <p14:creationId xmlns:p14="http://schemas.microsoft.com/office/powerpoint/2010/main" val="318048671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a:latin typeface="黑体"/>
                <a:ea typeface="黑体"/>
                <a:cs typeface="黑体"/>
              </a:rPr>
              <a:t>两种理论比较</a:t>
            </a:r>
            <a:r>
              <a:rPr kumimoji="1" lang="zh-CN" altLang="en-US" sz="3600" dirty="0" smtClean="0">
                <a:latin typeface="黑体"/>
                <a:ea typeface="黑体"/>
                <a:cs typeface="黑体"/>
              </a:rPr>
              <a:t>：对象与定义关</a:t>
            </a:r>
            <a:r>
              <a:rPr kumimoji="1" lang="zh-CN" altLang="en-US" sz="3600" dirty="0">
                <a:latin typeface="黑体"/>
                <a:ea typeface="黑体"/>
                <a:cs typeface="黑体"/>
              </a:rPr>
              <a:t>系</a:t>
            </a:r>
            <a:endParaRPr kumimoji="1" lang="zh-CN" altLang="en-US" sz="3600" dirty="0"/>
          </a:p>
        </p:txBody>
      </p:sp>
      <p:sp>
        <p:nvSpPr>
          <p:cNvPr id="3" name="内容占位符 2"/>
          <p:cNvSpPr>
            <a:spLocks noGrp="1"/>
          </p:cNvSpPr>
          <p:nvPr>
            <p:ph idx="1"/>
          </p:nvPr>
        </p:nvSpPr>
        <p:spPr>
          <a:xfrm>
            <a:off x="611560" y="908720"/>
            <a:ext cx="8229600" cy="5472608"/>
          </a:xfrm>
        </p:spPr>
        <p:txBody>
          <a:bodyPr/>
          <a:lstStyle/>
          <a:p>
            <a:r>
              <a:rPr kumimoji="1" lang="zh-CN" altLang="en-US" sz="2800" dirty="0" smtClean="0">
                <a:latin typeface="宋体"/>
                <a:ea typeface="宋体"/>
                <a:cs typeface="宋体"/>
              </a:rPr>
              <a:t>客体理论是</a:t>
            </a:r>
            <a:r>
              <a:rPr kumimoji="1" lang="zh-CN" altLang="en-US" sz="2800" b="1" dirty="0" smtClean="0">
                <a:latin typeface="黑体"/>
                <a:ea typeface="黑体"/>
                <a:cs typeface="黑体"/>
              </a:rPr>
              <a:t>认识论</a:t>
            </a:r>
            <a:r>
              <a:rPr kumimoji="1" lang="zh-CN" altLang="en-US" sz="2800" dirty="0" smtClean="0">
                <a:latin typeface="宋体"/>
                <a:ea typeface="宋体"/>
                <a:cs typeface="宋体"/>
              </a:rPr>
              <a:t>：</a:t>
            </a:r>
            <a:r>
              <a:rPr lang="zh-CN" altLang="zh-CN" sz="2800" dirty="0" smtClean="0">
                <a:latin typeface="楷体"/>
                <a:ea typeface="楷体"/>
                <a:cs typeface="楷体"/>
              </a:rPr>
              <a:t>犯罪定义说</a:t>
            </a:r>
            <a:r>
              <a:rPr lang="zh-CN" altLang="zh-CN" sz="2800" dirty="0">
                <a:latin typeface="楷体"/>
                <a:ea typeface="楷体"/>
                <a:cs typeface="楷体"/>
              </a:rPr>
              <a:t>到底是犯罪行为的副本，是犯罪行为的客观反映</a:t>
            </a:r>
            <a:r>
              <a:rPr lang="zh-CN" altLang="zh-CN" sz="2800" dirty="0" smtClean="0">
                <a:latin typeface="楷体"/>
                <a:ea typeface="楷体"/>
                <a:cs typeface="楷体"/>
              </a:rPr>
              <a:t>。</a:t>
            </a:r>
            <a:endParaRPr lang="en-US" altLang="zh-CN" sz="2800" dirty="0" smtClean="0">
              <a:latin typeface="楷体"/>
              <a:ea typeface="楷体"/>
              <a:cs typeface="楷体"/>
            </a:endParaRPr>
          </a:p>
          <a:p>
            <a:r>
              <a:rPr kumimoji="1" lang="zh-CN" altLang="en-US" sz="2800" dirty="0" smtClean="0">
                <a:latin typeface="宋体"/>
                <a:ea typeface="宋体"/>
                <a:cs typeface="宋体"/>
              </a:rPr>
              <a:t>主体理论是</a:t>
            </a:r>
            <a:r>
              <a:rPr kumimoji="1" lang="zh-CN" altLang="en-US" sz="2800" b="1" dirty="0">
                <a:latin typeface="黑体"/>
                <a:ea typeface="黑体"/>
                <a:cs typeface="黑体"/>
              </a:rPr>
              <a:t>价值论</a:t>
            </a:r>
            <a:r>
              <a:rPr kumimoji="1" lang="zh-CN" altLang="en-US" sz="2800" dirty="0" smtClean="0">
                <a:latin typeface="宋体"/>
                <a:ea typeface="宋体"/>
                <a:cs typeface="宋体"/>
              </a:rPr>
              <a:t>：</a:t>
            </a:r>
            <a:endParaRPr kumimoji="1" lang="en-US" altLang="zh-CN" sz="2800" dirty="0">
              <a:latin typeface="宋体"/>
              <a:ea typeface="宋体"/>
              <a:cs typeface="宋体"/>
            </a:endParaRPr>
          </a:p>
          <a:p>
            <a:pPr marL="0" indent="0">
              <a:buNone/>
            </a:pPr>
            <a:r>
              <a:rPr kumimoji="1" lang="en-US" altLang="zh-CN" sz="2800" dirty="0" smtClean="0">
                <a:latin typeface="楷体"/>
                <a:ea typeface="楷体"/>
                <a:cs typeface="楷体"/>
              </a:rPr>
              <a:t>    </a:t>
            </a:r>
            <a:r>
              <a:rPr kumimoji="1" lang="zh-CN" altLang="en-US" sz="2800" dirty="0" smtClean="0">
                <a:latin typeface="楷体"/>
                <a:ea typeface="楷体"/>
                <a:cs typeface="楷体"/>
              </a:rPr>
              <a:t>犯罪定义是</a:t>
            </a:r>
            <a:r>
              <a:rPr kumimoji="1" lang="zh-CN" altLang="zh-CN" sz="2800" dirty="0" smtClean="0">
                <a:latin typeface="楷体"/>
                <a:ea typeface="楷体"/>
                <a:cs typeface="楷体"/>
              </a:rPr>
              <a:t>定义</a:t>
            </a:r>
            <a:r>
              <a:rPr kumimoji="1" lang="zh-CN" altLang="zh-CN" sz="2800" dirty="0">
                <a:latin typeface="楷体"/>
                <a:ea typeface="楷体"/>
                <a:cs typeface="楷体"/>
              </a:rPr>
              <a:t>犯罪的主体赋予某些行为以犯罪的意义和属性的结果</a:t>
            </a:r>
            <a:r>
              <a:rPr kumimoji="1" lang="zh-CN" altLang="zh-CN" sz="2800" dirty="0" smtClean="0">
                <a:latin typeface="楷体"/>
                <a:ea typeface="楷体"/>
                <a:cs typeface="楷体"/>
              </a:rPr>
              <a:t>。</a:t>
            </a:r>
            <a:endParaRPr kumimoji="1" lang="en-US" altLang="zh-CN" sz="2800" dirty="0" smtClean="0">
              <a:latin typeface="楷体"/>
              <a:ea typeface="楷体"/>
              <a:cs typeface="楷体"/>
            </a:endParaRPr>
          </a:p>
          <a:p>
            <a:pPr marL="0" indent="0">
              <a:buNone/>
            </a:pPr>
            <a:r>
              <a:rPr kumimoji="1" lang="en-US" altLang="zh-CN" sz="2800" dirty="0">
                <a:latin typeface="楷体"/>
                <a:ea typeface="楷体"/>
                <a:cs typeface="楷体"/>
              </a:rPr>
              <a:t> </a:t>
            </a:r>
            <a:r>
              <a:rPr kumimoji="1" lang="en-US" altLang="zh-CN" sz="2800" dirty="0" smtClean="0">
                <a:latin typeface="楷体"/>
                <a:ea typeface="楷体"/>
                <a:cs typeface="楷体"/>
              </a:rPr>
              <a:t>   </a:t>
            </a:r>
            <a:r>
              <a:rPr kumimoji="1" lang="zh-CN" altLang="en-US" sz="2800" dirty="0" smtClean="0">
                <a:latin typeface="楷体"/>
                <a:ea typeface="楷体"/>
                <a:cs typeface="楷体"/>
              </a:rPr>
              <a:t>是主体彰显、表达、确证某种价值的工具。</a:t>
            </a:r>
            <a:endParaRPr kumimoji="1" lang="en-US" altLang="zh-CN" sz="2800" dirty="0">
              <a:latin typeface="楷体"/>
              <a:ea typeface="楷体"/>
              <a:cs typeface="楷体"/>
            </a:endParaRPr>
          </a:p>
          <a:p>
            <a:pPr marL="0" indent="0">
              <a:buNone/>
            </a:pPr>
            <a:r>
              <a:rPr kumimoji="1" lang="en-US" altLang="zh-CN" sz="2800" dirty="0" smtClean="0">
                <a:latin typeface="楷体"/>
                <a:ea typeface="楷体"/>
                <a:cs typeface="楷体"/>
              </a:rPr>
              <a:t>    </a:t>
            </a:r>
            <a:r>
              <a:rPr kumimoji="1" lang="zh-CN" altLang="zh-CN" sz="2800" dirty="0" smtClean="0">
                <a:latin typeface="楷体"/>
                <a:ea typeface="楷体"/>
                <a:cs typeface="楷体"/>
              </a:rPr>
              <a:t>未经允许拿走别人的东西这个动作</a:t>
            </a:r>
            <a:r>
              <a:rPr kumimoji="1" lang="zh-CN" altLang="en-US" sz="2800" dirty="0" smtClean="0">
                <a:latin typeface="楷体"/>
                <a:ea typeface="楷体"/>
                <a:cs typeface="楷体"/>
              </a:rPr>
              <a:t>可能被说成：“</a:t>
            </a:r>
            <a:r>
              <a:rPr kumimoji="1" lang="zh-CN" altLang="zh-CN" sz="2800" dirty="0" smtClean="0">
                <a:latin typeface="楷体"/>
                <a:ea typeface="楷体"/>
                <a:cs typeface="楷体"/>
              </a:rPr>
              <a:t>盗窃</a:t>
            </a:r>
            <a:r>
              <a:rPr kumimoji="1" lang="zh-CN" altLang="en-US" sz="2800" dirty="0" smtClean="0">
                <a:latin typeface="楷体"/>
                <a:ea typeface="楷体"/>
                <a:cs typeface="楷体"/>
              </a:rPr>
              <a:t>”、</a:t>
            </a:r>
            <a:r>
              <a:rPr kumimoji="1" lang="zh-CN" altLang="zh-CN" sz="2800" dirty="0">
                <a:latin typeface="楷体"/>
                <a:ea typeface="楷体"/>
                <a:cs typeface="楷体"/>
              </a:rPr>
              <a:t>“</a:t>
            </a:r>
            <a:r>
              <a:rPr kumimoji="1" lang="zh-CN" altLang="zh-CN" sz="2800" dirty="0" smtClean="0">
                <a:latin typeface="楷体"/>
                <a:ea typeface="楷体"/>
                <a:cs typeface="楷体"/>
              </a:rPr>
              <a:t>贪污</a:t>
            </a:r>
            <a:r>
              <a:rPr kumimoji="1" lang="zh-CN" altLang="en-US" sz="2800" dirty="0" smtClean="0">
                <a:latin typeface="楷体"/>
                <a:ea typeface="楷体"/>
                <a:cs typeface="楷体"/>
              </a:rPr>
              <a:t>”、“</a:t>
            </a:r>
            <a:r>
              <a:rPr kumimoji="1" lang="zh-CN" altLang="zh-CN" sz="2800" dirty="0" smtClean="0">
                <a:latin typeface="楷体"/>
                <a:ea typeface="楷体"/>
                <a:cs typeface="楷体"/>
              </a:rPr>
              <a:t>侵占</a:t>
            </a:r>
            <a:r>
              <a:rPr kumimoji="1" lang="zh-CN" altLang="en-US" sz="2800" dirty="0" smtClean="0">
                <a:latin typeface="楷体"/>
                <a:ea typeface="楷体"/>
                <a:cs typeface="楷体"/>
              </a:rPr>
              <a:t>”、“</a:t>
            </a:r>
            <a:r>
              <a:rPr kumimoji="1" lang="zh-CN" altLang="zh-CN" sz="2800" dirty="0" smtClean="0">
                <a:latin typeface="楷体"/>
                <a:ea typeface="楷体"/>
                <a:cs typeface="楷体"/>
              </a:rPr>
              <a:t>挪用</a:t>
            </a:r>
            <a:r>
              <a:rPr kumimoji="1" lang="zh-CN" altLang="en-US" sz="2800" dirty="0" smtClean="0">
                <a:latin typeface="楷体"/>
                <a:ea typeface="楷体"/>
                <a:cs typeface="楷体"/>
              </a:rPr>
              <a:t>”、“</a:t>
            </a:r>
            <a:r>
              <a:rPr kumimoji="1" lang="zh-CN" altLang="zh-CN" sz="2800" dirty="0" smtClean="0">
                <a:latin typeface="楷体"/>
                <a:ea typeface="楷体"/>
                <a:cs typeface="楷体"/>
              </a:rPr>
              <a:t>剽窃</a:t>
            </a:r>
            <a:r>
              <a:rPr kumimoji="1" lang="zh-CN" altLang="en-US" sz="2800" dirty="0" smtClean="0">
                <a:latin typeface="楷体"/>
                <a:ea typeface="楷体"/>
                <a:cs typeface="楷体"/>
              </a:rPr>
              <a:t>”、“</a:t>
            </a:r>
            <a:r>
              <a:rPr kumimoji="1" lang="zh-CN" altLang="zh-CN" sz="2800" dirty="0" smtClean="0">
                <a:latin typeface="楷体"/>
                <a:ea typeface="楷体"/>
                <a:cs typeface="楷体"/>
              </a:rPr>
              <a:t>私分国有资产</a:t>
            </a:r>
            <a:r>
              <a:rPr kumimoji="1" lang="zh-CN" altLang="en-US" sz="2800" dirty="0" smtClean="0">
                <a:latin typeface="楷体"/>
                <a:ea typeface="楷体"/>
                <a:cs typeface="楷体"/>
              </a:rPr>
              <a:t>”“</a:t>
            </a:r>
            <a:r>
              <a:rPr kumimoji="1" lang="zh-CN" altLang="zh-CN" sz="2800" dirty="0" smtClean="0">
                <a:latin typeface="楷体"/>
                <a:ea typeface="楷体"/>
                <a:cs typeface="楷体"/>
              </a:rPr>
              <a:t>收集证据</a:t>
            </a:r>
            <a:r>
              <a:rPr kumimoji="1" lang="zh-CN" altLang="en-US" sz="2800" dirty="0" smtClean="0">
                <a:latin typeface="楷体"/>
                <a:ea typeface="楷体"/>
                <a:cs typeface="楷体"/>
              </a:rPr>
              <a:t>”</a:t>
            </a:r>
            <a:r>
              <a:rPr kumimoji="1" lang="zh-CN" altLang="zh-CN" sz="2800" dirty="0" smtClean="0">
                <a:latin typeface="楷体"/>
                <a:ea typeface="楷体"/>
                <a:cs typeface="楷体"/>
              </a:rPr>
              <a:t>…</a:t>
            </a:r>
            <a:r>
              <a:rPr kumimoji="1" lang="zh-CN" altLang="zh-CN" sz="2800" dirty="0">
                <a:latin typeface="楷体"/>
                <a:ea typeface="楷体"/>
                <a:cs typeface="楷体"/>
              </a:rPr>
              <a:t>…</a:t>
            </a:r>
          </a:p>
          <a:p>
            <a:r>
              <a:rPr kumimoji="1" lang="zh-CN" altLang="zh-CN" sz="2800" dirty="0" smtClean="0">
                <a:latin typeface="宋体"/>
                <a:ea typeface="宋体"/>
                <a:cs typeface="宋体"/>
              </a:rPr>
              <a:t> </a:t>
            </a:r>
            <a:r>
              <a:rPr kumimoji="1" lang="zh-CN" altLang="en-US" sz="2800" dirty="0" smtClean="0">
                <a:latin typeface="宋体"/>
                <a:ea typeface="宋体"/>
                <a:cs typeface="宋体"/>
              </a:rPr>
              <a:t>问题：杀人中的“人”是否包括胎儿？</a:t>
            </a:r>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23</a:t>
            </a:fld>
            <a:endParaRPr lang="zh-CN" altLang="en-US"/>
          </a:p>
        </p:txBody>
      </p:sp>
    </p:spTree>
    <p:extLst>
      <p:ext uri="{BB962C8B-B14F-4D97-AF65-F5344CB8AC3E}">
        <p14:creationId xmlns:p14="http://schemas.microsoft.com/office/powerpoint/2010/main" val="657196481"/>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客体理论的理论根据</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r>
              <a:rPr lang="zh-CN" altLang="en-US" b="1" dirty="0" smtClean="0">
                <a:latin typeface="宋体"/>
                <a:ea typeface="宋体"/>
                <a:cs typeface="宋体"/>
              </a:rPr>
              <a:t>第一，</a:t>
            </a:r>
            <a:r>
              <a:rPr lang="zh-CN" altLang="zh-CN" b="1" dirty="0" smtClean="0">
                <a:latin typeface="宋体"/>
                <a:ea typeface="宋体"/>
                <a:cs typeface="宋体"/>
              </a:rPr>
              <a:t>犯罪定义是犯罪现</a:t>
            </a:r>
            <a:r>
              <a:rPr lang="zh-CN" altLang="zh-CN" b="1" dirty="0">
                <a:latin typeface="宋体"/>
                <a:ea typeface="宋体"/>
                <a:cs typeface="宋体"/>
              </a:rPr>
              <a:t>象的主观反映——</a:t>
            </a:r>
            <a:r>
              <a:rPr lang="zh-CN" altLang="zh-CN" b="1" dirty="0" smtClean="0">
                <a:latin typeface="黑体"/>
                <a:ea typeface="黑体"/>
                <a:cs typeface="黑体"/>
              </a:rPr>
              <a:t>摹状论</a:t>
            </a:r>
            <a:endParaRPr lang="en-US" altLang="zh-CN" b="1" dirty="0" smtClean="0">
              <a:latin typeface="黑体"/>
              <a:ea typeface="黑体"/>
              <a:cs typeface="黑体"/>
            </a:endParaRPr>
          </a:p>
          <a:p>
            <a:pPr marL="0" indent="0">
              <a:buNone/>
            </a:pPr>
            <a:r>
              <a:rPr lang="en-US" altLang="zh-CN" b="1" dirty="0" smtClean="0">
                <a:latin typeface="楷体"/>
                <a:ea typeface="楷体"/>
                <a:cs typeface="楷体"/>
              </a:rPr>
              <a:t>    </a:t>
            </a:r>
            <a:r>
              <a:rPr lang="zh-CN" altLang="en-US" dirty="0" smtClean="0">
                <a:latin typeface="楷体"/>
                <a:ea typeface="楷体"/>
                <a:cs typeface="楷体"/>
              </a:rPr>
              <a:t>信用证诈骗罪的今昔</a:t>
            </a:r>
            <a:endParaRPr lang="en-US" altLang="zh-CN" dirty="0" smtClean="0">
              <a:latin typeface="楷体"/>
              <a:ea typeface="楷体"/>
              <a:cs typeface="楷体"/>
            </a:endParaRPr>
          </a:p>
          <a:p>
            <a:r>
              <a:rPr lang="zh-CN" altLang="en-US" b="1" dirty="0" smtClean="0">
                <a:latin typeface="宋体"/>
                <a:ea typeface="宋体"/>
                <a:cs typeface="宋体"/>
              </a:rPr>
              <a:t>第二，</a:t>
            </a:r>
            <a:r>
              <a:rPr lang="zh-CN" altLang="zh-CN" b="1" dirty="0" smtClean="0">
                <a:latin typeface="宋体"/>
                <a:ea typeface="宋体"/>
                <a:cs typeface="宋体"/>
              </a:rPr>
              <a:t>界说</a:t>
            </a:r>
            <a:r>
              <a:rPr lang="zh-CN" altLang="zh-CN" b="1" dirty="0">
                <a:latin typeface="宋体"/>
                <a:ea typeface="宋体"/>
                <a:cs typeface="宋体"/>
              </a:rPr>
              <a:t>犯罪的标准只有一个——</a:t>
            </a:r>
            <a:r>
              <a:rPr lang="zh-CN" altLang="zh-CN" b="1" dirty="0">
                <a:latin typeface="黑体"/>
                <a:ea typeface="黑体"/>
                <a:cs typeface="黑体"/>
              </a:rPr>
              <a:t>一元论</a:t>
            </a:r>
            <a:r>
              <a:rPr lang="zh-CN" altLang="zh-CN" b="1" dirty="0">
                <a:latin typeface="宋体"/>
                <a:ea typeface="宋体"/>
                <a:cs typeface="宋体"/>
              </a:rPr>
              <a:t> </a:t>
            </a:r>
            <a:endParaRPr lang="en-US" altLang="zh-CN" b="1" dirty="0" smtClean="0">
              <a:latin typeface="宋体"/>
              <a:ea typeface="宋体"/>
              <a:cs typeface="宋体"/>
            </a:endParaRPr>
          </a:p>
          <a:p>
            <a:pPr marL="0" indent="0">
              <a:buNone/>
            </a:pPr>
            <a:r>
              <a:rPr lang="en-US" altLang="zh-CN" b="1" dirty="0" smtClean="0">
                <a:latin typeface="楷体"/>
                <a:ea typeface="楷体"/>
                <a:cs typeface="楷体"/>
              </a:rPr>
              <a:t>    </a:t>
            </a:r>
            <a:r>
              <a:rPr lang="zh-CN" altLang="zh-CN" dirty="0" smtClean="0">
                <a:latin typeface="楷体"/>
                <a:ea typeface="楷体"/>
                <a:cs typeface="楷体"/>
              </a:rPr>
              <a:t>客体</a:t>
            </a:r>
            <a:r>
              <a:rPr lang="zh-CN" altLang="en-US" dirty="0" smtClean="0">
                <a:latin typeface="楷体"/>
                <a:ea typeface="楷体"/>
                <a:cs typeface="楷体"/>
              </a:rPr>
              <a:t>理论</a:t>
            </a:r>
            <a:r>
              <a:rPr lang="zh-CN" altLang="zh-CN" dirty="0" smtClean="0">
                <a:latin typeface="楷体"/>
                <a:ea typeface="楷体"/>
                <a:cs typeface="楷体"/>
              </a:rPr>
              <a:t>相</a:t>
            </a:r>
            <a:r>
              <a:rPr lang="zh-CN" altLang="zh-CN" dirty="0">
                <a:latin typeface="楷体"/>
                <a:ea typeface="楷体"/>
                <a:cs typeface="楷体"/>
              </a:rPr>
              <a:t>信，的确存在着</a:t>
            </a:r>
            <a:r>
              <a:rPr lang="zh-CN" altLang="en-US" dirty="0">
                <a:latin typeface="楷体"/>
                <a:ea typeface="楷体"/>
                <a:cs typeface="楷体"/>
              </a:rPr>
              <a:t>某种</a:t>
            </a:r>
            <a:r>
              <a:rPr lang="zh-CN" altLang="zh-CN" dirty="0">
                <a:latin typeface="楷体"/>
                <a:ea typeface="楷体"/>
                <a:cs typeface="楷体"/>
              </a:rPr>
              <a:t>唯一通行、公认的行为准则和价值规范。行为准则不可能是多元的。犯罪只能是与唯一正统的规范准则相悖的行为。</a:t>
            </a:r>
          </a:p>
          <a:p>
            <a:pPr marL="0" indent="0">
              <a:buNone/>
            </a:pPr>
            <a:r>
              <a:rPr lang="en-US" altLang="zh-CN" dirty="0" smtClean="0">
                <a:latin typeface="楷体"/>
                <a:ea typeface="楷体"/>
                <a:cs typeface="楷体"/>
              </a:rPr>
              <a:t>    </a:t>
            </a:r>
            <a:r>
              <a:rPr lang="zh-CN" altLang="en-US" dirty="0" smtClean="0">
                <a:latin typeface="楷体"/>
                <a:ea typeface="楷体"/>
                <a:cs typeface="楷体"/>
              </a:rPr>
              <a:t>加洛法罗</a:t>
            </a:r>
            <a:r>
              <a:rPr lang="zh-CN" altLang="en-US" dirty="0">
                <a:latin typeface="楷体"/>
                <a:ea typeface="楷体"/>
                <a:cs typeface="楷体"/>
              </a:rPr>
              <a:t>的“自然犯罪”理论</a:t>
            </a:r>
            <a:endParaRPr lang="en-US" altLang="zh-CN" dirty="0">
              <a:latin typeface="楷体"/>
              <a:ea typeface="楷体"/>
              <a:cs typeface="楷体"/>
            </a:endParaRPr>
          </a:p>
          <a:p>
            <a:r>
              <a:rPr lang="zh-CN" altLang="en-US" b="1" dirty="0" smtClean="0">
                <a:latin typeface="宋体"/>
                <a:ea typeface="宋体"/>
                <a:cs typeface="宋体"/>
              </a:rPr>
              <a:t>第三，</a:t>
            </a:r>
            <a:r>
              <a:rPr lang="zh-CN" altLang="zh-CN" b="1" dirty="0" smtClean="0">
                <a:latin typeface="宋体"/>
                <a:ea typeface="宋体"/>
                <a:cs typeface="宋体"/>
              </a:rPr>
              <a:t>犯罪是自然产物而非人为塑</a:t>
            </a:r>
            <a:r>
              <a:rPr lang="zh-CN" altLang="zh-CN" b="1" dirty="0">
                <a:latin typeface="宋体"/>
                <a:ea typeface="宋体"/>
                <a:cs typeface="宋体"/>
              </a:rPr>
              <a:t>造的产物——</a:t>
            </a:r>
            <a:r>
              <a:rPr lang="zh-CN" altLang="zh-CN" b="1" dirty="0">
                <a:latin typeface="黑体"/>
                <a:ea typeface="黑体"/>
                <a:cs typeface="黑体"/>
              </a:rPr>
              <a:t>自然论</a:t>
            </a:r>
            <a:r>
              <a:rPr lang="zh-CN" altLang="zh-CN" b="1" dirty="0">
                <a:latin typeface="宋体"/>
                <a:ea typeface="宋体"/>
                <a:cs typeface="宋体"/>
              </a:rPr>
              <a:t> </a:t>
            </a:r>
            <a:endParaRPr lang="en-US" altLang="zh-CN" b="1" dirty="0" smtClean="0">
              <a:latin typeface="宋体"/>
              <a:ea typeface="宋体"/>
              <a:cs typeface="宋体"/>
            </a:endParaRPr>
          </a:p>
          <a:p>
            <a:pPr marL="0" indent="0">
              <a:buNone/>
            </a:pPr>
            <a:r>
              <a:rPr lang="en-US" altLang="zh-CN" b="1" dirty="0" smtClean="0">
                <a:latin typeface="楷体"/>
                <a:ea typeface="楷体"/>
                <a:cs typeface="楷体"/>
              </a:rPr>
              <a:t>    </a:t>
            </a:r>
            <a:r>
              <a:rPr lang="zh-CN" altLang="zh-CN" dirty="0" smtClean="0">
                <a:latin typeface="楷体"/>
                <a:ea typeface="楷体"/>
                <a:cs typeface="楷体"/>
              </a:rPr>
              <a:t>犯罪不是被</a:t>
            </a:r>
            <a:r>
              <a:rPr lang="zh-CN" altLang="zh-CN" dirty="0">
                <a:latin typeface="楷体"/>
                <a:ea typeface="楷体"/>
                <a:cs typeface="楷体"/>
              </a:rPr>
              <a:t>塑造出来或者发明出来的，而是被认识、发现的客体。所以，客体本位的犯罪定义观又可以被称为自然主义</a:t>
            </a:r>
            <a:r>
              <a:rPr lang="zh-CN" altLang="zh-CN" dirty="0" smtClean="0">
                <a:latin typeface="楷体"/>
                <a:ea typeface="楷体"/>
                <a:cs typeface="楷体"/>
              </a:rPr>
              <a:t>犯罪学</a:t>
            </a:r>
            <a:r>
              <a:rPr lang="en-US" altLang="zh-CN" dirty="0" smtClean="0">
                <a:latin typeface="楷体"/>
                <a:ea typeface="楷体"/>
                <a:cs typeface="楷体"/>
              </a:rPr>
              <a:t>——</a:t>
            </a:r>
          </a:p>
          <a:p>
            <a:pPr marL="0" indent="0">
              <a:buNone/>
            </a:pPr>
            <a:r>
              <a:rPr lang="en-US" altLang="zh-CN" dirty="0">
                <a:latin typeface="楷体"/>
                <a:ea typeface="楷体"/>
                <a:cs typeface="楷体"/>
              </a:rPr>
              <a:t> </a:t>
            </a:r>
            <a:r>
              <a:rPr lang="en-US" altLang="zh-CN" dirty="0" smtClean="0">
                <a:latin typeface="楷体"/>
                <a:ea typeface="楷体"/>
                <a:cs typeface="楷体"/>
              </a:rPr>
              <a:t>   </a:t>
            </a:r>
            <a:r>
              <a:rPr lang="zh-CN" altLang="zh-CN" dirty="0" smtClean="0">
                <a:latin typeface="楷体"/>
                <a:ea typeface="楷体"/>
                <a:cs typeface="楷体"/>
              </a:rPr>
              <a:t> </a:t>
            </a:r>
            <a:endParaRPr lang="zh-CN" altLang="zh-CN" dirty="0">
              <a:latin typeface="楷体"/>
              <a:ea typeface="楷体"/>
              <a:cs typeface="楷体"/>
            </a:endParaRPr>
          </a:p>
          <a:p>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24</a:t>
            </a:fld>
            <a:endParaRPr lang="zh-CN" altLang="en-US"/>
          </a:p>
        </p:txBody>
      </p:sp>
    </p:spTree>
    <p:extLst>
      <p:ext uri="{BB962C8B-B14F-4D97-AF65-F5344CB8AC3E}">
        <p14:creationId xmlns:p14="http://schemas.microsoft.com/office/powerpoint/2010/main" val="397322041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438" y="211138"/>
            <a:ext cx="8605018" cy="492125"/>
          </a:xfrm>
        </p:spPr>
        <p:txBody>
          <a:bodyPr/>
          <a:lstStyle/>
          <a:p>
            <a:r>
              <a:rPr lang="zh-CN" altLang="en-US" b="1" dirty="0">
                <a:latin typeface="楷体"/>
                <a:ea typeface="楷体"/>
                <a:cs typeface="楷体"/>
              </a:rPr>
              <a:t>孪生子研究、</a:t>
            </a:r>
            <a:r>
              <a:rPr lang="en-US" altLang="zh-CN" b="1" dirty="0">
                <a:latin typeface="楷体"/>
                <a:ea typeface="楷体"/>
                <a:cs typeface="楷体"/>
              </a:rPr>
              <a:t>1833</a:t>
            </a:r>
            <a:r>
              <a:rPr lang="zh-CN" altLang="zh-CN" b="1" dirty="0">
                <a:latin typeface="楷体"/>
                <a:ea typeface="楷体"/>
                <a:cs typeface="楷体"/>
              </a:rPr>
              <a:t>年法国格雷的《论法国的道德统计</a:t>
            </a:r>
            <a:r>
              <a:rPr lang="zh-CN" altLang="zh-CN" dirty="0">
                <a:latin typeface="楷体"/>
                <a:ea typeface="楷体"/>
                <a:cs typeface="楷体"/>
              </a:rPr>
              <a:t>》</a:t>
            </a:r>
            <a:endParaRPr kumimoji="1" lang="zh-CN" altLang="en-US" dirty="0"/>
          </a:p>
        </p:txBody>
      </p:sp>
      <p:sp>
        <p:nvSpPr>
          <p:cNvPr id="3" name="内容占位符 2"/>
          <p:cNvSpPr>
            <a:spLocks noGrp="1"/>
          </p:cNvSpPr>
          <p:nvPr>
            <p:ph idx="1"/>
          </p:nvPr>
        </p:nvSpPr>
        <p:spPr>
          <a:xfrm>
            <a:off x="457200" y="980728"/>
            <a:ext cx="8229600" cy="5544616"/>
          </a:xfrm>
        </p:spPr>
        <p:txBody>
          <a:bodyPr/>
          <a:lstStyle/>
          <a:p>
            <a:r>
              <a:rPr lang="zh-CN" altLang="zh-CN" sz="2800" dirty="0">
                <a:latin typeface="宋体"/>
                <a:ea typeface="宋体"/>
                <a:cs typeface="宋体"/>
              </a:rPr>
              <a:t>在成年犯罪人组中，同卵的一致率为</a:t>
            </a:r>
            <a:r>
              <a:rPr lang="en-US" altLang="zh-CN" sz="2800" dirty="0">
                <a:latin typeface="宋体"/>
                <a:ea typeface="宋体"/>
                <a:cs typeface="宋体"/>
              </a:rPr>
              <a:t>67.6%</a:t>
            </a:r>
            <a:r>
              <a:rPr lang="zh-CN" altLang="zh-CN" sz="2800" dirty="0">
                <a:latin typeface="宋体"/>
                <a:ea typeface="宋体"/>
                <a:cs typeface="宋体"/>
              </a:rPr>
              <a:t>，而异卵中，同性别的一致率为</a:t>
            </a:r>
            <a:r>
              <a:rPr lang="en-US" altLang="zh-CN" sz="2800" dirty="0">
                <a:latin typeface="宋体"/>
                <a:ea typeface="宋体"/>
                <a:cs typeface="宋体"/>
              </a:rPr>
              <a:t>17.9%</a:t>
            </a:r>
            <a:r>
              <a:rPr lang="zh-CN" altLang="zh-CN" sz="2800" dirty="0">
                <a:latin typeface="宋体"/>
                <a:ea typeface="宋体"/>
                <a:cs typeface="宋体"/>
              </a:rPr>
              <a:t>，不同性别的一致率仅为</a:t>
            </a:r>
            <a:r>
              <a:rPr lang="en-US" altLang="zh-CN" sz="2800" dirty="0">
                <a:latin typeface="宋体"/>
                <a:ea typeface="宋体"/>
                <a:cs typeface="宋体"/>
              </a:rPr>
              <a:t>3.1%</a:t>
            </a:r>
            <a:r>
              <a:rPr lang="zh-CN" altLang="zh-CN" sz="2800" dirty="0">
                <a:latin typeface="宋体"/>
                <a:ea typeface="宋体"/>
                <a:cs typeface="宋体"/>
              </a:rPr>
              <a:t>。㈡在少年犯罪人组中，同卵的一致率为</a:t>
            </a:r>
            <a:r>
              <a:rPr lang="en-US" altLang="zh-CN" sz="2800" dirty="0">
                <a:latin typeface="宋体"/>
                <a:ea typeface="宋体"/>
                <a:cs typeface="宋体"/>
              </a:rPr>
              <a:t>93%</a:t>
            </a:r>
            <a:r>
              <a:rPr lang="zh-CN" altLang="zh-CN" sz="2800" dirty="0">
                <a:latin typeface="宋体"/>
                <a:ea typeface="宋体"/>
                <a:cs typeface="宋体"/>
              </a:rPr>
              <a:t>，而在异卵中，同性别的一致率为</a:t>
            </a:r>
            <a:r>
              <a:rPr lang="en-US" altLang="zh-CN" sz="2800" dirty="0">
                <a:latin typeface="宋体"/>
                <a:ea typeface="宋体"/>
                <a:cs typeface="宋体"/>
              </a:rPr>
              <a:t>80%</a:t>
            </a:r>
            <a:r>
              <a:rPr lang="zh-CN" altLang="zh-CN" sz="2800" dirty="0">
                <a:latin typeface="宋体"/>
                <a:ea typeface="宋体"/>
                <a:cs typeface="宋体"/>
              </a:rPr>
              <a:t>，不同性别的一致率为</a:t>
            </a:r>
            <a:r>
              <a:rPr lang="en-US" altLang="zh-CN" sz="2800" dirty="0">
                <a:latin typeface="宋体"/>
                <a:ea typeface="宋体"/>
                <a:cs typeface="宋体"/>
              </a:rPr>
              <a:t>20%</a:t>
            </a:r>
            <a:r>
              <a:rPr lang="zh-CN" altLang="zh-CN" sz="2800" dirty="0" smtClean="0">
                <a:latin typeface="宋体"/>
                <a:ea typeface="宋体"/>
                <a:cs typeface="宋体"/>
              </a:rPr>
              <a:t>。</a:t>
            </a:r>
            <a:r>
              <a:rPr lang="zh-CN" altLang="zh-CN" sz="2800" dirty="0">
                <a:latin typeface="宋体"/>
                <a:ea typeface="宋体"/>
                <a:cs typeface="宋体"/>
              </a:rPr>
              <a:t>这说明，犯罪不仅和遗传有关，而且和性别有关。 </a:t>
            </a:r>
            <a:endParaRPr lang="en-US" altLang="zh-CN" sz="2800" dirty="0" smtClean="0">
              <a:latin typeface="宋体"/>
              <a:ea typeface="宋体"/>
              <a:cs typeface="宋体"/>
            </a:endParaRPr>
          </a:p>
          <a:p>
            <a:r>
              <a:rPr lang="zh-CN" altLang="zh-CN" sz="2800" dirty="0" smtClean="0">
                <a:latin typeface="宋体"/>
                <a:ea typeface="宋体"/>
                <a:cs typeface="宋体"/>
              </a:rPr>
              <a:t>法</a:t>
            </a:r>
            <a:r>
              <a:rPr lang="zh-CN" altLang="zh-CN" sz="2800" dirty="0">
                <a:latin typeface="宋体"/>
                <a:ea typeface="宋体"/>
                <a:cs typeface="宋体"/>
              </a:rPr>
              <a:t>国北部地区，</a:t>
            </a:r>
            <a:r>
              <a:rPr lang="zh-CN" altLang="zh-CN" sz="2800" dirty="0" smtClean="0">
                <a:latin typeface="宋体"/>
                <a:ea typeface="宋体"/>
                <a:cs typeface="宋体"/>
              </a:rPr>
              <a:t>气候寒冷</a:t>
            </a:r>
            <a:r>
              <a:rPr lang="zh-CN" altLang="zh-CN" sz="2800" dirty="0">
                <a:latin typeface="宋体"/>
                <a:ea typeface="宋体"/>
                <a:cs typeface="宋体"/>
              </a:rPr>
              <a:t>，如果把这里的人身犯罪作为基数</a:t>
            </a:r>
            <a:r>
              <a:rPr lang="en-US" altLang="zh-CN" sz="2800" dirty="0">
                <a:latin typeface="宋体"/>
                <a:ea typeface="宋体"/>
                <a:cs typeface="宋体"/>
              </a:rPr>
              <a:t>100</a:t>
            </a:r>
            <a:r>
              <a:rPr lang="zh-CN" altLang="zh-CN" sz="2800" dirty="0">
                <a:latin typeface="宋体"/>
                <a:ea typeface="宋体"/>
                <a:cs typeface="宋体"/>
              </a:rPr>
              <a:t>的话</a:t>
            </a:r>
            <a:r>
              <a:rPr lang="zh-CN" altLang="zh-CN" sz="2800" dirty="0" smtClean="0">
                <a:latin typeface="宋体"/>
                <a:ea typeface="宋体"/>
                <a:cs typeface="宋体"/>
              </a:rPr>
              <a:t>，侵犯财产</a:t>
            </a:r>
            <a:r>
              <a:rPr lang="zh-CN" altLang="zh-CN" sz="2800" dirty="0">
                <a:latin typeface="宋体"/>
                <a:ea typeface="宋体"/>
                <a:cs typeface="宋体"/>
              </a:rPr>
              <a:t>犯罪的犯罪率就是</a:t>
            </a:r>
            <a:r>
              <a:rPr lang="en-US" altLang="zh-CN" sz="2800" dirty="0">
                <a:latin typeface="宋体"/>
                <a:ea typeface="宋体"/>
                <a:cs typeface="宋体"/>
              </a:rPr>
              <a:t>181.5%</a:t>
            </a:r>
            <a:r>
              <a:rPr lang="zh-CN" altLang="zh-CN" sz="2800" dirty="0" smtClean="0">
                <a:latin typeface="宋体"/>
                <a:ea typeface="宋体"/>
                <a:cs typeface="宋体"/>
              </a:rPr>
              <a:t>。</a:t>
            </a:r>
            <a:r>
              <a:rPr lang="zh-CN" altLang="en-US" sz="2800" dirty="0" smtClean="0">
                <a:latin typeface="宋体"/>
                <a:ea typeface="宋体"/>
                <a:cs typeface="宋体"/>
              </a:rPr>
              <a:t>而</a:t>
            </a:r>
            <a:r>
              <a:rPr lang="zh-CN" altLang="zh-CN" sz="2800" dirty="0" smtClean="0">
                <a:latin typeface="宋体"/>
                <a:ea typeface="宋体"/>
                <a:cs typeface="宋体"/>
              </a:rPr>
              <a:t>法国南部气候温和</a:t>
            </a:r>
            <a:r>
              <a:rPr lang="zh-CN" altLang="zh-CN" sz="2800" dirty="0">
                <a:latin typeface="宋体"/>
                <a:ea typeface="宋体"/>
                <a:cs typeface="宋体"/>
              </a:rPr>
              <a:t>，如果把这里的人身犯罪作为基数</a:t>
            </a:r>
            <a:r>
              <a:rPr lang="en-US" altLang="zh-CN" sz="2800" dirty="0">
                <a:latin typeface="宋体"/>
                <a:ea typeface="宋体"/>
                <a:cs typeface="宋体"/>
              </a:rPr>
              <a:t>100</a:t>
            </a:r>
            <a:r>
              <a:rPr lang="zh-CN" altLang="zh-CN" sz="2800" dirty="0">
                <a:latin typeface="宋体"/>
                <a:ea typeface="宋体"/>
                <a:cs typeface="宋体"/>
              </a:rPr>
              <a:t>的话，那么侵犯财产犯罪的犯罪率就是</a:t>
            </a:r>
            <a:r>
              <a:rPr lang="en-US" altLang="zh-CN" sz="2800" dirty="0">
                <a:latin typeface="宋体"/>
                <a:ea typeface="宋体"/>
                <a:cs typeface="宋体"/>
              </a:rPr>
              <a:t>48.8%</a:t>
            </a:r>
            <a:r>
              <a:rPr lang="zh-CN" altLang="zh-CN" sz="2800" dirty="0" smtClean="0">
                <a:latin typeface="宋体"/>
                <a:ea typeface="宋体"/>
                <a:cs typeface="宋体"/>
              </a:rPr>
              <a:t>。说</a:t>
            </a:r>
            <a:r>
              <a:rPr lang="zh-CN" altLang="zh-CN" sz="2800" dirty="0">
                <a:latin typeface="宋体"/>
                <a:ea typeface="宋体"/>
                <a:cs typeface="宋体"/>
              </a:rPr>
              <a:t>明，气候暖和地区的人身犯罪率高，气候寒冷地区的财产犯罪率高。 </a:t>
            </a:r>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25</a:t>
            </a:fld>
            <a:endParaRPr lang="zh-CN" altLang="en-US"/>
          </a:p>
        </p:txBody>
      </p:sp>
    </p:spTree>
    <p:extLst>
      <p:ext uri="{BB962C8B-B14F-4D97-AF65-F5344CB8AC3E}">
        <p14:creationId xmlns:p14="http://schemas.microsoft.com/office/powerpoint/2010/main" val="346276934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罪刑关系逻辑批判</a:t>
            </a:r>
            <a:endParaRPr kumimoji="1" lang="zh-CN" altLang="en-US" sz="3200" dirty="0">
              <a:latin typeface="黑体"/>
              <a:ea typeface="黑体"/>
              <a:cs typeface="黑体"/>
            </a:endParaRPr>
          </a:p>
        </p:txBody>
      </p:sp>
      <p:sp>
        <p:nvSpPr>
          <p:cNvPr id="3" name="内容占位符 2"/>
          <p:cNvSpPr>
            <a:spLocks noGrp="1"/>
          </p:cNvSpPr>
          <p:nvPr>
            <p:ph idx="1"/>
          </p:nvPr>
        </p:nvSpPr>
        <p:spPr>
          <a:xfrm>
            <a:off x="395536" y="836712"/>
            <a:ext cx="8229600" cy="5688632"/>
          </a:xfrm>
        </p:spPr>
        <p:txBody>
          <a:bodyPr/>
          <a:lstStyle/>
          <a:p>
            <a:r>
              <a:rPr kumimoji="1" lang="zh-CN" altLang="en-US" sz="2800" b="1" dirty="0" smtClean="0">
                <a:latin typeface="宋体"/>
                <a:ea typeface="宋体"/>
                <a:cs typeface="宋体"/>
              </a:rPr>
              <a:t>为什么说“罪为因刑为果”并不符合实际？</a:t>
            </a:r>
            <a:endParaRPr kumimoji="1" lang="en-US" altLang="zh-CN" sz="2800" b="1" dirty="0" smtClean="0">
              <a:latin typeface="宋体"/>
              <a:ea typeface="宋体"/>
              <a:cs typeface="宋体"/>
            </a:endParaRPr>
          </a:p>
          <a:p>
            <a:r>
              <a:rPr lang="zh-CN" altLang="zh-CN" dirty="0" smtClean="0">
                <a:latin typeface="楷体"/>
                <a:ea typeface="楷体"/>
                <a:cs typeface="楷体"/>
              </a:rPr>
              <a:t>二人趁庙中游人散尽</a:t>
            </a:r>
            <a:r>
              <a:rPr lang="zh-CN" altLang="en-US" dirty="0" smtClean="0">
                <a:latin typeface="楷体"/>
                <a:ea typeface="楷体"/>
                <a:cs typeface="楷体"/>
              </a:rPr>
              <a:t>闯入</a:t>
            </a:r>
            <a:r>
              <a:rPr lang="zh-CN" altLang="zh-CN" dirty="0" smtClean="0">
                <a:latin typeface="楷体"/>
                <a:ea typeface="楷体"/>
                <a:cs typeface="楷体"/>
              </a:rPr>
              <a:t>大殿</a:t>
            </a:r>
            <a:r>
              <a:rPr lang="zh-CN" altLang="en-US" dirty="0" smtClean="0">
                <a:latin typeface="楷体"/>
                <a:ea typeface="楷体"/>
                <a:cs typeface="楷体"/>
              </a:rPr>
              <a:t>，某甲</a:t>
            </a:r>
            <a:r>
              <a:rPr lang="zh-CN" altLang="zh-CN" dirty="0" smtClean="0">
                <a:latin typeface="楷体"/>
                <a:ea typeface="楷体"/>
                <a:cs typeface="楷体"/>
              </a:rPr>
              <a:t>用刀逼</a:t>
            </a:r>
            <a:r>
              <a:rPr lang="zh-CN" altLang="zh-CN" dirty="0">
                <a:latin typeface="楷体"/>
                <a:ea typeface="楷体"/>
                <a:cs typeface="楷体"/>
              </a:rPr>
              <a:t>住看</a:t>
            </a:r>
            <a:r>
              <a:rPr lang="zh-CN" altLang="zh-CN" dirty="0" smtClean="0">
                <a:latin typeface="楷体"/>
                <a:ea typeface="楷体"/>
                <a:cs typeface="楷体"/>
              </a:rPr>
              <a:t>殿的和尚周某</a:t>
            </a:r>
            <a:r>
              <a:rPr lang="zh-CN" altLang="en-US" dirty="0" smtClean="0">
                <a:latin typeface="楷体"/>
                <a:ea typeface="楷体"/>
                <a:cs typeface="楷体"/>
              </a:rPr>
              <a:t>，某乙</a:t>
            </a:r>
            <a:r>
              <a:rPr lang="zh-CN" altLang="zh-CN" dirty="0" smtClean="0">
                <a:latin typeface="楷体"/>
                <a:ea typeface="楷体"/>
                <a:cs typeface="楷体"/>
              </a:rPr>
              <a:t>抱起功德箱</a:t>
            </a:r>
            <a:r>
              <a:rPr lang="zh-CN" altLang="zh-CN" dirty="0">
                <a:latin typeface="楷体"/>
                <a:ea typeface="楷体"/>
                <a:cs typeface="楷体"/>
              </a:rPr>
              <a:t>逃走。</a:t>
            </a:r>
            <a:r>
              <a:rPr lang="zh-CN" altLang="zh-CN" dirty="0" smtClean="0">
                <a:latin typeface="楷体"/>
                <a:ea typeface="楷体"/>
                <a:cs typeface="楷体"/>
              </a:rPr>
              <a:t>经查</a:t>
            </a:r>
            <a:r>
              <a:rPr lang="zh-CN" altLang="zh-CN" dirty="0">
                <a:latin typeface="楷体"/>
                <a:ea typeface="楷体"/>
                <a:cs typeface="楷体"/>
              </a:rPr>
              <a:t>，</a:t>
            </a:r>
            <a:r>
              <a:rPr lang="zh-CN" altLang="zh-CN" dirty="0" smtClean="0">
                <a:latin typeface="楷体"/>
                <a:ea typeface="楷体"/>
                <a:cs typeface="楷体"/>
              </a:rPr>
              <a:t>功德箱</a:t>
            </a:r>
            <a:r>
              <a:rPr lang="zh-CN" altLang="zh-CN" dirty="0">
                <a:latin typeface="楷体"/>
                <a:ea typeface="楷体"/>
                <a:cs typeface="楷体"/>
              </a:rPr>
              <a:t>内有现金人民币</a:t>
            </a:r>
            <a:r>
              <a:rPr lang="en-US" altLang="zh-CN" dirty="0">
                <a:latin typeface="楷体"/>
                <a:ea typeface="楷体"/>
                <a:cs typeface="楷体"/>
              </a:rPr>
              <a:t> 865 </a:t>
            </a:r>
            <a:r>
              <a:rPr lang="zh-CN" altLang="zh-CN" dirty="0" smtClean="0">
                <a:latin typeface="楷体"/>
                <a:ea typeface="楷体"/>
                <a:cs typeface="楷体"/>
              </a:rPr>
              <a:t>元</a:t>
            </a:r>
            <a:r>
              <a:rPr lang="zh-CN" altLang="zh-CN" dirty="0">
                <a:latin typeface="楷体"/>
                <a:ea typeface="楷体"/>
                <a:cs typeface="楷体"/>
              </a:rPr>
              <a:t>，</a:t>
            </a:r>
            <a:r>
              <a:rPr lang="zh-CN" altLang="zh-CN" dirty="0" smtClean="0">
                <a:latin typeface="楷体"/>
                <a:ea typeface="楷体"/>
                <a:cs typeface="楷体"/>
              </a:rPr>
              <a:t>看殿</a:t>
            </a:r>
            <a:r>
              <a:rPr lang="zh-CN" altLang="zh-CN" dirty="0">
                <a:latin typeface="楷体"/>
                <a:ea typeface="楷体"/>
                <a:cs typeface="楷体"/>
              </a:rPr>
              <a:t>和尚周某平日吃住</a:t>
            </a:r>
            <a:r>
              <a:rPr lang="zh-CN" altLang="zh-CN" dirty="0" smtClean="0">
                <a:latin typeface="楷体"/>
                <a:ea typeface="楷体"/>
                <a:cs typeface="楷体"/>
              </a:rPr>
              <a:t>都在大殿</a:t>
            </a:r>
            <a:r>
              <a:rPr lang="zh-CN" altLang="zh-CN" dirty="0">
                <a:latin typeface="楷体"/>
                <a:ea typeface="楷体"/>
                <a:cs typeface="楷体"/>
              </a:rPr>
              <a:t>，</a:t>
            </a:r>
            <a:r>
              <a:rPr lang="zh-CN" altLang="zh-CN" dirty="0" smtClean="0">
                <a:latin typeface="楷体"/>
                <a:ea typeface="楷体"/>
                <a:cs typeface="楷体"/>
              </a:rPr>
              <a:t>案件中无人受伤</a:t>
            </a:r>
            <a:r>
              <a:rPr lang="zh-CN" altLang="zh-CN" dirty="0">
                <a:latin typeface="楷体"/>
                <a:ea typeface="楷体"/>
                <a:cs typeface="楷体"/>
              </a:rPr>
              <a:t>。 </a:t>
            </a:r>
            <a:endParaRPr lang="en-US" altLang="zh-CN" dirty="0" smtClean="0">
              <a:latin typeface="楷体"/>
              <a:ea typeface="楷体"/>
              <a:cs typeface="楷体"/>
            </a:endParaRPr>
          </a:p>
          <a:p>
            <a:r>
              <a:rPr lang="zh-CN" altLang="zh-CN" dirty="0" smtClean="0">
                <a:latin typeface="楷体"/>
                <a:ea typeface="楷体"/>
                <a:cs typeface="楷体"/>
              </a:rPr>
              <a:t>佛山一家发廊雇请十多名按摩女技师</a:t>
            </a:r>
            <a:r>
              <a:rPr lang="zh-CN" altLang="en-US" dirty="0" smtClean="0">
                <a:latin typeface="楷体"/>
                <a:ea typeface="楷体"/>
                <a:cs typeface="楷体"/>
              </a:rPr>
              <a:t>，</a:t>
            </a:r>
            <a:r>
              <a:rPr lang="zh-CN" altLang="zh-CN" dirty="0" smtClean="0">
                <a:latin typeface="楷体"/>
                <a:ea typeface="楷体"/>
                <a:cs typeface="楷体"/>
              </a:rPr>
              <a:t>向</a:t>
            </a:r>
            <a:r>
              <a:rPr lang="zh-CN" altLang="zh-CN" dirty="0">
                <a:latin typeface="楷体"/>
                <a:ea typeface="楷体"/>
                <a:cs typeface="楷体"/>
              </a:rPr>
              <a:t>客人提供</a:t>
            </a:r>
            <a:r>
              <a:rPr lang="zh-CN" altLang="zh-CN" dirty="0" smtClean="0">
                <a:latin typeface="楷体"/>
                <a:ea typeface="楷体"/>
                <a:cs typeface="楷体"/>
              </a:rPr>
              <a:t>“波推</a:t>
            </a:r>
            <a:r>
              <a:rPr lang="zh-CN" altLang="zh-CN" dirty="0">
                <a:latin typeface="楷体"/>
                <a:ea typeface="楷体"/>
                <a:cs typeface="楷体"/>
              </a:rPr>
              <a:t>”</a:t>
            </a:r>
            <a:r>
              <a:rPr lang="zh-CN" altLang="zh-CN" dirty="0" smtClean="0">
                <a:latin typeface="楷体"/>
                <a:ea typeface="楷体"/>
                <a:cs typeface="楷体"/>
              </a:rPr>
              <a:t>、“</a:t>
            </a:r>
            <a:r>
              <a:rPr lang="zh-CN" altLang="zh-CN" dirty="0">
                <a:latin typeface="楷体"/>
                <a:ea typeface="楷体"/>
                <a:cs typeface="楷体"/>
              </a:rPr>
              <a:t>打飞机”等色情按摩服务。一审法院以“组织卖淫罪</a:t>
            </a:r>
            <a:r>
              <a:rPr lang="zh-CN" altLang="zh-CN" dirty="0" smtClean="0">
                <a:latin typeface="楷体"/>
                <a:ea typeface="楷体"/>
                <a:cs typeface="楷体"/>
              </a:rPr>
              <a:t>”</a:t>
            </a:r>
            <a:r>
              <a:rPr lang="zh-CN" altLang="en-US" dirty="0" smtClean="0">
                <a:latin typeface="楷体"/>
                <a:ea typeface="楷体"/>
                <a:cs typeface="楷体"/>
              </a:rPr>
              <a:t>定罪，</a:t>
            </a:r>
            <a:r>
              <a:rPr lang="zh-CN" altLang="zh-CN" dirty="0" smtClean="0">
                <a:latin typeface="楷体"/>
                <a:ea typeface="楷体"/>
                <a:cs typeface="楷体"/>
              </a:rPr>
              <a:t>二审无罪释</a:t>
            </a:r>
            <a:r>
              <a:rPr lang="zh-CN" altLang="zh-CN" dirty="0">
                <a:latin typeface="楷体"/>
                <a:ea typeface="楷体"/>
                <a:cs typeface="楷体"/>
              </a:rPr>
              <a:t>放</a:t>
            </a:r>
            <a:r>
              <a:rPr lang="zh-CN" altLang="zh-CN" dirty="0" smtClean="0">
                <a:latin typeface="楷体"/>
                <a:ea typeface="楷体"/>
                <a:cs typeface="楷体"/>
              </a:rPr>
              <a:t>。</a:t>
            </a:r>
            <a:endParaRPr lang="en-US" altLang="zh-CN" dirty="0" smtClean="0">
              <a:latin typeface="楷体"/>
              <a:ea typeface="楷体"/>
              <a:cs typeface="楷体"/>
            </a:endParaRPr>
          </a:p>
          <a:p>
            <a:r>
              <a:rPr lang="zh-CN" altLang="en-US" dirty="0" smtClean="0">
                <a:latin typeface="楷体"/>
                <a:ea typeface="楷体"/>
                <a:cs typeface="楷体"/>
              </a:rPr>
              <a:t>某</a:t>
            </a:r>
            <a:r>
              <a:rPr lang="zh-CN" altLang="zh-CN" dirty="0" smtClean="0">
                <a:latin typeface="楷体"/>
                <a:ea typeface="楷体"/>
                <a:cs typeface="楷体"/>
              </a:rPr>
              <a:t>公司桑拿领班汪</a:t>
            </a:r>
            <a:r>
              <a:rPr lang="zh-CN" altLang="en-US" dirty="0" smtClean="0">
                <a:latin typeface="楷体"/>
                <a:ea typeface="楷体"/>
                <a:cs typeface="楷体"/>
              </a:rPr>
              <a:t>某</a:t>
            </a:r>
            <a:r>
              <a:rPr lang="zh-CN" altLang="zh-CN" dirty="0" smtClean="0">
                <a:latin typeface="楷体"/>
                <a:ea typeface="楷体"/>
                <a:cs typeface="楷体"/>
              </a:rPr>
              <a:t>介绍按摩女技师在桑拿中心向客人卖淫</a:t>
            </a:r>
            <a:r>
              <a:rPr lang="en-US" altLang="zh-CN" dirty="0" smtClean="0">
                <a:latin typeface="楷体"/>
                <a:ea typeface="楷体"/>
                <a:cs typeface="楷体"/>
              </a:rPr>
              <a:t> </a:t>
            </a:r>
            <a:r>
              <a:rPr lang="en-US" altLang="zh-CN" dirty="0">
                <a:latin typeface="楷体"/>
                <a:ea typeface="楷体"/>
                <a:cs typeface="楷体"/>
              </a:rPr>
              <a:t>114 </a:t>
            </a:r>
            <a:r>
              <a:rPr lang="zh-CN" altLang="zh-CN" dirty="0" smtClean="0">
                <a:latin typeface="楷体"/>
                <a:ea typeface="楷体"/>
                <a:cs typeface="楷体"/>
              </a:rPr>
              <a:t>次</a:t>
            </a:r>
            <a:r>
              <a:rPr lang="zh-CN" altLang="zh-CN" dirty="0">
                <a:latin typeface="楷体"/>
                <a:ea typeface="楷体"/>
                <a:cs typeface="楷体"/>
              </a:rPr>
              <a:t>，</a:t>
            </a:r>
            <a:r>
              <a:rPr lang="zh-CN" altLang="zh-CN" dirty="0" smtClean="0">
                <a:latin typeface="楷体"/>
                <a:ea typeface="楷体"/>
                <a:cs typeface="楷体"/>
              </a:rPr>
              <a:t>汪个人从卖淫女处分得赃款</a:t>
            </a:r>
            <a:r>
              <a:rPr lang="en-US" altLang="zh-CN" dirty="0" smtClean="0">
                <a:latin typeface="楷体"/>
                <a:ea typeface="楷体"/>
                <a:cs typeface="楷体"/>
              </a:rPr>
              <a:t> </a:t>
            </a:r>
            <a:r>
              <a:rPr lang="en-US" altLang="zh-CN" dirty="0">
                <a:latin typeface="楷体"/>
                <a:ea typeface="楷体"/>
                <a:cs typeface="楷体"/>
              </a:rPr>
              <a:t>2700 </a:t>
            </a:r>
            <a:r>
              <a:rPr lang="zh-CN" altLang="zh-CN" dirty="0">
                <a:latin typeface="楷体"/>
                <a:ea typeface="楷体"/>
                <a:cs typeface="楷体"/>
              </a:rPr>
              <a:t>元</a:t>
            </a:r>
            <a:r>
              <a:rPr lang="zh-CN" altLang="zh-CN" dirty="0" smtClean="0">
                <a:latin typeface="楷体"/>
                <a:ea typeface="楷体"/>
                <a:cs typeface="楷体"/>
              </a:rPr>
              <a:t>。</a:t>
            </a:r>
            <a:r>
              <a:rPr lang="zh-CN" altLang="en-US" dirty="0" smtClean="0">
                <a:latin typeface="楷体"/>
                <a:ea typeface="楷体"/>
                <a:cs typeface="楷体"/>
              </a:rPr>
              <a:t>一</a:t>
            </a:r>
            <a:r>
              <a:rPr lang="zh-CN" altLang="zh-CN" dirty="0" smtClean="0">
                <a:latin typeface="楷体"/>
                <a:ea typeface="楷体"/>
                <a:cs typeface="楷体"/>
              </a:rPr>
              <a:t>审以</a:t>
            </a:r>
            <a:r>
              <a:rPr lang="zh-CN" altLang="zh-CN" dirty="0">
                <a:latin typeface="楷体"/>
                <a:ea typeface="楷体"/>
                <a:cs typeface="楷体"/>
              </a:rPr>
              <a:t>“</a:t>
            </a:r>
            <a:r>
              <a:rPr lang="zh-CN" altLang="zh-CN" dirty="0" smtClean="0">
                <a:latin typeface="楷体"/>
                <a:ea typeface="楷体"/>
                <a:cs typeface="楷体"/>
              </a:rPr>
              <a:t>组织卖淫罪</a:t>
            </a:r>
            <a:r>
              <a:rPr lang="zh-CN" altLang="zh-CN" dirty="0">
                <a:latin typeface="楷体"/>
                <a:ea typeface="楷体"/>
                <a:cs typeface="楷体"/>
              </a:rPr>
              <a:t>”判处汪红英死刑立即执</a:t>
            </a:r>
            <a:r>
              <a:rPr lang="zh-CN" altLang="zh-CN" dirty="0" smtClean="0">
                <a:latin typeface="楷体"/>
                <a:ea typeface="楷体"/>
                <a:cs typeface="楷体"/>
              </a:rPr>
              <a:t>行，</a:t>
            </a:r>
            <a:r>
              <a:rPr lang="zh-CN" altLang="en-US" dirty="0" smtClean="0">
                <a:latin typeface="楷体"/>
                <a:ea typeface="楷体"/>
                <a:cs typeface="楷体"/>
              </a:rPr>
              <a:t>后改判死缓。</a:t>
            </a:r>
            <a:endParaRPr lang="en-US" altLang="zh-CN" dirty="0" smtClean="0">
              <a:latin typeface="楷体"/>
              <a:ea typeface="楷体"/>
              <a:cs typeface="楷体"/>
            </a:endParaRPr>
          </a:p>
          <a:p>
            <a:r>
              <a:rPr kumimoji="1" lang="zh-CN" altLang="en-US" sz="2800" b="1" dirty="0">
                <a:latin typeface="宋体"/>
                <a:ea typeface="宋体"/>
                <a:cs typeface="宋体"/>
              </a:rPr>
              <a:t>择轻定罪</a:t>
            </a:r>
            <a:r>
              <a:rPr kumimoji="1" lang="zh-CN" altLang="zh-CN" sz="2800" b="1" dirty="0">
                <a:latin typeface="宋体"/>
                <a:ea typeface="宋体"/>
                <a:cs typeface="宋体"/>
              </a:rPr>
              <a:t>：</a:t>
            </a:r>
            <a:r>
              <a:rPr kumimoji="1" lang="zh-CN" altLang="en-US" sz="2800" b="1" dirty="0">
                <a:latin typeface="宋体"/>
                <a:ea typeface="宋体"/>
                <a:cs typeface="宋体"/>
              </a:rPr>
              <a:t>以刑释罪？轻重反推定罪？</a:t>
            </a:r>
            <a:endParaRPr kumimoji="1" lang="en-US" altLang="zh-CN" sz="2800" b="1" dirty="0">
              <a:latin typeface="宋体"/>
              <a:ea typeface="宋体"/>
              <a:cs typeface="宋体"/>
            </a:endParaRPr>
          </a:p>
          <a:p>
            <a:r>
              <a:rPr kumimoji="1" lang="zh-CN" altLang="zh-CN" sz="2800" b="1" dirty="0">
                <a:latin typeface="宋体"/>
                <a:ea typeface="宋体"/>
                <a:cs typeface="宋体"/>
              </a:rPr>
              <a:t>——</a:t>
            </a:r>
            <a:r>
              <a:rPr kumimoji="1" lang="en-US" altLang="en-US" sz="2800" b="1" dirty="0">
                <a:latin typeface="宋体"/>
                <a:ea typeface="宋体"/>
                <a:cs typeface="宋体"/>
              </a:rPr>
              <a:t>为什么会以果定因?</a:t>
            </a:r>
            <a:endParaRPr kumimoji="1" lang="zh-CN" altLang="en-US" sz="2800" b="1"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26</a:t>
            </a:fld>
            <a:endParaRPr lang="zh-CN" altLang="en-US"/>
          </a:p>
        </p:txBody>
      </p:sp>
    </p:spTree>
    <p:extLst>
      <p:ext uri="{BB962C8B-B14F-4D97-AF65-F5344CB8AC3E}">
        <p14:creationId xmlns:p14="http://schemas.microsoft.com/office/powerpoint/2010/main" val="3538277784"/>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主体理论依据之一：能动论</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r>
              <a:rPr lang="zh-CN" altLang="zh-CN" sz="2800" dirty="0">
                <a:latin typeface="宋体"/>
                <a:ea typeface="宋体"/>
                <a:cs typeface="宋体"/>
              </a:rPr>
              <a:t>标签论认为，犯罪现象的产生是一个“贴标签”的过</a:t>
            </a:r>
            <a:r>
              <a:rPr lang="zh-CN" altLang="zh-CN" sz="2800" dirty="0" smtClean="0">
                <a:latin typeface="宋体"/>
                <a:ea typeface="宋体"/>
                <a:cs typeface="宋体"/>
              </a:rPr>
              <a:t>程</a:t>
            </a:r>
            <a:r>
              <a:rPr lang="en-US" altLang="zh-CN" sz="2800" dirty="0" smtClean="0">
                <a:latin typeface="宋体"/>
                <a:ea typeface="宋体"/>
                <a:cs typeface="宋体"/>
              </a:rPr>
              <a:t>——</a:t>
            </a:r>
            <a:r>
              <a:rPr lang="zh-CN" altLang="zh-CN" sz="2800" dirty="0" smtClean="0">
                <a:latin typeface="宋体"/>
                <a:ea typeface="宋体"/>
                <a:cs typeface="宋体"/>
              </a:rPr>
              <a:t>立法者</a:t>
            </a:r>
            <a:r>
              <a:rPr lang="zh-CN" altLang="zh-CN" sz="2800" dirty="0">
                <a:latin typeface="宋体"/>
                <a:ea typeface="宋体"/>
                <a:cs typeface="宋体"/>
              </a:rPr>
              <a:t>、司法者、社会舆论，把某些人的某些行为定义为越轨的过程</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en-US" sz="2800" dirty="0" smtClean="0">
                <a:latin typeface="宋体"/>
                <a:ea typeface="宋体"/>
                <a:cs typeface="宋体"/>
              </a:rPr>
              <a:t>大麻相关行为犯罪化的过程</a:t>
            </a:r>
            <a:r>
              <a:rPr lang="en-US" altLang="zh-CN" sz="2800" dirty="0" smtClean="0">
                <a:latin typeface="宋体"/>
                <a:ea typeface="宋体"/>
                <a:cs typeface="宋体"/>
              </a:rPr>
              <a:t>——</a:t>
            </a:r>
            <a:r>
              <a:rPr lang="zh-CN" altLang="en-US" sz="2800" dirty="0" smtClean="0">
                <a:latin typeface="宋体"/>
                <a:ea typeface="宋体"/>
                <a:cs typeface="宋体"/>
              </a:rPr>
              <a:t>“道德企业家”</a:t>
            </a:r>
            <a:endParaRPr lang="en-US" altLang="zh-CN" sz="2800" dirty="0" smtClean="0">
              <a:latin typeface="宋体"/>
              <a:ea typeface="宋体"/>
              <a:cs typeface="宋体"/>
            </a:endParaRPr>
          </a:p>
          <a:p>
            <a:r>
              <a:rPr lang="zh-CN" altLang="zh-CN" sz="2800" dirty="0" smtClean="0">
                <a:latin typeface="宋体"/>
                <a:ea typeface="宋体"/>
                <a:cs typeface="宋体"/>
              </a:rPr>
              <a:t>贝克尔：</a:t>
            </a:r>
            <a:r>
              <a:rPr lang="zh-CN" altLang="zh-CN" sz="2800" dirty="0">
                <a:latin typeface="宋体"/>
                <a:ea typeface="宋体"/>
                <a:cs typeface="宋体"/>
              </a:rPr>
              <a:t>社会群体创造了越轨行为，其方式是制定那些一经违反就会造成越轨的准则，并把这些准则应用于特定的人，给他贴上不受欢迎者的标志。从这种观点看，越轨不是人们所从事的某种活动的特质，而是其他人将准则及制裁施加于‘触犯者’的结果</a:t>
            </a:r>
            <a:r>
              <a:rPr lang="zh-CN" altLang="zh-CN" sz="2800" dirty="0" smtClean="0">
                <a:latin typeface="宋体"/>
                <a:ea typeface="宋体"/>
                <a:cs typeface="宋体"/>
              </a:rPr>
              <a:t>。</a:t>
            </a:r>
            <a:endParaRPr lang="zh-CN" altLang="zh-CN"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27</a:t>
            </a:fld>
            <a:endParaRPr lang="zh-CN" altLang="en-US"/>
          </a:p>
        </p:txBody>
      </p:sp>
    </p:spTree>
    <p:extLst>
      <p:ext uri="{BB962C8B-B14F-4D97-AF65-F5344CB8AC3E}">
        <p14:creationId xmlns:p14="http://schemas.microsoft.com/office/powerpoint/2010/main" val="1298296257"/>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一个民间传说</a:t>
            </a:r>
            <a:endParaRPr kumimoji="1" lang="zh-CN" altLang="en-US" sz="3600" dirty="0">
              <a:latin typeface="黑体"/>
              <a:ea typeface="黑体"/>
              <a:cs typeface="黑体"/>
            </a:endParaRPr>
          </a:p>
        </p:txBody>
      </p:sp>
      <p:sp>
        <p:nvSpPr>
          <p:cNvPr id="3" name="内容占位符 2"/>
          <p:cNvSpPr>
            <a:spLocks noGrp="1"/>
          </p:cNvSpPr>
          <p:nvPr>
            <p:ph idx="1"/>
          </p:nvPr>
        </p:nvSpPr>
        <p:spPr>
          <a:xfrm>
            <a:off x="457200" y="908720"/>
            <a:ext cx="8229600" cy="5400600"/>
          </a:xfrm>
        </p:spPr>
        <p:txBody>
          <a:bodyPr/>
          <a:lstStyle/>
          <a:p>
            <a:pPr marL="0" indent="0">
              <a:buNone/>
            </a:pPr>
            <a:r>
              <a:rPr lang="zh-CN" altLang="zh-CN" sz="2800" b="1" dirty="0">
                <a:latin typeface="楷体"/>
                <a:ea typeface="楷体"/>
                <a:cs typeface="楷体"/>
              </a:rPr>
              <a:t>“过去有个女人，三十多岁死去丈夫。拉扯着儿子守寡，怎么能守住？不久，便与河对岸庙里的和尚私通。河上没有桥，便黑夜跳水过河幽会。这娃子聪明过人，长大进京城考得状元。考中回乡，人们说这和尚怕没得命了。谁料想状元回来，只字不提往事，却下令手下人，在河上修一座石拱小桥。自此，他娘夜里与情人私通，再不用跳水。多年过去，老娘丧命。状元回家奔丧。人们都说这状元心底好，说不定还要把和尚老儿的后事一块安排料理一下。谁知状元忽然下令，将和尚绑起来杀掉。乡邻皆惊。状元提笔写下一副对联：修小桥给母行孝，杀和尚为父雪耻。”</a:t>
            </a:r>
            <a:r>
              <a:rPr lang="zh-CN" altLang="zh-CN" sz="2800" b="1" baseline="30000" dirty="0">
                <a:latin typeface="楷体"/>
                <a:ea typeface="楷体"/>
                <a:cs typeface="楷体"/>
              </a:rPr>
              <a:t> </a:t>
            </a:r>
            <a:endParaRPr lang="zh-CN" altLang="zh-CN" sz="2800" dirty="0">
              <a:latin typeface="楷体"/>
              <a:ea typeface="楷体"/>
              <a:cs typeface="楷体"/>
            </a:endParaRPr>
          </a:p>
          <a:p>
            <a:endParaRPr kumimoji="1" lang="zh-CN" altLang="en-US" sz="2800" dirty="0">
              <a:latin typeface="楷体"/>
              <a:ea typeface="楷体"/>
              <a:cs typeface="楷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28</a:t>
            </a:fld>
            <a:endParaRPr lang="zh-CN" altLang="en-US"/>
          </a:p>
        </p:txBody>
      </p:sp>
    </p:spTree>
    <p:extLst>
      <p:ext uri="{BB962C8B-B14F-4D97-AF65-F5344CB8AC3E}">
        <p14:creationId xmlns:p14="http://schemas.microsoft.com/office/powerpoint/2010/main" val="503783542"/>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两次争论，两次定义权争夺</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r>
              <a:rPr lang="zh-CN" altLang="zh-CN" dirty="0" smtClean="0">
                <a:latin typeface="宋体"/>
                <a:ea typeface="宋体"/>
                <a:cs typeface="宋体"/>
              </a:rPr>
              <a:t>第一次</a:t>
            </a:r>
            <a:r>
              <a:rPr lang="zh-CN" altLang="en-US" dirty="0" smtClean="0">
                <a:latin typeface="宋体"/>
                <a:ea typeface="宋体"/>
                <a:cs typeface="宋体"/>
              </a:rPr>
              <a:t>：</a:t>
            </a:r>
            <a:r>
              <a:rPr lang="zh-CN" altLang="zh-CN" dirty="0" smtClean="0">
                <a:latin typeface="宋体"/>
                <a:ea typeface="宋体"/>
                <a:cs typeface="宋体"/>
              </a:rPr>
              <a:t>状元考中回乡</a:t>
            </a:r>
            <a:r>
              <a:rPr lang="zh-CN" altLang="zh-CN" dirty="0">
                <a:latin typeface="宋体"/>
                <a:ea typeface="宋体"/>
                <a:cs typeface="宋体"/>
              </a:rPr>
              <a:t>，乡亲们所持的犯罪定义是“禁止私通”。而状元的犯罪定义却是不孝才是最大的罪恶，所以要“修小桥给母行孝”。</a:t>
            </a:r>
          </a:p>
          <a:p>
            <a:r>
              <a:rPr lang="zh-CN" altLang="zh-CN" dirty="0" smtClean="0">
                <a:latin typeface="宋体"/>
                <a:ea typeface="宋体"/>
                <a:cs typeface="宋体"/>
              </a:rPr>
              <a:t>第二次</a:t>
            </a:r>
            <a:r>
              <a:rPr lang="zh-CN" altLang="en-US" dirty="0" smtClean="0">
                <a:latin typeface="宋体"/>
                <a:ea typeface="宋体"/>
                <a:cs typeface="宋体"/>
              </a:rPr>
              <a:t>：</a:t>
            </a:r>
            <a:r>
              <a:rPr lang="zh-CN" altLang="zh-CN" dirty="0" smtClean="0">
                <a:latin typeface="宋体"/>
                <a:ea typeface="宋体"/>
                <a:cs typeface="宋体"/>
              </a:rPr>
              <a:t>状元回乡奔丧</a:t>
            </a:r>
            <a:r>
              <a:rPr lang="zh-CN" altLang="zh-CN" dirty="0">
                <a:latin typeface="宋体"/>
                <a:ea typeface="宋体"/>
                <a:cs typeface="宋体"/>
              </a:rPr>
              <a:t>，乡亲们认为“状元心底好所以会把和尚老儿的后事一块安排料理一下”</a:t>
            </a:r>
            <a:r>
              <a:rPr lang="zh-CN" altLang="zh-CN" dirty="0" smtClean="0">
                <a:latin typeface="宋体"/>
                <a:ea typeface="宋体"/>
                <a:cs typeface="宋体"/>
              </a:rPr>
              <a:t>。没成想</a:t>
            </a:r>
            <a:r>
              <a:rPr lang="zh-CN" altLang="zh-CN" dirty="0">
                <a:latin typeface="宋体"/>
                <a:ea typeface="宋体"/>
                <a:cs typeface="宋体"/>
              </a:rPr>
              <a:t>，状元又有不同意见，认为和尚罪大恶极，使家父蒙耻，应当就地正法，所以要“杀和尚为父雪耻”。</a:t>
            </a:r>
          </a:p>
          <a:p>
            <a:r>
              <a:rPr lang="zh-CN" altLang="en-US" dirty="0" smtClean="0">
                <a:latin typeface="宋体"/>
                <a:ea typeface="宋体"/>
                <a:cs typeface="宋体"/>
              </a:rPr>
              <a:t>可见</a:t>
            </a:r>
            <a:r>
              <a:rPr lang="zh-CN" altLang="zh-CN" dirty="0" smtClean="0">
                <a:latin typeface="宋体"/>
                <a:ea typeface="宋体"/>
                <a:cs typeface="宋体"/>
              </a:rPr>
              <a:t>，</a:t>
            </a:r>
            <a:r>
              <a:rPr lang="zh-CN" altLang="zh-CN" dirty="0">
                <a:latin typeface="宋体"/>
                <a:ea typeface="宋体"/>
                <a:cs typeface="宋体"/>
              </a:rPr>
              <a:t>生活世界中犯罪定义的制定、运用都是非常灵活且能动的。对某个行为到底赋予还是不赋予犯罪的意义，在很大程度上取决于定义者自身的</a:t>
            </a:r>
            <a:r>
              <a:rPr lang="zh-CN" altLang="zh-CN" b="1" dirty="0">
                <a:latin typeface="宋体"/>
                <a:ea typeface="宋体"/>
                <a:cs typeface="宋体"/>
              </a:rPr>
              <a:t>处境、目的、观念、需要</a:t>
            </a:r>
            <a:r>
              <a:rPr lang="zh-CN" altLang="zh-CN" dirty="0">
                <a:latin typeface="宋体"/>
                <a:ea typeface="宋体"/>
                <a:cs typeface="宋体"/>
              </a:rPr>
              <a:t>等因素。</a:t>
            </a:r>
          </a:p>
          <a:p>
            <a:r>
              <a:rPr lang="zh-CN" altLang="zh-CN" dirty="0">
                <a:latin typeface="宋体"/>
                <a:ea typeface="宋体"/>
                <a:cs typeface="宋体"/>
              </a:rPr>
              <a:t>福柯把这种现象称作“权力安排的策略”。</a:t>
            </a:r>
          </a:p>
          <a:p>
            <a:endParaRPr kumimoji="1" lang="zh-CN" altLang="en-US" dirty="0"/>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29</a:t>
            </a:fld>
            <a:endParaRPr lang="zh-CN" altLang="en-US"/>
          </a:p>
        </p:txBody>
      </p:sp>
    </p:spTree>
    <p:extLst>
      <p:ext uri="{BB962C8B-B14F-4D97-AF65-F5344CB8AC3E}">
        <p14:creationId xmlns:p14="http://schemas.microsoft.com/office/powerpoint/2010/main" val="2812791927"/>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sz="3600" b="1" dirty="0">
                <a:latin typeface="黑体"/>
                <a:ea typeface="黑体"/>
                <a:cs typeface="黑体"/>
              </a:rPr>
              <a:t>【电影】拉里福林克</a:t>
            </a:r>
            <a:r>
              <a:rPr lang="zh-CN" altLang="zh-CN" sz="3600" dirty="0">
                <a:latin typeface="黑体"/>
                <a:ea typeface="黑体"/>
                <a:cs typeface="黑体"/>
              </a:rPr>
              <a:t> </a:t>
            </a:r>
            <a:endParaRPr kumimoji="1" lang="zh-CN" altLang="en-US" sz="3600" dirty="0">
              <a:latin typeface="黑体"/>
              <a:ea typeface="黑体"/>
              <a:cs typeface="黑体"/>
            </a:endParaRPr>
          </a:p>
        </p:txBody>
      </p:sp>
      <p:sp>
        <p:nvSpPr>
          <p:cNvPr id="3" name="内容占位符 2"/>
          <p:cNvSpPr>
            <a:spLocks noGrp="1"/>
          </p:cNvSpPr>
          <p:nvPr>
            <p:ph idx="1"/>
          </p:nvPr>
        </p:nvSpPr>
        <p:spPr>
          <a:xfrm>
            <a:off x="457200" y="1125538"/>
            <a:ext cx="8229600" cy="5255790"/>
          </a:xfrm>
        </p:spPr>
        <p:txBody>
          <a:bodyPr/>
          <a:lstStyle/>
          <a:p>
            <a:r>
              <a:rPr lang="zh-CN" altLang="zh-CN" b="1" dirty="0">
                <a:latin typeface="楷体"/>
                <a:ea typeface="楷体"/>
                <a:cs typeface="楷体"/>
              </a:rPr>
              <a:t>拉里福林克是一个出版商，出些低俗的书。他后来被保守分子起诉到法院。拉里福林克以言论自由（宪法第一修正案）作为自己的辩护。但是，最后他还是被以贩卖淫秽物品判了</a:t>
            </a:r>
            <a:r>
              <a:rPr lang="en-US" altLang="zh-CN" b="1" dirty="0">
                <a:latin typeface="楷体"/>
                <a:ea typeface="楷体"/>
                <a:cs typeface="楷体"/>
              </a:rPr>
              <a:t>24</a:t>
            </a:r>
            <a:r>
              <a:rPr lang="zh-CN" altLang="zh-CN" b="1" dirty="0">
                <a:latin typeface="楷体"/>
                <a:ea typeface="楷体"/>
                <a:cs typeface="楷体"/>
              </a:rPr>
              <a:t>年监禁。</a:t>
            </a:r>
            <a:endParaRPr lang="zh-CN" altLang="zh-CN" dirty="0">
              <a:latin typeface="楷体"/>
              <a:ea typeface="楷体"/>
              <a:cs typeface="楷体"/>
            </a:endParaRPr>
          </a:p>
          <a:p>
            <a:r>
              <a:rPr lang="zh-CN" altLang="zh-CN" b="1" dirty="0">
                <a:latin typeface="楷体"/>
                <a:ea typeface="楷体"/>
                <a:cs typeface="楷体"/>
              </a:rPr>
              <a:t>后来他在杂志上以虚构的事实诽谤了一个牧师。牧师起诉，法院却判决拉里福林克胜诉，理由也是言论自由。</a:t>
            </a:r>
          </a:p>
          <a:p>
            <a:r>
              <a:rPr lang="zh-CN" altLang="zh-CN" sz="2800" b="1" dirty="0" smtClean="0">
                <a:latin typeface="宋体"/>
                <a:ea typeface="宋体"/>
                <a:cs typeface="宋体"/>
              </a:rPr>
              <a:t>两次判决</a:t>
            </a:r>
            <a:r>
              <a:rPr lang="zh-CN" altLang="zh-CN" sz="2800" b="1" dirty="0">
                <a:latin typeface="宋体"/>
                <a:ea typeface="宋体"/>
                <a:cs typeface="宋体"/>
              </a:rPr>
              <a:t>使用了同样地依据，但是判决不同，体现了犯罪定义</a:t>
            </a:r>
            <a:r>
              <a:rPr lang="zh-CN" altLang="zh-CN" sz="2800" b="1" dirty="0" smtClean="0">
                <a:latin typeface="宋体"/>
                <a:ea typeface="宋体"/>
                <a:cs typeface="宋体"/>
              </a:rPr>
              <a:t>的</a:t>
            </a:r>
            <a:r>
              <a:rPr lang="zh-CN" altLang="en-US" sz="2800" b="1" dirty="0" smtClean="0">
                <a:latin typeface="宋体"/>
                <a:ea typeface="宋体"/>
                <a:cs typeface="宋体"/>
              </a:rPr>
              <a:t>主体</a:t>
            </a:r>
            <a:r>
              <a:rPr lang="zh-CN" altLang="zh-CN" sz="2800" b="1" dirty="0" smtClean="0">
                <a:latin typeface="宋体"/>
                <a:ea typeface="宋体"/>
                <a:cs typeface="宋体"/>
              </a:rPr>
              <a:t>性</a:t>
            </a:r>
            <a:r>
              <a:rPr lang="zh-CN" altLang="zh-CN" sz="2800" b="1" dirty="0">
                <a:latin typeface="宋体"/>
                <a:ea typeface="宋体"/>
                <a:cs typeface="宋体"/>
              </a:rPr>
              <a:t>。</a:t>
            </a:r>
            <a:endParaRPr lang="zh-CN" altLang="zh-CN" sz="2800" dirty="0">
              <a:latin typeface="宋体"/>
              <a:ea typeface="宋体"/>
              <a:cs typeface="宋体"/>
            </a:endParaRPr>
          </a:p>
          <a:p>
            <a:r>
              <a:rPr lang="zh-CN" altLang="zh-CN" sz="2800" dirty="0" smtClean="0">
                <a:latin typeface="宋体"/>
                <a:ea typeface="宋体"/>
                <a:cs typeface="宋体"/>
              </a:rPr>
              <a:t>犯罪定义</a:t>
            </a:r>
            <a:r>
              <a:rPr lang="zh-CN" altLang="zh-CN" sz="2800" dirty="0">
                <a:latin typeface="宋体"/>
                <a:ea typeface="宋体"/>
                <a:cs typeface="宋体"/>
              </a:rPr>
              <a:t>的制定过程</a:t>
            </a:r>
            <a:r>
              <a:rPr lang="zh-CN" altLang="zh-CN" sz="2800" dirty="0" smtClean="0">
                <a:latin typeface="宋体"/>
                <a:ea typeface="宋体"/>
                <a:cs typeface="宋体"/>
              </a:rPr>
              <a:t>，是各种</a:t>
            </a:r>
            <a:r>
              <a:rPr lang="zh-CN" altLang="zh-CN" sz="2800" b="1" dirty="0" smtClean="0">
                <a:latin typeface="宋体"/>
                <a:ea typeface="宋体"/>
                <a:cs typeface="宋体"/>
              </a:rPr>
              <a:t>意义资</a:t>
            </a:r>
            <a:r>
              <a:rPr lang="zh-CN" altLang="zh-CN" sz="2800" b="1" dirty="0">
                <a:latin typeface="宋体"/>
                <a:ea typeface="宋体"/>
                <a:cs typeface="宋体"/>
              </a:rPr>
              <a:t>源的选择、争夺、运用与分配</a:t>
            </a:r>
            <a:r>
              <a:rPr lang="zh-CN" altLang="zh-CN" sz="2800" dirty="0">
                <a:latin typeface="宋体"/>
                <a:ea typeface="宋体"/>
                <a:cs typeface="宋体"/>
              </a:rPr>
              <a:t>的过程</a:t>
            </a:r>
            <a:r>
              <a:rPr lang="zh-CN" altLang="zh-CN" sz="2800" dirty="0" smtClean="0">
                <a:latin typeface="宋体"/>
                <a:ea typeface="宋体"/>
                <a:cs typeface="宋体"/>
              </a:rPr>
              <a:t>。 </a:t>
            </a:r>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30</a:t>
            </a:fld>
            <a:endParaRPr lang="zh-CN" altLang="en-US"/>
          </a:p>
        </p:txBody>
      </p:sp>
    </p:spTree>
    <p:extLst>
      <p:ext uri="{BB962C8B-B14F-4D97-AF65-F5344CB8AC3E}">
        <p14:creationId xmlns:p14="http://schemas.microsoft.com/office/powerpoint/2010/main" val="162135849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主体理论依据之二：多元论</a:t>
            </a:r>
            <a:endParaRPr kumimoji="1" lang="zh-CN" altLang="en-US" sz="3600" dirty="0"/>
          </a:p>
        </p:txBody>
      </p:sp>
      <p:sp>
        <p:nvSpPr>
          <p:cNvPr id="3" name="内容占位符 2"/>
          <p:cNvSpPr>
            <a:spLocks noGrp="1"/>
          </p:cNvSpPr>
          <p:nvPr>
            <p:ph idx="1"/>
          </p:nvPr>
        </p:nvSpPr>
        <p:spPr/>
        <p:txBody>
          <a:bodyPr/>
          <a:lstStyle/>
          <a:p>
            <a:r>
              <a:rPr lang="zh-CN" altLang="en-US" sz="2800" dirty="0">
                <a:latin typeface="宋体"/>
                <a:ea typeface="宋体"/>
                <a:cs typeface="宋体"/>
              </a:rPr>
              <a:t>人们运用规范的热情往往大于遵守规范的热情。</a:t>
            </a:r>
            <a:r>
              <a:rPr lang="zh-CN" altLang="zh-CN" sz="2800" dirty="0">
                <a:latin typeface="宋体"/>
                <a:ea typeface="宋体"/>
                <a:cs typeface="宋体"/>
              </a:rPr>
              <a:t> </a:t>
            </a:r>
            <a:endParaRPr lang="en-US" altLang="zh-CN" sz="2800" dirty="0">
              <a:latin typeface="宋体"/>
              <a:ea typeface="宋体"/>
              <a:cs typeface="宋体"/>
            </a:endParaRPr>
          </a:p>
          <a:p>
            <a:r>
              <a:rPr lang="zh-CN" altLang="en-US" sz="2800" dirty="0" smtClean="0">
                <a:latin typeface="宋体"/>
                <a:ea typeface="宋体"/>
                <a:cs typeface="宋体"/>
              </a:rPr>
              <a:t>恰好，</a:t>
            </a:r>
            <a:r>
              <a:rPr lang="zh-CN" altLang="zh-CN" sz="2800" dirty="0" smtClean="0">
                <a:latin typeface="宋体"/>
                <a:ea typeface="宋体"/>
                <a:cs typeface="宋体"/>
              </a:rPr>
              <a:t>被</a:t>
            </a:r>
            <a:r>
              <a:rPr lang="zh-CN" altLang="zh-CN" sz="2800" dirty="0">
                <a:latin typeface="宋体"/>
                <a:ea typeface="宋体"/>
                <a:cs typeface="宋体"/>
              </a:rPr>
              <a:t>用来定义犯罪的规范准则不是唯一的，</a:t>
            </a:r>
            <a:r>
              <a:rPr lang="zh-CN" altLang="zh-CN" sz="2800" dirty="0" smtClean="0">
                <a:latin typeface="宋体"/>
                <a:ea typeface="宋体"/>
                <a:cs typeface="宋体"/>
              </a:rPr>
              <a:t>人们可以根据各自需要从许多规范准则中挑选</a:t>
            </a:r>
            <a:r>
              <a:rPr lang="zh-CN" altLang="en-US"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电</a:t>
            </a:r>
            <a:r>
              <a:rPr lang="zh-CN" altLang="zh-CN" sz="2800" dirty="0">
                <a:latin typeface="宋体"/>
                <a:ea typeface="宋体"/>
                <a:cs typeface="宋体"/>
              </a:rPr>
              <a:t>影《刮痧</a:t>
            </a:r>
            <a:r>
              <a:rPr lang="zh-CN" altLang="zh-CN" sz="2800" dirty="0" smtClean="0">
                <a:latin typeface="宋体"/>
                <a:ea typeface="宋体"/>
                <a:cs typeface="宋体"/>
              </a:rPr>
              <a:t>》：一个叫</a:t>
            </a:r>
            <a:r>
              <a:rPr lang="zh-CN" altLang="zh-CN" sz="2800" dirty="0">
                <a:latin typeface="宋体"/>
                <a:ea typeface="宋体"/>
                <a:cs typeface="宋体"/>
              </a:rPr>
              <a:t>大同的中国人，在美国奋斗了八年，终于在游戏领域取得了成就。于是接他父亲到了美国生活。一次大同的儿</a:t>
            </a:r>
            <a:r>
              <a:rPr lang="zh-CN" altLang="zh-CN" sz="2800" dirty="0" smtClean="0">
                <a:latin typeface="宋体"/>
                <a:ea typeface="宋体"/>
                <a:cs typeface="宋体"/>
              </a:rPr>
              <a:t>子不舒服</a:t>
            </a:r>
            <a:r>
              <a:rPr lang="zh-CN" altLang="zh-CN" sz="2800" dirty="0">
                <a:latin typeface="宋体"/>
                <a:ea typeface="宋体"/>
                <a:cs typeface="宋体"/>
              </a:rPr>
              <a:t>，爷爷就帮孩子刮痧。孩子在医院里偶然被被发现刮痧的伤痕，爷爷就被指控虐待儿童</a:t>
            </a:r>
            <a:r>
              <a:rPr lang="zh-CN" altLang="zh-CN" sz="2800" dirty="0" smtClean="0">
                <a:latin typeface="宋体"/>
                <a:ea typeface="宋体"/>
                <a:cs typeface="宋体"/>
              </a:rPr>
              <a:t>。美</a:t>
            </a:r>
            <a:r>
              <a:rPr lang="zh-CN" altLang="zh-CN" sz="2800" dirty="0">
                <a:latin typeface="宋体"/>
                <a:ea typeface="宋体"/>
                <a:cs typeface="宋体"/>
              </a:rPr>
              <a:t>国人不能理解刮痧可以治病，认为刮痧是故意伤害。</a:t>
            </a:r>
            <a:endParaRPr lang="en-US" altLang="zh-CN" sz="2800" dirty="0">
              <a:latin typeface="宋体"/>
              <a:ea typeface="宋体"/>
              <a:cs typeface="宋体"/>
            </a:endParaRPr>
          </a:p>
          <a:p>
            <a:r>
              <a:rPr lang="zh-CN" altLang="zh-CN" sz="2800" dirty="0">
                <a:latin typeface="宋体"/>
                <a:ea typeface="宋体"/>
                <a:cs typeface="宋体"/>
              </a:rPr>
              <a:t>是否犯罪，关键在于定义者选择了哪些规范，而不是被定义的行为本身。 </a:t>
            </a: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31</a:t>
            </a:fld>
            <a:endParaRPr lang="zh-CN" altLang="en-US"/>
          </a:p>
        </p:txBody>
      </p:sp>
    </p:spTree>
    <p:extLst>
      <p:ext uri="{BB962C8B-B14F-4D97-AF65-F5344CB8AC3E}">
        <p14:creationId xmlns:p14="http://schemas.microsoft.com/office/powerpoint/2010/main" val="351239616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多元论代表：</a:t>
            </a:r>
            <a:r>
              <a:rPr kumimoji="1" lang="en-US" altLang="zh-CN" sz="3600" dirty="0" smtClean="0">
                <a:latin typeface="黑体"/>
                <a:ea typeface="黑体"/>
                <a:cs typeface="黑体"/>
              </a:rPr>
              <a:t>《</a:t>
            </a:r>
            <a:r>
              <a:rPr kumimoji="1" lang="zh-CN" altLang="en-US" sz="3600" dirty="0" smtClean="0">
                <a:latin typeface="黑体"/>
                <a:ea typeface="黑体"/>
                <a:cs typeface="黑体"/>
              </a:rPr>
              <a:t>文化冲突论</a:t>
            </a:r>
            <a:r>
              <a:rPr kumimoji="1" lang="en-US" altLang="zh-CN" sz="3600" dirty="0" smtClean="0">
                <a:latin typeface="黑体"/>
                <a:ea typeface="黑体"/>
                <a:cs typeface="黑体"/>
              </a:rPr>
              <a:t>》</a:t>
            </a:r>
            <a:endParaRPr kumimoji="1" lang="zh-CN" altLang="en-US" sz="3600" dirty="0">
              <a:latin typeface="黑体"/>
              <a:ea typeface="黑体"/>
              <a:cs typeface="黑体"/>
            </a:endParaRPr>
          </a:p>
        </p:txBody>
      </p:sp>
      <p:sp>
        <p:nvSpPr>
          <p:cNvPr id="3" name="内容占位符 2"/>
          <p:cNvSpPr>
            <a:spLocks noGrp="1"/>
          </p:cNvSpPr>
          <p:nvPr>
            <p:ph idx="1"/>
          </p:nvPr>
        </p:nvSpPr>
        <p:spPr>
          <a:xfrm>
            <a:off x="467544" y="980728"/>
            <a:ext cx="8229600" cy="5472608"/>
          </a:xfrm>
        </p:spPr>
        <p:txBody>
          <a:bodyPr/>
          <a:lstStyle/>
          <a:p>
            <a:r>
              <a:rPr lang="zh-CN" altLang="zh-CN" sz="2800" dirty="0" smtClean="0">
                <a:latin typeface="宋体"/>
                <a:ea typeface="宋体"/>
                <a:cs typeface="宋体"/>
              </a:rPr>
              <a:t>两个</a:t>
            </a:r>
            <a:r>
              <a:rPr lang="zh-CN" altLang="zh-CN" sz="2800" dirty="0">
                <a:latin typeface="宋体"/>
                <a:ea typeface="宋体"/>
                <a:cs typeface="宋体"/>
              </a:rPr>
              <a:t>基本假定：</a:t>
            </a:r>
          </a:p>
          <a:p>
            <a:r>
              <a:rPr lang="zh-CN" altLang="zh-CN" sz="2800" dirty="0">
                <a:latin typeface="宋体"/>
                <a:ea typeface="宋体"/>
                <a:cs typeface="宋体"/>
              </a:rPr>
              <a:t>第一，社会中每个群体，不论是地缘群体、阶级、阶层、权力集团、亚文化群体等等，都拥有自己的文化规范，包括道德规范、行为准则、价值观念或者法律制度。社会群体是多元的，这就使得文化规范也是多元的。</a:t>
            </a:r>
          </a:p>
          <a:p>
            <a:r>
              <a:rPr lang="zh-CN" altLang="zh-CN" sz="2800" dirty="0">
                <a:latin typeface="宋体"/>
                <a:ea typeface="宋体"/>
                <a:cs typeface="宋体"/>
              </a:rPr>
              <a:t>第二，任何个体指引自己行为的准则，都是他所处社会群体的文化规范。每个人都有遵从自己所属群体的文化规范的倾向</a:t>
            </a:r>
            <a:r>
              <a:rPr lang="zh-CN" altLang="zh-CN" sz="2800" dirty="0" smtClean="0">
                <a:latin typeface="宋体"/>
                <a:ea typeface="宋体"/>
                <a:cs typeface="宋体"/>
              </a:rPr>
              <a:t>。既不能仅仅用所谓</a:t>
            </a:r>
            <a:r>
              <a:rPr lang="zh-CN" altLang="zh-CN" sz="2800" dirty="0">
                <a:latin typeface="宋体"/>
                <a:ea typeface="宋体"/>
                <a:cs typeface="宋体"/>
              </a:rPr>
              <a:t>一般的通行的价值规范解释人的行为，也不能用所谓冲动、本能、需要、遗传等生物性因素解释人的行为。</a:t>
            </a:r>
          </a:p>
          <a:p>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32</a:t>
            </a:fld>
            <a:endParaRPr lang="zh-CN" altLang="en-US"/>
          </a:p>
        </p:txBody>
      </p:sp>
    </p:spTree>
    <p:extLst>
      <p:ext uri="{BB962C8B-B14F-4D97-AF65-F5344CB8AC3E}">
        <p14:creationId xmlns:p14="http://schemas.microsoft.com/office/powerpoint/2010/main" val="2083556655"/>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基于两个假定的推论</a:t>
            </a:r>
            <a:endParaRPr kumimoji="1" lang="zh-CN" altLang="en-US" sz="3200" dirty="0">
              <a:latin typeface="黑体"/>
              <a:ea typeface="黑体"/>
              <a:cs typeface="黑体"/>
            </a:endParaRPr>
          </a:p>
        </p:txBody>
      </p:sp>
      <p:sp>
        <p:nvSpPr>
          <p:cNvPr id="3" name="内容占位符 2"/>
          <p:cNvSpPr>
            <a:spLocks noGrp="1"/>
          </p:cNvSpPr>
          <p:nvPr>
            <p:ph idx="1"/>
          </p:nvPr>
        </p:nvSpPr>
        <p:spPr>
          <a:xfrm>
            <a:off x="457200" y="1125538"/>
            <a:ext cx="8229600" cy="5327798"/>
          </a:xfrm>
        </p:spPr>
        <p:txBody>
          <a:bodyPr/>
          <a:lstStyle/>
          <a:p>
            <a:r>
              <a:rPr lang="zh-CN" altLang="zh-CN" dirty="0" smtClean="0">
                <a:latin typeface="宋体"/>
                <a:ea typeface="宋体"/>
                <a:cs typeface="宋体"/>
              </a:rPr>
              <a:t>当每个人都按</a:t>
            </a:r>
            <a:r>
              <a:rPr lang="zh-CN" altLang="zh-CN" dirty="0">
                <a:latin typeface="宋体"/>
                <a:ea typeface="宋体"/>
                <a:cs typeface="宋体"/>
              </a:rPr>
              <a:t>照自己所属群体的规范去行为时，就意味着触犯其他群体规范的可能性</a:t>
            </a:r>
            <a:r>
              <a:rPr lang="zh-CN" altLang="zh-CN" dirty="0" smtClean="0">
                <a:latin typeface="宋体"/>
                <a:ea typeface="宋体"/>
                <a:cs typeface="宋体"/>
              </a:rPr>
              <a:t>。</a:t>
            </a:r>
            <a:endParaRPr lang="en-US" altLang="zh-CN" dirty="0" smtClean="0">
              <a:latin typeface="宋体"/>
              <a:ea typeface="宋体"/>
              <a:cs typeface="宋体"/>
            </a:endParaRPr>
          </a:p>
          <a:p>
            <a:r>
              <a:rPr lang="zh-CN" altLang="zh-CN" dirty="0" smtClean="0">
                <a:latin typeface="宋体"/>
                <a:ea typeface="宋体"/>
                <a:cs typeface="宋体"/>
              </a:rPr>
              <a:t>于</a:t>
            </a:r>
            <a:r>
              <a:rPr lang="zh-CN" altLang="zh-CN" dirty="0">
                <a:latin typeface="宋体"/>
                <a:ea typeface="宋体"/>
                <a:cs typeface="宋体"/>
              </a:rPr>
              <a:t>是，由文化冲突所导致的极端</a:t>
            </a:r>
            <a:r>
              <a:rPr lang="zh-CN" altLang="zh-CN" dirty="0" smtClean="0">
                <a:latin typeface="宋体"/>
                <a:ea typeface="宋体"/>
                <a:cs typeface="宋体"/>
              </a:rPr>
              <a:t>形式</a:t>
            </a:r>
            <a:r>
              <a:rPr lang="en-US" altLang="zh-CN" dirty="0" smtClean="0">
                <a:latin typeface="宋体"/>
                <a:ea typeface="宋体"/>
                <a:cs typeface="宋体"/>
              </a:rPr>
              <a:t>——</a:t>
            </a:r>
            <a:r>
              <a:rPr lang="zh-CN" altLang="zh-CN" dirty="0" smtClean="0">
                <a:latin typeface="宋体"/>
                <a:ea typeface="宋体"/>
                <a:cs typeface="宋体"/>
              </a:rPr>
              <a:t>犯罪</a:t>
            </a:r>
            <a:r>
              <a:rPr lang="en-US" altLang="zh-CN" dirty="0" smtClean="0">
                <a:latin typeface="宋体"/>
                <a:ea typeface="宋体"/>
                <a:cs typeface="宋体"/>
              </a:rPr>
              <a:t>——</a:t>
            </a:r>
            <a:r>
              <a:rPr lang="zh-CN" altLang="zh-CN" dirty="0" smtClean="0">
                <a:latin typeface="宋体"/>
                <a:ea typeface="宋体"/>
                <a:cs typeface="宋体"/>
              </a:rPr>
              <a:t>便在所难免。</a:t>
            </a:r>
            <a:endParaRPr lang="en-US" altLang="zh-CN" dirty="0" smtClean="0">
              <a:latin typeface="宋体"/>
              <a:ea typeface="宋体"/>
              <a:cs typeface="宋体"/>
            </a:endParaRPr>
          </a:p>
          <a:p>
            <a:r>
              <a:rPr lang="zh-CN" altLang="zh-CN" dirty="0" smtClean="0">
                <a:latin typeface="宋体"/>
                <a:ea typeface="宋体"/>
                <a:cs typeface="宋体"/>
              </a:rPr>
              <a:t>从这个意义上说</a:t>
            </a:r>
            <a:r>
              <a:rPr lang="zh-CN" altLang="zh-CN" dirty="0">
                <a:latin typeface="宋体"/>
                <a:ea typeface="宋体"/>
                <a:cs typeface="宋体"/>
              </a:rPr>
              <a:t>，犯罪其实是不同文化之间发生碰撞的结果</a:t>
            </a:r>
            <a:r>
              <a:rPr lang="zh-CN" altLang="zh-CN" dirty="0" smtClean="0">
                <a:latin typeface="宋体"/>
                <a:ea typeface="宋体"/>
                <a:cs typeface="宋体"/>
              </a:rPr>
              <a:t>。</a:t>
            </a:r>
            <a:endParaRPr lang="zh-CN" altLang="zh-CN" dirty="0">
              <a:latin typeface="宋体"/>
              <a:ea typeface="宋体"/>
              <a:cs typeface="宋体"/>
            </a:endParaRPr>
          </a:p>
          <a:p>
            <a:r>
              <a:rPr lang="zh-CN" altLang="zh-CN" dirty="0">
                <a:latin typeface="宋体"/>
                <a:ea typeface="宋体"/>
                <a:cs typeface="宋体"/>
              </a:rPr>
              <a:t>所以，不能简单地说，犯罪是对规范的不适应、不服从</a:t>
            </a:r>
            <a:r>
              <a:rPr lang="zh-CN" altLang="zh-CN" dirty="0" smtClean="0">
                <a:latin typeface="宋体"/>
                <a:ea typeface="宋体"/>
                <a:cs typeface="宋体"/>
              </a:rPr>
              <a:t>。犯罪恰恰是遵从</a:t>
            </a:r>
            <a:r>
              <a:rPr lang="zh-CN" altLang="zh-CN" dirty="0">
                <a:latin typeface="宋体"/>
                <a:ea typeface="宋体"/>
                <a:cs typeface="宋体"/>
              </a:rPr>
              <a:t>、服从某种规范，因而触犯了另一种规范的结果</a:t>
            </a:r>
            <a:r>
              <a:rPr lang="zh-CN" altLang="zh-CN" dirty="0" smtClean="0">
                <a:latin typeface="宋体"/>
                <a:ea typeface="宋体"/>
                <a:cs typeface="宋体"/>
              </a:rPr>
              <a:t>。</a:t>
            </a:r>
            <a:endParaRPr lang="en-US" altLang="zh-CN" dirty="0" smtClean="0">
              <a:latin typeface="宋体"/>
              <a:ea typeface="宋体"/>
              <a:cs typeface="宋体"/>
            </a:endParaRPr>
          </a:p>
          <a:p>
            <a:r>
              <a:rPr lang="zh-CN" altLang="zh-CN" dirty="0">
                <a:latin typeface="宋体"/>
                <a:ea typeface="宋体"/>
                <a:cs typeface="宋体"/>
              </a:rPr>
              <a:t>文化冲突论不仅仅是一种用来解释犯罪行为的犯罪原因理论，更是一种解释犯罪定义原因的理论——人们正是按照自己相信的犯罪定义去定义别人的行为，才有了冲突</a:t>
            </a:r>
            <a:r>
              <a:rPr lang="zh-CN" altLang="zh-CN" dirty="0" smtClean="0">
                <a:latin typeface="宋体"/>
                <a:ea typeface="宋体"/>
                <a:cs typeface="宋体"/>
              </a:rPr>
              <a:t>。</a:t>
            </a:r>
            <a:endParaRPr lang="en-US" altLang="zh-CN" dirty="0" smtClean="0">
              <a:latin typeface="宋体"/>
              <a:ea typeface="宋体"/>
              <a:cs typeface="宋体"/>
            </a:endParaRPr>
          </a:p>
          <a:p>
            <a:r>
              <a:rPr lang="zh-CN" altLang="zh-CN" sz="2800" b="1" dirty="0">
                <a:latin typeface="黑体"/>
                <a:ea typeface="黑体"/>
                <a:cs typeface="黑体"/>
              </a:rPr>
              <a:t>—</a:t>
            </a:r>
            <a:r>
              <a:rPr lang="zh-CN" altLang="zh-CN" sz="2800" b="1" dirty="0" smtClean="0">
                <a:latin typeface="黑体"/>
                <a:ea typeface="黑体"/>
                <a:cs typeface="黑体"/>
              </a:rPr>
              <a:t>—</a:t>
            </a:r>
            <a:r>
              <a:rPr lang="en-US" altLang="zh-CN" sz="2800" b="1" dirty="0" smtClean="0">
                <a:latin typeface="黑体"/>
                <a:ea typeface="黑体"/>
                <a:cs typeface="黑体"/>
              </a:rPr>
              <a:t>《</a:t>
            </a:r>
            <a:r>
              <a:rPr lang="zh-CN" altLang="en-US" sz="2800" b="1" dirty="0" smtClean="0">
                <a:latin typeface="黑体"/>
                <a:ea typeface="黑体"/>
                <a:cs typeface="黑体"/>
              </a:rPr>
              <a:t>黑羊</a:t>
            </a:r>
            <a:r>
              <a:rPr lang="en-US" altLang="zh-CN" sz="2800" b="1" dirty="0" smtClean="0">
                <a:latin typeface="黑体"/>
                <a:ea typeface="黑体"/>
                <a:cs typeface="黑体"/>
              </a:rPr>
              <a:t>》</a:t>
            </a:r>
            <a:r>
              <a:rPr lang="zh-CN" altLang="en-US" sz="2800" b="1" dirty="0" smtClean="0">
                <a:latin typeface="黑体"/>
                <a:ea typeface="黑体"/>
                <a:cs typeface="黑体"/>
              </a:rPr>
              <a:t>？</a:t>
            </a:r>
            <a:r>
              <a:rPr lang="zh-CN" altLang="zh-CN" dirty="0" smtClean="0">
                <a:latin typeface="宋体"/>
                <a:ea typeface="宋体"/>
                <a:cs typeface="宋体"/>
              </a:rPr>
              <a:t> </a:t>
            </a:r>
            <a:endParaRPr kumimoji="1" lang="zh-CN" altLang="en-US" dirty="0">
              <a:latin typeface="宋体"/>
              <a:ea typeface="宋体"/>
              <a:cs typeface="宋体"/>
            </a:endParaRPr>
          </a:p>
          <a:p>
            <a:endParaRPr lang="zh-CN" altLang="zh-CN" sz="2800" dirty="0">
              <a:latin typeface="宋体"/>
              <a:ea typeface="宋体"/>
              <a:cs typeface="宋体"/>
            </a:endParaRPr>
          </a:p>
          <a:p>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33</a:t>
            </a:fld>
            <a:endParaRPr lang="zh-CN" altLang="en-US"/>
          </a:p>
        </p:txBody>
      </p:sp>
    </p:spTree>
    <p:extLst>
      <p:ext uri="{BB962C8B-B14F-4D97-AF65-F5344CB8AC3E}">
        <p14:creationId xmlns:p14="http://schemas.microsoft.com/office/powerpoint/2010/main" val="370240021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主体理论依据之三：冲突论</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r>
              <a:rPr lang="zh-CN" altLang="zh-CN" sz="2800" b="1" dirty="0">
                <a:latin typeface="宋体"/>
                <a:ea typeface="宋体"/>
                <a:cs typeface="宋体"/>
              </a:rPr>
              <a:t>不平等的社会地位和相应的社会冲突，使得规范准则对不同阶层的社会成员而言，实际上具有</a:t>
            </a:r>
            <a:r>
              <a:rPr lang="zh-CN" altLang="zh-CN" sz="2800" b="1" dirty="0" smtClean="0">
                <a:latin typeface="宋体"/>
                <a:ea typeface="宋体"/>
                <a:cs typeface="宋体"/>
              </a:rPr>
              <a:t>不同的意义</a:t>
            </a:r>
            <a:r>
              <a:rPr lang="zh-CN" altLang="en-US" sz="2800" b="1" dirty="0" smtClean="0">
                <a:latin typeface="宋体"/>
                <a:ea typeface="宋体"/>
                <a:cs typeface="宋体"/>
              </a:rPr>
              <a:t>。</a:t>
            </a:r>
            <a:r>
              <a:rPr lang="zh-CN" altLang="zh-CN" sz="2800" dirty="0" smtClean="0">
                <a:latin typeface="宋体"/>
                <a:ea typeface="宋体"/>
                <a:cs typeface="宋体"/>
              </a:rPr>
              <a:t> </a:t>
            </a:r>
            <a:endParaRPr lang="en-US" altLang="zh-CN" sz="2800" dirty="0" smtClean="0">
              <a:latin typeface="宋体"/>
              <a:ea typeface="宋体"/>
              <a:cs typeface="宋体"/>
            </a:endParaRPr>
          </a:p>
          <a:p>
            <a:r>
              <a:rPr lang="en-US" altLang="zh-CN" sz="2800" dirty="0">
                <a:latin typeface="宋体"/>
                <a:ea typeface="宋体"/>
                <a:cs typeface="宋体"/>
              </a:rPr>
              <a:t>1949</a:t>
            </a:r>
            <a:r>
              <a:rPr lang="zh-CN" altLang="zh-CN" sz="2800" dirty="0">
                <a:latin typeface="宋体"/>
                <a:ea typeface="宋体"/>
                <a:cs typeface="宋体"/>
              </a:rPr>
              <a:t>年，美国学者默顿在《社会理论与社会结构》中提出</a:t>
            </a:r>
            <a:r>
              <a:rPr lang="zh-CN" altLang="zh-CN" sz="2800" dirty="0" smtClean="0">
                <a:latin typeface="宋体"/>
                <a:ea typeface="宋体"/>
                <a:cs typeface="宋体"/>
              </a:rPr>
              <a:t>了</a:t>
            </a:r>
            <a:r>
              <a:rPr lang="zh-CN" altLang="en-US" sz="2800" dirty="0" smtClean="0">
                <a:latin typeface="宋体"/>
                <a:ea typeface="宋体"/>
                <a:cs typeface="宋体"/>
              </a:rPr>
              <a:t>“</a:t>
            </a:r>
            <a:r>
              <a:rPr lang="zh-CN" altLang="zh-CN" sz="2800" b="1" dirty="0" smtClean="0">
                <a:latin typeface="宋体"/>
                <a:ea typeface="宋体"/>
                <a:cs typeface="宋体"/>
              </a:rPr>
              <a:t>社会异常论</a:t>
            </a:r>
            <a:r>
              <a:rPr lang="zh-CN" altLang="en-US" sz="2800" b="1" dirty="0" smtClean="0">
                <a:latin typeface="宋体"/>
                <a:ea typeface="宋体"/>
                <a:cs typeface="宋体"/>
              </a:rPr>
              <a:t>”</a:t>
            </a:r>
            <a:r>
              <a:rPr lang="zh-CN" altLang="zh-CN" sz="2800" dirty="0" smtClean="0">
                <a:latin typeface="宋体"/>
                <a:ea typeface="宋体"/>
                <a:cs typeface="宋体"/>
              </a:rPr>
              <a:t>，</a:t>
            </a:r>
            <a:r>
              <a:rPr lang="zh-CN" altLang="zh-CN" sz="2800" dirty="0">
                <a:latin typeface="宋体"/>
                <a:ea typeface="宋体"/>
                <a:cs typeface="宋体"/>
              </a:rPr>
              <a:t>认为犯罪是文化目标与手段之间断裂的结果。</a:t>
            </a:r>
          </a:p>
          <a:p>
            <a:r>
              <a:rPr lang="zh-CN" altLang="zh-CN" sz="2800" dirty="0">
                <a:latin typeface="宋体"/>
                <a:ea typeface="宋体"/>
                <a:cs typeface="宋体"/>
              </a:rPr>
              <a:t>所谓</a:t>
            </a:r>
            <a:r>
              <a:rPr lang="zh-CN" altLang="zh-CN" sz="2800" b="1" dirty="0">
                <a:latin typeface="宋体"/>
                <a:ea typeface="宋体"/>
                <a:cs typeface="宋体"/>
              </a:rPr>
              <a:t>文化结构</a:t>
            </a:r>
            <a:r>
              <a:rPr lang="zh-CN" altLang="zh-CN" sz="2800" dirty="0">
                <a:latin typeface="宋体"/>
                <a:ea typeface="宋体"/>
                <a:cs typeface="宋体"/>
              </a:rPr>
              <a:t>，就是指社会通行的价值目标，它规定着人们的生活目的。</a:t>
            </a:r>
          </a:p>
          <a:p>
            <a:r>
              <a:rPr lang="zh-CN" altLang="zh-CN" sz="2800" dirty="0">
                <a:latin typeface="宋体"/>
                <a:ea typeface="宋体"/>
                <a:cs typeface="宋体"/>
              </a:rPr>
              <a:t>所谓</a:t>
            </a:r>
            <a:r>
              <a:rPr lang="zh-CN" altLang="zh-CN" sz="2800" b="1" dirty="0">
                <a:latin typeface="宋体"/>
                <a:ea typeface="宋体"/>
                <a:cs typeface="宋体"/>
              </a:rPr>
              <a:t>社会结构</a:t>
            </a:r>
            <a:r>
              <a:rPr lang="zh-CN" altLang="zh-CN" sz="2800" dirty="0">
                <a:latin typeface="宋体"/>
                <a:ea typeface="宋体"/>
                <a:cs typeface="宋体"/>
              </a:rPr>
              <a:t>就是由不同的角色、身份、地位的人所组成的社会关系，也即人们之间因社会分层所形成的社会地位差别。</a:t>
            </a:r>
          </a:p>
          <a:p>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34</a:t>
            </a:fld>
            <a:endParaRPr lang="zh-CN" altLang="en-US"/>
          </a:p>
        </p:txBody>
      </p:sp>
    </p:spTree>
    <p:extLst>
      <p:ext uri="{BB962C8B-B14F-4D97-AF65-F5344CB8AC3E}">
        <p14:creationId xmlns:p14="http://schemas.microsoft.com/office/powerpoint/2010/main" val="3280666147"/>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目标与手段的断裂</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zh-CN" altLang="zh-CN" dirty="0">
                <a:latin typeface="宋体"/>
                <a:ea typeface="宋体"/>
                <a:cs typeface="宋体"/>
              </a:rPr>
              <a:t>当目标和手段一致时，人们可以凭借社会提供的合法手段去实现社会规定的价值目标。但是，如果一方面社会为人们规定了通行的价值目标，但另一方面又没有给人们提供足够的实现价值目标的手段，那么，目标与手段之间就发生了矛盾、断裂。</a:t>
            </a:r>
          </a:p>
          <a:p>
            <a:r>
              <a:rPr lang="zh-CN" altLang="zh-CN" dirty="0">
                <a:latin typeface="宋体"/>
                <a:ea typeface="宋体"/>
                <a:cs typeface="宋体"/>
              </a:rPr>
              <a:t>具体到美国社会</a:t>
            </a:r>
            <a:r>
              <a:rPr lang="zh-CN" altLang="zh-CN" dirty="0" smtClean="0">
                <a:latin typeface="宋体"/>
                <a:ea typeface="宋体"/>
                <a:cs typeface="宋体"/>
              </a:rPr>
              <a:t>，对下层</a:t>
            </a:r>
            <a:r>
              <a:rPr lang="zh-CN" altLang="zh-CN" dirty="0">
                <a:latin typeface="宋体"/>
                <a:ea typeface="宋体"/>
                <a:cs typeface="宋体"/>
              </a:rPr>
              <a:t>社会成员来说，手段与目标并不一致：要么放弃通行的价值目标，安于现状；要么放弃合法手段，用非法的手段去追求通行的价值</a:t>
            </a:r>
            <a:r>
              <a:rPr lang="zh-CN" altLang="zh-CN" dirty="0" smtClean="0">
                <a:latin typeface="宋体"/>
                <a:ea typeface="宋体"/>
                <a:cs typeface="宋体"/>
              </a:rPr>
              <a:t>目标</a:t>
            </a:r>
            <a:r>
              <a:rPr lang="en-US" altLang="zh-CN" dirty="0" smtClean="0">
                <a:latin typeface="宋体"/>
                <a:ea typeface="宋体"/>
                <a:cs typeface="宋体"/>
              </a:rPr>
              <a:t>——</a:t>
            </a:r>
            <a:r>
              <a:rPr lang="zh-CN" altLang="zh-CN" dirty="0" smtClean="0">
                <a:latin typeface="宋体"/>
                <a:ea typeface="宋体"/>
                <a:cs typeface="宋体"/>
              </a:rPr>
              <a:t>手</a:t>
            </a:r>
            <a:r>
              <a:rPr lang="zh-CN" altLang="zh-CN" dirty="0">
                <a:latin typeface="宋体"/>
                <a:ea typeface="宋体"/>
                <a:cs typeface="宋体"/>
              </a:rPr>
              <a:t>段上的不平等</a:t>
            </a:r>
            <a:r>
              <a:rPr lang="zh-CN" altLang="zh-CN" dirty="0" smtClean="0">
                <a:latin typeface="宋体"/>
                <a:ea typeface="宋体"/>
                <a:cs typeface="宋体"/>
              </a:rPr>
              <a:t>。</a:t>
            </a:r>
            <a:endParaRPr lang="en-US" altLang="zh-CN" dirty="0" smtClean="0">
              <a:latin typeface="宋体"/>
              <a:ea typeface="宋体"/>
              <a:cs typeface="宋体"/>
            </a:endParaRPr>
          </a:p>
          <a:p>
            <a:r>
              <a:rPr lang="zh-CN" altLang="zh-CN" dirty="0" smtClean="0">
                <a:latin typeface="宋体"/>
                <a:ea typeface="宋体"/>
                <a:cs typeface="宋体"/>
              </a:rPr>
              <a:t>社会鼓励人们去赚大钱</a:t>
            </a:r>
            <a:r>
              <a:rPr lang="zh-CN" altLang="zh-CN" dirty="0">
                <a:latin typeface="宋体"/>
                <a:ea typeface="宋体"/>
                <a:cs typeface="宋体"/>
              </a:rPr>
              <a:t>，但不允许每个人有同等的机会去赚大钱。于是，就在目标与手段相矛盾的个体内心中形成一种压力、紧张等内心体验。</a:t>
            </a:r>
          </a:p>
          <a:p>
            <a:endParaRPr kumimoji="1" lang="zh-CN" altLang="en-US"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35</a:t>
            </a:fld>
            <a:endParaRPr lang="zh-CN" altLang="en-US"/>
          </a:p>
        </p:txBody>
      </p:sp>
    </p:spTree>
    <p:extLst>
      <p:ext uri="{BB962C8B-B14F-4D97-AF65-F5344CB8AC3E}">
        <p14:creationId xmlns:p14="http://schemas.microsoft.com/office/powerpoint/2010/main" val="2323676144"/>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332656"/>
            <a:ext cx="7170737" cy="492125"/>
          </a:xfrm>
        </p:spPr>
        <p:txBody>
          <a:bodyPr/>
          <a:lstStyle/>
          <a:p>
            <a:pPr algn="ctr"/>
            <a:r>
              <a:rPr lang="zh-CN" altLang="zh-CN" sz="3600" b="1" dirty="0">
                <a:latin typeface="宋体"/>
                <a:ea typeface="宋体"/>
                <a:cs typeface="宋体"/>
              </a:rPr>
              <a:t>对社会异常的个体反应方式 </a:t>
            </a:r>
            <a:endParaRPr kumimoji="1" lang="zh-CN" altLang="en-US" sz="3600" b="1" dirty="0">
              <a:latin typeface="宋体"/>
              <a:ea typeface="宋体"/>
              <a:cs typeface="宋体"/>
            </a:endParaRPr>
          </a:p>
        </p:txBody>
      </p:sp>
      <p:graphicFrame>
        <p:nvGraphicFramePr>
          <p:cNvPr id="4" name="内容占位符 3"/>
          <p:cNvGraphicFramePr>
            <a:graphicFrameLocks noGrp="1"/>
          </p:cNvGraphicFramePr>
          <p:nvPr>
            <p:ph idx="1"/>
            <p:extLst>
              <p:ext uri="{D42A27DB-BD31-4B8C-83A1-F6EECF244321}">
                <p14:modId xmlns:p14="http://schemas.microsoft.com/office/powerpoint/2010/main" val="3257667718"/>
              </p:ext>
            </p:extLst>
          </p:nvPr>
        </p:nvGraphicFramePr>
        <p:xfrm>
          <a:off x="467544" y="1412776"/>
          <a:ext cx="8291265" cy="4536506"/>
        </p:xfrm>
        <a:graphic>
          <a:graphicData uri="http://schemas.openxmlformats.org/drawingml/2006/table">
            <a:tbl>
              <a:tblPr firstRow="1" bandRow="1">
                <a:tableStyleId>{1E171933-4619-4E11-9A3F-F7608DF75F80}</a:tableStyleId>
              </a:tblPr>
              <a:tblGrid>
                <a:gridCol w="2763755"/>
                <a:gridCol w="2763755"/>
                <a:gridCol w="2763755"/>
              </a:tblGrid>
              <a:tr h="864098">
                <a:tc>
                  <a:txBody>
                    <a:bodyPr/>
                    <a:lstStyle/>
                    <a:p>
                      <a:pPr algn="ctr">
                        <a:spcAft>
                          <a:spcPts val="0"/>
                        </a:spcAft>
                      </a:pPr>
                      <a:r>
                        <a:rPr lang="zh-CN" sz="3600" kern="100" dirty="0">
                          <a:effectLst/>
                          <a:latin typeface="黑体"/>
                          <a:ea typeface="黑体"/>
                          <a:cs typeface="黑体"/>
                        </a:rPr>
                        <a:t>适应方式</a:t>
                      </a:r>
                    </a:p>
                  </a:txBody>
                  <a:tcPr marL="17780" marR="17780" marT="0" marB="0"/>
                </a:tc>
                <a:tc>
                  <a:txBody>
                    <a:bodyPr/>
                    <a:lstStyle/>
                    <a:p>
                      <a:pPr algn="ctr">
                        <a:spcAft>
                          <a:spcPts val="0"/>
                        </a:spcAft>
                      </a:pPr>
                      <a:r>
                        <a:rPr lang="zh-CN" sz="3600" b="1" kern="100" dirty="0">
                          <a:solidFill>
                            <a:schemeClr val="lt1"/>
                          </a:solidFill>
                          <a:effectLst/>
                          <a:latin typeface="黑体"/>
                          <a:ea typeface="黑体"/>
                          <a:cs typeface="黑体"/>
                        </a:rPr>
                        <a:t>文化</a:t>
                      </a:r>
                      <a:r>
                        <a:rPr lang="zh-CN" sz="3600" kern="100" dirty="0">
                          <a:effectLst/>
                          <a:latin typeface="黑体"/>
                          <a:ea typeface="黑体"/>
                          <a:cs typeface="黑体"/>
                        </a:rPr>
                        <a:t>目标</a:t>
                      </a:r>
                    </a:p>
                  </a:txBody>
                  <a:tcPr marL="17780" marR="17780" marT="0" marB="0"/>
                </a:tc>
                <a:tc>
                  <a:txBody>
                    <a:bodyPr/>
                    <a:lstStyle/>
                    <a:p>
                      <a:pPr algn="ctr">
                        <a:spcAft>
                          <a:spcPts val="0"/>
                        </a:spcAft>
                      </a:pPr>
                      <a:r>
                        <a:rPr lang="zh-CN" sz="3600" kern="100" dirty="0">
                          <a:effectLst/>
                          <a:latin typeface="黑体"/>
                          <a:ea typeface="黑体"/>
                          <a:cs typeface="黑体"/>
                        </a:rPr>
                        <a:t>规范手段</a:t>
                      </a:r>
                    </a:p>
                  </a:txBody>
                  <a:tcPr marL="17780" marR="17780" marT="0" marB="0"/>
                </a:tc>
              </a:tr>
              <a:tr h="653402">
                <a:tc>
                  <a:txBody>
                    <a:bodyPr/>
                    <a:lstStyle/>
                    <a:p>
                      <a:pPr algn="ctr">
                        <a:spcAft>
                          <a:spcPts val="0"/>
                        </a:spcAft>
                      </a:pPr>
                      <a:r>
                        <a:rPr lang="zh-CN" sz="2800" kern="100" dirty="0">
                          <a:effectLst/>
                        </a:rPr>
                        <a:t>遵从</a:t>
                      </a:r>
                      <a:endParaRPr lang="zh-CN" sz="2800" kern="100" dirty="0">
                        <a:effectLst/>
                        <a:latin typeface="Times New Roman"/>
                        <a:ea typeface="宋体"/>
                        <a:cs typeface="Times New Roman"/>
                      </a:endParaRPr>
                    </a:p>
                  </a:txBody>
                  <a:tcPr marL="17780" marR="17780" marT="0" marB="0"/>
                </a:tc>
                <a:tc>
                  <a:txBody>
                    <a:bodyPr/>
                    <a:lstStyle/>
                    <a:p>
                      <a:pPr algn="ctr">
                        <a:spcAft>
                          <a:spcPts val="0"/>
                        </a:spcAft>
                      </a:pPr>
                      <a:r>
                        <a:rPr lang="zh-CN" sz="2800" kern="100">
                          <a:effectLst/>
                        </a:rPr>
                        <a:t>＋</a:t>
                      </a:r>
                      <a:endParaRPr lang="zh-CN" sz="2800" kern="100">
                        <a:effectLst/>
                        <a:latin typeface="Times New Roman"/>
                        <a:ea typeface="宋体"/>
                        <a:cs typeface="Times New Roman"/>
                      </a:endParaRPr>
                    </a:p>
                  </a:txBody>
                  <a:tcPr marL="17780" marR="17780" marT="0" marB="0"/>
                </a:tc>
                <a:tc>
                  <a:txBody>
                    <a:bodyPr/>
                    <a:lstStyle/>
                    <a:p>
                      <a:pPr algn="ctr">
                        <a:spcAft>
                          <a:spcPts val="0"/>
                        </a:spcAft>
                      </a:pPr>
                      <a:r>
                        <a:rPr lang="zh-CN" sz="2800" kern="100">
                          <a:effectLst/>
                        </a:rPr>
                        <a:t>＋</a:t>
                      </a:r>
                      <a:endParaRPr lang="zh-CN" sz="2800" kern="100">
                        <a:effectLst/>
                        <a:latin typeface="Times New Roman"/>
                        <a:ea typeface="宋体"/>
                        <a:cs typeface="Times New Roman"/>
                      </a:endParaRPr>
                    </a:p>
                  </a:txBody>
                  <a:tcPr marL="17780" marR="17780" marT="0" marB="0"/>
                </a:tc>
              </a:tr>
              <a:tr h="714750">
                <a:tc>
                  <a:txBody>
                    <a:bodyPr/>
                    <a:lstStyle/>
                    <a:p>
                      <a:pPr algn="ctr">
                        <a:spcAft>
                          <a:spcPts val="0"/>
                        </a:spcAft>
                      </a:pPr>
                      <a:r>
                        <a:rPr lang="zh-CN" sz="2800" kern="100" dirty="0">
                          <a:effectLst/>
                        </a:rPr>
                        <a:t>改革</a:t>
                      </a:r>
                      <a:endParaRPr lang="zh-CN" sz="2800" kern="100" dirty="0">
                        <a:effectLst/>
                        <a:latin typeface="Times New Roman"/>
                        <a:ea typeface="宋体"/>
                        <a:cs typeface="Times New Roman"/>
                      </a:endParaRPr>
                    </a:p>
                  </a:txBody>
                  <a:tcPr marL="17780" marR="17780" marT="0" marB="0"/>
                </a:tc>
                <a:tc>
                  <a:txBody>
                    <a:bodyPr/>
                    <a:lstStyle/>
                    <a:p>
                      <a:pPr algn="ctr">
                        <a:spcAft>
                          <a:spcPts val="0"/>
                        </a:spcAft>
                      </a:pPr>
                      <a:r>
                        <a:rPr lang="zh-CN" sz="2800" kern="100" dirty="0">
                          <a:effectLst/>
                        </a:rPr>
                        <a:t>＋</a:t>
                      </a:r>
                      <a:endParaRPr lang="zh-CN" sz="2800" kern="100" dirty="0">
                        <a:effectLst/>
                        <a:latin typeface="Times New Roman"/>
                        <a:ea typeface="宋体"/>
                        <a:cs typeface="Times New Roman"/>
                      </a:endParaRPr>
                    </a:p>
                  </a:txBody>
                  <a:tcPr marL="17780" marR="17780" marT="0" marB="0"/>
                </a:tc>
                <a:tc>
                  <a:txBody>
                    <a:bodyPr/>
                    <a:lstStyle/>
                    <a:p>
                      <a:pPr algn="ctr">
                        <a:spcAft>
                          <a:spcPts val="0"/>
                        </a:spcAft>
                      </a:pPr>
                      <a:r>
                        <a:rPr lang="zh-CN" sz="2800" kern="100">
                          <a:effectLst/>
                        </a:rPr>
                        <a:t>－</a:t>
                      </a:r>
                      <a:endParaRPr lang="zh-CN" sz="2800" kern="100">
                        <a:effectLst/>
                        <a:latin typeface="Times New Roman"/>
                        <a:ea typeface="宋体"/>
                        <a:cs typeface="Times New Roman"/>
                      </a:endParaRPr>
                    </a:p>
                  </a:txBody>
                  <a:tcPr marL="17780" marR="17780" marT="0" marB="0"/>
                </a:tc>
              </a:tr>
              <a:tr h="720080">
                <a:tc>
                  <a:txBody>
                    <a:bodyPr/>
                    <a:lstStyle/>
                    <a:p>
                      <a:pPr algn="ctr">
                        <a:spcAft>
                          <a:spcPts val="0"/>
                        </a:spcAft>
                      </a:pPr>
                      <a:r>
                        <a:rPr lang="zh-CN" sz="2800" kern="100" dirty="0">
                          <a:effectLst/>
                        </a:rPr>
                        <a:t>形式主义</a:t>
                      </a:r>
                      <a:endParaRPr lang="zh-CN" sz="2800" kern="100" dirty="0">
                        <a:effectLst/>
                        <a:latin typeface="Times New Roman"/>
                        <a:ea typeface="宋体"/>
                        <a:cs typeface="Times New Roman"/>
                      </a:endParaRPr>
                    </a:p>
                  </a:txBody>
                  <a:tcPr marL="17780" marR="17780" marT="0" marB="0"/>
                </a:tc>
                <a:tc>
                  <a:txBody>
                    <a:bodyPr/>
                    <a:lstStyle/>
                    <a:p>
                      <a:pPr algn="ctr">
                        <a:spcAft>
                          <a:spcPts val="0"/>
                        </a:spcAft>
                      </a:pPr>
                      <a:r>
                        <a:rPr lang="zh-CN" sz="2800" kern="100" dirty="0">
                          <a:effectLst/>
                        </a:rPr>
                        <a:t>－</a:t>
                      </a:r>
                      <a:endParaRPr lang="zh-CN" sz="2800" kern="100" dirty="0">
                        <a:effectLst/>
                        <a:latin typeface="Times New Roman"/>
                        <a:ea typeface="宋体"/>
                        <a:cs typeface="Times New Roman"/>
                      </a:endParaRPr>
                    </a:p>
                  </a:txBody>
                  <a:tcPr marL="17780" marR="17780" marT="0" marB="0"/>
                </a:tc>
                <a:tc>
                  <a:txBody>
                    <a:bodyPr/>
                    <a:lstStyle/>
                    <a:p>
                      <a:pPr algn="ctr">
                        <a:spcAft>
                          <a:spcPts val="0"/>
                        </a:spcAft>
                      </a:pPr>
                      <a:r>
                        <a:rPr lang="zh-CN" sz="2800" kern="100" dirty="0">
                          <a:effectLst/>
                        </a:rPr>
                        <a:t>＋</a:t>
                      </a:r>
                      <a:endParaRPr lang="zh-CN" sz="2800" kern="100" dirty="0">
                        <a:effectLst/>
                        <a:latin typeface="Times New Roman"/>
                        <a:ea typeface="宋体"/>
                        <a:cs typeface="Times New Roman"/>
                      </a:endParaRPr>
                    </a:p>
                  </a:txBody>
                  <a:tcPr marL="17780" marR="17780" marT="0" marB="0"/>
                </a:tc>
              </a:tr>
              <a:tr h="864096">
                <a:tc>
                  <a:txBody>
                    <a:bodyPr/>
                    <a:lstStyle/>
                    <a:p>
                      <a:pPr algn="ctr">
                        <a:spcAft>
                          <a:spcPts val="0"/>
                        </a:spcAft>
                      </a:pPr>
                      <a:r>
                        <a:rPr lang="zh-CN" sz="2800" kern="100" dirty="0">
                          <a:effectLst/>
                        </a:rPr>
                        <a:t>退却主义</a:t>
                      </a:r>
                      <a:endParaRPr lang="zh-CN" sz="2800" kern="100" dirty="0">
                        <a:effectLst/>
                        <a:latin typeface="Times New Roman"/>
                        <a:ea typeface="宋体"/>
                        <a:cs typeface="Times New Roman"/>
                      </a:endParaRPr>
                    </a:p>
                  </a:txBody>
                  <a:tcPr marL="17780" marR="17780" marT="0" marB="0"/>
                </a:tc>
                <a:tc>
                  <a:txBody>
                    <a:bodyPr/>
                    <a:lstStyle/>
                    <a:p>
                      <a:pPr algn="ctr">
                        <a:spcAft>
                          <a:spcPts val="0"/>
                        </a:spcAft>
                      </a:pPr>
                      <a:r>
                        <a:rPr lang="zh-CN" sz="2800" kern="100" dirty="0">
                          <a:effectLst/>
                        </a:rPr>
                        <a:t>－</a:t>
                      </a:r>
                      <a:endParaRPr lang="zh-CN" sz="2800" kern="100" dirty="0">
                        <a:effectLst/>
                        <a:latin typeface="Times New Roman"/>
                        <a:ea typeface="宋体"/>
                        <a:cs typeface="Times New Roman"/>
                      </a:endParaRPr>
                    </a:p>
                  </a:txBody>
                  <a:tcPr marL="17780" marR="17780" marT="0" marB="0"/>
                </a:tc>
                <a:tc>
                  <a:txBody>
                    <a:bodyPr/>
                    <a:lstStyle/>
                    <a:p>
                      <a:pPr algn="ctr">
                        <a:spcAft>
                          <a:spcPts val="0"/>
                        </a:spcAft>
                      </a:pPr>
                      <a:r>
                        <a:rPr lang="zh-CN" sz="2800" kern="100" dirty="0">
                          <a:effectLst/>
                        </a:rPr>
                        <a:t>－</a:t>
                      </a:r>
                      <a:endParaRPr lang="zh-CN" sz="2800" kern="100" dirty="0">
                        <a:effectLst/>
                        <a:latin typeface="Times New Roman"/>
                        <a:ea typeface="宋体"/>
                        <a:cs typeface="Times New Roman"/>
                      </a:endParaRPr>
                    </a:p>
                  </a:txBody>
                  <a:tcPr marL="17780" marR="17780" marT="0" marB="0"/>
                </a:tc>
              </a:tr>
              <a:tr h="720080">
                <a:tc>
                  <a:txBody>
                    <a:bodyPr/>
                    <a:lstStyle/>
                    <a:p>
                      <a:pPr algn="ctr">
                        <a:spcAft>
                          <a:spcPts val="0"/>
                        </a:spcAft>
                      </a:pPr>
                      <a:r>
                        <a:rPr lang="zh-CN" sz="2800" kern="100">
                          <a:effectLst/>
                        </a:rPr>
                        <a:t>造反</a:t>
                      </a:r>
                      <a:endParaRPr lang="zh-CN" sz="2800" kern="100">
                        <a:effectLst/>
                        <a:latin typeface="Times New Roman"/>
                        <a:ea typeface="宋体"/>
                        <a:cs typeface="Times New Roman"/>
                      </a:endParaRPr>
                    </a:p>
                  </a:txBody>
                  <a:tcPr marL="17780" marR="17780" marT="0" marB="0"/>
                </a:tc>
                <a:tc>
                  <a:txBody>
                    <a:bodyPr/>
                    <a:lstStyle/>
                    <a:p>
                      <a:pPr algn="ctr">
                        <a:spcAft>
                          <a:spcPts val="0"/>
                        </a:spcAft>
                      </a:pPr>
                      <a:r>
                        <a:rPr lang="zh-CN" sz="2800" kern="100" dirty="0">
                          <a:effectLst/>
                        </a:rPr>
                        <a:t>±</a:t>
                      </a:r>
                      <a:endParaRPr lang="zh-CN" sz="2800" kern="100" dirty="0">
                        <a:effectLst/>
                        <a:latin typeface="Times New Roman"/>
                        <a:ea typeface="宋体"/>
                        <a:cs typeface="Times New Roman"/>
                      </a:endParaRPr>
                    </a:p>
                  </a:txBody>
                  <a:tcPr marL="17780" marR="17780" marT="0" marB="0"/>
                </a:tc>
                <a:tc>
                  <a:txBody>
                    <a:bodyPr/>
                    <a:lstStyle/>
                    <a:p>
                      <a:pPr algn="ctr">
                        <a:spcAft>
                          <a:spcPts val="0"/>
                        </a:spcAft>
                      </a:pPr>
                      <a:r>
                        <a:rPr lang="zh-CN" sz="2800" kern="100" dirty="0">
                          <a:effectLst/>
                        </a:rPr>
                        <a:t>±</a:t>
                      </a:r>
                      <a:endParaRPr lang="zh-CN" sz="2800" kern="100" dirty="0">
                        <a:effectLst/>
                        <a:latin typeface="Times New Roman"/>
                        <a:ea typeface="宋体"/>
                        <a:cs typeface="Times New Roman"/>
                      </a:endParaRPr>
                    </a:p>
                  </a:txBody>
                  <a:tcPr marL="17780" marR="17780" marT="0" marB="0"/>
                </a:tc>
              </a:tr>
            </a:tbl>
          </a:graphicData>
        </a:graphic>
      </p:graphicFrame>
      <p:sp>
        <p:nvSpPr>
          <p:cNvPr id="3" name="幻灯片编号占位符 2"/>
          <p:cNvSpPr>
            <a:spLocks noGrp="1"/>
          </p:cNvSpPr>
          <p:nvPr>
            <p:ph type="sldNum" sz="quarter" idx="12"/>
          </p:nvPr>
        </p:nvSpPr>
        <p:spPr/>
        <p:txBody>
          <a:bodyPr/>
          <a:lstStyle/>
          <a:p>
            <a:fld id="{837C144C-5A62-4B53-B939-FE9C4EDA708D}" type="slidenum">
              <a:rPr lang="en-US" altLang="zh-CN" smtClean="0"/>
              <a:pPr/>
              <a:t>36</a:t>
            </a:fld>
            <a:endParaRPr lang="zh-CN" altLang="en-US"/>
          </a:p>
        </p:txBody>
      </p:sp>
    </p:spTree>
    <p:extLst>
      <p:ext uri="{BB962C8B-B14F-4D97-AF65-F5344CB8AC3E}">
        <p14:creationId xmlns:p14="http://schemas.microsoft.com/office/powerpoint/2010/main" val="768071422"/>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sz="3600" dirty="0" smtClean="0">
                <a:latin typeface="黑体"/>
                <a:ea typeface="黑体"/>
                <a:cs typeface="黑体"/>
              </a:rPr>
              <a:t>    </a:t>
            </a:r>
            <a:r>
              <a:rPr kumimoji="1" lang="zh-CN" altLang="en-US" sz="3600" dirty="0" smtClean="0">
                <a:latin typeface="黑体"/>
                <a:ea typeface="黑体"/>
                <a:cs typeface="黑体"/>
              </a:rPr>
              <a:t>总之：</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r>
              <a:rPr lang="zh-CN" altLang="zh-CN" sz="2800" b="1" dirty="0">
                <a:latin typeface="宋体"/>
                <a:ea typeface="宋体"/>
                <a:cs typeface="宋体"/>
              </a:rPr>
              <a:t>“法律以其庄严的平等，禁止穷人也同样禁止富人在桥下睡觉、沿街乞讨和偷面包。</a:t>
            </a:r>
            <a:r>
              <a:rPr lang="zh-CN" altLang="zh-CN" sz="2800" b="1" dirty="0" smtClean="0">
                <a:latin typeface="宋体"/>
                <a:ea typeface="宋体"/>
                <a:cs typeface="宋体"/>
              </a:rPr>
              <a:t>”</a:t>
            </a:r>
            <a:endParaRPr lang="en-US" altLang="zh-CN" sz="2800" b="1" dirty="0" smtClean="0">
              <a:latin typeface="宋体"/>
              <a:ea typeface="宋体"/>
              <a:cs typeface="宋体"/>
            </a:endParaRPr>
          </a:p>
          <a:p>
            <a:r>
              <a:rPr lang="zh-CN" altLang="zh-CN" sz="2800" b="1" dirty="0" smtClean="0">
                <a:latin typeface="宋体"/>
                <a:ea typeface="宋体"/>
                <a:cs typeface="宋体"/>
              </a:rPr>
              <a:t>—</a:t>
            </a:r>
            <a:r>
              <a:rPr lang="zh-CN" altLang="zh-CN" sz="2800" b="1" dirty="0">
                <a:latin typeface="宋体"/>
                <a:ea typeface="宋体"/>
                <a:cs typeface="宋体"/>
              </a:rPr>
              <a:t>—准则对不同地位的人而言有不同的意义：定义不可能全是客观的。</a:t>
            </a:r>
          </a:p>
          <a:p>
            <a:r>
              <a:rPr lang="zh-CN" altLang="zh-CN" sz="2800" b="1" dirty="0" smtClean="0">
                <a:latin typeface="宋体"/>
                <a:ea typeface="宋体"/>
                <a:cs typeface="宋体"/>
              </a:rPr>
              <a:t>将何种行为冠名为</a:t>
            </a:r>
            <a:r>
              <a:rPr lang="zh-CN" altLang="zh-CN" sz="2800" b="1" dirty="0">
                <a:latin typeface="宋体"/>
                <a:ea typeface="宋体"/>
                <a:cs typeface="宋体"/>
              </a:rPr>
              <a:t>犯罪，不可能过多地考虑被定义的行为自身的原有属性，相反，犯罪定义倒是冲突中赢得犯罪定义权的主体用来贯彻自己意志的最好工具！！</a:t>
            </a:r>
            <a:r>
              <a:rPr lang="zh-CN" altLang="zh-CN" sz="2800" b="1" dirty="0" smtClean="0">
                <a:latin typeface="宋体"/>
                <a:ea typeface="宋体"/>
                <a:cs typeface="宋体"/>
              </a:rPr>
              <a:t>！</a:t>
            </a:r>
            <a:endParaRPr lang="en-US" altLang="zh-CN" sz="2800" b="1" dirty="0" smtClean="0">
              <a:latin typeface="宋体"/>
              <a:ea typeface="宋体"/>
              <a:cs typeface="宋体"/>
            </a:endParaRPr>
          </a:p>
          <a:p>
            <a:r>
              <a:rPr lang="zh-CN" altLang="en-US" sz="2800" b="1" dirty="0" smtClean="0">
                <a:latin typeface="宋体"/>
                <a:ea typeface="宋体"/>
                <a:cs typeface="宋体"/>
              </a:rPr>
              <a:t>例如，三部刑法中死刑耗费的两次转移。</a:t>
            </a:r>
            <a:endParaRPr lang="en-US" altLang="zh-CN" sz="2800" b="1" dirty="0" smtClean="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37</a:t>
            </a:fld>
            <a:endParaRPr lang="zh-CN" altLang="en-US"/>
          </a:p>
        </p:txBody>
      </p:sp>
    </p:spTree>
    <p:extLst>
      <p:ext uri="{BB962C8B-B14F-4D97-AF65-F5344CB8AC3E}">
        <p14:creationId xmlns:p14="http://schemas.microsoft.com/office/powerpoint/2010/main" val="336870237"/>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罗生门里的十二怒汉</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r>
              <a:rPr lang="zh-CN" altLang="zh-CN" sz="2800" dirty="0">
                <a:latin typeface="宋体"/>
                <a:ea typeface="宋体"/>
                <a:cs typeface="宋体"/>
              </a:rPr>
              <a:t>犯罪化不仅是个立法过程，也是个司法过程</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具体</a:t>
            </a:r>
            <a:r>
              <a:rPr lang="zh-CN" altLang="zh-CN" sz="2800" dirty="0">
                <a:latin typeface="宋体"/>
                <a:ea typeface="宋体"/>
                <a:cs typeface="宋体"/>
              </a:rPr>
              <a:t>案件的处理中，对同一案件事实，也存在一个如何定义的问题</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说什么</a:t>
            </a:r>
            <a:r>
              <a:rPr lang="zh-CN" altLang="zh-CN" sz="2800" dirty="0">
                <a:latin typeface="宋体"/>
                <a:ea typeface="宋体"/>
                <a:cs typeface="宋体"/>
              </a:rPr>
              <a:t>，不说什么效果完全不同。 </a:t>
            </a:r>
            <a:endParaRPr lang="en-US" altLang="zh-CN" sz="2800" dirty="0" smtClean="0">
              <a:latin typeface="宋体"/>
              <a:ea typeface="宋体"/>
              <a:cs typeface="宋体"/>
            </a:endParaRPr>
          </a:p>
          <a:p>
            <a:r>
              <a:rPr lang="zh-CN" altLang="zh-CN" sz="2800" b="1" dirty="0">
                <a:latin typeface="楷体"/>
                <a:ea typeface="楷体"/>
                <a:cs typeface="楷体"/>
              </a:rPr>
              <a:t>日本电影导演黑泽明的作品《罗生门》讲述了一个有趣的故事。一天，武士牵着马，妻子端坐在马上。山间小路上，躺在树下的强盗被马上女人的美貌所吸引遂起歹念。他骗绑了武士，强暴了女子。而路过</a:t>
            </a:r>
            <a:r>
              <a:rPr lang="zh-CN" altLang="zh-CN" sz="2800" b="1" dirty="0" smtClean="0">
                <a:latin typeface="楷体"/>
                <a:ea typeface="楷体"/>
                <a:cs typeface="楷体"/>
              </a:rPr>
              <a:t>的</a:t>
            </a:r>
            <a:r>
              <a:rPr lang="zh-CN" altLang="en-US" sz="2800" b="1" dirty="0" smtClean="0">
                <a:latin typeface="楷体"/>
                <a:ea typeface="楷体"/>
                <a:cs typeface="楷体"/>
              </a:rPr>
              <a:t>砍柴人</a:t>
            </a:r>
            <a:r>
              <a:rPr lang="zh-CN" altLang="zh-CN" sz="2800" b="1" dirty="0" smtClean="0">
                <a:latin typeface="楷体"/>
                <a:ea typeface="楷体"/>
                <a:cs typeface="楷体"/>
              </a:rPr>
              <a:t>发现</a:t>
            </a:r>
            <a:r>
              <a:rPr lang="zh-CN" altLang="zh-CN" sz="2800" b="1" dirty="0">
                <a:latin typeface="楷体"/>
                <a:ea typeface="楷体"/>
                <a:cs typeface="楷体"/>
              </a:rPr>
              <a:t>武士的尸体后慌忙报官。 </a:t>
            </a:r>
            <a:endParaRPr lang="en-US" altLang="zh-CN" sz="2800" b="1" dirty="0" smtClean="0">
              <a:latin typeface="楷体"/>
              <a:ea typeface="楷体"/>
              <a:cs typeface="楷体"/>
            </a:endParaRPr>
          </a:p>
          <a:p>
            <a:endParaRPr kumimoji="1" lang="zh-CN" altLang="en-US" dirty="0"/>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38</a:t>
            </a:fld>
            <a:endParaRPr lang="zh-CN" altLang="en-US"/>
          </a:p>
        </p:txBody>
      </p:sp>
    </p:spTree>
    <p:extLst>
      <p:ext uri="{BB962C8B-B14F-4D97-AF65-F5344CB8AC3E}">
        <p14:creationId xmlns:p14="http://schemas.microsoft.com/office/powerpoint/2010/main" val="1413400437"/>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真相？</a:t>
            </a:r>
            <a:endParaRPr kumimoji="1" lang="zh-CN" altLang="en-US" sz="3200" dirty="0">
              <a:latin typeface="黑体"/>
              <a:ea typeface="黑体"/>
              <a:cs typeface="黑体"/>
            </a:endParaRPr>
          </a:p>
        </p:txBody>
      </p:sp>
      <p:sp>
        <p:nvSpPr>
          <p:cNvPr id="3" name="内容占位符 2"/>
          <p:cNvSpPr>
            <a:spLocks noGrp="1"/>
          </p:cNvSpPr>
          <p:nvPr>
            <p:ph idx="1"/>
          </p:nvPr>
        </p:nvSpPr>
        <p:spPr>
          <a:xfrm>
            <a:off x="467544" y="908720"/>
            <a:ext cx="8229600" cy="5472608"/>
          </a:xfrm>
        </p:spPr>
        <p:txBody>
          <a:bodyPr/>
          <a:lstStyle/>
          <a:p>
            <a:r>
              <a:rPr lang="zh-CN" altLang="zh-CN" sz="2800" b="1" dirty="0">
                <a:latin typeface="宋体"/>
                <a:ea typeface="宋体"/>
                <a:cs typeface="宋体"/>
              </a:rPr>
              <a:t>围绕强盗如何杀害武士这一事实，几个亲历者基于自己的利益和立场，从不同角度“修改”并“重塑”了案件事实：</a:t>
            </a:r>
          </a:p>
          <a:p>
            <a:pPr lvl="0"/>
            <a:r>
              <a:rPr lang="zh-CN" altLang="zh-CN" dirty="0">
                <a:latin typeface="楷体"/>
                <a:ea typeface="楷体"/>
                <a:cs typeface="楷体"/>
              </a:rPr>
              <a:t>强盗的版本中，自己是凭借实力赢得了女子的心，于是在后来的决斗中杀死了武士。</a:t>
            </a:r>
          </a:p>
          <a:p>
            <a:pPr lvl="0"/>
            <a:r>
              <a:rPr lang="zh-CN" altLang="zh-CN" dirty="0">
                <a:latin typeface="楷体"/>
                <a:ea typeface="楷体"/>
                <a:cs typeface="楷体"/>
              </a:rPr>
              <a:t>女子的版本中，强调了自己的忠贞、无助，而武士的死则是他自杀所致。</a:t>
            </a:r>
          </a:p>
          <a:p>
            <a:pPr lvl="0"/>
            <a:r>
              <a:rPr lang="zh-CN" altLang="zh-CN" dirty="0">
                <a:latin typeface="楷体"/>
                <a:ea typeface="楷体"/>
                <a:cs typeface="楷体"/>
              </a:rPr>
              <a:t>被害武士的版本中，难以容忍妻子的不忠而破腹自杀。</a:t>
            </a:r>
          </a:p>
          <a:p>
            <a:pPr lvl="0"/>
            <a:r>
              <a:rPr lang="zh-CN" altLang="zh-CN" dirty="0">
                <a:latin typeface="楷体"/>
                <a:ea typeface="楷体"/>
                <a:cs typeface="楷体"/>
              </a:rPr>
              <a:t>按照看到整个经过的樵夫版本，强盗在强暴了武士的妻子后，恳求女人做他的妻子，女人暗示二人应决斗，武士意外被害。</a:t>
            </a:r>
          </a:p>
          <a:p>
            <a:pPr lvl="0"/>
            <a:r>
              <a:rPr lang="zh-CN" altLang="zh-CN" dirty="0" smtClean="0">
                <a:latin typeface="楷体"/>
                <a:ea typeface="楷体"/>
                <a:cs typeface="楷体"/>
              </a:rPr>
              <a:t>而</a:t>
            </a:r>
            <a:r>
              <a:rPr lang="zh-CN" altLang="en-US" dirty="0" smtClean="0">
                <a:latin typeface="楷体"/>
                <a:ea typeface="楷体"/>
                <a:cs typeface="楷体"/>
              </a:rPr>
              <a:t>砍柴人</a:t>
            </a:r>
            <a:r>
              <a:rPr lang="zh-CN" altLang="zh-CN" dirty="0" smtClean="0">
                <a:latin typeface="楷体"/>
                <a:ea typeface="楷体"/>
                <a:cs typeface="楷体"/>
              </a:rPr>
              <a:t>的这个</a:t>
            </a:r>
            <a:r>
              <a:rPr lang="zh-CN" altLang="zh-CN" dirty="0">
                <a:latin typeface="楷体"/>
                <a:ea typeface="楷体"/>
                <a:cs typeface="楷体"/>
              </a:rPr>
              <a:t>版本也并不完全客观，是他偷走了价值不菲的短刀</a:t>
            </a:r>
            <a:r>
              <a:rPr lang="zh-CN" altLang="zh-CN" dirty="0" smtClean="0">
                <a:latin typeface="楷体"/>
                <a:ea typeface="楷体"/>
                <a:cs typeface="楷体"/>
              </a:rPr>
              <a:t>。</a:t>
            </a:r>
            <a:r>
              <a:rPr lang="en-US" altLang="zh-CN" dirty="0">
                <a:latin typeface="楷体"/>
                <a:ea typeface="楷体"/>
                <a:cs typeface="楷体"/>
              </a:rPr>
              <a:t> </a:t>
            </a:r>
            <a:endParaRPr lang="zh-CN" altLang="zh-CN" dirty="0">
              <a:latin typeface="楷体"/>
              <a:ea typeface="楷体"/>
              <a:cs typeface="楷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39</a:t>
            </a:fld>
            <a:endParaRPr lang="zh-CN" altLang="en-US"/>
          </a:p>
        </p:txBody>
      </p:sp>
    </p:spTree>
    <p:extLst>
      <p:ext uri="{BB962C8B-B14F-4D97-AF65-F5344CB8AC3E}">
        <p14:creationId xmlns:p14="http://schemas.microsoft.com/office/powerpoint/2010/main" val="2905920713"/>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r>
              <a:rPr lang="zh-CN" altLang="zh-CN" sz="2800" dirty="0">
                <a:latin typeface="宋体"/>
                <a:ea typeface="宋体"/>
                <a:cs typeface="宋体"/>
              </a:rPr>
              <a:t>这里我们看到，每个参与者都从对自己有利的角度给出说法，有意无意中流露出各自的私情，从而能动地塑造着案件事实</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于</a:t>
            </a:r>
            <a:r>
              <a:rPr lang="zh-CN" altLang="zh-CN" sz="2800" dirty="0">
                <a:latin typeface="宋体"/>
                <a:ea typeface="宋体"/>
                <a:cs typeface="宋体"/>
              </a:rPr>
              <a:t>是，各种主观性被植入或凝结到“案件事实”上。最终被认定的所谓犯罪，实际上是犯罪定义者自身的各种主体性与定义对象既有交集又有差异的复杂结果。 </a:t>
            </a:r>
            <a:endParaRPr kumimoji="1" lang="zh-CN" altLang="en-US" sz="2800" dirty="0">
              <a:latin typeface="宋体"/>
              <a:ea typeface="宋体"/>
              <a:cs typeface="宋体"/>
            </a:endParaRPr>
          </a:p>
          <a:p>
            <a:r>
              <a:rPr lang="zh-CN" altLang="zh-CN" sz="2800" dirty="0">
                <a:latin typeface="宋体"/>
                <a:ea typeface="宋体"/>
                <a:cs typeface="宋体"/>
              </a:rPr>
              <a:t>具体案件的定义过程，其复杂程度还不止于此。</a:t>
            </a:r>
            <a:r>
              <a:rPr lang="zh-CN" altLang="zh-CN" sz="2800" b="1" dirty="0">
                <a:latin typeface="宋体"/>
                <a:ea typeface="宋体"/>
                <a:cs typeface="宋体"/>
              </a:rPr>
              <a:t>不仅犯罪现场的亲历者各有所图，就连司法者也未必就是纯粹的中立第三方。 </a:t>
            </a:r>
            <a:endParaRPr kumimoji="1" lang="zh-CN" altLang="en-US" sz="2800" b="1"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40</a:t>
            </a:fld>
            <a:endParaRPr lang="zh-CN" altLang="en-US"/>
          </a:p>
        </p:txBody>
      </p:sp>
    </p:spTree>
    <p:extLst>
      <p:ext uri="{BB962C8B-B14F-4D97-AF65-F5344CB8AC3E}">
        <p14:creationId xmlns:p14="http://schemas.microsoft.com/office/powerpoint/2010/main" val="1362675715"/>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dirty="0">
                <a:latin typeface="黑体"/>
                <a:ea typeface="黑体"/>
                <a:cs typeface="黑体"/>
              </a:rPr>
              <a:t>正义女神忒弥斯</a:t>
            </a:r>
            <a:r>
              <a:rPr lang="zh-CN" altLang="zh-CN" dirty="0" smtClean="0">
                <a:latin typeface="黑体"/>
                <a:ea typeface="黑体"/>
                <a:cs typeface="黑体"/>
              </a:rPr>
              <a:t>真</a:t>
            </a:r>
            <a:r>
              <a:rPr lang="zh-CN" altLang="en-US" dirty="0" smtClean="0">
                <a:latin typeface="黑体"/>
                <a:ea typeface="黑体"/>
                <a:cs typeface="黑体"/>
              </a:rPr>
              <a:t>的</a:t>
            </a:r>
            <a:r>
              <a:rPr lang="zh-CN" altLang="zh-CN" dirty="0" smtClean="0">
                <a:latin typeface="黑体"/>
                <a:ea typeface="黑体"/>
                <a:cs typeface="黑体"/>
              </a:rPr>
              <a:t>蒙上双眼</a:t>
            </a:r>
            <a:r>
              <a:rPr lang="zh-CN" altLang="en-US" dirty="0" smtClean="0">
                <a:latin typeface="黑体"/>
                <a:ea typeface="黑体"/>
                <a:cs typeface="黑体"/>
              </a:rPr>
              <a:t>？</a:t>
            </a:r>
            <a:r>
              <a:rPr lang="zh-CN" altLang="zh-CN" dirty="0" smtClean="0">
                <a:latin typeface="黑体"/>
                <a:ea typeface="黑体"/>
                <a:cs typeface="黑体"/>
              </a:rPr>
              <a:t> </a:t>
            </a:r>
            <a:endParaRPr kumimoji="1" lang="zh-CN" altLang="en-US" dirty="0">
              <a:latin typeface="黑体"/>
              <a:ea typeface="黑体"/>
              <a:cs typeface="黑体"/>
            </a:endParaRPr>
          </a:p>
        </p:txBody>
      </p:sp>
      <p:sp>
        <p:nvSpPr>
          <p:cNvPr id="3" name="内容占位符 2"/>
          <p:cNvSpPr>
            <a:spLocks noGrp="1"/>
          </p:cNvSpPr>
          <p:nvPr>
            <p:ph idx="1"/>
          </p:nvPr>
        </p:nvSpPr>
        <p:spPr>
          <a:xfrm>
            <a:off x="539552" y="764704"/>
            <a:ext cx="8229600" cy="5760640"/>
          </a:xfrm>
        </p:spPr>
        <p:txBody>
          <a:bodyPr/>
          <a:lstStyle/>
          <a:p>
            <a:r>
              <a:rPr lang="zh-CN" altLang="zh-CN" dirty="0" smtClean="0">
                <a:latin typeface="宋体"/>
                <a:ea typeface="宋体"/>
                <a:cs typeface="宋体"/>
              </a:rPr>
              <a:t>《</a:t>
            </a:r>
            <a:r>
              <a:rPr lang="zh-CN" altLang="zh-CN" dirty="0">
                <a:latin typeface="宋体"/>
                <a:ea typeface="宋体"/>
                <a:cs typeface="宋体"/>
              </a:rPr>
              <a:t>十二怒汉</a:t>
            </a:r>
            <a:r>
              <a:rPr lang="zh-CN" altLang="zh-CN" dirty="0" smtClean="0">
                <a:latin typeface="宋体"/>
                <a:ea typeface="宋体"/>
                <a:cs typeface="宋体"/>
              </a:rPr>
              <a:t>》</a:t>
            </a:r>
            <a:r>
              <a:rPr lang="zh-CN" altLang="en-US" dirty="0" smtClean="0">
                <a:latin typeface="宋体"/>
                <a:ea typeface="宋体"/>
                <a:cs typeface="宋体"/>
              </a:rPr>
              <a:t>：</a:t>
            </a:r>
            <a:r>
              <a:rPr lang="zh-CN" altLang="zh-CN" dirty="0" smtClean="0">
                <a:latin typeface="宋体"/>
                <a:ea typeface="宋体"/>
                <a:cs typeface="宋体"/>
              </a:rPr>
              <a:t>被告人</a:t>
            </a:r>
            <a:r>
              <a:rPr lang="en-US" altLang="zh-CN" dirty="0">
                <a:latin typeface="宋体"/>
                <a:ea typeface="宋体"/>
                <a:cs typeface="宋体"/>
              </a:rPr>
              <a:t>18</a:t>
            </a:r>
            <a:r>
              <a:rPr lang="zh-CN" altLang="zh-CN" dirty="0">
                <a:latin typeface="宋体"/>
                <a:ea typeface="宋体"/>
                <a:cs typeface="宋体"/>
              </a:rPr>
              <a:t>岁，死者是其父亲。如果一致投票有罪，被告将被送上电椅执行死刑。而无罪的理由必须基于对整个审判的推理、问询、证据、证言或程序产生的“合理怀疑”。 </a:t>
            </a:r>
            <a:endParaRPr lang="en-US" altLang="zh-CN" dirty="0" smtClean="0">
              <a:latin typeface="宋体"/>
              <a:ea typeface="宋体"/>
              <a:cs typeface="宋体"/>
            </a:endParaRPr>
          </a:p>
          <a:p>
            <a:r>
              <a:rPr lang="en-US" altLang="zh-CN" dirty="0">
                <a:latin typeface="楷体"/>
                <a:ea typeface="楷体"/>
                <a:cs typeface="楷体"/>
              </a:rPr>
              <a:t>3</a:t>
            </a:r>
            <a:r>
              <a:rPr lang="zh-CN" altLang="zh-CN" dirty="0">
                <a:latin typeface="楷体"/>
                <a:ea typeface="楷体"/>
                <a:cs typeface="楷体"/>
              </a:rPr>
              <a:t>号陪审员出于对自己儿子的失望，很容易相信了被告人就是杀害了父亲的坏孩子</a:t>
            </a:r>
            <a:r>
              <a:rPr lang="zh-CN" altLang="zh-CN" dirty="0" smtClean="0">
                <a:latin typeface="楷体"/>
                <a:ea typeface="楷体"/>
                <a:cs typeface="楷体"/>
              </a:rPr>
              <a:t>。</a:t>
            </a:r>
            <a:endParaRPr lang="en-US" altLang="zh-CN" dirty="0" smtClean="0">
              <a:latin typeface="楷体"/>
              <a:ea typeface="楷体"/>
              <a:cs typeface="楷体"/>
            </a:endParaRPr>
          </a:p>
          <a:p>
            <a:r>
              <a:rPr lang="en-US" altLang="zh-CN" dirty="0" smtClean="0">
                <a:latin typeface="楷体"/>
                <a:ea typeface="楷体"/>
                <a:cs typeface="楷体"/>
              </a:rPr>
              <a:t>10</a:t>
            </a:r>
            <a:r>
              <a:rPr lang="zh-CN" altLang="zh-CN" dirty="0">
                <a:latin typeface="楷体"/>
                <a:ea typeface="楷体"/>
                <a:cs typeface="楷体"/>
              </a:rPr>
              <a:t>号陪审员则出于对贫民窟出身的主观厌恶而认为具有这种出身的人都是危险</a:t>
            </a:r>
            <a:r>
              <a:rPr lang="zh-CN" altLang="zh-CN" dirty="0" smtClean="0">
                <a:latin typeface="楷体"/>
                <a:ea typeface="楷体"/>
                <a:cs typeface="楷体"/>
              </a:rPr>
              <a:t>的</a:t>
            </a:r>
            <a:r>
              <a:rPr lang="zh-CN" altLang="en-US" dirty="0" smtClean="0">
                <a:latin typeface="楷体"/>
                <a:ea typeface="楷体"/>
                <a:cs typeface="楷体"/>
              </a:rPr>
              <a:t>，</a:t>
            </a:r>
            <a:r>
              <a:rPr lang="zh-CN" altLang="zh-CN" dirty="0" smtClean="0">
                <a:latin typeface="楷体"/>
                <a:ea typeface="楷体"/>
                <a:cs typeface="楷体"/>
              </a:rPr>
              <a:t>因而被告人</a:t>
            </a:r>
            <a:r>
              <a:rPr lang="zh-CN" altLang="zh-CN" dirty="0">
                <a:latin typeface="楷体"/>
                <a:ea typeface="楷体"/>
                <a:cs typeface="楷体"/>
              </a:rPr>
              <a:t>当然是</a:t>
            </a:r>
            <a:r>
              <a:rPr lang="zh-CN" altLang="zh-CN" dirty="0" smtClean="0">
                <a:latin typeface="楷体"/>
                <a:ea typeface="楷体"/>
                <a:cs typeface="楷体"/>
              </a:rPr>
              <a:t>有罪的</a:t>
            </a:r>
            <a:r>
              <a:rPr lang="zh-CN" altLang="en-US" dirty="0" smtClean="0">
                <a:latin typeface="楷体"/>
                <a:ea typeface="楷体"/>
                <a:cs typeface="楷体"/>
              </a:rPr>
              <a:t>。</a:t>
            </a:r>
            <a:endParaRPr lang="en-US" altLang="zh-CN" dirty="0" smtClean="0">
              <a:latin typeface="楷体"/>
              <a:ea typeface="楷体"/>
              <a:cs typeface="楷体"/>
            </a:endParaRPr>
          </a:p>
          <a:p>
            <a:r>
              <a:rPr lang="en-US" altLang="zh-CN" dirty="0" smtClean="0">
                <a:latin typeface="楷体"/>
                <a:ea typeface="楷体"/>
                <a:cs typeface="楷体"/>
              </a:rPr>
              <a:t>7</a:t>
            </a:r>
            <a:r>
              <a:rPr lang="zh-CN" altLang="zh-CN" dirty="0">
                <a:latin typeface="楷体"/>
                <a:ea typeface="楷体"/>
                <a:cs typeface="楷体"/>
              </a:rPr>
              <a:t>号</a:t>
            </a:r>
            <a:r>
              <a:rPr lang="zh-CN" altLang="zh-CN" dirty="0" smtClean="0">
                <a:latin typeface="楷体"/>
                <a:ea typeface="楷体"/>
                <a:cs typeface="楷体"/>
              </a:rPr>
              <a:t>陪审员出于被告人成长过</a:t>
            </a:r>
            <a:r>
              <a:rPr lang="zh-CN" altLang="zh-CN" dirty="0">
                <a:latin typeface="楷体"/>
                <a:ea typeface="楷体"/>
                <a:cs typeface="楷体"/>
              </a:rPr>
              <a:t>程中的劣迹斑斑的行为表现，认为其应当是有罪的，对于证据并未进行</a:t>
            </a:r>
            <a:r>
              <a:rPr lang="en-US" altLang="zh-CN" dirty="0">
                <a:latin typeface="楷体"/>
                <a:ea typeface="楷体"/>
                <a:cs typeface="楷体"/>
              </a:rPr>
              <a:t>“</a:t>
            </a:r>
            <a:r>
              <a:rPr lang="zh-CN" altLang="zh-CN" dirty="0">
                <a:latin typeface="楷体"/>
                <a:ea typeface="楷体"/>
                <a:cs typeface="楷体"/>
              </a:rPr>
              <a:t>合理怀疑</a:t>
            </a:r>
            <a:r>
              <a:rPr lang="en-US" altLang="zh-CN" dirty="0">
                <a:latin typeface="楷体"/>
                <a:ea typeface="楷体"/>
                <a:cs typeface="楷体"/>
              </a:rPr>
              <a:t>”</a:t>
            </a:r>
            <a:r>
              <a:rPr lang="zh-CN" altLang="zh-CN" dirty="0">
                <a:latin typeface="楷体"/>
                <a:ea typeface="楷体"/>
                <a:cs typeface="楷体"/>
              </a:rPr>
              <a:t>的思考</a:t>
            </a:r>
            <a:r>
              <a:rPr lang="zh-CN" altLang="zh-CN" dirty="0" smtClean="0">
                <a:latin typeface="楷体"/>
                <a:ea typeface="楷体"/>
                <a:cs typeface="楷体"/>
              </a:rPr>
              <a:t>。</a:t>
            </a:r>
            <a:endParaRPr lang="en-US" altLang="zh-CN" dirty="0" smtClean="0">
              <a:latin typeface="楷体"/>
              <a:ea typeface="楷体"/>
              <a:cs typeface="楷体"/>
            </a:endParaRPr>
          </a:p>
          <a:p>
            <a:r>
              <a:rPr lang="en-US" altLang="zh-CN" dirty="0" smtClean="0">
                <a:latin typeface="楷体"/>
                <a:ea typeface="楷体"/>
                <a:cs typeface="楷体"/>
              </a:rPr>
              <a:t>8</a:t>
            </a:r>
            <a:r>
              <a:rPr lang="zh-CN" altLang="zh-CN" dirty="0">
                <a:latin typeface="楷体"/>
                <a:ea typeface="楷体"/>
                <a:cs typeface="楷体"/>
              </a:rPr>
              <a:t>号陪审员注意到，检察官咄咄逼人，而辩护律师由于是指定的年轻律师，该案对他而言既无钱途、也无名望可得，因而没有尝试去做任何有效的辩护。 </a:t>
            </a:r>
            <a:endParaRPr kumimoji="1" lang="zh-CN" altLang="en-US" dirty="0">
              <a:latin typeface="楷体"/>
              <a:ea typeface="楷体"/>
              <a:cs typeface="楷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41</a:t>
            </a:fld>
            <a:endParaRPr lang="zh-CN" altLang="en-US"/>
          </a:p>
        </p:txBody>
      </p:sp>
    </p:spTree>
    <p:extLst>
      <p:ext uri="{BB962C8B-B14F-4D97-AF65-F5344CB8AC3E}">
        <p14:creationId xmlns:p14="http://schemas.microsoft.com/office/powerpoint/2010/main" val="1236767011"/>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332656"/>
            <a:ext cx="7170737" cy="492125"/>
          </a:xfrm>
        </p:spPr>
        <p:txBody>
          <a:bodyPr/>
          <a:lstStyle/>
          <a:p>
            <a:pPr algn="ctr"/>
            <a:r>
              <a:rPr kumimoji="1" lang="zh-CN" altLang="en-US" sz="4400" b="1" dirty="0" smtClean="0">
                <a:latin typeface="黑体"/>
                <a:ea typeface="黑体"/>
                <a:cs typeface="黑体"/>
              </a:rPr>
              <a:t>比较犯罪定义学</a:t>
            </a:r>
            <a:endParaRPr kumimoji="1" lang="zh-CN" altLang="en-US" sz="4400" b="1" dirty="0">
              <a:latin typeface="黑体"/>
              <a:ea typeface="黑体"/>
              <a:cs typeface="黑体"/>
            </a:endParaRPr>
          </a:p>
        </p:txBody>
      </p:sp>
      <p:sp>
        <p:nvSpPr>
          <p:cNvPr id="3" name="内容占位符 2"/>
          <p:cNvSpPr>
            <a:spLocks noGrp="1"/>
          </p:cNvSpPr>
          <p:nvPr>
            <p:ph idx="1"/>
          </p:nvPr>
        </p:nvSpPr>
        <p:spPr/>
        <p:txBody>
          <a:bodyPr/>
          <a:lstStyle/>
          <a:p>
            <a:r>
              <a:rPr lang="zh-CN" altLang="en-US" sz="2800" dirty="0" smtClean="0">
                <a:latin typeface="宋体"/>
                <a:ea typeface="宋体"/>
                <a:cs typeface="宋体"/>
              </a:rPr>
              <a:t>应然假设：</a:t>
            </a:r>
            <a:r>
              <a:rPr lang="zh-CN" altLang="en-US" sz="2800" dirty="0">
                <a:latin typeface="宋体"/>
                <a:ea typeface="宋体"/>
                <a:cs typeface="宋体"/>
              </a:rPr>
              <a:t>刑归因于</a:t>
            </a:r>
            <a:r>
              <a:rPr lang="zh-CN" altLang="en-US" sz="2800" dirty="0" smtClean="0">
                <a:latin typeface="宋体"/>
                <a:ea typeface="宋体"/>
                <a:cs typeface="宋体"/>
              </a:rPr>
              <a:t>罪</a:t>
            </a:r>
            <a:r>
              <a:rPr lang="en-US" altLang="zh-CN" sz="2800" dirty="0" smtClean="0">
                <a:latin typeface="宋体"/>
                <a:ea typeface="宋体"/>
                <a:cs typeface="宋体"/>
              </a:rPr>
              <a:t>——</a:t>
            </a:r>
            <a:r>
              <a:rPr lang="zh-CN" altLang="en-US" sz="2800" dirty="0" smtClean="0">
                <a:latin typeface="宋体"/>
                <a:ea typeface="宋体"/>
                <a:cs typeface="宋体"/>
              </a:rPr>
              <a:t>客体本位</a:t>
            </a:r>
            <a:endParaRPr lang="en-US" altLang="zh-CN" sz="2800" dirty="0">
              <a:latin typeface="宋体"/>
              <a:ea typeface="宋体"/>
              <a:cs typeface="宋体"/>
            </a:endParaRPr>
          </a:p>
          <a:p>
            <a:r>
              <a:rPr lang="zh-CN" altLang="en-US" sz="2800" dirty="0">
                <a:latin typeface="宋体"/>
                <a:ea typeface="宋体"/>
                <a:cs typeface="宋体"/>
              </a:rPr>
              <a:t>何以见得，</a:t>
            </a:r>
            <a:r>
              <a:rPr lang="zh-CN" altLang="zh-CN" sz="2800" dirty="0">
                <a:latin typeface="宋体"/>
                <a:ea typeface="宋体"/>
                <a:cs typeface="宋体"/>
              </a:rPr>
              <a:t>不是因为重刑所以</a:t>
            </a:r>
            <a:r>
              <a:rPr lang="zh-CN" altLang="zh-CN" sz="2800" dirty="0" smtClean="0">
                <a:latin typeface="宋体"/>
                <a:ea typeface="宋体"/>
                <a:cs typeface="宋体"/>
              </a:rPr>
              <a:t>才重罪呢</a:t>
            </a:r>
            <a:r>
              <a:rPr lang="zh-CN" altLang="en-US" sz="2800" dirty="0">
                <a:latin typeface="宋体"/>
                <a:ea typeface="宋体"/>
                <a:cs typeface="宋体"/>
              </a:rPr>
              <a:t>—</a:t>
            </a:r>
            <a:r>
              <a:rPr lang="zh-CN" altLang="en-US" sz="2800" dirty="0" smtClean="0">
                <a:latin typeface="宋体"/>
                <a:ea typeface="宋体"/>
                <a:cs typeface="宋体"/>
              </a:rPr>
              <a:t>—主体本位</a:t>
            </a:r>
            <a:endParaRPr lang="en-US" altLang="zh-CN" sz="2800" dirty="0">
              <a:latin typeface="宋体"/>
              <a:ea typeface="宋体"/>
              <a:cs typeface="宋体"/>
            </a:endParaRPr>
          </a:p>
          <a:p>
            <a:r>
              <a:rPr lang="zh-CN" altLang="zh-CN" sz="2800" dirty="0">
                <a:latin typeface="宋体"/>
                <a:ea typeface="宋体"/>
                <a:cs typeface="宋体"/>
              </a:rPr>
              <a:t>鲁迅：“我先前总以为人是有罪，所以枪毙或坐监的。现在才知道，其中的许多，是先因为被人认为‘可恶’，这才终于犯了罪”。</a:t>
            </a:r>
            <a:endParaRPr lang="zh-CN" altLang="en-US" sz="2800" dirty="0">
              <a:latin typeface="宋体"/>
              <a:ea typeface="宋体"/>
              <a:cs typeface="宋体"/>
            </a:endParaRPr>
          </a:p>
          <a:p>
            <a:r>
              <a:rPr kumimoji="1" lang="zh-CN" altLang="en-US" sz="2800" dirty="0" smtClean="0">
                <a:latin typeface="宋体"/>
                <a:ea typeface="宋体"/>
                <a:cs typeface="宋体"/>
              </a:rPr>
              <a:t>实证检验：</a:t>
            </a:r>
            <a:endParaRPr kumimoji="1" lang="en-US" altLang="zh-CN" sz="2800" dirty="0" smtClean="0">
              <a:latin typeface="宋体"/>
              <a:ea typeface="宋体"/>
              <a:cs typeface="宋体"/>
            </a:endParaRPr>
          </a:p>
          <a:p>
            <a:r>
              <a:rPr kumimoji="1" lang="zh-CN" altLang="en-US" sz="2800" dirty="0" smtClean="0">
                <a:latin typeface="宋体"/>
                <a:ea typeface="宋体"/>
                <a:cs typeface="宋体"/>
              </a:rPr>
              <a:t>样本为</a:t>
            </a:r>
            <a:r>
              <a:rPr lang="en-US" altLang="zh-CN" sz="2800" dirty="0" smtClean="0">
                <a:latin typeface="宋体"/>
                <a:ea typeface="宋体"/>
                <a:cs typeface="宋体"/>
              </a:rPr>
              <a:t>50</a:t>
            </a:r>
            <a:r>
              <a:rPr lang="zh-CN" altLang="zh-CN" sz="2800" dirty="0">
                <a:latin typeface="宋体"/>
                <a:ea typeface="宋体"/>
                <a:cs typeface="宋体"/>
              </a:rPr>
              <a:t>部刑法</a:t>
            </a:r>
            <a:endParaRPr lang="en-US" altLang="zh-CN" sz="2800" dirty="0">
              <a:latin typeface="宋体"/>
              <a:ea typeface="宋体"/>
              <a:cs typeface="宋体"/>
            </a:endParaRPr>
          </a:p>
          <a:p>
            <a:r>
              <a:rPr lang="zh-CN" altLang="zh-CN" sz="2800" dirty="0">
                <a:latin typeface="宋体"/>
                <a:ea typeface="宋体"/>
                <a:cs typeface="宋体"/>
              </a:rPr>
              <a:t>提取出</a:t>
            </a:r>
            <a:r>
              <a:rPr lang="en-US" altLang="zh-CN" sz="2800" dirty="0">
                <a:latin typeface="宋体"/>
                <a:ea typeface="宋体"/>
                <a:cs typeface="宋体"/>
              </a:rPr>
              <a:t>13121</a:t>
            </a:r>
            <a:r>
              <a:rPr lang="zh-CN" altLang="zh-CN" sz="2800" dirty="0">
                <a:latin typeface="宋体"/>
                <a:ea typeface="宋体"/>
                <a:cs typeface="宋体"/>
              </a:rPr>
              <a:t>个罪刑关系</a:t>
            </a:r>
            <a:endParaRPr lang="en-US" altLang="zh-CN" sz="2800" dirty="0">
              <a:latin typeface="宋体"/>
              <a:ea typeface="宋体"/>
              <a:cs typeface="宋体"/>
            </a:endParaRPr>
          </a:p>
          <a:p>
            <a:r>
              <a:rPr lang="zh-CN" altLang="zh-CN" sz="2800" dirty="0">
                <a:latin typeface="宋体"/>
                <a:ea typeface="宋体"/>
                <a:cs typeface="宋体"/>
              </a:rPr>
              <a:t>归纳为</a:t>
            </a:r>
            <a:r>
              <a:rPr lang="en-US" altLang="zh-CN" sz="2800" dirty="0">
                <a:latin typeface="宋体"/>
                <a:ea typeface="宋体"/>
                <a:cs typeface="宋体"/>
              </a:rPr>
              <a:t>134</a:t>
            </a:r>
            <a:r>
              <a:rPr lang="zh-CN" altLang="zh-CN" sz="2800" dirty="0" smtClean="0">
                <a:latin typeface="宋体"/>
                <a:ea typeface="宋体"/>
                <a:cs typeface="宋体"/>
              </a:rPr>
              <a:t>个小类</a:t>
            </a:r>
            <a:endParaRPr kumimoji="1" lang="zh-CN" altLang="en-US" sz="2800" dirty="0">
              <a:latin typeface="宋体"/>
              <a:ea typeface="宋体"/>
              <a:cs typeface="宋体"/>
            </a:endParaRPr>
          </a:p>
        </p:txBody>
      </p:sp>
    </p:spTree>
    <p:extLst>
      <p:ext uri="{BB962C8B-B14F-4D97-AF65-F5344CB8AC3E}">
        <p14:creationId xmlns:p14="http://schemas.microsoft.com/office/powerpoint/2010/main" val="1677899130"/>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71438" y="211138"/>
            <a:ext cx="8821042" cy="1273646"/>
          </a:xfrm>
        </p:spPr>
        <p:txBody>
          <a:bodyPr/>
          <a:lstStyle/>
          <a:p>
            <a:r>
              <a:rPr lang="en-US" altLang="zh-CN" sz="3200" b="1" dirty="0" smtClean="0">
                <a:latin typeface="黑体"/>
                <a:ea typeface="黑体"/>
                <a:cs typeface="黑体"/>
              </a:rPr>
              <a:t>    </a:t>
            </a:r>
            <a:r>
              <a:rPr lang="zh-CN" altLang="en-US" sz="4800" b="1" dirty="0" smtClean="0">
                <a:latin typeface="黑体"/>
                <a:ea typeface="黑体"/>
                <a:cs typeface="黑体"/>
              </a:rPr>
              <a:t>问题：</a:t>
            </a:r>
            <a:endParaRPr lang="en-US" altLang="zh-CN" sz="4800" b="0" i="0" dirty="0">
              <a:latin typeface="黑体"/>
              <a:ea typeface="黑体"/>
              <a:cs typeface="黑体"/>
            </a:endParaRPr>
          </a:p>
        </p:txBody>
      </p:sp>
      <p:grpSp>
        <p:nvGrpSpPr>
          <p:cNvPr id="21507" name="Group 3"/>
          <p:cNvGrpSpPr>
            <a:grpSpLocks/>
          </p:cNvGrpSpPr>
          <p:nvPr/>
        </p:nvGrpSpPr>
        <p:grpSpPr bwMode="auto">
          <a:xfrm>
            <a:off x="609600" y="4724400"/>
            <a:ext cx="2295525" cy="1365250"/>
            <a:chOff x="471" y="272"/>
            <a:chExt cx="1161" cy="1539"/>
          </a:xfrm>
        </p:grpSpPr>
        <p:sp>
          <p:nvSpPr>
            <p:cNvPr id="21527" name="Oval 4"/>
            <p:cNvSpPr>
              <a:spLocks noChangeArrowheads="1"/>
            </p:cNvSpPr>
            <p:nvPr/>
          </p:nvSpPr>
          <p:spPr bwMode="gray">
            <a:xfrm>
              <a:off x="471" y="1438"/>
              <a:ext cx="1159" cy="362"/>
            </a:xfrm>
            <a:prstGeom prst="ellipse">
              <a:avLst/>
            </a:prstGeom>
            <a:gradFill rotWithShape="1">
              <a:gsLst>
                <a:gs pos="0">
                  <a:srgbClr val="C1CF9D"/>
                </a:gs>
                <a:gs pos="50000">
                  <a:srgbClr val="E5EBD5"/>
                </a:gs>
                <a:gs pos="100000">
                  <a:srgbClr val="C1CF9D"/>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zh-CN" altLang="en-US">
                <a:cs typeface="宋体" charset="0"/>
              </a:endParaRPr>
            </a:p>
          </p:txBody>
        </p:sp>
        <p:sp>
          <p:nvSpPr>
            <p:cNvPr id="2" name="AutoShape 5"/>
            <p:cNvSpPr>
              <a:spLocks noChangeArrowheads="1"/>
            </p:cNvSpPr>
            <p:nvPr/>
          </p:nvSpPr>
          <p:spPr bwMode="gray">
            <a:xfrm>
              <a:off x="473" y="272"/>
              <a:ext cx="1159" cy="1539"/>
            </a:xfrm>
            <a:prstGeom prst="can">
              <a:avLst>
                <a:gd name="adj" fmla="val 33197"/>
              </a:avLst>
            </a:prstGeom>
            <a:gradFill rotWithShape="1">
              <a:gsLst>
                <a:gs pos="0">
                  <a:schemeClr val="accent1">
                    <a:gamma/>
                    <a:shade val="46275"/>
                    <a:invGamma/>
                  </a:schemeClr>
                </a:gs>
                <a:gs pos="50000">
                  <a:schemeClr val="accent1">
                    <a:alpha val="50000"/>
                  </a:schemeClr>
                </a:gs>
                <a:gs pos="100000">
                  <a:schemeClr val="accent1">
                    <a:gamma/>
                    <a:shade val="46275"/>
                    <a:invGamma/>
                  </a:schemeClr>
                </a:gs>
              </a:gsLst>
              <a:lin ang="0" scaled="1"/>
            </a:gradFill>
            <a:ln w="9525">
              <a:noFill/>
              <a:round/>
              <a:headEnd/>
              <a:tailEnd/>
            </a:ln>
            <a:effectLst/>
          </p:spPr>
          <p:txBody>
            <a:bodyPr wrap="none" anchor="ctr"/>
            <a:lstStyle/>
            <a:p>
              <a:pPr>
                <a:defRPr/>
              </a:pPr>
              <a:endParaRPr lang="zh-CN" altLang="en-US">
                <a:ea typeface="宋体" charset="-122"/>
              </a:endParaRPr>
            </a:p>
          </p:txBody>
        </p:sp>
      </p:grpSp>
      <p:grpSp>
        <p:nvGrpSpPr>
          <p:cNvPr id="21508" name="Group 6"/>
          <p:cNvGrpSpPr>
            <a:grpSpLocks/>
          </p:cNvGrpSpPr>
          <p:nvPr/>
        </p:nvGrpSpPr>
        <p:grpSpPr bwMode="auto">
          <a:xfrm>
            <a:off x="609600" y="3429000"/>
            <a:ext cx="2295525" cy="1365250"/>
            <a:chOff x="471" y="272"/>
            <a:chExt cx="1161" cy="1539"/>
          </a:xfrm>
        </p:grpSpPr>
        <p:sp>
          <p:nvSpPr>
            <p:cNvPr id="21525" name="Oval 7"/>
            <p:cNvSpPr>
              <a:spLocks noChangeArrowheads="1"/>
            </p:cNvSpPr>
            <p:nvPr/>
          </p:nvSpPr>
          <p:spPr bwMode="gray">
            <a:xfrm>
              <a:off x="471" y="1438"/>
              <a:ext cx="1159" cy="362"/>
            </a:xfrm>
            <a:prstGeom prst="ellipse">
              <a:avLst/>
            </a:prstGeom>
            <a:gradFill rotWithShape="1">
              <a:gsLst>
                <a:gs pos="0">
                  <a:srgbClr val="C1CF9D"/>
                </a:gs>
                <a:gs pos="50000">
                  <a:srgbClr val="E5EBD5"/>
                </a:gs>
                <a:gs pos="100000">
                  <a:srgbClr val="C1CF9D"/>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zh-CN" altLang="en-US">
                <a:cs typeface="宋体" charset="0"/>
              </a:endParaRPr>
            </a:p>
          </p:txBody>
        </p:sp>
        <p:sp>
          <p:nvSpPr>
            <p:cNvPr id="21512" name="AutoShape 8"/>
            <p:cNvSpPr>
              <a:spLocks noChangeArrowheads="1"/>
            </p:cNvSpPr>
            <p:nvPr/>
          </p:nvSpPr>
          <p:spPr bwMode="gray">
            <a:xfrm>
              <a:off x="473" y="272"/>
              <a:ext cx="1159" cy="1539"/>
            </a:xfrm>
            <a:prstGeom prst="can">
              <a:avLst>
                <a:gd name="adj" fmla="val 33197"/>
              </a:avLst>
            </a:prstGeom>
            <a:gradFill rotWithShape="1">
              <a:gsLst>
                <a:gs pos="0">
                  <a:schemeClr val="folHlink">
                    <a:gamma/>
                    <a:shade val="46275"/>
                    <a:invGamma/>
                  </a:schemeClr>
                </a:gs>
                <a:gs pos="50000">
                  <a:schemeClr val="folHlink">
                    <a:alpha val="50000"/>
                  </a:schemeClr>
                </a:gs>
                <a:gs pos="100000">
                  <a:schemeClr val="folHlink">
                    <a:gamma/>
                    <a:shade val="46275"/>
                    <a:invGamma/>
                  </a:schemeClr>
                </a:gs>
              </a:gsLst>
              <a:lin ang="0" scaled="1"/>
            </a:gradFill>
            <a:ln w="9525">
              <a:noFill/>
              <a:round/>
              <a:headEnd/>
              <a:tailEnd/>
            </a:ln>
            <a:effectLst/>
          </p:spPr>
          <p:txBody>
            <a:bodyPr wrap="none" anchor="ctr"/>
            <a:lstStyle/>
            <a:p>
              <a:pPr>
                <a:defRPr/>
              </a:pPr>
              <a:endParaRPr lang="zh-CN" altLang="en-US">
                <a:ea typeface="宋体" charset="-122"/>
              </a:endParaRPr>
            </a:p>
          </p:txBody>
        </p:sp>
      </p:grpSp>
      <p:grpSp>
        <p:nvGrpSpPr>
          <p:cNvPr id="21509" name="Group 9"/>
          <p:cNvGrpSpPr>
            <a:grpSpLocks/>
          </p:cNvGrpSpPr>
          <p:nvPr/>
        </p:nvGrpSpPr>
        <p:grpSpPr bwMode="auto">
          <a:xfrm>
            <a:off x="685800" y="2133600"/>
            <a:ext cx="2295525" cy="1365250"/>
            <a:chOff x="471" y="272"/>
            <a:chExt cx="1161" cy="1539"/>
          </a:xfrm>
        </p:grpSpPr>
        <p:sp>
          <p:nvSpPr>
            <p:cNvPr id="21523" name="Oval 10"/>
            <p:cNvSpPr>
              <a:spLocks noChangeArrowheads="1"/>
            </p:cNvSpPr>
            <p:nvPr/>
          </p:nvSpPr>
          <p:spPr bwMode="ltGray">
            <a:xfrm>
              <a:off x="471" y="1438"/>
              <a:ext cx="1159" cy="362"/>
            </a:xfrm>
            <a:prstGeom prst="ellipse">
              <a:avLst/>
            </a:prstGeom>
            <a:gradFill rotWithShape="1">
              <a:gsLst>
                <a:gs pos="0">
                  <a:srgbClr val="C1CF9D"/>
                </a:gs>
                <a:gs pos="50000">
                  <a:srgbClr val="E5EBD5"/>
                </a:gs>
                <a:gs pos="100000">
                  <a:srgbClr val="C1CF9D"/>
                </a:gs>
              </a:gsLst>
              <a:lin ang="0" scaled="1"/>
            </a:gradFill>
            <a:ln>
              <a:noFill/>
            </a:ln>
            <a:extLst>
              <a:ext uri="{91240B29-F687-4f45-9708-019B960494DF}">
                <a14:hiddenLine xmlns:a14="http://schemas.microsoft.com/office/drawing/2010/main" xmlns="" w="9525">
                  <a:solidFill>
                    <a:srgbClr val="000000"/>
                  </a:solidFill>
                  <a:round/>
                  <a:headEnd/>
                  <a:tailEnd/>
                </a14:hiddenLine>
              </a:ext>
            </a:extLst>
          </p:spPr>
          <p:txBody>
            <a:bodyPr wrap="none" anchor="ctr"/>
            <a:lstStyle/>
            <a:p>
              <a:endParaRPr lang="zh-CN" altLang="en-US">
                <a:cs typeface="宋体" charset="0"/>
              </a:endParaRPr>
            </a:p>
          </p:txBody>
        </p:sp>
        <p:sp>
          <p:nvSpPr>
            <p:cNvPr id="3" name="AutoShape 11"/>
            <p:cNvSpPr>
              <a:spLocks noChangeArrowheads="1"/>
            </p:cNvSpPr>
            <p:nvPr/>
          </p:nvSpPr>
          <p:spPr bwMode="ltGray">
            <a:xfrm>
              <a:off x="473" y="272"/>
              <a:ext cx="1159" cy="1539"/>
            </a:xfrm>
            <a:prstGeom prst="can">
              <a:avLst>
                <a:gd name="adj" fmla="val 33197"/>
              </a:avLst>
            </a:prstGeom>
            <a:gradFill rotWithShape="1">
              <a:gsLst>
                <a:gs pos="0">
                  <a:schemeClr val="accent2">
                    <a:gamma/>
                    <a:shade val="46275"/>
                    <a:invGamma/>
                  </a:schemeClr>
                </a:gs>
                <a:gs pos="50000">
                  <a:schemeClr val="accent2">
                    <a:alpha val="50000"/>
                  </a:schemeClr>
                </a:gs>
                <a:gs pos="100000">
                  <a:schemeClr val="accent2">
                    <a:gamma/>
                    <a:shade val="46275"/>
                    <a:invGamma/>
                  </a:schemeClr>
                </a:gs>
              </a:gsLst>
              <a:lin ang="0" scaled="1"/>
            </a:gradFill>
            <a:ln w="9525">
              <a:noFill/>
              <a:round/>
              <a:headEnd/>
              <a:tailEnd/>
            </a:ln>
            <a:effectLst/>
          </p:spPr>
          <p:txBody>
            <a:bodyPr wrap="none" anchor="ctr"/>
            <a:lstStyle/>
            <a:p>
              <a:pPr>
                <a:defRPr/>
              </a:pPr>
              <a:endParaRPr lang="zh-CN" altLang="en-US">
                <a:ea typeface="宋体" charset="-122"/>
              </a:endParaRPr>
            </a:p>
          </p:txBody>
        </p:sp>
      </p:grpSp>
      <p:sp>
        <p:nvSpPr>
          <p:cNvPr id="21510" name="AutoShape 12"/>
          <p:cNvSpPr>
            <a:spLocks noChangeArrowheads="1"/>
          </p:cNvSpPr>
          <p:nvPr/>
        </p:nvSpPr>
        <p:spPr bwMode="ltGray">
          <a:xfrm>
            <a:off x="2971800" y="2362200"/>
            <a:ext cx="4722813" cy="911225"/>
          </a:xfrm>
          <a:prstGeom prst="roundRect">
            <a:avLst>
              <a:gd name="adj" fmla="val 11505"/>
            </a:avLst>
          </a:prstGeom>
          <a:gradFill rotWithShape="1">
            <a:gsLst>
              <a:gs pos="0">
                <a:schemeClr val="accent2"/>
              </a:gs>
              <a:gs pos="100000">
                <a:schemeClr val="bg1"/>
              </a:gs>
            </a:gsLst>
            <a:lin ang="0" scaled="1"/>
          </a:gradFill>
          <a:ln>
            <a:noFill/>
          </a:ln>
          <a:extLst>
            <a:ext uri="{91240B29-F687-4f45-9708-019B960494DF}">
              <a14:hiddenLine xmlns:a14="http://schemas.microsoft.com/office/drawing/2010/main" xmlns="" w="6350">
                <a:solidFill>
                  <a:srgbClr val="000000"/>
                </a:solidFill>
                <a:prstDash val="sysDot"/>
                <a:round/>
                <a:headEnd/>
                <a:tailEnd/>
              </a14:hiddenLine>
            </a:ext>
          </a:extLst>
        </p:spPr>
        <p:txBody>
          <a:bodyPr wrap="none" anchor="ctr"/>
          <a:lstStyle/>
          <a:p>
            <a:endParaRPr lang="zh-CN" altLang="en-US">
              <a:cs typeface="宋体" charset="0"/>
            </a:endParaRPr>
          </a:p>
        </p:txBody>
      </p:sp>
      <p:sp>
        <p:nvSpPr>
          <p:cNvPr id="18439" name="Text Box 13"/>
          <p:cNvSpPr txBox="1">
            <a:spLocks noChangeArrowheads="1"/>
          </p:cNvSpPr>
          <p:nvPr/>
        </p:nvSpPr>
        <p:spPr bwMode="white">
          <a:xfrm>
            <a:off x="914400" y="2743200"/>
            <a:ext cx="2128838"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spcBef>
                <a:spcPct val="50000"/>
              </a:spcBef>
            </a:pPr>
            <a:r>
              <a:rPr lang="zh-CN" altLang="en-US" sz="2800" b="1" dirty="0">
                <a:latin typeface="黑体" charset="0"/>
                <a:ea typeface="黑体" charset="0"/>
                <a:cs typeface="黑体" charset="0"/>
              </a:rPr>
              <a:t>什么因素</a:t>
            </a:r>
            <a:endParaRPr lang="en-US" altLang="zh-CN" sz="2800" b="1" dirty="0">
              <a:latin typeface="黑体" charset="0"/>
              <a:ea typeface="黑体" charset="0"/>
              <a:cs typeface="黑体" charset="0"/>
            </a:endParaRPr>
          </a:p>
        </p:txBody>
      </p:sp>
      <p:sp>
        <p:nvSpPr>
          <p:cNvPr id="18440" name="Text Box 14"/>
          <p:cNvSpPr txBox="1">
            <a:spLocks noChangeArrowheads="1"/>
          </p:cNvSpPr>
          <p:nvPr/>
        </p:nvSpPr>
        <p:spPr bwMode="gray">
          <a:xfrm>
            <a:off x="3657600" y="2590800"/>
            <a:ext cx="3857625"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spcBef>
                <a:spcPct val="50000"/>
              </a:spcBef>
              <a:buFontTx/>
              <a:buChar char="•"/>
            </a:pPr>
            <a:r>
              <a:rPr lang="zh-CN" altLang="en-US" sz="2400" b="1">
                <a:latin typeface="黑体" charset="0"/>
                <a:ea typeface="黑体" charset="0"/>
                <a:cs typeface="黑体" charset="0"/>
              </a:rPr>
              <a:t>决定了严厉性程度的不同</a:t>
            </a:r>
            <a:r>
              <a:rPr lang="zh-CN" altLang="en-US" sz="2400" b="1">
                <a:solidFill>
                  <a:srgbClr val="FFFFFF"/>
                </a:solidFill>
                <a:latin typeface="黑体" charset="0"/>
                <a:ea typeface="黑体" charset="0"/>
                <a:cs typeface="黑体" charset="0"/>
              </a:rPr>
              <a:t>？</a:t>
            </a:r>
            <a:endParaRPr lang="en-US" altLang="zh-CN" sz="2400" b="1">
              <a:solidFill>
                <a:srgbClr val="FFFFFF"/>
              </a:solidFill>
              <a:latin typeface="黑体" charset="0"/>
              <a:ea typeface="黑体" charset="0"/>
              <a:cs typeface="黑体" charset="0"/>
            </a:endParaRPr>
          </a:p>
        </p:txBody>
      </p:sp>
      <p:sp>
        <p:nvSpPr>
          <p:cNvPr id="18441" name="Text Box 15"/>
          <p:cNvSpPr txBox="1">
            <a:spLocks noChangeArrowheads="1"/>
          </p:cNvSpPr>
          <p:nvPr/>
        </p:nvSpPr>
        <p:spPr bwMode="white">
          <a:xfrm>
            <a:off x="685800" y="4038600"/>
            <a:ext cx="2128838"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spcBef>
                <a:spcPct val="50000"/>
              </a:spcBef>
            </a:pPr>
            <a:r>
              <a:rPr lang="en-US" altLang="zh-CN" sz="2000" b="1" dirty="0">
                <a:solidFill>
                  <a:srgbClr val="FFFFFF"/>
                </a:solidFill>
                <a:cs typeface="宋体" charset="0"/>
              </a:rPr>
              <a:t>  </a:t>
            </a:r>
            <a:r>
              <a:rPr lang="zh-CN" altLang="en-US" sz="2800" b="1" dirty="0">
                <a:solidFill>
                  <a:srgbClr val="000000"/>
                </a:solidFill>
                <a:latin typeface="黑体" charset="0"/>
                <a:ea typeface="黑体" charset="0"/>
                <a:cs typeface="黑体" charset="0"/>
              </a:rPr>
              <a:t>为什么</a:t>
            </a:r>
            <a:endParaRPr lang="en-US" altLang="zh-CN" sz="2800" b="1" dirty="0">
              <a:solidFill>
                <a:srgbClr val="000000"/>
              </a:solidFill>
              <a:latin typeface="黑体" charset="0"/>
              <a:ea typeface="黑体" charset="0"/>
              <a:cs typeface="黑体" charset="0"/>
            </a:endParaRPr>
          </a:p>
        </p:txBody>
      </p:sp>
      <p:sp>
        <p:nvSpPr>
          <p:cNvPr id="18442" name="Text Box 16"/>
          <p:cNvSpPr txBox="1">
            <a:spLocks noChangeArrowheads="1"/>
          </p:cNvSpPr>
          <p:nvPr/>
        </p:nvSpPr>
        <p:spPr bwMode="white">
          <a:xfrm>
            <a:off x="838200" y="5334000"/>
            <a:ext cx="2128838"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algn="ctr" eaLnBrk="1" hangingPunct="1">
              <a:spcBef>
                <a:spcPct val="50000"/>
              </a:spcBef>
            </a:pPr>
            <a:r>
              <a:rPr lang="en-US" altLang="zh-CN" sz="2800" b="1" dirty="0">
                <a:solidFill>
                  <a:srgbClr val="FFFFFF"/>
                </a:solidFill>
                <a:latin typeface="黑体" charset="0"/>
                <a:ea typeface="黑体" charset="0"/>
                <a:cs typeface="黑体" charset="0"/>
              </a:rPr>
              <a:t>  </a:t>
            </a:r>
            <a:r>
              <a:rPr lang="zh-CN" altLang="en-US" sz="2800" b="1" dirty="0">
                <a:solidFill>
                  <a:srgbClr val="000000"/>
                </a:solidFill>
                <a:latin typeface="黑体" charset="0"/>
                <a:ea typeface="黑体" charset="0"/>
                <a:cs typeface="黑体" charset="0"/>
              </a:rPr>
              <a:t>为什么</a:t>
            </a:r>
            <a:endParaRPr lang="en-US" altLang="zh-CN" sz="2800" b="1" dirty="0">
              <a:solidFill>
                <a:srgbClr val="000000"/>
              </a:solidFill>
              <a:latin typeface="黑体" charset="0"/>
              <a:ea typeface="黑体" charset="0"/>
              <a:cs typeface="黑体" charset="0"/>
            </a:endParaRPr>
          </a:p>
        </p:txBody>
      </p:sp>
      <p:sp>
        <p:nvSpPr>
          <p:cNvPr id="21515" name="AutoShape 17"/>
          <p:cNvSpPr>
            <a:spLocks noChangeArrowheads="1"/>
          </p:cNvSpPr>
          <p:nvPr/>
        </p:nvSpPr>
        <p:spPr bwMode="gray">
          <a:xfrm>
            <a:off x="2895600" y="3657600"/>
            <a:ext cx="4649788" cy="911225"/>
          </a:xfrm>
          <a:prstGeom prst="roundRect">
            <a:avLst>
              <a:gd name="adj" fmla="val 11505"/>
            </a:avLst>
          </a:prstGeom>
          <a:gradFill rotWithShape="1">
            <a:gsLst>
              <a:gs pos="0">
                <a:schemeClr val="folHlink"/>
              </a:gs>
              <a:gs pos="100000">
                <a:schemeClr val="bg1"/>
              </a:gs>
            </a:gsLst>
            <a:lin ang="0" scaled="1"/>
          </a:gradFill>
          <a:ln>
            <a:noFill/>
          </a:ln>
          <a:extLst>
            <a:ext uri="{91240B29-F687-4f45-9708-019B960494DF}">
              <a14:hiddenLine xmlns:a14="http://schemas.microsoft.com/office/drawing/2010/main" xmlns="" w="6350">
                <a:solidFill>
                  <a:srgbClr val="000000"/>
                </a:solidFill>
                <a:prstDash val="sysDot"/>
                <a:round/>
                <a:headEnd/>
                <a:tailEnd/>
              </a14:hiddenLine>
            </a:ext>
          </a:extLst>
        </p:spPr>
        <p:txBody>
          <a:bodyPr wrap="none" anchor="ctr"/>
          <a:lstStyle/>
          <a:p>
            <a:endParaRPr lang="zh-CN" altLang="en-US">
              <a:cs typeface="宋体" charset="0"/>
            </a:endParaRPr>
          </a:p>
        </p:txBody>
      </p:sp>
      <p:sp>
        <p:nvSpPr>
          <p:cNvPr id="18444" name="Text Box 18"/>
          <p:cNvSpPr txBox="1">
            <a:spLocks noChangeArrowheads="1"/>
          </p:cNvSpPr>
          <p:nvPr/>
        </p:nvSpPr>
        <p:spPr bwMode="gray">
          <a:xfrm>
            <a:off x="3581400" y="3962400"/>
            <a:ext cx="3886200"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spcBef>
                <a:spcPct val="50000"/>
              </a:spcBef>
              <a:buFontTx/>
              <a:buChar char="•"/>
            </a:pPr>
            <a:r>
              <a:rPr lang="zh-CN" altLang="en-US" sz="2400" b="1">
                <a:latin typeface="黑体" charset="0"/>
                <a:ea typeface="黑体" charset="0"/>
                <a:cs typeface="黑体" charset="0"/>
              </a:rPr>
              <a:t>有的刑法着眼于公权保护？</a:t>
            </a:r>
            <a:endParaRPr lang="en-US" altLang="zh-CN" sz="2400" b="1">
              <a:latin typeface="黑体" charset="0"/>
              <a:ea typeface="黑体" charset="0"/>
              <a:cs typeface="黑体" charset="0"/>
            </a:endParaRPr>
          </a:p>
        </p:txBody>
      </p:sp>
      <p:sp>
        <p:nvSpPr>
          <p:cNvPr id="21517" name="AutoShape 19"/>
          <p:cNvSpPr>
            <a:spLocks noChangeArrowheads="1"/>
          </p:cNvSpPr>
          <p:nvPr/>
        </p:nvSpPr>
        <p:spPr bwMode="gray">
          <a:xfrm>
            <a:off x="2895600" y="5105400"/>
            <a:ext cx="4649788" cy="911225"/>
          </a:xfrm>
          <a:prstGeom prst="roundRect">
            <a:avLst>
              <a:gd name="adj" fmla="val 11505"/>
            </a:avLst>
          </a:prstGeom>
          <a:gradFill rotWithShape="1">
            <a:gsLst>
              <a:gs pos="0">
                <a:schemeClr val="accent1"/>
              </a:gs>
              <a:gs pos="100000">
                <a:schemeClr val="bg1"/>
              </a:gs>
            </a:gsLst>
            <a:lin ang="0" scaled="1"/>
          </a:gradFill>
          <a:ln>
            <a:noFill/>
          </a:ln>
          <a:extLst>
            <a:ext uri="{91240B29-F687-4f45-9708-019B960494DF}">
              <a14:hiddenLine xmlns:a14="http://schemas.microsoft.com/office/drawing/2010/main" xmlns="" w="6350">
                <a:solidFill>
                  <a:srgbClr val="000000"/>
                </a:solidFill>
                <a:prstDash val="sysDot"/>
                <a:round/>
                <a:headEnd/>
                <a:tailEnd/>
              </a14:hiddenLine>
            </a:ext>
          </a:extLst>
        </p:spPr>
        <p:txBody>
          <a:bodyPr wrap="none" anchor="ctr"/>
          <a:lstStyle/>
          <a:p>
            <a:endParaRPr lang="zh-CN" altLang="en-US">
              <a:cs typeface="宋体" charset="0"/>
            </a:endParaRPr>
          </a:p>
        </p:txBody>
      </p:sp>
      <p:sp>
        <p:nvSpPr>
          <p:cNvPr id="18446" name="Text Box 20"/>
          <p:cNvSpPr txBox="1">
            <a:spLocks noChangeArrowheads="1"/>
          </p:cNvSpPr>
          <p:nvPr/>
        </p:nvSpPr>
        <p:spPr bwMode="gray">
          <a:xfrm>
            <a:off x="3505200" y="5334000"/>
            <a:ext cx="4572000"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0"/>
              </a:defRPr>
            </a:lvl1pPr>
            <a:lvl2pPr marL="742950" indent="-285750" eaLnBrk="0" hangingPunct="0">
              <a:defRPr>
                <a:solidFill>
                  <a:schemeClr val="tx1"/>
                </a:solidFill>
                <a:latin typeface="Arial" charset="0"/>
                <a:ea typeface="宋体" charset="0"/>
              </a:defRPr>
            </a:lvl2pPr>
            <a:lvl3pPr marL="1143000" indent="-228600" eaLnBrk="0" hangingPunct="0">
              <a:defRPr>
                <a:solidFill>
                  <a:schemeClr val="tx1"/>
                </a:solidFill>
                <a:latin typeface="Arial" charset="0"/>
                <a:ea typeface="宋体" charset="0"/>
              </a:defRPr>
            </a:lvl3pPr>
            <a:lvl4pPr marL="1600200" indent="-228600" eaLnBrk="0" hangingPunct="0">
              <a:defRPr>
                <a:solidFill>
                  <a:schemeClr val="tx1"/>
                </a:solidFill>
                <a:latin typeface="Arial" charset="0"/>
                <a:ea typeface="宋体" charset="0"/>
              </a:defRPr>
            </a:lvl4pPr>
            <a:lvl5pPr marL="2057400" indent="-228600" eaLnBrk="0" hangingPunct="0">
              <a:defRPr>
                <a:solidFill>
                  <a:schemeClr val="tx1"/>
                </a:solidFill>
                <a:latin typeface="Arial" charset="0"/>
                <a:ea typeface="宋体" charset="0"/>
              </a:defRPr>
            </a:lvl5pPr>
            <a:lvl6pPr marL="2514600" indent="-228600" eaLnBrk="0" fontAlgn="base" hangingPunct="0">
              <a:spcBef>
                <a:spcPct val="0"/>
              </a:spcBef>
              <a:spcAft>
                <a:spcPct val="0"/>
              </a:spcAft>
              <a:defRPr>
                <a:solidFill>
                  <a:schemeClr val="tx1"/>
                </a:solidFill>
                <a:latin typeface="Arial" charset="0"/>
                <a:ea typeface="宋体" charset="0"/>
              </a:defRPr>
            </a:lvl6pPr>
            <a:lvl7pPr marL="2971800" indent="-228600" eaLnBrk="0" fontAlgn="base" hangingPunct="0">
              <a:spcBef>
                <a:spcPct val="0"/>
              </a:spcBef>
              <a:spcAft>
                <a:spcPct val="0"/>
              </a:spcAft>
              <a:defRPr>
                <a:solidFill>
                  <a:schemeClr val="tx1"/>
                </a:solidFill>
                <a:latin typeface="Arial" charset="0"/>
                <a:ea typeface="宋体" charset="0"/>
              </a:defRPr>
            </a:lvl7pPr>
            <a:lvl8pPr marL="3429000" indent="-228600" eaLnBrk="0" fontAlgn="base" hangingPunct="0">
              <a:spcBef>
                <a:spcPct val="0"/>
              </a:spcBef>
              <a:spcAft>
                <a:spcPct val="0"/>
              </a:spcAft>
              <a:defRPr>
                <a:solidFill>
                  <a:schemeClr val="tx1"/>
                </a:solidFill>
                <a:latin typeface="Arial" charset="0"/>
                <a:ea typeface="宋体" charset="0"/>
              </a:defRPr>
            </a:lvl8pPr>
            <a:lvl9pPr marL="3886200" indent="-228600" eaLnBrk="0" fontAlgn="base" hangingPunct="0">
              <a:spcBef>
                <a:spcPct val="0"/>
              </a:spcBef>
              <a:spcAft>
                <a:spcPct val="0"/>
              </a:spcAft>
              <a:defRPr>
                <a:solidFill>
                  <a:schemeClr val="tx1"/>
                </a:solidFill>
                <a:latin typeface="Arial" charset="0"/>
                <a:ea typeface="宋体" charset="0"/>
              </a:defRPr>
            </a:lvl9pPr>
          </a:lstStyle>
          <a:p>
            <a:pPr eaLnBrk="1" hangingPunct="1">
              <a:spcBef>
                <a:spcPct val="50000"/>
              </a:spcBef>
              <a:buFontTx/>
              <a:buChar char="•"/>
            </a:pPr>
            <a:r>
              <a:rPr lang="en-US" altLang="zh-CN" sz="2400" b="1">
                <a:latin typeface="黑体" charset="0"/>
                <a:ea typeface="黑体" charset="0"/>
                <a:cs typeface="黑体" charset="0"/>
              </a:rPr>
              <a:t> </a:t>
            </a:r>
            <a:r>
              <a:rPr lang="zh-CN" altLang="en-US" sz="2400" b="1">
                <a:latin typeface="黑体" charset="0"/>
                <a:ea typeface="黑体" charset="0"/>
                <a:cs typeface="黑体" charset="0"/>
              </a:rPr>
              <a:t>有的刑法更看重私权保护？</a:t>
            </a:r>
            <a:endParaRPr lang="en-US" altLang="zh-CN" sz="2400" b="1">
              <a:latin typeface="黑体" charset="0"/>
              <a:ea typeface="黑体" charset="0"/>
              <a:cs typeface="黑体" charset="0"/>
            </a:endParaRPr>
          </a:p>
        </p:txBody>
      </p:sp>
      <p:sp>
        <p:nvSpPr>
          <p:cNvPr id="21519" name="AutoShape 21"/>
          <p:cNvSpPr>
            <a:spLocks noChangeArrowheads="1"/>
          </p:cNvSpPr>
          <p:nvPr/>
        </p:nvSpPr>
        <p:spPr bwMode="gray">
          <a:xfrm>
            <a:off x="3048000" y="2667000"/>
            <a:ext cx="533400" cy="381000"/>
          </a:xfrm>
          <a:prstGeom prst="rightArrow">
            <a:avLst>
              <a:gd name="adj1" fmla="val 50000"/>
              <a:gd name="adj2" fmla="val 58333"/>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zh-CN" altLang="en-US">
              <a:cs typeface="宋体" charset="0"/>
            </a:endParaRPr>
          </a:p>
        </p:txBody>
      </p:sp>
      <p:sp>
        <p:nvSpPr>
          <p:cNvPr id="21520" name="AutoShape 22"/>
          <p:cNvSpPr>
            <a:spLocks noChangeArrowheads="1"/>
          </p:cNvSpPr>
          <p:nvPr/>
        </p:nvSpPr>
        <p:spPr bwMode="gray">
          <a:xfrm>
            <a:off x="2971800" y="3962400"/>
            <a:ext cx="533400" cy="381000"/>
          </a:xfrm>
          <a:prstGeom prst="rightArrow">
            <a:avLst>
              <a:gd name="adj1" fmla="val 50000"/>
              <a:gd name="adj2" fmla="val 58333"/>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zh-CN" altLang="en-US">
              <a:cs typeface="宋体" charset="0"/>
            </a:endParaRPr>
          </a:p>
        </p:txBody>
      </p:sp>
      <p:sp>
        <p:nvSpPr>
          <p:cNvPr id="21521" name="AutoShape 23"/>
          <p:cNvSpPr>
            <a:spLocks noChangeArrowheads="1"/>
          </p:cNvSpPr>
          <p:nvPr/>
        </p:nvSpPr>
        <p:spPr bwMode="gray">
          <a:xfrm>
            <a:off x="2971800" y="5334000"/>
            <a:ext cx="533400" cy="381000"/>
          </a:xfrm>
          <a:prstGeom prst="rightArrow">
            <a:avLst>
              <a:gd name="adj1" fmla="val 50000"/>
              <a:gd name="adj2" fmla="val 58333"/>
            </a:avLst>
          </a:prstGeom>
          <a:solidFill>
            <a:srgbClr val="FFFFFF"/>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nchor="ctr"/>
          <a:lstStyle/>
          <a:p>
            <a:endParaRPr lang="zh-CN" altLang="en-US">
              <a:cs typeface="宋体" charset="0"/>
            </a:endParaRPr>
          </a:p>
        </p:txBody>
      </p:sp>
    </p:spTree>
    <p:extLst>
      <p:ext uri="{BB962C8B-B14F-4D97-AF65-F5344CB8AC3E}">
        <p14:creationId xmlns:p14="http://schemas.microsoft.com/office/powerpoint/2010/main" val="623333160"/>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9"/>
                                        </p:tgtEl>
                                        <p:attrNameLst>
                                          <p:attrName>style.visibility</p:attrName>
                                        </p:attrNameLst>
                                      </p:cBhvr>
                                      <p:to>
                                        <p:strVal val="visible"/>
                                      </p:to>
                                    </p:set>
                                    <p:anim calcmode="lin" valueType="num">
                                      <p:cBhvr additive="base">
                                        <p:cTn id="7" dur="500" fill="hold"/>
                                        <p:tgtEl>
                                          <p:spTgt spid="18439"/>
                                        </p:tgtEl>
                                        <p:attrNameLst>
                                          <p:attrName>ppt_x</p:attrName>
                                        </p:attrNameLst>
                                      </p:cBhvr>
                                      <p:tavLst>
                                        <p:tav tm="0">
                                          <p:val>
                                            <p:strVal val="#ppt_x"/>
                                          </p:val>
                                        </p:tav>
                                        <p:tav tm="100000">
                                          <p:val>
                                            <p:strVal val="#ppt_x"/>
                                          </p:val>
                                        </p:tav>
                                      </p:tavLst>
                                    </p:anim>
                                    <p:anim calcmode="lin" valueType="num">
                                      <p:cBhvr additive="base">
                                        <p:cTn id="8" dur="500" fill="hold"/>
                                        <p:tgtEl>
                                          <p:spTgt spid="1843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440"/>
                                        </p:tgtEl>
                                        <p:attrNameLst>
                                          <p:attrName>style.visibility</p:attrName>
                                        </p:attrNameLst>
                                      </p:cBhvr>
                                      <p:to>
                                        <p:strVal val="visible"/>
                                      </p:to>
                                    </p:set>
                                    <p:anim calcmode="lin" valueType="num">
                                      <p:cBhvr additive="base">
                                        <p:cTn id="13" dur="500" fill="hold"/>
                                        <p:tgtEl>
                                          <p:spTgt spid="18440"/>
                                        </p:tgtEl>
                                        <p:attrNameLst>
                                          <p:attrName>ppt_x</p:attrName>
                                        </p:attrNameLst>
                                      </p:cBhvr>
                                      <p:tavLst>
                                        <p:tav tm="0">
                                          <p:val>
                                            <p:strVal val="#ppt_x"/>
                                          </p:val>
                                        </p:tav>
                                        <p:tav tm="100000">
                                          <p:val>
                                            <p:strVal val="#ppt_x"/>
                                          </p:val>
                                        </p:tav>
                                      </p:tavLst>
                                    </p:anim>
                                    <p:anim calcmode="lin" valueType="num">
                                      <p:cBhvr additive="base">
                                        <p:cTn id="14" dur="500" fill="hold"/>
                                        <p:tgtEl>
                                          <p:spTgt spid="1844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441"/>
                                        </p:tgtEl>
                                        <p:attrNameLst>
                                          <p:attrName>style.visibility</p:attrName>
                                        </p:attrNameLst>
                                      </p:cBhvr>
                                      <p:to>
                                        <p:strVal val="visible"/>
                                      </p:to>
                                    </p:set>
                                    <p:anim calcmode="lin" valueType="num">
                                      <p:cBhvr additive="base">
                                        <p:cTn id="19" dur="500" fill="hold"/>
                                        <p:tgtEl>
                                          <p:spTgt spid="18441"/>
                                        </p:tgtEl>
                                        <p:attrNameLst>
                                          <p:attrName>ppt_x</p:attrName>
                                        </p:attrNameLst>
                                      </p:cBhvr>
                                      <p:tavLst>
                                        <p:tav tm="0">
                                          <p:val>
                                            <p:strVal val="#ppt_x"/>
                                          </p:val>
                                        </p:tav>
                                        <p:tav tm="100000">
                                          <p:val>
                                            <p:strVal val="#ppt_x"/>
                                          </p:val>
                                        </p:tav>
                                      </p:tavLst>
                                    </p:anim>
                                    <p:anim calcmode="lin" valueType="num">
                                      <p:cBhvr additive="base">
                                        <p:cTn id="20" dur="500" fill="hold"/>
                                        <p:tgtEl>
                                          <p:spTgt spid="1844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8444"/>
                                        </p:tgtEl>
                                        <p:attrNameLst>
                                          <p:attrName>style.visibility</p:attrName>
                                        </p:attrNameLst>
                                      </p:cBhvr>
                                      <p:to>
                                        <p:strVal val="visible"/>
                                      </p:to>
                                    </p:set>
                                    <p:anim calcmode="lin" valueType="num">
                                      <p:cBhvr additive="base">
                                        <p:cTn id="25" dur="500" fill="hold"/>
                                        <p:tgtEl>
                                          <p:spTgt spid="18444"/>
                                        </p:tgtEl>
                                        <p:attrNameLst>
                                          <p:attrName>ppt_x</p:attrName>
                                        </p:attrNameLst>
                                      </p:cBhvr>
                                      <p:tavLst>
                                        <p:tav tm="0">
                                          <p:val>
                                            <p:strVal val="#ppt_x"/>
                                          </p:val>
                                        </p:tav>
                                        <p:tav tm="100000">
                                          <p:val>
                                            <p:strVal val="#ppt_x"/>
                                          </p:val>
                                        </p:tav>
                                      </p:tavLst>
                                    </p:anim>
                                    <p:anim calcmode="lin" valueType="num">
                                      <p:cBhvr additive="base">
                                        <p:cTn id="26" dur="500" fill="hold"/>
                                        <p:tgtEl>
                                          <p:spTgt spid="18444"/>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18442"/>
                                        </p:tgtEl>
                                        <p:attrNameLst>
                                          <p:attrName>style.visibility</p:attrName>
                                        </p:attrNameLst>
                                      </p:cBhvr>
                                      <p:to>
                                        <p:strVal val="visible"/>
                                      </p:to>
                                    </p:set>
                                    <p:animEffect transition="in" filter="box(in)">
                                      <p:cBhvr>
                                        <p:cTn id="31" dur="500"/>
                                        <p:tgtEl>
                                          <p:spTgt spid="1844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8" presetClass="entr" presetSubtype="16" fill="hold" grpId="0" nodeType="clickEffect">
                                  <p:stCondLst>
                                    <p:cond delay="0"/>
                                  </p:stCondLst>
                                  <p:childTnLst>
                                    <p:set>
                                      <p:cBhvr>
                                        <p:cTn id="35" dur="1" fill="hold">
                                          <p:stCondLst>
                                            <p:cond delay="0"/>
                                          </p:stCondLst>
                                        </p:cTn>
                                        <p:tgtEl>
                                          <p:spTgt spid="18446"/>
                                        </p:tgtEl>
                                        <p:attrNameLst>
                                          <p:attrName>style.visibility</p:attrName>
                                        </p:attrNameLst>
                                      </p:cBhvr>
                                      <p:to>
                                        <p:strVal val="visible"/>
                                      </p:to>
                                    </p:set>
                                    <p:animEffect transition="in" filter="diamond(in)">
                                      <p:cBhvr>
                                        <p:cTn id="36" dur="2000"/>
                                        <p:tgtEl>
                                          <p:spTgt spid="18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p:bldP spid="18440" grpId="0"/>
      <p:bldP spid="18441" grpId="0"/>
      <p:bldP spid="18442" grpId="0"/>
      <p:bldP spid="18444" grpId="0"/>
      <p:bldP spid="1844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r>
              <a:rPr lang="zh-CN" altLang="en-US" i="0">
                <a:latin typeface="Arial" charset="0"/>
                <a:cs typeface="宋体" charset="0"/>
              </a:rPr>
              <a:t>空间因素（交互分析）</a:t>
            </a:r>
          </a:p>
        </p:txBody>
      </p:sp>
      <p:graphicFrame>
        <p:nvGraphicFramePr>
          <p:cNvPr id="4" name="内容占位符 3"/>
          <p:cNvGraphicFramePr>
            <a:graphicFrameLocks noGrp="1"/>
          </p:cNvGraphicFramePr>
          <p:nvPr>
            <p:ph idx="1"/>
          </p:nvPr>
        </p:nvGraphicFramePr>
        <p:xfrm>
          <a:off x="457200" y="1295400"/>
          <a:ext cx="8229600" cy="4191003"/>
        </p:xfrm>
        <a:graphic>
          <a:graphicData uri="http://schemas.openxmlformats.org/drawingml/2006/table">
            <a:tbl>
              <a:tblPr/>
              <a:tblGrid>
                <a:gridCol w="1176338"/>
                <a:gridCol w="1174750"/>
                <a:gridCol w="1176337"/>
                <a:gridCol w="1174750"/>
                <a:gridCol w="1176338"/>
                <a:gridCol w="1174750"/>
                <a:gridCol w="1176337"/>
              </a:tblGrid>
              <a:tr h="436563">
                <a:tc gridSpan="7">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sz="1600" b="1" i="0" u="none" strike="noStrike" cap="none" normalizeH="0" baseline="0">
                          <a:ln>
                            <a:noFill/>
                          </a:ln>
                          <a:solidFill>
                            <a:srgbClr val="000000"/>
                          </a:solidFill>
                          <a:effectLst/>
                          <a:latin typeface="Arial" charset="0"/>
                          <a:ea typeface="宋体" charset="0"/>
                          <a:cs typeface="Arial" charset="0"/>
                        </a:rPr>
                        <a:t>死刑</a:t>
                      </a:r>
                      <a:r>
                        <a:rPr kumimoji="0" lang="en-US" altLang="zh-CN" sz="1600" b="1" i="0" u="none" strike="noStrike" cap="none" normalizeH="0" baseline="0">
                          <a:ln>
                            <a:noFill/>
                          </a:ln>
                          <a:solidFill>
                            <a:srgbClr val="000000"/>
                          </a:solidFill>
                          <a:effectLst/>
                          <a:latin typeface="Arial" charset="0"/>
                          <a:ea typeface="宋体" charset="0"/>
                          <a:cs typeface="Times New Roman" charset="0"/>
                        </a:rPr>
                        <a:t> * </a:t>
                      </a:r>
                      <a:r>
                        <a:rPr kumimoji="0" lang="zh-CN" sz="1600" b="1" i="0" u="none" strike="noStrike" cap="none" normalizeH="0" baseline="0">
                          <a:ln>
                            <a:noFill/>
                          </a:ln>
                          <a:solidFill>
                            <a:srgbClr val="000000"/>
                          </a:solidFill>
                          <a:effectLst/>
                          <a:latin typeface="Arial" charset="0"/>
                          <a:ea typeface="宋体" charset="0"/>
                          <a:cs typeface="Arial" charset="0"/>
                        </a:rPr>
                        <a:t>所处大洲</a:t>
                      </a:r>
                      <a:r>
                        <a:rPr kumimoji="0" lang="en-US" altLang="zh-CN" sz="1600" b="1" i="0" u="none" strike="noStrike" cap="none" normalizeH="0" baseline="0">
                          <a:ln>
                            <a:noFill/>
                          </a:ln>
                          <a:solidFill>
                            <a:srgbClr val="000000"/>
                          </a:solidFill>
                          <a:effectLst/>
                          <a:latin typeface="Arial" charset="0"/>
                          <a:ea typeface="宋体" charset="0"/>
                          <a:cs typeface="Times New Roman" charset="0"/>
                        </a:rPr>
                        <a:t> Crosstabulation</a:t>
                      </a:r>
                      <a:endParaRPr kumimoji="0" lang="zh-CN" sz="1600" b="1" i="0" u="none" strike="noStrike" cap="none" normalizeH="0" baseline="0">
                        <a:ln>
                          <a:noFill/>
                        </a:ln>
                        <a:solidFill>
                          <a:srgbClr val="FFFFFF"/>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4365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600" b="0" i="0" u="none" strike="noStrike" cap="none" normalizeH="0" baseline="0">
                        <a:ln>
                          <a:noFill/>
                        </a:ln>
                        <a:solidFill>
                          <a:srgbClr val="080808"/>
                        </a:solidFill>
                        <a:effectLst/>
                        <a:latin typeface="Times New Roman"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600" b="0" i="0" u="none" strike="noStrike" cap="none" normalizeH="0" baseline="0">
                        <a:ln>
                          <a:noFill/>
                        </a:ln>
                        <a:solidFill>
                          <a:srgbClr val="080808"/>
                        </a:solidFill>
                        <a:effectLst/>
                        <a:latin typeface="Times New Roman"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600" b="0" i="0" u="none" strike="noStrike" cap="none" normalizeH="0" baseline="0">
                        <a:ln>
                          <a:noFill/>
                        </a:ln>
                        <a:solidFill>
                          <a:srgbClr val="080808"/>
                        </a:solidFill>
                        <a:effectLst/>
                        <a:latin typeface="Times New Roman"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gridSpan="3">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Arial" charset="0"/>
                          <a:ea typeface="宋体" charset="0"/>
                          <a:cs typeface="Arial" charset="0"/>
                        </a:rPr>
                        <a:t>所处大洲</a:t>
                      </a:r>
                      <a:endParaRPr kumimoji="0" lang="zh-CN" sz="1800" b="1"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hMerge="1">
                  <a:txBody>
                    <a:bodyPr/>
                    <a:lstStyle/>
                    <a:p>
                      <a:endParaRPr lang="zh-CN" altLang="en-US"/>
                    </a:p>
                  </a:txBody>
                  <a:tcPr/>
                </a:tc>
                <a:tc hMerge="1">
                  <a:txBody>
                    <a:bodyPr/>
                    <a:lstStyle/>
                    <a:p>
                      <a:endParaRPr lang="zh-CN" altLang="en-US"/>
                    </a:p>
                  </a:txBody>
                  <a:tcPr/>
                </a:tc>
                <a:tc rowSpan="2">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Total</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r>
              <a:tr h="436563">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600" b="0" i="0" u="none" strike="noStrike" cap="none" normalizeH="0" baseline="0">
                        <a:ln>
                          <a:noFill/>
                        </a:ln>
                        <a:solidFill>
                          <a:srgbClr val="080808"/>
                        </a:solidFill>
                        <a:effectLst/>
                        <a:latin typeface="Times New Roman"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600" b="0" i="0" u="none" strike="noStrike" cap="none" normalizeH="0" baseline="0">
                        <a:ln>
                          <a:noFill/>
                        </a:ln>
                        <a:solidFill>
                          <a:srgbClr val="080808"/>
                        </a:solidFill>
                        <a:effectLst/>
                        <a:latin typeface="Times New Roman"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600" b="0" i="0" u="none" strike="noStrike" cap="none" normalizeH="0" baseline="0">
                        <a:ln>
                          <a:noFill/>
                        </a:ln>
                        <a:solidFill>
                          <a:srgbClr val="080808"/>
                        </a:solidFill>
                        <a:effectLst/>
                        <a:latin typeface="Times New Roman"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Arial" charset="0"/>
                          <a:ea typeface="宋体" charset="0"/>
                          <a:cs typeface="Arial" charset="0"/>
                        </a:rPr>
                        <a:t>大洋洲</a:t>
                      </a:r>
                      <a:endParaRPr kumimoji="0" lang="zh-CN" sz="1800" b="1"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Arial" charset="0"/>
                          <a:ea typeface="宋体" charset="0"/>
                          <a:cs typeface="Arial" charset="0"/>
                        </a:rPr>
                        <a:t>欧洲</a:t>
                      </a:r>
                      <a:endParaRPr kumimoji="0" lang="zh-CN" sz="1800" b="1"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Arial" charset="0"/>
                          <a:ea typeface="宋体" charset="0"/>
                          <a:cs typeface="Arial" charset="0"/>
                        </a:rPr>
                        <a:t>亚洲</a:t>
                      </a:r>
                      <a:endParaRPr kumimoji="0" lang="zh-CN" sz="1800" b="1"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vMerge="1">
                  <a:txBody>
                    <a:bodyPr/>
                    <a:lstStyle/>
                    <a:p>
                      <a:endParaRPr lang="zh-CN" altLang="en-US"/>
                    </a:p>
                  </a:txBody>
                  <a:tcPr/>
                </a:tc>
              </a:tr>
              <a:tr h="436563">
                <a:tc rowSpan="4">
                  <a:txBody>
                    <a:bodyPr/>
                    <a:lstStyle/>
                    <a:p>
                      <a:pPr marL="0" marR="0" lvl="0" indent="0" algn="l" defTabSz="914400" rtl="0" eaLnBrk="1" fontAlgn="base" latinLnBrk="0" hangingPunct="1">
                        <a:lnSpc>
                          <a:spcPts val="1600"/>
                        </a:lnSpc>
                        <a:spcBef>
                          <a:spcPct val="0"/>
                        </a:spcBef>
                        <a:spcAft>
                          <a:spcPct val="0"/>
                        </a:spcAft>
                        <a:buClrTx/>
                        <a:buSzTx/>
                        <a:buFontTx/>
                        <a:buNone/>
                        <a:tabLst/>
                      </a:pPr>
                      <a:endParaRPr kumimoji="0" lang="en-US" altLang="zh-CN" sz="1600" b="0" i="0" u="none" strike="noStrike" cap="none" normalizeH="0" baseline="0">
                        <a:ln>
                          <a:noFill/>
                        </a:ln>
                        <a:solidFill>
                          <a:srgbClr val="000000"/>
                        </a:solidFill>
                        <a:effectLst/>
                        <a:latin typeface="Arial" charset="0"/>
                        <a:ea typeface="宋体" charset="0"/>
                        <a:cs typeface="Arial" charset="0"/>
                      </a:endParaRPr>
                    </a:p>
                    <a:p>
                      <a:pPr marL="0" marR="0" lvl="0" indent="0" algn="l" defTabSz="914400" rtl="0" eaLnBrk="1" fontAlgn="base" latinLnBrk="0" hangingPunct="1">
                        <a:lnSpc>
                          <a:spcPts val="1600"/>
                        </a:lnSpc>
                        <a:spcBef>
                          <a:spcPct val="0"/>
                        </a:spcBef>
                        <a:spcAft>
                          <a:spcPct val="0"/>
                        </a:spcAft>
                        <a:buClrTx/>
                        <a:buSzTx/>
                        <a:buFontTx/>
                        <a:buNone/>
                        <a:tabLst/>
                      </a:pPr>
                      <a:endParaRPr kumimoji="0" lang="en-US" altLang="zh-CN" sz="1600" b="0" i="0" u="none" strike="noStrike" cap="none" normalizeH="0" baseline="0">
                        <a:ln>
                          <a:noFill/>
                        </a:ln>
                        <a:solidFill>
                          <a:srgbClr val="000000"/>
                        </a:solidFill>
                        <a:effectLst/>
                        <a:latin typeface="Arial" charset="0"/>
                        <a:ea typeface="宋体" charset="0"/>
                        <a:cs typeface="Arial" charset="0"/>
                      </a:endParaRPr>
                    </a:p>
                    <a:p>
                      <a:pPr marL="0" marR="0" lvl="0" indent="0" algn="l" defTabSz="914400" rtl="0" eaLnBrk="1" fontAlgn="base" latinLnBrk="0" hangingPunct="1">
                        <a:lnSpc>
                          <a:spcPts val="1600"/>
                        </a:lnSpc>
                        <a:spcBef>
                          <a:spcPct val="0"/>
                        </a:spcBef>
                        <a:spcAft>
                          <a:spcPct val="0"/>
                        </a:spcAft>
                        <a:buClrTx/>
                        <a:buSzTx/>
                        <a:buFontTx/>
                        <a:buNone/>
                        <a:tabLst/>
                      </a:pPr>
                      <a:endParaRPr kumimoji="0" lang="en-US" altLang="zh-CN" sz="1600" b="0" i="0" u="none" strike="noStrike" cap="none" normalizeH="0" baseline="0">
                        <a:ln>
                          <a:noFill/>
                        </a:ln>
                        <a:solidFill>
                          <a:srgbClr val="000000"/>
                        </a:solidFill>
                        <a:effectLst/>
                        <a:latin typeface="Arial" charset="0"/>
                        <a:ea typeface="宋体" charset="0"/>
                        <a:cs typeface="Arial" charset="0"/>
                      </a:endParaRPr>
                    </a:p>
                    <a:p>
                      <a:pPr marL="0" marR="0" lvl="0" indent="0" algn="l" defTabSz="914400" rtl="0" eaLnBrk="1" fontAlgn="base" latinLnBrk="0" hangingPunct="1">
                        <a:lnSpc>
                          <a:spcPts val="1600"/>
                        </a:lnSpc>
                        <a:spcBef>
                          <a:spcPct val="0"/>
                        </a:spcBef>
                        <a:spcAft>
                          <a:spcPct val="0"/>
                        </a:spcAft>
                        <a:buClrTx/>
                        <a:buSzTx/>
                        <a:buFontTx/>
                        <a:buNone/>
                        <a:tabLst/>
                      </a:pPr>
                      <a:r>
                        <a:rPr kumimoji="0" lang="zh-CN" sz="2400" b="1" i="0" u="none" strike="noStrike" cap="none" normalizeH="0" baseline="0">
                          <a:ln>
                            <a:noFill/>
                          </a:ln>
                          <a:solidFill>
                            <a:srgbClr val="000000"/>
                          </a:solidFill>
                          <a:effectLst/>
                          <a:latin typeface="Arial" charset="0"/>
                          <a:ea typeface="宋体" charset="0"/>
                          <a:cs typeface="Arial" charset="0"/>
                        </a:rPr>
                        <a:t>死刑</a:t>
                      </a:r>
                      <a:endParaRPr kumimoji="0" lang="zh-CN" sz="2400" b="1"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rowSpan="2">
                  <a:txBody>
                    <a:bodyPr/>
                    <a:lstStyle/>
                    <a:p>
                      <a:pPr marL="0" marR="0" lvl="0" indent="0" algn="l"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0</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l"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Count</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7</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19</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1</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30</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r>
              <a:tr h="523875">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 within </a:t>
                      </a:r>
                      <a:r>
                        <a:rPr kumimoji="0" lang="zh-CN" sz="1600" b="0" i="0" u="none" strike="noStrike" cap="none" normalizeH="0" baseline="0">
                          <a:ln>
                            <a:noFill/>
                          </a:ln>
                          <a:solidFill>
                            <a:srgbClr val="000000"/>
                          </a:solidFill>
                          <a:effectLst/>
                          <a:latin typeface="Arial" charset="0"/>
                          <a:ea typeface="宋体" charset="0"/>
                          <a:cs typeface="Arial" charset="0"/>
                        </a:rPr>
                        <a:t>所处大洲</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63.6%</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90.5%</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9.1%</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60.0%</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r>
              <a:tr h="436563">
                <a:tc vMerge="1">
                  <a:txBody>
                    <a:bodyPr/>
                    <a:lstStyle/>
                    <a:p>
                      <a:endParaRPr lang="zh-CN" altLang="en-US"/>
                    </a:p>
                  </a:txBody>
                  <a:tcPr/>
                </a:tc>
                <a:tc rowSpan="2">
                  <a:txBody>
                    <a:bodyPr/>
                    <a:lstStyle/>
                    <a:p>
                      <a:pPr marL="0" marR="0" lvl="0" indent="0" algn="l"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1</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l"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Count</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4</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2</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10</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20</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r>
              <a:tr h="523875">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 within </a:t>
                      </a:r>
                      <a:r>
                        <a:rPr kumimoji="0" lang="zh-CN" sz="1600" b="0" i="0" u="none" strike="noStrike" cap="none" normalizeH="0" baseline="0">
                          <a:ln>
                            <a:noFill/>
                          </a:ln>
                          <a:solidFill>
                            <a:srgbClr val="000000"/>
                          </a:solidFill>
                          <a:effectLst/>
                          <a:latin typeface="Arial" charset="0"/>
                          <a:ea typeface="宋体" charset="0"/>
                          <a:cs typeface="Arial" charset="0"/>
                        </a:rPr>
                        <a:t>所处大洲</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36.4%</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Times New Roman" charset="0"/>
                        </a:rPr>
                        <a:t>9.5%</a:t>
                      </a:r>
                      <a:endParaRPr kumimoji="0" lang="zh-CN" sz="2000" b="1"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2000" b="1" i="0" u="none" strike="noStrike" cap="none" normalizeH="0" baseline="0">
                          <a:ln>
                            <a:noFill/>
                          </a:ln>
                          <a:solidFill>
                            <a:srgbClr val="000000"/>
                          </a:solidFill>
                          <a:effectLst/>
                          <a:latin typeface="Arial" charset="0"/>
                          <a:ea typeface="宋体" charset="0"/>
                          <a:cs typeface="Times New Roman" charset="0"/>
                        </a:rPr>
                        <a:t>90.9%</a:t>
                      </a:r>
                      <a:endParaRPr kumimoji="0" lang="zh-CN" sz="2000" b="1"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40.0%</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r>
              <a:tr h="436563">
                <a:tc rowSpan="2" gridSpan="2">
                  <a:txBody>
                    <a:bodyPr/>
                    <a:lstStyle/>
                    <a:p>
                      <a:pPr marL="0" marR="0" lvl="0" indent="0" algn="l"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Total</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rowSpan="2" hMerge="1">
                  <a:txBody>
                    <a:bodyPr/>
                    <a:lstStyle/>
                    <a:p>
                      <a:endParaRPr lang="zh-CN" altLang="en-US"/>
                    </a:p>
                  </a:txBody>
                  <a:tcPr/>
                </a:tc>
                <a:tc>
                  <a:txBody>
                    <a:bodyPr/>
                    <a:lstStyle/>
                    <a:p>
                      <a:pPr marL="0" marR="0" lvl="0" indent="0" algn="l"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Count</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11</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21</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11</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50</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r>
              <a:tr h="523875">
                <a:tc gridSpan="2" vMerge="1">
                  <a:txBody>
                    <a:bodyPr/>
                    <a:lstStyle/>
                    <a:p>
                      <a:endParaRPr lang="zh-CN" altLang="en-US"/>
                    </a:p>
                  </a:txBody>
                  <a:tcPr/>
                </a:tc>
                <a:tc hMerge="1" vMerge="1">
                  <a:txBody>
                    <a:bodyPr/>
                    <a:lstStyle/>
                    <a:p>
                      <a:endParaRPr lang="zh-CN" altLang="en-US"/>
                    </a:p>
                  </a:txBody>
                  <a:tcPr/>
                </a:tc>
                <a:tc>
                  <a:txBody>
                    <a:bodyPr/>
                    <a:lstStyle/>
                    <a:p>
                      <a:pPr marL="0" marR="0" lvl="0" indent="0" algn="l"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 within </a:t>
                      </a:r>
                      <a:r>
                        <a:rPr kumimoji="0" lang="zh-CN" sz="1600" b="0" i="0" u="none" strike="noStrike" cap="none" normalizeH="0" baseline="0">
                          <a:ln>
                            <a:noFill/>
                          </a:ln>
                          <a:solidFill>
                            <a:srgbClr val="000000"/>
                          </a:solidFill>
                          <a:effectLst/>
                          <a:latin typeface="Arial" charset="0"/>
                          <a:ea typeface="宋体" charset="0"/>
                          <a:cs typeface="Arial" charset="0"/>
                        </a:rPr>
                        <a:t>所处大洲</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100.0%</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100.0%</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100.0%</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r" defTabSz="914400" rtl="0" eaLnBrk="1" fontAlgn="base" latinLnBrk="0" hangingPunct="1">
                        <a:lnSpc>
                          <a:spcPts val="16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Arial" charset="0"/>
                          <a:ea typeface="宋体" charset="0"/>
                          <a:cs typeface="Times New Roman" charset="0"/>
                        </a:rPr>
                        <a:t>100.0%</a:t>
                      </a:r>
                      <a:endParaRPr kumimoji="0" lang="zh-CN" sz="16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r>
            </a:tbl>
          </a:graphicData>
        </a:graphic>
      </p:graphicFrame>
    </p:spTree>
    <p:extLst>
      <p:ext uri="{BB962C8B-B14F-4D97-AF65-F5344CB8AC3E}">
        <p14:creationId xmlns:p14="http://schemas.microsoft.com/office/powerpoint/2010/main" val="1235870716"/>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a:xfrm>
            <a:off x="457200" y="228600"/>
            <a:ext cx="8229600" cy="2120280"/>
          </a:xfrm>
        </p:spPr>
        <p:txBody>
          <a:bodyPr/>
          <a:lstStyle/>
          <a:p>
            <a:pPr algn="l"/>
            <a:r>
              <a:rPr lang="en-US" altLang="zh-CN" sz="3200" dirty="0">
                <a:latin typeface="Arial" charset="0"/>
                <a:cs typeface="宋体" charset="0"/>
              </a:rPr>
              <a:t/>
            </a:r>
            <a:br>
              <a:rPr lang="en-US" altLang="zh-CN" sz="3200" dirty="0">
                <a:latin typeface="Arial" charset="0"/>
                <a:cs typeface="宋体" charset="0"/>
              </a:rPr>
            </a:br>
            <a:r>
              <a:rPr lang="zh-CN" altLang="en-US" sz="3600" i="0" dirty="0">
                <a:latin typeface="Arial" charset="0"/>
                <a:cs typeface="宋体" charset="0"/>
              </a:rPr>
              <a:t>人口因素（均值比较）</a:t>
            </a:r>
            <a:r>
              <a:rPr lang="en-US" altLang="zh-CN" sz="3200" dirty="0">
                <a:latin typeface="Arial" charset="0"/>
                <a:cs typeface="宋体" charset="0"/>
              </a:rPr>
              <a:t/>
            </a:r>
            <a:br>
              <a:rPr lang="en-US" altLang="zh-CN" sz="3200" dirty="0">
                <a:latin typeface="Arial" charset="0"/>
                <a:cs typeface="宋体" charset="0"/>
              </a:rPr>
            </a:br>
            <a:r>
              <a:rPr lang="en-US" altLang="zh-CN" sz="3600" i="0" dirty="0">
                <a:latin typeface="Arial" charset="0"/>
                <a:cs typeface="宋体" charset="0"/>
              </a:rPr>
              <a:t>6.7</a:t>
            </a:r>
            <a:r>
              <a:rPr lang="zh-CN" sz="3600" i="0" dirty="0">
                <a:latin typeface="Arial" charset="0"/>
                <a:cs typeface="宋体" charset="0"/>
              </a:rPr>
              <a:t>倍</a:t>
            </a:r>
            <a:r>
              <a:rPr lang="zh-CN" altLang="en-US" sz="3600" i="0" dirty="0" smtClean="0">
                <a:latin typeface="Arial" charset="0"/>
                <a:cs typeface="宋体" charset="0"/>
              </a:rPr>
              <a:t>！</a:t>
            </a:r>
            <a:r>
              <a:rPr lang="en-US" altLang="zh-CN" sz="3600" i="0" dirty="0" smtClean="0">
                <a:latin typeface="Arial" charset="0"/>
                <a:cs typeface="宋体" charset="0"/>
              </a:rPr>
              <a:t>——</a:t>
            </a:r>
            <a:r>
              <a:rPr lang="zh-CN" sz="3600" i="0" dirty="0" smtClean="0">
                <a:latin typeface="黑体" charset="0"/>
                <a:ea typeface="黑体" charset="0"/>
                <a:cs typeface="黑体" charset="0"/>
              </a:rPr>
              <a:t>死刑</a:t>
            </a:r>
            <a:r>
              <a:rPr lang="zh-CN" sz="3600" i="0" dirty="0">
                <a:latin typeface="黑体" charset="0"/>
                <a:ea typeface="黑体" charset="0"/>
                <a:cs typeface="黑体" charset="0"/>
              </a:rPr>
              <a:t>国家基本上是人口大国。</a:t>
            </a:r>
            <a:r>
              <a:rPr lang="zh-CN" dirty="0">
                <a:latin typeface="Arial" charset="0"/>
                <a:cs typeface="宋体" charset="0"/>
              </a:rPr>
              <a:t/>
            </a:r>
            <a:br>
              <a:rPr lang="zh-CN" dirty="0">
                <a:latin typeface="Arial" charset="0"/>
                <a:cs typeface="宋体" charset="0"/>
              </a:rPr>
            </a:br>
            <a:endParaRPr lang="zh-CN" altLang="en-US" dirty="0">
              <a:latin typeface="Arial" charset="0"/>
              <a:cs typeface="宋体" charset="0"/>
            </a:endParaRPr>
          </a:p>
        </p:txBody>
      </p:sp>
      <p:graphicFrame>
        <p:nvGraphicFramePr>
          <p:cNvPr id="4" name="内容占位符 3"/>
          <p:cNvGraphicFramePr>
            <a:graphicFrameLocks noGrp="1"/>
          </p:cNvGraphicFramePr>
          <p:nvPr>
            <p:ph idx="1"/>
          </p:nvPr>
        </p:nvGraphicFramePr>
        <p:xfrm>
          <a:off x="457200" y="2743200"/>
          <a:ext cx="8229600" cy="2743200"/>
        </p:xfrm>
        <a:graphic>
          <a:graphicData uri="http://schemas.openxmlformats.org/drawingml/2006/table">
            <a:tbl>
              <a:tblPr/>
              <a:tblGrid>
                <a:gridCol w="1295400"/>
                <a:gridCol w="1295400"/>
                <a:gridCol w="1447800"/>
                <a:gridCol w="2544763"/>
                <a:gridCol w="1646237"/>
              </a:tblGrid>
              <a:tr h="971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2400" b="1" i="0" u="none" strike="noStrike" cap="none" normalizeH="0" baseline="0">
                        <a:ln>
                          <a:noFill/>
                        </a:ln>
                        <a:solidFill>
                          <a:srgbClr val="FFFFFF"/>
                        </a:solidFill>
                        <a:effectLst/>
                        <a:latin typeface="Times New Roman"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sz="2400" b="1" i="0" u="none" strike="noStrike" cap="none" normalizeH="0" baseline="0">
                          <a:ln>
                            <a:noFill/>
                          </a:ln>
                          <a:solidFill>
                            <a:srgbClr val="000000"/>
                          </a:solidFill>
                          <a:effectLst/>
                          <a:latin typeface="Arial" charset="0"/>
                          <a:ea typeface="宋体" charset="0"/>
                          <a:cs typeface="Arial" charset="0"/>
                        </a:rPr>
                        <a:t>死刑</a:t>
                      </a:r>
                      <a:endParaRPr kumimoji="0" lang="zh-CN" sz="2400" b="1" i="0" u="none" strike="noStrike" cap="none" normalizeH="0" baseline="0">
                        <a:ln>
                          <a:noFill/>
                        </a:ln>
                        <a:solidFill>
                          <a:srgbClr val="FFFFFF"/>
                        </a:solidFill>
                        <a:effectLst/>
                        <a:latin typeface="Calibri" charset="0"/>
                        <a:ea typeface="宋体" charset="0"/>
                        <a:cs typeface="Times New Roman" charset="0"/>
                      </a:endParaRPr>
                    </a:p>
                  </a:txBody>
                  <a:tcPr marL="19050" marR="19050" marT="19050" marB="1905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Arial" charset="0"/>
                          <a:ea typeface="宋体" charset="0"/>
                          <a:cs typeface="Times New Roman" charset="0"/>
                        </a:rPr>
                        <a:t>N</a:t>
                      </a:r>
                      <a:endParaRPr kumimoji="0" lang="zh-CN" sz="2400" b="1" i="0" u="none" strike="noStrike" cap="none" normalizeH="0" baseline="0">
                        <a:ln>
                          <a:noFill/>
                        </a:ln>
                        <a:solidFill>
                          <a:srgbClr val="FFFFFF"/>
                        </a:solidFill>
                        <a:effectLst/>
                        <a:latin typeface="Calibri" charset="0"/>
                        <a:ea typeface="宋体" charset="0"/>
                        <a:cs typeface="Times New Roman" charset="0"/>
                      </a:endParaRPr>
                    </a:p>
                  </a:txBody>
                  <a:tcPr marL="19050" marR="19050" marT="19050" marB="1905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Arial" charset="0"/>
                          <a:ea typeface="宋体" charset="0"/>
                          <a:cs typeface="Times New Roman" charset="0"/>
                        </a:rPr>
                        <a:t>Mean</a:t>
                      </a:r>
                      <a:endParaRPr kumimoji="0" lang="zh-CN" sz="2400" b="1" i="0" u="none" strike="noStrike" cap="none" normalizeH="0" baseline="0">
                        <a:ln>
                          <a:noFill/>
                        </a:ln>
                        <a:solidFill>
                          <a:srgbClr val="FFFFFF"/>
                        </a:solidFill>
                        <a:effectLst/>
                        <a:latin typeface="Calibri" charset="0"/>
                        <a:ea typeface="宋体" charset="0"/>
                        <a:cs typeface="Times New Roman" charset="0"/>
                      </a:endParaRPr>
                    </a:p>
                  </a:txBody>
                  <a:tcPr marL="19050" marR="19050" marT="19050" marB="1905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2400" b="1" i="0" u="none" strike="noStrike" cap="none" normalizeH="0" baseline="0">
                          <a:ln>
                            <a:noFill/>
                          </a:ln>
                          <a:solidFill>
                            <a:srgbClr val="000000"/>
                          </a:solidFill>
                          <a:effectLst/>
                          <a:latin typeface="Arial" charset="0"/>
                          <a:ea typeface="宋体" charset="0"/>
                          <a:cs typeface="Times New Roman" charset="0"/>
                        </a:rPr>
                        <a:t>Std. Deviation</a:t>
                      </a:r>
                      <a:endParaRPr kumimoji="0" lang="zh-CN" sz="2400" b="1" i="0" u="none" strike="noStrike" cap="none" normalizeH="0" baseline="0">
                        <a:ln>
                          <a:noFill/>
                        </a:ln>
                        <a:solidFill>
                          <a:srgbClr val="FFFFFF"/>
                        </a:solidFill>
                        <a:effectLst/>
                        <a:latin typeface="Calibri" charset="0"/>
                        <a:ea typeface="宋体" charset="0"/>
                        <a:cs typeface="Times New Roman" charset="0"/>
                      </a:endParaRPr>
                    </a:p>
                  </a:txBody>
                  <a:tcPr marL="19050" marR="19050" marT="19050" marB="1905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885825">
                <a:tc rowSpan="2">
                  <a:txBody>
                    <a:bodyPr/>
                    <a:lstStyle/>
                    <a:p>
                      <a:pPr marL="0" marR="0" lvl="0" indent="0" algn="l" defTabSz="914400" rtl="0" eaLnBrk="1" fontAlgn="base" latinLnBrk="0" hangingPunct="1">
                        <a:lnSpc>
                          <a:spcPts val="1600"/>
                        </a:lnSpc>
                        <a:spcBef>
                          <a:spcPct val="0"/>
                        </a:spcBef>
                        <a:spcAft>
                          <a:spcPct val="0"/>
                        </a:spcAft>
                        <a:buClrTx/>
                        <a:buSzTx/>
                        <a:buFontTx/>
                        <a:buNone/>
                        <a:tabLst/>
                      </a:pPr>
                      <a:endParaRPr kumimoji="0" lang="en-US" altLang="zh-CN" sz="2400" b="0" i="0" u="none" strike="noStrike" cap="none" normalizeH="0" baseline="0">
                        <a:ln>
                          <a:noFill/>
                        </a:ln>
                        <a:solidFill>
                          <a:srgbClr val="000000"/>
                        </a:solidFill>
                        <a:effectLst/>
                        <a:latin typeface="Arial" charset="0"/>
                        <a:ea typeface="宋体" charset="0"/>
                        <a:cs typeface="Arial" charset="0"/>
                      </a:endParaRPr>
                    </a:p>
                    <a:p>
                      <a:pPr marL="0" marR="0" lvl="0" indent="0" algn="l" defTabSz="914400" rtl="0" eaLnBrk="1" fontAlgn="base" latinLnBrk="0" hangingPunct="1">
                        <a:lnSpc>
                          <a:spcPts val="1600"/>
                        </a:lnSpc>
                        <a:spcBef>
                          <a:spcPct val="0"/>
                        </a:spcBef>
                        <a:spcAft>
                          <a:spcPct val="0"/>
                        </a:spcAft>
                        <a:buClrTx/>
                        <a:buSzTx/>
                        <a:buFontTx/>
                        <a:buNone/>
                        <a:tabLst/>
                      </a:pPr>
                      <a:endParaRPr kumimoji="0" lang="en-US" altLang="zh-CN" sz="2400" b="0" i="0" u="none" strike="noStrike" cap="none" normalizeH="0" baseline="0">
                        <a:ln>
                          <a:noFill/>
                        </a:ln>
                        <a:solidFill>
                          <a:srgbClr val="000000"/>
                        </a:solidFill>
                        <a:effectLst/>
                        <a:latin typeface="Arial" charset="0"/>
                        <a:ea typeface="宋体" charset="0"/>
                        <a:cs typeface="Arial" charset="0"/>
                      </a:endParaRPr>
                    </a:p>
                    <a:p>
                      <a:pPr marL="0" marR="0" lvl="0" indent="0" algn="ctr" defTabSz="914400" rtl="0" eaLnBrk="1" fontAlgn="base" latinLnBrk="0" hangingPunct="1">
                        <a:lnSpc>
                          <a:spcPts val="1600"/>
                        </a:lnSpc>
                        <a:spcBef>
                          <a:spcPct val="0"/>
                        </a:spcBef>
                        <a:spcAft>
                          <a:spcPct val="0"/>
                        </a:spcAft>
                        <a:buClrTx/>
                        <a:buSzTx/>
                        <a:buFontTx/>
                        <a:buNone/>
                        <a:tabLst/>
                      </a:pPr>
                      <a:r>
                        <a:rPr kumimoji="0" lang="zh-CN" sz="2400" b="1" i="0" u="none" strike="noStrike" cap="none" normalizeH="0" baseline="0">
                          <a:ln>
                            <a:noFill/>
                          </a:ln>
                          <a:solidFill>
                            <a:srgbClr val="000000"/>
                          </a:solidFill>
                          <a:effectLst/>
                          <a:latin typeface="Arial" charset="0"/>
                          <a:ea typeface="宋体" charset="0"/>
                          <a:cs typeface="Arial" charset="0"/>
                        </a:rPr>
                        <a:t>人口</a:t>
                      </a:r>
                      <a:endParaRPr kumimoji="0" lang="en-US" altLang="zh-CN" sz="2400" b="1" i="0" u="none" strike="noStrike" cap="none" normalizeH="0" baseline="0">
                        <a:ln>
                          <a:noFill/>
                        </a:ln>
                        <a:solidFill>
                          <a:srgbClr val="000000"/>
                        </a:solidFill>
                        <a:effectLst/>
                        <a:latin typeface="Arial" charset="0"/>
                        <a:ea typeface="宋体" charset="0"/>
                        <a:cs typeface="Arial" charset="0"/>
                      </a:endParaRPr>
                    </a:p>
                    <a:p>
                      <a:pPr marL="0" marR="0" lvl="0" indent="0" algn="ctr" defTabSz="914400" rtl="0" eaLnBrk="1" fontAlgn="base" latinLnBrk="0" hangingPunct="1">
                        <a:lnSpc>
                          <a:spcPts val="1600"/>
                        </a:lnSpc>
                        <a:spcBef>
                          <a:spcPct val="0"/>
                        </a:spcBef>
                        <a:spcAft>
                          <a:spcPct val="0"/>
                        </a:spcAft>
                        <a:buClrTx/>
                        <a:buSzTx/>
                        <a:buFontTx/>
                        <a:buNone/>
                        <a:tabLst/>
                      </a:pPr>
                      <a:endParaRPr kumimoji="0" lang="en-US" altLang="zh-CN" sz="2400" b="1" i="0" u="none" strike="noStrike" cap="none" normalizeH="0" baseline="0">
                        <a:ln>
                          <a:noFill/>
                        </a:ln>
                        <a:solidFill>
                          <a:srgbClr val="000000"/>
                        </a:solidFill>
                        <a:effectLst/>
                        <a:latin typeface="Arial" charset="0"/>
                        <a:ea typeface="宋体" charset="0"/>
                        <a:cs typeface="Arial" charset="0"/>
                      </a:endParaRPr>
                    </a:p>
                    <a:p>
                      <a:pPr marL="0" marR="0" lvl="0" indent="0" algn="ctr" defTabSz="914400" rtl="0" eaLnBrk="1" fontAlgn="base" latinLnBrk="0" hangingPunct="1">
                        <a:lnSpc>
                          <a:spcPts val="1600"/>
                        </a:lnSpc>
                        <a:spcBef>
                          <a:spcPct val="0"/>
                        </a:spcBef>
                        <a:spcAft>
                          <a:spcPct val="0"/>
                        </a:spcAft>
                        <a:buClrTx/>
                        <a:buSzTx/>
                        <a:buFontTx/>
                        <a:buNone/>
                        <a:tabLst/>
                      </a:pPr>
                      <a:r>
                        <a:rPr kumimoji="0" lang="zh-CN" sz="2400" b="1" i="0" u="none" strike="noStrike" cap="none" normalizeH="0" baseline="0">
                          <a:ln>
                            <a:noFill/>
                          </a:ln>
                          <a:solidFill>
                            <a:srgbClr val="000000"/>
                          </a:solidFill>
                          <a:effectLst/>
                          <a:latin typeface="Arial" charset="0"/>
                          <a:ea typeface="宋体" charset="0"/>
                          <a:cs typeface="Arial" charset="0"/>
                        </a:rPr>
                        <a:t>总数</a:t>
                      </a:r>
                      <a:endParaRPr kumimoji="0" lang="zh-CN" sz="2400" b="1"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endParaRPr kumimoji="0" lang="en-US" altLang="zh-CN" sz="2400" b="0" i="0" u="none" strike="noStrike" cap="none" normalizeH="0" baseline="0">
                        <a:ln>
                          <a:noFill/>
                        </a:ln>
                        <a:solidFill>
                          <a:srgbClr val="000000"/>
                        </a:solidFill>
                        <a:effectLst/>
                        <a:latin typeface="Arial" charset="0"/>
                        <a:ea typeface="宋体" charset="0"/>
                        <a:cs typeface="Times New Roman" charset="0"/>
                      </a:endParaRPr>
                    </a:p>
                    <a:p>
                      <a:pPr marL="0" marR="0" lvl="0" indent="0" algn="ctr" defTabSz="914400" rtl="0" eaLnBrk="1" fontAlgn="base" latinLnBrk="0" hangingPunct="1">
                        <a:lnSpc>
                          <a:spcPts val="1600"/>
                        </a:lnSpc>
                        <a:spcBef>
                          <a:spcPct val="0"/>
                        </a:spcBef>
                        <a:spcAft>
                          <a:spcPct val="0"/>
                        </a:spcAft>
                        <a:buClrTx/>
                        <a:buSzTx/>
                        <a:buFontTx/>
                        <a:buNone/>
                        <a:tabLst/>
                      </a:pPr>
                      <a:endParaRPr kumimoji="0" lang="en-US" altLang="zh-CN" sz="2400" b="0" i="0" u="none" strike="noStrike" cap="none" normalizeH="0" baseline="0">
                        <a:ln>
                          <a:noFill/>
                        </a:ln>
                        <a:solidFill>
                          <a:srgbClr val="000000"/>
                        </a:solidFill>
                        <a:effectLst/>
                        <a:latin typeface="Arial" charset="0"/>
                        <a:ea typeface="宋体" charset="0"/>
                        <a:cs typeface="Times New Roman" charset="0"/>
                      </a:endParaRPr>
                    </a:p>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Arial" charset="0"/>
                          <a:ea typeface="宋体" charset="0"/>
                          <a:cs typeface="Times New Roman" charset="0"/>
                        </a:rPr>
                        <a:t>1</a:t>
                      </a:r>
                      <a:endParaRPr kumimoji="0" lang="zh-CN" sz="24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Arial" charset="0"/>
                          <a:ea typeface="宋体" charset="0"/>
                          <a:cs typeface="Times New Roman" charset="0"/>
                        </a:rPr>
                        <a:t>20</a:t>
                      </a:r>
                      <a:endParaRPr kumimoji="0" lang="zh-CN" sz="24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2800" b="1" i="0" u="none" strike="noStrike" cap="none" normalizeH="0" baseline="0">
                          <a:ln>
                            <a:noFill/>
                          </a:ln>
                          <a:solidFill>
                            <a:srgbClr val="080808"/>
                          </a:solidFill>
                          <a:effectLst/>
                          <a:latin typeface="Arial" charset="0"/>
                          <a:ea typeface="宋体" charset="0"/>
                          <a:cs typeface="宋体" charset="0"/>
                        </a:rPr>
                        <a:t>178498150</a:t>
                      </a:r>
                      <a:r>
                        <a:rPr kumimoji="0" lang="zh-CN" sz="2800" b="1" i="0" u="none" strike="noStrike" cap="none" normalizeH="0" baseline="0">
                          <a:ln>
                            <a:noFill/>
                          </a:ln>
                          <a:solidFill>
                            <a:srgbClr val="080808"/>
                          </a:solidFill>
                          <a:effectLst/>
                          <a:latin typeface="Arial" charset="0"/>
                          <a:ea typeface="宋体" charset="0"/>
                          <a:cs typeface="宋体" charset="0"/>
                        </a:rPr>
                        <a:t>人</a:t>
                      </a:r>
                      <a:endParaRPr kumimoji="0" lang="zh-CN" sz="2800" b="1"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Arial" charset="0"/>
                          <a:ea typeface="宋体" charset="0"/>
                          <a:cs typeface="Times New Roman" charset="0"/>
                        </a:rPr>
                        <a:t>3.73307E8</a:t>
                      </a:r>
                      <a:endParaRPr kumimoji="0" lang="zh-CN" sz="24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r>
              <a:tr h="885825">
                <a:tc vMerge="1">
                  <a:txBody>
                    <a:bodyPr/>
                    <a:lstStyle/>
                    <a:p>
                      <a:endParaRPr lang="zh-CN" altLang="en-US"/>
                    </a:p>
                  </a:txBody>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endParaRPr kumimoji="0" lang="en-US" altLang="zh-CN" sz="2400" b="0" i="0" u="none" strike="noStrike" cap="none" normalizeH="0" baseline="0">
                        <a:ln>
                          <a:noFill/>
                        </a:ln>
                        <a:solidFill>
                          <a:srgbClr val="000000"/>
                        </a:solidFill>
                        <a:effectLst/>
                        <a:latin typeface="Arial" charset="0"/>
                        <a:ea typeface="宋体" charset="0"/>
                        <a:cs typeface="Times New Roman" charset="0"/>
                      </a:endParaRPr>
                    </a:p>
                    <a:p>
                      <a:pPr marL="0" marR="0" lvl="0" indent="0" algn="ctr" defTabSz="914400" rtl="0" eaLnBrk="1" fontAlgn="base" latinLnBrk="0" hangingPunct="1">
                        <a:lnSpc>
                          <a:spcPts val="1600"/>
                        </a:lnSpc>
                        <a:spcBef>
                          <a:spcPct val="0"/>
                        </a:spcBef>
                        <a:spcAft>
                          <a:spcPct val="0"/>
                        </a:spcAft>
                        <a:buClrTx/>
                        <a:buSzTx/>
                        <a:buFontTx/>
                        <a:buNone/>
                        <a:tabLst/>
                      </a:pPr>
                      <a:endParaRPr kumimoji="0" lang="en-US" altLang="zh-CN" sz="2400" b="0" i="0" u="none" strike="noStrike" cap="none" normalizeH="0" baseline="0">
                        <a:ln>
                          <a:noFill/>
                        </a:ln>
                        <a:solidFill>
                          <a:srgbClr val="000000"/>
                        </a:solidFill>
                        <a:effectLst/>
                        <a:latin typeface="Arial" charset="0"/>
                        <a:ea typeface="宋体" charset="0"/>
                        <a:cs typeface="Times New Roman" charset="0"/>
                      </a:endParaRPr>
                    </a:p>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Arial" charset="0"/>
                          <a:ea typeface="宋体" charset="0"/>
                          <a:cs typeface="Times New Roman" charset="0"/>
                        </a:rPr>
                        <a:t>0</a:t>
                      </a:r>
                      <a:endParaRPr kumimoji="0" lang="zh-CN" sz="24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Arial" charset="0"/>
                          <a:ea typeface="宋体" charset="0"/>
                          <a:cs typeface="Times New Roman" charset="0"/>
                        </a:rPr>
                        <a:t>29</a:t>
                      </a:r>
                      <a:endParaRPr kumimoji="0" lang="zh-CN" sz="24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2800" b="1" i="0" u="none" strike="noStrike" cap="none" normalizeH="0" baseline="0">
                          <a:ln>
                            <a:noFill/>
                          </a:ln>
                          <a:solidFill>
                            <a:srgbClr val="080808"/>
                          </a:solidFill>
                          <a:effectLst/>
                          <a:latin typeface="Arial" charset="0"/>
                          <a:ea typeface="宋体" charset="0"/>
                          <a:cs typeface="宋体" charset="0"/>
                        </a:rPr>
                        <a:t>26620150</a:t>
                      </a:r>
                      <a:r>
                        <a:rPr kumimoji="0" lang="zh-CN" sz="2800" b="1" i="0" u="none" strike="noStrike" cap="none" normalizeH="0" baseline="0">
                          <a:ln>
                            <a:noFill/>
                          </a:ln>
                          <a:solidFill>
                            <a:srgbClr val="080808"/>
                          </a:solidFill>
                          <a:effectLst/>
                          <a:latin typeface="Arial" charset="0"/>
                          <a:ea typeface="宋体" charset="0"/>
                          <a:cs typeface="宋体" charset="0"/>
                        </a:rPr>
                        <a:t>人</a:t>
                      </a: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2400" b="0" i="0" u="none" strike="noStrike" cap="none" normalizeH="0" baseline="0">
                          <a:ln>
                            <a:noFill/>
                          </a:ln>
                          <a:solidFill>
                            <a:srgbClr val="000000"/>
                          </a:solidFill>
                          <a:effectLst/>
                          <a:latin typeface="Arial" charset="0"/>
                          <a:ea typeface="宋体" charset="0"/>
                          <a:cs typeface="Times New Roman" charset="0"/>
                        </a:rPr>
                        <a:t>3.96188E7</a:t>
                      </a:r>
                      <a:endParaRPr kumimoji="0" lang="zh-CN" sz="24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r>
            </a:tbl>
          </a:graphicData>
        </a:graphic>
      </p:graphicFrame>
    </p:spTree>
    <p:extLst>
      <p:ext uri="{BB962C8B-B14F-4D97-AF65-F5344CB8AC3E}">
        <p14:creationId xmlns:p14="http://schemas.microsoft.com/office/powerpoint/2010/main" val="611580521"/>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en-US" altLang="zh-CN" sz="4800" dirty="0" smtClean="0">
                <a:latin typeface="Arial" charset="0"/>
                <a:cs typeface="宋体" charset="0"/>
              </a:rPr>
              <a:t>    </a:t>
            </a:r>
            <a:r>
              <a:rPr lang="zh-CN" altLang="en-US" sz="4800" dirty="0" smtClean="0">
                <a:latin typeface="Arial" charset="0"/>
                <a:cs typeface="宋体" charset="0"/>
              </a:rPr>
              <a:t>而且：</a:t>
            </a:r>
            <a:endParaRPr lang="zh-CN" altLang="en-US" sz="4800" dirty="0">
              <a:latin typeface="Arial" charset="0"/>
              <a:cs typeface="宋体" charset="0"/>
            </a:endParaRPr>
          </a:p>
        </p:txBody>
      </p:sp>
      <p:sp>
        <p:nvSpPr>
          <p:cNvPr id="3" name="内容占位符 2"/>
          <p:cNvSpPr>
            <a:spLocks noGrp="1"/>
          </p:cNvSpPr>
          <p:nvPr>
            <p:ph idx="1"/>
          </p:nvPr>
        </p:nvSpPr>
        <p:spPr/>
        <p:txBody>
          <a:bodyPr/>
          <a:lstStyle/>
          <a:p>
            <a:r>
              <a:rPr lang="zh-CN" sz="3200" dirty="0">
                <a:latin typeface="宋体"/>
                <a:ea typeface="宋体"/>
                <a:cs typeface="宋体"/>
              </a:rPr>
              <a:t>死刑国家的人口总数与刑法中死罪个数之间的皮尔逊相关系数为</a:t>
            </a:r>
            <a:r>
              <a:rPr lang="en-US" altLang="zh-CN" sz="3200" b="1" dirty="0">
                <a:solidFill>
                  <a:srgbClr val="FF0000"/>
                </a:solidFill>
                <a:latin typeface="宋体"/>
                <a:ea typeface="宋体"/>
                <a:cs typeface="宋体"/>
              </a:rPr>
              <a:t>0.46</a:t>
            </a:r>
            <a:r>
              <a:rPr lang="zh-CN" sz="3200" b="1" dirty="0">
                <a:solidFill>
                  <a:srgbClr val="FF0000"/>
                </a:solidFill>
                <a:latin typeface="宋体"/>
                <a:ea typeface="宋体"/>
                <a:cs typeface="宋体"/>
              </a:rPr>
              <a:t>，</a:t>
            </a:r>
            <a:r>
              <a:rPr lang="en-US" altLang="zh-CN" sz="3200" b="1" dirty="0">
                <a:latin typeface="宋体"/>
                <a:ea typeface="宋体"/>
                <a:cs typeface="宋体"/>
              </a:rPr>
              <a:t>P</a:t>
            </a:r>
            <a:r>
              <a:rPr lang="zh-CN" sz="3200" b="1" dirty="0">
                <a:latin typeface="宋体"/>
                <a:ea typeface="宋体"/>
                <a:cs typeface="宋体"/>
              </a:rPr>
              <a:t>值</a:t>
            </a:r>
            <a:r>
              <a:rPr lang="en-US" altLang="zh-CN" sz="3200" b="1" dirty="0">
                <a:latin typeface="宋体"/>
                <a:ea typeface="宋体"/>
                <a:cs typeface="宋体"/>
              </a:rPr>
              <a:t>=0.04</a:t>
            </a:r>
            <a:r>
              <a:rPr lang="zh-CN" altLang="en-US" sz="3200" b="1" dirty="0">
                <a:latin typeface="宋体"/>
                <a:ea typeface="宋体"/>
                <a:cs typeface="宋体"/>
              </a:rPr>
              <a:t>。</a:t>
            </a:r>
            <a:endParaRPr lang="en-US" altLang="zh-CN" sz="3200" b="1" dirty="0">
              <a:latin typeface="宋体"/>
              <a:ea typeface="宋体"/>
              <a:cs typeface="宋体"/>
            </a:endParaRPr>
          </a:p>
          <a:p>
            <a:r>
              <a:rPr lang="zh-CN" sz="3200" dirty="0">
                <a:latin typeface="宋体"/>
                <a:ea typeface="宋体"/>
                <a:cs typeface="宋体"/>
              </a:rPr>
              <a:t>说明人口总数的多少不仅与死刑的有无有关，还与死刑数的多少呈显著正相关</a:t>
            </a:r>
            <a:endParaRPr lang="en-US" altLang="zh-CN" sz="3200" dirty="0">
              <a:latin typeface="宋体"/>
              <a:ea typeface="宋体"/>
              <a:cs typeface="宋体"/>
            </a:endParaRPr>
          </a:p>
          <a:p>
            <a:r>
              <a:rPr lang="zh-CN" sz="3200" dirty="0">
                <a:latin typeface="宋体"/>
                <a:ea typeface="宋体"/>
                <a:cs typeface="宋体"/>
              </a:rPr>
              <a:t>人口越多不仅越可能有死刑，死罪的数量还越多。 </a:t>
            </a:r>
            <a:endParaRPr lang="en-US" altLang="zh-CN" sz="3200" dirty="0">
              <a:latin typeface="宋体"/>
              <a:ea typeface="宋体"/>
              <a:cs typeface="宋体"/>
            </a:endParaRPr>
          </a:p>
          <a:p>
            <a:r>
              <a:rPr lang="zh-CN" sz="3200" dirty="0" smtClean="0">
                <a:latin typeface="宋体"/>
                <a:ea typeface="宋体"/>
                <a:cs typeface="宋体"/>
              </a:rPr>
              <a:t>证实了</a:t>
            </a:r>
            <a:r>
              <a:rPr lang="zh-CN" altLang="en-US" sz="3200" dirty="0" smtClean="0">
                <a:latin typeface="宋体"/>
                <a:ea typeface="宋体"/>
                <a:cs typeface="宋体"/>
              </a:rPr>
              <a:t>储槐植教授</a:t>
            </a:r>
            <a:r>
              <a:rPr lang="zh-CN" sz="3200" dirty="0" smtClean="0">
                <a:latin typeface="宋体"/>
                <a:ea typeface="宋体"/>
                <a:cs typeface="宋体"/>
              </a:rPr>
              <a:t>关于死刑与人口关</a:t>
            </a:r>
            <a:r>
              <a:rPr lang="zh-CN" sz="3200" dirty="0">
                <a:latin typeface="宋体"/>
                <a:ea typeface="宋体"/>
                <a:cs typeface="宋体"/>
              </a:rPr>
              <a:t>系的判断</a:t>
            </a:r>
            <a:r>
              <a:rPr lang="zh-CN" sz="3200" dirty="0" smtClean="0">
                <a:latin typeface="宋体"/>
                <a:ea typeface="宋体"/>
                <a:cs typeface="宋体"/>
              </a:rPr>
              <a:t>。</a:t>
            </a:r>
            <a:endParaRPr lang="zh-CN" sz="3200" dirty="0">
              <a:latin typeface="宋体"/>
              <a:ea typeface="宋体"/>
              <a:cs typeface="宋体"/>
            </a:endParaRPr>
          </a:p>
        </p:txBody>
      </p:sp>
    </p:spTree>
    <p:extLst>
      <p:ext uri="{BB962C8B-B14F-4D97-AF65-F5344CB8AC3E}">
        <p14:creationId xmlns:p14="http://schemas.microsoft.com/office/powerpoint/2010/main" val="1935141413"/>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3"/>
          <p:cNvSpPr>
            <a:spLocks noGrp="1"/>
          </p:cNvSpPr>
          <p:nvPr>
            <p:ph type="title"/>
          </p:nvPr>
        </p:nvSpPr>
        <p:spPr/>
        <p:txBody>
          <a:bodyPr/>
          <a:lstStyle/>
          <a:p>
            <a:pPr algn="ctr"/>
            <a:r>
              <a:rPr lang="zh-CN" altLang="en-US" sz="4400" dirty="0">
                <a:latin typeface="Arial" charset="0"/>
                <a:cs typeface="宋体" charset="0"/>
              </a:rPr>
              <a:t>人口因素（续）</a:t>
            </a:r>
          </a:p>
        </p:txBody>
      </p:sp>
      <p:sp>
        <p:nvSpPr>
          <p:cNvPr id="5" name="内容占位符 4"/>
          <p:cNvSpPr>
            <a:spLocks noGrp="1"/>
          </p:cNvSpPr>
          <p:nvPr>
            <p:ph sz="half" idx="1"/>
          </p:nvPr>
        </p:nvSpPr>
        <p:spPr/>
        <p:txBody>
          <a:bodyPr/>
          <a:lstStyle/>
          <a:p>
            <a:r>
              <a:rPr lang="zh-CN" sz="3200" b="1" dirty="0">
                <a:latin typeface="宋体"/>
                <a:ea typeface="宋体"/>
                <a:cs typeface="宋体"/>
              </a:rPr>
              <a:t>死刑国家的人口密度为每平方公里</a:t>
            </a:r>
            <a:r>
              <a:rPr lang="en-US" altLang="zh-CN" sz="3200" b="1" dirty="0">
                <a:latin typeface="宋体"/>
                <a:ea typeface="宋体"/>
                <a:cs typeface="宋体"/>
              </a:rPr>
              <a:t>491</a:t>
            </a:r>
            <a:r>
              <a:rPr lang="zh-CN" sz="3200" b="1" dirty="0">
                <a:latin typeface="宋体"/>
                <a:ea typeface="宋体"/>
                <a:cs typeface="宋体"/>
              </a:rPr>
              <a:t>人，而非死刑国家的人口密度仅为每平方公里</a:t>
            </a:r>
            <a:r>
              <a:rPr lang="en-US" altLang="zh-CN" sz="3200" b="1" dirty="0">
                <a:latin typeface="宋体"/>
                <a:ea typeface="宋体"/>
                <a:cs typeface="宋体"/>
              </a:rPr>
              <a:t>150</a:t>
            </a:r>
            <a:r>
              <a:rPr lang="zh-CN" sz="3200" b="1" dirty="0">
                <a:latin typeface="宋体"/>
                <a:ea typeface="宋体"/>
                <a:cs typeface="宋体"/>
              </a:rPr>
              <a:t>人</a:t>
            </a:r>
            <a:r>
              <a:rPr lang="zh-CN" sz="3200" b="1" dirty="0" smtClean="0">
                <a:latin typeface="宋体"/>
                <a:ea typeface="宋体"/>
                <a:cs typeface="宋体"/>
              </a:rPr>
              <a:t>。</a:t>
            </a:r>
            <a:endParaRPr lang="en-US" altLang="zh-CN" sz="3200" b="1" dirty="0">
              <a:latin typeface="宋体"/>
              <a:ea typeface="宋体"/>
              <a:cs typeface="宋体"/>
            </a:endParaRPr>
          </a:p>
          <a:p>
            <a:r>
              <a:rPr lang="zh-CN" sz="3200" b="1" dirty="0" smtClean="0">
                <a:latin typeface="宋体"/>
                <a:ea typeface="宋体"/>
                <a:cs typeface="宋体"/>
              </a:rPr>
              <a:t>死刑国家的人口密度较大</a:t>
            </a:r>
            <a:r>
              <a:rPr lang="zh-CN" altLang="en-US" sz="3200" b="1" dirty="0" smtClean="0">
                <a:latin typeface="宋体"/>
                <a:ea typeface="宋体"/>
                <a:cs typeface="宋体"/>
              </a:rPr>
              <a:t>。</a:t>
            </a:r>
            <a:endParaRPr lang="zh-CN" altLang="en-US" sz="3200" b="1" dirty="0">
              <a:latin typeface="宋体"/>
              <a:ea typeface="宋体"/>
              <a:cs typeface="宋体"/>
            </a:endParaRPr>
          </a:p>
        </p:txBody>
      </p:sp>
      <p:sp>
        <p:nvSpPr>
          <p:cNvPr id="6" name="内容占位符 5"/>
          <p:cNvSpPr>
            <a:spLocks noGrp="1"/>
          </p:cNvSpPr>
          <p:nvPr>
            <p:ph sz="half" idx="2"/>
          </p:nvPr>
        </p:nvSpPr>
        <p:spPr/>
        <p:txBody>
          <a:bodyPr/>
          <a:lstStyle/>
          <a:p>
            <a:r>
              <a:rPr lang="zh-CN" b="1" dirty="0">
                <a:latin typeface="宋体"/>
                <a:ea typeface="宋体"/>
                <a:cs typeface="宋体"/>
              </a:rPr>
              <a:t>在</a:t>
            </a:r>
            <a:r>
              <a:rPr lang="en-US" altLang="zh-CN" b="1" dirty="0">
                <a:latin typeface="宋体"/>
                <a:ea typeface="宋体"/>
                <a:cs typeface="宋体"/>
              </a:rPr>
              <a:t>29</a:t>
            </a:r>
            <a:r>
              <a:rPr lang="zh-CN" b="1" dirty="0">
                <a:latin typeface="宋体"/>
                <a:ea typeface="宋体"/>
                <a:cs typeface="宋体"/>
              </a:rPr>
              <a:t>个城市人口多于农村人口的国家中，有</a:t>
            </a:r>
            <a:r>
              <a:rPr lang="en-US" altLang="zh-CN" b="1" dirty="0">
                <a:latin typeface="宋体"/>
                <a:ea typeface="宋体"/>
                <a:cs typeface="宋体"/>
              </a:rPr>
              <a:t>8</a:t>
            </a:r>
            <a:r>
              <a:rPr lang="zh-CN" b="1" dirty="0">
                <a:latin typeface="宋体"/>
                <a:ea typeface="宋体"/>
                <a:cs typeface="宋体"/>
              </a:rPr>
              <a:t>个国家</a:t>
            </a:r>
            <a:r>
              <a:rPr lang="zh-CN" altLang="en-US" b="1" dirty="0">
                <a:latin typeface="宋体"/>
                <a:ea typeface="宋体"/>
                <a:cs typeface="宋体"/>
              </a:rPr>
              <a:t>有</a:t>
            </a:r>
            <a:r>
              <a:rPr lang="zh-CN" b="1" dirty="0">
                <a:latin typeface="宋体"/>
                <a:ea typeface="宋体"/>
                <a:cs typeface="宋体"/>
              </a:rPr>
              <a:t>死刑。</a:t>
            </a:r>
            <a:endParaRPr lang="en-US" altLang="zh-CN" b="1" dirty="0">
              <a:latin typeface="宋体"/>
              <a:ea typeface="宋体"/>
              <a:cs typeface="宋体"/>
            </a:endParaRPr>
          </a:p>
          <a:p>
            <a:r>
              <a:rPr lang="zh-CN" b="1" dirty="0">
                <a:latin typeface="宋体"/>
                <a:ea typeface="宋体"/>
                <a:cs typeface="宋体"/>
              </a:rPr>
              <a:t>而在</a:t>
            </a:r>
            <a:r>
              <a:rPr lang="en-US" altLang="zh-CN" b="1" dirty="0">
                <a:latin typeface="宋体"/>
                <a:ea typeface="宋体"/>
                <a:cs typeface="宋体"/>
              </a:rPr>
              <a:t>7</a:t>
            </a:r>
            <a:r>
              <a:rPr lang="zh-CN" b="1" dirty="0">
                <a:latin typeface="宋体"/>
                <a:ea typeface="宋体"/>
                <a:cs typeface="宋体"/>
              </a:rPr>
              <a:t>个农村人口多于城市人口的国家中，就有</a:t>
            </a:r>
            <a:r>
              <a:rPr lang="en-US" altLang="zh-CN" b="1" dirty="0">
                <a:latin typeface="宋体"/>
                <a:ea typeface="宋体"/>
                <a:cs typeface="宋体"/>
              </a:rPr>
              <a:t>4</a:t>
            </a:r>
            <a:r>
              <a:rPr lang="zh-CN" b="1" dirty="0">
                <a:latin typeface="宋体"/>
                <a:ea typeface="宋体"/>
                <a:cs typeface="宋体"/>
              </a:rPr>
              <a:t>个国家</a:t>
            </a:r>
            <a:r>
              <a:rPr lang="zh-CN" altLang="en-US" b="1" dirty="0">
                <a:latin typeface="宋体"/>
                <a:ea typeface="宋体"/>
                <a:cs typeface="宋体"/>
              </a:rPr>
              <a:t>有</a:t>
            </a:r>
            <a:r>
              <a:rPr lang="zh-CN" b="1" dirty="0">
                <a:latin typeface="宋体"/>
                <a:ea typeface="宋体"/>
                <a:cs typeface="宋体"/>
              </a:rPr>
              <a:t>死刑。</a:t>
            </a:r>
            <a:endParaRPr lang="en-US" altLang="zh-CN" b="1" dirty="0">
              <a:latin typeface="宋体"/>
              <a:ea typeface="宋体"/>
              <a:cs typeface="宋体"/>
            </a:endParaRPr>
          </a:p>
          <a:p>
            <a:r>
              <a:rPr lang="zh-CN" b="1" dirty="0">
                <a:latin typeface="宋体"/>
                <a:ea typeface="宋体"/>
                <a:cs typeface="宋体"/>
              </a:rPr>
              <a:t>死刑现象还有可能与一个国家的城市化进程有关。</a:t>
            </a:r>
            <a:endParaRPr lang="zh-CN" altLang="en-US" b="1" dirty="0">
              <a:latin typeface="宋体"/>
              <a:ea typeface="宋体"/>
              <a:cs typeface="宋体"/>
            </a:endParaRPr>
          </a:p>
        </p:txBody>
      </p:sp>
    </p:spTree>
    <p:extLst>
      <p:ext uri="{BB962C8B-B14F-4D97-AF65-F5344CB8AC3E}">
        <p14:creationId xmlns:p14="http://schemas.microsoft.com/office/powerpoint/2010/main" val="3656904187"/>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blinds(horizontal)">
                                      <p:cBhvr>
                                        <p:cTn id="17" dur="500"/>
                                        <p:tgtEl>
                                          <p:spTgt spid="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blinds(horizontal)">
                                      <p:cBhvr>
                                        <p:cTn id="22" dur="500"/>
                                        <p:tgtEl>
                                          <p:spTgt spid="6">
                                            <p:txEl>
                                              <p:pRg st="1" end="1"/>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blinds(horizontal)">
                                      <p:cBhvr>
                                        <p:cTn id="2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a:xfrm>
            <a:off x="457200" y="228600"/>
            <a:ext cx="8229600" cy="1981200"/>
          </a:xfrm>
        </p:spPr>
        <p:txBody>
          <a:bodyPr/>
          <a:lstStyle/>
          <a:p>
            <a:pPr algn="l"/>
            <a:r>
              <a:rPr lang="zh-CN" altLang="en-US" sz="4000" i="0" dirty="0">
                <a:latin typeface="Arial" charset="0"/>
                <a:cs typeface="宋体" charset="0"/>
              </a:rPr>
              <a:t>民族因素：</a:t>
            </a:r>
            <a:r>
              <a:rPr lang="en-US" altLang="zh-CN" sz="4000" i="0" dirty="0">
                <a:latin typeface="Arial" charset="0"/>
                <a:cs typeface="宋体" charset="0"/>
              </a:rPr>
              <a:t/>
            </a:r>
            <a:br>
              <a:rPr lang="en-US" altLang="zh-CN" sz="4000" i="0" dirty="0">
                <a:latin typeface="Arial" charset="0"/>
                <a:cs typeface="宋体" charset="0"/>
              </a:rPr>
            </a:br>
            <a:r>
              <a:rPr lang="en-US" altLang="zh-CN" sz="3200" i="0" dirty="0" smtClean="0">
                <a:latin typeface="Arial" charset="0"/>
                <a:cs typeface="宋体" charset="0"/>
              </a:rPr>
              <a:t>—</a:t>
            </a:r>
            <a:r>
              <a:rPr lang="en-US" altLang="zh-CN" sz="3200" i="0" dirty="0">
                <a:latin typeface="Arial" charset="0"/>
                <a:cs typeface="宋体" charset="0"/>
              </a:rPr>
              <a:t>—</a:t>
            </a:r>
            <a:r>
              <a:rPr lang="zh-CN" sz="3200" i="0" dirty="0">
                <a:latin typeface="Arial" charset="0"/>
                <a:cs typeface="宋体" charset="0"/>
              </a:rPr>
              <a:t>死刑国家的民族异质性程度很可能大于非死刑国家。</a:t>
            </a:r>
            <a:endParaRPr lang="zh-CN" altLang="en-US" sz="3200" i="0" dirty="0">
              <a:latin typeface="Arial" charset="0"/>
              <a:cs typeface="宋体" charset="0"/>
            </a:endParaRPr>
          </a:p>
        </p:txBody>
      </p:sp>
      <p:graphicFrame>
        <p:nvGraphicFramePr>
          <p:cNvPr id="4" name="内容占位符 3"/>
          <p:cNvGraphicFramePr>
            <a:graphicFrameLocks noGrp="1"/>
          </p:cNvGraphicFramePr>
          <p:nvPr>
            <p:ph idx="1"/>
          </p:nvPr>
        </p:nvGraphicFramePr>
        <p:xfrm>
          <a:off x="457200" y="2514600"/>
          <a:ext cx="8229600" cy="3127375"/>
        </p:xfrm>
        <a:graphic>
          <a:graphicData uri="http://schemas.openxmlformats.org/drawingml/2006/table">
            <a:tbl>
              <a:tblPr/>
              <a:tblGrid>
                <a:gridCol w="1646238"/>
                <a:gridCol w="1477962"/>
                <a:gridCol w="1295400"/>
                <a:gridCol w="2163763"/>
                <a:gridCol w="1646237"/>
              </a:tblGrid>
              <a:tr h="625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a:ln>
                          <a:noFill/>
                        </a:ln>
                        <a:solidFill>
                          <a:srgbClr val="FFFFFF"/>
                        </a:solidFill>
                        <a:effectLst/>
                        <a:latin typeface="Times New Roman"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Arial" charset="0"/>
                          <a:ea typeface="宋体" charset="0"/>
                          <a:cs typeface="Arial" charset="0"/>
                        </a:rPr>
                        <a:t>死刑</a:t>
                      </a:r>
                      <a:endParaRPr kumimoji="0" lang="zh-CN" sz="1800" b="1" i="0" u="none" strike="noStrike" cap="none" normalizeH="0" baseline="0">
                        <a:ln>
                          <a:noFill/>
                        </a:ln>
                        <a:solidFill>
                          <a:srgbClr val="FFFFFF"/>
                        </a:solidFill>
                        <a:effectLst/>
                        <a:latin typeface="Calibri" charset="0"/>
                        <a:ea typeface="宋体" charset="0"/>
                        <a:cs typeface="Times New Roman" charset="0"/>
                      </a:endParaRPr>
                    </a:p>
                  </a:txBody>
                  <a:tcPr marL="19050" marR="19050" marT="19050" marB="1905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al" charset="0"/>
                          <a:ea typeface="宋体" charset="0"/>
                          <a:cs typeface="Times New Roman" charset="0"/>
                        </a:rPr>
                        <a:t>N</a:t>
                      </a:r>
                      <a:endParaRPr kumimoji="0" lang="zh-CN" sz="1800" b="1" i="0" u="none" strike="noStrike" cap="none" normalizeH="0" baseline="0">
                        <a:ln>
                          <a:noFill/>
                        </a:ln>
                        <a:solidFill>
                          <a:srgbClr val="FFFFFF"/>
                        </a:solidFill>
                        <a:effectLst/>
                        <a:latin typeface="Calibri" charset="0"/>
                        <a:ea typeface="宋体" charset="0"/>
                        <a:cs typeface="Times New Roman" charset="0"/>
                      </a:endParaRPr>
                    </a:p>
                  </a:txBody>
                  <a:tcPr marL="19050" marR="19050" marT="19050" marB="1905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al" charset="0"/>
                          <a:ea typeface="宋体" charset="0"/>
                          <a:cs typeface="Times New Roman" charset="0"/>
                        </a:rPr>
                        <a:t>Mean</a:t>
                      </a:r>
                      <a:endParaRPr kumimoji="0" lang="zh-CN" sz="1800" b="1" i="0" u="none" strike="noStrike" cap="none" normalizeH="0" baseline="0">
                        <a:ln>
                          <a:noFill/>
                        </a:ln>
                        <a:solidFill>
                          <a:srgbClr val="FFFFFF"/>
                        </a:solidFill>
                        <a:effectLst/>
                        <a:latin typeface="Calibri" charset="0"/>
                        <a:ea typeface="宋体" charset="0"/>
                        <a:cs typeface="Times New Roman" charset="0"/>
                      </a:endParaRPr>
                    </a:p>
                  </a:txBody>
                  <a:tcPr marL="19050" marR="19050" marT="19050" marB="1905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1" i="0" u="none" strike="noStrike" cap="none" normalizeH="0" baseline="0">
                          <a:ln>
                            <a:noFill/>
                          </a:ln>
                          <a:solidFill>
                            <a:srgbClr val="000000"/>
                          </a:solidFill>
                          <a:effectLst/>
                          <a:latin typeface="Arial" charset="0"/>
                          <a:ea typeface="宋体" charset="0"/>
                          <a:cs typeface="Times New Roman" charset="0"/>
                        </a:rPr>
                        <a:t>Std. Deviation</a:t>
                      </a:r>
                      <a:endParaRPr kumimoji="0" lang="zh-CN" sz="1800" b="1" i="0" u="none" strike="noStrike" cap="none" normalizeH="0" baseline="0">
                        <a:ln>
                          <a:noFill/>
                        </a:ln>
                        <a:solidFill>
                          <a:srgbClr val="FFFFFF"/>
                        </a:solidFill>
                        <a:effectLst/>
                        <a:latin typeface="Calibri" charset="0"/>
                        <a:ea typeface="宋体" charset="0"/>
                        <a:cs typeface="Times New Roman" charset="0"/>
                      </a:endParaRPr>
                    </a:p>
                  </a:txBody>
                  <a:tcPr marL="19050" marR="19050" marT="19050" marB="1905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25475">
                <a:tc rowSpan="2">
                  <a:txBody>
                    <a:bodyPr/>
                    <a:lstStyle/>
                    <a:p>
                      <a:pPr marL="0" marR="0" lvl="0" indent="0" algn="ctr" defTabSz="914400" rtl="0" eaLnBrk="1" fontAlgn="base" latinLnBrk="0" hangingPunct="1">
                        <a:lnSpc>
                          <a:spcPts val="1600"/>
                        </a:lnSpc>
                        <a:spcBef>
                          <a:spcPct val="0"/>
                        </a:spcBef>
                        <a:spcAft>
                          <a:spcPct val="0"/>
                        </a:spcAft>
                        <a:buClrTx/>
                        <a:buSzTx/>
                        <a:buFontTx/>
                        <a:buNone/>
                        <a:tabLst/>
                      </a:pPr>
                      <a:endParaRPr kumimoji="0" lang="en-US" altLang="zh-CN" sz="1800" b="1" i="0" u="none" strike="noStrike" cap="none" normalizeH="0" baseline="0">
                        <a:ln>
                          <a:noFill/>
                        </a:ln>
                        <a:solidFill>
                          <a:srgbClr val="000000"/>
                        </a:solidFill>
                        <a:effectLst/>
                        <a:latin typeface="Arial" charset="0"/>
                        <a:ea typeface="宋体" charset="0"/>
                        <a:cs typeface="Arial" charset="0"/>
                      </a:endParaRPr>
                    </a:p>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Arial" charset="0"/>
                          <a:ea typeface="宋体" charset="0"/>
                          <a:cs typeface="Arial" charset="0"/>
                        </a:rPr>
                        <a:t>民族数量</a:t>
                      </a:r>
                      <a:endParaRPr kumimoji="0" lang="zh-CN" sz="1800" b="1"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endParaRPr kumimoji="0" lang="en-US" altLang="zh-CN" sz="1800" b="0" i="0" u="none" strike="noStrike" cap="none" normalizeH="0" baseline="0">
                        <a:ln>
                          <a:noFill/>
                        </a:ln>
                        <a:solidFill>
                          <a:srgbClr val="000000"/>
                        </a:solidFill>
                        <a:effectLst/>
                        <a:latin typeface="Arial" charset="0"/>
                        <a:ea typeface="宋体" charset="0"/>
                        <a:cs typeface="Times New Roman" charset="0"/>
                      </a:endParaRPr>
                    </a:p>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charset="0"/>
                          <a:ea typeface="宋体" charset="0"/>
                          <a:cs typeface="Times New Roman" charset="0"/>
                        </a:rPr>
                        <a:t>1</a:t>
                      </a:r>
                      <a:endParaRPr kumimoji="0" lang="zh-CN" sz="18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charset="0"/>
                          <a:ea typeface="宋体" charset="0"/>
                          <a:cs typeface="Times New Roman" charset="0"/>
                        </a:rPr>
                        <a:t>18</a:t>
                      </a:r>
                      <a:endParaRPr kumimoji="0" lang="zh-CN" sz="18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2800" b="1" i="0" u="none" strike="noStrike" cap="none" normalizeH="0" baseline="0">
                          <a:ln>
                            <a:noFill/>
                          </a:ln>
                          <a:solidFill>
                            <a:srgbClr val="000000"/>
                          </a:solidFill>
                          <a:effectLst/>
                          <a:latin typeface="Arial" charset="0"/>
                          <a:ea typeface="宋体" charset="0"/>
                          <a:cs typeface="Times New Roman" charset="0"/>
                        </a:rPr>
                        <a:t>54</a:t>
                      </a:r>
                      <a:r>
                        <a:rPr kumimoji="0" lang="zh-CN" sz="2800" b="1" i="0" u="none" strike="noStrike" cap="none" normalizeH="0" baseline="0">
                          <a:ln>
                            <a:noFill/>
                          </a:ln>
                          <a:solidFill>
                            <a:srgbClr val="000000"/>
                          </a:solidFill>
                          <a:effectLst/>
                          <a:latin typeface="Arial" charset="0"/>
                          <a:ea typeface="宋体" charset="0"/>
                          <a:cs typeface="Arial" charset="0"/>
                        </a:rPr>
                        <a:t>个</a:t>
                      </a:r>
                      <a:endParaRPr kumimoji="0" lang="zh-CN" sz="2800" b="1"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charset="0"/>
                          <a:ea typeface="宋体" charset="0"/>
                          <a:cs typeface="Times New Roman" charset="0"/>
                        </a:rPr>
                        <a:t>81.26293</a:t>
                      </a:r>
                      <a:endParaRPr kumimoji="0" lang="zh-CN" sz="18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r>
              <a:tr h="625475">
                <a:tc vMerge="1">
                  <a:txBody>
                    <a:bodyPr/>
                    <a:lstStyle/>
                    <a:p>
                      <a:endParaRPr lang="zh-CN" altLang="en-US"/>
                    </a:p>
                  </a:txBody>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endParaRPr kumimoji="0" lang="en-US" altLang="zh-CN" sz="1800" b="0" i="0" u="none" strike="noStrike" cap="none" normalizeH="0" baseline="0">
                        <a:ln>
                          <a:noFill/>
                        </a:ln>
                        <a:solidFill>
                          <a:srgbClr val="000000"/>
                        </a:solidFill>
                        <a:effectLst/>
                        <a:latin typeface="Arial" charset="0"/>
                        <a:ea typeface="宋体" charset="0"/>
                        <a:cs typeface="Times New Roman" charset="0"/>
                      </a:endParaRPr>
                    </a:p>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charset="0"/>
                          <a:ea typeface="宋体" charset="0"/>
                          <a:cs typeface="Times New Roman" charset="0"/>
                        </a:rPr>
                        <a:t>0</a:t>
                      </a:r>
                      <a:endParaRPr kumimoji="0" lang="zh-CN" sz="18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charset="0"/>
                          <a:ea typeface="宋体" charset="0"/>
                          <a:cs typeface="Times New Roman" charset="0"/>
                        </a:rPr>
                        <a:t>29</a:t>
                      </a:r>
                      <a:endParaRPr kumimoji="0" lang="zh-CN" sz="18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2800" b="1" i="0" u="none" strike="noStrike" cap="none" normalizeH="0" baseline="0">
                          <a:ln>
                            <a:noFill/>
                          </a:ln>
                          <a:solidFill>
                            <a:srgbClr val="000000"/>
                          </a:solidFill>
                          <a:effectLst/>
                          <a:latin typeface="Arial" charset="0"/>
                          <a:ea typeface="宋体" charset="0"/>
                          <a:cs typeface="Times New Roman" charset="0"/>
                        </a:rPr>
                        <a:t>17</a:t>
                      </a:r>
                      <a:r>
                        <a:rPr kumimoji="0" lang="zh-CN" sz="2800" b="1" i="0" u="none" strike="noStrike" cap="none" normalizeH="0" baseline="0">
                          <a:ln>
                            <a:noFill/>
                          </a:ln>
                          <a:solidFill>
                            <a:srgbClr val="000000"/>
                          </a:solidFill>
                          <a:effectLst/>
                          <a:latin typeface="Arial" charset="0"/>
                          <a:ea typeface="宋体" charset="0"/>
                          <a:cs typeface="Times New Roman" charset="0"/>
                        </a:rPr>
                        <a:t>个</a:t>
                      </a: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charset="0"/>
                          <a:ea typeface="宋体" charset="0"/>
                          <a:cs typeface="Times New Roman" charset="0"/>
                        </a:rPr>
                        <a:t>32.18963</a:t>
                      </a:r>
                      <a:endParaRPr kumimoji="0" lang="zh-CN" sz="18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r>
              <a:tr h="625475">
                <a:tc rowSpan="2">
                  <a:txBody>
                    <a:bodyPr/>
                    <a:lstStyle/>
                    <a:p>
                      <a:pPr marL="0" marR="0" lvl="0" indent="0" algn="ctr" defTabSz="914400" rtl="0" eaLnBrk="1" fontAlgn="base" latinLnBrk="0" hangingPunct="1">
                        <a:lnSpc>
                          <a:spcPts val="1600"/>
                        </a:lnSpc>
                        <a:spcBef>
                          <a:spcPct val="0"/>
                        </a:spcBef>
                        <a:spcAft>
                          <a:spcPct val="0"/>
                        </a:spcAft>
                        <a:buClrTx/>
                        <a:buSzTx/>
                        <a:buFontTx/>
                        <a:buNone/>
                        <a:tabLst/>
                      </a:pPr>
                      <a:endParaRPr kumimoji="0" lang="en-US" altLang="zh-CN" sz="1800" b="1" i="0" u="none" strike="noStrike" cap="none" normalizeH="0" baseline="0">
                        <a:ln>
                          <a:noFill/>
                        </a:ln>
                        <a:solidFill>
                          <a:srgbClr val="000000"/>
                        </a:solidFill>
                        <a:effectLst/>
                        <a:latin typeface="Arial" charset="0"/>
                        <a:ea typeface="宋体" charset="0"/>
                        <a:cs typeface="Arial" charset="0"/>
                      </a:endParaRPr>
                    </a:p>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Arial" charset="0"/>
                          <a:ea typeface="宋体" charset="0"/>
                          <a:cs typeface="Arial" charset="0"/>
                        </a:rPr>
                        <a:t>最主要民族</a:t>
                      </a:r>
                      <a:endParaRPr kumimoji="0" lang="en-US" altLang="zh-CN" sz="1800" b="1" i="0" u="none" strike="noStrike" cap="none" normalizeH="0" baseline="0">
                        <a:ln>
                          <a:noFill/>
                        </a:ln>
                        <a:solidFill>
                          <a:srgbClr val="000000"/>
                        </a:solidFill>
                        <a:effectLst/>
                        <a:latin typeface="Arial" charset="0"/>
                        <a:ea typeface="宋体" charset="0"/>
                        <a:cs typeface="Arial" charset="0"/>
                      </a:endParaRPr>
                    </a:p>
                    <a:p>
                      <a:pPr marL="0" marR="0" lvl="0" indent="0" algn="ctr" defTabSz="914400" rtl="0" eaLnBrk="1" fontAlgn="base" latinLnBrk="0" hangingPunct="1">
                        <a:lnSpc>
                          <a:spcPts val="1600"/>
                        </a:lnSpc>
                        <a:spcBef>
                          <a:spcPct val="0"/>
                        </a:spcBef>
                        <a:spcAft>
                          <a:spcPct val="0"/>
                        </a:spcAft>
                        <a:buClrTx/>
                        <a:buSzTx/>
                        <a:buFontTx/>
                        <a:buNone/>
                        <a:tabLst/>
                      </a:pPr>
                      <a:endParaRPr kumimoji="0" lang="en-US" altLang="zh-CN" sz="1800" b="1" i="0" u="none" strike="noStrike" cap="none" normalizeH="0" baseline="0">
                        <a:ln>
                          <a:noFill/>
                        </a:ln>
                        <a:solidFill>
                          <a:srgbClr val="000000"/>
                        </a:solidFill>
                        <a:effectLst/>
                        <a:latin typeface="Arial" charset="0"/>
                        <a:ea typeface="宋体" charset="0"/>
                        <a:cs typeface="Arial" charset="0"/>
                      </a:endParaRPr>
                    </a:p>
                    <a:p>
                      <a:pPr marL="0" marR="0" lvl="0" indent="0" algn="ctr" defTabSz="914400" rtl="0" eaLnBrk="1" fontAlgn="base" latinLnBrk="0" hangingPunct="1">
                        <a:lnSpc>
                          <a:spcPts val="1600"/>
                        </a:lnSpc>
                        <a:spcBef>
                          <a:spcPct val="0"/>
                        </a:spcBef>
                        <a:spcAft>
                          <a:spcPct val="0"/>
                        </a:spcAft>
                        <a:buClrTx/>
                        <a:buSzTx/>
                        <a:buFontTx/>
                        <a:buNone/>
                        <a:tabLst/>
                      </a:pPr>
                      <a:r>
                        <a:rPr kumimoji="0" lang="zh-CN" sz="1800" b="1" i="0" u="none" strike="noStrike" cap="none" normalizeH="0" baseline="0">
                          <a:ln>
                            <a:noFill/>
                          </a:ln>
                          <a:solidFill>
                            <a:srgbClr val="000000"/>
                          </a:solidFill>
                          <a:effectLst/>
                          <a:latin typeface="Arial" charset="0"/>
                          <a:ea typeface="宋体" charset="0"/>
                          <a:cs typeface="Arial" charset="0"/>
                        </a:rPr>
                        <a:t>所占人口比例</a:t>
                      </a:r>
                      <a:endParaRPr kumimoji="0" lang="zh-CN" sz="1800" b="1"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endParaRPr kumimoji="0" lang="en-US" altLang="zh-CN" sz="1800" b="0" i="0" u="none" strike="noStrike" cap="none" normalizeH="0" baseline="0">
                        <a:ln>
                          <a:noFill/>
                        </a:ln>
                        <a:solidFill>
                          <a:srgbClr val="000000"/>
                        </a:solidFill>
                        <a:effectLst/>
                        <a:latin typeface="Arial" charset="0"/>
                        <a:ea typeface="宋体" charset="0"/>
                        <a:cs typeface="Times New Roman" charset="0"/>
                      </a:endParaRPr>
                    </a:p>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charset="0"/>
                          <a:ea typeface="宋体" charset="0"/>
                          <a:cs typeface="Times New Roman" charset="0"/>
                        </a:rPr>
                        <a:t>1</a:t>
                      </a:r>
                      <a:endParaRPr kumimoji="0" lang="zh-CN" sz="18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charset="0"/>
                          <a:ea typeface="宋体" charset="0"/>
                          <a:cs typeface="Times New Roman" charset="0"/>
                        </a:rPr>
                        <a:t>16</a:t>
                      </a:r>
                      <a:endParaRPr kumimoji="0" lang="zh-CN" sz="18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2800" b="1" i="0" u="none" strike="noStrike" cap="none" normalizeH="0" baseline="0">
                          <a:ln>
                            <a:noFill/>
                          </a:ln>
                          <a:solidFill>
                            <a:srgbClr val="000000"/>
                          </a:solidFill>
                          <a:effectLst/>
                          <a:latin typeface="Arial" charset="0"/>
                          <a:ea typeface="宋体" charset="0"/>
                          <a:cs typeface="Times New Roman" charset="0"/>
                        </a:rPr>
                        <a:t>78.7%</a:t>
                      </a:r>
                      <a:endParaRPr kumimoji="0" lang="zh-CN" sz="2800" b="1" i="0" u="none" strike="noStrike" cap="none" normalizeH="0" baseline="0">
                        <a:ln>
                          <a:noFill/>
                        </a:ln>
                        <a:solidFill>
                          <a:srgbClr val="000000"/>
                        </a:solidFill>
                        <a:effectLst/>
                        <a:latin typeface="Arial"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charset="0"/>
                          <a:ea typeface="宋体" charset="0"/>
                          <a:cs typeface="Times New Roman" charset="0"/>
                        </a:rPr>
                        <a:t>23.185</a:t>
                      </a:r>
                      <a:endParaRPr kumimoji="0" lang="zh-CN" sz="18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E4F5"/>
                    </a:solidFill>
                  </a:tcPr>
                </a:tc>
              </a:tr>
              <a:tr h="625475">
                <a:tc vMerge="1">
                  <a:txBody>
                    <a:bodyPr/>
                    <a:lstStyle/>
                    <a:p>
                      <a:endParaRPr lang="zh-CN" altLang="en-US"/>
                    </a:p>
                  </a:txBody>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endParaRPr kumimoji="0" lang="en-US" altLang="zh-CN" sz="1800" b="0" i="0" u="none" strike="noStrike" cap="none" normalizeH="0" baseline="0">
                        <a:ln>
                          <a:noFill/>
                        </a:ln>
                        <a:solidFill>
                          <a:srgbClr val="000000"/>
                        </a:solidFill>
                        <a:effectLst/>
                        <a:latin typeface="Arial" charset="0"/>
                        <a:ea typeface="宋体" charset="0"/>
                        <a:cs typeface="Times New Roman" charset="0"/>
                      </a:endParaRPr>
                    </a:p>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charset="0"/>
                          <a:ea typeface="宋体" charset="0"/>
                          <a:cs typeface="Times New Roman" charset="0"/>
                        </a:rPr>
                        <a:t>0</a:t>
                      </a:r>
                      <a:endParaRPr kumimoji="0" lang="zh-CN" sz="18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charset="0"/>
                          <a:ea typeface="宋体" charset="0"/>
                          <a:cs typeface="Times New Roman" charset="0"/>
                        </a:rPr>
                        <a:t>26</a:t>
                      </a:r>
                      <a:endParaRPr kumimoji="0" lang="zh-CN" sz="18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2800" b="1" i="0" u="none" strike="noStrike" cap="none" normalizeH="0" baseline="0">
                          <a:ln>
                            <a:noFill/>
                          </a:ln>
                          <a:solidFill>
                            <a:srgbClr val="000000"/>
                          </a:solidFill>
                          <a:effectLst/>
                          <a:latin typeface="Arial" charset="0"/>
                          <a:ea typeface="宋体" charset="0"/>
                          <a:cs typeface="Times New Roman" charset="0"/>
                        </a:rPr>
                        <a:t>90%</a:t>
                      </a:r>
                      <a:endParaRPr kumimoji="0" lang="zh-CN" sz="2800" b="1" i="0" u="none" strike="noStrike" cap="none" normalizeH="0" baseline="0">
                        <a:ln>
                          <a:noFill/>
                        </a:ln>
                        <a:solidFill>
                          <a:srgbClr val="000000"/>
                        </a:solidFill>
                        <a:effectLst/>
                        <a:latin typeface="Arial"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c>
                  <a:txBody>
                    <a:bodyPr/>
                    <a:lstStyle/>
                    <a:p>
                      <a:pPr marL="0" marR="0" lvl="0" indent="0" algn="ctr" defTabSz="914400" rtl="0" eaLnBrk="1" fontAlgn="base" latinLnBrk="0" hangingPunct="1">
                        <a:lnSpc>
                          <a:spcPts val="1600"/>
                        </a:lnSpc>
                        <a:spcBef>
                          <a:spcPct val="0"/>
                        </a:spcBef>
                        <a:spcAft>
                          <a:spcPct val="0"/>
                        </a:spcAft>
                        <a:buClrTx/>
                        <a:buSzTx/>
                        <a:buFontTx/>
                        <a:buNone/>
                        <a:tabLst/>
                      </a:pPr>
                      <a:r>
                        <a:rPr kumimoji="0" lang="en-US" altLang="zh-CN" sz="1800" b="0" i="0" u="none" strike="noStrike" cap="none" normalizeH="0" baseline="0">
                          <a:ln>
                            <a:noFill/>
                          </a:ln>
                          <a:solidFill>
                            <a:srgbClr val="000000"/>
                          </a:solidFill>
                          <a:effectLst/>
                          <a:latin typeface="Arial" charset="0"/>
                          <a:ea typeface="宋体" charset="0"/>
                          <a:cs typeface="Times New Roman" charset="0"/>
                        </a:rPr>
                        <a:t>8.967</a:t>
                      </a:r>
                      <a:endParaRPr kumimoji="0" lang="zh-CN" sz="1800" b="0" i="0" u="none" strike="noStrike" cap="none" normalizeH="0" baseline="0">
                        <a:ln>
                          <a:noFill/>
                        </a:ln>
                        <a:solidFill>
                          <a:srgbClr val="080808"/>
                        </a:solidFill>
                        <a:effectLst/>
                        <a:latin typeface="Calibri" charset="0"/>
                        <a:ea typeface="宋体" charset="0"/>
                        <a:cs typeface="Times New Roman" charset="0"/>
                      </a:endParaRPr>
                    </a:p>
                  </a:txBody>
                  <a:tcPr marL="19050" marR="19050" marT="19050" marB="1905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F2FA"/>
                    </a:solidFill>
                  </a:tcPr>
                </a:tc>
              </a:tr>
            </a:tbl>
          </a:graphicData>
        </a:graphic>
      </p:graphicFrame>
    </p:spTree>
    <p:extLst>
      <p:ext uri="{BB962C8B-B14F-4D97-AF65-F5344CB8AC3E}">
        <p14:creationId xmlns:p14="http://schemas.microsoft.com/office/powerpoint/2010/main" val="952932889"/>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a:xfrm>
            <a:off x="457200" y="228600"/>
            <a:ext cx="8229600" cy="1981200"/>
          </a:xfrm>
        </p:spPr>
        <p:txBody>
          <a:bodyPr/>
          <a:lstStyle/>
          <a:p>
            <a:pPr algn="l"/>
            <a:r>
              <a:rPr lang="zh-CN" altLang="en-US" sz="3600" i="0" dirty="0" smtClean="0">
                <a:latin typeface="Arial" charset="0"/>
                <a:cs typeface="宋体" charset="0"/>
              </a:rPr>
              <a:t>经济因素</a:t>
            </a:r>
            <a:r>
              <a:rPr lang="en-US" altLang="zh-CN" sz="3600" i="0" dirty="0">
                <a:latin typeface="Arial" charset="0"/>
                <a:cs typeface="宋体" charset="0"/>
              </a:rPr>
              <a:t/>
            </a:r>
            <a:br>
              <a:rPr lang="en-US" altLang="zh-CN" sz="3600" i="0" dirty="0">
                <a:latin typeface="Arial" charset="0"/>
                <a:cs typeface="宋体" charset="0"/>
              </a:rPr>
            </a:br>
            <a:r>
              <a:rPr lang="en-US" altLang="zh-CN" sz="3600" i="0" dirty="0" smtClean="0">
                <a:latin typeface="Arial" charset="0"/>
                <a:cs typeface="宋体" charset="0"/>
              </a:rPr>
              <a:t>    </a:t>
            </a:r>
            <a:r>
              <a:rPr lang="zh-CN" sz="2800" i="0" dirty="0" smtClean="0">
                <a:latin typeface="宋体"/>
                <a:ea typeface="宋体"/>
                <a:cs typeface="宋体"/>
              </a:rPr>
              <a:t>已经发现</a:t>
            </a:r>
            <a:r>
              <a:rPr lang="zh-CN" sz="2800" i="0" dirty="0">
                <a:latin typeface="宋体"/>
                <a:ea typeface="宋体"/>
                <a:cs typeface="宋体"/>
              </a:rPr>
              <a:t>，犯罪率高低乃至刑事司法的宽严都与经济发展程度有关，但尚无证据表明刑事立法是否与经济发展有关。</a:t>
            </a:r>
            <a:endParaRPr lang="zh-CN" altLang="en-US" sz="2800" i="0" dirty="0">
              <a:latin typeface="宋体"/>
              <a:ea typeface="宋体"/>
              <a:cs typeface="宋体"/>
            </a:endParaRPr>
          </a:p>
        </p:txBody>
      </p:sp>
      <p:sp>
        <p:nvSpPr>
          <p:cNvPr id="3" name="内容占位符 2"/>
          <p:cNvSpPr>
            <a:spLocks noGrp="1"/>
          </p:cNvSpPr>
          <p:nvPr>
            <p:ph idx="1"/>
          </p:nvPr>
        </p:nvSpPr>
        <p:spPr>
          <a:xfrm>
            <a:off x="457200" y="2590800"/>
            <a:ext cx="8229600" cy="3733800"/>
          </a:xfrm>
        </p:spPr>
        <p:txBody>
          <a:bodyPr/>
          <a:lstStyle/>
          <a:p>
            <a:r>
              <a:rPr lang="en-US" altLang="zh-CN" sz="2800" b="1" dirty="0">
                <a:latin typeface="Arial" charset="0"/>
                <a:cs typeface="宋体" charset="0"/>
              </a:rPr>
              <a:t>19</a:t>
            </a:r>
            <a:r>
              <a:rPr lang="zh-CN" sz="2800" b="1" dirty="0">
                <a:latin typeface="Arial" charset="0"/>
                <a:cs typeface="宋体" charset="0"/>
              </a:rPr>
              <a:t>个死刑国家的国内生产总值</a:t>
            </a:r>
            <a:r>
              <a:rPr lang="en-US" altLang="zh-CN" sz="2800" b="1" dirty="0">
                <a:latin typeface="Arial" charset="0"/>
                <a:cs typeface="宋体" charset="0"/>
              </a:rPr>
              <a:t>GDP</a:t>
            </a:r>
            <a:r>
              <a:rPr lang="zh-CN" sz="2800" b="1" dirty="0">
                <a:latin typeface="Arial" charset="0"/>
                <a:cs typeface="宋体" charset="0"/>
              </a:rPr>
              <a:t>平均约为</a:t>
            </a:r>
            <a:r>
              <a:rPr lang="en-US" altLang="zh-CN" sz="2800" b="1" dirty="0">
                <a:latin typeface="Arial" charset="0"/>
                <a:cs typeface="宋体" charset="0"/>
              </a:rPr>
              <a:t>14772</a:t>
            </a:r>
            <a:r>
              <a:rPr lang="zh-CN" sz="2800" b="1" dirty="0">
                <a:latin typeface="Arial" charset="0"/>
                <a:cs typeface="宋体" charset="0"/>
              </a:rPr>
              <a:t>亿美元，而</a:t>
            </a:r>
            <a:r>
              <a:rPr lang="en-US" altLang="zh-CN" sz="2800" b="1" dirty="0">
                <a:latin typeface="Arial" charset="0"/>
                <a:cs typeface="宋体" charset="0"/>
              </a:rPr>
              <a:t>29</a:t>
            </a:r>
            <a:r>
              <a:rPr lang="zh-CN" sz="2800" b="1" dirty="0">
                <a:latin typeface="Arial" charset="0"/>
                <a:cs typeface="宋体" charset="0"/>
              </a:rPr>
              <a:t>个非死刑国家的</a:t>
            </a:r>
            <a:r>
              <a:rPr lang="en-US" altLang="zh-CN" sz="2800" b="1" dirty="0">
                <a:latin typeface="Arial" charset="0"/>
                <a:cs typeface="宋体" charset="0"/>
              </a:rPr>
              <a:t>GDP</a:t>
            </a:r>
            <a:r>
              <a:rPr lang="zh-CN" sz="2800" b="1" dirty="0">
                <a:latin typeface="Arial" charset="0"/>
                <a:cs typeface="宋体" charset="0"/>
              </a:rPr>
              <a:t>平均约为</a:t>
            </a:r>
            <a:r>
              <a:rPr lang="en-US" altLang="zh-CN" sz="2800" b="1" dirty="0">
                <a:latin typeface="Arial" charset="0"/>
                <a:cs typeface="宋体" charset="0"/>
              </a:rPr>
              <a:t>6062</a:t>
            </a:r>
            <a:r>
              <a:rPr lang="zh-CN" sz="2800" b="1" dirty="0">
                <a:latin typeface="Arial" charset="0"/>
                <a:cs typeface="宋体" charset="0"/>
              </a:rPr>
              <a:t>亿</a:t>
            </a:r>
            <a:r>
              <a:rPr lang="zh-CN" sz="2800" b="1" dirty="0" smtClean="0">
                <a:latin typeface="Arial" charset="0"/>
                <a:cs typeface="宋体" charset="0"/>
              </a:rPr>
              <a:t>美元，但</a:t>
            </a:r>
            <a:r>
              <a:rPr lang="en-US" altLang="zh-CN" sz="2800" b="1" dirty="0" smtClean="0">
                <a:latin typeface="Arial" charset="0"/>
                <a:cs typeface="宋体" charset="0"/>
              </a:rPr>
              <a:t>T</a:t>
            </a:r>
            <a:r>
              <a:rPr lang="zh-CN" sz="2800" b="1" dirty="0" smtClean="0">
                <a:latin typeface="Arial" charset="0"/>
                <a:cs typeface="宋体" charset="0"/>
              </a:rPr>
              <a:t>检验结果不够显著。</a:t>
            </a:r>
            <a:endParaRPr lang="en-US" altLang="zh-CN" sz="2800" b="1" dirty="0">
              <a:latin typeface="Arial" charset="0"/>
              <a:cs typeface="宋体" charset="0"/>
            </a:endParaRPr>
          </a:p>
          <a:p>
            <a:r>
              <a:rPr lang="en-US" altLang="zh-CN" sz="2800" b="1" dirty="0">
                <a:latin typeface="Arial" charset="0"/>
                <a:cs typeface="宋体" charset="0"/>
              </a:rPr>
              <a:t>19</a:t>
            </a:r>
            <a:r>
              <a:rPr lang="zh-CN" sz="2800" b="1" dirty="0">
                <a:latin typeface="Arial" charset="0"/>
                <a:cs typeface="宋体" charset="0"/>
              </a:rPr>
              <a:t>个死刑国家的人均</a:t>
            </a:r>
            <a:r>
              <a:rPr lang="en-US" altLang="zh-CN" sz="2800" b="1" dirty="0">
                <a:latin typeface="Arial" charset="0"/>
                <a:cs typeface="宋体" charset="0"/>
              </a:rPr>
              <a:t>GDP</a:t>
            </a:r>
            <a:r>
              <a:rPr lang="zh-CN" sz="2800" b="1" dirty="0">
                <a:latin typeface="Arial" charset="0"/>
                <a:cs typeface="宋体" charset="0"/>
              </a:rPr>
              <a:t>平均约为</a:t>
            </a:r>
            <a:r>
              <a:rPr lang="en-US" altLang="zh-CN" sz="2800" b="1" dirty="0">
                <a:latin typeface="Arial" charset="0"/>
                <a:cs typeface="宋体" charset="0"/>
              </a:rPr>
              <a:t>9468</a:t>
            </a:r>
            <a:r>
              <a:rPr lang="zh-CN" sz="2800" b="1" dirty="0">
                <a:latin typeface="Arial" charset="0"/>
                <a:cs typeface="宋体" charset="0"/>
              </a:rPr>
              <a:t>美元，而</a:t>
            </a:r>
            <a:r>
              <a:rPr lang="en-US" altLang="zh-CN" sz="2800" b="1" dirty="0">
                <a:latin typeface="Arial" charset="0"/>
                <a:cs typeface="宋体" charset="0"/>
              </a:rPr>
              <a:t>26</a:t>
            </a:r>
            <a:r>
              <a:rPr lang="zh-CN" sz="2800" b="1" dirty="0">
                <a:latin typeface="Arial" charset="0"/>
                <a:cs typeface="宋体" charset="0"/>
              </a:rPr>
              <a:t>个非死刑国家的人均</a:t>
            </a:r>
            <a:r>
              <a:rPr lang="en-US" altLang="zh-CN" sz="2800" b="1" dirty="0">
                <a:latin typeface="Arial" charset="0"/>
                <a:cs typeface="宋体" charset="0"/>
              </a:rPr>
              <a:t>GDP</a:t>
            </a:r>
            <a:r>
              <a:rPr lang="zh-CN" sz="2800" b="1" dirty="0">
                <a:latin typeface="Arial" charset="0"/>
                <a:cs typeface="宋体" charset="0"/>
              </a:rPr>
              <a:t>平均为</a:t>
            </a:r>
            <a:r>
              <a:rPr lang="en-US" altLang="zh-CN" sz="2800" b="1" dirty="0">
                <a:latin typeface="Arial" charset="0"/>
                <a:cs typeface="宋体" charset="0"/>
              </a:rPr>
              <a:t>29776</a:t>
            </a:r>
            <a:r>
              <a:rPr lang="zh-CN" sz="2800" b="1" dirty="0">
                <a:latin typeface="Arial" charset="0"/>
                <a:cs typeface="宋体" charset="0"/>
              </a:rPr>
              <a:t>美元，经</a:t>
            </a:r>
            <a:r>
              <a:rPr lang="en-US" altLang="zh-CN" sz="2800" b="1" dirty="0">
                <a:latin typeface="Arial" charset="0"/>
                <a:cs typeface="宋体" charset="0"/>
              </a:rPr>
              <a:t>T</a:t>
            </a:r>
            <a:r>
              <a:rPr lang="zh-CN" sz="2800" b="1" dirty="0">
                <a:latin typeface="Arial" charset="0"/>
                <a:cs typeface="宋体" charset="0"/>
              </a:rPr>
              <a:t>检验，</a:t>
            </a:r>
            <a:r>
              <a:rPr lang="en-US" altLang="zh-CN" sz="2800" b="1" dirty="0">
                <a:latin typeface="Arial" charset="0"/>
                <a:cs typeface="宋体" charset="0"/>
              </a:rPr>
              <a:t>P</a:t>
            </a:r>
            <a:r>
              <a:rPr lang="zh-CN" sz="2800" b="1" dirty="0">
                <a:latin typeface="Arial" charset="0"/>
                <a:cs typeface="宋体" charset="0"/>
              </a:rPr>
              <a:t>值为</a:t>
            </a:r>
            <a:r>
              <a:rPr lang="en-US" altLang="zh-CN" sz="2800" b="1" dirty="0">
                <a:latin typeface="Arial" charset="0"/>
                <a:cs typeface="宋体" charset="0"/>
              </a:rPr>
              <a:t>0.000</a:t>
            </a:r>
            <a:r>
              <a:rPr lang="zh-CN" sz="2800" b="1" dirty="0">
                <a:latin typeface="Arial" charset="0"/>
                <a:cs typeface="宋体" charset="0"/>
              </a:rPr>
              <a:t>。</a:t>
            </a:r>
            <a:endParaRPr lang="en-US" altLang="zh-CN" sz="2800" b="1" dirty="0">
              <a:latin typeface="Arial" charset="0"/>
              <a:cs typeface="宋体" charset="0"/>
            </a:endParaRPr>
          </a:p>
          <a:p>
            <a:r>
              <a:rPr lang="zh-CN" altLang="en-US" sz="4000" b="1" dirty="0">
                <a:latin typeface="黑体" charset="0"/>
                <a:ea typeface="黑体" charset="0"/>
                <a:cs typeface="黑体" charset="0"/>
              </a:rPr>
              <a:t>意味着什么？</a:t>
            </a:r>
          </a:p>
        </p:txBody>
      </p:sp>
    </p:spTree>
    <p:extLst>
      <p:ext uri="{BB962C8B-B14F-4D97-AF65-F5344CB8AC3E}">
        <p14:creationId xmlns:p14="http://schemas.microsoft.com/office/powerpoint/2010/main" val="4175767001"/>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pPr algn="ctr"/>
            <a:r>
              <a:rPr lang="zh-CN" altLang="en-US" sz="4000" dirty="0">
                <a:latin typeface="Arial" charset="0"/>
                <a:cs typeface="宋体" charset="0"/>
              </a:rPr>
              <a:t>可见</a:t>
            </a:r>
            <a:r>
              <a:rPr lang="en-US" altLang="zh-CN" sz="4000" dirty="0">
                <a:latin typeface="Arial" charset="0"/>
                <a:cs typeface="宋体" charset="0"/>
              </a:rPr>
              <a:t>——</a:t>
            </a:r>
            <a:endParaRPr lang="zh-CN" altLang="en-US" sz="4000" dirty="0">
              <a:latin typeface="Arial" charset="0"/>
              <a:cs typeface="宋体" charset="0"/>
            </a:endParaRPr>
          </a:p>
        </p:txBody>
      </p:sp>
      <p:sp>
        <p:nvSpPr>
          <p:cNvPr id="3" name="内容占位符 2"/>
          <p:cNvSpPr>
            <a:spLocks noGrp="1"/>
          </p:cNvSpPr>
          <p:nvPr>
            <p:ph idx="1"/>
          </p:nvPr>
        </p:nvSpPr>
        <p:spPr/>
        <p:txBody>
          <a:bodyPr/>
          <a:lstStyle/>
          <a:p>
            <a:r>
              <a:rPr lang="zh-CN" sz="2800" b="1" dirty="0">
                <a:latin typeface="宋体"/>
                <a:ea typeface="宋体"/>
                <a:cs typeface="宋体"/>
              </a:rPr>
              <a:t>刑法严厉性水平与经济总量基本无关，但与人均资源占有量关系密切：</a:t>
            </a:r>
            <a:endParaRPr lang="en-US" altLang="zh-CN" sz="2800" b="1" dirty="0">
              <a:latin typeface="宋体"/>
              <a:ea typeface="宋体"/>
              <a:cs typeface="宋体"/>
            </a:endParaRPr>
          </a:p>
          <a:p>
            <a:r>
              <a:rPr lang="zh-CN" sz="2800" b="1" dirty="0">
                <a:latin typeface="宋体"/>
                <a:ea typeface="宋体"/>
                <a:cs typeface="宋体"/>
              </a:rPr>
              <a:t>人均物质资源占有量越高的国家，刑法中出现死刑的可能性相对较小。</a:t>
            </a:r>
            <a:endParaRPr lang="en-US" altLang="zh-CN" sz="2800" b="1" dirty="0">
              <a:latin typeface="宋体"/>
              <a:ea typeface="宋体"/>
              <a:cs typeface="宋体"/>
            </a:endParaRPr>
          </a:p>
          <a:p>
            <a:r>
              <a:rPr lang="zh-CN" sz="2800" b="1" dirty="0">
                <a:latin typeface="宋体"/>
                <a:ea typeface="宋体"/>
                <a:cs typeface="宋体"/>
              </a:rPr>
              <a:t>人们实际上享受的物质资源越是稀缺，国家就越可能加大刑罚资源的供给。</a:t>
            </a:r>
            <a:endParaRPr lang="en-US" altLang="zh-CN" sz="2800" b="1" dirty="0">
              <a:latin typeface="宋体"/>
              <a:ea typeface="宋体"/>
              <a:cs typeface="宋体"/>
            </a:endParaRPr>
          </a:p>
          <a:p>
            <a:r>
              <a:rPr lang="zh-CN" sz="2800" b="1" dirty="0">
                <a:latin typeface="宋体"/>
                <a:ea typeface="宋体"/>
                <a:cs typeface="宋体"/>
              </a:rPr>
              <a:t>反过来说就是，刑法严厉性的控制，关键不在国强，而在民富。民富，则自然少刑、去刑，乃至无刑。</a:t>
            </a:r>
            <a:endParaRPr lang="zh-CN" altLang="en-US" sz="2800" b="1" dirty="0">
              <a:latin typeface="宋体"/>
              <a:ea typeface="宋体"/>
              <a:cs typeface="宋体"/>
            </a:endParaRPr>
          </a:p>
        </p:txBody>
      </p:sp>
    </p:spTree>
    <p:extLst>
      <p:ext uri="{BB962C8B-B14F-4D97-AF65-F5344CB8AC3E}">
        <p14:creationId xmlns:p14="http://schemas.microsoft.com/office/powerpoint/2010/main" val="4138632275"/>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a:xfrm>
            <a:off x="827088" y="620713"/>
            <a:ext cx="7170737" cy="492125"/>
          </a:xfrm>
        </p:spPr>
        <p:txBody>
          <a:bodyPr/>
          <a:lstStyle/>
          <a:p>
            <a:r>
              <a:rPr lang="zh-CN" altLang="en-US" sz="5400" b="0" i="0">
                <a:latin typeface="华文琥珀" charset="0"/>
                <a:ea typeface="华文琥珀" charset="0"/>
                <a:cs typeface="华文琥珀" charset="0"/>
              </a:rPr>
              <a:t>回到问题</a:t>
            </a:r>
          </a:p>
        </p:txBody>
      </p:sp>
      <p:sp>
        <p:nvSpPr>
          <p:cNvPr id="3" name="内容占位符 2"/>
          <p:cNvSpPr>
            <a:spLocks noGrp="1"/>
          </p:cNvSpPr>
          <p:nvPr>
            <p:ph idx="1"/>
          </p:nvPr>
        </p:nvSpPr>
        <p:spPr>
          <a:xfrm>
            <a:off x="457200" y="1484313"/>
            <a:ext cx="8229600" cy="4641850"/>
          </a:xfrm>
        </p:spPr>
        <p:txBody>
          <a:bodyPr/>
          <a:lstStyle/>
          <a:p>
            <a:r>
              <a:rPr lang="zh-CN" sz="3200" b="1" dirty="0">
                <a:latin typeface="宋体"/>
                <a:ea typeface="宋体"/>
                <a:cs typeface="宋体"/>
              </a:rPr>
              <a:t>犯罪的轻重是如何被定义的</a:t>
            </a:r>
            <a:r>
              <a:rPr lang="zh-CN" sz="3200" b="1" dirty="0" smtClean="0">
                <a:latin typeface="宋体"/>
                <a:ea typeface="宋体"/>
                <a:cs typeface="宋体"/>
              </a:rPr>
              <a:t>？</a:t>
            </a:r>
            <a:endParaRPr lang="en-US" altLang="zh-CN" sz="3200" b="1" dirty="0" smtClean="0">
              <a:latin typeface="宋体"/>
              <a:ea typeface="宋体"/>
              <a:cs typeface="宋体"/>
            </a:endParaRPr>
          </a:p>
          <a:p>
            <a:r>
              <a:rPr lang="zh-CN" altLang="en-US" sz="3200" b="1" dirty="0" smtClean="0">
                <a:latin typeface="宋体"/>
                <a:ea typeface="宋体"/>
                <a:cs typeface="宋体"/>
              </a:rPr>
              <a:t>罪人、罪性、罪行并非刑法轻重的唯一变量。</a:t>
            </a:r>
            <a:endParaRPr lang="en-US" altLang="zh-CN" sz="3200" b="1" dirty="0" smtClean="0">
              <a:latin typeface="宋体"/>
              <a:ea typeface="宋体"/>
              <a:cs typeface="宋体"/>
            </a:endParaRPr>
          </a:p>
          <a:p>
            <a:r>
              <a:rPr lang="zh-CN" altLang="zh-CN" sz="3200" b="1" dirty="0">
                <a:latin typeface="宋体"/>
                <a:ea typeface="宋体"/>
                <a:cs typeface="宋体"/>
              </a:rPr>
              <a:t>刑法有多严厉，不仅不是纯伦理学问题，甚至不是个纯法律问题。</a:t>
            </a:r>
            <a:endParaRPr lang="en-US" altLang="zh-CN" sz="3200" b="1" dirty="0">
              <a:latin typeface="宋体"/>
              <a:ea typeface="宋体"/>
              <a:cs typeface="宋体"/>
            </a:endParaRPr>
          </a:p>
          <a:p>
            <a:r>
              <a:rPr lang="zh-CN" altLang="en-US" sz="3200" b="1" dirty="0">
                <a:latin typeface="宋体"/>
                <a:ea typeface="宋体"/>
                <a:cs typeface="宋体"/>
              </a:rPr>
              <a:t>给定的历史条件和集体经验也极大影响着罪刑关系的定义</a:t>
            </a:r>
            <a:r>
              <a:rPr lang="zh-CN" altLang="zh-CN" sz="3200" b="1" dirty="0" smtClean="0">
                <a:latin typeface="宋体"/>
                <a:ea typeface="宋体"/>
                <a:cs typeface="宋体"/>
              </a:rPr>
              <a:t>。</a:t>
            </a:r>
            <a:endParaRPr lang="en-US" altLang="zh-CN" sz="3200" b="1" dirty="0" smtClean="0">
              <a:latin typeface="宋体"/>
              <a:ea typeface="宋体"/>
              <a:cs typeface="宋体"/>
            </a:endParaRPr>
          </a:p>
          <a:p>
            <a:r>
              <a:rPr lang="zh-CN" altLang="zh-CN" sz="3200" b="1" dirty="0">
                <a:latin typeface="黑体"/>
                <a:ea typeface="黑体"/>
                <a:cs typeface="黑体"/>
              </a:rPr>
              <a:t>—</a:t>
            </a:r>
            <a:r>
              <a:rPr lang="zh-CN" altLang="zh-CN" sz="3200" b="1" dirty="0" smtClean="0">
                <a:latin typeface="黑体"/>
                <a:ea typeface="黑体"/>
                <a:cs typeface="黑体"/>
              </a:rPr>
              <a:t>—</a:t>
            </a:r>
            <a:r>
              <a:rPr lang="zh-CN" altLang="en-US" sz="3200" b="1" dirty="0" smtClean="0">
                <a:latin typeface="黑体"/>
                <a:ea typeface="黑体"/>
                <a:cs typeface="黑体"/>
              </a:rPr>
              <a:t>不仅要知道应然，还应了解实然。</a:t>
            </a:r>
            <a:endParaRPr lang="en-US" altLang="zh-CN" sz="3200" b="1" dirty="0">
              <a:latin typeface="黑体"/>
              <a:ea typeface="黑体"/>
              <a:cs typeface="黑体"/>
            </a:endParaRPr>
          </a:p>
          <a:p>
            <a:endParaRPr lang="en-US" altLang="zh-CN" sz="3200" b="1" dirty="0">
              <a:latin typeface="宋体"/>
              <a:ea typeface="宋体"/>
              <a:cs typeface="宋体"/>
            </a:endParaRPr>
          </a:p>
        </p:txBody>
      </p:sp>
    </p:spTree>
    <p:extLst>
      <p:ext uri="{BB962C8B-B14F-4D97-AF65-F5344CB8AC3E}">
        <p14:creationId xmlns:p14="http://schemas.microsoft.com/office/powerpoint/2010/main" val="2364811320"/>
      </p:ext>
    </p:extLst>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260648"/>
            <a:ext cx="7170737" cy="492125"/>
          </a:xfrm>
        </p:spPr>
        <p:txBody>
          <a:bodyPr/>
          <a:lstStyle/>
          <a:p>
            <a:pPr algn="ctr"/>
            <a:r>
              <a:rPr lang="zh-CN" altLang="zh-CN" sz="3600" dirty="0">
                <a:latin typeface="黑体"/>
                <a:ea typeface="黑体"/>
                <a:cs typeface="黑体"/>
              </a:rPr>
              <a:t>犯罪定义是主客体之间的中</a:t>
            </a:r>
            <a:r>
              <a:rPr lang="zh-CN" altLang="zh-CN" sz="3600" dirty="0" smtClean="0">
                <a:latin typeface="黑体"/>
                <a:ea typeface="黑体"/>
                <a:cs typeface="黑体"/>
              </a:rPr>
              <a:t>介物</a:t>
            </a:r>
            <a:endParaRPr kumimoji="1" lang="zh-CN" altLang="en-US" sz="3600" dirty="0">
              <a:latin typeface="黑体"/>
              <a:ea typeface="黑体"/>
              <a:cs typeface="黑体"/>
            </a:endParaRPr>
          </a:p>
        </p:txBody>
      </p:sp>
      <p:sp>
        <p:nvSpPr>
          <p:cNvPr id="3" name="内容占位符 2"/>
          <p:cNvSpPr>
            <a:spLocks noGrp="1"/>
          </p:cNvSpPr>
          <p:nvPr>
            <p:ph idx="1"/>
          </p:nvPr>
        </p:nvSpPr>
        <p:spPr>
          <a:xfrm>
            <a:off x="467544" y="908720"/>
            <a:ext cx="8229600" cy="5544616"/>
          </a:xfrm>
        </p:spPr>
        <p:txBody>
          <a:bodyPr/>
          <a:lstStyle/>
          <a:p>
            <a:r>
              <a:rPr lang="zh-CN" altLang="zh-CN" sz="2800" dirty="0" smtClean="0">
                <a:latin typeface="宋体"/>
                <a:ea typeface="宋体"/>
                <a:cs typeface="宋体"/>
              </a:rPr>
              <a:t>只</a:t>
            </a:r>
            <a:r>
              <a:rPr lang="zh-CN" altLang="zh-CN" sz="2800" dirty="0">
                <a:latin typeface="宋体"/>
                <a:ea typeface="宋体"/>
                <a:cs typeface="宋体"/>
              </a:rPr>
              <a:t>有在主客体之间不断调整、试错，才可能有科学、公正的犯罪定义。 </a:t>
            </a:r>
            <a:endParaRPr lang="en-US" altLang="zh-CN" sz="2800" dirty="0" smtClean="0">
              <a:latin typeface="宋体"/>
              <a:ea typeface="宋体"/>
              <a:cs typeface="宋体"/>
            </a:endParaRPr>
          </a:p>
          <a:p>
            <a:r>
              <a:rPr kumimoji="1" lang="zh-CN" altLang="en-US" sz="2800" b="1" dirty="0" smtClean="0">
                <a:latin typeface="黑体"/>
                <a:ea typeface="黑体"/>
                <a:cs typeface="黑体"/>
              </a:rPr>
              <a:t>一方面，</a:t>
            </a:r>
            <a:r>
              <a:rPr kumimoji="1" lang="zh-CN" altLang="en-US" sz="2800" dirty="0" smtClean="0">
                <a:latin typeface="宋体"/>
                <a:ea typeface="宋体"/>
                <a:cs typeface="宋体"/>
              </a:rPr>
              <a:t>不可还原：“辣”、“颜色”、“商品”</a:t>
            </a:r>
            <a:r>
              <a:rPr kumimoji="1" lang="en-US" altLang="zh-CN" sz="2800" dirty="0" smtClean="0">
                <a:latin typeface="宋体"/>
                <a:ea typeface="宋体"/>
                <a:cs typeface="宋体"/>
              </a:rPr>
              <a:t>……</a:t>
            </a:r>
          </a:p>
          <a:p>
            <a:r>
              <a:rPr kumimoji="1" lang="zh-CN" altLang="en-US" sz="2800" b="1" dirty="0" smtClean="0">
                <a:latin typeface="黑体"/>
                <a:ea typeface="黑体"/>
                <a:cs typeface="黑体"/>
              </a:rPr>
              <a:t>另一方面，</a:t>
            </a:r>
            <a:r>
              <a:rPr kumimoji="1" lang="zh-CN" altLang="en-US" sz="2800" dirty="0" smtClean="0">
                <a:latin typeface="宋体"/>
                <a:ea typeface="宋体"/>
                <a:cs typeface="宋体"/>
              </a:rPr>
              <a:t>借助犯罪定义，主客体各自表达自己，影响对方：“黑钱”范围的几次扩大。</a:t>
            </a:r>
            <a:endParaRPr kumimoji="1" lang="en-US" altLang="zh-CN" sz="2800" dirty="0" smtClean="0">
              <a:latin typeface="宋体"/>
              <a:ea typeface="宋体"/>
              <a:cs typeface="宋体"/>
            </a:endParaRPr>
          </a:p>
          <a:p>
            <a:r>
              <a:rPr kumimoji="1" lang="zh-CN" altLang="en-US" sz="2800" dirty="0" smtClean="0">
                <a:latin typeface="宋体"/>
                <a:ea typeface="宋体"/>
                <a:cs typeface="宋体"/>
              </a:rPr>
              <a:t>犯罪定义的形成、发展、变化，是主客体之间互动的载体和管道。</a:t>
            </a:r>
            <a:endParaRPr kumimoji="1" lang="en-US" altLang="zh-CN" sz="2800" dirty="0" smtClean="0">
              <a:latin typeface="宋体"/>
              <a:ea typeface="宋体"/>
              <a:cs typeface="宋体"/>
            </a:endParaRPr>
          </a:p>
          <a:p>
            <a:r>
              <a:rPr kumimoji="1" lang="zh-CN" altLang="en-US" sz="2800" b="1" dirty="0" smtClean="0">
                <a:latin typeface="黑体"/>
                <a:ea typeface="黑体"/>
                <a:cs typeface="黑体"/>
              </a:rPr>
              <a:t>意义：过分夸大客体性是危险的</a:t>
            </a:r>
            <a:r>
              <a:rPr kumimoji="1" lang="zh-CN" altLang="en-US" sz="2800" dirty="0" smtClean="0">
                <a:latin typeface="宋体"/>
                <a:ea typeface="宋体"/>
                <a:cs typeface="宋体"/>
              </a:rPr>
              <a:t>：</a:t>
            </a:r>
            <a:r>
              <a:rPr lang="zh-CN" altLang="zh-CN" sz="2800" dirty="0">
                <a:latin typeface="宋体"/>
                <a:ea typeface="宋体"/>
                <a:cs typeface="宋体"/>
              </a:rPr>
              <a:t>“当然的实质合理性”背后，定义者自身的某种局限任意性、随意性、恣意性、盲目性、情绪化便可能被掩盖起</a:t>
            </a:r>
            <a:r>
              <a:rPr lang="zh-CN" altLang="zh-CN" sz="2800" dirty="0" smtClean="0">
                <a:latin typeface="宋体"/>
                <a:ea typeface="宋体"/>
                <a:cs typeface="宋体"/>
              </a:rPr>
              <a:t>来</a:t>
            </a:r>
            <a:r>
              <a:rPr lang="zh-CN" altLang="zh-CN" sz="2800" dirty="0">
                <a:latin typeface="宋体"/>
                <a:ea typeface="宋体"/>
                <a:cs typeface="宋体"/>
              </a:rPr>
              <a:t>—</a:t>
            </a:r>
            <a:r>
              <a:rPr lang="zh-CN" altLang="zh-CN" sz="2800" dirty="0" smtClean="0">
                <a:latin typeface="宋体"/>
                <a:ea typeface="宋体"/>
                <a:cs typeface="宋体"/>
              </a:rPr>
              <a:t>—</a:t>
            </a:r>
            <a:r>
              <a:rPr lang="zh-CN" altLang="en-US" sz="2800" b="1" dirty="0" smtClean="0">
                <a:latin typeface="楷体"/>
                <a:ea typeface="楷体"/>
                <a:cs typeface="楷体"/>
              </a:rPr>
              <a:t>如“司法潜见”</a:t>
            </a:r>
            <a:r>
              <a:rPr lang="zh-CN" altLang="en-US" sz="2800" b="1" smtClean="0">
                <a:latin typeface="楷体"/>
                <a:ea typeface="楷体"/>
                <a:cs typeface="楷体"/>
              </a:rPr>
              <a:t>、“刑法偏好”</a:t>
            </a:r>
            <a:r>
              <a:rPr lang="zh-CN" altLang="en-US" sz="2800" smtClean="0">
                <a:latin typeface="宋体"/>
                <a:ea typeface="宋体"/>
                <a:cs typeface="宋体"/>
              </a:rPr>
              <a:t>。</a:t>
            </a:r>
            <a:endParaRPr lang="en-US" altLang="zh-CN" sz="2800" dirty="0" smtClean="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52</a:t>
            </a:fld>
            <a:endParaRPr lang="zh-CN" altLang="en-US"/>
          </a:p>
        </p:txBody>
      </p:sp>
    </p:spTree>
    <p:extLst>
      <p:ext uri="{BB962C8B-B14F-4D97-AF65-F5344CB8AC3E}">
        <p14:creationId xmlns:p14="http://schemas.microsoft.com/office/powerpoint/2010/main" val="689794474"/>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5067459"/>
            <a:ext cx="9144000" cy="1790543"/>
          </a:xfrm>
          <a:prstGeom prst="rect">
            <a:avLst/>
          </a:prstGeom>
          <a:solidFill>
            <a:srgbClr val="824523">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076161" y="1030320"/>
            <a:ext cx="7384272" cy="2614704"/>
          </a:xfrm>
          <a:prstGeom prst="rect">
            <a:avLst/>
          </a:prstGeom>
          <a:ln>
            <a:solidFill>
              <a:schemeClr val="tx1"/>
            </a:solidFill>
          </a:ln>
        </p:spPr>
        <p:txBody>
          <a:bodyPr wrap="square">
            <a:spAutoFit/>
          </a:bodyPr>
          <a:lstStyle/>
          <a:p>
            <a:pPr>
              <a:lnSpc>
                <a:spcPct val="200000"/>
              </a:lnSpc>
            </a:pPr>
            <a:r>
              <a:rPr lang="zh-CN" altLang="en-US" sz="4400" b="1" dirty="0" smtClean="0">
                <a:latin typeface="黑体"/>
                <a:ea typeface="黑体"/>
                <a:cs typeface="黑体"/>
              </a:rPr>
              <a:t>  中国民众刑法偏好研究</a:t>
            </a:r>
            <a:endParaRPr lang="en-US" altLang="zh-CN" sz="4400" b="0" dirty="0" smtClean="0">
              <a:latin typeface="华文琥珀"/>
              <a:ea typeface="华文琥珀"/>
              <a:cs typeface="华文琥珀"/>
            </a:endParaRPr>
          </a:p>
          <a:p>
            <a:pPr>
              <a:lnSpc>
                <a:spcPct val="200000"/>
              </a:lnSpc>
            </a:pPr>
            <a:r>
              <a:rPr lang="zh-CN" altLang="zh-CN" sz="4000" dirty="0" smtClean="0">
                <a:solidFill>
                  <a:schemeClr val="bg1">
                    <a:lumMod val="50000"/>
                  </a:schemeClr>
                </a:solidFill>
                <a:latin typeface="仿宋"/>
                <a:ea typeface="仿宋"/>
                <a:cs typeface="仿宋"/>
              </a:rPr>
              <a:t> </a:t>
            </a:r>
            <a:r>
              <a:rPr lang="zh-CN" altLang="en-US" sz="4000" dirty="0" smtClean="0">
                <a:solidFill>
                  <a:schemeClr val="bg1">
                    <a:lumMod val="50000"/>
                  </a:schemeClr>
                </a:solidFill>
                <a:latin typeface="仿宋"/>
                <a:ea typeface="仿宋"/>
                <a:cs typeface="仿宋"/>
              </a:rPr>
              <a:t>       </a:t>
            </a:r>
            <a:endParaRPr lang="zh-CN" altLang="en-US" sz="2800" b="1" dirty="0" smtClean="0">
              <a:solidFill>
                <a:srgbClr val="302C24"/>
              </a:solidFill>
              <a:latin typeface="仿宋"/>
              <a:ea typeface="仿宋"/>
              <a:cs typeface="仿宋"/>
            </a:endParaRPr>
          </a:p>
        </p:txBody>
      </p:sp>
      <p:sp>
        <p:nvSpPr>
          <p:cNvPr id="8" name="矩形 7"/>
          <p:cNvSpPr/>
          <p:nvPr/>
        </p:nvSpPr>
        <p:spPr>
          <a:xfrm>
            <a:off x="4499992" y="5305339"/>
            <a:ext cx="3096344" cy="1097736"/>
          </a:xfrm>
          <a:prstGeom prst="rect">
            <a:avLst/>
          </a:prstGeom>
        </p:spPr>
        <p:txBody>
          <a:bodyPr wrap="square">
            <a:spAutoFit/>
          </a:bodyPr>
          <a:lstStyle/>
          <a:p>
            <a:pPr>
              <a:lnSpc>
                <a:spcPct val="150000"/>
              </a:lnSpc>
            </a:pPr>
            <a:r>
              <a:rPr lang="zh-CN" altLang="en-US" sz="2000" dirty="0" smtClean="0">
                <a:solidFill>
                  <a:schemeClr val="bg1">
                    <a:lumMod val="50000"/>
                  </a:schemeClr>
                </a:solidFill>
                <a:latin typeface="+mn-ea"/>
              </a:rPr>
              <a:t>                      </a:t>
            </a:r>
            <a:r>
              <a:rPr lang="zh-CN" altLang="en-US" sz="2800" dirty="0" smtClean="0">
                <a:solidFill>
                  <a:srgbClr val="302C24"/>
                </a:solidFill>
                <a:latin typeface="楷体"/>
                <a:ea typeface="楷体"/>
                <a:cs typeface="楷体"/>
              </a:rPr>
              <a:t>白建军</a:t>
            </a:r>
            <a:endParaRPr lang="en-US" altLang="zh-CN" sz="2800" dirty="0" smtClean="0">
              <a:solidFill>
                <a:srgbClr val="302C24"/>
              </a:solidFill>
              <a:latin typeface="楷体"/>
              <a:ea typeface="楷体"/>
              <a:cs typeface="楷体"/>
            </a:endParaRPr>
          </a:p>
          <a:p>
            <a:pPr>
              <a:lnSpc>
                <a:spcPct val="120000"/>
              </a:lnSpc>
            </a:pPr>
            <a:endParaRPr lang="zh-CN" altLang="en-US" sz="2000" b="0" dirty="0" smtClean="0">
              <a:solidFill>
                <a:schemeClr val="bg1">
                  <a:lumMod val="50000"/>
                </a:schemeClr>
              </a:solidFill>
              <a:latin typeface="+mn-ea"/>
            </a:endParaRPr>
          </a:p>
        </p:txBody>
      </p:sp>
      <p:sp>
        <p:nvSpPr>
          <p:cNvPr id="9" name="矩形 8"/>
          <p:cNvSpPr/>
          <p:nvPr/>
        </p:nvSpPr>
        <p:spPr>
          <a:xfrm>
            <a:off x="1076160" y="0"/>
            <a:ext cx="1007269" cy="685800"/>
          </a:xfrm>
          <a:prstGeom prst="rect">
            <a:avLst/>
          </a:prstGeom>
          <a:solidFill>
            <a:srgbClr val="8245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0" y="685800"/>
            <a:ext cx="9144000" cy="0"/>
          </a:xfrm>
          <a:prstGeom prst="line">
            <a:avLst/>
          </a:prstGeom>
          <a:ln>
            <a:solidFill>
              <a:schemeClr val="bg1">
                <a:lumMod val="7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9879997"/>
      </p:ext>
    </p:extLst>
  </p:cSld>
  <p:clrMapOvr>
    <a:masterClrMapping/>
  </p:clrMapOvr>
  <p:transition>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9592" y="188640"/>
            <a:ext cx="7170737" cy="492125"/>
          </a:xfrm>
        </p:spPr>
        <p:txBody>
          <a:bodyPr/>
          <a:lstStyle/>
          <a:p>
            <a:pPr algn="ctr"/>
            <a:r>
              <a:rPr kumimoji="1" lang="zh-CN" altLang="en-US" sz="4000" dirty="0" smtClean="0">
                <a:latin typeface="Lantinghei SC Demibold" charset="-122"/>
                <a:ea typeface="Lantinghei SC Demibold" charset="-122"/>
                <a:cs typeface="Lantinghei SC Demibold" charset="-122"/>
              </a:rPr>
              <a:t>媒体案例</a:t>
            </a:r>
            <a:endParaRPr kumimoji="1" lang="zh-CN" altLang="en-US" sz="4000" dirty="0">
              <a:latin typeface="Lantinghei SC Demibold" charset="-122"/>
              <a:ea typeface="Lantinghei SC Demibold" charset="-122"/>
              <a:cs typeface="Lantinghei SC Demibold" charset="-122"/>
            </a:endParaRPr>
          </a:p>
        </p:txBody>
      </p:sp>
      <p:sp>
        <p:nvSpPr>
          <p:cNvPr id="3" name="内容占位符 2"/>
          <p:cNvSpPr>
            <a:spLocks noGrp="1"/>
          </p:cNvSpPr>
          <p:nvPr>
            <p:ph idx="1"/>
          </p:nvPr>
        </p:nvSpPr>
        <p:spPr>
          <a:xfrm>
            <a:off x="467544" y="908720"/>
            <a:ext cx="8229600" cy="5544616"/>
          </a:xfrm>
        </p:spPr>
        <p:txBody>
          <a:bodyPr/>
          <a:lstStyle/>
          <a:p>
            <a:r>
              <a:rPr kumimoji="1" lang="zh-CN" altLang="en-US" sz="2800" dirty="0" smtClean="0"/>
              <a:t>许霆案</a:t>
            </a:r>
          </a:p>
          <a:p>
            <a:r>
              <a:rPr kumimoji="1" lang="zh-CN" altLang="en-US" sz="2800" dirty="0" smtClean="0"/>
              <a:t>邓玉娇案：</a:t>
            </a:r>
            <a:r>
              <a:rPr lang="en-US" altLang="zh-CN" dirty="0"/>
              <a:t>2009 </a:t>
            </a:r>
            <a:r>
              <a:rPr lang="zh-CN" altLang="en-US" dirty="0"/>
              <a:t>年</a:t>
            </a:r>
            <a:r>
              <a:rPr lang="en-US" altLang="zh-CN" dirty="0"/>
              <a:t>5 </a:t>
            </a:r>
            <a:r>
              <a:rPr lang="zh-CN" altLang="en-US" dirty="0"/>
              <a:t>月</a:t>
            </a:r>
            <a:r>
              <a:rPr lang="en-US" altLang="zh-CN" dirty="0"/>
              <a:t>10 </a:t>
            </a:r>
            <a:r>
              <a:rPr lang="zh-CN" altLang="en-US" dirty="0"/>
              <a:t>日晚</a:t>
            </a:r>
            <a:r>
              <a:rPr lang="zh-CN" altLang="en-US" dirty="0" smtClean="0"/>
              <a:t>，黄某等</a:t>
            </a:r>
            <a:r>
              <a:rPr lang="zh-CN" altLang="en-US" dirty="0"/>
              <a:t>公务员三人</a:t>
            </a:r>
            <a:r>
              <a:rPr lang="zh-CN" altLang="en-US" dirty="0" smtClean="0"/>
              <a:t>酒后</a:t>
            </a:r>
            <a:r>
              <a:rPr lang="zh-CN" altLang="en-US" dirty="0"/>
              <a:t>到该县野三关镇雄风宾馆梦幻娱乐城玩乐。</a:t>
            </a:r>
            <a:r>
              <a:rPr lang="zh-CN" altLang="en-US" dirty="0" smtClean="0"/>
              <a:t>黄德智</a:t>
            </a:r>
            <a:r>
              <a:rPr lang="zh-CN" altLang="en-US" dirty="0"/>
              <a:t>强迫要求宾馆女服务员邓玉娇陪其洗浴，遭到</a:t>
            </a:r>
            <a:r>
              <a:rPr lang="zh-CN" altLang="en-US" dirty="0" smtClean="0"/>
              <a:t>拒绝。</a:t>
            </a:r>
          </a:p>
          <a:p>
            <a:r>
              <a:rPr lang="zh-CN" altLang="en-US" dirty="0" smtClean="0"/>
              <a:t>黄等人极为</a:t>
            </a:r>
            <a:r>
              <a:rPr lang="zh-CN" altLang="en-US" dirty="0"/>
              <a:t>不满，对邓玉娇进行百般</a:t>
            </a:r>
            <a:r>
              <a:rPr lang="zh-CN" altLang="en-US" dirty="0" smtClean="0"/>
              <a:t>纠缠</a:t>
            </a:r>
            <a:r>
              <a:rPr lang="zh-CN" altLang="en-US" dirty="0"/>
              <a:t>。当邓贵大再次逼近邓玉娇时，被推坐在单人</a:t>
            </a:r>
            <a:r>
              <a:rPr lang="zh-CN" altLang="en-US" dirty="0" smtClean="0"/>
              <a:t>沙发上</a:t>
            </a:r>
            <a:r>
              <a:rPr lang="zh-CN" altLang="en-US" dirty="0"/>
              <a:t>的邓玉娇从随身携带的包内掏出一把水果刀，起</a:t>
            </a:r>
            <a:r>
              <a:rPr lang="zh-CN" altLang="en-US" dirty="0" smtClean="0"/>
              <a:t>身朝</a:t>
            </a:r>
            <a:r>
              <a:rPr lang="zh-CN" altLang="en-US" dirty="0"/>
              <a:t>邓贵大刺击，致邓贵大死亡。一直在现场的</a:t>
            </a:r>
            <a:r>
              <a:rPr lang="zh-CN" altLang="en-US" dirty="0" smtClean="0"/>
              <a:t>黄德智上前</a:t>
            </a:r>
            <a:r>
              <a:rPr lang="zh-CN" altLang="en-US" dirty="0"/>
              <a:t>阻拦时，亦被邓刺伤</a:t>
            </a:r>
            <a:r>
              <a:rPr lang="zh-CN" altLang="en-US" dirty="0" smtClean="0"/>
              <a:t>。</a:t>
            </a:r>
          </a:p>
          <a:p>
            <a:r>
              <a:rPr kumimoji="1" lang="zh-CN" altLang="en-US" sz="2800" dirty="0"/>
              <a:t>司法关注：</a:t>
            </a:r>
            <a:r>
              <a:rPr lang="en-US" altLang="zh-CN" dirty="0"/>
              <a:t>1. </a:t>
            </a:r>
            <a:r>
              <a:rPr lang="zh-CN" altLang="en-US" dirty="0"/>
              <a:t>是否为正当</a:t>
            </a:r>
            <a:r>
              <a:rPr lang="zh-CN" altLang="en-US" dirty="0" smtClean="0"/>
              <a:t>防卫</a:t>
            </a:r>
            <a:r>
              <a:rPr lang="en-US" altLang="zh-CN" dirty="0" smtClean="0"/>
              <a:t>2</a:t>
            </a:r>
            <a:r>
              <a:rPr lang="en-US" altLang="zh-CN" dirty="0"/>
              <a:t>. </a:t>
            </a:r>
            <a:r>
              <a:rPr lang="zh-CN" altLang="en-US" dirty="0"/>
              <a:t>正当防卫是否</a:t>
            </a:r>
            <a:r>
              <a:rPr lang="zh-CN" altLang="en-US" dirty="0" smtClean="0"/>
              <a:t>过当</a:t>
            </a:r>
            <a:r>
              <a:rPr lang="en-US" altLang="zh-CN" dirty="0" smtClean="0"/>
              <a:t>3</a:t>
            </a:r>
            <a:r>
              <a:rPr lang="en-US" altLang="zh-CN" dirty="0"/>
              <a:t>. </a:t>
            </a:r>
            <a:r>
              <a:rPr lang="zh-CN" altLang="en-US" dirty="0"/>
              <a:t>过当构成何种</a:t>
            </a:r>
            <a:r>
              <a:rPr lang="zh-CN" altLang="en-US" dirty="0" smtClean="0"/>
              <a:t>犯罪</a:t>
            </a:r>
            <a:endParaRPr kumimoji="1" lang="zh-CN" altLang="en-US" dirty="0" smtClean="0"/>
          </a:p>
          <a:p>
            <a:r>
              <a:rPr kumimoji="1" lang="zh-CN" altLang="en-US" sz="2800" dirty="0"/>
              <a:t>舆论关注：</a:t>
            </a:r>
            <a:r>
              <a:rPr lang="en-US" altLang="zh-CN" dirty="0" smtClean="0"/>
              <a:t>1</a:t>
            </a:r>
            <a:r>
              <a:rPr lang="en-US" altLang="zh-CN" dirty="0"/>
              <a:t>. </a:t>
            </a:r>
            <a:r>
              <a:rPr lang="zh-CN" altLang="en-US" dirty="0"/>
              <a:t>死者是</a:t>
            </a:r>
            <a:r>
              <a:rPr lang="zh-CN" altLang="en-US" dirty="0" smtClean="0"/>
              <a:t>官员；</a:t>
            </a:r>
            <a:r>
              <a:rPr lang="en-US" altLang="zh-CN" dirty="0" smtClean="0"/>
              <a:t>2</a:t>
            </a:r>
            <a:r>
              <a:rPr lang="en-US" altLang="zh-CN" dirty="0"/>
              <a:t>. </a:t>
            </a:r>
            <a:r>
              <a:rPr lang="zh-CN" altLang="en-US" dirty="0"/>
              <a:t>邓是弱</a:t>
            </a:r>
            <a:r>
              <a:rPr lang="zh-CN" altLang="en-US" dirty="0" smtClean="0"/>
              <a:t>女子；</a:t>
            </a:r>
            <a:r>
              <a:rPr lang="en-US" altLang="zh-CN" dirty="0" smtClean="0"/>
              <a:t>3</a:t>
            </a:r>
            <a:r>
              <a:rPr lang="en-US" altLang="zh-CN" dirty="0"/>
              <a:t>. </a:t>
            </a:r>
            <a:r>
              <a:rPr lang="zh-CN" altLang="en-US" dirty="0"/>
              <a:t>死者的行为是</a:t>
            </a:r>
            <a:r>
              <a:rPr lang="zh-CN" altLang="en-US" dirty="0" smtClean="0"/>
              <a:t>嫖娼</a:t>
            </a:r>
            <a:r>
              <a:rPr lang="zh-CN" altLang="en-US" dirty="0"/>
              <a:t>，态度蛮横、</a:t>
            </a:r>
            <a:r>
              <a:rPr lang="zh-CN" altLang="en-US" dirty="0" smtClean="0"/>
              <a:t>显摆；</a:t>
            </a:r>
            <a:r>
              <a:rPr lang="en-US" altLang="zh-CN" dirty="0" smtClean="0"/>
              <a:t>4</a:t>
            </a:r>
            <a:r>
              <a:rPr lang="en-US" altLang="zh-CN" dirty="0"/>
              <a:t>. </a:t>
            </a:r>
            <a:r>
              <a:rPr lang="zh-CN" altLang="en-US" dirty="0"/>
              <a:t>邓的行为是</a:t>
            </a:r>
            <a:r>
              <a:rPr lang="zh-CN" altLang="en-US" dirty="0" smtClean="0"/>
              <a:t>烈女的表现</a:t>
            </a:r>
          </a:p>
          <a:p>
            <a:r>
              <a:rPr lang="zh-CN" altLang="en-US" dirty="0" smtClean="0"/>
              <a:t>最终：有罪，免于刑事处分。</a:t>
            </a:r>
          </a:p>
        </p:txBody>
      </p:sp>
    </p:spTree>
    <p:extLst>
      <p:ext uri="{BB962C8B-B14F-4D97-AF65-F5344CB8AC3E}">
        <p14:creationId xmlns:p14="http://schemas.microsoft.com/office/powerpoint/2010/main" val="1093358049"/>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Lantinghei SC Demibold" charset="-122"/>
                <a:ea typeface="Lantinghei SC Demibold" charset="-122"/>
                <a:cs typeface="Lantinghei SC Demibold" charset="-122"/>
              </a:rPr>
              <a:t>药家鑫案</a:t>
            </a:r>
            <a:endParaRPr kumimoji="1" lang="zh-CN" altLang="en-US" sz="3600" dirty="0">
              <a:latin typeface="Lantinghei SC Demibold" charset="-122"/>
              <a:ea typeface="Lantinghei SC Demibold" charset="-122"/>
              <a:cs typeface="Lantinghei SC Demibold" charset="-122"/>
            </a:endParaRPr>
          </a:p>
        </p:txBody>
      </p:sp>
      <p:sp>
        <p:nvSpPr>
          <p:cNvPr id="3" name="内容占位符 2"/>
          <p:cNvSpPr>
            <a:spLocks noGrp="1"/>
          </p:cNvSpPr>
          <p:nvPr>
            <p:ph idx="1"/>
          </p:nvPr>
        </p:nvSpPr>
        <p:spPr/>
        <p:txBody>
          <a:bodyPr/>
          <a:lstStyle/>
          <a:p>
            <a:r>
              <a:rPr lang="en-US" altLang="zh-CN" dirty="0"/>
              <a:t>2010 </a:t>
            </a:r>
            <a:r>
              <a:rPr lang="zh-CN" altLang="en-US" dirty="0"/>
              <a:t>年</a:t>
            </a:r>
            <a:r>
              <a:rPr lang="en-US" altLang="zh-CN" dirty="0"/>
              <a:t>10 </a:t>
            </a:r>
            <a:r>
              <a:rPr lang="zh-CN" altLang="en-US" dirty="0"/>
              <a:t>月</a:t>
            </a:r>
            <a:r>
              <a:rPr lang="en-US" altLang="zh-CN" dirty="0"/>
              <a:t>20 </a:t>
            </a:r>
            <a:r>
              <a:rPr lang="zh-CN" altLang="en-US" dirty="0"/>
              <a:t>日晚，西安音乐学院大三学生药家鑫</a:t>
            </a:r>
          </a:p>
          <a:p>
            <a:r>
              <a:rPr lang="zh-CN" altLang="en-US" dirty="0"/>
              <a:t>开车撞伤一名</a:t>
            </a:r>
            <a:r>
              <a:rPr lang="en-US" altLang="zh-CN" dirty="0"/>
              <a:t>26 </a:t>
            </a:r>
            <a:r>
              <a:rPr lang="zh-CN" altLang="en-US" dirty="0"/>
              <a:t>岁女子。下车后看到受害人在记车</a:t>
            </a:r>
          </a:p>
          <a:p>
            <a:r>
              <a:rPr lang="zh-CN" altLang="en-US" dirty="0"/>
              <a:t>牌号码，因担心日后麻烦，药家鑫随即持水果刀将受</a:t>
            </a:r>
          </a:p>
          <a:p>
            <a:r>
              <a:rPr lang="zh-CN" altLang="en-US" dirty="0"/>
              <a:t>害人张妙连捅</a:t>
            </a:r>
            <a:r>
              <a:rPr lang="en-US" altLang="zh-CN" dirty="0"/>
              <a:t>8 </a:t>
            </a:r>
            <a:r>
              <a:rPr lang="zh-CN" altLang="en-US" dirty="0"/>
              <a:t>刀，致其当场死亡</a:t>
            </a:r>
            <a:r>
              <a:rPr lang="zh-CN" altLang="en-US" dirty="0" smtClean="0"/>
              <a:t>。</a:t>
            </a:r>
          </a:p>
          <a:p>
            <a:r>
              <a:rPr kumimoji="1" lang="zh-CN" altLang="en-US" dirty="0" smtClean="0"/>
              <a:t>司法关注：</a:t>
            </a:r>
            <a:r>
              <a:rPr lang="en-US" altLang="zh-CN" dirty="0"/>
              <a:t>1. </a:t>
            </a:r>
            <a:r>
              <a:rPr lang="zh-CN" altLang="en-US" dirty="0"/>
              <a:t>是否构成故意</a:t>
            </a:r>
            <a:r>
              <a:rPr lang="zh-CN" altLang="en-US" dirty="0" smtClean="0"/>
              <a:t>杀人；</a:t>
            </a:r>
            <a:r>
              <a:rPr lang="en-US" altLang="zh-CN" dirty="0" smtClean="0"/>
              <a:t>2</a:t>
            </a:r>
            <a:r>
              <a:rPr lang="en-US" altLang="zh-CN" dirty="0"/>
              <a:t>. </a:t>
            </a:r>
            <a:r>
              <a:rPr lang="zh-CN" altLang="en-US" dirty="0"/>
              <a:t>自首是否</a:t>
            </a:r>
            <a:r>
              <a:rPr lang="zh-CN" altLang="en-US" dirty="0" smtClean="0"/>
              <a:t>成立；</a:t>
            </a:r>
            <a:r>
              <a:rPr lang="en-US" altLang="zh-CN" dirty="0" smtClean="0"/>
              <a:t>3</a:t>
            </a:r>
            <a:r>
              <a:rPr lang="en-US" altLang="zh-CN" dirty="0"/>
              <a:t>. </a:t>
            </a:r>
            <a:r>
              <a:rPr lang="zh-CN" altLang="en-US" dirty="0"/>
              <a:t>自首是否可以</a:t>
            </a:r>
            <a:r>
              <a:rPr lang="zh-CN" altLang="en-US" dirty="0" smtClean="0"/>
              <a:t>作为减轻</a:t>
            </a:r>
            <a:r>
              <a:rPr lang="zh-CN" altLang="en-US" dirty="0"/>
              <a:t>处罚的</a:t>
            </a:r>
            <a:r>
              <a:rPr lang="zh-CN" altLang="en-US" dirty="0" smtClean="0"/>
              <a:t>依据</a:t>
            </a:r>
          </a:p>
          <a:p>
            <a:r>
              <a:rPr kumimoji="1" lang="zh-CN" altLang="en-US" dirty="0" smtClean="0"/>
              <a:t>舆论关注：</a:t>
            </a:r>
            <a:r>
              <a:rPr lang="en-US" altLang="zh-CN" dirty="0"/>
              <a:t>1. </a:t>
            </a:r>
            <a:r>
              <a:rPr lang="zh-CN" altLang="en-US" dirty="0"/>
              <a:t>被害人是女农</a:t>
            </a:r>
            <a:r>
              <a:rPr lang="zh-CN" altLang="en-US" dirty="0" smtClean="0"/>
              <a:t>民工</a:t>
            </a:r>
            <a:r>
              <a:rPr lang="zh-CN" altLang="en-US" dirty="0"/>
              <a:t>，家境</a:t>
            </a:r>
            <a:r>
              <a:rPr lang="zh-CN" altLang="en-US" dirty="0" smtClean="0"/>
              <a:t>贫寒；</a:t>
            </a:r>
            <a:r>
              <a:rPr lang="en-US" altLang="zh-CN" dirty="0" smtClean="0"/>
              <a:t>2</a:t>
            </a:r>
            <a:r>
              <a:rPr lang="en-US" altLang="zh-CN" dirty="0"/>
              <a:t>. </a:t>
            </a:r>
            <a:r>
              <a:rPr lang="zh-CN" altLang="en-US" dirty="0"/>
              <a:t>犯人是军二代、</a:t>
            </a:r>
            <a:r>
              <a:rPr lang="zh-CN" altLang="en-US" dirty="0" smtClean="0"/>
              <a:t>富二代；</a:t>
            </a:r>
            <a:r>
              <a:rPr lang="en-US" altLang="zh-CN" dirty="0" smtClean="0"/>
              <a:t>3</a:t>
            </a:r>
            <a:r>
              <a:rPr lang="en-US" altLang="zh-CN" dirty="0"/>
              <a:t>. </a:t>
            </a:r>
            <a:r>
              <a:rPr lang="zh-CN" altLang="en-US" dirty="0"/>
              <a:t>受害人抄号码，</a:t>
            </a:r>
            <a:r>
              <a:rPr lang="zh-CN" altLang="en-US" dirty="0" smtClean="0"/>
              <a:t>药家鑫</a:t>
            </a:r>
            <a:r>
              <a:rPr lang="zh-CN" altLang="en-US" dirty="0"/>
              <a:t>便动了八</a:t>
            </a:r>
            <a:r>
              <a:rPr lang="zh-CN" altLang="en-US" dirty="0" smtClean="0"/>
              <a:t>刀</a:t>
            </a:r>
          </a:p>
          <a:p>
            <a:r>
              <a:rPr kumimoji="1" lang="zh-CN" altLang="en-US" dirty="0" smtClean="0"/>
              <a:t>最终：注射死刑。</a:t>
            </a:r>
            <a:endParaRPr kumimoji="1" lang="zh-CN" altLang="en-US" dirty="0"/>
          </a:p>
        </p:txBody>
      </p:sp>
    </p:spTree>
    <p:extLst>
      <p:ext uri="{BB962C8B-B14F-4D97-AF65-F5344CB8AC3E}">
        <p14:creationId xmlns:p14="http://schemas.microsoft.com/office/powerpoint/2010/main" val="51162164"/>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smtClean="0">
                <a:latin typeface="Lantinghei SC Demibold" charset="-122"/>
                <a:ea typeface="Lantinghei SC Demibold" charset="-122"/>
                <a:cs typeface="Lantinghei SC Demibold" charset="-122"/>
              </a:rPr>
              <a:t>李昌奎案</a:t>
            </a:r>
            <a:endParaRPr kumimoji="1" lang="zh-CN" altLang="en-US" sz="4000" dirty="0">
              <a:latin typeface="Lantinghei SC Demibold" charset="-122"/>
              <a:ea typeface="Lantinghei SC Demibold" charset="-122"/>
              <a:cs typeface="Lantinghei SC Demibold" charset="-122"/>
            </a:endParaRPr>
          </a:p>
        </p:txBody>
      </p:sp>
      <p:sp>
        <p:nvSpPr>
          <p:cNvPr id="3" name="内容占位符 2"/>
          <p:cNvSpPr>
            <a:spLocks noGrp="1"/>
          </p:cNvSpPr>
          <p:nvPr>
            <p:ph idx="1"/>
          </p:nvPr>
        </p:nvSpPr>
        <p:spPr>
          <a:xfrm>
            <a:off x="457200" y="764704"/>
            <a:ext cx="8229600" cy="5361459"/>
          </a:xfrm>
        </p:spPr>
        <p:txBody>
          <a:bodyPr/>
          <a:lstStyle/>
          <a:p>
            <a:r>
              <a:rPr lang="en-US" altLang="zh-CN" dirty="0"/>
              <a:t>2009 </a:t>
            </a:r>
            <a:r>
              <a:rPr lang="zh-CN" altLang="en-US" dirty="0"/>
              <a:t>年</a:t>
            </a:r>
            <a:r>
              <a:rPr lang="en-US" altLang="zh-CN" dirty="0"/>
              <a:t>5 </a:t>
            </a:r>
            <a:r>
              <a:rPr lang="zh-CN" altLang="en-US" dirty="0"/>
              <a:t>月</a:t>
            </a:r>
            <a:r>
              <a:rPr lang="en-US" altLang="zh-CN" dirty="0"/>
              <a:t>14 </a:t>
            </a:r>
            <a:r>
              <a:rPr lang="zh-CN" altLang="en-US" dirty="0"/>
              <a:t>日，云南省某村村民李昌奎兄长与</a:t>
            </a:r>
            <a:r>
              <a:rPr lang="zh-CN" altLang="en-US" dirty="0" smtClean="0"/>
              <a:t>邻居</a:t>
            </a:r>
            <a:r>
              <a:rPr lang="zh-CN" altLang="en-US" dirty="0"/>
              <a:t>因琐事发生争吵打架，在外打工的李昌奎知情后</a:t>
            </a:r>
            <a:r>
              <a:rPr lang="zh-CN" altLang="en-US" dirty="0" smtClean="0"/>
              <a:t>即赶</a:t>
            </a:r>
            <a:r>
              <a:rPr lang="zh-CN" altLang="en-US" dirty="0"/>
              <a:t>回家与邻居女儿发生争吵抓打，李对其实施强暴</a:t>
            </a:r>
            <a:r>
              <a:rPr lang="zh-CN" altLang="en-US" dirty="0" smtClean="0"/>
              <a:t>，并</a:t>
            </a:r>
            <a:r>
              <a:rPr lang="zh-CN" altLang="en-US" dirty="0"/>
              <a:t>用锄头将其敲打致死。之后，又将其弟倒提摔死</a:t>
            </a:r>
            <a:r>
              <a:rPr lang="zh-CN" altLang="en-US" dirty="0" smtClean="0"/>
              <a:t>。随后</a:t>
            </a:r>
            <a:r>
              <a:rPr lang="zh-CN" altLang="en-US" dirty="0"/>
              <a:t>又将姐弟二人用绳子勒紧脖子逃离现场</a:t>
            </a:r>
            <a:r>
              <a:rPr lang="zh-CN" altLang="en-US" dirty="0" smtClean="0"/>
              <a:t>。</a:t>
            </a:r>
          </a:p>
          <a:p>
            <a:r>
              <a:rPr lang="en-US" altLang="zh-CN" dirty="0" smtClean="0"/>
              <a:t>2010</a:t>
            </a:r>
            <a:r>
              <a:rPr lang="zh-CN" altLang="en-US" dirty="0" smtClean="0"/>
              <a:t>年</a:t>
            </a:r>
            <a:r>
              <a:rPr lang="en-US" altLang="zh-CN" dirty="0"/>
              <a:t>7 </a:t>
            </a:r>
            <a:r>
              <a:rPr lang="zh-CN" altLang="en-US" dirty="0"/>
              <a:t>月</a:t>
            </a:r>
            <a:r>
              <a:rPr lang="en-US" altLang="zh-CN" dirty="0"/>
              <a:t>15 </a:t>
            </a:r>
            <a:r>
              <a:rPr lang="zh-CN" altLang="en-US" dirty="0"/>
              <a:t>日昭通市中级人民法院经一审判处</a:t>
            </a:r>
            <a:r>
              <a:rPr lang="zh-CN" altLang="en-US" dirty="0" smtClean="0"/>
              <a:t>李昌奎死刑。</a:t>
            </a:r>
            <a:r>
              <a:rPr lang="en-US" altLang="zh-CN" dirty="0" smtClean="0"/>
              <a:t>2011 </a:t>
            </a:r>
            <a:r>
              <a:rPr lang="zh-CN" altLang="en-US" dirty="0" smtClean="0"/>
              <a:t>年</a:t>
            </a:r>
            <a:r>
              <a:rPr lang="en-US" altLang="zh-CN" dirty="0" smtClean="0"/>
              <a:t>3 </a:t>
            </a:r>
            <a:r>
              <a:rPr lang="zh-CN" altLang="en-US" dirty="0" smtClean="0"/>
              <a:t>月</a:t>
            </a:r>
            <a:r>
              <a:rPr lang="en-US" altLang="zh-CN" dirty="0" smtClean="0"/>
              <a:t>4 </a:t>
            </a:r>
            <a:r>
              <a:rPr lang="zh-CN" altLang="en-US" dirty="0" smtClean="0"/>
              <a:t>日，云南省高级人民法院二审改判</a:t>
            </a:r>
            <a:r>
              <a:rPr lang="zh-CN" altLang="en-US" dirty="0"/>
              <a:t>李昌奎</a:t>
            </a:r>
            <a:r>
              <a:rPr lang="zh-CN" altLang="en-US" dirty="0" smtClean="0"/>
              <a:t>死缓。</a:t>
            </a:r>
            <a:r>
              <a:rPr lang="zh-CN" altLang="en-US" dirty="0"/>
              <a:t>二审的“不死”</a:t>
            </a:r>
            <a:r>
              <a:rPr lang="zh-CN" altLang="en-US" dirty="0" smtClean="0"/>
              <a:t>判决引发</a:t>
            </a:r>
            <a:r>
              <a:rPr lang="zh-CN" altLang="en-US" dirty="0"/>
              <a:t>公众强烈不满</a:t>
            </a:r>
            <a:r>
              <a:rPr lang="zh-CN" altLang="en-US" dirty="0" smtClean="0"/>
              <a:t>。</a:t>
            </a:r>
          </a:p>
          <a:p>
            <a:r>
              <a:rPr lang="zh-CN" altLang="en-US" dirty="0" smtClean="0"/>
              <a:t>司法关注：</a:t>
            </a:r>
            <a:r>
              <a:rPr lang="en-US" altLang="zh-CN" dirty="0"/>
              <a:t>1. </a:t>
            </a:r>
            <a:r>
              <a:rPr lang="zh-CN" altLang="en-US" dirty="0"/>
              <a:t>是否构成</a:t>
            </a:r>
            <a:r>
              <a:rPr lang="zh-CN" altLang="en-US" dirty="0" smtClean="0"/>
              <a:t>自首；</a:t>
            </a:r>
            <a:r>
              <a:rPr lang="en-US" altLang="zh-CN" dirty="0" smtClean="0"/>
              <a:t>2</a:t>
            </a:r>
            <a:r>
              <a:rPr lang="en-US" altLang="zh-CN" dirty="0"/>
              <a:t>. </a:t>
            </a:r>
            <a:r>
              <a:rPr lang="zh-CN" altLang="en-US" dirty="0"/>
              <a:t>自首是否可以</a:t>
            </a:r>
            <a:r>
              <a:rPr lang="zh-CN" altLang="en-US" dirty="0" smtClean="0"/>
              <a:t>作为减轻</a:t>
            </a:r>
            <a:r>
              <a:rPr lang="zh-CN" altLang="en-US" dirty="0"/>
              <a:t>处罚</a:t>
            </a:r>
            <a:r>
              <a:rPr lang="zh-CN" altLang="en-US" dirty="0" smtClean="0"/>
              <a:t>依据</a:t>
            </a:r>
          </a:p>
          <a:p>
            <a:r>
              <a:rPr lang="zh-CN" altLang="en-US" dirty="0" smtClean="0"/>
              <a:t>舆论关注：</a:t>
            </a:r>
            <a:r>
              <a:rPr lang="zh-CN" altLang="en-US" dirty="0"/>
              <a:t>李昌奎与药家鑫</a:t>
            </a:r>
            <a:r>
              <a:rPr lang="zh-CN" altLang="en-US" dirty="0" smtClean="0"/>
              <a:t>相比，药家</a:t>
            </a:r>
            <a:r>
              <a:rPr lang="zh-CN" altLang="en-US" dirty="0"/>
              <a:t>鑫杀一</a:t>
            </a:r>
            <a:r>
              <a:rPr lang="zh-CN" altLang="en-US" dirty="0" smtClean="0"/>
              <a:t>人判</a:t>
            </a:r>
            <a:r>
              <a:rPr lang="zh-CN" altLang="en-US" dirty="0"/>
              <a:t>死刑，李昌奎杀</a:t>
            </a:r>
            <a:r>
              <a:rPr lang="zh-CN" altLang="en-US" dirty="0" smtClean="0"/>
              <a:t>二人</a:t>
            </a:r>
            <a:r>
              <a:rPr lang="zh-CN" altLang="en-US" dirty="0"/>
              <a:t>却判死</a:t>
            </a:r>
            <a:r>
              <a:rPr lang="zh-CN" altLang="en-US" dirty="0" smtClean="0"/>
              <a:t>缓</a:t>
            </a:r>
          </a:p>
          <a:p>
            <a:r>
              <a:rPr lang="zh-CN" altLang="en-US" dirty="0" smtClean="0"/>
              <a:t>最终，核准了死刑立即执行。</a:t>
            </a:r>
            <a:endParaRPr lang="zh-CN" altLang="en-US" dirty="0"/>
          </a:p>
        </p:txBody>
      </p:sp>
    </p:spTree>
    <p:extLst>
      <p:ext uri="{BB962C8B-B14F-4D97-AF65-F5344CB8AC3E}">
        <p14:creationId xmlns:p14="http://schemas.microsoft.com/office/powerpoint/2010/main" val="889031548"/>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4000" dirty="0" smtClean="0">
                <a:latin typeface="Lantinghei SC Demibold" charset="-122"/>
                <a:ea typeface="Lantinghei SC Demibold" charset="-122"/>
                <a:cs typeface="Lantinghei SC Demibold" charset="-122"/>
              </a:rPr>
              <a:t>天价过路费案</a:t>
            </a:r>
            <a:endParaRPr kumimoji="1" lang="zh-CN" altLang="en-US" sz="4000" dirty="0">
              <a:latin typeface="Lantinghei SC Demibold" charset="-122"/>
              <a:ea typeface="Lantinghei SC Demibold" charset="-122"/>
              <a:cs typeface="Lantinghei SC Demibold" charset="-122"/>
            </a:endParaRPr>
          </a:p>
        </p:txBody>
      </p:sp>
      <p:sp>
        <p:nvSpPr>
          <p:cNvPr id="3" name="内容占位符 2"/>
          <p:cNvSpPr>
            <a:spLocks noGrp="1"/>
          </p:cNvSpPr>
          <p:nvPr>
            <p:ph idx="1"/>
          </p:nvPr>
        </p:nvSpPr>
        <p:spPr/>
        <p:txBody>
          <a:bodyPr/>
          <a:lstStyle/>
          <a:p>
            <a:r>
              <a:rPr lang="zh-CN" altLang="en-US" dirty="0"/>
              <a:t>河南禹州农民时建锋经营运输沙石业务。为了</a:t>
            </a:r>
            <a:r>
              <a:rPr lang="zh-CN" altLang="en-US" dirty="0" smtClean="0"/>
              <a:t>逃避过</a:t>
            </a:r>
            <a:r>
              <a:rPr lang="zh-CN" altLang="en-US" dirty="0"/>
              <a:t>路费，时建锋凭借两套假军车牌照通行，于</a:t>
            </a:r>
            <a:r>
              <a:rPr lang="en-US" altLang="zh-CN" dirty="0"/>
              <a:t>2008 </a:t>
            </a:r>
            <a:r>
              <a:rPr lang="zh-CN" altLang="en-US" dirty="0" smtClean="0"/>
              <a:t>年</a:t>
            </a:r>
            <a:r>
              <a:rPr lang="is-IS" altLang="zh-CN" dirty="0" smtClean="0"/>
              <a:t>5 </a:t>
            </a:r>
            <a:r>
              <a:rPr lang="zh-CN" altLang="is-IS" dirty="0"/>
              <a:t>月</a:t>
            </a:r>
            <a:r>
              <a:rPr lang="is-IS" altLang="zh-CN" dirty="0"/>
              <a:t>4 </a:t>
            </a:r>
            <a:r>
              <a:rPr lang="zh-CN" altLang="is-IS" dirty="0"/>
              <a:t>日至</a:t>
            </a:r>
            <a:r>
              <a:rPr lang="is-IS" altLang="zh-CN" dirty="0"/>
              <a:t>2009 </a:t>
            </a:r>
            <a:r>
              <a:rPr lang="zh-CN" altLang="is-IS" dirty="0"/>
              <a:t>年</a:t>
            </a:r>
            <a:r>
              <a:rPr lang="is-IS" altLang="zh-CN" dirty="0"/>
              <a:t>1 </a:t>
            </a:r>
            <a:r>
              <a:rPr lang="zh-CN" altLang="is-IS" dirty="0"/>
              <a:t>月</a:t>
            </a:r>
            <a:r>
              <a:rPr lang="is-IS" altLang="zh-CN" dirty="0"/>
              <a:t>1 </a:t>
            </a:r>
            <a:r>
              <a:rPr lang="zh-CN" altLang="is-IS" dirty="0"/>
              <a:t>日免费通行高速路</a:t>
            </a:r>
            <a:r>
              <a:rPr lang="is-IS" altLang="zh-CN" dirty="0" smtClean="0"/>
              <a:t>2361</a:t>
            </a:r>
            <a:r>
              <a:rPr lang="zh-CN" altLang="en-US" dirty="0" smtClean="0"/>
              <a:t>次</a:t>
            </a:r>
            <a:r>
              <a:rPr lang="zh-CN" altLang="en-US" dirty="0"/>
              <a:t>，一审法院认定其偷逃过路费达</a:t>
            </a:r>
            <a:r>
              <a:rPr lang="en-US" altLang="zh-CN" dirty="0"/>
              <a:t>368 </a:t>
            </a:r>
            <a:r>
              <a:rPr lang="zh-CN" altLang="en-US" dirty="0"/>
              <a:t>万余元，</a:t>
            </a:r>
            <a:r>
              <a:rPr lang="zh-CN" altLang="en-US" dirty="0" smtClean="0"/>
              <a:t>判处其</a:t>
            </a:r>
            <a:r>
              <a:rPr lang="zh-CN" altLang="en-US" dirty="0"/>
              <a:t>无期徒刑</a:t>
            </a:r>
            <a:r>
              <a:rPr lang="zh-CN" altLang="en-US" dirty="0" smtClean="0"/>
              <a:t>。</a:t>
            </a:r>
          </a:p>
          <a:p>
            <a:r>
              <a:rPr kumimoji="1" lang="zh-CN" altLang="en-US" dirty="0" smtClean="0"/>
              <a:t>司法关注：</a:t>
            </a:r>
            <a:r>
              <a:rPr lang="en-US" altLang="zh-CN" dirty="0"/>
              <a:t>1. </a:t>
            </a:r>
            <a:r>
              <a:rPr lang="zh-CN" altLang="en-US" dirty="0"/>
              <a:t>是否构成诈骗罪</a:t>
            </a:r>
            <a:r>
              <a:rPr lang="en-US" altLang="zh-CN" dirty="0" smtClean="0"/>
              <a:t>?</a:t>
            </a:r>
            <a:r>
              <a:rPr lang="zh-CN" altLang="en-US" dirty="0" smtClean="0"/>
              <a:t> </a:t>
            </a:r>
            <a:r>
              <a:rPr lang="en-US" altLang="zh-CN" dirty="0" smtClean="0"/>
              <a:t>2</a:t>
            </a:r>
            <a:r>
              <a:rPr lang="en-US" altLang="zh-CN" dirty="0"/>
              <a:t>. </a:t>
            </a:r>
            <a:r>
              <a:rPr lang="zh-CN" altLang="en-US" dirty="0"/>
              <a:t>偷逃费用如何</a:t>
            </a:r>
            <a:r>
              <a:rPr lang="zh-CN" altLang="en-US" dirty="0" smtClean="0"/>
              <a:t>计算</a:t>
            </a:r>
          </a:p>
          <a:p>
            <a:r>
              <a:rPr kumimoji="1" lang="zh-CN" altLang="en-US" dirty="0" smtClean="0"/>
              <a:t>舆论关注：</a:t>
            </a:r>
            <a:r>
              <a:rPr lang="en-US" altLang="zh-CN" dirty="0"/>
              <a:t>1. </a:t>
            </a:r>
            <a:r>
              <a:rPr lang="zh-CN" altLang="en-US" dirty="0"/>
              <a:t>被告是</a:t>
            </a:r>
            <a:r>
              <a:rPr lang="zh-CN" altLang="en-US" dirty="0" smtClean="0"/>
              <a:t>民工；</a:t>
            </a:r>
            <a:r>
              <a:rPr lang="en-US" altLang="zh-CN" dirty="0" smtClean="0"/>
              <a:t>2</a:t>
            </a:r>
            <a:r>
              <a:rPr lang="en-US" altLang="zh-CN" dirty="0"/>
              <a:t>. </a:t>
            </a:r>
            <a:r>
              <a:rPr lang="zh-CN" altLang="en-US" dirty="0"/>
              <a:t>收费方是强势</a:t>
            </a:r>
            <a:r>
              <a:rPr lang="zh-CN" altLang="en-US" dirty="0" smtClean="0"/>
              <a:t>利益</a:t>
            </a:r>
            <a:r>
              <a:rPr lang="zh-CN" altLang="en-US" dirty="0"/>
              <a:t>集团，收费存在</a:t>
            </a:r>
            <a:r>
              <a:rPr lang="zh-CN" altLang="en-US" dirty="0" smtClean="0"/>
              <a:t>严重暴利；</a:t>
            </a:r>
            <a:r>
              <a:rPr lang="en-US" altLang="zh-CN" dirty="0" smtClean="0"/>
              <a:t>3</a:t>
            </a:r>
            <a:r>
              <a:rPr lang="en-US" altLang="zh-CN" dirty="0"/>
              <a:t>. </a:t>
            </a:r>
            <a:r>
              <a:rPr lang="zh-CN" altLang="en-US" dirty="0"/>
              <a:t>收入与处罚</a:t>
            </a:r>
            <a:r>
              <a:rPr lang="zh-CN" altLang="en-US" dirty="0" smtClean="0"/>
              <a:t>相差悬殊</a:t>
            </a:r>
            <a:endParaRPr kumimoji="1" lang="zh-CN" altLang="en-US" dirty="0" smtClean="0"/>
          </a:p>
          <a:p>
            <a:r>
              <a:rPr lang="zh-CN" altLang="en-US" dirty="0" smtClean="0"/>
              <a:t>最终：改判六年</a:t>
            </a:r>
            <a:endParaRPr lang="zh-CN" altLang="en-US" dirty="0"/>
          </a:p>
        </p:txBody>
      </p:sp>
    </p:spTree>
    <p:extLst>
      <p:ext uri="{BB962C8B-B14F-4D97-AF65-F5344CB8AC3E}">
        <p14:creationId xmlns:p14="http://schemas.microsoft.com/office/powerpoint/2010/main" val="1909495057"/>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548680"/>
            <a:ext cx="683568" cy="5832648"/>
          </a:xfrm>
          <a:prstGeom prst="rect">
            <a:avLst/>
          </a:prstGeom>
          <a:solidFill>
            <a:srgbClr val="6A391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8" name="矩形 7"/>
          <p:cNvSpPr>
            <a:spLocks/>
          </p:cNvSpPr>
          <p:nvPr/>
        </p:nvSpPr>
        <p:spPr>
          <a:xfrm>
            <a:off x="971600" y="1700808"/>
            <a:ext cx="792088" cy="3613297"/>
          </a:xfrm>
          <a:prstGeom prst="rect">
            <a:avLst/>
          </a:prstGeom>
          <a:noFill/>
        </p:spPr>
        <p:txBody>
          <a:bodyPr wrap="square" lIns="91440" tIns="45720" rIns="91440" bIns="45720">
            <a:spAutoFit/>
            <a:scene3d>
              <a:camera prst="orthographicFront">
                <a:rot lat="0" lon="0" rev="0"/>
              </a:camera>
              <a:lightRig rig="contrasting" dir="t">
                <a:rot lat="0" lon="0" rev="4500000"/>
              </a:lightRig>
            </a:scene3d>
            <a:sp3d contourW="6350" prstMaterial="metal">
              <a:contourClr>
                <a:schemeClr val="accent1">
                  <a:shade val="75000"/>
                </a:schemeClr>
              </a:contourClr>
            </a:sp3d>
          </a:bodyPr>
          <a:lstStyle/>
          <a:p>
            <a:pPr algn="dist">
              <a:lnSpc>
                <a:spcPct val="120000"/>
              </a:lnSpc>
            </a:pPr>
            <a:r>
              <a:rPr lang="zh-CN" altLang="en-US" sz="4800" b="1" cap="all" dirty="0" smtClean="0">
                <a:ln w="76200" cmpd="sng"/>
                <a:effectLst/>
                <a:latin typeface="微软雅黑"/>
                <a:ea typeface="微软雅黑"/>
                <a:cs typeface="微软雅黑"/>
              </a:rPr>
              <a:t>研究</a:t>
            </a:r>
            <a:endParaRPr lang="en-US" altLang="zh-CN" sz="4800" b="1" cap="all" dirty="0" smtClean="0">
              <a:ln w="76200" cmpd="sng"/>
              <a:effectLst/>
              <a:latin typeface="微软雅黑"/>
              <a:ea typeface="微软雅黑"/>
              <a:cs typeface="微软雅黑"/>
            </a:endParaRPr>
          </a:p>
          <a:p>
            <a:pPr algn="dist">
              <a:lnSpc>
                <a:spcPct val="120000"/>
              </a:lnSpc>
            </a:pPr>
            <a:r>
              <a:rPr lang="zh-CN" altLang="en-US" sz="4800" cap="all" dirty="0" smtClean="0">
                <a:ln w="76200" cmpd="sng"/>
                <a:latin typeface="微软雅黑"/>
                <a:ea typeface="微软雅黑"/>
                <a:cs typeface="微软雅黑"/>
              </a:rPr>
              <a:t>问题</a:t>
            </a:r>
            <a:endParaRPr lang="zh-CN" altLang="en-US" sz="4800" b="1" cap="all" dirty="0">
              <a:ln w="76200" cmpd="sng"/>
              <a:effectLst/>
              <a:latin typeface="微软雅黑"/>
              <a:ea typeface="微软雅黑"/>
              <a:cs typeface="微软雅黑"/>
            </a:endParaRPr>
          </a:p>
        </p:txBody>
      </p:sp>
      <p:sp>
        <p:nvSpPr>
          <p:cNvPr id="11" name="矩形 10"/>
          <p:cNvSpPr/>
          <p:nvPr/>
        </p:nvSpPr>
        <p:spPr>
          <a:xfrm>
            <a:off x="2051720" y="548680"/>
            <a:ext cx="7092280" cy="5904656"/>
          </a:xfrm>
          <a:prstGeom prst="rect">
            <a:avLst/>
          </a:prstGeom>
          <a:solidFill>
            <a:srgbClr val="6A391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2411760" y="836712"/>
            <a:ext cx="6408712" cy="5607689"/>
          </a:xfrm>
          <a:prstGeom prst="rect">
            <a:avLst/>
          </a:prstGeom>
          <a:solidFill>
            <a:srgbClr val="6A3911"/>
          </a:solidFill>
        </p:spPr>
        <p:txBody>
          <a:bodyPr wrap="square" rtlCol="0">
            <a:spAutoFit/>
          </a:bodyPr>
          <a:lstStyle/>
          <a:p>
            <a:pPr>
              <a:lnSpc>
                <a:spcPct val="140000"/>
              </a:lnSpc>
            </a:pPr>
            <a:r>
              <a:rPr kumimoji="1" lang="zh-CN" altLang="en-US" sz="2400" dirty="0" smtClean="0">
                <a:solidFill>
                  <a:schemeClr val="bg1"/>
                </a:solidFill>
                <a:latin typeface="华文仿宋"/>
                <a:ea typeface="华文仿宋"/>
                <a:cs typeface="华文仿宋"/>
              </a:rPr>
              <a:t>宽严轻重是刑法的一个基本维度。</a:t>
            </a:r>
            <a:endParaRPr kumimoji="1" lang="en-US" altLang="zh-CN" sz="2400" dirty="0" smtClean="0">
              <a:solidFill>
                <a:schemeClr val="bg1"/>
              </a:solidFill>
              <a:latin typeface="华文仿宋"/>
              <a:ea typeface="华文仿宋"/>
              <a:cs typeface="华文仿宋"/>
            </a:endParaRPr>
          </a:p>
          <a:p>
            <a:pPr>
              <a:lnSpc>
                <a:spcPct val="140000"/>
              </a:lnSpc>
            </a:pPr>
            <a:r>
              <a:rPr kumimoji="1" lang="zh-CN" altLang="en-US" sz="2400" dirty="0" smtClean="0">
                <a:solidFill>
                  <a:schemeClr val="bg1"/>
                </a:solidFill>
                <a:latin typeface="华文仿宋"/>
                <a:ea typeface="华文仿宋"/>
                <a:cs typeface="华文仿宋"/>
              </a:rPr>
              <a:t>民众对刑法的宽严偏好常常成为刑事政策决策理由</a:t>
            </a:r>
            <a:r>
              <a:rPr kumimoji="1" lang="en-US" altLang="zh-CN" sz="2400" dirty="0" smtClean="0">
                <a:solidFill>
                  <a:schemeClr val="bg1"/>
                </a:solidFill>
                <a:latin typeface="华文仿宋"/>
                <a:ea typeface="华文仿宋"/>
                <a:cs typeface="华文仿宋"/>
              </a:rPr>
              <a:t>——</a:t>
            </a:r>
            <a:r>
              <a:rPr kumimoji="1" lang="zh-CN" altLang="en-US" sz="2400" dirty="0" smtClean="0">
                <a:solidFill>
                  <a:schemeClr val="bg1"/>
                </a:solidFill>
                <a:latin typeface="华文仿宋"/>
                <a:ea typeface="华文仿宋"/>
                <a:cs typeface="华文仿宋"/>
              </a:rPr>
              <a:t>官方定义不能</a:t>
            </a:r>
            <a:r>
              <a:rPr kumimoji="1" lang="zh-CN" altLang="en-US" sz="2400" dirty="0">
                <a:solidFill>
                  <a:schemeClr val="bg1"/>
                </a:solidFill>
                <a:latin typeface="华文仿宋"/>
                <a:ea typeface="华文仿宋"/>
                <a:cs typeface="华文仿宋"/>
              </a:rPr>
              <a:t>不在乎大众的正义直觉</a:t>
            </a:r>
            <a:r>
              <a:rPr kumimoji="1" lang="zh-CN" altLang="en-US" sz="2400" dirty="0" smtClean="0">
                <a:solidFill>
                  <a:schemeClr val="bg1"/>
                </a:solidFill>
                <a:latin typeface="华文仿宋"/>
                <a:ea typeface="华文仿宋"/>
                <a:cs typeface="华文仿宋"/>
              </a:rPr>
              <a:t>。</a:t>
            </a:r>
          </a:p>
          <a:p>
            <a:pPr>
              <a:lnSpc>
                <a:spcPct val="140000"/>
              </a:lnSpc>
            </a:pPr>
            <a:r>
              <a:rPr kumimoji="1" lang="en-US" altLang="zh-CN" sz="2400" dirty="0">
                <a:solidFill>
                  <a:schemeClr val="bg1"/>
                </a:solidFill>
                <a:latin typeface="华文仿宋"/>
                <a:ea typeface="华文仿宋"/>
                <a:cs typeface="华文仿宋"/>
              </a:rPr>
              <a:t>——</a:t>
            </a:r>
            <a:r>
              <a:rPr kumimoji="1" lang="zh-CN" altLang="en-US" sz="2400" dirty="0">
                <a:solidFill>
                  <a:schemeClr val="bg1"/>
                </a:solidFill>
                <a:latin typeface="华文仿宋"/>
                <a:ea typeface="华文仿宋"/>
                <a:cs typeface="华文仿宋"/>
              </a:rPr>
              <a:t>影子犯罪定义。</a:t>
            </a:r>
            <a:endParaRPr kumimoji="1" lang="en-US" altLang="zh-CN" sz="2400" dirty="0" smtClean="0">
              <a:solidFill>
                <a:schemeClr val="bg1"/>
              </a:solidFill>
              <a:latin typeface="华文仿宋"/>
              <a:ea typeface="华文仿宋"/>
              <a:cs typeface="华文仿宋"/>
            </a:endParaRPr>
          </a:p>
          <a:p>
            <a:pPr>
              <a:lnSpc>
                <a:spcPct val="140000"/>
              </a:lnSpc>
            </a:pPr>
            <a:r>
              <a:rPr kumimoji="1" lang="zh-CN" altLang="en-US" sz="2400" dirty="0" smtClean="0">
                <a:solidFill>
                  <a:schemeClr val="bg1"/>
                </a:solidFill>
                <a:latin typeface="华文仿宋"/>
                <a:ea typeface="华文仿宋"/>
                <a:cs typeface="华文仿宋"/>
              </a:rPr>
              <a:t>而民众</a:t>
            </a:r>
            <a:r>
              <a:rPr kumimoji="1" lang="zh-CN" altLang="zh-CN" sz="2400" dirty="0" smtClean="0">
                <a:solidFill>
                  <a:schemeClr val="bg1"/>
                </a:solidFill>
                <a:latin typeface="华文仿宋"/>
                <a:ea typeface="华文仿宋"/>
                <a:cs typeface="华文仿宋"/>
              </a:rPr>
              <a:t>有时主张重罚</a:t>
            </a:r>
            <a:r>
              <a:rPr kumimoji="1" lang="zh-CN" altLang="zh-CN" sz="2400" dirty="0">
                <a:solidFill>
                  <a:schemeClr val="bg1"/>
                </a:solidFill>
                <a:latin typeface="华文仿宋"/>
                <a:ea typeface="华文仿宋"/>
                <a:cs typeface="华文仿宋"/>
              </a:rPr>
              <a:t>，</a:t>
            </a:r>
            <a:r>
              <a:rPr kumimoji="1" lang="zh-CN" altLang="zh-CN" sz="2400" dirty="0" smtClean="0">
                <a:solidFill>
                  <a:schemeClr val="bg1"/>
                </a:solidFill>
                <a:latin typeface="华文仿宋"/>
                <a:ea typeface="华文仿宋"/>
                <a:cs typeface="华文仿宋"/>
              </a:rPr>
              <a:t>有时又偏好宽宥</a:t>
            </a:r>
            <a:r>
              <a:rPr kumimoji="1" lang="en-US" altLang="zh-CN" sz="2400" dirty="0" smtClean="0">
                <a:solidFill>
                  <a:schemeClr val="bg1"/>
                </a:solidFill>
                <a:latin typeface="华文仿宋"/>
                <a:ea typeface="华文仿宋"/>
                <a:cs typeface="华文仿宋"/>
              </a:rPr>
              <a:t>——</a:t>
            </a:r>
            <a:r>
              <a:rPr kumimoji="1" lang="zh-CN" altLang="en-US" sz="2400" dirty="0" smtClean="0">
                <a:solidFill>
                  <a:schemeClr val="bg1"/>
                </a:solidFill>
                <a:latin typeface="华文仿宋"/>
                <a:ea typeface="华文仿宋"/>
                <a:cs typeface="华文仿宋"/>
              </a:rPr>
              <a:t>刑法被民意绑架？</a:t>
            </a:r>
            <a:endParaRPr kumimoji="1" lang="en-US" altLang="zh-CN" sz="2400" dirty="0">
              <a:solidFill>
                <a:schemeClr val="bg1"/>
              </a:solidFill>
              <a:latin typeface="华文仿宋"/>
              <a:ea typeface="华文仿宋"/>
              <a:cs typeface="华文仿宋"/>
            </a:endParaRPr>
          </a:p>
          <a:p>
            <a:pPr>
              <a:lnSpc>
                <a:spcPct val="140000"/>
              </a:lnSpc>
            </a:pPr>
            <a:r>
              <a:rPr kumimoji="1" lang="zh-CN" altLang="en-US" sz="2800" dirty="0" smtClean="0">
                <a:solidFill>
                  <a:schemeClr val="bg1"/>
                </a:solidFill>
                <a:latin typeface="黑体"/>
                <a:ea typeface="黑体"/>
                <a:cs typeface="黑体"/>
              </a:rPr>
              <a:t>问题：</a:t>
            </a:r>
            <a:r>
              <a:rPr kumimoji="1" lang="en-US" altLang="zh-CN" sz="2800" dirty="0" smtClean="0">
                <a:solidFill>
                  <a:schemeClr val="bg1"/>
                </a:solidFill>
                <a:latin typeface="黑体"/>
                <a:ea typeface="黑体"/>
                <a:cs typeface="黑体"/>
              </a:rPr>
              <a:t>1</a:t>
            </a:r>
            <a:r>
              <a:rPr kumimoji="1" lang="zh-CN" altLang="en-US" sz="2800" dirty="0" smtClean="0">
                <a:solidFill>
                  <a:schemeClr val="bg1"/>
                </a:solidFill>
                <a:latin typeface="黑体"/>
                <a:ea typeface="黑体"/>
                <a:cs typeface="黑体"/>
              </a:rPr>
              <a:t>、</a:t>
            </a:r>
            <a:r>
              <a:rPr kumimoji="1" lang="zh-CN" altLang="en-US" sz="2800" dirty="0" smtClean="0">
                <a:solidFill>
                  <a:schemeClr val="bg1"/>
                </a:solidFill>
                <a:latin typeface="楷体"/>
                <a:ea typeface="楷体"/>
                <a:cs typeface="楷体"/>
              </a:rPr>
              <a:t>中国民众到底偏好重法还是轻法？</a:t>
            </a:r>
            <a:r>
              <a:rPr kumimoji="1" lang="en-US" altLang="zh-CN" sz="2800" dirty="0" smtClean="0">
                <a:solidFill>
                  <a:schemeClr val="bg1"/>
                </a:solidFill>
                <a:latin typeface="楷体"/>
                <a:ea typeface="楷体"/>
                <a:cs typeface="楷体"/>
              </a:rPr>
              <a:t>2</a:t>
            </a:r>
            <a:r>
              <a:rPr kumimoji="1" lang="zh-CN" altLang="en-US" sz="2800" dirty="0" smtClean="0">
                <a:solidFill>
                  <a:schemeClr val="bg1"/>
                </a:solidFill>
                <a:latin typeface="楷体"/>
                <a:ea typeface="楷体"/>
                <a:cs typeface="楷体"/>
              </a:rPr>
              <a:t>、民众为什么有某种偏好？</a:t>
            </a:r>
            <a:r>
              <a:rPr kumimoji="1" lang="en-US" altLang="zh-CN" sz="2800" dirty="0" smtClean="0">
                <a:solidFill>
                  <a:schemeClr val="bg1"/>
                </a:solidFill>
                <a:latin typeface="楷体"/>
                <a:ea typeface="楷体"/>
                <a:cs typeface="楷体"/>
              </a:rPr>
              <a:t>3</a:t>
            </a:r>
            <a:r>
              <a:rPr kumimoji="1" lang="zh-CN" altLang="en-US" sz="2800" dirty="0" smtClean="0">
                <a:solidFill>
                  <a:schemeClr val="bg1"/>
                </a:solidFill>
                <a:latin typeface="楷体"/>
                <a:ea typeface="楷体"/>
                <a:cs typeface="楷体"/>
              </a:rPr>
              <a:t>、如何理性对待民意</a:t>
            </a:r>
            <a:r>
              <a:rPr kumimoji="1" lang="en-US" altLang="zh-CN" sz="2800" dirty="0" smtClean="0">
                <a:solidFill>
                  <a:schemeClr val="bg1"/>
                </a:solidFill>
                <a:latin typeface="楷体"/>
                <a:ea typeface="楷体"/>
                <a:cs typeface="楷体"/>
              </a:rPr>
              <a:t>——</a:t>
            </a:r>
            <a:r>
              <a:rPr kumimoji="1" lang="zh-CN" altLang="en-US" sz="2800" dirty="0" smtClean="0">
                <a:solidFill>
                  <a:schemeClr val="bg1"/>
                </a:solidFill>
                <a:latin typeface="楷体"/>
                <a:ea typeface="楷体"/>
                <a:cs typeface="楷体"/>
              </a:rPr>
              <a:t>民众的刑法偏好会不会被滥用？</a:t>
            </a:r>
            <a:endParaRPr kumimoji="1" lang="zh-CN" altLang="en-US" sz="2800" dirty="0">
              <a:solidFill>
                <a:schemeClr val="bg1"/>
              </a:solidFill>
              <a:latin typeface="楷体"/>
              <a:ea typeface="楷体"/>
              <a:cs typeface="楷体"/>
            </a:endParaRPr>
          </a:p>
        </p:txBody>
      </p:sp>
    </p:spTree>
    <p:extLst>
      <p:ext uri="{BB962C8B-B14F-4D97-AF65-F5344CB8AC3E}">
        <p14:creationId xmlns:p14="http://schemas.microsoft.com/office/powerpoint/2010/main" val="177020188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wedge">
                                      <p:cBhvr>
                                        <p:cTn id="7" dur="2000"/>
                                        <p:tgtEl>
                                          <p:spTgt spid="5">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edge">
                                      <p:cBhvr>
                                        <p:cTn id="12" dur="20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edge">
                                      <p:cBhvr>
                                        <p:cTn id="17" dur="20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edge">
                                      <p:cBhvr>
                                        <p:cTn id="22" dur="20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nodeType="clickEffect">
                                  <p:stCondLst>
                                    <p:cond delay="0"/>
                                  </p:stCondLst>
                                  <p:childTnLst>
                                    <p:set>
                                      <p:cBhvr>
                                        <p:cTn id="26" dur="1" fill="hold">
                                          <p:stCondLst>
                                            <p:cond delay="0"/>
                                          </p:stCondLst>
                                        </p:cTn>
                                        <p:tgtEl>
                                          <p:spTgt spid="5">
                                            <p:txEl>
                                              <p:pRg st="0" end="0"/>
                                            </p:txEl>
                                          </p:spTgt>
                                        </p:tgtEl>
                                        <p:attrNameLst>
                                          <p:attrName>style.visibility</p:attrName>
                                        </p:attrNameLst>
                                      </p:cBhvr>
                                      <p:to>
                                        <p:strVal val="visible"/>
                                      </p:to>
                                    </p:set>
                                    <p:animEffect transition="in" filter="wedge">
                                      <p:cBhvr>
                                        <p:cTn id="27"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332656"/>
            <a:ext cx="7170737" cy="492125"/>
          </a:xfrm>
        </p:spPr>
        <p:txBody>
          <a:bodyPr/>
          <a:lstStyle/>
          <a:p>
            <a:pPr algn="ctr"/>
            <a:r>
              <a:rPr kumimoji="1" lang="zh-CN" altLang="en-US" sz="3200" dirty="0" smtClean="0">
                <a:latin typeface="黑体"/>
                <a:ea typeface="黑体"/>
                <a:cs typeface="黑体"/>
              </a:rPr>
              <a:t>概念操作化</a:t>
            </a:r>
            <a:endParaRPr kumimoji="1" lang="zh-CN" altLang="en-US" sz="3200" dirty="0">
              <a:latin typeface="黑体"/>
              <a:ea typeface="黑体"/>
              <a:cs typeface="黑体"/>
            </a:endParaRPr>
          </a:p>
        </p:txBody>
      </p:sp>
      <p:graphicFrame>
        <p:nvGraphicFramePr>
          <p:cNvPr id="5" name="内容占位符 4"/>
          <p:cNvGraphicFramePr>
            <a:graphicFrameLocks noGrp="1"/>
          </p:cNvGraphicFramePr>
          <p:nvPr>
            <p:ph idx="1"/>
            <p:extLst/>
          </p:nvPr>
        </p:nvGraphicFramePr>
        <p:xfrm>
          <a:off x="457200" y="1125538"/>
          <a:ext cx="8229600" cy="5000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75717061"/>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犯罪圈大小</a:t>
            </a:r>
            <a:endParaRPr kumimoji="1" lang="zh-CN" altLang="en-US" sz="3200" dirty="0">
              <a:latin typeface="黑体"/>
              <a:ea typeface="黑体"/>
              <a:cs typeface="黑体"/>
            </a:endParaRPr>
          </a:p>
        </p:txBody>
      </p:sp>
      <p:sp>
        <p:nvSpPr>
          <p:cNvPr id="3" name="内容占位符 2"/>
          <p:cNvSpPr>
            <a:spLocks noGrp="1"/>
          </p:cNvSpPr>
          <p:nvPr>
            <p:ph idx="1"/>
          </p:nvPr>
        </p:nvSpPr>
        <p:spPr>
          <a:xfrm>
            <a:off x="467544" y="980728"/>
            <a:ext cx="8229600" cy="5544616"/>
          </a:xfrm>
        </p:spPr>
        <p:txBody>
          <a:bodyPr/>
          <a:lstStyle/>
          <a:p>
            <a:r>
              <a:rPr lang="zh-CN" altLang="zh-CN" dirty="0">
                <a:latin typeface="宋体"/>
                <a:ea typeface="宋体"/>
                <a:cs typeface="宋体"/>
              </a:rPr>
              <a:t>您希望如何处理如下行为</a:t>
            </a:r>
            <a:r>
              <a:rPr lang="zh-CN" altLang="zh-CN" dirty="0" smtClean="0">
                <a:latin typeface="宋体"/>
                <a:ea typeface="宋体"/>
                <a:cs typeface="宋体"/>
              </a:rPr>
              <a:t>？</a:t>
            </a:r>
            <a:endParaRPr lang="zh-CN" altLang="zh-CN" dirty="0">
              <a:latin typeface="宋体"/>
              <a:ea typeface="宋体"/>
              <a:cs typeface="宋体"/>
            </a:endParaRPr>
          </a:p>
          <a:p>
            <a:r>
              <a:rPr lang="zh-CN" altLang="zh-CN" sz="2800" dirty="0" smtClean="0">
                <a:latin typeface="黑体"/>
                <a:ea typeface="黑体"/>
                <a:cs typeface="黑体"/>
              </a:rPr>
              <a:t>恶</a:t>
            </a:r>
            <a:r>
              <a:rPr lang="zh-CN" altLang="zh-CN" sz="2800" dirty="0">
                <a:latin typeface="黑体"/>
                <a:ea typeface="黑体"/>
                <a:cs typeface="黑体"/>
              </a:rPr>
              <a:t>意欠薪</a:t>
            </a:r>
          </a:p>
          <a:p>
            <a:r>
              <a:rPr lang="en-US" altLang="zh-CN" dirty="0">
                <a:latin typeface="宋体"/>
                <a:ea typeface="宋体"/>
                <a:cs typeface="宋体"/>
              </a:rPr>
              <a:t>1.</a:t>
            </a:r>
            <a:r>
              <a:rPr lang="zh-CN" altLang="zh-CN" dirty="0">
                <a:latin typeface="宋体"/>
                <a:ea typeface="宋体"/>
                <a:cs typeface="宋体"/>
              </a:rPr>
              <a:t>蹲监狱</a:t>
            </a:r>
            <a:r>
              <a:rPr lang="en-US" altLang="zh-CN" dirty="0">
                <a:latin typeface="宋体"/>
                <a:ea typeface="宋体"/>
                <a:cs typeface="宋体"/>
              </a:rPr>
              <a:t>  2.</a:t>
            </a:r>
            <a:r>
              <a:rPr lang="zh-CN" altLang="zh-CN" dirty="0">
                <a:latin typeface="宋体"/>
                <a:ea typeface="宋体"/>
                <a:cs typeface="宋体"/>
              </a:rPr>
              <a:t>批评教育就行了</a:t>
            </a:r>
            <a:r>
              <a:rPr lang="en-US" altLang="zh-CN" dirty="0">
                <a:latin typeface="宋体"/>
                <a:ea typeface="宋体"/>
                <a:cs typeface="宋体"/>
              </a:rPr>
              <a:t> 3.</a:t>
            </a:r>
            <a:r>
              <a:rPr lang="zh-CN" altLang="zh-CN" dirty="0">
                <a:latin typeface="宋体"/>
                <a:ea typeface="宋体"/>
                <a:cs typeface="宋体"/>
              </a:rPr>
              <a:t>没什么大不了的</a:t>
            </a:r>
          </a:p>
          <a:p>
            <a:r>
              <a:rPr lang="zh-CN" altLang="zh-CN" sz="2800" dirty="0">
                <a:latin typeface="黑体"/>
                <a:ea typeface="黑体"/>
                <a:cs typeface="黑体"/>
              </a:rPr>
              <a:t>醉酒驾车</a:t>
            </a:r>
          </a:p>
          <a:p>
            <a:r>
              <a:rPr lang="en-US" altLang="zh-CN" dirty="0">
                <a:latin typeface="宋体"/>
                <a:ea typeface="宋体"/>
                <a:cs typeface="宋体"/>
              </a:rPr>
              <a:t>1.</a:t>
            </a:r>
            <a:r>
              <a:rPr lang="zh-CN" altLang="zh-CN" dirty="0">
                <a:latin typeface="宋体"/>
                <a:ea typeface="宋体"/>
                <a:cs typeface="宋体"/>
              </a:rPr>
              <a:t>蹲监狱</a:t>
            </a:r>
            <a:r>
              <a:rPr lang="en-US" altLang="zh-CN" dirty="0">
                <a:latin typeface="宋体"/>
                <a:ea typeface="宋体"/>
                <a:cs typeface="宋体"/>
              </a:rPr>
              <a:t>  2.</a:t>
            </a:r>
            <a:r>
              <a:rPr lang="zh-CN" altLang="zh-CN" dirty="0">
                <a:latin typeface="宋体"/>
                <a:ea typeface="宋体"/>
                <a:cs typeface="宋体"/>
              </a:rPr>
              <a:t>批评教育就行了</a:t>
            </a:r>
            <a:r>
              <a:rPr lang="en-US" altLang="zh-CN" dirty="0">
                <a:latin typeface="宋体"/>
                <a:ea typeface="宋体"/>
                <a:cs typeface="宋体"/>
              </a:rPr>
              <a:t> 3.</a:t>
            </a:r>
            <a:r>
              <a:rPr lang="zh-CN" altLang="zh-CN" dirty="0">
                <a:latin typeface="宋体"/>
                <a:ea typeface="宋体"/>
                <a:cs typeface="宋体"/>
              </a:rPr>
              <a:t>没什么大不了的</a:t>
            </a:r>
          </a:p>
          <a:p>
            <a:r>
              <a:rPr lang="zh-CN" altLang="zh-CN" sz="2800" dirty="0">
                <a:latin typeface="黑体"/>
                <a:ea typeface="黑体"/>
                <a:cs typeface="黑体"/>
              </a:rPr>
              <a:t>儿子给病危父亲实施安乐死</a:t>
            </a:r>
            <a:r>
              <a:rPr lang="zh-CN" altLang="zh-CN" dirty="0" smtClean="0">
                <a:latin typeface="宋体"/>
                <a:ea typeface="宋体"/>
                <a:cs typeface="宋体"/>
              </a:rPr>
              <a:t> </a:t>
            </a:r>
            <a:endParaRPr lang="zh-CN" altLang="zh-CN" dirty="0">
              <a:latin typeface="宋体"/>
              <a:ea typeface="宋体"/>
              <a:cs typeface="宋体"/>
            </a:endParaRPr>
          </a:p>
          <a:p>
            <a:r>
              <a:rPr lang="en-US" altLang="zh-CN" dirty="0">
                <a:latin typeface="宋体"/>
                <a:ea typeface="宋体"/>
                <a:cs typeface="宋体"/>
              </a:rPr>
              <a:t>1.</a:t>
            </a:r>
            <a:r>
              <a:rPr lang="zh-CN" altLang="zh-CN" dirty="0">
                <a:latin typeface="宋体"/>
                <a:ea typeface="宋体"/>
                <a:cs typeface="宋体"/>
              </a:rPr>
              <a:t>蹲监狱</a:t>
            </a:r>
            <a:r>
              <a:rPr lang="en-US" altLang="zh-CN" dirty="0">
                <a:latin typeface="宋体"/>
                <a:ea typeface="宋体"/>
                <a:cs typeface="宋体"/>
              </a:rPr>
              <a:t>  2.</a:t>
            </a:r>
            <a:r>
              <a:rPr lang="zh-CN" altLang="zh-CN" dirty="0">
                <a:latin typeface="宋体"/>
                <a:ea typeface="宋体"/>
                <a:cs typeface="宋体"/>
              </a:rPr>
              <a:t>批评教育就行了</a:t>
            </a:r>
            <a:r>
              <a:rPr lang="en-US" altLang="zh-CN" dirty="0">
                <a:latin typeface="宋体"/>
                <a:ea typeface="宋体"/>
                <a:cs typeface="宋体"/>
              </a:rPr>
              <a:t> 3.</a:t>
            </a:r>
            <a:r>
              <a:rPr lang="zh-CN" altLang="zh-CN" dirty="0">
                <a:latin typeface="宋体"/>
                <a:ea typeface="宋体"/>
                <a:cs typeface="宋体"/>
              </a:rPr>
              <a:t>没什么大不了的</a:t>
            </a:r>
          </a:p>
          <a:p>
            <a:r>
              <a:rPr lang="zh-CN" altLang="zh-CN" sz="2000" dirty="0" smtClean="0">
                <a:latin typeface="楷体"/>
                <a:ea typeface="楷体"/>
                <a:cs typeface="楷体"/>
              </a:rPr>
              <a:t>“</a:t>
            </a:r>
            <a:r>
              <a:rPr lang="zh-CN" altLang="zh-CN" sz="2000" dirty="0">
                <a:latin typeface="楷体"/>
                <a:ea typeface="楷体"/>
                <a:cs typeface="楷体"/>
              </a:rPr>
              <a:t>安乐死”指患者因患有不可治愈的疾病而疼痛剧烈并且即将死亡，出于患者本人自愿而由亲属或者医生以提供药物等方式让患者死亡的过程</a:t>
            </a:r>
            <a:r>
              <a:rPr lang="zh-CN" altLang="zh-CN" sz="2000" dirty="0" smtClean="0">
                <a:latin typeface="楷体"/>
                <a:ea typeface="楷体"/>
                <a:cs typeface="楷体"/>
              </a:rPr>
              <a:t>。</a:t>
            </a:r>
            <a:endParaRPr lang="zh-CN" altLang="zh-CN" sz="2000" dirty="0">
              <a:latin typeface="楷体"/>
              <a:ea typeface="楷体"/>
              <a:cs typeface="楷体"/>
            </a:endParaRPr>
          </a:p>
          <a:p>
            <a:r>
              <a:rPr lang="zh-CN" altLang="zh-CN" sz="2800" dirty="0">
                <a:latin typeface="黑体"/>
                <a:ea typeface="黑体"/>
                <a:cs typeface="黑体"/>
              </a:rPr>
              <a:t>见死不救</a:t>
            </a:r>
          </a:p>
          <a:p>
            <a:r>
              <a:rPr lang="en-US" altLang="zh-CN" dirty="0">
                <a:latin typeface="宋体"/>
                <a:ea typeface="宋体"/>
                <a:cs typeface="宋体"/>
              </a:rPr>
              <a:t>1.</a:t>
            </a:r>
            <a:r>
              <a:rPr lang="zh-CN" altLang="zh-CN" dirty="0">
                <a:latin typeface="宋体"/>
                <a:ea typeface="宋体"/>
                <a:cs typeface="宋体"/>
              </a:rPr>
              <a:t>蹲监狱</a:t>
            </a:r>
            <a:r>
              <a:rPr lang="en-US" altLang="zh-CN" dirty="0">
                <a:latin typeface="宋体"/>
                <a:ea typeface="宋体"/>
                <a:cs typeface="宋体"/>
              </a:rPr>
              <a:t>  2.</a:t>
            </a:r>
            <a:r>
              <a:rPr lang="zh-CN" altLang="zh-CN" dirty="0">
                <a:latin typeface="宋体"/>
                <a:ea typeface="宋体"/>
                <a:cs typeface="宋体"/>
              </a:rPr>
              <a:t>批评教育就行了</a:t>
            </a:r>
            <a:r>
              <a:rPr lang="en-US" altLang="zh-CN" dirty="0">
                <a:latin typeface="宋体"/>
                <a:ea typeface="宋体"/>
                <a:cs typeface="宋体"/>
              </a:rPr>
              <a:t> 3.</a:t>
            </a:r>
            <a:r>
              <a:rPr lang="zh-CN" altLang="zh-CN" dirty="0">
                <a:latin typeface="宋体"/>
                <a:ea typeface="宋体"/>
                <a:cs typeface="宋体"/>
              </a:rPr>
              <a:t>没什么大</a:t>
            </a:r>
            <a:r>
              <a:rPr lang="zh-CN" altLang="zh-CN" dirty="0" smtClean="0">
                <a:latin typeface="宋体"/>
                <a:ea typeface="宋体"/>
                <a:cs typeface="宋体"/>
              </a:rPr>
              <a:t>不了的</a:t>
            </a:r>
            <a:endParaRPr lang="zh-CN" altLang="zh-CN" dirty="0">
              <a:latin typeface="宋体"/>
              <a:ea typeface="宋体"/>
              <a:cs typeface="宋体"/>
            </a:endParaRPr>
          </a:p>
          <a:p>
            <a:endParaRPr kumimoji="1" lang="zh-CN" altLang="en-US" dirty="0"/>
          </a:p>
        </p:txBody>
      </p:sp>
    </p:spTree>
    <p:extLst>
      <p:ext uri="{BB962C8B-B14F-4D97-AF65-F5344CB8AC3E}">
        <p14:creationId xmlns:p14="http://schemas.microsoft.com/office/powerpoint/2010/main" val="1662814492"/>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dirty="0" smtClean="0">
                <a:latin typeface="黑体"/>
                <a:ea typeface="黑体"/>
                <a:cs typeface="黑体"/>
              </a:rPr>
              <a:t>刑罚轻重</a:t>
            </a:r>
            <a:endParaRPr kumimoji="1" lang="zh-CN" altLang="en-US" dirty="0"/>
          </a:p>
        </p:txBody>
      </p:sp>
      <p:sp>
        <p:nvSpPr>
          <p:cNvPr id="3" name="内容占位符 2"/>
          <p:cNvSpPr>
            <a:spLocks noGrp="1"/>
          </p:cNvSpPr>
          <p:nvPr>
            <p:ph idx="1"/>
          </p:nvPr>
        </p:nvSpPr>
        <p:spPr/>
        <p:txBody>
          <a:bodyPr/>
          <a:lstStyle/>
          <a:p>
            <a:r>
              <a:rPr lang="zh-CN" altLang="zh-CN" sz="2800" dirty="0">
                <a:latin typeface="宋体"/>
                <a:ea typeface="宋体"/>
                <a:cs typeface="宋体"/>
              </a:rPr>
              <a:t>对于以下描述，您的看法是什么</a:t>
            </a:r>
            <a:r>
              <a:rPr lang="zh-CN" altLang="zh-CN" sz="2800" dirty="0" smtClean="0">
                <a:latin typeface="宋体"/>
                <a:ea typeface="宋体"/>
                <a:cs typeface="宋体"/>
              </a:rPr>
              <a:t>。</a:t>
            </a:r>
            <a:endParaRPr lang="zh-CN" altLang="zh-CN" sz="2800" dirty="0">
              <a:latin typeface="宋体"/>
              <a:ea typeface="宋体"/>
              <a:cs typeface="宋体"/>
            </a:endParaRPr>
          </a:p>
          <a:p>
            <a:r>
              <a:rPr lang="en-US" altLang="zh-CN" sz="2800" dirty="0">
                <a:latin typeface="宋体"/>
                <a:ea typeface="宋体"/>
                <a:cs typeface="宋体"/>
              </a:rPr>
              <a:t>1.</a:t>
            </a:r>
            <a:r>
              <a:rPr lang="zh-CN" altLang="zh-CN" sz="2800" dirty="0">
                <a:latin typeface="宋体"/>
                <a:ea typeface="宋体"/>
                <a:cs typeface="宋体"/>
              </a:rPr>
              <a:t>十分同意</a:t>
            </a:r>
            <a:r>
              <a:rPr lang="en-US" altLang="zh-CN" sz="2800" dirty="0">
                <a:latin typeface="宋体"/>
                <a:ea typeface="宋体"/>
                <a:cs typeface="宋体"/>
              </a:rPr>
              <a:t>		2.</a:t>
            </a:r>
            <a:r>
              <a:rPr lang="zh-CN" altLang="zh-CN" sz="2800" dirty="0">
                <a:latin typeface="宋体"/>
                <a:ea typeface="宋体"/>
                <a:cs typeface="宋体"/>
              </a:rPr>
              <a:t>同意</a:t>
            </a:r>
            <a:r>
              <a:rPr lang="en-US" altLang="zh-CN" sz="2800" dirty="0">
                <a:latin typeface="宋体"/>
                <a:ea typeface="宋体"/>
                <a:cs typeface="宋体"/>
              </a:rPr>
              <a:t>		</a:t>
            </a:r>
            <a:r>
              <a:rPr lang="en-US" altLang="zh-CN" sz="2800" dirty="0">
                <a:latin typeface="黑体"/>
                <a:ea typeface="黑体"/>
                <a:cs typeface="黑体"/>
              </a:rPr>
              <a:t>3.</a:t>
            </a:r>
            <a:r>
              <a:rPr lang="zh-CN" altLang="zh-CN" sz="2800" dirty="0">
                <a:latin typeface="黑体"/>
                <a:ea typeface="黑体"/>
                <a:cs typeface="黑体"/>
              </a:rPr>
              <a:t>不同意</a:t>
            </a:r>
            <a:r>
              <a:rPr lang="en-US" altLang="zh-CN" sz="2800" dirty="0">
                <a:latin typeface="黑体"/>
                <a:ea typeface="黑体"/>
                <a:cs typeface="黑体"/>
              </a:rPr>
              <a:t>	</a:t>
            </a:r>
            <a:endParaRPr lang="en-US" altLang="zh-CN" sz="2800" dirty="0" smtClean="0">
              <a:latin typeface="黑体"/>
              <a:ea typeface="黑体"/>
              <a:cs typeface="黑体"/>
            </a:endParaRPr>
          </a:p>
          <a:p>
            <a:pPr marL="0" indent="0">
              <a:buNone/>
            </a:pPr>
            <a:r>
              <a:rPr lang="zh-CN" altLang="zh-CN" sz="2800" dirty="0">
                <a:latin typeface="黑体"/>
                <a:ea typeface="黑体"/>
                <a:cs typeface="黑体"/>
              </a:rPr>
              <a:t> </a:t>
            </a:r>
            <a:r>
              <a:rPr lang="zh-CN" altLang="en-US" sz="2800" dirty="0" smtClean="0">
                <a:latin typeface="黑体"/>
                <a:ea typeface="黑体"/>
                <a:cs typeface="黑体"/>
              </a:rPr>
              <a:t>  </a:t>
            </a:r>
            <a:r>
              <a:rPr lang="en-US" altLang="zh-CN" sz="2800" dirty="0" smtClean="0">
                <a:latin typeface="黑体"/>
                <a:ea typeface="黑体"/>
                <a:cs typeface="黑体"/>
              </a:rPr>
              <a:t>4</a:t>
            </a:r>
            <a:r>
              <a:rPr lang="en-US" altLang="zh-CN" sz="2800" dirty="0">
                <a:latin typeface="黑体"/>
                <a:ea typeface="黑体"/>
                <a:cs typeface="黑体"/>
              </a:rPr>
              <a:t>.</a:t>
            </a:r>
            <a:r>
              <a:rPr lang="zh-CN" altLang="zh-CN" sz="2800" dirty="0">
                <a:latin typeface="黑体"/>
                <a:ea typeface="黑体"/>
                <a:cs typeface="黑体"/>
              </a:rPr>
              <a:t>十分</a:t>
            </a:r>
            <a:r>
              <a:rPr lang="zh-CN" altLang="zh-CN" sz="2800" dirty="0" smtClean="0">
                <a:latin typeface="黑体"/>
                <a:ea typeface="黑体"/>
                <a:cs typeface="黑体"/>
              </a:rPr>
              <a:t>不同意</a:t>
            </a:r>
            <a:r>
              <a:rPr lang="zh-CN" altLang="en-US" sz="2800" dirty="0" smtClean="0">
                <a:latin typeface="宋体"/>
                <a:ea typeface="宋体"/>
                <a:cs typeface="宋体"/>
              </a:rPr>
              <a:t>  </a:t>
            </a:r>
            <a:r>
              <a:rPr lang="en-US" altLang="zh-CN" sz="2800" dirty="0">
                <a:latin typeface="宋体"/>
                <a:ea typeface="宋体"/>
                <a:cs typeface="宋体"/>
              </a:rPr>
              <a:t>	</a:t>
            </a:r>
            <a:r>
              <a:rPr lang="en-US" altLang="zh-CN" sz="2800" dirty="0" smtClean="0">
                <a:latin typeface="宋体"/>
                <a:ea typeface="宋体"/>
                <a:cs typeface="宋体"/>
              </a:rPr>
              <a:t>5</a:t>
            </a:r>
            <a:r>
              <a:rPr lang="en-US" altLang="zh-CN" sz="2800" dirty="0">
                <a:latin typeface="宋体"/>
                <a:ea typeface="宋体"/>
                <a:cs typeface="宋体"/>
              </a:rPr>
              <a:t>.</a:t>
            </a:r>
            <a:r>
              <a:rPr lang="zh-CN" altLang="zh-CN" sz="2800" dirty="0">
                <a:latin typeface="宋体"/>
                <a:ea typeface="宋体"/>
                <a:cs typeface="宋体"/>
              </a:rPr>
              <a:t>既</a:t>
            </a:r>
            <a:r>
              <a:rPr lang="zh-CN" altLang="zh-CN" sz="2800" dirty="0" smtClean="0">
                <a:latin typeface="宋体"/>
                <a:ea typeface="宋体"/>
                <a:cs typeface="宋体"/>
              </a:rPr>
              <a:t>不同意也不反对</a:t>
            </a:r>
            <a:r>
              <a:rPr lang="en-US" altLang="zh-CN" sz="2800" dirty="0">
                <a:latin typeface="宋体"/>
                <a:ea typeface="宋体"/>
                <a:cs typeface="宋体"/>
              </a:rPr>
              <a:t>				</a:t>
            </a:r>
            <a:endParaRPr lang="zh-CN" altLang="zh-CN" sz="2800" dirty="0">
              <a:latin typeface="宋体"/>
              <a:ea typeface="宋体"/>
              <a:cs typeface="宋体"/>
            </a:endParaRPr>
          </a:p>
          <a:p>
            <a:r>
              <a:rPr lang="zh-CN" altLang="zh-CN" sz="2800" dirty="0" smtClean="0">
                <a:latin typeface="宋体"/>
                <a:ea typeface="宋体"/>
                <a:cs typeface="宋体"/>
              </a:rPr>
              <a:t>杀人应该偿</a:t>
            </a:r>
            <a:r>
              <a:rPr lang="zh-CN" altLang="zh-CN" sz="2800" dirty="0">
                <a:latin typeface="宋体"/>
                <a:ea typeface="宋体"/>
                <a:cs typeface="宋体"/>
              </a:rPr>
              <a:t>命。</a:t>
            </a:r>
          </a:p>
          <a:p>
            <a:r>
              <a:rPr lang="zh-CN" altLang="zh-CN" sz="2800" dirty="0" smtClean="0">
                <a:latin typeface="宋体"/>
                <a:ea typeface="宋体"/>
                <a:cs typeface="宋体"/>
              </a:rPr>
              <a:t>死刑可以杀一儆百</a:t>
            </a:r>
            <a:r>
              <a:rPr lang="zh-CN" altLang="zh-CN" sz="2800" dirty="0">
                <a:latin typeface="宋体"/>
                <a:ea typeface="宋体"/>
                <a:cs typeface="宋体"/>
              </a:rPr>
              <a:t>。</a:t>
            </a:r>
          </a:p>
          <a:p>
            <a:r>
              <a:rPr lang="zh-CN" altLang="zh-CN" sz="2800" dirty="0" smtClean="0">
                <a:latin typeface="黑体"/>
                <a:ea typeface="黑体"/>
                <a:cs typeface="黑体"/>
              </a:rPr>
              <a:t>中国每</a:t>
            </a:r>
            <a:r>
              <a:rPr lang="zh-CN" altLang="zh-CN" sz="2800" dirty="0">
                <a:latin typeface="黑体"/>
                <a:ea typeface="黑体"/>
                <a:cs typeface="黑体"/>
              </a:rPr>
              <a:t>年执行死刑的数量太多了</a:t>
            </a:r>
            <a:r>
              <a:rPr lang="zh-CN" altLang="zh-CN" sz="2800" dirty="0" smtClean="0">
                <a:latin typeface="黑体"/>
                <a:ea typeface="黑体"/>
                <a:cs typeface="黑体"/>
              </a:rPr>
              <a:t>。</a:t>
            </a:r>
            <a:endParaRPr lang="zh-CN" altLang="zh-CN" sz="2800" dirty="0">
              <a:latin typeface="黑体"/>
              <a:ea typeface="黑体"/>
              <a:cs typeface="黑体"/>
            </a:endParaRPr>
          </a:p>
        </p:txBody>
      </p:sp>
    </p:spTree>
    <p:extLst>
      <p:ext uri="{BB962C8B-B14F-4D97-AF65-F5344CB8AC3E}">
        <p14:creationId xmlns:p14="http://schemas.microsoft.com/office/powerpoint/2010/main" val="1718468633"/>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dirty="0" smtClean="0">
                <a:latin typeface="黑体"/>
                <a:ea typeface="黑体"/>
                <a:cs typeface="黑体"/>
              </a:rPr>
              <a:t>罪刑轻重顺序</a:t>
            </a:r>
            <a:endParaRPr kumimoji="1" lang="zh-CN" altLang="en-US" dirty="0"/>
          </a:p>
        </p:txBody>
      </p:sp>
      <p:sp>
        <p:nvSpPr>
          <p:cNvPr id="3" name="内容占位符 2"/>
          <p:cNvSpPr>
            <a:spLocks noGrp="1"/>
          </p:cNvSpPr>
          <p:nvPr>
            <p:ph idx="1"/>
          </p:nvPr>
        </p:nvSpPr>
        <p:spPr/>
        <p:txBody>
          <a:bodyPr/>
          <a:lstStyle/>
          <a:p>
            <a:r>
              <a:rPr lang="zh-CN" altLang="zh-CN" sz="2800" dirty="0">
                <a:latin typeface="宋体"/>
                <a:ea typeface="宋体"/>
                <a:cs typeface="宋体"/>
              </a:rPr>
              <a:t>请选出您觉得犯罪程度更严重的类型</a:t>
            </a:r>
            <a:r>
              <a:rPr lang="zh-CN" altLang="zh-CN" sz="2800" dirty="0" smtClean="0">
                <a:latin typeface="宋体"/>
                <a:ea typeface="宋体"/>
                <a:cs typeface="宋体"/>
              </a:rPr>
              <a:t>。</a:t>
            </a:r>
            <a:endParaRPr lang="zh-CN" altLang="zh-CN" sz="2800" dirty="0">
              <a:latin typeface="宋体"/>
              <a:ea typeface="宋体"/>
              <a:cs typeface="宋体"/>
            </a:endParaRPr>
          </a:p>
          <a:p>
            <a:r>
              <a:rPr lang="zh-CN" altLang="zh-CN" sz="2800" dirty="0" smtClean="0">
                <a:latin typeface="黑体"/>
                <a:ea typeface="黑体"/>
                <a:cs typeface="黑体"/>
              </a:rPr>
              <a:t>故意伤害与盗窃比较</a:t>
            </a:r>
            <a:endParaRPr lang="zh-CN" altLang="zh-CN" sz="2800" dirty="0">
              <a:latin typeface="黑体"/>
              <a:ea typeface="黑体"/>
              <a:cs typeface="黑体"/>
            </a:endParaRPr>
          </a:p>
          <a:p>
            <a:r>
              <a:rPr lang="en-US" altLang="zh-CN" sz="2800" dirty="0">
                <a:latin typeface="宋体"/>
                <a:ea typeface="宋体"/>
                <a:cs typeface="宋体"/>
              </a:rPr>
              <a:t>1. </a:t>
            </a:r>
            <a:r>
              <a:rPr lang="zh-CN" altLang="zh-CN" sz="2800" dirty="0">
                <a:latin typeface="宋体"/>
                <a:ea typeface="宋体"/>
                <a:cs typeface="宋体"/>
              </a:rPr>
              <a:t>故意伤害犯罪</a:t>
            </a:r>
            <a:r>
              <a:rPr lang="en-US" altLang="zh-CN" sz="2800" dirty="0">
                <a:latin typeface="宋体"/>
                <a:ea typeface="宋体"/>
                <a:cs typeface="宋体"/>
              </a:rPr>
              <a:t>  2. </a:t>
            </a:r>
            <a:r>
              <a:rPr lang="zh-CN" altLang="zh-CN" sz="2800" dirty="0">
                <a:latin typeface="宋体"/>
                <a:ea typeface="宋体"/>
                <a:cs typeface="宋体"/>
              </a:rPr>
              <a:t>盗窃犯罪</a:t>
            </a:r>
            <a:r>
              <a:rPr lang="en-US" altLang="zh-CN" sz="2800" dirty="0">
                <a:latin typeface="宋体"/>
                <a:ea typeface="宋体"/>
                <a:cs typeface="宋体"/>
              </a:rPr>
              <a:t>     3. </a:t>
            </a:r>
            <a:r>
              <a:rPr lang="zh-CN" altLang="zh-CN" sz="2800" dirty="0">
                <a:latin typeface="宋体"/>
                <a:ea typeface="宋体"/>
                <a:cs typeface="宋体"/>
              </a:rPr>
              <a:t>二者同样严重</a:t>
            </a:r>
          </a:p>
          <a:p>
            <a:r>
              <a:rPr lang="zh-CN" altLang="zh-CN" sz="2800" dirty="0">
                <a:latin typeface="黑体"/>
                <a:ea typeface="黑体"/>
                <a:cs typeface="黑体"/>
              </a:rPr>
              <a:t>盗窃与诈骗比较</a:t>
            </a:r>
          </a:p>
          <a:p>
            <a:r>
              <a:rPr lang="en-US" altLang="zh-CN" sz="2800" dirty="0">
                <a:latin typeface="宋体"/>
                <a:ea typeface="宋体"/>
                <a:cs typeface="宋体"/>
              </a:rPr>
              <a:t>1. </a:t>
            </a:r>
            <a:r>
              <a:rPr lang="zh-CN" altLang="zh-CN" sz="2800" dirty="0">
                <a:latin typeface="宋体"/>
                <a:ea typeface="宋体"/>
                <a:cs typeface="宋体"/>
              </a:rPr>
              <a:t>盗窃财产犯罪</a:t>
            </a:r>
            <a:r>
              <a:rPr lang="en-US" altLang="zh-CN" sz="2800" dirty="0">
                <a:latin typeface="宋体"/>
                <a:ea typeface="宋体"/>
                <a:cs typeface="宋体"/>
              </a:rPr>
              <a:t>      2. </a:t>
            </a:r>
            <a:r>
              <a:rPr lang="zh-CN" altLang="zh-CN" sz="2800" dirty="0">
                <a:latin typeface="宋体"/>
                <a:ea typeface="宋体"/>
                <a:cs typeface="宋体"/>
              </a:rPr>
              <a:t>诈骗财产犯罪</a:t>
            </a:r>
            <a:r>
              <a:rPr lang="en-US" altLang="zh-CN" sz="2800" dirty="0">
                <a:latin typeface="宋体"/>
                <a:ea typeface="宋体"/>
                <a:cs typeface="宋体"/>
              </a:rPr>
              <a:t>  3. </a:t>
            </a:r>
            <a:r>
              <a:rPr lang="zh-CN" altLang="zh-CN" sz="2800" dirty="0">
                <a:latin typeface="宋体"/>
                <a:ea typeface="宋体"/>
                <a:cs typeface="宋体"/>
              </a:rPr>
              <a:t>二者同样严重</a:t>
            </a:r>
          </a:p>
          <a:p>
            <a:r>
              <a:rPr lang="zh-CN" altLang="zh-CN" sz="2800" dirty="0">
                <a:latin typeface="黑体"/>
                <a:ea typeface="黑体"/>
                <a:cs typeface="黑体"/>
              </a:rPr>
              <a:t>贪污与盗窃比较</a:t>
            </a:r>
            <a:r>
              <a:rPr lang="en-US" altLang="zh-CN" sz="2800" dirty="0" smtClean="0">
                <a:latin typeface="宋体"/>
                <a:ea typeface="宋体"/>
                <a:cs typeface="宋体"/>
              </a:rPr>
              <a:t> </a:t>
            </a:r>
            <a:endParaRPr lang="zh-CN" altLang="zh-CN" sz="2800" dirty="0">
              <a:latin typeface="宋体"/>
              <a:ea typeface="宋体"/>
              <a:cs typeface="宋体"/>
            </a:endParaRPr>
          </a:p>
          <a:p>
            <a:r>
              <a:rPr lang="en-US" altLang="zh-CN" sz="2800" dirty="0">
                <a:latin typeface="宋体"/>
                <a:ea typeface="宋体"/>
                <a:cs typeface="宋体"/>
              </a:rPr>
              <a:t>1. </a:t>
            </a:r>
            <a:r>
              <a:rPr lang="zh-CN" altLang="zh-CN" sz="2800" dirty="0">
                <a:latin typeface="宋体"/>
                <a:ea typeface="宋体"/>
                <a:cs typeface="宋体"/>
              </a:rPr>
              <a:t>贪污一万元</a:t>
            </a:r>
            <a:r>
              <a:rPr lang="en-US" altLang="zh-CN" sz="2800" dirty="0">
                <a:latin typeface="宋体"/>
                <a:ea typeface="宋体"/>
                <a:cs typeface="宋体"/>
              </a:rPr>
              <a:t>      2. </a:t>
            </a:r>
            <a:r>
              <a:rPr lang="zh-CN" altLang="zh-CN" sz="2800" dirty="0">
                <a:latin typeface="宋体"/>
                <a:ea typeface="宋体"/>
                <a:cs typeface="宋体"/>
              </a:rPr>
              <a:t>盗窃一万元</a:t>
            </a:r>
            <a:r>
              <a:rPr lang="en-US" altLang="zh-CN" sz="2800" dirty="0">
                <a:latin typeface="宋体"/>
                <a:ea typeface="宋体"/>
                <a:cs typeface="宋体"/>
              </a:rPr>
              <a:t>        3. </a:t>
            </a:r>
            <a:r>
              <a:rPr lang="zh-CN" altLang="zh-CN" sz="2800" dirty="0">
                <a:latin typeface="宋体"/>
                <a:ea typeface="宋体"/>
                <a:cs typeface="宋体"/>
              </a:rPr>
              <a:t>二者同样严重</a:t>
            </a:r>
          </a:p>
          <a:p>
            <a:endParaRPr kumimoji="1" lang="zh-CN" altLang="en-US" sz="2800" dirty="0">
              <a:latin typeface="宋体"/>
              <a:ea typeface="宋体"/>
              <a:cs typeface="宋体"/>
            </a:endParaRPr>
          </a:p>
        </p:txBody>
      </p:sp>
    </p:spTree>
    <p:extLst>
      <p:ext uri="{BB962C8B-B14F-4D97-AF65-F5344CB8AC3E}">
        <p14:creationId xmlns:p14="http://schemas.microsoft.com/office/powerpoint/2010/main" val="794746328"/>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理论假设</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r>
              <a:rPr lang="zh-CN" altLang="zh-CN" sz="2800" dirty="0" smtClean="0">
                <a:latin typeface="宋体"/>
                <a:ea typeface="宋体"/>
                <a:cs typeface="宋体"/>
              </a:rPr>
              <a:t>基于</a:t>
            </a:r>
            <a:r>
              <a:rPr lang="zh-CN" altLang="zh-CN" sz="2800" dirty="0">
                <a:latin typeface="宋体"/>
                <a:ea typeface="宋体"/>
                <a:cs typeface="宋体"/>
              </a:rPr>
              <a:t>犯罪的刑罚才是正当的</a:t>
            </a:r>
            <a:r>
              <a:rPr lang="zh-CN" altLang="zh-CN" sz="2800" dirty="0" smtClean="0">
                <a:latin typeface="宋体"/>
                <a:ea typeface="宋体"/>
                <a:cs typeface="宋体"/>
              </a:rPr>
              <a:t>，</a:t>
            </a:r>
            <a:r>
              <a:rPr lang="zh-CN" altLang="en-US" sz="2800" dirty="0" smtClean="0">
                <a:latin typeface="宋体"/>
                <a:ea typeface="宋体"/>
                <a:cs typeface="宋体"/>
              </a:rPr>
              <a:t>所以</a:t>
            </a:r>
            <a:r>
              <a:rPr lang="zh-CN" altLang="zh-CN" sz="2800" dirty="0" smtClean="0">
                <a:latin typeface="宋体"/>
                <a:ea typeface="宋体"/>
                <a:cs typeface="宋体"/>
              </a:rPr>
              <a:t>，刑法的宽严轻重理应先从犯罪</a:t>
            </a:r>
            <a:r>
              <a:rPr lang="zh-CN" altLang="en-US" sz="2800" dirty="0" smtClean="0">
                <a:latin typeface="宋体"/>
                <a:ea typeface="宋体"/>
                <a:cs typeface="宋体"/>
              </a:rPr>
              <a:t>本身</a:t>
            </a:r>
            <a:r>
              <a:rPr lang="zh-CN" altLang="zh-CN" sz="2800" dirty="0" smtClean="0">
                <a:latin typeface="宋体"/>
                <a:ea typeface="宋体"/>
                <a:cs typeface="宋体"/>
              </a:rPr>
              <a:t>寻求解释。</a:t>
            </a:r>
            <a:endParaRPr lang="en-US" altLang="zh-CN" sz="2800" dirty="0" smtClean="0">
              <a:latin typeface="宋体"/>
              <a:ea typeface="宋体"/>
              <a:cs typeface="宋体"/>
            </a:endParaRPr>
          </a:p>
          <a:p>
            <a:r>
              <a:rPr lang="zh-CN" altLang="zh-CN" sz="2800" dirty="0" smtClean="0">
                <a:latin typeface="宋体"/>
                <a:ea typeface="宋体"/>
                <a:cs typeface="宋体"/>
              </a:rPr>
              <a:t>犯罪</a:t>
            </a:r>
            <a:r>
              <a:rPr lang="zh-CN" altLang="zh-CN" sz="2800" dirty="0">
                <a:latin typeface="宋体"/>
                <a:ea typeface="宋体"/>
                <a:cs typeface="宋体"/>
              </a:rPr>
              <a:t>越多、越重，犯罪危险与民众切身感受之间的关联就越密切，</a:t>
            </a:r>
            <a:r>
              <a:rPr lang="zh-CN" altLang="zh-CN" sz="2800" dirty="0" smtClean="0">
                <a:latin typeface="宋体"/>
                <a:ea typeface="宋体"/>
                <a:cs typeface="宋体"/>
              </a:rPr>
              <a:t>越应该引发相应较重的刑法偏好</a:t>
            </a:r>
            <a:r>
              <a:rPr lang="en-US" altLang="zh-CN" sz="2800" dirty="0" smtClean="0">
                <a:latin typeface="宋体"/>
                <a:ea typeface="宋体"/>
                <a:cs typeface="宋体"/>
              </a:rPr>
              <a:t>——</a:t>
            </a:r>
            <a:r>
              <a:rPr lang="zh-CN" altLang="zh-CN" sz="2800" dirty="0" smtClean="0">
                <a:latin typeface="宋体"/>
                <a:ea typeface="宋体"/>
                <a:cs typeface="宋体"/>
              </a:rPr>
              <a:t>犯罪被害感受应该是解释刑法偏</a:t>
            </a:r>
            <a:r>
              <a:rPr lang="zh-CN" altLang="zh-CN" sz="2800" dirty="0">
                <a:latin typeface="宋体"/>
                <a:ea typeface="宋体"/>
                <a:cs typeface="宋体"/>
              </a:rPr>
              <a:t>好的主要变量</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黑体"/>
                <a:ea typeface="黑体"/>
                <a:cs typeface="黑体"/>
              </a:rPr>
              <a:t>假设：刑法偏好</a:t>
            </a:r>
            <a:r>
              <a:rPr lang="zh-CN" altLang="en-US" sz="2800" b="1" dirty="0" smtClean="0">
                <a:solidFill>
                  <a:srgbClr val="FF0000"/>
                </a:solidFill>
                <a:latin typeface="黑体"/>
                <a:ea typeface="黑体"/>
                <a:cs typeface="黑体"/>
              </a:rPr>
              <a:t>应该</a:t>
            </a:r>
            <a:r>
              <a:rPr lang="zh-CN" altLang="zh-CN" sz="2800" b="1" dirty="0" smtClean="0">
                <a:solidFill>
                  <a:srgbClr val="FF0000"/>
                </a:solidFill>
                <a:latin typeface="黑体"/>
                <a:ea typeface="黑体"/>
                <a:cs typeface="黑体"/>
              </a:rPr>
              <a:t>是</a:t>
            </a:r>
            <a:r>
              <a:rPr lang="zh-CN" altLang="zh-CN" sz="2800" dirty="0">
                <a:latin typeface="黑体"/>
                <a:ea typeface="黑体"/>
                <a:cs typeface="黑体"/>
              </a:rPr>
              <a:t>犯罪被害感受的结果，犯罪被害感受越强烈，</a:t>
            </a:r>
            <a:r>
              <a:rPr lang="zh-CN" altLang="zh-CN" sz="2800" dirty="0" smtClean="0">
                <a:latin typeface="黑体"/>
                <a:ea typeface="黑体"/>
                <a:cs typeface="黑体"/>
              </a:rPr>
              <a:t>刑法偏好则越重</a:t>
            </a:r>
            <a:r>
              <a:rPr lang="zh-CN" altLang="zh-CN" sz="2800" dirty="0">
                <a:latin typeface="黑体"/>
                <a:ea typeface="黑体"/>
                <a:cs typeface="黑体"/>
              </a:rPr>
              <a:t>。 </a:t>
            </a:r>
            <a:endParaRPr kumimoji="1" lang="zh-CN" altLang="en-US" sz="2800" dirty="0">
              <a:latin typeface="黑体"/>
              <a:ea typeface="黑体"/>
              <a:cs typeface="黑体"/>
            </a:endParaRPr>
          </a:p>
        </p:txBody>
      </p:sp>
    </p:spTree>
    <p:extLst>
      <p:ext uri="{BB962C8B-B14F-4D97-AF65-F5344CB8AC3E}">
        <p14:creationId xmlns:p14="http://schemas.microsoft.com/office/powerpoint/2010/main" val="2100734003"/>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因变量：刑法偏好系数</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r>
              <a:rPr lang="zh-CN" altLang="zh-CN" sz="2800" b="1" dirty="0">
                <a:latin typeface="楷体"/>
                <a:ea typeface="楷体"/>
                <a:cs typeface="楷体"/>
              </a:rPr>
              <a:t>刑法偏好系数</a:t>
            </a:r>
            <a:r>
              <a:rPr lang="en-US" altLang="zh-CN" sz="2800" b="1" dirty="0">
                <a:latin typeface="楷体"/>
                <a:ea typeface="楷体"/>
                <a:cs typeface="楷体"/>
              </a:rPr>
              <a:t>=</a:t>
            </a:r>
            <a:r>
              <a:rPr lang="zh-CN" altLang="zh-CN" sz="2800" b="1" dirty="0">
                <a:latin typeface="楷体"/>
                <a:ea typeface="楷体"/>
                <a:cs typeface="楷体"/>
              </a:rPr>
              <a:t>犯罪圈大小</a:t>
            </a:r>
            <a:r>
              <a:rPr lang="en-US" altLang="zh-CN" sz="2800" b="1" dirty="0">
                <a:latin typeface="楷体"/>
                <a:ea typeface="楷体"/>
                <a:cs typeface="楷体"/>
              </a:rPr>
              <a:t>+</a:t>
            </a:r>
            <a:r>
              <a:rPr lang="zh-CN" altLang="zh-CN" sz="2800" b="1" dirty="0">
                <a:latin typeface="楷体"/>
                <a:ea typeface="楷体"/>
                <a:cs typeface="楷体"/>
              </a:rPr>
              <a:t>刑罚轻重</a:t>
            </a:r>
            <a:r>
              <a:rPr lang="en-US" altLang="zh-CN" sz="2800" b="1" dirty="0">
                <a:latin typeface="楷体"/>
                <a:ea typeface="楷体"/>
                <a:cs typeface="楷体"/>
              </a:rPr>
              <a:t>+</a:t>
            </a:r>
            <a:r>
              <a:rPr lang="zh-CN" altLang="zh-CN" sz="2800" b="1" dirty="0">
                <a:latin typeface="楷体"/>
                <a:ea typeface="楷体"/>
                <a:cs typeface="楷体"/>
              </a:rPr>
              <a:t>罪刑均衡程度</a:t>
            </a:r>
          </a:p>
          <a:p>
            <a:r>
              <a:rPr lang="en-US" altLang="zh-CN" sz="2800" b="1" dirty="0" smtClean="0">
                <a:latin typeface="楷体"/>
                <a:ea typeface="楷体"/>
                <a:cs typeface="楷体"/>
              </a:rPr>
              <a:t>           </a:t>
            </a:r>
            <a:r>
              <a:rPr lang="zh-CN" altLang="en-US" sz="2800" b="1" dirty="0" smtClean="0">
                <a:latin typeface="楷体"/>
                <a:ea typeface="楷体"/>
                <a:cs typeface="楷体"/>
              </a:rPr>
              <a:t> </a:t>
            </a:r>
            <a:r>
              <a:rPr lang="en-US" altLang="zh-CN" sz="2800" b="1" dirty="0" smtClean="0">
                <a:latin typeface="楷体"/>
                <a:ea typeface="楷体"/>
                <a:cs typeface="楷体"/>
              </a:rPr>
              <a:t>=</a:t>
            </a:r>
            <a:r>
              <a:rPr lang="zh-CN" altLang="zh-CN" sz="2800" b="1" dirty="0" smtClean="0">
                <a:latin typeface="楷体"/>
                <a:ea typeface="楷体"/>
                <a:cs typeface="楷体"/>
              </a:rPr>
              <a:t>“见死不救”等几种行为入刑得分 </a:t>
            </a:r>
            <a:r>
              <a:rPr lang="en-US" altLang="zh-CN" sz="2800" b="1" dirty="0" smtClean="0">
                <a:latin typeface="楷体"/>
                <a:ea typeface="楷体"/>
                <a:cs typeface="楷体"/>
              </a:rPr>
              <a:t>+ </a:t>
            </a:r>
            <a:r>
              <a:rPr lang="zh-CN" altLang="zh-CN" sz="2800" b="1" dirty="0" smtClean="0">
                <a:latin typeface="楷体"/>
                <a:ea typeface="楷体"/>
                <a:cs typeface="楷体"/>
              </a:rPr>
              <a:t>不赞同“死刑执行太多了”得分 </a:t>
            </a:r>
            <a:r>
              <a:rPr lang="en-US" altLang="zh-CN" sz="2800" b="1" dirty="0" smtClean="0">
                <a:latin typeface="楷体"/>
                <a:ea typeface="楷体"/>
                <a:cs typeface="楷体"/>
              </a:rPr>
              <a:t>+ </a:t>
            </a:r>
            <a:r>
              <a:rPr lang="zh-CN" altLang="zh-CN" sz="2800" b="1" dirty="0" smtClean="0">
                <a:latin typeface="楷体"/>
                <a:ea typeface="楷体"/>
                <a:cs typeface="楷体"/>
              </a:rPr>
              <a:t>“伤害与盗窃”等几对犯罪无需区分轻重得分 </a:t>
            </a:r>
            <a:r>
              <a:rPr lang="en-US" altLang="zh-CN" sz="2800" b="1" dirty="0" smtClean="0">
                <a:latin typeface="楷体"/>
                <a:ea typeface="楷体"/>
                <a:cs typeface="楷体"/>
              </a:rPr>
              <a:t>/ </a:t>
            </a:r>
            <a:r>
              <a:rPr lang="zh-CN" altLang="zh-CN" sz="2800" b="1" dirty="0" smtClean="0">
                <a:latin typeface="楷体"/>
                <a:ea typeface="楷体"/>
                <a:cs typeface="楷体"/>
              </a:rPr>
              <a:t>总分（</a:t>
            </a:r>
            <a:r>
              <a:rPr lang="en-US" altLang="zh-CN" sz="2800" b="1" dirty="0" smtClean="0">
                <a:latin typeface="楷体"/>
                <a:ea typeface="楷体"/>
                <a:cs typeface="楷体"/>
              </a:rPr>
              <a:t>11</a:t>
            </a:r>
            <a:r>
              <a:rPr lang="zh-CN" altLang="zh-CN" sz="2800" b="1" dirty="0" smtClean="0">
                <a:latin typeface="楷体"/>
                <a:ea typeface="楷体"/>
                <a:cs typeface="楷体"/>
              </a:rPr>
              <a:t>分） </a:t>
            </a:r>
          </a:p>
          <a:p>
            <a:r>
              <a:rPr lang="zh-CN" altLang="zh-CN" sz="2800" dirty="0" smtClean="0">
                <a:latin typeface="宋体"/>
                <a:ea typeface="宋体"/>
                <a:cs typeface="宋体"/>
              </a:rPr>
              <a:t>每个受访者的实际总分，代表</a:t>
            </a:r>
            <a:r>
              <a:rPr lang="zh-CN" altLang="en-US" sz="2800" dirty="0" smtClean="0">
                <a:latin typeface="宋体"/>
                <a:ea typeface="宋体"/>
                <a:cs typeface="宋体"/>
              </a:rPr>
              <a:t>其</a:t>
            </a:r>
            <a:r>
              <a:rPr lang="zh-CN" altLang="zh-CN" sz="2800" dirty="0" smtClean="0">
                <a:latin typeface="宋体"/>
                <a:ea typeface="宋体"/>
                <a:cs typeface="宋体"/>
              </a:rPr>
              <a:t>刑法偏好基本水平。</a:t>
            </a:r>
            <a:endParaRPr lang="en-US" altLang="zh-CN" sz="2800" dirty="0" smtClean="0">
              <a:latin typeface="宋体"/>
              <a:ea typeface="宋体"/>
              <a:cs typeface="宋体"/>
            </a:endParaRPr>
          </a:p>
          <a:p>
            <a:r>
              <a:rPr lang="zh-CN" altLang="zh-CN" sz="2800" dirty="0" smtClean="0">
                <a:latin typeface="宋体"/>
                <a:ea typeface="宋体"/>
                <a:cs typeface="宋体"/>
              </a:rPr>
              <a:t>汇总所有受访者的得分，便可</a:t>
            </a:r>
            <a:r>
              <a:rPr lang="zh-CN" altLang="en-US" sz="2800" dirty="0" smtClean="0">
                <a:latin typeface="宋体"/>
                <a:ea typeface="宋体"/>
                <a:cs typeface="宋体"/>
              </a:rPr>
              <a:t>观察</a:t>
            </a:r>
            <a:r>
              <a:rPr lang="zh-CN" altLang="zh-CN" sz="2800" dirty="0" smtClean="0">
                <a:latin typeface="宋体"/>
                <a:ea typeface="宋体"/>
                <a:cs typeface="宋体"/>
              </a:rPr>
              <a:t>受访者刑法偏好系数的基本分布、平均水平</a:t>
            </a:r>
            <a:r>
              <a:rPr lang="zh-CN" altLang="en-US" sz="2800" dirty="0" smtClean="0">
                <a:latin typeface="宋体"/>
                <a:ea typeface="宋体"/>
                <a:cs typeface="宋体"/>
              </a:rPr>
              <a:t>等</a:t>
            </a:r>
            <a:r>
              <a:rPr lang="zh-CN" altLang="zh-CN" sz="2800" dirty="0" smtClean="0">
                <a:latin typeface="宋体"/>
                <a:ea typeface="宋体"/>
                <a:cs typeface="宋体"/>
              </a:rPr>
              <a:t>集中趋势值。 </a:t>
            </a:r>
            <a:endParaRPr kumimoji="1" lang="zh-CN" altLang="en-US" sz="2800" dirty="0">
              <a:latin typeface="宋体"/>
              <a:ea typeface="宋体"/>
              <a:cs typeface="宋体"/>
            </a:endParaRPr>
          </a:p>
        </p:txBody>
      </p:sp>
    </p:spTree>
    <p:extLst>
      <p:ext uri="{BB962C8B-B14F-4D97-AF65-F5344CB8AC3E}">
        <p14:creationId xmlns:p14="http://schemas.microsoft.com/office/powerpoint/2010/main" val="257748094"/>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自变量：被害感受</a:t>
            </a:r>
            <a:endParaRPr kumimoji="1" lang="zh-CN" altLang="en-US" sz="3600" dirty="0">
              <a:latin typeface="黑体"/>
              <a:ea typeface="黑体"/>
              <a:cs typeface="黑体"/>
            </a:endParaRPr>
          </a:p>
        </p:txBody>
      </p:sp>
      <p:sp>
        <p:nvSpPr>
          <p:cNvPr id="3" name="内容占位符 2"/>
          <p:cNvSpPr>
            <a:spLocks noGrp="1"/>
          </p:cNvSpPr>
          <p:nvPr>
            <p:ph idx="1"/>
          </p:nvPr>
        </p:nvSpPr>
        <p:spPr>
          <a:xfrm>
            <a:off x="467544" y="908720"/>
            <a:ext cx="8229600" cy="5616624"/>
          </a:xfrm>
        </p:spPr>
        <p:txBody>
          <a:bodyPr/>
          <a:lstStyle/>
          <a:p>
            <a:r>
              <a:rPr lang="zh-CN" altLang="zh-CN" sz="2800" b="1" dirty="0">
                <a:latin typeface="楷体"/>
                <a:ea typeface="楷体"/>
                <a:cs typeface="楷体"/>
              </a:rPr>
              <a:t>“在过去的</a:t>
            </a:r>
            <a:r>
              <a:rPr lang="en-US" altLang="zh-CN" sz="2800" b="1" dirty="0">
                <a:latin typeface="楷体"/>
                <a:ea typeface="楷体"/>
                <a:cs typeface="楷体"/>
              </a:rPr>
              <a:t>2</a:t>
            </a:r>
            <a:r>
              <a:rPr lang="zh-CN" altLang="zh-CN" sz="2800" b="1" dirty="0">
                <a:latin typeface="楷体"/>
                <a:ea typeface="楷体"/>
                <a:cs typeface="楷体"/>
              </a:rPr>
              <a:t>年内，您遇到过下列哪些情况（可多选）：财物被偷、财物被抢、财物被骗、被人殴打、以上都没有”</a:t>
            </a:r>
            <a:r>
              <a:rPr lang="zh-CN" altLang="zh-CN" sz="2800" b="1" dirty="0" smtClean="0">
                <a:latin typeface="楷体"/>
                <a:ea typeface="楷体"/>
                <a:cs typeface="楷体"/>
              </a:rPr>
              <a:t>。</a:t>
            </a:r>
            <a:endParaRPr lang="en-US" altLang="zh-CN" sz="2800" b="1" dirty="0" smtClean="0">
              <a:latin typeface="楷体"/>
              <a:ea typeface="楷体"/>
              <a:cs typeface="楷体"/>
            </a:endParaRPr>
          </a:p>
          <a:p>
            <a:r>
              <a:rPr lang="zh-CN" altLang="en-US" sz="2800" dirty="0" smtClean="0">
                <a:latin typeface="宋体"/>
                <a:ea typeface="宋体"/>
                <a:cs typeface="宋体"/>
              </a:rPr>
              <a:t>检验逻辑：</a:t>
            </a:r>
            <a:r>
              <a:rPr lang="zh-CN" altLang="zh-CN" sz="2800" dirty="0" smtClean="0">
                <a:latin typeface="宋体"/>
                <a:ea typeface="宋体"/>
                <a:cs typeface="宋体"/>
              </a:rPr>
              <a:t>如果在</a:t>
            </a:r>
            <a:r>
              <a:rPr lang="zh-CN" altLang="zh-CN" sz="2800" dirty="0">
                <a:latin typeface="宋体"/>
                <a:ea typeface="宋体"/>
                <a:cs typeface="宋体"/>
              </a:rPr>
              <a:t>控制其他变量的情况下，此项得分与刑法偏好系数之间关系显著</a:t>
            </a:r>
            <a:r>
              <a:rPr lang="zh-CN" altLang="zh-CN" sz="2800" dirty="0" smtClean="0">
                <a:latin typeface="宋体"/>
                <a:ea typeface="宋体"/>
                <a:cs typeface="宋体"/>
              </a:rPr>
              <a:t>，则意味着</a:t>
            </a:r>
            <a:r>
              <a:rPr lang="zh-CN" altLang="en-US" sz="2800" dirty="0" smtClean="0">
                <a:latin typeface="宋体"/>
                <a:ea typeface="宋体"/>
                <a:cs typeface="宋体"/>
              </a:rPr>
              <a:t>被害越多越偏好重法</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b="1" dirty="0" smtClean="0">
                <a:latin typeface="楷体"/>
                <a:ea typeface="楷体"/>
                <a:cs typeface="楷体"/>
              </a:rPr>
              <a:t>“</a:t>
            </a:r>
            <a:r>
              <a:rPr lang="zh-CN" altLang="zh-CN" sz="2800" b="1" dirty="0">
                <a:latin typeface="楷体"/>
                <a:ea typeface="楷体"/>
                <a:cs typeface="楷体"/>
              </a:rPr>
              <a:t>您怎样评价您现常居住地目前的社会治安状况：</a:t>
            </a:r>
            <a:r>
              <a:rPr lang="en-US" altLang="zh-CN" sz="2800" b="1" dirty="0">
                <a:latin typeface="楷体"/>
                <a:ea typeface="楷体"/>
                <a:cs typeface="楷体"/>
              </a:rPr>
              <a:t>0</a:t>
            </a:r>
            <a:r>
              <a:rPr lang="zh-CN" altLang="zh-CN" sz="2800" b="1" dirty="0">
                <a:latin typeface="楷体"/>
                <a:ea typeface="楷体"/>
                <a:cs typeface="楷体"/>
              </a:rPr>
              <a:t>表示非常不安全，</a:t>
            </a:r>
            <a:r>
              <a:rPr lang="en-US" altLang="zh-CN" sz="2800" b="1" dirty="0">
                <a:latin typeface="楷体"/>
                <a:ea typeface="楷体"/>
                <a:cs typeface="楷体"/>
              </a:rPr>
              <a:t>10</a:t>
            </a:r>
            <a:r>
              <a:rPr lang="zh-CN" altLang="zh-CN" sz="2800" b="1" dirty="0">
                <a:latin typeface="楷体"/>
                <a:ea typeface="楷体"/>
                <a:cs typeface="楷体"/>
              </a:rPr>
              <a:t>表示非常安全，请您选择一个数字表示您的态度”。</a:t>
            </a:r>
            <a:endParaRPr lang="en-US" altLang="zh-CN" sz="2800" b="1" dirty="0">
              <a:latin typeface="楷体"/>
              <a:ea typeface="楷体"/>
              <a:cs typeface="楷体"/>
            </a:endParaRPr>
          </a:p>
          <a:p>
            <a:r>
              <a:rPr lang="zh-CN" altLang="zh-CN" sz="2800" dirty="0" smtClean="0">
                <a:latin typeface="宋体"/>
                <a:ea typeface="宋体"/>
                <a:cs typeface="宋体"/>
              </a:rPr>
              <a:t>检验逻辑</a:t>
            </a:r>
            <a:r>
              <a:rPr lang="zh-CN" altLang="en-US" sz="2800" dirty="0" smtClean="0">
                <a:latin typeface="宋体"/>
                <a:ea typeface="宋体"/>
                <a:cs typeface="宋体"/>
              </a:rPr>
              <a:t>：</a:t>
            </a:r>
            <a:r>
              <a:rPr lang="zh-CN" altLang="zh-CN" sz="2800" dirty="0" smtClean="0">
                <a:latin typeface="宋体"/>
                <a:ea typeface="宋体"/>
                <a:cs typeface="宋体"/>
              </a:rPr>
              <a:t>如果在</a:t>
            </a:r>
            <a:r>
              <a:rPr lang="zh-CN" altLang="zh-CN" sz="2800" dirty="0">
                <a:latin typeface="宋体"/>
                <a:ea typeface="宋体"/>
                <a:cs typeface="宋体"/>
              </a:rPr>
              <a:t>控制其他变量的情况下，此项得分与刑法偏好系数之间关系显著</a:t>
            </a:r>
            <a:r>
              <a:rPr lang="zh-CN" altLang="zh-CN" sz="2800" dirty="0" smtClean="0">
                <a:latin typeface="宋体"/>
                <a:ea typeface="宋体"/>
                <a:cs typeface="宋体"/>
              </a:rPr>
              <a:t>，则意味着</a:t>
            </a:r>
            <a:r>
              <a:rPr lang="zh-CN" altLang="en-US" sz="2800" dirty="0" smtClean="0">
                <a:latin typeface="宋体"/>
                <a:ea typeface="宋体"/>
                <a:cs typeface="宋体"/>
              </a:rPr>
              <a:t>安全感越差，越会偏好重法</a:t>
            </a:r>
            <a:r>
              <a:rPr lang="zh-CN" altLang="zh-CN" sz="2800" dirty="0" smtClean="0">
                <a:latin typeface="宋体"/>
                <a:ea typeface="宋体"/>
                <a:cs typeface="宋体"/>
              </a:rPr>
              <a:t>。 </a:t>
            </a:r>
            <a:endParaRPr kumimoji="1" lang="zh-CN" altLang="en-US" sz="2800" dirty="0">
              <a:latin typeface="宋体"/>
              <a:ea typeface="宋体"/>
              <a:cs typeface="宋体"/>
            </a:endParaRPr>
          </a:p>
        </p:txBody>
      </p:sp>
    </p:spTree>
    <p:extLst>
      <p:ext uri="{BB962C8B-B14F-4D97-AF65-F5344CB8AC3E}">
        <p14:creationId xmlns:p14="http://schemas.microsoft.com/office/powerpoint/2010/main" val="497699859"/>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260648"/>
            <a:ext cx="7170737" cy="492125"/>
          </a:xfrm>
        </p:spPr>
        <p:txBody>
          <a:bodyPr/>
          <a:lstStyle/>
          <a:p>
            <a:pPr algn="ctr"/>
            <a:r>
              <a:rPr kumimoji="1" lang="zh-CN" altLang="en-US" sz="4000" dirty="0" smtClean="0">
                <a:latin typeface="黑体"/>
                <a:ea typeface="黑体"/>
                <a:cs typeface="黑体"/>
              </a:rPr>
              <a:t>样本</a:t>
            </a:r>
            <a:endParaRPr kumimoji="1" lang="zh-CN" altLang="en-US" sz="4000" dirty="0">
              <a:latin typeface="黑体"/>
              <a:ea typeface="黑体"/>
              <a:cs typeface="黑体"/>
            </a:endParaRPr>
          </a:p>
        </p:txBody>
      </p:sp>
      <p:sp>
        <p:nvSpPr>
          <p:cNvPr id="3" name="内容占位符 2"/>
          <p:cNvSpPr>
            <a:spLocks noGrp="1"/>
          </p:cNvSpPr>
          <p:nvPr>
            <p:ph idx="1"/>
          </p:nvPr>
        </p:nvSpPr>
        <p:spPr>
          <a:xfrm>
            <a:off x="467544" y="980728"/>
            <a:ext cx="8229600" cy="5328592"/>
          </a:xfrm>
        </p:spPr>
        <p:txBody>
          <a:bodyPr/>
          <a:lstStyle/>
          <a:p>
            <a:r>
              <a:rPr lang="en-US" altLang="zh-CN" sz="4000" b="1" dirty="0" smtClean="0"/>
              <a:t>CFPS</a:t>
            </a:r>
            <a:r>
              <a:rPr lang="en-US" altLang="zh-CN" b="1" dirty="0" smtClean="0"/>
              <a:t>—</a:t>
            </a:r>
            <a:r>
              <a:rPr lang="en-US" altLang="zh-CN" b="1" dirty="0"/>
              <a:t>—</a:t>
            </a:r>
            <a:r>
              <a:rPr lang="en-US" altLang="zh-CN" b="1" dirty="0" smtClean="0"/>
              <a:t>China </a:t>
            </a:r>
            <a:r>
              <a:rPr lang="en-US" altLang="zh-CN" b="1" dirty="0"/>
              <a:t>Family </a:t>
            </a:r>
            <a:r>
              <a:rPr lang="en-US" altLang="zh-CN" b="1" dirty="0" smtClean="0"/>
              <a:t>Panel Studies（</a:t>
            </a:r>
            <a:r>
              <a:rPr lang="zh-CN" altLang="en-US" b="1" dirty="0" smtClean="0"/>
              <a:t>中国家庭跟踪调查）</a:t>
            </a:r>
            <a:endParaRPr lang="en-US" altLang="zh-CN" b="1" dirty="0" smtClean="0"/>
          </a:p>
          <a:p>
            <a:r>
              <a:rPr lang="zh-CN" altLang="en-US" dirty="0" smtClean="0"/>
              <a:t>样本覆盖 </a:t>
            </a:r>
            <a:r>
              <a:rPr lang="en-US" altLang="zh-CN" dirty="0"/>
              <a:t>25 </a:t>
            </a:r>
            <a:r>
              <a:rPr lang="zh-CN" altLang="en-US" dirty="0"/>
              <a:t>个省</a:t>
            </a:r>
            <a:r>
              <a:rPr lang="en-US" altLang="zh-CN" dirty="0"/>
              <a:t>/</a:t>
            </a:r>
            <a:r>
              <a:rPr lang="zh-CN" altLang="en-US" dirty="0"/>
              <a:t>市</a:t>
            </a:r>
            <a:r>
              <a:rPr lang="en-US" altLang="zh-CN" dirty="0"/>
              <a:t>/</a:t>
            </a:r>
            <a:r>
              <a:rPr lang="zh-CN" altLang="en-US" dirty="0"/>
              <a:t>自 治</a:t>
            </a:r>
            <a:r>
              <a:rPr lang="zh-CN" altLang="en-US" dirty="0" smtClean="0"/>
              <a:t>区</a:t>
            </a:r>
            <a:r>
              <a:rPr lang="zh-CN" altLang="zh-CN" dirty="0"/>
              <a:t>，</a:t>
            </a:r>
            <a:r>
              <a:rPr lang="zh-CN" altLang="en-US" dirty="0" smtClean="0"/>
              <a:t>代表中国 </a:t>
            </a:r>
            <a:r>
              <a:rPr lang="en-US" altLang="zh-CN" dirty="0"/>
              <a:t>95%</a:t>
            </a:r>
            <a:r>
              <a:rPr lang="zh-CN" altLang="en-US" dirty="0"/>
              <a:t>的</a:t>
            </a:r>
            <a:r>
              <a:rPr lang="zh-CN" altLang="en-US" dirty="0" smtClean="0"/>
              <a:t>人口</a:t>
            </a:r>
            <a:r>
              <a:rPr lang="zh-CN" altLang="zh-CN" dirty="0"/>
              <a:t>。</a:t>
            </a:r>
            <a:endParaRPr lang="en-US" altLang="zh-CN" dirty="0" smtClean="0"/>
          </a:p>
          <a:p>
            <a:r>
              <a:rPr lang="zh-CN" altLang="en-US" dirty="0" smtClean="0"/>
              <a:t>招聘</a:t>
            </a:r>
            <a:r>
              <a:rPr lang="zh-CN" altLang="en-US" dirty="0"/>
              <a:t>到 </a:t>
            </a:r>
            <a:r>
              <a:rPr lang="en-US" altLang="zh-CN" dirty="0"/>
              <a:t>453 </a:t>
            </a:r>
            <a:r>
              <a:rPr lang="zh-CN" altLang="en-US" dirty="0"/>
              <a:t>名访员。访员分 </a:t>
            </a:r>
            <a:r>
              <a:rPr lang="en-US" altLang="zh-CN" dirty="0"/>
              <a:t>14 </a:t>
            </a:r>
            <a:r>
              <a:rPr lang="zh-CN" altLang="en-US" dirty="0" smtClean="0"/>
              <a:t>批分别来北大进行 </a:t>
            </a:r>
            <a:r>
              <a:rPr lang="en-US" altLang="zh-CN" dirty="0"/>
              <a:t>6 </a:t>
            </a:r>
            <a:r>
              <a:rPr lang="zh-CN" altLang="en-US" dirty="0" smtClean="0"/>
              <a:t>天培训。</a:t>
            </a:r>
            <a:r>
              <a:rPr lang="zh-CN" altLang="en-US" dirty="0"/>
              <a:t>有 </a:t>
            </a:r>
            <a:r>
              <a:rPr lang="en-US" altLang="zh-CN" dirty="0"/>
              <a:t>438 </a:t>
            </a:r>
            <a:r>
              <a:rPr lang="zh-CN" altLang="en-US" dirty="0" smtClean="0"/>
              <a:t>人通过考试</a:t>
            </a:r>
            <a:r>
              <a:rPr lang="zh-CN" altLang="zh-CN" dirty="0"/>
              <a:t>，</a:t>
            </a:r>
            <a:r>
              <a:rPr lang="zh-CN" altLang="en-US" dirty="0" smtClean="0"/>
              <a:t>成为正式访员</a:t>
            </a:r>
            <a:r>
              <a:rPr lang="zh-CN" altLang="en-US" dirty="0"/>
              <a:t>。 </a:t>
            </a:r>
          </a:p>
          <a:p>
            <a:r>
              <a:rPr lang="zh-CN" altLang="en-US" dirty="0" smtClean="0"/>
              <a:t>调查共采访 </a:t>
            </a:r>
            <a:r>
              <a:rPr lang="en-US" altLang="zh-CN" dirty="0"/>
              <a:t>14960 </a:t>
            </a:r>
            <a:r>
              <a:rPr lang="zh-CN" altLang="en-US" dirty="0"/>
              <a:t>户家庭、</a:t>
            </a:r>
            <a:r>
              <a:rPr lang="en-US" altLang="zh-CN" dirty="0"/>
              <a:t>42590 </a:t>
            </a:r>
            <a:r>
              <a:rPr lang="zh-CN" altLang="en-US" dirty="0" smtClean="0"/>
              <a:t>位个人</a:t>
            </a:r>
            <a:r>
              <a:rPr lang="zh-CN" altLang="zh-CN" dirty="0"/>
              <a:t>，</a:t>
            </a:r>
            <a:r>
              <a:rPr lang="zh-CN" altLang="en-US" dirty="0" smtClean="0"/>
              <a:t>并将对个人样本展开长期的跟踪调查</a:t>
            </a:r>
            <a:r>
              <a:rPr lang="en-US" altLang="zh-CN" dirty="0"/>
              <a:t>，</a:t>
            </a:r>
            <a:r>
              <a:rPr lang="zh-CN" altLang="en-US" dirty="0" smtClean="0"/>
              <a:t>是</a:t>
            </a:r>
            <a:r>
              <a:rPr lang="zh-CN" altLang="en-US" dirty="0"/>
              <a:t>国内第一个如此大规模的、综合性的、以学术为</a:t>
            </a:r>
            <a:r>
              <a:rPr lang="zh-CN" altLang="en-US" dirty="0" smtClean="0"/>
              <a:t>目的的社会跟踪调查项目。</a:t>
            </a:r>
            <a:endParaRPr lang="zh-CN" altLang="en-US" dirty="0"/>
          </a:p>
          <a:p>
            <a:r>
              <a:rPr lang="zh-CN" altLang="en-US" dirty="0" smtClean="0"/>
              <a:t>严</a:t>
            </a:r>
            <a:r>
              <a:rPr lang="zh-CN" altLang="en-US" dirty="0"/>
              <a:t>格的质量控制</a:t>
            </a:r>
            <a:r>
              <a:rPr lang="zh-CN" altLang="en-US" dirty="0" smtClean="0"/>
              <a:t>手段。对问卷设计、样本代表性、</a:t>
            </a:r>
            <a:r>
              <a:rPr lang="zh-CN" altLang="en-US" dirty="0"/>
              <a:t>访员行为不规范、</a:t>
            </a:r>
            <a:r>
              <a:rPr lang="zh-CN" altLang="en-US" dirty="0" smtClean="0"/>
              <a:t>数据汇总过程出错等一系列问题，通过电话核查</a:t>
            </a:r>
            <a:r>
              <a:rPr lang="zh-CN" altLang="en-US" dirty="0"/>
              <a:t>、实地核查、录音核查、采访过程回放、</a:t>
            </a:r>
            <a:r>
              <a:rPr lang="zh-CN" altLang="en-US" dirty="0" smtClean="0"/>
              <a:t>数据统计分析等手段进行监控干预</a:t>
            </a:r>
            <a:r>
              <a:rPr lang="zh-CN" altLang="en-US" dirty="0"/>
              <a:t>。 </a:t>
            </a:r>
          </a:p>
          <a:p>
            <a:endParaRPr lang="en-US" altLang="zh-CN" dirty="0"/>
          </a:p>
          <a:p>
            <a:endParaRPr lang="zh-CN" altLang="en-US" dirty="0"/>
          </a:p>
        </p:txBody>
      </p:sp>
    </p:spTree>
    <p:extLst>
      <p:ext uri="{BB962C8B-B14F-4D97-AF65-F5344CB8AC3E}">
        <p14:creationId xmlns:p14="http://schemas.microsoft.com/office/powerpoint/2010/main" val="3927251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332656"/>
            <a:ext cx="7170737" cy="492125"/>
          </a:xfrm>
        </p:spPr>
        <p:txBody>
          <a:bodyPr/>
          <a:lstStyle/>
          <a:p>
            <a:pPr algn="ctr"/>
            <a:r>
              <a:rPr lang="en-US" altLang="zh-CN" b="1" dirty="0">
                <a:latin typeface="黑体"/>
                <a:ea typeface="黑体"/>
                <a:cs typeface="黑体"/>
              </a:rPr>
              <a:t>CFPS </a:t>
            </a:r>
            <a:r>
              <a:rPr lang="zh-CN" altLang="en-US" dirty="0">
                <a:latin typeface="黑体"/>
                <a:ea typeface="黑体"/>
                <a:cs typeface="黑体"/>
              </a:rPr>
              <a:t>样本区县地理分布图 </a:t>
            </a:r>
            <a:endParaRPr kumimoji="1" lang="zh-CN" altLang="en-US" dirty="0">
              <a:latin typeface="黑体"/>
              <a:ea typeface="黑体"/>
              <a:cs typeface="黑体"/>
            </a:endParaRPr>
          </a:p>
        </p:txBody>
      </p:sp>
      <p:pic>
        <p:nvPicPr>
          <p:cNvPr id="4" name="内容占位符 3"/>
          <p:cNvPicPr>
            <a:picLocks noGrp="1"/>
          </p:cNvPicPr>
          <p:nvPr>
            <p:ph idx="1"/>
          </p:nvPr>
        </p:nvPicPr>
        <p:blipFill rotWithShape="1">
          <a:blip r:embed="rId2">
            <a:extLst>
              <a:ext uri="{28A0092B-C50C-407E-A947-70E740481C1C}">
                <a14:useLocalDpi xmlns:a14="http://schemas.microsoft.com/office/drawing/2010/main" val="0"/>
              </a:ext>
            </a:extLst>
          </a:blip>
          <a:srcRect l="-15394" t="-6326" r="-15394" b="6326"/>
          <a:stretch/>
        </p:blipFill>
        <p:spPr bwMode="auto">
          <a:xfrm>
            <a:off x="684213" y="836613"/>
            <a:ext cx="7642225" cy="5688012"/>
          </a:xfrm>
          <a:prstGeom prst="rect">
            <a:avLst/>
          </a:prstGeom>
          <a:noFill/>
          <a:ln>
            <a:noFill/>
          </a:ln>
        </p:spPr>
      </p:pic>
    </p:spTree>
    <p:extLst>
      <p:ext uri="{BB962C8B-B14F-4D97-AF65-F5344CB8AC3E}">
        <p14:creationId xmlns:p14="http://schemas.microsoft.com/office/powerpoint/2010/main" val="13143152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800" decel="100000"/>
                                        <p:tgtEl>
                                          <p:spTgt spid="2"/>
                                        </p:tgtEl>
                                      </p:cBhvr>
                                    </p:animEffect>
                                    <p:anim calcmode="lin" valueType="num">
                                      <p:cBhvr>
                                        <p:cTn id="8" dur="800" decel="100000" fill="hold"/>
                                        <p:tgtEl>
                                          <p:spTgt spid="2"/>
                                        </p:tgtEl>
                                        <p:attrNameLst>
                                          <p:attrName>style.rotation</p:attrName>
                                        </p:attrNameLst>
                                      </p:cBhvr>
                                      <p:tavLst>
                                        <p:tav tm="0">
                                          <p:val>
                                            <p:fltVal val="-90"/>
                                          </p:val>
                                        </p:tav>
                                        <p:tav tm="100000">
                                          <p:val>
                                            <p:fltVal val="0"/>
                                          </p:val>
                                        </p:tav>
                                      </p:tavLst>
                                    </p:anim>
                                    <p:anim calcmode="lin" valueType="num">
                                      <p:cBhvr>
                                        <p:cTn id="9" dur="800" decel="100000" fill="hold"/>
                                        <p:tgtEl>
                                          <p:spTgt spid="2"/>
                                        </p:tgtEl>
                                        <p:attrNameLst>
                                          <p:attrName>ppt_x</p:attrName>
                                        </p:attrNameLst>
                                      </p:cBhvr>
                                      <p:tavLst>
                                        <p:tav tm="0">
                                          <p:val>
                                            <p:strVal val="#ppt_x+0.4"/>
                                          </p:val>
                                        </p:tav>
                                        <p:tav tm="100000">
                                          <p:val>
                                            <p:strVal val="#ppt_x-0.05"/>
                                          </p:val>
                                        </p:tav>
                                      </p:tavLst>
                                    </p:anim>
                                    <p:anim calcmode="lin" valueType="num">
                                      <p:cBhvr>
                                        <p:cTn id="10" dur="800" decel="100000" fill="hold"/>
                                        <p:tgtEl>
                                          <p:spTgt spid="2"/>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2"/>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2"/>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800" decel="100000"/>
                                        <p:tgtEl>
                                          <p:spTgt spid="4"/>
                                        </p:tgtEl>
                                      </p:cBhvr>
                                    </p:animEffect>
                                    <p:anim calcmode="lin" valueType="num">
                                      <p:cBhvr>
                                        <p:cTn id="18" dur="800" decel="100000" fill="hold"/>
                                        <p:tgtEl>
                                          <p:spTgt spid="4"/>
                                        </p:tgtEl>
                                        <p:attrNameLst>
                                          <p:attrName>style.rotation</p:attrName>
                                        </p:attrNameLst>
                                      </p:cBhvr>
                                      <p:tavLst>
                                        <p:tav tm="0">
                                          <p:val>
                                            <p:fltVal val="-90"/>
                                          </p:val>
                                        </p:tav>
                                        <p:tav tm="100000">
                                          <p:val>
                                            <p:fltVal val="0"/>
                                          </p:val>
                                        </p:tav>
                                      </p:tavLst>
                                    </p:anim>
                                    <p:anim calcmode="lin" valueType="num">
                                      <p:cBhvr>
                                        <p:cTn id="19" dur="800" decel="100000" fill="hold"/>
                                        <p:tgtEl>
                                          <p:spTgt spid="4"/>
                                        </p:tgtEl>
                                        <p:attrNameLst>
                                          <p:attrName>ppt_x</p:attrName>
                                        </p:attrNameLst>
                                      </p:cBhvr>
                                      <p:tavLst>
                                        <p:tav tm="0">
                                          <p:val>
                                            <p:strVal val="#ppt_x+0.4"/>
                                          </p:val>
                                        </p:tav>
                                        <p:tav tm="100000">
                                          <p:val>
                                            <p:strVal val="#ppt_x-0.05"/>
                                          </p:val>
                                        </p:tav>
                                      </p:tavLst>
                                    </p:anim>
                                    <p:anim calcmode="lin" valueType="num">
                                      <p:cBhvr>
                                        <p:cTn id="20" dur="800" decel="100000" fill="hold"/>
                                        <p:tgtEl>
                                          <p:spTgt spid="4"/>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4"/>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4"/>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结果与发现</a:t>
            </a:r>
            <a:endParaRPr kumimoji="1" lang="zh-CN" altLang="en-US" sz="3600" dirty="0">
              <a:latin typeface="黑体"/>
              <a:ea typeface="黑体"/>
              <a:cs typeface="黑体"/>
            </a:endParaRPr>
          </a:p>
        </p:txBody>
      </p:sp>
      <p:graphicFrame>
        <p:nvGraphicFramePr>
          <p:cNvPr id="8" name="内容占位符 7"/>
          <p:cNvGraphicFramePr>
            <a:graphicFrameLocks noGrp="1"/>
          </p:cNvGraphicFramePr>
          <p:nvPr>
            <p:ph sz="half" idx="1"/>
            <p:extLst/>
          </p:nvPr>
        </p:nvGraphicFramePr>
        <p:xfrm>
          <a:off x="457200" y="1125538"/>
          <a:ext cx="4038600" cy="4967760"/>
        </p:xfrm>
        <a:graphic>
          <a:graphicData uri="http://schemas.openxmlformats.org/drawingml/2006/table">
            <a:tbl>
              <a:tblPr firstRow="1" bandRow="1">
                <a:tableStyleId>{5C22544A-7EE6-4342-B048-85BDC9FD1C3A}</a:tableStyleId>
              </a:tblPr>
              <a:tblGrid>
                <a:gridCol w="1346200"/>
                <a:gridCol w="1346200"/>
                <a:gridCol w="1346200"/>
              </a:tblGrid>
              <a:tr h="496776">
                <a:tc gridSpan="3">
                  <a:txBody>
                    <a:bodyPr/>
                    <a:lstStyle/>
                    <a:p>
                      <a:pPr marL="38100" marR="38100" algn="ctr">
                        <a:lnSpc>
                          <a:spcPts val="1600"/>
                        </a:lnSpc>
                        <a:spcAft>
                          <a:spcPts val="0"/>
                        </a:spcAft>
                      </a:pPr>
                      <a:r>
                        <a:rPr lang="zh-CN" sz="2800" kern="0" dirty="0" smtClean="0">
                          <a:solidFill>
                            <a:srgbClr val="000000"/>
                          </a:solidFill>
                          <a:effectLst/>
                          <a:latin typeface="黑体"/>
                          <a:ea typeface="黑体"/>
                          <a:cs typeface="黑体"/>
                        </a:rPr>
                        <a:t>中国民众刑法偏</a:t>
                      </a:r>
                      <a:r>
                        <a:rPr lang="zh-CN" sz="2800" kern="0" dirty="0">
                          <a:solidFill>
                            <a:srgbClr val="000000"/>
                          </a:solidFill>
                          <a:effectLst/>
                          <a:latin typeface="黑体"/>
                          <a:ea typeface="黑体"/>
                          <a:cs typeface="黑体"/>
                        </a:rPr>
                        <a:t>好系数</a:t>
                      </a:r>
                      <a:endParaRPr lang="zh-CN" sz="2800" kern="100" dirty="0">
                        <a:effectLst/>
                        <a:latin typeface="黑体"/>
                        <a:ea typeface="黑体"/>
                        <a:cs typeface="黑体"/>
                      </a:endParaRPr>
                    </a:p>
                  </a:txBody>
                  <a:tcPr marL="0" marR="0" marT="0" marB="0" anchor="b"/>
                </a:tc>
                <a:tc hMerge="1">
                  <a:txBody>
                    <a:bodyPr/>
                    <a:lstStyle/>
                    <a:p>
                      <a:endParaRPr lang="zh-CN" altLang="en-US"/>
                    </a:p>
                  </a:txBody>
                  <a:tcPr/>
                </a:tc>
                <a:tc hMerge="1">
                  <a:txBody>
                    <a:bodyPr/>
                    <a:lstStyle/>
                    <a:p>
                      <a:endParaRPr lang="zh-CN" altLang="en-US"/>
                    </a:p>
                  </a:txBody>
                  <a:tcPr/>
                </a:tc>
              </a:tr>
              <a:tr h="496776">
                <a:tc rowSpan="2">
                  <a:txBody>
                    <a:bodyPr/>
                    <a:lstStyle/>
                    <a:p>
                      <a:pPr marL="38100" marR="38100" algn="ctr">
                        <a:lnSpc>
                          <a:spcPts val="1600"/>
                        </a:lnSpc>
                        <a:spcAft>
                          <a:spcPts val="0"/>
                        </a:spcAft>
                      </a:pPr>
                      <a:r>
                        <a:rPr lang="en-US" sz="2000" kern="0" dirty="0">
                          <a:solidFill>
                            <a:srgbClr val="000000"/>
                          </a:solidFill>
                          <a:effectLst/>
                          <a:latin typeface="MingLiU"/>
                          <a:ea typeface="宋体"/>
                          <a:cs typeface="MingLiU"/>
                        </a:rPr>
                        <a:t>N</a:t>
                      </a:r>
                      <a:endParaRPr lang="zh-CN" sz="2000"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zh-CN" sz="2000" kern="0">
                          <a:solidFill>
                            <a:srgbClr val="000000"/>
                          </a:solidFill>
                          <a:effectLst/>
                          <a:latin typeface="Cambria"/>
                          <a:ea typeface="MingLiU"/>
                          <a:cs typeface="MingLiU"/>
                        </a:rPr>
                        <a:t>有效</a:t>
                      </a:r>
                      <a:endParaRPr lang="zh-CN" sz="2000" kern="10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2000" kern="0">
                          <a:solidFill>
                            <a:srgbClr val="000000"/>
                          </a:solidFill>
                          <a:effectLst/>
                          <a:latin typeface="MingLiU"/>
                          <a:ea typeface="宋体"/>
                          <a:cs typeface="MingLiU"/>
                        </a:rPr>
                        <a:t>31665</a:t>
                      </a:r>
                      <a:endParaRPr lang="zh-CN" sz="2000" kern="100">
                        <a:effectLst/>
                        <a:latin typeface="Cambria"/>
                        <a:ea typeface="宋体"/>
                        <a:cs typeface="Times New Roman"/>
                      </a:endParaRPr>
                    </a:p>
                  </a:txBody>
                  <a:tcPr marL="0" marR="0" marT="0" marB="0" anchor="ctr"/>
                </a:tc>
              </a:tr>
              <a:tr h="496776">
                <a:tc vMerge="1">
                  <a:txBody>
                    <a:bodyPr/>
                    <a:lstStyle/>
                    <a:p>
                      <a:endParaRPr lang="zh-CN" altLang="en-US"/>
                    </a:p>
                  </a:txBody>
                  <a:tcPr/>
                </a:tc>
                <a:tc>
                  <a:txBody>
                    <a:bodyPr/>
                    <a:lstStyle/>
                    <a:p>
                      <a:pPr marL="38100" marR="38100" algn="ctr">
                        <a:lnSpc>
                          <a:spcPts val="1600"/>
                        </a:lnSpc>
                        <a:spcAft>
                          <a:spcPts val="0"/>
                        </a:spcAft>
                      </a:pPr>
                      <a:r>
                        <a:rPr lang="zh-CN" sz="2000" kern="0">
                          <a:solidFill>
                            <a:srgbClr val="000000"/>
                          </a:solidFill>
                          <a:effectLst/>
                          <a:latin typeface="Cambria"/>
                          <a:ea typeface="MingLiU"/>
                          <a:cs typeface="MingLiU"/>
                        </a:rPr>
                        <a:t>缺失</a:t>
                      </a:r>
                      <a:endParaRPr lang="zh-CN" sz="2000" kern="10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2000" kern="0">
                          <a:solidFill>
                            <a:srgbClr val="000000"/>
                          </a:solidFill>
                          <a:effectLst/>
                          <a:latin typeface="MingLiU"/>
                          <a:ea typeface="宋体"/>
                          <a:cs typeface="MingLiU"/>
                        </a:rPr>
                        <a:t>0</a:t>
                      </a:r>
                      <a:endParaRPr lang="zh-CN" sz="2000" kern="100">
                        <a:effectLst/>
                        <a:latin typeface="Cambria"/>
                        <a:ea typeface="宋体"/>
                        <a:cs typeface="Times New Roman"/>
                      </a:endParaRPr>
                    </a:p>
                  </a:txBody>
                  <a:tcPr marL="0" marR="0" marT="0" marB="0" anchor="ctr"/>
                </a:tc>
              </a:tr>
              <a:tr h="496776">
                <a:tc gridSpan="2">
                  <a:txBody>
                    <a:bodyPr/>
                    <a:lstStyle/>
                    <a:p>
                      <a:pPr marL="38100" marR="38100" algn="ctr">
                        <a:lnSpc>
                          <a:spcPts val="1600"/>
                        </a:lnSpc>
                        <a:spcAft>
                          <a:spcPts val="0"/>
                        </a:spcAft>
                      </a:pPr>
                      <a:r>
                        <a:rPr lang="zh-CN" sz="2000" kern="0" dirty="0">
                          <a:solidFill>
                            <a:srgbClr val="000000"/>
                          </a:solidFill>
                          <a:effectLst/>
                          <a:latin typeface="Cambria"/>
                          <a:ea typeface="MingLiU"/>
                          <a:cs typeface="MingLiU"/>
                        </a:rPr>
                        <a:t>均值</a:t>
                      </a:r>
                      <a:endParaRPr lang="zh-CN" sz="2000" kern="100" dirty="0">
                        <a:effectLst/>
                        <a:latin typeface="Cambria"/>
                        <a:ea typeface="宋体"/>
                        <a:cs typeface="Times New Roman"/>
                      </a:endParaRPr>
                    </a:p>
                  </a:txBody>
                  <a:tcPr marL="0" marR="0" marT="0" marB="0" anchor="ctr"/>
                </a:tc>
                <a:tc hMerge="1">
                  <a:txBody>
                    <a:bodyPr/>
                    <a:lstStyle/>
                    <a:p>
                      <a:endParaRPr lang="zh-CN" altLang="en-US"/>
                    </a:p>
                  </a:txBody>
                  <a:tcPr/>
                </a:tc>
                <a:tc>
                  <a:txBody>
                    <a:bodyPr/>
                    <a:lstStyle/>
                    <a:p>
                      <a:pPr marL="38100" marR="38100" algn="ctr">
                        <a:lnSpc>
                          <a:spcPts val="1600"/>
                        </a:lnSpc>
                        <a:spcAft>
                          <a:spcPts val="0"/>
                        </a:spcAft>
                      </a:pPr>
                      <a:r>
                        <a:rPr lang="en-US" sz="3200" kern="0" dirty="0">
                          <a:solidFill>
                            <a:srgbClr val="FF0000"/>
                          </a:solidFill>
                          <a:effectLst/>
                          <a:latin typeface="黑体"/>
                          <a:ea typeface="黑体"/>
                          <a:cs typeface="黑体"/>
                        </a:rPr>
                        <a:t>0.36</a:t>
                      </a:r>
                      <a:endParaRPr lang="zh-CN" sz="3200" kern="100" dirty="0">
                        <a:solidFill>
                          <a:srgbClr val="FF0000"/>
                        </a:solidFill>
                        <a:effectLst/>
                        <a:latin typeface="黑体"/>
                        <a:ea typeface="黑体"/>
                        <a:cs typeface="黑体"/>
                      </a:endParaRPr>
                    </a:p>
                  </a:txBody>
                  <a:tcPr marL="0" marR="0" marT="0" marB="0" anchor="ctr"/>
                </a:tc>
              </a:tr>
              <a:tr h="496776">
                <a:tc gridSpan="2">
                  <a:txBody>
                    <a:bodyPr/>
                    <a:lstStyle/>
                    <a:p>
                      <a:pPr marL="38100" marR="38100" algn="ctr">
                        <a:lnSpc>
                          <a:spcPts val="1600"/>
                        </a:lnSpc>
                        <a:spcAft>
                          <a:spcPts val="0"/>
                        </a:spcAft>
                      </a:pPr>
                      <a:r>
                        <a:rPr lang="zh-CN" sz="2000" kern="0" dirty="0">
                          <a:solidFill>
                            <a:srgbClr val="000000"/>
                          </a:solidFill>
                          <a:effectLst/>
                          <a:latin typeface="Cambria"/>
                          <a:ea typeface="MingLiU"/>
                          <a:cs typeface="MingLiU"/>
                        </a:rPr>
                        <a:t>中值</a:t>
                      </a:r>
                      <a:endParaRPr lang="zh-CN" sz="2000" kern="100" dirty="0">
                        <a:effectLst/>
                        <a:latin typeface="Cambria"/>
                        <a:ea typeface="宋体"/>
                        <a:cs typeface="Times New Roman"/>
                      </a:endParaRPr>
                    </a:p>
                  </a:txBody>
                  <a:tcPr marL="0" marR="0" marT="0" marB="0" anchor="ctr"/>
                </a:tc>
                <a:tc hMerge="1">
                  <a:txBody>
                    <a:bodyPr/>
                    <a:lstStyle/>
                    <a:p>
                      <a:endParaRPr lang="zh-CN" altLang="en-US"/>
                    </a:p>
                  </a:txBody>
                  <a:tcPr/>
                </a:tc>
                <a:tc>
                  <a:txBody>
                    <a:bodyPr/>
                    <a:lstStyle/>
                    <a:p>
                      <a:pPr marL="38100" marR="38100" algn="ctr">
                        <a:lnSpc>
                          <a:spcPts val="1600"/>
                        </a:lnSpc>
                        <a:spcAft>
                          <a:spcPts val="0"/>
                        </a:spcAft>
                      </a:pPr>
                      <a:r>
                        <a:rPr lang="en-US" sz="2000" kern="0" dirty="0">
                          <a:solidFill>
                            <a:srgbClr val="000000"/>
                          </a:solidFill>
                          <a:effectLst/>
                          <a:latin typeface="MingLiU"/>
                          <a:ea typeface="宋体"/>
                          <a:cs typeface="MingLiU"/>
                        </a:rPr>
                        <a:t>0.36</a:t>
                      </a:r>
                      <a:endParaRPr lang="zh-CN" sz="2000" kern="100" dirty="0">
                        <a:effectLst/>
                        <a:latin typeface="Cambria"/>
                        <a:ea typeface="宋体"/>
                        <a:cs typeface="Times New Roman"/>
                      </a:endParaRPr>
                    </a:p>
                  </a:txBody>
                  <a:tcPr marL="0" marR="0" marT="0" marB="0" anchor="ctr"/>
                </a:tc>
              </a:tr>
              <a:tr h="496776">
                <a:tc gridSpan="2">
                  <a:txBody>
                    <a:bodyPr/>
                    <a:lstStyle/>
                    <a:p>
                      <a:pPr marL="38100" marR="38100" algn="ctr">
                        <a:lnSpc>
                          <a:spcPts val="1600"/>
                        </a:lnSpc>
                        <a:spcAft>
                          <a:spcPts val="0"/>
                        </a:spcAft>
                      </a:pPr>
                      <a:r>
                        <a:rPr lang="zh-CN" sz="2000" kern="0">
                          <a:solidFill>
                            <a:srgbClr val="000000"/>
                          </a:solidFill>
                          <a:effectLst/>
                          <a:latin typeface="Cambria"/>
                          <a:ea typeface="MingLiU"/>
                          <a:cs typeface="MingLiU"/>
                        </a:rPr>
                        <a:t>众数</a:t>
                      </a:r>
                      <a:endParaRPr lang="zh-CN" sz="2000" kern="100">
                        <a:effectLst/>
                        <a:latin typeface="Cambria"/>
                        <a:ea typeface="宋体"/>
                        <a:cs typeface="Times New Roman"/>
                      </a:endParaRPr>
                    </a:p>
                  </a:txBody>
                  <a:tcPr marL="0" marR="0" marT="0" marB="0" anchor="ctr"/>
                </a:tc>
                <a:tc hMerge="1">
                  <a:txBody>
                    <a:bodyPr/>
                    <a:lstStyle/>
                    <a:p>
                      <a:endParaRPr lang="zh-CN" altLang="en-US"/>
                    </a:p>
                  </a:txBody>
                  <a:tcPr/>
                </a:tc>
                <a:tc>
                  <a:txBody>
                    <a:bodyPr/>
                    <a:lstStyle/>
                    <a:p>
                      <a:pPr marL="38100" marR="38100" algn="ctr">
                        <a:lnSpc>
                          <a:spcPts val="1600"/>
                        </a:lnSpc>
                        <a:spcAft>
                          <a:spcPts val="0"/>
                        </a:spcAft>
                      </a:pPr>
                      <a:r>
                        <a:rPr lang="en-US" sz="2000" kern="0" dirty="0">
                          <a:solidFill>
                            <a:srgbClr val="000000"/>
                          </a:solidFill>
                          <a:effectLst/>
                          <a:latin typeface="MingLiU"/>
                          <a:ea typeface="宋体"/>
                          <a:cs typeface="MingLiU"/>
                        </a:rPr>
                        <a:t>0.27</a:t>
                      </a:r>
                      <a:endParaRPr lang="zh-CN" sz="2000" kern="100" dirty="0">
                        <a:effectLst/>
                        <a:latin typeface="Cambria"/>
                        <a:ea typeface="宋体"/>
                        <a:cs typeface="Times New Roman"/>
                      </a:endParaRPr>
                    </a:p>
                  </a:txBody>
                  <a:tcPr marL="0" marR="0" marT="0" marB="0" anchor="ctr"/>
                </a:tc>
              </a:tr>
              <a:tr h="496776">
                <a:tc gridSpan="2">
                  <a:txBody>
                    <a:bodyPr/>
                    <a:lstStyle/>
                    <a:p>
                      <a:pPr marL="38100" marR="38100" algn="ctr">
                        <a:lnSpc>
                          <a:spcPts val="1600"/>
                        </a:lnSpc>
                        <a:spcAft>
                          <a:spcPts val="0"/>
                        </a:spcAft>
                      </a:pPr>
                      <a:r>
                        <a:rPr lang="zh-CN" sz="2000" kern="0">
                          <a:solidFill>
                            <a:srgbClr val="000000"/>
                          </a:solidFill>
                          <a:effectLst/>
                          <a:latin typeface="Cambria"/>
                          <a:ea typeface="MingLiU"/>
                          <a:cs typeface="MingLiU"/>
                        </a:rPr>
                        <a:t>标准差</a:t>
                      </a:r>
                      <a:endParaRPr lang="zh-CN" sz="2000" kern="100">
                        <a:effectLst/>
                        <a:latin typeface="Cambria"/>
                        <a:ea typeface="宋体"/>
                        <a:cs typeface="Times New Roman"/>
                      </a:endParaRPr>
                    </a:p>
                  </a:txBody>
                  <a:tcPr marL="0" marR="0" marT="0" marB="0" anchor="ctr"/>
                </a:tc>
                <a:tc hMerge="1">
                  <a:txBody>
                    <a:bodyPr/>
                    <a:lstStyle/>
                    <a:p>
                      <a:endParaRPr lang="zh-CN" altLang="en-US"/>
                    </a:p>
                  </a:txBody>
                  <a:tcPr/>
                </a:tc>
                <a:tc>
                  <a:txBody>
                    <a:bodyPr/>
                    <a:lstStyle/>
                    <a:p>
                      <a:pPr marL="38100" marR="38100" algn="ctr">
                        <a:lnSpc>
                          <a:spcPts val="1600"/>
                        </a:lnSpc>
                        <a:spcAft>
                          <a:spcPts val="0"/>
                        </a:spcAft>
                      </a:pPr>
                      <a:r>
                        <a:rPr lang="en-US" sz="2000" kern="0" dirty="0">
                          <a:solidFill>
                            <a:srgbClr val="000000"/>
                          </a:solidFill>
                          <a:effectLst/>
                          <a:latin typeface="MingLiU"/>
                          <a:ea typeface="宋体"/>
                          <a:cs typeface="MingLiU"/>
                        </a:rPr>
                        <a:t>0.18</a:t>
                      </a:r>
                      <a:endParaRPr lang="zh-CN" sz="2000" kern="100" dirty="0">
                        <a:effectLst/>
                        <a:latin typeface="Cambria"/>
                        <a:ea typeface="宋体"/>
                        <a:cs typeface="Times New Roman"/>
                      </a:endParaRPr>
                    </a:p>
                  </a:txBody>
                  <a:tcPr marL="0" marR="0" marT="0" marB="0" anchor="ctr"/>
                </a:tc>
              </a:tr>
              <a:tr h="496776">
                <a:tc gridSpan="2">
                  <a:txBody>
                    <a:bodyPr/>
                    <a:lstStyle/>
                    <a:p>
                      <a:pPr marL="38100" marR="38100" algn="ctr">
                        <a:lnSpc>
                          <a:spcPts val="1600"/>
                        </a:lnSpc>
                        <a:spcAft>
                          <a:spcPts val="0"/>
                        </a:spcAft>
                      </a:pPr>
                      <a:r>
                        <a:rPr lang="zh-CN" sz="2000" kern="0">
                          <a:solidFill>
                            <a:srgbClr val="000000"/>
                          </a:solidFill>
                          <a:effectLst/>
                          <a:latin typeface="Cambria"/>
                          <a:ea typeface="MingLiU"/>
                          <a:cs typeface="MingLiU"/>
                        </a:rPr>
                        <a:t>全距</a:t>
                      </a:r>
                      <a:endParaRPr lang="zh-CN" sz="2000" kern="100">
                        <a:effectLst/>
                        <a:latin typeface="Cambria"/>
                        <a:ea typeface="宋体"/>
                        <a:cs typeface="Times New Roman"/>
                      </a:endParaRPr>
                    </a:p>
                  </a:txBody>
                  <a:tcPr marL="0" marR="0" marT="0" marB="0" anchor="ctr"/>
                </a:tc>
                <a:tc hMerge="1">
                  <a:txBody>
                    <a:bodyPr/>
                    <a:lstStyle/>
                    <a:p>
                      <a:endParaRPr lang="zh-CN" altLang="en-US"/>
                    </a:p>
                  </a:txBody>
                  <a:tcPr/>
                </a:tc>
                <a:tc>
                  <a:txBody>
                    <a:bodyPr/>
                    <a:lstStyle/>
                    <a:p>
                      <a:pPr marL="38100" marR="38100" algn="ctr">
                        <a:lnSpc>
                          <a:spcPts val="1600"/>
                        </a:lnSpc>
                        <a:spcAft>
                          <a:spcPts val="0"/>
                        </a:spcAft>
                      </a:pPr>
                      <a:r>
                        <a:rPr lang="en-US" sz="2000" kern="0" dirty="0">
                          <a:solidFill>
                            <a:srgbClr val="000000"/>
                          </a:solidFill>
                          <a:effectLst/>
                          <a:latin typeface="MingLiU"/>
                          <a:ea typeface="宋体"/>
                          <a:cs typeface="MingLiU"/>
                        </a:rPr>
                        <a:t>1</a:t>
                      </a:r>
                      <a:endParaRPr lang="zh-CN" sz="2000" kern="100" dirty="0">
                        <a:effectLst/>
                        <a:latin typeface="Cambria"/>
                        <a:ea typeface="宋体"/>
                        <a:cs typeface="Times New Roman"/>
                      </a:endParaRPr>
                    </a:p>
                  </a:txBody>
                  <a:tcPr marL="0" marR="0" marT="0" marB="0" anchor="ctr"/>
                </a:tc>
              </a:tr>
              <a:tr h="496776">
                <a:tc gridSpan="2">
                  <a:txBody>
                    <a:bodyPr/>
                    <a:lstStyle/>
                    <a:p>
                      <a:pPr marL="38100" marR="38100" algn="ctr">
                        <a:lnSpc>
                          <a:spcPts val="1600"/>
                        </a:lnSpc>
                        <a:spcAft>
                          <a:spcPts val="0"/>
                        </a:spcAft>
                      </a:pPr>
                      <a:r>
                        <a:rPr lang="zh-CN" sz="2000" kern="0">
                          <a:solidFill>
                            <a:srgbClr val="000000"/>
                          </a:solidFill>
                          <a:effectLst/>
                          <a:latin typeface="Cambria"/>
                          <a:ea typeface="MingLiU"/>
                          <a:cs typeface="MingLiU"/>
                        </a:rPr>
                        <a:t>极小值</a:t>
                      </a:r>
                      <a:endParaRPr lang="zh-CN" sz="2000" kern="100">
                        <a:effectLst/>
                        <a:latin typeface="Cambria"/>
                        <a:ea typeface="宋体"/>
                        <a:cs typeface="Times New Roman"/>
                      </a:endParaRPr>
                    </a:p>
                  </a:txBody>
                  <a:tcPr marL="0" marR="0" marT="0" marB="0" anchor="ctr"/>
                </a:tc>
                <a:tc hMerge="1">
                  <a:txBody>
                    <a:bodyPr/>
                    <a:lstStyle/>
                    <a:p>
                      <a:endParaRPr lang="zh-CN" altLang="en-US"/>
                    </a:p>
                  </a:txBody>
                  <a:tcPr/>
                </a:tc>
                <a:tc>
                  <a:txBody>
                    <a:bodyPr/>
                    <a:lstStyle/>
                    <a:p>
                      <a:pPr marL="38100" marR="38100" algn="ctr">
                        <a:lnSpc>
                          <a:spcPts val="1600"/>
                        </a:lnSpc>
                        <a:spcAft>
                          <a:spcPts val="0"/>
                        </a:spcAft>
                      </a:pPr>
                      <a:r>
                        <a:rPr lang="en-US" sz="2000" kern="0" dirty="0">
                          <a:solidFill>
                            <a:srgbClr val="000000"/>
                          </a:solidFill>
                          <a:effectLst/>
                          <a:latin typeface="MingLiU"/>
                          <a:ea typeface="宋体"/>
                          <a:cs typeface="MingLiU"/>
                        </a:rPr>
                        <a:t>0.00</a:t>
                      </a:r>
                      <a:endParaRPr lang="zh-CN" sz="2000" kern="100" dirty="0">
                        <a:effectLst/>
                        <a:latin typeface="Cambria"/>
                        <a:ea typeface="宋体"/>
                        <a:cs typeface="Times New Roman"/>
                      </a:endParaRPr>
                    </a:p>
                  </a:txBody>
                  <a:tcPr marL="0" marR="0" marT="0" marB="0" anchor="ctr"/>
                </a:tc>
              </a:tr>
              <a:tr h="496776">
                <a:tc gridSpan="2">
                  <a:txBody>
                    <a:bodyPr/>
                    <a:lstStyle/>
                    <a:p>
                      <a:pPr marL="38100" marR="38100" algn="ctr">
                        <a:lnSpc>
                          <a:spcPts val="1600"/>
                        </a:lnSpc>
                        <a:spcAft>
                          <a:spcPts val="0"/>
                        </a:spcAft>
                      </a:pPr>
                      <a:r>
                        <a:rPr lang="zh-CN" sz="2000" kern="0">
                          <a:solidFill>
                            <a:srgbClr val="000000"/>
                          </a:solidFill>
                          <a:effectLst/>
                          <a:latin typeface="Cambria"/>
                          <a:ea typeface="MingLiU"/>
                          <a:cs typeface="MingLiU"/>
                        </a:rPr>
                        <a:t>极大值</a:t>
                      </a:r>
                      <a:endParaRPr lang="zh-CN" sz="2000" kern="100">
                        <a:effectLst/>
                        <a:latin typeface="Cambria"/>
                        <a:ea typeface="宋体"/>
                        <a:cs typeface="Times New Roman"/>
                      </a:endParaRPr>
                    </a:p>
                  </a:txBody>
                  <a:tcPr marL="0" marR="0" marT="0" marB="0" anchor="ctr"/>
                </a:tc>
                <a:tc hMerge="1">
                  <a:txBody>
                    <a:bodyPr/>
                    <a:lstStyle/>
                    <a:p>
                      <a:endParaRPr lang="zh-CN" altLang="en-US"/>
                    </a:p>
                  </a:txBody>
                  <a:tcPr/>
                </a:tc>
                <a:tc>
                  <a:txBody>
                    <a:bodyPr/>
                    <a:lstStyle/>
                    <a:p>
                      <a:pPr marL="38100" marR="38100" algn="ctr">
                        <a:lnSpc>
                          <a:spcPts val="1600"/>
                        </a:lnSpc>
                        <a:spcAft>
                          <a:spcPts val="0"/>
                        </a:spcAft>
                      </a:pPr>
                      <a:r>
                        <a:rPr lang="en-US" sz="2000" kern="0" dirty="0">
                          <a:solidFill>
                            <a:srgbClr val="000000"/>
                          </a:solidFill>
                          <a:effectLst/>
                          <a:latin typeface="MingLiU"/>
                          <a:ea typeface="宋体"/>
                          <a:cs typeface="MingLiU"/>
                        </a:rPr>
                        <a:t>1</a:t>
                      </a:r>
                      <a:endParaRPr lang="zh-CN" sz="2000" kern="100" dirty="0">
                        <a:effectLst/>
                        <a:latin typeface="Cambria"/>
                        <a:ea typeface="宋体"/>
                        <a:cs typeface="Times New Roman"/>
                      </a:endParaRPr>
                    </a:p>
                  </a:txBody>
                  <a:tcPr marL="0" marR="0" marT="0" marB="0" anchor="ctr"/>
                </a:tc>
              </a:tr>
            </a:tbl>
          </a:graphicData>
        </a:graphic>
      </p:graphicFrame>
      <p:graphicFrame>
        <p:nvGraphicFramePr>
          <p:cNvPr id="9" name="内容占位符 8"/>
          <p:cNvGraphicFramePr>
            <a:graphicFrameLocks noGrp="1"/>
          </p:cNvGraphicFramePr>
          <p:nvPr>
            <p:ph sz="half" idx="2"/>
            <p:extLst/>
          </p:nvPr>
        </p:nvGraphicFramePr>
        <p:xfrm>
          <a:off x="4648200" y="1125538"/>
          <a:ext cx="4038600" cy="518378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78857393"/>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lgn="ctr"/>
            <a:r>
              <a:rPr kumimoji="1" lang="zh-CN" altLang="en-US" sz="3200" dirty="0" smtClean="0">
                <a:latin typeface="黑体"/>
                <a:ea typeface="黑体"/>
                <a:cs typeface="黑体"/>
              </a:rPr>
              <a:t>刑法偏好具体观察</a:t>
            </a:r>
            <a:endParaRPr kumimoji="1" lang="zh-CN" altLang="en-US" sz="3200" dirty="0">
              <a:latin typeface="黑体"/>
              <a:ea typeface="黑体"/>
              <a:cs typeface="黑体"/>
            </a:endParaRPr>
          </a:p>
        </p:txBody>
      </p:sp>
      <p:graphicFrame>
        <p:nvGraphicFramePr>
          <p:cNvPr id="7" name="内容占位符 6"/>
          <p:cNvGraphicFramePr>
            <a:graphicFrameLocks noGrp="1"/>
          </p:cNvGraphicFramePr>
          <p:nvPr>
            <p:ph sz="half" idx="1"/>
            <p:extLst/>
          </p:nvPr>
        </p:nvGraphicFramePr>
        <p:xfrm>
          <a:off x="457200" y="1125538"/>
          <a:ext cx="3106688" cy="5111775"/>
        </p:xfrm>
        <a:graphic>
          <a:graphicData uri="http://schemas.openxmlformats.org/drawingml/2006/table">
            <a:tbl>
              <a:tblPr firstRow="1" bandRow="1">
                <a:tableStyleId>{5C22544A-7EE6-4342-B048-85BDC9FD1C3A}</a:tableStyleId>
              </a:tblPr>
              <a:tblGrid>
                <a:gridCol w="1553344"/>
                <a:gridCol w="1553344"/>
              </a:tblGrid>
              <a:tr h="1022355">
                <a:tc>
                  <a:txBody>
                    <a:bodyPr/>
                    <a:lstStyle/>
                    <a:p>
                      <a:pPr algn="ctr"/>
                      <a:endParaRPr lang="zh-CN" altLang="en-US" sz="2400" dirty="0"/>
                    </a:p>
                  </a:txBody>
                  <a:tcPr/>
                </a:tc>
                <a:tc>
                  <a:txBody>
                    <a:bodyPr/>
                    <a:lstStyle/>
                    <a:p>
                      <a:pPr algn="ctr"/>
                      <a:r>
                        <a:rPr lang="zh-CN" altLang="en-US" sz="2800" dirty="0" smtClean="0">
                          <a:solidFill>
                            <a:schemeClr val="tx1"/>
                          </a:solidFill>
                        </a:rPr>
                        <a:t>认为应该入刑</a:t>
                      </a:r>
                      <a:endParaRPr lang="zh-CN" altLang="en-US" sz="2800" dirty="0">
                        <a:solidFill>
                          <a:schemeClr val="tx1"/>
                        </a:solidFill>
                      </a:endParaRPr>
                    </a:p>
                  </a:txBody>
                  <a:tcPr/>
                </a:tc>
              </a:tr>
              <a:tr h="1022355">
                <a:tc>
                  <a:txBody>
                    <a:bodyPr/>
                    <a:lstStyle/>
                    <a:p>
                      <a:pPr algn="ctr"/>
                      <a:r>
                        <a:rPr lang="zh-CN" altLang="en-US" sz="2400" dirty="0" smtClean="0"/>
                        <a:t>恶意欠薪</a:t>
                      </a:r>
                      <a:endParaRPr lang="zh-CN" altLang="en-US" sz="2400" dirty="0"/>
                    </a:p>
                  </a:txBody>
                  <a:tcPr/>
                </a:tc>
                <a:tc>
                  <a:txBody>
                    <a:bodyPr/>
                    <a:lstStyle/>
                    <a:p>
                      <a:pPr algn="ctr"/>
                      <a:r>
                        <a:rPr lang="en-US" altLang="zh-CN" sz="2400" dirty="0" smtClean="0"/>
                        <a:t>49.0%</a:t>
                      </a:r>
                      <a:endParaRPr lang="zh-CN" altLang="en-US" sz="2400" dirty="0"/>
                    </a:p>
                  </a:txBody>
                  <a:tcPr/>
                </a:tc>
              </a:tr>
              <a:tr h="1022355">
                <a:tc>
                  <a:txBody>
                    <a:bodyPr/>
                    <a:lstStyle/>
                    <a:p>
                      <a:pPr algn="ctr"/>
                      <a:r>
                        <a:rPr lang="zh-CN" altLang="en-US" sz="2400" dirty="0" smtClean="0"/>
                        <a:t>醉酒驾车</a:t>
                      </a:r>
                      <a:endParaRPr lang="zh-CN" altLang="en-US" sz="2400" dirty="0"/>
                    </a:p>
                  </a:txBody>
                  <a:tcPr/>
                </a:tc>
                <a:tc>
                  <a:txBody>
                    <a:bodyPr/>
                    <a:lstStyle/>
                    <a:p>
                      <a:pPr algn="ctr"/>
                      <a:r>
                        <a:rPr lang="en-US" altLang="zh-CN" sz="2400" dirty="0" smtClean="0"/>
                        <a:t>56.7%</a:t>
                      </a:r>
                      <a:endParaRPr lang="zh-CN" altLang="en-US" sz="2400" dirty="0"/>
                    </a:p>
                  </a:txBody>
                  <a:tcPr/>
                </a:tc>
              </a:tr>
              <a:tr h="1022355">
                <a:tc>
                  <a:txBody>
                    <a:bodyPr/>
                    <a:lstStyle/>
                    <a:p>
                      <a:pPr algn="ctr"/>
                      <a:r>
                        <a:rPr lang="zh-CN" altLang="en-US" sz="2400" dirty="0" smtClean="0"/>
                        <a:t>实施安乐死</a:t>
                      </a:r>
                      <a:endParaRPr lang="zh-CN" altLang="en-US" sz="2400" dirty="0"/>
                    </a:p>
                  </a:txBody>
                  <a:tcPr/>
                </a:tc>
                <a:tc>
                  <a:txBody>
                    <a:bodyPr/>
                    <a:lstStyle/>
                    <a:p>
                      <a:pPr algn="ctr"/>
                      <a:r>
                        <a:rPr lang="en-US" altLang="zh-CN" sz="2400" dirty="0" smtClean="0"/>
                        <a:t>42.8%</a:t>
                      </a:r>
                      <a:endParaRPr lang="zh-CN" altLang="en-US" sz="2400" dirty="0"/>
                    </a:p>
                  </a:txBody>
                  <a:tcPr/>
                </a:tc>
              </a:tr>
              <a:tr h="1022355">
                <a:tc>
                  <a:txBody>
                    <a:bodyPr/>
                    <a:lstStyle/>
                    <a:p>
                      <a:pPr algn="ctr"/>
                      <a:r>
                        <a:rPr lang="zh-CN" altLang="en-US" sz="2400" dirty="0" smtClean="0"/>
                        <a:t>见死不救</a:t>
                      </a:r>
                      <a:endParaRPr lang="zh-CN" altLang="en-US" sz="2400" dirty="0"/>
                    </a:p>
                  </a:txBody>
                  <a:tcPr/>
                </a:tc>
                <a:tc>
                  <a:txBody>
                    <a:bodyPr/>
                    <a:lstStyle/>
                    <a:p>
                      <a:pPr algn="ctr"/>
                      <a:r>
                        <a:rPr lang="en-US" altLang="zh-CN" sz="2400" dirty="0" smtClean="0"/>
                        <a:t>35.8%</a:t>
                      </a:r>
                      <a:endParaRPr lang="zh-CN" altLang="en-US" sz="2400" dirty="0"/>
                    </a:p>
                  </a:txBody>
                  <a:tcPr/>
                </a:tc>
              </a:tr>
            </a:tbl>
          </a:graphicData>
        </a:graphic>
      </p:graphicFrame>
      <p:sp>
        <p:nvSpPr>
          <p:cNvPr id="6" name="内容占位符 5"/>
          <p:cNvSpPr>
            <a:spLocks noGrp="1"/>
          </p:cNvSpPr>
          <p:nvPr>
            <p:ph sz="half" idx="2"/>
          </p:nvPr>
        </p:nvSpPr>
        <p:spPr/>
        <p:txBody>
          <a:bodyPr/>
          <a:lstStyle/>
          <a:p>
            <a:endParaRPr lang="zh-CN" altLang="en-US" dirty="0"/>
          </a:p>
          <a:p>
            <a:pPr marL="0" indent="0">
              <a:buNone/>
            </a:pPr>
            <a:endParaRPr lang="zh-CN" altLang="en-US" dirty="0"/>
          </a:p>
        </p:txBody>
      </p:sp>
      <p:pic>
        <p:nvPicPr>
          <p:cNvPr id="9" name="图片 8"/>
          <p:cNvPicPr>
            <a:picLocks noChangeAspect="1"/>
          </p:cNvPicPr>
          <p:nvPr/>
        </p:nvPicPr>
        <p:blipFill>
          <a:blip r:embed="rId2"/>
          <a:stretch>
            <a:fillRect/>
          </a:stretch>
        </p:blipFill>
        <p:spPr>
          <a:xfrm>
            <a:off x="3851920" y="1124744"/>
            <a:ext cx="4680520" cy="5256584"/>
          </a:xfrm>
          <a:prstGeom prst="rect">
            <a:avLst/>
          </a:prstGeom>
        </p:spPr>
      </p:pic>
    </p:spTree>
    <p:extLst>
      <p:ext uri="{BB962C8B-B14F-4D97-AF65-F5344CB8AC3E}">
        <p14:creationId xmlns:p14="http://schemas.microsoft.com/office/powerpoint/2010/main" val="2123071287"/>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71438" y="188640"/>
            <a:ext cx="7170737" cy="492125"/>
          </a:xfrm>
        </p:spPr>
        <p:txBody>
          <a:bodyPr/>
          <a:lstStyle/>
          <a:p>
            <a:pPr algn="ctr"/>
            <a:r>
              <a:rPr kumimoji="1" lang="zh-CN" altLang="en-US" dirty="0">
                <a:latin typeface="黑体"/>
                <a:ea typeface="黑体"/>
                <a:cs typeface="黑体"/>
              </a:rPr>
              <a:t>刑法偏好具体观察</a:t>
            </a:r>
            <a:endParaRPr kumimoji="1" lang="zh-CN" altLang="en-US" dirty="0"/>
          </a:p>
        </p:txBody>
      </p:sp>
      <p:graphicFrame>
        <p:nvGraphicFramePr>
          <p:cNvPr id="7" name="内容占位符 6"/>
          <p:cNvGraphicFramePr>
            <a:graphicFrameLocks noGrp="1"/>
          </p:cNvGraphicFramePr>
          <p:nvPr>
            <p:ph idx="1"/>
            <p:extLst/>
          </p:nvPr>
        </p:nvGraphicFramePr>
        <p:xfrm>
          <a:off x="179513" y="836712"/>
          <a:ext cx="8784975" cy="5867836"/>
        </p:xfrm>
        <a:graphic>
          <a:graphicData uri="http://schemas.openxmlformats.org/drawingml/2006/table">
            <a:tbl>
              <a:tblPr firstRow="1" bandRow="1">
                <a:tableStyleId>{5C22544A-7EE6-4342-B048-85BDC9FD1C3A}</a:tableStyleId>
              </a:tblPr>
              <a:tblGrid>
                <a:gridCol w="2928325"/>
                <a:gridCol w="2928325"/>
                <a:gridCol w="2928325"/>
              </a:tblGrid>
              <a:tr h="240027">
                <a:tc gridSpan="3">
                  <a:txBody>
                    <a:bodyPr/>
                    <a:lstStyle/>
                    <a:p>
                      <a:pPr marL="38100" marR="38100" algn="ctr">
                        <a:lnSpc>
                          <a:spcPts val="1600"/>
                        </a:lnSpc>
                        <a:spcAft>
                          <a:spcPts val="0"/>
                        </a:spcAft>
                      </a:pPr>
                      <a:r>
                        <a:rPr lang="zh-CN" sz="1800" b="1" kern="0" dirty="0">
                          <a:solidFill>
                            <a:srgbClr val="000000"/>
                          </a:solidFill>
                          <a:effectLst/>
                          <a:latin typeface="黑体"/>
                          <a:ea typeface="黑体"/>
                          <a:cs typeface="黑体"/>
                        </a:rPr>
                        <a:t>伤害与盗窃哪个重</a:t>
                      </a:r>
                      <a:endParaRPr lang="zh-CN" sz="1800" b="1" kern="100" dirty="0">
                        <a:effectLst/>
                        <a:latin typeface="黑体"/>
                        <a:ea typeface="黑体"/>
                        <a:cs typeface="黑体"/>
                      </a:endParaRPr>
                    </a:p>
                  </a:txBody>
                  <a:tcPr marL="0" marR="0" marT="0" marB="0" anchor="ctr"/>
                </a:tc>
                <a:tc hMerge="1">
                  <a:txBody>
                    <a:bodyPr/>
                    <a:lstStyle/>
                    <a:p>
                      <a:endParaRPr lang="zh-CN" altLang="en-US"/>
                    </a:p>
                  </a:txBody>
                  <a:tcPr/>
                </a:tc>
                <a:tc hMerge="1">
                  <a:txBody>
                    <a:bodyPr/>
                    <a:lstStyle/>
                    <a:p>
                      <a:endParaRPr lang="zh-CN" altLang="en-US"/>
                    </a:p>
                  </a:txBody>
                  <a:tcPr/>
                </a:tc>
              </a:tr>
              <a:tr h="240027">
                <a:tc>
                  <a:txBody>
                    <a:bodyPr/>
                    <a:lstStyle/>
                    <a:p>
                      <a:pPr marL="38100" marR="38100" algn="ctr">
                        <a:lnSpc>
                          <a:spcPts val="1600"/>
                        </a:lnSpc>
                        <a:spcAft>
                          <a:spcPts val="0"/>
                        </a:spcAft>
                      </a:pPr>
                      <a:r>
                        <a:rPr lang="zh-CN" sz="1600" b="1" kern="0" dirty="0">
                          <a:solidFill>
                            <a:srgbClr val="000000"/>
                          </a:solidFill>
                          <a:effectLst/>
                          <a:latin typeface="Cambria"/>
                          <a:ea typeface="MingLiU"/>
                          <a:cs typeface="MingLiU"/>
                        </a:rPr>
                        <a:t>选项</a:t>
                      </a:r>
                      <a:endParaRPr lang="zh-CN" sz="1600" b="1" kern="100" dirty="0">
                        <a:effectLst/>
                        <a:latin typeface="Cambria"/>
                        <a:ea typeface="宋体"/>
                        <a:cs typeface="Times New Roman"/>
                      </a:endParaRPr>
                    </a:p>
                  </a:txBody>
                  <a:tcPr marL="0" marR="0" marT="0" marB="0" anchor="ctr"/>
                </a:tc>
                <a:tc>
                  <a:txBody>
                    <a:bodyPr/>
                    <a:lstStyle/>
                    <a:p>
                      <a:pPr marL="38100" marR="38100" algn="ctr" latinLnBrk="1">
                        <a:lnSpc>
                          <a:spcPts val="1600"/>
                        </a:lnSpc>
                        <a:spcAft>
                          <a:spcPts val="0"/>
                        </a:spcAft>
                      </a:pPr>
                      <a:r>
                        <a:rPr lang="zh-CN" sz="1600" b="1" kern="0" dirty="0">
                          <a:solidFill>
                            <a:srgbClr val="000000"/>
                          </a:solidFill>
                          <a:effectLst/>
                          <a:latin typeface="Cambria"/>
                          <a:ea typeface="MingLiU"/>
                          <a:cs typeface="MingLiU"/>
                        </a:rPr>
                        <a:t>个案数</a:t>
                      </a:r>
                      <a:endParaRPr lang="zh-CN" sz="1600" b="1"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zh-CN" sz="1600" b="1" kern="0">
                          <a:solidFill>
                            <a:srgbClr val="000000"/>
                          </a:solidFill>
                          <a:effectLst/>
                          <a:latin typeface="Cambria"/>
                          <a:ea typeface="MingLiU"/>
                          <a:cs typeface="MingLiU"/>
                        </a:rPr>
                        <a:t>百分比</a:t>
                      </a:r>
                      <a:endParaRPr lang="zh-CN" sz="1600" b="1" kern="100">
                        <a:effectLst/>
                        <a:latin typeface="Cambria"/>
                        <a:ea typeface="宋体"/>
                        <a:cs typeface="Times New Roman"/>
                      </a:endParaRPr>
                    </a:p>
                  </a:txBody>
                  <a:tcPr marL="0" marR="0" marT="0" marB="0" anchor="ctr"/>
                </a:tc>
              </a:tr>
              <a:tr h="240027">
                <a:tc>
                  <a:txBody>
                    <a:bodyPr/>
                    <a:lstStyle/>
                    <a:p>
                      <a:pPr marL="38100" marR="38100" algn="l">
                        <a:lnSpc>
                          <a:spcPts val="1600"/>
                        </a:lnSpc>
                        <a:spcAft>
                          <a:spcPts val="0"/>
                        </a:spcAft>
                      </a:pPr>
                      <a:r>
                        <a:rPr lang="zh-CN" sz="1600" b="1" kern="0" dirty="0">
                          <a:solidFill>
                            <a:srgbClr val="000000"/>
                          </a:solidFill>
                          <a:effectLst/>
                          <a:latin typeface="Cambria"/>
                          <a:ea typeface="MingLiU"/>
                          <a:cs typeface="MingLiU"/>
                        </a:rPr>
                        <a:t>其他</a:t>
                      </a:r>
                      <a:endParaRPr lang="zh-CN" sz="1600" b="1"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dirty="0">
                          <a:solidFill>
                            <a:srgbClr val="000000"/>
                          </a:solidFill>
                          <a:effectLst/>
                          <a:latin typeface="MingLiU"/>
                          <a:ea typeface="宋体"/>
                          <a:cs typeface="MingLiU"/>
                        </a:rPr>
                        <a:t>163</a:t>
                      </a:r>
                      <a:endParaRPr lang="zh-CN" sz="1600" b="1"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a:solidFill>
                            <a:srgbClr val="000000"/>
                          </a:solidFill>
                          <a:effectLst/>
                          <a:latin typeface="MingLiU"/>
                          <a:ea typeface="宋体"/>
                          <a:cs typeface="MingLiU"/>
                        </a:rPr>
                        <a:t>.5</a:t>
                      </a:r>
                      <a:endParaRPr lang="zh-CN" sz="1600" b="1" kern="100">
                        <a:effectLst/>
                        <a:latin typeface="Cambria"/>
                        <a:ea typeface="宋体"/>
                        <a:cs typeface="Times New Roman"/>
                      </a:endParaRPr>
                    </a:p>
                  </a:txBody>
                  <a:tcPr marL="0" marR="0" marT="0" marB="0" anchor="ctr"/>
                </a:tc>
              </a:tr>
              <a:tr h="240027">
                <a:tc>
                  <a:txBody>
                    <a:bodyPr/>
                    <a:lstStyle/>
                    <a:p>
                      <a:pPr marL="38100" marR="38100" algn="l">
                        <a:lnSpc>
                          <a:spcPts val="1600"/>
                        </a:lnSpc>
                        <a:spcAft>
                          <a:spcPts val="0"/>
                        </a:spcAft>
                      </a:pPr>
                      <a:r>
                        <a:rPr lang="zh-CN" sz="1600" b="1" kern="0" dirty="0">
                          <a:solidFill>
                            <a:srgbClr val="000000"/>
                          </a:solidFill>
                          <a:effectLst/>
                          <a:latin typeface="Cambria"/>
                          <a:ea typeface="MingLiU"/>
                          <a:cs typeface="MingLiU"/>
                        </a:rPr>
                        <a:t>故意伤害犯罪</a:t>
                      </a:r>
                      <a:endParaRPr lang="zh-CN" sz="1600" b="1"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dirty="0">
                          <a:solidFill>
                            <a:srgbClr val="000000"/>
                          </a:solidFill>
                          <a:effectLst/>
                          <a:latin typeface="MingLiU"/>
                          <a:ea typeface="宋体"/>
                          <a:cs typeface="MingLiU"/>
                        </a:rPr>
                        <a:t>20504</a:t>
                      </a:r>
                      <a:endParaRPr lang="zh-CN" sz="1600" b="1"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a:solidFill>
                            <a:srgbClr val="000000"/>
                          </a:solidFill>
                          <a:effectLst/>
                          <a:latin typeface="MingLiU"/>
                          <a:ea typeface="宋体"/>
                          <a:cs typeface="MingLiU"/>
                        </a:rPr>
                        <a:t>64.8</a:t>
                      </a:r>
                      <a:endParaRPr lang="zh-CN" sz="1600" b="1" kern="100">
                        <a:effectLst/>
                        <a:latin typeface="Cambria"/>
                        <a:ea typeface="宋体"/>
                        <a:cs typeface="Times New Roman"/>
                      </a:endParaRPr>
                    </a:p>
                  </a:txBody>
                  <a:tcPr marL="0" marR="0" marT="0" marB="0" anchor="ctr"/>
                </a:tc>
              </a:tr>
              <a:tr h="240027">
                <a:tc>
                  <a:txBody>
                    <a:bodyPr/>
                    <a:lstStyle/>
                    <a:p>
                      <a:pPr marL="38100" marR="38100" algn="l">
                        <a:lnSpc>
                          <a:spcPts val="1600"/>
                        </a:lnSpc>
                        <a:spcAft>
                          <a:spcPts val="0"/>
                        </a:spcAft>
                      </a:pPr>
                      <a:r>
                        <a:rPr lang="zh-CN" sz="1600" b="1" kern="0" dirty="0">
                          <a:solidFill>
                            <a:srgbClr val="000000"/>
                          </a:solidFill>
                          <a:effectLst/>
                          <a:latin typeface="Cambria"/>
                          <a:ea typeface="MingLiU"/>
                          <a:cs typeface="MingLiU"/>
                        </a:rPr>
                        <a:t>盗窃犯罪</a:t>
                      </a:r>
                      <a:endParaRPr lang="zh-CN" sz="1600" b="1"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dirty="0">
                          <a:solidFill>
                            <a:srgbClr val="000000"/>
                          </a:solidFill>
                          <a:effectLst/>
                          <a:latin typeface="MingLiU"/>
                          <a:ea typeface="宋体"/>
                          <a:cs typeface="MingLiU"/>
                        </a:rPr>
                        <a:t>2165</a:t>
                      </a:r>
                      <a:endParaRPr lang="zh-CN" sz="1600" b="1"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a:solidFill>
                            <a:srgbClr val="000000"/>
                          </a:solidFill>
                          <a:effectLst/>
                          <a:latin typeface="MingLiU"/>
                          <a:ea typeface="宋体"/>
                          <a:cs typeface="MingLiU"/>
                        </a:rPr>
                        <a:t>6.8</a:t>
                      </a:r>
                      <a:endParaRPr lang="zh-CN" sz="1600" b="1" kern="100">
                        <a:effectLst/>
                        <a:latin typeface="Cambria"/>
                        <a:ea typeface="宋体"/>
                        <a:cs typeface="Times New Roman"/>
                      </a:endParaRPr>
                    </a:p>
                  </a:txBody>
                  <a:tcPr marL="0" marR="0" marT="0" marB="0" anchor="ctr"/>
                </a:tc>
              </a:tr>
              <a:tr h="240027">
                <a:tc>
                  <a:txBody>
                    <a:bodyPr/>
                    <a:lstStyle/>
                    <a:p>
                      <a:pPr marL="38100" marR="38100" algn="l">
                        <a:lnSpc>
                          <a:spcPts val="1600"/>
                        </a:lnSpc>
                        <a:spcAft>
                          <a:spcPts val="0"/>
                        </a:spcAft>
                      </a:pPr>
                      <a:r>
                        <a:rPr lang="zh-CN" sz="1800" b="1" kern="0" dirty="0">
                          <a:solidFill>
                            <a:srgbClr val="000000"/>
                          </a:solidFill>
                          <a:effectLst/>
                          <a:latin typeface="黑体"/>
                          <a:ea typeface="黑体"/>
                          <a:cs typeface="黑体"/>
                        </a:rPr>
                        <a:t>二者同样严重</a:t>
                      </a:r>
                      <a:endParaRPr lang="zh-CN" sz="1800" b="1" kern="100" dirty="0">
                        <a:effectLst/>
                        <a:latin typeface="黑体"/>
                        <a:ea typeface="黑体"/>
                        <a:cs typeface="黑体"/>
                      </a:endParaRPr>
                    </a:p>
                  </a:txBody>
                  <a:tcPr marL="0" marR="0" marT="0" marB="0" anchor="ctr"/>
                </a:tc>
                <a:tc>
                  <a:txBody>
                    <a:bodyPr/>
                    <a:lstStyle/>
                    <a:p>
                      <a:pPr marL="38100" marR="38100" algn="ctr">
                        <a:lnSpc>
                          <a:spcPts val="1600"/>
                        </a:lnSpc>
                        <a:spcAft>
                          <a:spcPts val="0"/>
                        </a:spcAft>
                      </a:pPr>
                      <a:r>
                        <a:rPr lang="en-US" sz="1800" b="1" kern="0" dirty="0">
                          <a:solidFill>
                            <a:srgbClr val="000000"/>
                          </a:solidFill>
                          <a:effectLst/>
                          <a:latin typeface="黑体"/>
                          <a:ea typeface="黑体"/>
                          <a:cs typeface="黑体"/>
                        </a:rPr>
                        <a:t>8833</a:t>
                      </a:r>
                      <a:endParaRPr lang="zh-CN" sz="1800" b="1" kern="100" dirty="0">
                        <a:effectLst/>
                        <a:latin typeface="黑体"/>
                        <a:ea typeface="黑体"/>
                        <a:cs typeface="黑体"/>
                      </a:endParaRPr>
                    </a:p>
                  </a:txBody>
                  <a:tcPr marL="0" marR="0" marT="0" marB="0" anchor="ctr"/>
                </a:tc>
                <a:tc>
                  <a:txBody>
                    <a:bodyPr/>
                    <a:lstStyle/>
                    <a:p>
                      <a:pPr marL="38100" marR="38100" algn="ctr">
                        <a:lnSpc>
                          <a:spcPts val="1600"/>
                        </a:lnSpc>
                        <a:spcAft>
                          <a:spcPts val="0"/>
                        </a:spcAft>
                      </a:pPr>
                      <a:r>
                        <a:rPr lang="en-US" sz="1800" b="1" kern="0" dirty="0">
                          <a:solidFill>
                            <a:srgbClr val="000000"/>
                          </a:solidFill>
                          <a:effectLst/>
                          <a:latin typeface="黑体"/>
                          <a:ea typeface="黑体"/>
                          <a:cs typeface="黑体"/>
                        </a:rPr>
                        <a:t>27.9</a:t>
                      </a:r>
                      <a:endParaRPr lang="zh-CN" sz="1800" b="1" kern="100" dirty="0">
                        <a:effectLst/>
                        <a:latin typeface="黑体"/>
                        <a:ea typeface="黑体"/>
                        <a:cs typeface="黑体"/>
                      </a:endParaRPr>
                    </a:p>
                  </a:txBody>
                  <a:tcPr marL="0" marR="0" marT="0" marB="0" anchor="ctr"/>
                </a:tc>
              </a:tr>
              <a:tr h="240027">
                <a:tc>
                  <a:txBody>
                    <a:bodyPr/>
                    <a:lstStyle/>
                    <a:p>
                      <a:pPr marL="38100" marR="38100" algn="l">
                        <a:lnSpc>
                          <a:spcPts val="1600"/>
                        </a:lnSpc>
                        <a:spcAft>
                          <a:spcPts val="0"/>
                        </a:spcAft>
                      </a:pPr>
                      <a:r>
                        <a:rPr lang="zh-CN" sz="1600" b="1" kern="0" dirty="0">
                          <a:solidFill>
                            <a:srgbClr val="000000"/>
                          </a:solidFill>
                          <a:effectLst/>
                          <a:latin typeface="Cambria"/>
                          <a:ea typeface="MingLiU"/>
                          <a:cs typeface="MingLiU"/>
                        </a:rPr>
                        <a:t>合计</a:t>
                      </a:r>
                      <a:endParaRPr lang="zh-CN" sz="1600" b="1"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a:solidFill>
                            <a:srgbClr val="000000"/>
                          </a:solidFill>
                          <a:effectLst/>
                          <a:latin typeface="MingLiU"/>
                          <a:ea typeface="宋体"/>
                          <a:cs typeface="MingLiU"/>
                        </a:rPr>
                        <a:t>31665</a:t>
                      </a:r>
                      <a:endParaRPr lang="zh-CN" sz="1600" b="1" kern="10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dirty="0">
                          <a:solidFill>
                            <a:srgbClr val="000000"/>
                          </a:solidFill>
                          <a:effectLst/>
                          <a:latin typeface="MingLiU"/>
                          <a:ea typeface="宋体"/>
                          <a:cs typeface="MingLiU"/>
                        </a:rPr>
                        <a:t>100.0</a:t>
                      </a:r>
                      <a:endParaRPr lang="zh-CN" sz="1600" b="1" kern="100" dirty="0">
                        <a:effectLst/>
                        <a:latin typeface="Cambria"/>
                        <a:ea typeface="宋体"/>
                        <a:cs typeface="Times New Roman"/>
                      </a:endParaRPr>
                    </a:p>
                  </a:txBody>
                  <a:tcPr marL="0" marR="0" marT="0" marB="0" anchor="ctr"/>
                </a:tc>
              </a:tr>
              <a:tr h="432048">
                <a:tc>
                  <a:txBody>
                    <a:bodyPr/>
                    <a:lstStyle/>
                    <a:p>
                      <a:pPr algn="ctr"/>
                      <a:endParaRPr lang="zh-CN" altLang="en-US" sz="1600" b="1" dirty="0"/>
                    </a:p>
                  </a:txBody>
                  <a:tcPr/>
                </a:tc>
                <a:tc>
                  <a:txBody>
                    <a:bodyPr/>
                    <a:lstStyle/>
                    <a:p>
                      <a:pPr algn="ctr"/>
                      <a:endParaRPr lang="zh-CN" altLang="en-US" sz="1600" b="1"/>
                    </a:p>
                  </a:txBody>
                  <a:tcPr/>
                </a:tc>
                <a:tc>
                  <a:txBody>
                    <a:bodyPr/>
                    <a:lstStyle/>
                    <a:p>
                      <a:pPr algn="ctr"/>
                      <a:endParaRPr lang="zh-CN" altLang="en-US" sz="1600" b="1"/>
                    </a:p>
                  </a:txBody>
                  <a:tcPr/>
                </a:tc>
              </a:tr>
              <a:tr h="192019">
                <a:tc gridSpan="3">
                  <a:txBody>
                    <a:bodyPr/>
                    <a:lstStyle/>
                    <a:p>
                      <a:pPr marL="38100" marR="38100" algn="ctr">
                        <a:lnSpc>
                          <a:spcPts val="1600"/>
                        </a:lnSpc>
                        <a:spcAft>
                          <a:spcPts val="0"/>
                        </a:spcAft>
                      </a:pPr>
                      <a:r>
                        <a:rPr lang="zh-CN" sz="1800" b="1" kern="0" dirty="0">
                          <a:solidFill>
                            <a:srgbClr val="000000"/>
                          </a:solidFill>
                          <a:effectLst/>
                          <a:latin typeface="黑体"/>
                          <a:ea typeface="黑体"/>
                          <a:cs typeface="黑体"/>
                        </a:rPr>
                        <a:t>盗窃与诈骗哪个重</a:t>
                      </a:r>
                      <a:endParaRPr lang="zh-CN" sz="1800" b="1" kern="100" dirty="0">
                        <a:effectLst/>
                        <a:latin typeface="黑体"/>
                        <a:ea typeface="黑体"/>
                        <a:cs typeface="黑体"/>
                      </a:endParaRPr>
                    </a:p>
                  </a:txBody>
                  <a:tcPr marL="0" marR="0" marT="0" marB="0" anchor="ctr"/>
                </a:tc>
                <a:tc hMerge="1">
                  <a:txBody>
                    <a:bodyPr/>
                    <a:lstStyle/>
                    <a:p>
                      <a:endParaRPr lang="zh-CN" altLang="en-US"/>
                    </a:p>
                  </a:txBody>
                  <a:tcPr/>
                </a:tc>
                <a:tc hMerge="1">
                  <a:txBody>
                    <a:bodyPr/>
                    <a:lstStyle/>
                    <a:p>
                      <a:endParaRPr lang="zh-CN" altLang="en-US"/>
                    </a:p>
                  </a:txBody>
                  <a:tcPr/>
                </a:tc>
              </a:tr>
              <a:tr h="240027">
                <a:tc>
                  <a:txBody>
                    <a:bodyPr/>
                    <a:lstStyle/>
                    <a:p>
                      <a:pPr marL="38100" marR="38100" algn="ctr">
                        <a:lnSpc>
                          <a:spcPts val="1600"/>
                        </a:lnSpc>
                        <a:spcAft>
                          <a:spcPts val="0"/>
                        </a:spcAft>
                      </a:pPr>
                      <a:r>
                        <a:rPr lang="zh-CN" sz="1600" b="1" kern="0" dirty="0">
                          <a:solidFill>
                            <a:srgbClr val="000000"/>
                          </a:solidFill>
                          <a:effectLst/>
                          <a:latin typeface="Cambria"/>
                          <a:ea typeface="MingLiU"/>
                          <a:cs typeface="MingLiU"/>
                        </a:rPr>
                        <a:t>选项</a:t>
                      </a:r>
                      <a:endParaRPr lang="zh-CN" sz="1600" b="1" kern="100" dirty="0">
                        <a:effectLst/>
                        <a:latin typeface="Cambria"/>
                        <a:ea typeface="宋体"/>
                        <a:cs typeface="Times New Roman"/>
                      </a:endParaRPr>
                    </a:p>
                  </a:txBody>
                  <a:tcPr marL="0" marR="0" marT="0" marB="0" anchor="ctr"/>
                </a:tc>
                <a:tc>
                  <a:txBody>
                    <a:bodyPr/>
                    <a:lstStyle/>
                    <a:p>
                      <a:pPr marL="38100" marR="38100" algn="ctr" latinLnBrk="1">
                        <a:lnSpc>
                          <a:spcPts val="1600"/>
                        </a:lnSpc>
                        <a:spcAft>
                          <a:spcPts val="0"/>
                        </a:spcAft>
                      </a:pPr>
                      <a:r>
                        <a:rPr lang="zh-CN" sz="1600" b="1" kern="0">
                          <a:solidFill>
                            <a:srgbClr val="000000"/>
                          </a:solidFill>
                          <a:effectLst/>
                          <a:latin typeface="Cambria"/>
                          <a:ea typeface="MingLiU"/>
                          <a:cs typeface="MingLiU"/>
                        </a:rPr>
                        <a:t>个案数</a:t>
                      </a:r>
                      <a:endParaRPr lang="zh-CN" sz="1600" b="1" kern="10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zh-CN" sz="1600" b="1" kern="0">
                          <a:solidFill>
                            <a:srgbClr val="000000"/>
                          </a:solidFill>
                          <a:effectLst/>
                          <a:latin typeface="Cambria"/>
                          <a:ea typeface="MingLiU"/>
                          <a:cs typeface="MingLiU"/>
                        </a:rPr>
                        <a:t>百分比</a:t>
                      </a:r>
                      <a:endParaRPr lang="zh-CN" sz="1600" b="1" kern="100">
                        <a:effectLst/>
                        <a:latin typeface="Cambria"/>
                        <a:ea typeface="宋体"/>
                        <a:cs typeface="Times New Roman"/>
                      </a:endParaRPr>
                    </a:p>
                  </a:txBody>
                  <a:tcPr marL="0" marR="0" marT="0" marB="0" anchor="ctr"/>
                </a:tc>
              </a:tr>
              <a:tr h="240027">
                <a:tc>
                  <a:txBody>
                    <a:bodyPr/>
                    <a:lstStyle/>
                    <a:p>
                      <a:pPr marL="38100" marR="38100" algn="l">
                        <a:lnSpc>
                          <a:spcPts val="1600"/>
                        </a:lnSpc>
                        <a:spcAft>
                          <a:spcPts val="0"/>
                        </a:spcAft>
                      </a:pPr>
                      <a:r>
                        <a:rPr lang="zh-CN" sz="1600" b="1" kern="0" dirty="0">
                          <a:solidFill>
                            <a:srgbClr val="000000"/>
                          </a:solidFill>
                          <a:effectLst/>
                          <a:latin typeface="Cambria"/>
                          <a:ea typeface="MingLiU"/>
                          <a:cs typeface="MingLiU"/>
                        </a:rPr>
                        <a:t>其他</a:t>
                      </a:r>
                      <a:endParaRPr lang="zh-CN" sz="1600" b="1"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a:solidFill>
                            <a:srgbClr val="000000"/>
                          </a:solidFill>
                          <a:effectLst/>
                          <a:latin typeface="MingLiU"/>
                          <a:ea typeface="宋体"/>
                          <a:cs typeface="MingLiU"/>
                        </a:rPr>
                        <a:t>136</a:t>
                      </a:r>
                      <a:endParaRPr lang="zh-CN" sz="1600" b="1" kern="10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a:solidFill>
                            <a:srgbClr val="000000"/>
                          </a:solidFill>
                          <a:effectLst/>
                          <a:latin typeface="MingLiU"/>
                          <a:ea typeface="宋体"/>
                          <a:cs typeface="MingLiU"/>
                        </a:rPr>
                        <a:t>.4</a:t>
                      </a:r>
                      <a:endParaRPr lang="zh-CN" sz="1600" b="1" kern="100">
                        <a:effectLst/>
                        <a:latin typeface="Cambria"/>
                        <a:ea typeface="宋体"/>
                        <a:cs typeface="Times New Roman"/>
                      </a:endParaRPr>
                    </a:p>
                  </a:txBody>
                  <a:tcPr marL="0" marR="0" marT="0" marB="0" anchor="ctr"/>
                </a:tc>
              </a:tr>
              <a:tr h="240027">
                <a:tc>
                  <a:txBody>
                    <a:bodyPr/>
                    <a:lstStyle/>
                    <a:p>
                      <a:pPr marL="38100" marR="38100" algn="l">
                        <a:lnSpc>
                          <a:spcPts val="1600"/>
                        </a:lnSpc>
                        <a:spcAft>
                          <a:spcPts val="0"/>
                        </a:spcAft>
                      </a:pPr>
                      <a:r>
                        <a:rPr lang="zh-CN" sz="1600" b="1" kern="0" dirty="0">
                          <a:solidFill>
                            <a:srgbClr val="000000"/>
                          </a:solidFill>
                          <a:effectLst/>
                          <a:latin typeface="Cambria"/>
                          <a:ea typeface="MingLiU"/>
                          <a:cs typeface="MingLiU"/>
                        </a:rPr>
                        <a:t>盗窃财产犯罪</a:t>
                      </a:r>
                      <a:endParaRPr lang="zh-CN" sz="1600" b="1"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a:solidFill>
                            <a:srgbClr val="000000"/>
                          </a:solidFill>
                          <a:effectLst/>
                          <a:latin typeface="MingLiU"/>
                          <a:ea typeface="宋体"/>
                          <a:cs typeface="MingLiU"/>
                        </a:rPr>
                        <a:t>4117</a:t>
                      </a:r>
                      <a:endParaRPr lang="zh-CN" sz="1600" b="1" kern="10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a:solidFill>
                            <a:srgbClr val="000000"/>
                          </a:solidFill>
                          <a:effectLst/>
                          <a:latin typeface="MingLiU"/>
                          <a:ea typeface="宋体"/>
                          <a:cs typeface="MingLiU"/>
                        </a:rPr>
                        <a:t>13.0</a:t>
                      </a:r>
                      <a:endParaRPr lang="zh-CN" sz="1600" b="1" kern="100">
                        <a:effectLst/>
                        <a:latin typeface="Cambria"/>
                        <a:ea typeface="宋体"/>
                        <a:cs typeface="Times New Roman"/>
                      </a:endParaRPr>
                    </a:p>
                  </a:txBody>
                  <a:tcPr marL="0" marR="0" marT="0" marB="0" anchor="ctr"/>
                </a:tc>
              </a:tr>
              <a:tr h="240027">
                <a:tc>
                  <a:txBody>
                    <a:bodyPr/>
                    <a:lstStyle/>
                    <a:p>
                      <a:pPr marL="38100" marR="38100" algn="l">
                        <a:lnSpc>
                          <a:spcPts val="1600"/>
                        </a:lnSpc>
                        <a:spcAft>
                          <a:spcPts val="0"/>
                        </a:spcAft>
                      </a:pPr>
                      <a:r>
                        <a:rPr lang="zh-CN" sz="1600" b="1" kern="0" dirty="0">
                          <a:solidFill>
                            <a:srgbClr val="000000"/>
                          </a:solidFill>
                          <a:effectLst/>
                          <a:latin typeface="Cambria"/>
                          <a:ea typeface="MingLiU"/>
                          <a:cs typeface="MingLiU"/>
                        </a:rPr>
                        <a:t>诈骗财产犯罪</a:t>
                      </a:r>
                      <a:endParaRPr lang="zh-CN" sz="1600" b="1"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a:solidFill>
                            <a:srgbClr val="000000"/>
                          </a:solidFill>
                          <a:effectLst/>
                          <a:latin typeface="MingLiU"/>
                          <a:ea typeface="宋体"/>
                          <a:cs typeface="MingLiU"/>
                        </a:rPr>
                        <a:t>12436</a:t>
                      </a:r>
                      <a:endParaRPr lang="zh-CN" sz="1600" b="1" kern="10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a:solidFill>
                            <a:srgbClr val="000000"/>
                          </a:solidFill>
                          <a:effectLst/>
                          <a:latin typeface="MingLiU"/>
                          <a:ea typeface="宋体"/>
                          <a:cs typeface="MingLiU"/>
                        </a:rPr>
                        <a:t>39.3</a:t>
                      </a:r>
                      <a:endParaRPr lang="zh-CN" sz="1600" b="1" kern="100">
                        <a:effectLst/>
                        <a:latin typeface="Cambria"/>
                        <a:ea typeface="宋体"/>
                        <a:cs typeface="Times New Roman"/>
                      </a:endParaRPr>
                    </a:p>
                  </a:txBody>
                  <a:tcPr marL="0" marR="0" marT="0" marB="0" anchor="ctr"/>
                </a:tc>
              </a:tr>
              <a:tr h="240027">
                <a:tc>
                  <a:txBody>
                    <a:bodyPr/>
                    <a:lstStyle/>
                    <a:p>
                      <a:pPr marL="38100" marR="38100" algn="l">
                        <a:lnSpc>
                          <a:spcPts val="1600"/>
                        </a:lnSpc>
                        <a:spcAft>
                          <a:spcPts val="0"/>
                        </a:spcAft>
                      </a:pPr>
                      <a:r>
                        <a:rPr lang="zh-CN" sz="1800" b="1" kern="0" dirty="0">
                          <a:solidFill>
                            <a:srgbClr val="000000"/>
                          </a:solidFill>
                          <a:effectLst/>
                          <a:latin typeface="黑体"/>
                          <a:ea typeface="黑体"/>
                          <a:cs typeface="黑体"/>
                        </a:rPr>
                        <a:t>二者同样严重</a:t>
                      </a:r>
                      <a:endParaRPr lang="zh-CN" sz="1800" b="1" kern="100" dirty="0">
                        <a:effectLst/>
                        <a:latin typeface="黑体"/>
                        <a:ea typeface="黑体"/>
                        <a:cs typeface="黑体"/>
                      </a:endParaRPr>
                    </a:p>
                  </a:txBody>
                  <a:tcPr marL="0" marR="0" marT="0" marB="0" anchor="ctr"/>
                </a:tc>
                <a:tc>
                  <a:txBody>
                    <a:bodyPr/>
                    <a:lstStyle/>
                    <a:p>
                      <a:pPr marL="38100" marR="38100" algn="ctr">
                        <a:lnSpc>
                          <a:spcPts val="1600"/>
                        </a:lnSpc>
                        <a:spcAft>
                          <a:spcPts val="0"/>
                        </a:spcAft>
                      </a:pPr>
                      <a:r>
                        <a:rPr lang="en-US" sz="1800" b="1" kern="0" dirty="0">
                          <a:solidFill>
                            <a:srgbClr val="000000"/>
                          </a:solidFill>
                          <a:effectLst/>
                          <a:latin typeface="黑体"/>
                          <a:ea typeface="黑体"/>
                          <a:cs typeface="黑体"/>
                        </a:rPr>
                        <a:t>14976</a:t>
                      </a:r>
                      <a:endParaRPr lang="zh-CN" sz="1800" b="1" kern="100" dirty="0">
                        <a:effectLst/>
                        <a:latin typeface="黑体"/>
                        <a:ea typeface="黑体"/>
                        <a:cs typeface="黑体"/>
                      </a:endParaRPr>
                    </a:p>
                  </a:txBody>
                  <a:tcPr marL="0" marR="0" marT="0" marB="0" anchor="ctr"/>
                </a:tc>
                <a:tc>
                  <a:txBody>
                    <a:bodyPr/>
                    <a:lstStyle/>
                    <a:p>
                      <a:pPr marL="38100" marR="38100" algn="ctr">
                        <a:lnSpc>
                          <a:spcPts val="1600"/>
                        </a:lnSpc>
                        <a:spcAft>
                          <a:spcPts val="0"/>
                        </a:spcAft>
                      </a:pPr>
                      <a:r>
                        <a:rPr lang="en-US" sz="1800" b="1" kern="0" dirty="0">
                          <a:solidFill>
                            <a:srgbClr val="000000"/>
                          </a:solidFill>
                          <a:effectLst/>
                          <a:latin typeface="黑体"/>
                          <a:ea typeface="黑体"/>
                          <a:cs typeface="黑体"/>
                        </a:rPr>
                        <a:t>47.3</a:t>
                      </a:r>
                      <a:endParaRPr lang="zh-CN" sz="1800" b="1" kern="100" dirty="0">
                        <a:effectLst/>
                        <a:latin typeface="黑体"/>
                        <a:ea typeface="黑体"/>
                        <a:cs typeface="黑体"/>
                      </a:endParaRPr>
                    </a:p>
                  </a:txBody>
                  <a:tcPr marL="0" marR="0" marT="0" marB="0" anchor="ctr"/>
                </a:tc>
              </a:tr>
              <a:tr h="240027">
                <a:tc>
                  <a:txBody>
                    <a:bodyPr/>
                    <a:lstStyle/>
                    <a:p>
                      <a:pPr marL="38100" marR="38100" algn="l">
                        <a:lnSpc>
                          <a:spcPts val="1600"/>
                        </a:lnSpc>
                        <a:spcAft>
                          <a:spcPts val="0"/>
                        </a:spcAft>
                      </a:pPr>
                      <a:r>
                        <a:rPr lang="zh-CN" sz="1600" b="1" kern="0" dirty="0">
                          <a:solidFill>
                            <a:srgbClr val="000000"/>
                          </a:solidFill>
                          <a:effectLst/>
                          <a:latin typeface="Cambria"/>
                          <a:ea typeface="MingLiU"/>
                          <a:cs typeface="MingLiU"/>
                        </a:rPr>
                        <a:t>合计</a:t>
                      </a:r>
                      <a:endParaRPr lang="zh-CN" sz="1600" b="1"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a:solidFill>
                            <a:srgbClr val="000000"/>
                          </a:solidFill>
                          <a:effectLst/>
                          <a:latin typeface="MingLiU"/>
                          <a:ea typeface="宋体"/>
                          <a:cs typeface="MingLiU"/>
                        </a:rPr>
                        <a:t>31665</a:t>
                      </a:r>
                      <a:endParaRPr lang="zh-CN" sz="1600" b="1" kern="10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dirty="0">
                          <a:solidFill>
                            <a:srgbClr val="000000"/>
                          </a:solidFill>
                          <a:effectLst/>
                          <a:latin typeface="MingLiU"/>
                          <a:ea typeface="宋体"/>
                          <a:cs typeface="MingLiU"/>
                        </a:rPr>
                        <a:t>100.0</a:t>
                      </a:r>
                      <a:endParaRPr lang="zh-CN" sz="1600" b="1" kern="100" dirty="0">
                        <a:effectLst/>
                        <a:latin typeface="Cambria"/>
                        <a:ea typeface="宋体"/>
                        <a:cs typeface="Times New Roman"/>
                      </a:endParaRPr>
                    </a:p>
                  </a:txBody>
                  <a:tcPr marL="0" marR="0" marT="0" marB="0" anchor="ctr"/>
                </a:tc>
              </a:tr>
              <a:tr h="432048">
                <a:tc>
                  <a:txBody>
                    <a:bodyPr/>
                    <a:lstStyle/>
                    <a:p>
                      <a:pPr algn="ctr"/>
                      <a:endParaRPr lang="zh-CN" altLang="en-US" sz="1600" b="1" dirty="0"/>
                    </a:p>
                  </a:txBody>
                  <a:tcPr/>
                </a:tc>
                <a:tc>
                  <a:txBody>
                    <a:bodyPr/>
                    <a:lstStyle/>
                    <a:p>
                      <a:pPr algn="ctr"/>
                      <a:endParaRPr lang="zh-CN" altLang="en-US" sz="1600" b="1" dirty="0"/>
                    </a:p>
                  </a:txBody>
                  <a:tcPr/>
                </a:tc>
                <a:tc>
                  <a:txBody>
                    <a:bodyPr/>
                    <a:lstStyle/>
                    <a:p>
                      <a:pPr algn="ctr"/>
                      <a:endParaRPr lang="zh-CN" altLang="en-US" sz="1600" b="1" dirty="0"/>
                    </a:p>
                  </a:txBody>
                  <a:tcPr/>
                </a:tc>
              </a:tr>
              <a:tr h="240027">
                <a:tc gridSpan="3">
                  <a:txBody>
                    <a:bodyPr/>
                    <a:lstStyle/>
                    <a:p>
                      <a:pPr marL="38100" marR="38100" algn="ctr">
                        <a:lnSpc>
                          <a:spcPts val="1600"/>
                        </a:lnSpc>
                        <a:spcAft>
                          <a:spcPts val="0"/>
                        </a:spcAft>
                      </a:pPr>
                      <a:r>
                        <a:rPr lang="zh-CN" sz="1800" b="1" kern="0" dirty="0">
                          <a:solidFill>
                            <a:srgbClr val="000000"/>
                          </a:solidFill>
                          <a:effectLst/>
                          <a:latin typeface="黑体"/>
                          <a:ea typeface="黑体"/>
                          <a:cs typeface="黑体"/>
                        </a:rPr>
                        <a:t>贪污与盗窃哪个重</a:t>
                      </a:r>
                      <a:endParaRPr lang="zh-CN" sz="1800" b="1" kern="100" dirty="0">
                        <a:effectLst/>
                        <a:latin typeface="黑体"/>
                        <a:ea typeface="黑体"/>
                        <a:cs typeface="黑体"/>
                      </a:endParaRPr>
                    </a:p>
                  </a:txBody>
                  <a:tcPr marL="0" marR="0" marT="0" marB="0" anchor="ctr"/>
                </a:tc>
                <a:tc hMerge="1">
                  <a:txBody>
                    <a:bodyPr/>
                    <a:lstStyle/>
                    <a:p>
                      <a:endParaRPr lang="zh-CN" altLang="en-US"/>
                    </a:p>
                  </a:txBody>
                  <a:tcPr/>
                </a:tc>
                <a:tc hMerge="1">
                  <a:txBody>
                    <a:bodyPr/>
                    <a:lstStyle/>
                    <a:p>
                      <a:endParaRPr lang="zh-CN" altLang="en-US"/>
                    </a:p>
                  </a:txBody>
                  <a:tcPr/>
                </a:tc>
              </a:tr>
              <a:tr h="240027">
                <a:tc>
                  <a:txBody>
                    <a:bodyPr/>
                    <a:lstStyle/>
                    <a:p>
                      <a:pPr marL="38100" marR="38100" algn="ctr">
                        <a:lnSpc>
                          <a:spcPts val="1600"/>
                        </a:lnSpc>
                        <a:spcAft>
                          <a:spcPts val="0"/>
                        </a:spcAft>
                      </a:pPr>
                      <a:r>
                        <a:rPr lang="zh-CN" sz="1600" b="1" kern="0" dirty="0">
                          <a:solidFill>
                            <a:srgbClr val="000000"/>
                          </a:solidFill>
                          <a:effectLst/>
                          <a:latin typeface="Cambria"/>
                          <a:ea typeface="MingLiU"/>
                          <a:cs typeface="MingLiU"/>
                        </a:rPr>
                        <a:t>选项</a:t>
                      </a:r>
                      <a:endParaRPr lang="zh-CN" sz="1600" b="1" kern="100" dirty="0">
                        <a:effectLst/>
                        <a:latin typeface="Cambria"/>
                        <a:ea typeface="宋体"/>
                        <a:cs typeface="Times New Roman"/>
                      </a:endParaRPr>
                    </a:p>
                  </a:txBody>
                  <a:tcPr marL="0" marR="0" marT="0" marB="0" anchor="ctr"/>
                </a:tc>
                <a:tc>
                  <a:txBody>
                    <a:bodyPr/>
                    <a:lstStyle/>
                    <a:p>
                      <a:pPr marL="38100" marR="38100" algn="ctr" latinLnBrk="1">
                        <a:lnSpc>
                          <a:spcPts val="1600"/>
                        </a:lnSpc>
                        <a:spcAft>
                          <a:spcPts val="0"/>
                        </a:spcAft>
                      </a:pPr>
                      <a:r>
                        <a:rPr lang="zh-CN" sz="1600" b="1" kern="0">
                          <a:solidFill>
                            <a:srgbClr val="000000"/>
                          </a:solidFill>
                          <a:effectLst/>
                          <a:latin typeface="Cambria"/>
                          <a:ea typeface="MingLiU"/>
                          <a:cs typeface="MingLiU"/>
                        </a:rPr>
                        <a:t>个案数</a:t>
                      </a:r>
                      <a:endParaRPr lang="zh-CN" sz="1600" b="1" kern="10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zh-CN" sz="1600" b="1" kern="0">
                          <a:solidFill>
                            <a:srgbClr val="000000"/>
                          </a:solidFill>
                          <a:effectLst/>
                          <a:latin typeface="Cambria"/>
                          <a:ea typeface="MingLiU"/>
                          <a:cs typeface="MingLiU"/>
                        </a:rPr>
                        <a:t>百分比</a:t>
                      </a:r>
                      <a:endParaRPr lang="zh-CN" sz="1600" b="1" kern="100">
                        <a:effectLst/>
                        <a:latin typeface="Cambria"/>
                        <a:ea typeface="宋体"/>
                        <a:cs typeface="Times New Roman"/>
                      </a:endParaRPr>
                    </a:p>
                  </a:txBody>
                  <a:tcPr marL="0" marR="0" marT="0" marB="0" anchor="ctr"/>
                </a:tc>
              </a:tr>
              <a:tr h="240027">
                <a:tc>
                  <a:txBody>
                    <a:bodyPr/>
                    <a:lstStyle/>
                    <a:p>
                      <a:pPr marL="38100" marR="38100" algn="l">
                        <a:lnSpc>
                          <a:spcPts val="1600"/>
                        </a:lnSpc>
                        <a:spcAft>
                          <a:spcPts val="0"/>
                        </a:spcAft>
                      </a:pPr>
                      <a:r>
                        <a:rPr lang="zh-CN" sz="1600" b="1" kern="0" dirty="0">
                          <a:solidFill>
                            <a:srgbClr val="000000"/>
                          </a:solidFill>
                          <a:effectLst/>
                          <a:latin typeface="Cambria"/>
                          <a:ea typeface="MingLiU"/>
                          <a:cs typeface="MingLiU"/>
                        </a:rPr>
                        <a:t>其他</a:t>
                      </a:r>
                      <a:endParaRPr lang="zh-CN" sz="1600" b="1"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a:solidFill>
                            <a:srgbClr val="000000"/>
                          </a:solidFill>
                          <a:effectLst/>
                          <a:latin typeface="MingLiU"/>
                          <a:ea typeface="宋体"/>
                          <a:cs typeface="MingLiU"/>
                        </a:rPr>
                        <a:t>129</a:t>
                      </a:r>
                      <a:endParaRPr lang="zh-CN" sz="1600" b="1" kern="10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a:solidFill>
                            <a:srgbClr val="000000"/>
                          </a:solidFill>
                          <a:effectLst/>
                          <a:latin typeface="MingLiU"/>
                          <a:ea typeface="宋体"/>
                          <a:cs typeface="MingLiU"/>
                        </a:rPr>
                        <a:t>.4</a:t>
                      </a:r>
                      <a:endParaRPr lang="zh-CN" sz="1600" b="1" kern="100">
                        <a:effectLst/>
                        <a:latin typeface="Cambria"/>
                        <a:ea typeface="宋体"/>
                        <a:cs typeface="Times New Roman"/>
                      </a:endParaRPr>
                    </a:p>
                  </a:txBody>
                  <a:tcPr marL="0" marR="0" marT="0" marB="0" anchor="ctr"/>
                </a:tc>
              </a:tr>
              <a:tr h="240027">
                <a:tc>
                  <a:txBody>
                    <a:bodyPr/>
                    <a:lstStyle/>
                    <a:p>
                      <a:pPr marL="38100" marR="38100" algn="l">
                        <a:lnSpc>
                          <a:spcPts val="1600"/>
                        </a:lnSpc>
                        <a:spcAft>
                          <a:spcPts val="0"/>
                        </a:spcAft>
                      </a:pPr>
                      <a:r>
                        <a:rPr lang="zh-CN" sz="1600" b="1" kern="0" dirty="0">
                          <a:solidFill>
                            <a:srgbClr val="000000"/>
                          </a:solidFill>
                          <a:effectLst/>
                          <a:latin typeface="Cambria"/>
                          <a:ea typeface="MingLiU"/>
                          <a:cs typeface="MingLiU"/>
                        </a:rPr>
                        <a:t>贪污一万元</a:t>
                      </a:r>
                      <a:endParaRPr lang="zh-CN" sz="1600" b="1"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a:solidFill>
                            <a:srgbClr val="000000"/>
                          </a:solidFill>
                          <a:effectLst/>
                          <a:latin typeface="MingLiU"/>
                          <a:ea typeface="宋体"/>
                          <a:cs typeface="MingLiU"/>
                        </a:rPr>
                        <a:t>14473</a:t>
                      </a:r>
                      <a:endParaRPr lang="zh-CN" sz="1600" b="1" kern="10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a:solidFill>
                            <a:srgbClr val="000000"/>
                          </a:solidFill>
                          <a:effectLst/>
                          <a:latin typeface="MingLiU"/>
                          <a:ea typeface="宋体"/>
                          <a:cs typeface="MingLiU"/>
                        </a:rPr>
                        <a:t>45.7</a:t>
                      </a:r>
                      <a:endParaRPr lang="zh-CN" sz="1600" b="1" kern="100">
                        <a:effectLst/>
                        <a:latin typeface="Cambria"/>
                        <a:ea typeface="宋体"/>
                        <a:cs typeface="Times New Roman"/>
                      </a:endParaRPr>
                    </a:p>
                  </a:txBody>
                  <a:tcPr marL="0" marR="0" marT="0" marB="0" anchor="ctr"/>
                </a:tc>
              </a:tr>
              <a:tr h="240027">
                <a:tc>
                  <a:txBody>
                    <a:bodyPr/>
                    <a:lstStyle/>
                    <a:p>
                      <a:pPr marL="38100" marR="38100" algn="l">
                        <a:lnSpc>
                          <a:spcPts val="1600"/>
                        </a:lnSpc>
                        <a:spcAft>
                          <a:spcPts val="0"/>
                        </a:spcAft>
                      </a:pPr>
                      <a:r>
                        <a:rPr lang="zh-CN" sz="1600" b="1" kern="0" dirty="0">
                          <a:solidFill>
                            <a:srgbClr val="000000"/>
                          </a:solidFill>
                          <a:effectLst/>
                          <a:latin typeface="Cambria"/>
                          <a:ea typeface="MingLiU"/>
                          <a:cs typeface="MingLiU"/>
                        </a:rPr>
                        <a:t>盗窃一万元</a:t>
                      </a:r>
                      <a:endParaRPr lang="zh-CN" sz="1600" b="1"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a:solidFill>
                            <a:srgbClr val="000000"/>
                          </a:solidFill>
                          <a:effectLst/>
                          <a:latin typeface="MingLiU"/>
                          <a:ea typeface="宋体"/>
                          <a:cs typeface="MingLiU"/>
                        </a:rPr>
                        <a:t>3722</a:t>
                      </a:r>
                      <a:endParaRPr lang="zh-CN" sz="1600" b="1" kern="10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a:solidFill>
                            <a:srgbClr val="000000"/>
                          </a:solidFill>
                          <a:effectLst/>
                          <a:latin typeface="MingLiU"/>
                          <a:ea typeface="宋体"/>
                          <a:cs typeface="MingLiU"/>
                        </a:rPr>
                        <a:t>11.8</a:t>
                      </a:r>
                      <a:endParaRPr lang="zh-CN" sz="1600" b="1" kern="100">
                        <a:effectLst/>
                        <a:latin typeface="Cambria"/>
                        <a:ea typeface="宋体"/>
                        <a:cs typeface="Times New Roman"/>
                      </a:endParaRPr>
                    </a:p>
                  </a:txBody>
                  <a:tcPr marL="0" marR="0" marT="0" marB="0" anchor="ctr"/>
                </a:tc>
              </a:tr>
              <a:tr h="240027">
                <a:tc>
                  <a:txBody>
                    <a:bodyPr/>
                    <a:lstStyle/>
                    <a:p>
                      <a:pPr marL="38100" marR="38100" algn="l">
                        <a:lnSpc>
                          <a:spcPts val="1600"/>
                        </a:lnSpc>
                        <a:spcAft>
                          <a:spcPts val="0"/>
                        </a:spcAft>
                      </a:pPr>
                      <a:r>
                        <a:rPr lang="zh-CN" sz="1800" b="1" kern="0" dirty="0">
                          <a:solidFill>
                            <a:srgbClr val="000000"/>
                          </a:solidFill>
                          <a:effectLst/>
                          <a:latin typeface="黑体"/>
                          <a:ea typeface="黑体"/>
                          <a:cs typeface="黑体"/>
                        </a:rPr>
                        <a:t>二者同样严重</a:t>
                      </a:r>
                      <a:endParaRPr lang="zh-CN" sz="1800" b="1" kern="100" dirty="0">
                        <a:effectLst/>
                        <a:latin typeface="黑体"/>
                        <a:ea typeface="黑体"/>
                        <a:cs typeface="黑体"/>
                      </a:endParaRPr>
                    </a:p>
                  </a:txBody>
                  <a:tcPr marL="0" marR="0" marT="0" marB="0" anchor="ctr"/>
                </a:tc>
                <a:tc>
                  <a:txBody>
                    <a:bodyPr/>
                    <a:lstStyle/>
                    <a:p>
                      <a:pPr marL="38100" marR="38100" algn="ctr">
                        <a:lnSpc>
                          <a:spcPts val="1600"/>
                        </a:lnSpc>
                        <a:spcAft>
                          <a:spcPts val="0"/>
                        </a:spcAft>
                      </a:pPr>
                      <a:r>
                        <a:rPr lang="en-US" sz="1800" b="1" kern="0" dirty="0">
                          <a:solidFill>
                            <a:srgbClr val="000000"/>
                          </a:solidFill>
                          <a:effectLst/>
                          <a:latin typeface="黑体"/>
                          <a:ea typeface="黑体"/>
                          <a:cs typeface="黑体"/>
                        </a:rPr>
                        <a:t>13341</a:t>
                      </a:r>
                      <a:endParaRPr lang="zh-CN" sz="1800" b="1" kern="100" dirty="0">
                        <a:effectLst/>
                        <a:latin typeface="黑体"/>
                        <a:ea typeface="黑体"/>
                        <a:cs typeface="黑体"/>
                      </a:endParaRPr>
                    </a:p>
                  </a:txBody>
                  <a:tcPr marL="0" marR="0" marT="0" marB="0" anchor="ctr"/>
                </a:tc>
                <a:tc>
                  <a:txBody>
                    <a:bodyPr/>
                    <a:lstStyle/>
                    <a:p>
                      <a:pPr marL="38100" marR="38100" algn="ctr">
                        <a:lnSpc>
                          <a:spcPts val="1600"/>
                        </a:lnSpc>
                        <a:spcAft>
                          <a:spcPts val="0"/>
                        </a:spcAft>
                      </a:pPr>
                      <a:r>
                        <a:rPr lang="en-US" sz="1800" b="1" kern="0" dirty="0">
                          <a:solidFill>
                            <a:srgbClr val="000000"/>
                          </a:solidFill>
                          <a:effectLst/>
                          <a:latin typeface="黑体"/>
                          <a:ea typeface="黑体"/>
                          <a:cs typeface="黑体"/>
                        </a:rPr>
                        <a:t>42.1</a:t>
                      </a:r>
                      <a:endParaRPr lang="zh-CN" sz="1800" b="1" kern="100" dirty="0">
                        <a:effectLst/>
                        <a:latin typeface="黑体"/>
                        <a:ea typeface="黑体"/>
                        <a:cs typeface="黑体"/>
                      </a:endParaRPr>
                    </a:p>
                  </a:txBody>
                  <a:tcPr marL="0" marR="0" marT="0" marB="0" anchor="ctr"/>
                </a:tc>
              </a:tr>
              <a:tr h="240027">
                <a:tc>
                  <a:txBody>
                    <a:bodyPr/>
                    <a:lstStyle/>
                    <a:p>
                      <a:pPr marL="38100" marR="38100" algn="l">
                        <a:lnSpc>
                          <a:spcPts val="1600"/>
                        </a:lnSpc>
                        <a:spcAft>
                          <a:spcPts val="0"/>
                        </a:spcAft>
                      </a:pPr>
                      <a:r>
                        <a:rPr lang="zh-CN" sz="1600" b="1" kern="0" dirty="0">
                          <a:solidFill>
                            <a:srgbClr val="000000"/>
                          </a:solidFill>
                          <a:effectLst/>
                          <a:latin typeface="Cambria"/>
                          <a:ea typeface="MingLiU"/>
                          <a:cs typeface="MingLiU"/>
                        </a:rPr>
                        <a:t>合计</a:t>
                      </a:r>
                      <a:endParaRPr lang="zh-CN" sz="1600" b="1"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dirty="0">
                          <a:solidFill>
                            <a:srgbClr val="000000"/>
                          </a:solidFill>
                          <a:effectLst/>
                          <a:latin typeface="MingLiU"/>
                          <a:ea typeface="宋体"/>
                          <a:cs typeface="MingLiU"/>
                        </a:rPr>
                        <a:t>31665</a:t>
                      </a:r>
                      <a:endParaRPr lang="zh-CN" sz="1600" b="1" kern="100" dirty="0">
                        <a:effectLst/>
                        <a:latin typeface="Cambria"/>
                        <a:ea typeface="宋体"/>
                        <a:cs typeface="Times New Roman"/>
                      </a:endParaRPr>
                    </a:p>
                  </a:txBody>
                  <a:tcPr marL="0" marR="0" marT="0" marB="0" anchor="ctr"/>
                </a:tc>
                <a:tc>
                  <a:txBody>
                    <a:bodyPr/>
                    <a:lstStyle/>
                    <a:p>
                      <a:pPr marL="38100" marR="38100" algn="ctr">
                        <a:lnSpc>
                          <a:spcPts val="1600"/>
                        </a:lnSpc>
                        <a:spcAft>
                          <a:spcPts val="0"/>
                        </a:spcAft>
                      </a:pPr>
                      <a:r>
                        <a:rPr lang="en-US" sz="1600" b="1" kern="0" dirty="0">
                          <a:solidFill>
                            <a:srgbClr val="000000"/>
                          </a:solidFill>
                          <a:effectLst/>
                          <a:latin typeface="MingLiU"/>
                          <a:ea typeface="宋体"/>
                          <a:cs typeface="MingLiU"/>
                        </a:rPr>
                        <a:t>100.0</a:t>
                      </a:r>
                      <a:endParaRPr lang="zh-CN" sz="1600" b="1" kern="100" dirty="0">
                        <a:effectLst/>
                        <a:latin typeface="Cambria"/>
                        <a:ea typeface="宋体"/>
                        <a:cs typeface="Times New Roman"/>
                      </a:endParaRPr>
                    </a:p>
                  </a:txBody>
                  <a:tcPr marL="0" marR="0" marT="0" marB="0" anchor="ctr"/>
                </a:tc>
              </a:tr>
            </a:tbl>
          </a:graphicData>
        </a:graphic>
      </p:graphicFrame>
    </p:spTree>
    <p:extLst>
      <p:ext uri="{BB962C8B-B14F-4D97-AF65-F5344CB8AC3E}">
        <p14:creationId xmlns:p14="http://schemas.microsoft.com/office/powerpoint/2010/main" val="2018325704"/>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438" y="211138"/>
            <a:ext cx="8605018" cy="697582"/>
          </a:xfrm>
        </p:spPr>
        <p:txBody>
          <a:bodyPr/>
          <a:lstStyle/>
          <a:p>
            <a:pPr algn="ctr"/>
            <a:r>
              <a:rPr kumimoji="1" lang="zh-CN" altLang="en-US" sz="3200" dirty="0" smtClean="0">
                <a:latin typeface="黑体"/>
                <a:ea typeface="黑体"/>
                <a:cs typeface="黑体"/>
              </a:rPr>
              <a:t>回归结果：</a:t>
            </a:r>
            <a:r>
              <a:rPr lang="zh-CN" altLang="zh-CN" sz="3200" dirty="0" smtClean="0">
                <a:latin typeface="黑体"/>
                <a:ea typeface="黑体"/>
                <a:cs typeface="黑体"/>
              </a:rPr>
              <a:t>刑法偏好与犯罪被害感受无关</a:t>
            </a:r>
            <a:r>
              <a:rPr lang="zh-CN" altLang="zh-CN" dirty="0" smtClean="0"/>
              <a:t> </a:t>
            </a:r>
            <a:endParaRPr kumimoji="1" lang="zh-CN" altLang="en-US" dirty="0"/>
          </a:p>
        </p:txBody>
      </p:sp>
      <p:graphicFrame>
        <p:nvGraphicFramePr>
          <p:cNvPr id="5" name="内容占位符 4"/>
          <p:cNvGraphicFramePr>
            <a:graphicFrameLocks noGrp="1"/>
          </p:cNvGraphicFramePr>
          <p:nvPr>
            <p:ph idx="1"/>
            <p:extLst/>
          </p:nvPr>
        </p:nvGraphicFramePr>
        <p:xfrm>
          <a:off x="457200" y="1125538"/>
          <a:ext cx="8229600" cy="5411336"/>
        </p:xfrm>
        <a:graphic>
          <a:graphicData uri="http://schemas.openxmlformats.org/drawingml/2006/table">
            <a:tbl>
              <a:tblPr firstRow="1" bandRow="1">
                <a:tableStyleId>{5C22544A-7EE6-4342-B048-85BDC9FD1C3A}</a:tableStyleId>
              </a:tblPr>
              <a:tblGrid>
                <a:gridCol w="1090464"/>
                <a:gridCol w="966936"/>
                <a:gridCol w="1028700"/>
                <a:gridCol w="1028700"/>
                <a:gridCol w="1028700"/>
                <a:gridCol w="1028700"/>
                <a:gridCol w="1028700"/>
                <a:gridCol w="1028700"/>
              </a:tblGrid>
              <a:tr h="454050">
                <a:tc rowSpan="2">
                  <a:txBody>
                    <a:bodyPr/>
                    <a:lstStyle/>
                    <a:p>
                      <a:pPr marL="65405" algn="l">
                        <a:spcAft>
                          <a:spcPts val="0"/>
                        </a:spcAft>
                      </a:pPr>
                      <a:r>
                        <a:rPr lang="zh-CN" sz="2000" kern="0" dirty="0">
                          <a:solidFill>
                            <a:srgbClr val="000000"/>
                          </a:solidFill>
                          <a:effectLst/>
                          <a:latin typeface="Cambria"/>
                          <a:ea typeface="細明體"/>
                          <a:cs typeface="Arial"/>
                        </a:rPr>
                        <a:t>模型</a:t>
                      </a:r>
                      <a:endParaRPr lang="zh-CN" sz="2000" kern="100" dirty="0">
                        <a:effectLst/>
                        <a:latin typeface="Cambria"/>
                        <a:ea typeface="宋体"/>
                        <a:cs typeface="Times New Roman"/>
                      </a:endParaRPr>
                    </a:p>
                  </a:txBody>
                  <a:tcPr marL="68580" marR="68580" marT="0" marB="0" anchor="b"/>
                </a:tc>
                <a:tc gridSpan="2">
                  <a:txBody>
                    <a:bodyPr/>
                    <a:lstStyle/>
                    <a:p>
                      <a:pPr algn="ctr">
                        <a:spcAft>
                          <a:spcPts val="0"/>
                        </a:spcAft>
                      </a:pPr>
                      <a:r>
                        <a:rPr lang="zh-CN" sz="2000" kern="0" dirty="0">
                          <a:solidFill>
                            <a:srgbClr val="000000"/>
                          </a:solidFill>
                          <a:effectLst/>
                          <a:latin typeface="Cambria"/>
                          <a:ea typeface="細明體"/>
                          <a:cs typeface="Arial"/>
                        </a:rPr>
                        <a:t>非标准化系数</a:t>
                      </a:r>
                      <a:endParaRPr lang="zh-CN" sz="2000" kern="100" dirty="0">
                        <a:effectLst/>
                        <a:latin typeface="Cambria"/>
                        <a:ea typeface="宋体"/>
                        <a:cs typeface="Times New Roman"/>
                      </a:endParaRPr>
                    </a:p>
                  </a:txBody>
                  <a:tcPr marL="68580" marR="68580" marT="0" marB="0" anchor="b"/>
                </a:tc>
                <a:tc hMerge="1">
                  <a:txBody>
                    <a:bodyPr/>
                    <a:lstStyle/>
                    <a:p>
                      <a:endParaRPr lang="zh-CN" altLang="en-US"/>
                    </a:p>
                  </a:txBody>
                  <a:tcPr/>
                </a:tc>
                <a:tc>
                  <a:txBody>
                    <a:bodyPr/>
                    <a:lstStyle/>
                    <a:p>
                      <a:pPr algn="ctr">
                        <a:spcAft>
                          <a:spcPts val="0"/>
                        </a:spcAft>
                      </a:pPr>
                      <a:r>
                        <a:rPr lang="zh-CN" sz="2000" kern="0" dirty="0">
                          <a:solidFill>
                            <a:srgbClr val="000000"/>
                          </a:solidFill>
                          <a:effectLst/>
                          <a:latin typeface="Cambria"/>
                          <a:ea typeface="細明體"/>
                          <a:cs typeface="Arial"/>
                        </a:rPr>
                        <a:t>标准系数</a:t>
                      </a:r>
                      <a:endParaRPr lang="zh-CN" sz="2000" kern="100" dirty="0">
                        <a:effectLst/>
                        <a:latin typeface="Cambria"/>
                        <a:ea typeface="宋体"/>
                        <a:cs typeface="Times New Roman"/>
                      </a:endParaRPr>
                    </a:p>
                  </a:txBody>
                  <a:tcPr marL="68580" marR="68580" marT="0" marB="0" anchor="b"/>
                </a:tc>
                <a:tc rowSpan="2">
                  <a:txBody>
                    <a:bodyPr/>
                    <a:lstStyle/>
                    <a:p>
                      <a:pPr algn="ctr">
                        <a:spcAft>
                          <a:spcPts val="0"/>
                        </a:spcAft>
                      </a:pPr>
                      <a:r>
                        <a:rPr lang="en-US" sz="2000" kern="0" dirty="0">
                          <a:solidFill>
                            <a:srgbClr val="000000"/>
                          </a:solidFill>
                          <a:effectLst/>
                          <a:latin typeface="細明體"/>
                          <a:ea typeface="宋体"/>
                          <a:cs typeface="Arial"/>
                        </a:rPr>
                        <a:t>t</a:t>
                      </a:r>
                      <a:endParaRPr lang="zh-CN" sz="2000" kern="100" dirty="0">
                        <a:effectLst/>
                        <a:latin typeface="Cambria"/>
                        <a:ea typeface="宋体"/>
                        <a:cs typeface="Times New Roman"/>
                      </a:endParaRPr>
                    </a:p>
                  </a:txBody>
                  <a:tcPr marL="68580" marR="68580" marT="0" marB="0" anchor="b"/>
                </a:tc>
                <a:tc rowSpan="2">
                  <a:txBody>
                    <a:bodyPr/>
                    <a:lstStyle/>
                    <a:p>
                      <a:pPr algn="ctr">
                        <a:spcAft>
                          <a:spcPts val="0"/>
                        </a:spcAft>
                      </a:pPr>
                      <a:r>
                        <a:rPr lang="en-US" sz="2000" kern="0" dirty="0">
                          <a:solidFill>
                            <a:srgbClr val="000000"/>
                          </a:solidFill>
                          <a:effectLst/>
                          <a:latin typeface="細明體"/>
                          <a:ea typeface="宋体"/>
                          <a:cs typeface="Arial"/>
                        </a:rPr>
                        <a:t>Sig.</a:t>
                      </a:r>
                      <a:endParaRPr lang="zh-CN" sz="2000" kern="100" dirty="0">
                        <a:effectLst/>
                        <a:latin typeface="Cambria"/>
                        <a:ea typeface="宋体"/>
                        <a:cs typeface="Times New Roman"/>
                      </a:endParaRPr>
                    </a:p>
                  </a:txBody>
                  <a:tcPr marL="68580" marR="68580" marT="0" marB="0" anchor="b"/>
                </a:tc>
                <a:tc gridSpan="2">
                  <a:txBody>
                    <a:bodyPr/>
                    <a:lstStyle/>
                    <a:p>
                      <a:pPr algn="ctr">
                        <a:spcAft>
                          <a:spcPts val="0"/>
                        </a:spcAft>
                      </a:pPr>
                      <a:r>
                        <a:rPr lang="zh-CN" sz="2000" kern="0" dirty="0">
                          <a:solidFill>
                            <a:srgbClr val="000000"/>
                          </a:solidFill>
                          <a:effectLst/>
                          <a:latin typeface="Cambria"/>
                          <a:ea typeface="細明體"/>
                          <a:cs typeface="Arial"/>
                        </a:rPr>
                        <a:t>共线性统计量</a:t>
                      </a:r>
                      <a:endParaRPr lang="zh-CN" sz="2000" kern="100" dirty="0">
                        <a:effectLst/>
                        <a:latin typeface="Cambria"/>
                        <a:ea typeface="宋体"/>
                        <a:cs typeface="Times New Roman"/>
                      </a:endParaRPr>
                    </a:p>
                  </a:txBody>
                  <a:tcPr marL="68580" marR="68580" marT="0" marB="0" anchor="b"/>
                </a:tc>
                <a:tc hMerge="1">
                  <a:txBody>
                    <a:bodyPr/>
                    <a:lstStyle/>
                    <a:p>
                      <a:endParaRPr lang="zh-CN" altLang="en-US"/>
                    </a:p>
                  </a:txBody>
                  <a:tcPr/>
                </a:tc>
              </a:tr>
              <a:tr h="746384">
                <a:tc vMerge="1">
                  <a:txBody>
                    <a:bodyPr/>
                    <a:lstStyle/>
                    <a:p>
                      <a:endParaRPr lang="zh-CN" altLang="en-US"/>
                    </a:p>
                  </a:txBody>
                  <a:tcPr/>
                </a:tc>
                <a:tc>
                  <a:txBody>
                    <a:bodyPr/>
                    <a:lstStyle/>
                    <a:p>
                      <a:pPr algn="ctr">
                        <a:spcAft>
                          <a:spcPts val="0"/>
                        </a:spcAft>
                      </a:pPr>
                      <a:r>
                        <a:rPr lang="en-US" sz="2000" kern="0" dirty="0">
                          <a:solidFill>
                            <a:srgbClr val="000000"/>
                          </a:solidFill>
                          <a:effectLst/>
                          <a:latin typeface="細明體"/>
                          <a:ea typeface="宋体"/>
                          <a:cs typeface="Arial"/>
                        </a:rPr>
                        <a:t>B</a:t>
                      </a:r>
                      <a:endParaRPr lang="zh-CN" sz="2000" kern="100" dirty="0">
                        <a:effectLst/>
                        <a:latin typeface="Cambria"/>
                        <a:ea typeface="宋体"/>
                        <a:cs typeface="Times New Roman"/>
                      </a:endParaRPr>
                    </a:p>
                  </a:txBody>
                  <a:tcPr marL="68580" marR="68580" marT="0" marB="0" anchor="b"/>
                </a:tc>
                <a:tc>
                  <a:txBody>
                    <a:bodyPr/>
                    <a:lstStyle/>
                    <a:p>
                      <a:pPr algn="ctr">
                        <a:spcAft>
                          <a:spcPts val="0"/>
                        </a:spcAft>
                      </a:pPr>
                      <a:r>
                        <a:rPr lang="zh-CN" sz="2000" kern="0" dirty="0">
                          <a:solidFill>
                            <a:srgbClr val="000000"/>
                          </a:solidFill>
                          <a:effectLst/>
                          <a:latin typeface="Cambria"/>
                          <a:ea typeface="細明體"/>
                          <a:cs typeface="Arial"/>
                        </a:rPr>
                        <a:t>标准 误差</a:t>
                      </a:r>
                      <a:endParaRPr lang="zh-CN" sz="2000" kern="100" dirty="0">
                        <a:effectLst/>
                        <a:latin typeface="Cambria"/>
                        <a:ea typeface="宋体"/>
                        <a:cs typeface="Times New Roman"/>
                      </a:endParaRPr>
                    </a:p>
                  </a:txBody>
                  <a:tcPr marL="68580" marR="68580" marT="0" marB="0" anchor="b"/>
                </a:tc>
                <a:tc>
                  <a:txBody>
                    <a:bodyPr/>
                    <a:lstStyle/>
                    <a:p>
                      <a:pPr algn="ctr">
                        <a:spcAft>
                          <a:spcPts val="0"/>
                        </a:spcAft>
                      </a:pPr>
                      <a:r>
                        <a:rPr lang="zh-CN" sz="2000" kern="0" dirty="0">
                          <a:solidFill>
                            <a:srgbClr val="000000"/>
                          </a:solidFill>
                          <a:effectLst/>
                          <a:latin typeface="Cambria"/>
                          <a:ea typeface="細明體"/>
                          <a:cs typeface="Arial"/>
                        </a:rPr>
                        <a:t>试用版</a:t>
                      </a:r>
                      <a:endParaRPr lang="zh-CN" sz="2000" kern="100" dirty="0">
                        <a:effectLst/>
                        <a:latin typeface="Cambria"/>
                        <a:ea typeface="宋体"/>
                        <a:cs typeface="Times New Roman"/>
                      </a:endParaRPr>
                    </a:p>
                  </a:txBody>
                  <a:tcPr marL="68580" marR="68580" marT="0" marB="0" anchor="b"/>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2000" kern="0" dirty="0">
                          <a:solidFill>
                            <a:srgbClr val="000000"/>
                          </a:solidFill>
                          <a:effectLst/>
                          <a:latin typeface="Cambria"/>
                          <a:ea typeface="細明體"/>
                          <a:cs typeface="Arial"/>
                        </a:rPr>
                        <a:t>容差</a:t>
                      </a:r>
                      <a:endParaRPr lang="zh-CN" sz="2000" kern="100" dirty="0">
                        <a:effectLst/>
                        <a:latin typeface="Cambria"/>
                        <a:ea typeface="宋体"/>
                        <a:cs typeface="Times New Roman"/>
                      </a:endParaRPr>
                    </a:p>
                  </a:txBody>
                  <a:tcPr marL="68580" marR="68580" marT="0" marB="0" anchor="b"/>
                </a:tc>
                <a:tc>
                  <a:txBody>
                    <a:bodyPr/>
                    <a:lstStyle/>
                    <a:p>
                      <a:pPr algn="ctr">
                        <a:spcAft>
                          <a:spcPts val="0"/>
                        </a:spcAft>
                      </a:pPr>
                      <a:r>
                        <a:rPr lang="en-US" sz="2000" kern="0" dirty="0">
                          <a:solidFill>
                            <a:srgbClr val="000000"/>
                          </a:solidFill>
                          <a:effectLst/>
                          <a:latin typeface="細明體"/>
                          <a:ea typeface="宋体"/>
                          <a:cs typeface="Arial"/>
                        </a:rPr>
                        <a:t>VIF</a:t>
                      </a:r>
                      <a:endParaRPr lang="zh-CN" sz="2000" kern="100" dirty="0">
                        <a:effectLst/>
                        <a:latin typeface="Cambria"/>
                        <a:ea typeface="宋体"/>
                        <a:cs typeface="Times New Roman"/>
                      </a:endParaRPr>
                    </a:p>
                  </a:txBody>
                  <a:tcPr marL="68580" marR="68580" marT="0" marB="0" anchor="b"/>
                </a:tc>
              </a:tr>
              <a:tr h="454050">
                <a:tc>
                  <a:txBody>
                    <a:bodyPr/>
                    <a:lstStyle/>
                    <a:p>
                      <a:pPr algn="l">
                        <a:spcAft>
                          <a:spcPts val="0"/>
                        </a:spcAft>
                      </a:pPr>
                      <a:r>
                        <a:rPr lang="en-US" sz="2000" kern="0">
                          <a:solidFill>
                            <a:srgbClr val="000000"/>
                          </a:solidFill>
                          <a:effectLst/>
                          <a:latin typeface="細明體"/>
                          <a:ea typeface="宋体"/>
                          <a:cs typeface="Arial"/>
                        </a:rPr>
                        <a:t>(</a:t>
                      </a:r>
                      <a:r>
                        <a:rPr lang="zh-CN" sz="2000" kern="0">
                          <a:solidFill>
                            <a:srgbClr val="000000"/>
                          </a:solidFill>
                          <a:effectLst/>
                          <a:latin typeface="Cambria"/>
                          <a:ea typeface="細明體"/>
                          <a:cs typeface="Arial"/>
                        </a:rPr>
                        <a:t>常量</a:t>
                      </a:r>
                      <a:r>
                        <a:rPr lang="en-US" sz="2000" kern="0">
                          <a:solidFill>
                            <a:srgbClr val="000000"/>
                          </a:solidFill>
                          <a:effectLst/>
                          <a:latin typeface="Cambria"/>
                          <a:ea typeface="細明體"/>
                          <a:cs typeface="Arial"/>
                        </a:rPr>
                        <a:t>)</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.392</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.012</a:t>
                      </a:r>
                      <a:endParaRPr lang="zh-CN" sz="2000" kern="100">
                        <a:effectLst/>
                        <a:latin typeface="Cambria"/>
                        <a:ea typeface="宋体"/>
                        <a:cs typeface="Times New Roman"/>
                      </a:endParaRPr>
                    </a:p>
                  </a:txBody>
                  <a:tcPr marL="68580" marR="68580" marT="0" marB="0"/>
                </a:tc>
                <a:tc>
                  <a:txBody>
                    <a:bodyPr/>
                    <a:lstStyle/>
                    <a:p>
                      <a:pPr algn="l">
                        <a:spcAft>
                          <a:spcPts val="0"/>
                        </a:spcAft>
                      </a:pPr>
                      <a:r>
                        <a:rPr lang="zh-CN" sz="2000" kern="0">
                          <a:solidFill>
                            <a:srgbClr val="000000"/>
                          </a:solidFill>
                          <a:effectLst/>
                          <a:latin typeface="Cambria"/>
                          <a:ea typeface="細明體"/>
                          <a:cs typeface="Arial"/>
                        </a:rPr>
                        <a:t>　</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31.438</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dirty="0">
                          <a:solidFill>
                            <a:srgbClr val="000000"/>
                          </a:solidFill>
                          <a:effectLst/>
                          <a:latin typeface="細明體"/>
                          <a:ea typeface="宋体"/>
                          <a:cs typeface="Arial"/>
                        </a:rPr>
                        <a:t>.000</a:t>
                      </a:r>
                      <a:endParaRPr lang="zh-CN" sz="2000" kern="100" dirty="0">
                        <a:effectLst/>
                        <a:latin typeface="Cambria"/>
                        <a:ea typeface="宋体"/>
                        <a:cs typeface="Times New Roman"/>
                      </a:endParaRPr>
                    </a:p>
                  </a:txBody>
                  <a:tcPr marL="68580" marR="68580" marT="0" marB="0"/>
                </a:tc>
                <a:tc>
                  <a:txBody>
                    <a:bodyPr/>
                    <a:lstStyle/>
                    <a:p>
                      <a:pPr algn="l">
                        <a:spcAft>
                          <a:spcPts val="0"/>
                        </a:spcAft>
                      </a:pPr>
                      <a:r>
                        <a:rPr lang="zh-CN" sz="2000" kern="0" dirty="0">
                          <a:solidFill>
                            <a:srgbClr val="000000"/>
                          </a:solidFill>
                          <a:effectLst/>
                          <a:latin typeface="Cambria"/>
                          <a:ea typeface="細明體"/>
                          <a:cs typeface="Arial"/>
                        </a:rPr>
                        <a:t>　</a:t>
                      </a:r>
                      <a:endParaRPr lang="zh-CN" sz="2000" kern="100" dirty="0">
                        <a:effectLst/>
                        <a:latin typeface="Cambria"/>
                        <a:ea typeface="宋体"/>
                        <a:cs typeface="Times New Roman"/>
                      </a:endParaRPr>
                    </a:p>
                  </a:txBody>
                  <a:tcPr marL="68580" marR="68580" marT="0" marB="0"/>
                </a:tc>
                <a:tc>
                  <a:txBody>
                    <a:bodyPr/>
                    <a:lstStyle/>
                    <a:p>
                      <a:pPr algn="l">
                        <a:spcAft>
                          <a:spcPts val="0"/>
                        </a:spcAft>
                      </a:pPr>
                      <a:r>
                        <a:rPr lang="zh-CN" sz="2000" kern="0" dirty="0">
                          <a:solidFill>
                            <a:srgbClr val="000000"/>
                          </a:solidFill>
                          <a:effectLst/>
                          <a:latin typeface="Cambria"/>
                          <a:ea typeface="細明體"/>
                          <a:cs typeface="Arial"/>
                        </a:rPr>
                        <a:t>　</a:t>
                      </a:r>
                      <a:endParaRPr lang="zh-CN" sz="2000" kern="100" dirty="0">
                        <a:effectLst/>
                        <a:latin typeface="Cambria"/>
                        <a:ea typeface="宋体"/>
                        <a:cs typeface="Times New Roman"/>
                      </a:endParaRPr>
                    </a:p>
                  </a:txBody>
                  <a:tcPr marL="68580" marR="68580" marT="0" marB="0"/>
                </a:tc>
              </a:tr>
              <a:tr h="746384">
                <a:tc>
                  <a:txBody>
                    <a:bodyPr/>
                    <a:lstStyle/>
                    <a:p>
                      <a:pPr algn="l">
                        <a:spcAft>
                          <a:spcPts val="0"/>
                        </a:spcAft>
                      </a:pPr>
                      <a:r>
                        <a:rPr lang="zh-CN" sz="2000" kern="0">
                          <a:solidFill>
                            <a:srgbClr val="000000"/>
                          </a:solidFill>
                          <a:effectLst/>
                          <a:latin typeface="Cambria"/>
                          <a:ea typeface="細明體"/>
                          <a:cs typeface="Arial"/>
                        </a:rPr>
                        <a:t>直接被害</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.000</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.004</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.001</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.088</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800" b="1" kern="0" dirty="0">
                          <a:solidFill>
                            <a:srgbClr val="FF0000"/>
                          </a:solidFill>
                          <a:effectLst/>
                          <a:latin typeface="黑体"/>
                          <a:ea typeface="黑体"/>
                          <a:cs typeface="黑体"/>
                        </a:rPr>
                        <a:t>.930</a:t>
                      </a:r>
                      <a:endParaRPr lang="zh-CN" sz="2800" b="1" kern="100" dirty="0">
                        <a:solidFill>
                          <a:srgbClr val="FF0000"/>
                        </a:solidFill>
                        <a:effectLst/>
                        <a:latin typeface="黑体"/>
                        <a:ea typeface="黑体"/>
                        <a:cs typeface="黑体"/>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.968</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dirty="0">
                          <a:solidFill>
                            <a:srgbClr val="000000"/>
                          </a:solidFill>
                          <a:effectLst/>
                          <a:latin typeface="細明體"/>
                          <a:ea typeface="宋体"/>
                          <a:cs typeface="Arial"/>
                        </a:rPr>
                        <a:t>1.033</a:t>
                      </a:r>
                      <a:endParaRPr lang="zh-CN" sz="2000" kern="100" dirty="0">
                        <a:effectLst/>
                        <a:latin typeface="Cambria"/>
                        <a:ea typeface="宋体"/>
                        <a:cs typeface="Times New Roman"/>
                      </a:endParaRPr>
                    </a:p>
                  </a:txBody>
                  <a:tcPr marL="68580" marR="68580" marT="0" marB="0"/>
                </a:tc>
              </a:tr>
              <a:tr h="746384">
                <a:tc>
                  <a:txBody>
                    <a:bodyPr/>
                    <a:lstStyle/>
                    <a:p>
                      <a:pPr algn="l">
                        <a:spcAft>
                          <a:spcPts val="0"/>
                        </a:spcAft>
                      </a:pPr>
                      <a:r>
                        <a:rPr lang="zh-CN" sz="2000" kern="0">
                          <a:solidFill>
                            <a:srgbClr val="000000"/>
                          </a:solidFill>
                          <a:effectLst/>
                          <a:latin typeface="Cambria"/>
                          <a:ea typeface="細明體"/>
                          <a:cs typeface="Arial"/>
                        </a:rPr>
                        <a:t>间接被害</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dirty="0">
                          <a:solidFill>
                            <a:srgbClr val="000000"/>
                          </a:solidFill>
                          <a:effectLst/>
                          <a:latin typeface="細明體"/>
                          <a:ea typeface="宋体"/>
                          <a:cs typeface="Arial"/>
                        </a:rPr>
                        <a:t>.000</a:t>
                      </a:r>
                      <a:endParaRPr lang="zh-CN" sz="2000" kern="100" dirty="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.001</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.002</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.226</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800" b="1" kern="0" dirty="0">
                          <a:solidFill>
                            <a:srgbClr val="FF0000"/>
                          </a:solidFill>
                          <a:effectLst/>
                          <a:latin typeface="黑体"/>
                          <a:ea typeface="黑体"/>
                          <a:cs typeface="黑体"/>
                        </a:rPr>
                        <a:t>.821</a:t>
                      </a:r>
                      <a:endParaRPr lang="zh-CN" sz="2800" b="1" kern="100" dirty="0">
                        <a:solidFill>
                          <a:srgbClr val="FF0000"/>
                        </a:solidFill>
                        <a:effectLst/>
                        <a:latin typeface="黑体"/>
                        <a:ea typeface="黑体"/>
                        <a:cs typeface="黑体"/>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.963</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dirty="0">
                          <a:solidFill>
                            <a:srgbClr val="000000"/>
                          </a:solidFill>
                          <a:effectLst/>
                          <a:latin typeface="細明體"/>
                          <a:ea typeface="宋体"/>
                          <a:cs typeface="Arial"/>
                        </a:rPr>
                        <a:t>1.039</a:t>
                      </a:r>
                      <a:endParaRPr lang="zh-CN" sz="2000" kern="100" dirty="0">
                        <a:effectLst/>
                        <a:latin typeface="Cambria"/>
                        <a:ea typeface="宋体"/>
                        <a:cs typeface="Times New Roman"/>
                      </a:endParaRPr>
                    </a:p>
                  </a:txBody>
                  <a:tcPr marL="68580" marR="68580" marT="0" marB="0"/>
                </a:tc>
              </a:tr>
              <a:tr h="454050">
                <a:tc>
                  <a:txBody>
                    <a:bodyPr/>
                    <a:lstStyle/>
                    <a:p>
                      <a:pPr algn="l">
                        <a:spcAft>
                          <a:spcPts val="0"/>
                        </a:spcAft>
                      </a:pPr>
                      <a:r>
                        <a:rPr lang="zh-CN" sz="2000" kern="0">
                          <a:solidFill>
                            <a:srgbClr val="000000"/>
                          </a:solidFill>
                          <a:effectLst/>
                          <a:latin typeface="Cambria"/>
                          <a:ea typeface="細明體"/>
                          <a:cs typeface="Arial"/>
                        </a:rPr>
                        <a:t>年龄</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-.001</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.000</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-.057</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-6.937</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.000</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.735</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dirty="0">
                          <a:solidFill>
                            <a:srgbClr val="000000"/>
                          </a:solidFill>
                          <a:effectLst/>
                          <a:latin typeface="細明體"/>
                          <a:ea typeface="宋体"/>
                          <a:cs typeface="Arial"/>
                        </a:rPr>
                        <a:t>1.360</a:t>
                      </a:r>
                      <a:endParaRPr lang="zh-CN" sz="2000" kern="100" dirty="0">
                        <a:effectLst/>
                        <a:latin typeface="Cambria"/>
                        <a:ea typeface="宋体"/>
                        <a:cs typeface="Times New Roman"/>
                      </a:endParaRPr>
                    </a:p>
                  </a:txBody>
                  <a:tcPr marL="68580" marR="68580" marT="0" marB="0"/>
                </a:tc>
              </a:tr>
              <a:tr h="454050">
                <a:tc>
                  <a:txBody>
                    <a:bodyPr/>
                    <a:lstStyle/>
                    <a:p>
                      <a:pPr algn="l">
                        <a:spcAft>
                          <a:spcPts val="0"/>
                        </a:spcAft>
                      </a:pPr>
                      <a:r>
                        <a:rPr lang="zh-CN" sz="2000" kern="0">
                          <a:solidFill>
                            <a:srgbClr val="000000"/>
                          </a:solidFill>
                          <a:effectLst/>
                          <a:latin typeface="Cambria"/>
                          <a:ea typeface="細明體"/>
                          <a:cs typeface="Arial"/>
                        </a:rPr>
                        <a:t>性别</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.004</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.003</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.010</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1.392</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.164</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.951</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dirty="0">
                          <a:solidFill>
                            <a:srgbClr val="000000"/>
                          </a:solidFill>
                          <a:effectLst/>
                          <a:latin typeface="細明體"/>
                          <a:ea typeface="宋体"/>
                          <a:cs typeface="Arial"/>
                        </a:rPr>
                        <a:t>1.051</a:t>
                      </a:r>
                      <a:endParaRPr lang="zh-CN" sz="2000" kern="100" dirty="0">
                        <a:effectLst/>
                        <a:latin typeface="Cambria"/>
                        <a:ea typeface="宋体"/>
                        <a:cs typeface="Times New Roman"/>
                      </a:endParaRPr>
                    </a:p>
                  </a:txBody>
                  <a:tcPr marL="68580" marR="68580" marT="0" marB="0"/>
                </a:tc>
              </a:tr>
              <a:tr h="746384">
                <a:tc>
                  <a:txBody>
                    <a:bodyPr/>
                    <a:lstStyle/>
                    <a:p>
                      <a:pPr algn="l">
                        <a:spcAft>
                          <a:spcPts val="0"/>
                        </a:spcAft>
                      </a:pPr>
                      <a:r>
                        <a:rPr lang="zh-CN" sz="2000" kern="0">
                          <a:solidFill>
                            <a:srgbClr val="000000"/>
                          </a:solidFill>
                          <a:effectLst/>
                          <a:latin typeface="Cambria"/>
                          <a:ea typeface="細明體"/>
                          <a:cs typeface="Arial"/>
                        </a:rPr>
                        <a:t>精神状态</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-.003</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.002</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-.014</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-1.912</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.056</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.946</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dirty="0">
                          <a:solidFill>
                            <a:srgbClr val="000000"/>
                          </a:solidFill>
                          <a:effectLst/>
                          <a:latin typeface="細明體"/>
                          <a:ea typeface="宋体"/>
                          <a:cs typeface="Arial"/>
                        </a:rPr>
                        <a:t>1.057</a:t>
                      </a:r>
                      <a:endParaRPr lang="zh-CN" sz="2000" kern="100" dirty="0">
                        <a:effectLst/>
                        <a:latin typeface="Cambria"/>
                        <a:ea typeface="宋体"/>
                        <a:cs typeface="Times New Roman"/>
                      </a:endParaRPr>
                    </a:p>
                  </a:txBody>
                  <a:tcPr marL="68580" marR="68580" marT="0" marB="0"/>
                </a:tc>
              </a:tr>
              <a:tr h="454050">
                <a:tc>
                  <a:txBody>
                    <a:bodyPr/>
                    <a:lstStyle/>
                    <a:p>
                      <a:pPr algn="l">
                        <a:spcAft>
                          <a:spcPts val="0"/>
                        </a:spcAft>
                      </a:pPr>
                      <a:r>
                        <a:rPr lang="zh-CN" sz="2000" kern="0">
                          <a:solidFill>
                            <a:srgbClr val="000000"/>
                          </a:solidFill>
                          <a:effectLst/>
                          <a:latin typeface="Cambria"/>
                          <a:ea typeface="細明體"/>
                          <a:cs typeface="Arial"/>
                        </a:rPr>
                        <a:t>学历</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.006</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.001</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.040</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4.433</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.000</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.600</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dirty="0">
                          <a:solidFill>
                            <a:srgbClr val="000000"/>
                          </a:solidFill>
                          <a:effectLst/>
                          <a:latin typeface="細明體"/>
                          <a:ea typeface="宋体"/>
                          <a:cs typeface="Arial"/>
                        </a:rPr>
                        <a:t>1.666</a:t>
                      </a:r>
                      <a:endParaRPr lang="zh-CN" sz="2000" kern="100" dirty="0">
                        <a:effectLst/>
                        <a:latin typeface="Cambria"/>
                        <a:ea typeface="宋体"/>
                        <a:cs typeface="Times New Roman"/>
                      </a:endParaRPr>
                    </a:p>
                  </a:txBody>
                  <a:tcPr marL="68580" marR="68580" marT="0" marB="0"/>
                </a:tc>
              </a:tr>
            </a:tbl>
          </a:graphicData>
        </a:graphic>
      </p:graphicFrame>
    </p:spTree>
    <p:extLst>
      <p:ext uri="{BB962C8B-B14F-4D97-AF65-F5344CB8AC3E}">
        <p14:creationId xmlns:p14="http://schemas.microsoft.com/office/powerpoint/2010/main" val="348419116"/>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dirty="0" smtClean="0">
                <a:latin typeface="黑体"/>
                <a:ea typeface="黑体"/>
                <a:cs typeface="黑体"/>
              </a:rPr>
              <a:t>（续前表）</a:t>
            </a:r>
            <a:endParaRPr kumimoji="1" lang="zh-CN" altLang="en-US" dirty="0">
              <a:latin typeface="黑体"/>
              <a:ea typeface="黑体"/>
              <a:cs typeface="黑体"/>
            </a:endParaRPr>
          </a:p>
        </p:txBody>
      </p:sp>
      <p:graphicFrame>
        <p:nvGraphicFramePr>
          <p:cNvPr id="4" name="内容占位符 3"/>
          <p:cNvGraphicFramePr>
            <a:graphicFrameLocks noGrp="1"/>
          </p:cNvGraphicFramePr>
          <p:nvPr>
            <p:ph idx="1"/>
            <p:extLst/>
          </p:nvPr>
        </p:nvGraphicFramePr>
        <p:xfrm>
          <a:off x="179512" y="836713"/>
          <a:ext cx="8784976" cy="5907305"/>
        </p:xfrm>
        <a:graphic>
          <a:graphicData uri="http://schemas.openxmlformats.org/drawingml/2006/table">
            <a:tbl>
              <a:tblPr firstRow="1" bandRow="1">
                <a:tableStyleId>{5C22544A-7EE6-4342-B048-85BDC9FD1C3A}</a:tableStyleId>
              </a:tblPr>
              <a:tblGrid>
                <a:gridCol w="1098122"/>
                <a:gridCol w="1098122"/>
                <a:gridCol w="1098122"/>
                <a:gridCol w="1098122"/>
                <a:gridCol w="1098122"/>
                <a:gridCol w="1098122"/>
                <a:gridCol w="1098122"/>
                <a:gridCol w="1098122"/>
              </a:tblGrid>
              <a:tr h="640937">
                <a:tc rowSpan="2">
                  <a:txBody>
                    <a:bodyPr/>
                    <a:lstStyle/>
                    <a:p>
                      <a:pPr marL="65405" algn="l">
                        <a:spcAft>
                          <a:spcPts val="0"/>
                        </a:spcAft>
                      </a:pPr>
                      <a:r>
                        <a:rPr lang="zh-CN" sz="2000" kern="0" dirty="0">
                          <a:solidFill>
                            <a:srgbClr val="000000"/>
                          </a:solidFill>
                          <a:effectLst/>
                          <a:latin typeface="Cambria"/>
                          <a:ea typeface="細明體"/>
                          <a:cs typeface="Arial"/>
                        </a:rPr>
                        <a:t>模型</a:t>
                      </a:r>
                      <a:endParaRPr lang="zh-CN" sz="2000" kern="100" dirty="0">
                        <a:effectLst/>
                        <a:latin typeface="Cambria"/>
                        <a:ea typeface="宋体"/>
                        <a:cs typeface="Times New Roman"/>
                      </a:endParaRPr>
                    </a:p>
                  </a:txBody>
                  <a:tcPr marL="68580" marR="68580" marT="0" marB="0" anchor="b"/>
                </a:tc>
                <a:tc gridSpan="2">
                  <a:txBody>
                    <a:bodyPr/>
                    <a:lstStyle/>
                    <a:p>
                      <a:pPr algn="ctr">
                        <a:spcAft>
                          <a:spcPts val="0"/>
                        </a:spcAft>
                      </a:pPr>
                      <a:r>
                        <a:rPr lang="zh-CN" sz="2000" kern="0" dirty="0">
                          <a:solidFill>
                            <a:srgbClr val="000000"/>
                          </a:solidFill>
                          <a:effectLst/>
                          <a:latin typeface="Cambria"/>
                          <a:ea typeface="細明體"/>
                          <a:cs typeface="Arial"/>
                        </a:rPr>
                        <a:t>非标准化系数</a:t>
                      </a:r>
                      <a:endParaRPr lang="zh-CN" sz="2000" kern="100" dirty="0">
                        <a:effectLst/>
                        <a:latin typeface="Cambria"/>
                        <a:ea typeface="宋体"/>
                        <a:cs typeface="Times New Roman"/>
                      </a:endParaRPr>
                    </a:p>
                  </a:txBody>
                  <a:tcPr marL="68580" marR="68580" marT="0" marB="0" anchor="b"/>
                </a:tc>
                <a:tc hMerge="1">
                  <a:txBody>
                    <a:bodyPr/>
                    <a:lstStyle/>
                    <a:p>
                      <a:endParaRPr lang="zh-CN" altLang="en-US"/>
                    </a:p>
                  </a:txBody>
                  <a:tcPr/>
                </a:tc>
                <a:tc>
                  <a:txBody>
                    <a:bodyPr/>
                    <a:lstStyle/>
                    <a:p>
                      <a:pPr algn="ctr">
                        <a:spcAft>
                          <a:spcPts val="0"/>
                        </a:spcAft>
                      </a:pPr>
                      <a:r>
                        <a:rPr lang="zh-CN" sz="2000" kern="0" dirty="0">
                          <a:solidFill>
                            <a:srgbClr val="000000"/>
                          </a:solidFill>
                          <a:effectLst/>
                          <a:latin typeface="Cambria"/>
                          <a:ea typeface="細明體"/>
                          <a:cs typeface="Arial"/>
                        </a:rPr>
                        <a:t>标准系数</a:t>
                      </a:r>
                      <a:endParaRPr lang="zh-CN" sz="2000" kern="100" dirty="0">
                        <a:effectLst/>
                        <a:latin typeface="Cambria"/>
                        <a:ea typeface="宋体"/>
                        <a:cs typeface="Times New Roman"/>
                      </a:endParaRPr>
                    </a:p>
                  </a:txBody>
                  <a:tcPr marL="68580" marR="68580" marT="0" marB="0" anchor="b"/>
                </a:tc>
                <a:tc rowSpan="2">
                  <a:txBody>
                    <a:bodyPr/>
                    <a:lstStyle/>
                    <a:p>
                      <a:pPr algn="ctr">
                        <a:spcAft>
                          <a:spcPts val="0"/>
                        </a:spcAft>
                      </a:pPr>
                      <a:r>
                        <a:rPr lang="en-US" sz="2000" kern="0" dirty="0">
                          <a:solidFill>
                            <a:srgbClr val="000000"/>
                          </a:solidFill>
                          <a:effectLst/>
                          <a:latin typeface="細明體"/>
                          <a:ea typeface="宋体"/>
                          <a:cs typeface="Arial"/>
                        </a:rPr>
                        <a:t>t</a:t>
                      </a:r>
                      <a:endParaRPr lang="zh-CN" sz="2000" kern="100" dirty="0">
                        <a:effectLst/>
                        <a:latin typeface="Cambria"/>
                        <a:ea typeface="宋体"/>
                        <a:cs typeface="Times New Roman"/>
                      </a:endParaRPr>
                    </a:p>
                  </a:txBody>
                  <a:tcPr marL="68580" marR="68580" marT="0" marB="0" anchor="b"/>
                </a:tc>
                <a:tc rowSpan="2">
                  <a:txBody>
                    <a:bodyPr/>
                    <a:lstStyle/>
                    <a:p>
                      <a:pPr algn="ctr">
                        <a:spcAft>
                          <a:spcPts val="0"/>
                        </a:spcAft>
                      </a:pPr>
                      <a:r>
                        <a:rPr lang="en-US" sz="2000" kern="0" dirty="0">
                          <a:solidFill>
                            <a:srgbClr val="000000"/>
                          </a:solidFill>
                          <a:effectLst/>
                          <a:latin typeface="細明體"/>
                          <a:ea typeface="宋体"/>
                          <a:cs typeface="Arial"/>
                        </a:rPr>
                        <a:t>Sig.</a:t>
                      </a:r>
                      <a:endParaRPr lang="zh-CN" sz="2000" kern="100" dirty="0">
                        <a:effectLst/>
                        <a:latin typeface="Cambria"/>
                        <a:ea typeface="宋体"/>
                        <a:cs typeface="Times New Roman"/>
                      </a:endParaRPr>
                    </a:p>
                  </a:txBody>
                  <a:tcPr marL="68580" marR="68580" marT="0" marB="0" anchor="b"/>
                </a:tc>
                <a:tc gridSpan="2">
                  <a:txBody>
                    <a:bodyPr/>
                    <a:lstStyle/>
                    <a:p>
                      <a:pPr algn="ctr">
                        <a:spcAft>
                          <a:spcPts val="0"/>
                        </a:spcAft>
                      </a:pPr>
                      <a:r>
                        <a:rPr lang="zh-CN" sz="2000" kern="0" dirty="0">
                          <a:solidFill>
                            <a:srgbClr val="000000"/>
                          </a:solidFill>
                          <a:effectLst/>
                          <a:latin typeface="Cambria"/>
                          <a:ea typeface="細明體"/>
                          <a:cs typeface="Arial"/>
                        </a:rPr>
                        <a:t>共线性统计量</a:t>
                      </a:r>
                      <a:endParaRPr lang="zh-CN" sz="2000" kern="100" dirty="0">
                        <a:effectLst/>
                        <a:latin typeface="Cambria"/>
                        <a:ea typeface="宋体"/>
                        <a:cs typeface="Times New Roman"/>
                      </a:endParaRPr>
                    </a:p>
                  </a:txBody>
                  <a:tcPr marL="68580" marR="68580" marT="0" marB="0" anchor="b"/>
                </a:tc>
                <a:tc hMerge="1">
                  <a:txBody>
                    <a:bodyPr/>
                    <a:lstStyle/>
                    <a:p>
                      <a:endParaRPr lang="zh-CN" altLang="en-US"/>
                    </a:p>
                  </a:txBody>
                  <a:tcPr/>
                </a:tc>
              </a:tr>
              <a:tr h="640937">
                <a:tc vMerge="1">
                  <a:txBody>
                    <a:bodyPr/>
                    <a:lstStyle/>
                    <a:p>
                      <a:endParaRPr lang="zh-CN" altLang="en-US"/>
                    </a:p>
                  </a:txBody>
                  <a:tcPr/>
                </a:tc>
                <a:tc>
                  <a:txBody>
                    <a:bodyPr/>
                    <a:lstStyle/>
                    <a:p>
                      <a:pPr algn="ctr">
                        <a:spcAft>
                          <a:spcPts val="0"/>
                        </a:spcAft>
                      </a:pPr>
                      <a:r>
                        <a:rPr lang="en-US" sz="2000" kern="0">
                          <a:solidFill>
                            <a:srgbClr val="000000"/>
                          </a:solidFill>
                          <a:effectLst/>
                          <a:latin typeface="細明體"/>
                          <a:ea typeface="宋体"/>
                          <a:cs typeface="Arial"/>
                        </a:rPr>
                        <a:t>B</a:t>
                      </a:r>
                      <a:endParaRPr lang="zh-CN" sz="2000" kern="100">
                        <a:effectLst/>
                        <a:latin typeface="Cambria"/>
                        <a:ea typeface="宋体"/>
                        <a:cs typeface="Times New Roman"/>
                      </a:endParaRPr>
                    </a:p>
                  </a:txBody>
                  <a:tcPr marL="68580" marR="68580" marT="0" marB="0" anchor="b"/>
                </a:tc>
                <a:tc>
                  <a:txBody>
                    <a:bodyPr/>
                    <a:lstStyle/>
                    <a:p>
                      <a:pPr algn="ctr">
                        <a:spcAft>
                          <a:spcPts val="0"/>
                        </a:spcAft>
                      </a:pPr>
                      <a:r>
                        <a:rPr lang="zh-CN" sz="2000" kern="0">
                          <a:solidFill>
                            <a:srgbClr val="000000"/>
                          </a:solidFill>
                          <a:effectLst/>
                          <a:latin typeface="Cambria"/>
                          <a:ea typeface="細明體"/>
                          <a:cs typeface="Arial"/>
                        </a:rPr>
                        <a:t>标准 误差</a:t>
                      </a:r>
                      <a:endParaRPr lang="zh-CN" sz="2000" kern="100">
                        <a:effectLst/>
                        <a:latin typeface="Cambria"/>
                        <a:ea typeface="宋体"/>
                        <a:cs typeface="Times New Roman"/>
                      </a:endParaRPr>
                    </a:p>
                  </a:txBody>
                  <a:tcPr marL="68580" marR="68580" marT="0" marB="0" anchor="b"/>
                </a:tc>
                <a:tc>
                  <a:txBody>
                    <a:bodyPr/>
                    <a:lstStyle/>
                    <a:p>
                      <a:pPr algn="ctr">
                        <a:spcAft>
                          <a:spcPts val="0"/>
                        </a:spcAft>
                      </a:pPr>
                      <a:r>
                        <a:rPr lang="zh-CN" sz="2000" kern="0">
                          <a:solidFill>
                            <a:srgbClr val="000000"/>
                          </a:solidFill>
                          <a:effectLst/>
                          <a:latin typeface="Cambria"/>
                          <a:ea typeface="細明體"/>
                          <a:cs typeface="Arial"/>
                        </a:rPr>
                        <a:t>试用版</a:t>
                      </a:r>
                      <a:endParaRPr lang="zh-CN" sz="2000" kern="100">
                        <a:effectLst/>
                        <a:latin typeface="Cambria"/>
                        <a:ea typeface="宋体"/>
                        <a:cs typeface="Times New Roman"/>
                      </a:endParaRPr>
                    </a:p>
                  </a:txBody>
                  <a:tcPr marL="68580" marR="68580" marT="0" marB="0" anchor="b"/>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zh-CN" sz="2000" kern="0" dirty="0">
                          <a:solidFill>
                            <a:srgbClr val="000000"/>
                          </a:solidFill>
                          <a:effectLst/>
                          <a:latin typeface="Cambria"/>
                          <a:ea typeface="細明體"/>
                          <a:cs typeface="Arial"/>
                        </a:rPr>
                        <a:t>容差</a:t>
                      </a:r>
                      <a:endParaRPr lang="zh-CN" sz="2000" kern="100" dirty="0">
                        <a:effectLst/>
                        <a:latin typeface="Cambria"/>
                        <a:ea typeface="宋体"/>
                        <a:cs typeface="Times New Roman"/>
                      </a:endParaRPr>
                    </a:p>
                  </a:txBody>
                  <a:tcPr marL="68580" marR="68580" marT="0" marB="0" anchor="b"/>
                </a:tc>
                <a:tc>
                  <a:txBody>
                    <a:bodyPr/>
                    <a:lstStyle/>
                    <a:p>
                      <a:pPr algn="ctr">
                        <a:spcAft>
                          <a:spcPts val="0"/>
                        </a:spcAft>
                      </a:pPr>
                      <a:r>
                        <a:rPr lang="en-US" sz="2000" kern="0">
                          <a:solidFill>
                            <a:srgbClr val="000000"/>
                          </a:solidFill>
                          <a:effectLst/>
                          <a:latin typeface="細明體"/>
                          <a:ea typeface="宋体"/>
                          <a:cs typeface="Arial"/>
                        </a:rPr>
                        <a:t>VIF</a:t>
                      </a:r>
                      <a:endParaRPr lang="zh-CN" sz="2000" kern="100">
                        <a:effectLst/>
                        <a:latin typeface="Cambria"/>
                        <a:ea typeface="宋体"/>
                        <a:cs typeface="Times New Roman"/>
                      </a:endParaRPr>
                    </a:p>
                  </a:txBody>
                  <a:tcPr marL="68580" marR="68580" marT="0" marB="0" anchor="b"/>
                </a:tc>
              </a:tr>
              <a:tr h="389904">
                <a:tc>
                  <a:txBody>
                    <a:bodyPr/>
                    <a:lstStyle/>
                    <a:p>
                      <a:pPr algn="l">
                        <a:spcAft>
                          <a:spcPts val="0"/>
                        </a:spcAft>
                      </a:pPr>
                      <a:r>
                        <a:rPr lang="zh-CN" sz="2000" kern="0">
                          <a:solidFill>
                            <a:srgbClr val="000000"/>
                          </a:solidFill>
                          <a:effectLst/>
                          <a:latin typeface="Cambria"/>
                          <a:ea typeface="細明體"/>
                          <a:cs typeface="Arial"/>
                        </a:rPr>
                        <a:t>户口</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.015</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.004</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.034</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4.001</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.000</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dirty="0">
                          <a:solidFill>
                            <a:srgbClr val="000000"/>
                          </a:solidFill>
                          <a:effectLst/>
                          <a:latin typeface="細明體"/>
                          <a:ea typeface="宋体"/>
                          <a:cs typeface="Arial"/>
                        </a:rPr>
                        <a:t>.682</a:t>
                      </a:r>
                      <a:endParaRPr lang="zh-CN" sz="2000" kern="100" dirty="0">
                        <a:effectLst/>
                        <a:latin typeface="Cambria"/>
                        <a:ea typeface="宋体"/>
                        <a:cs typeface="Times New Roman"/>
                      </a:endParaRPr>
                    </a:p>
                  </a:txBody>
                  <a:tcPr marL="68580" marR="68580" marT="0" marB="0"/>
                </a:tc>
                <a:tc>
                  <a:txBody>
                    <a:bodyPr/>
                    <a:lstStyle/>
                    <a:p>
                      <a:pPr algn="r">
                        <a:spcAft>
                          <a:spcPts val="0"/>
                        </a:spcAft>
                      </a:pPr>
                      <a:r>
                        <a:rPr lang="en-US" sz="2000" kern="0" dirty="0">
                          <a:solidFill>
                            <a:srgbClr val="000000"/>
                          </a:solidFill>
                          <a:effectLst/>
                          <a:latin typeface="細明體"/>
                          <a:ea typeface="宋体"/>
                          <a:cs typeface="Arial"/>
                        </a:rPr>
                        <a:t>1.466</a:t>
                      </a:r>
                      <a:endParaRPr lang="zh-CN" sz="2000" kern="100" dirty="0">
                        <a:effectLst/>
                        <a:latin typeface="Cambria"/>
                        <a:ea typeface="宋体"/>
                        <a:cs typeface="Times New Roman"/>
                      </a:endParaRPr>
                    </a:p>
                  </a:txBody>
                  <a:tcPr marL="68580" marR="68580" marT="0" marB="0"/>
                </a:tc>
              </a:tr>
              <a:tr h="640937">
                <a:tc>
                  <a:txBody>
                    <a:bodyPr/>
                    <a:lstStyle/>
                    <a:p>
                      <a:pPr algn="l">
                        <a:spcAft>
                          <a:spcPts val="0"/>
                        </a:spcAft>
                      </a:pPr>
                      <a:r>
                        <a:rPr lang="zh-CN" sz="2000" kern="0">
                          <a:solidFill>
                            <a:srgbClr val="000000"/>
                          </a:solidFill>
                          <a:effectLst/>
                          <a:latin typeface="Cambria"/>
                          <a:ea typeface="細明體"/>
                          <a:cs typeface="Arial"/>
                        </a:rPr>
                        <a:t>工作性质</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-.009</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.003</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-.024</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-2.691</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.007</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.624</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dirty="0">
                          <a:solidFill>
                            <a:srgbClr val="000000"/>
                          </a:solidFill>
                          <a:effectLst/>
                          <a:latin typeface="細明體"/>
                          <a:ea typeface="宋体"/>
                          <a:cs typeface="Arial"/>
                        </a:rPr>
                        <a:t>1.603</a:t>
                      </a:r>
                      <a:endParaRPr lang="zh-CN" sz="2000" kern="100" dirty="0">
                        <a:effectLst/>
                        <a:latin typeface="Cambria"/>
                        <a:ea typeface="宋体"/>
                        <a:cs typeface="Times New Roman"/>
                      </a:endParaRPr>
                    </a:p>
                  </a:txBody>
                  <a:tcPr marL="68580" marR="68580" marT="0" marB="0"/>
                </a:tc>
              </a:tr>
              <a:tr h="389904">
                <a:tc>
                  <a:txBody>
                    <a:bodyPr/>
                    <a:lstStyle/>
                    <a:p>
                      <a:pPr algn="l">
                        <a:spcAft>
                          <a:spcPts val="0"/>
                        </a:spcAft>
                      </a:pPr>
                      <a:r>
                        <a:rPr lang="zh-CN" sz="2000" kern="0">
                          <a:solidFill>
                            <a:srgbClr val="000000"/>
                          </a:solidFill>
                          <a:effectLst/>
                          <a:latin typeface="Cambria"/>
                          <a:ea typeface="細明體"/>
                          <a:cs typeface="Arial"/>
                        </a:rPr>
                        <a:t>地区</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-.005</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.002</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-.023</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-3.130</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.002</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.914</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dirty="0">
                          <a:solidFill>
                            <a:srgbClr val="000000"/>
                          </a:solidFill>
                          <a:effectLst/>
                          <a:latin typeface="細明體"/>
                          <a:ea typeface="宋体"/>
                          <a:cs typeface="Arial"/>
                        </a:rPr>
                        <a:t>1.094</a:t>
                      </a:r>
                      <a:endParaRPr lang="zh-CN" sz="2000" kern="100" dirty="0">
                        <a:effectLst/>
                        <a:latin typeface="Cambria"/>
                        <a:ea typeface="宋体"/>
                        <a:cs typeface="Times New Roman"/>
                      </a:endParaRPr>
                    </a:p>
                  </a:txBody>
                  <a:tcPr marL="68580" marR="68580" marT="0" marB="0"/>
                </a:tc>
              </a:tr>
              <a:tr h="640937">
                <a:tc>
                  <a:txBody>
                    <a:bodyPr/>
                    <a:lstStyle/>
                    <a:p>
                      <a:pPr algn="l">
                        <a:spcAft>
                          <a:spcPts val="0"/>
                        </a:spcAft>
                      </a:pPr>
                      <a:r>
                        <a:rPr lang="zh-CN" sz="2000" kern="0">
                          <a:solidFill>
                            <a:srgbClr val="000000"/>
                          </a:solidFill>
                          <a:effectLst/>
                          <a:latin typeface="Cambria"/>
                          <a:ea typeface="細明體"/>
                          <a:cs typeface="Arial"/>
                        </a:rPr>
                        <a:t>相对收入</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-.003</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.001</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-.017</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-2.436</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.015</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.972</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dirty="0">
                          <a:solidFill>
                            <a:srgbClr val="000000"/>
                          </a:solidFill>
                          <a:effectLst/>
                          <a:latin typeface="細明體"/>
                          <a:ea typeface="宋体"/>
                          <a:cs typeface="Arial"/>
                        </a:rPr>
                        <a:t>1.029</a:t>
                      </a:r>
                      <a:endParaRPr lang="zh-CN" sz="2000" kern="100" dirty="0">
                        <a:effectLst/>
                        <a:latin typeface="Cambria"/>
                        <a:ea typeface="宋体"/>
                        <a:cs typeface="Times New Roman"/>
                      </a:endParaRPr>
                    </a:p>
                  </a:txBody>
                  <a:tcPr marL="68580" marR="68580" marT="0" marB="0"/>
                </a:tc>
              </a:tr>
              <a:tr h="961406">
                <a:tc>
                  <a:txBody>
                    <a:bodyPr/>
                    <a:lstStyle/>
                    <a:p>
                      <a:pPr algn="l">
                        <a:spcAft>
                          <a:spcPts val="0"/>
                        </a:spcAft>
                      </a:pPr>
                      <a:r>
                        <a:rPr lang="zh-CN" sz="2000" kern="0">
                          <a:solidFill>
                            <a:srgbClr val="000000"/>
                          </a:solidFill>
                          <a:effectLst/>
                          <a:latin typeface="Cambria"/>
                          <a:ea typeface="細明體"/>
                          <a:cs typeface="Arial"/>
                        </a:rPr>
                        <a:t>对干部的信任度</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-.003</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.001</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-.036</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-4.951</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.000</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.905</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dirty="0">
                          <a:solidFill>
                            <a:srgbClr val="000000"/>
                          </a:solidFill>
                          <a:effectLst/>
                          <a:latin typeface="細明體"/>
                          <a:ea typeface="宋体"/>
                          <a:cs typeface="Arial"/>
                        </a:rPr>
                        <a:t>1.106</a:t>
                      </a:r>
                      <a:endParaRPr lang="zh-CN" sz="2000" kern="100" dirty="0">
                        <a:effectLst/>
                        <a:latin typeface="Cambria"/>
                        <a:ea typeface="宋体"/>
                        <a:cs typeface="Times New Roman"/>
                      </a:endParaRPr>
                    </a:p>
                  </a:txBody>
                  <a:tcPr marL="68580" marR="68580" marT="0" marB="0"/>
                </a:tc>
              </a:tr>
              <a:tr h="640937">
                <a:tc>
                  <a:txBody>
                    <a:bodyPr/>
                    <a:lstStyle/>
                    <a:p>
                      <a:pPr algn="l">
                        <a:spcAft>
                          <a:spcPts val="0"/>
                        </a:spcAft>
                      </a:pPr>
                      <a:r>
                        <a:rPr lang="zh-CN" sz="2000" kern="0">
                          <a:solidFill>
                            <a:srgbClr val="000000"/>
                          </a:solidFill>
                          <a:effectLst/>
                          <a:latin typeface="Cambria"/>
                          <a:ea typeface="細明體"/>
                          <a:cs typeface="Arial"/>
                        </a:rPr>
                        <a:t>贪腐暗数估计</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-.005</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.002</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-.019</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-2.643</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.008</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.962</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dirty="0">
                          <a:solidFill>
                            <a:srgbClr val="000000"/>
                          </a:solidFill>
                          <a:effectLst/>
                          <a:latin typeface="細明體"/>
                          <a:ea typeface="宋体"/>
                          <a:cs typeface="Arial"/>
                        </a:rPr>
                        <a:t>1.039</a:t>
                      </a:r>
                      <a:endParaRPr lang="zh-CN" sz="2000" kern="100" dirty="0">
                        <a:effectLst/>
                        <a:latin typeface="Cambria"/>
                        <a:ea typeface="宋体"/>
                        <a:cs typeface="Times New Roman"/>
                      </a:endParaRPr>
                    </a:p>
                  </a:txBody>
                  <a:tcPr marL="68580" marR="68580" marT="0" marB="0"/>
                </a:tc>
              </a:tr>
              <a:tr h="961406">
                <a:tc>
                  <a:txBody>
                    <a:bodyPr/>
                    <a:lstStyle/>
                    <a:p>
                      <a:pPr algn="l">
                        <a:spcAft>
                          <a:spcPts val="0"/>
                        </a:spcAft>
                      </a:pPr>
                      <a:r>
                        <a:rPr lang="zh-CN" sz="2000" kern="0">
                          <a:solidFill>
                            <a:srgbClr val="000000"/>
                          </a:solidFill>
                          <a:effectLst/>
                          <a:latin typeface="Cambria"/>
                          <a:ea typeface="細明體"/>
                          <a:cs typeface="Arial"/>
                        </a:rPr>
                        <a:t>社会保障满意度</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.004</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.001</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.055</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7.652</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.000</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a:solidFill>
                            <a:srgbClr val="000000"/>
                          </a:solidFill>
                          <a:effectLst/>
                          <a:latin typeface="細明體"/>
                          <a:ea typeface="宋体"/>
                          <a:cs typeface="Arial"/>
                        </a:rPr>
                        <a:t>.935</a:t>
                      </a:r>
                      <a:endParaRPr lang="zh-CN" sz="2000" kern="100">
                        <a:effectLst/>
                        <a:latin typeface="Cambria"/>
                        <a:ea typeface="宋体"/>
                        <a:cs typeface="Times New Roman"/>
                      </a:endParaRPr>
                    </a:p>
                  </a:txBody>
                  <a:tcPr marL="68580" marR="68580" marT="0" marB="0"/>
                </a:tc>
                <a:tc>
                  <a:txBody>
                    <a:bodyPr/>
                    <a:lstStyle/>
                    <a:p>
                      <a:pPr algn="r">
                        <a:spcAft>
                          <a:spcPts val="0"/>
                        </a:spcAft>
                      </a:pPr>
                      <a:r>
                        <a:rPr lang="en-US" sz="2000" kern="0" dirty="0">
                          <a:solidFill>
                            <a:srgbClr val="000000"/>
                          </a:solidFill>
                          <a:effectLst/>
                          <a:latin typeface="細明體"/>
                          <a:ea typeface="宋体"/>
                          <a:cs typeface="Arial"/>
                        </a:rPr>
                        <a:t>1.069</a:t>
                      </a:r>
                      <a:endParaRPr lang="zh-CN" sz="2000" kern="100" dirty="0">
                        <a:effectLst/>
                        <a:latin typeface="Cambria"/>
                        <a:ea typeface="宋体"/>
                        <a:cs typeface="Times New Roman"/>
                      </a:endParaRPr>
                    </a:p>
                  </a:txBody>
                  <a:tcPr marL="68580" marR="68580" marT="0" marB="0"/>
                </a:tc>
              </a:tr>
            </a:tbl>
          </a:graphicData>
        </a:graphic>
      </p:graphicFrame>
    </p:spTree>
    <p:extLst>
      <p:ext uri="{BB962C8B-B14F-4D97-AF65-F5344CB8AC3E}">
        <p14:creationId xmlns:p14="http://schemas.microsoft.com/office/powerpoint/2010/main" val="1839660890"/>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83568" y="188640"/>
            <a:ext cx="7170737" cy="492125"/>
          </a:xfrm>
        </p:spPr>
        <p:txBody>
          <a:bodyPr/>
          <a:lstStyle/>
          <a:p>
            <a:pPr algn="ctr"/>
            <a:r>
              <a:rPr kumimoji="1" lang="zh-CN" altLang="en-US" sz="3600" dirty="0" smtClean="0">
                <a:latin typeface="Lantinghei SC Demibold" charset="-122"/>
                <a:ea typeface="Lantinghei SC Demibold" charset="-122"/>
                <a:cs typeface="Lantinghei SC Demibold" charset="-122"/>
              </a:rPr>
              <a:t>刑法偏好另有原因</a:t>
            </a:r>
            <a:endParaRPr kumimoji="1" lang="zh-CN" altLang="en-US" sz="3600" dirty="0">
              <a:latin typeface="Lantinghei SC Demibold" charset="-122"/>
              <a:ea typeface="Lantinghei SC Demibold" charset="-122"/>
              <a:cs typeface="Lantinghei SC Demibold" charset="-122"/>
            </a:endParaRPr>
          </a:p>
        </p:txBody>
      </p:sp>
      <p:sp>
        <p:nvSpPr>
          <p:cNvPr id="3" name="内容占位符 2"/>
          <p:cNvSpPr>
            <a:spLocks noGrp="1"/>
          </p:cNvSpPr>
          <p:nvPr>
            <p:ph idx="1"/>
          </p:nvPr>
        </p:nvSpPr>
        <p:spPr>
          <a:xfrm>
            <a:off x="457200" y="764704"/>
            <a:ext cx="8229600" cy="5832648"/>
          </a:xfrm>
        </p:spPr>
        <p:txBody>
          <a:bodyPr/>
          <a:lstStyle/>
          <a:p>
            <a:r>
              <a:rPr lang="zh-CN" altLang="zh-CN" sz="2800" dirty="0" smtClean="0"/>
              <a:t>年龄</a:t>
            </a:r>
            <a:r>
              <a:rPr lang="zh-CN" altLang="zh-CN" sz="2800" dirty="0"/>
              <a:t>越大越偏</a:t>
            </a:r>
            <a:r>
              <a:rPr lang="zh-CN" altLang="zh-CN" sz="2800" dirty="0" smtClean="0"/>
              <a:t>好轻法，年龄</a:t>
            </a:r>
            <a:r>
              <a:rPr lang="zh-CN" altLang="zh-CN" sz="2800" dirty="0"/>
              <a:t>越小</a:t>
            </a:r>
            <a:r>
              <a:rPr lang="zh-CN" altLang="zh-CN" sz="2800" dirty="0" smtClean="0"/>
              <a:t>，偏好</a:t>
            </a:r>
            <a:r>
              <a:rPr lang="zh-CN" altLang="en-US" sz="2800" dirty="0" smtClean="0"/>
              <a:t>系数越大</a:t>
            </a:r>
            <a:r>
              <a:rPr lang="zh-CN" altLang="zh-CN" sz="2800" dirty="0" smtClean="0"/>
              <a:t>。</a:t>
            </a:r>
            <a:endParaRPr lang="zh-CN" altLang="en-US" sz="2800" dirty="0" smtClean="0"/>
          </a:p>
          <a:p>
            <a:r>
              <a:rPr lang="zh-CN" altLang="zh-CN" sz="2800" dirty="0" smtClean="0"/>
              <a:t>性别</a:t>
            </a:r>
            <a:r>
              <a:rPr lang="zh-CN" altLang="zh-CN" sz="2800" dirty="0"/>
              <a:t>与刑法偏好之间的确无关，</a:t>
            </a:r>
            <a:r>
              <a:rPr lang="en-US" altLang="zh-CN" sz="2800" dirty="0"/>
              <a:t>Sig</a:t>
            </a:r>
            <a:r>
              <a:rPr lang="zh-CN" altLang="zh-CN" sz="2800" dirty="0"/>
              <a:t>值大于</a:t>
            </a:r>
            <a:r>
              <a:rPr lang="en-US" altLang="zh-CN" sz="2800" dirty="0" smtClean="0"/>
              <a:t>0.05</a:t>
            </a:r>
            <a:r>
              <a:rPr lang="zh-CN" altLang="en-US" sz="2800" dirty="0" smtClean="0"/>
              <a:t>。</a:t>
            </a:r>
          </a:p>
          <a:p>
            <a:r>
              <a:rPr lang="zh-CN" altLang="zh-CN" sz="2800" dirty="0" smtClean="0"/>
              <a:t>精神状态</a:t>
            </a:r>
            <a:r>
              <a:rPr lang="zh-CN" altLang="en-US" sz="2800" dirty="0" smtClean="0"/>
              <a:t>：</a:t>
            </a:r>
            <a:r>
              <a:rPr lang="zh-CN" altLang="zh-CN" sz="2800" dirty="0" smtClean="0"/>
              <a:t>沮丧</a:t>
            </a:r>
            <a:r>
              <a:rPr lang="zh-CN" altLang="zh-CN" sz="2800" dirty="0"/>
              <a:t>感越强</a:t>
            </a:r>
            <a:r>
              <a:rPr lang="zh-CN" altLang="zh-CN" sz="2800" dirty="0" smtClean="0"/>
              <a:t>，越</a:t>
            </a:r>
            <a:r>
              <a:rPr lang="zh-CN" altLang="zh-CN" sz="2800" dirty="0"/>
              <a:t>可能偏好更重的刑法</a:t>
            </a:r>
            <a:r>
              <a:rPr lang="zh-CN" altLang="zh-CN" sz="2800" dirty="0" smtClean="0"/>
              <a:t>。</a:t>
            </a:r>
            <a:endParaRPr lang="zh-CN" altLang="en-US" sz="2800" dirty="0" smtClean="0"/>
          </a:p>
          <a:p>
            <a:r>
              <a:rPr lang="zh-CN" altLang="zh-CN" sz="2800" dirty="0" smtClean="0"/>
              <a:t>受</a:t>
            </a:r>
            <a:r>
              <a:rPr lang="zh-CN" altLang="zh-CN" sz="2800" dirty="0"/>
              <a:t>教育</a:t>
            </a:r>
            <a:r>
              <a:rPr lang="zh-CN" altLang="zh-CN" sz="2800" dirty="0" smtClean="0"/>
              <a:t>程度：</a:t>
            </a:r>
            <a:r>
              <a:rPr lang="zh-CN" altLang="zh-CN" sz="2800" dirty="0"/>
              <a:t>学历越高，则刑法偏好系数越高</a:t>
            </a:r>
            <a:r>
              <a:rPr lang="zh-CN" altLang="zh-CN" sz="2800" dirty="0" smtClean="0"/>
              <a:t>，并非</a:t>
            </a:r>
            <a:r>
              <a:rPr lang="zh-CN" altLang="zh-CN" sz="2800" dirty="0"/>
              <a:t>受教育越多则越偏好轻缓的刑法</a:t>
            </a:r>
            <a:r>
              <a:rPr lang="zh-CN" altLang="zh-CN" sz="2800" dirty="0" smtClean="0"/>
              <a:t>。</a:t>
            </a:r>
            <a:endParaRPr lang="zh-CN" altLang="en-US" sz="2800" dirty="0" smtClean="0"/>
          </a:p>
          <a:p>
            <a:r>
              <a:rPr lang="zh-CN" altLang="zh-CN" sz="2800" dirty="0" smtClean="0"/>
              <a:t>户口：</a:t>
            </a:r>
            <a:r>
              <a:rPr lang="zh-CN" altLang="zh-CN" sz="2800" dirty="0"/>
              <a:t>拥有城镇户口的人比拥有农业户口的人更偏好重法，农业户口的人相对更偏好轻法</a:t>
            </a:r>
            <a:r>
              <a:rPr lang="zh-CN" altLang="zh-CN" sz="2800" dirty="0" smtClean="0"/>
              <a:t>。</a:t>
            </a:r>
            <a:endParaRPr lang="zh-CN" altLang="en-US" sz="2800" dirty="0" smtClean="0"/>
          </a:p>
          <a:p>
            <a:r>
              <a:rPr lang="zh-CN" altLang="zh-CN" sz="2800" dirty="0" smtClean="0"/>
              <a:t>从事</a:t>
            </a:r>
            <a:r>
              <a:rPr lang="zh-CN" altLang="zh-CN" sz="2800" dirty="0"/>
              <a:t>非农业工作的人比从事农业工作的人偏好重法，从事农业工作的人相对更偏好轻法</a:t>
            </a:r>
            <a:r>
              <a:rPr lang="zh-CN" altLang="zh-CN" sz="2800" dirty="0" smtClean="0"/>
              <a:t>。</a:t>
            </a:r>
            <a:endParaRPr lang="zh-CN" altLang="en-US" sz="2800" dirty="0" smtClean="0"/>
          </a:p>
          <a:p>
            <a:r>
              <a:rPr lang="zh-CN" altLang="zh-CN" sz="2800" dirty="0" smtClean="0"/>
              <a:t>越</a:t>
            </a:r>
            <a:r>
              <a:rPr lang="zh-CN" altLang="zh-CN" sz="2800" dirty="0"/>
              <a:t>接近</a:t>
            </a:r>
            <a:r>
              <a:rPr lang="zh-CN" altLang="zh-CN" sz="2800" dirty="0" smtClean="0"/>
              <a:t>东部越</a:t>
            </a:r>
            <a:r>
              <a:rPr lang="zh-CN" altLang="zh-CN" sz="2800" dirty="0"/>
              <a:t>可能偏好重法</a:t>
            </a:r>
            <a:r>
              <a:rPr lang="zh-CN" altLang="zh-CN" sz="2800" dirty="0" smtClean="0"/>
              <a:t>，西部越偏好</a:t>
            </a:r>
            <a:r>
              <a:rPr lang="zh-CN" altLang="zh-CN" sz="2800" dirty="0"/>
              <a:t>轻法</a:t>
            </a:r>
            <a:r>
              <a:rPr lang="zh-CN" altLang="zh-CN" sz="2800" dirty="0" smtClean="0"/>
              <a:t>。</a:t>
            </a:r>
            <a:endParaRPr lang="zh-CN" altLang="en-US" sz="2800" dirty="0" smtClean="0"/>
          </a:p>
          <a:p>
            <a:r>
              <a:rPr lang="zh-CN" altLang="zh-CN" sz="2800" dirty="0" smtClean="0"/>
              <a:t>自</a:t>
            </a:r>
            <a:r>
              <a:rPr lang="zh-CN" altLang="zh-CN" sz="2800" dirty="0"/>
              <a:t>认为在本地收入越低者，越可能偏好重法，相对收入越高者，越可能偏好轻法</a:t>
            </a:r>
            <a:r>
              <a:rPr lang="zh-CN" altLang="zh-CN" sz="2800" dirty="0" smtClean="0"/>
              <a:t>。</a:t>
            </a:r>
            <a:endParaRPr lang="zh-CN" altLang="zh-CN" sz="2800" dirty="0"/>
          </a:p>
        </p:txBody>
      </p:sp>
    </p:spTree>
    <p:extLst>
      <p:ext uri="{BB962C8B-B14F-4D97-AF65-F5344CB8AC3E}">
        <p14:creationId xmlns:p14="http://schemas.microsoft.com/office/powerpoint/2010/main" val="1708522369"/>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332656"/>
            <a:ext cx="7170737" cy="492125"/>
          </a:xfrm>
        </p:spPr>
        <p:txBody>
          <a:bodyPr/>
          <a:lstStyle/>
          <a:p>
            <a:pPr algn="ctr"/>
            <a:r>
              <a:rPr kumimoji="1" lang="zh-CN" altLang="en-US" sz="3600" dirty="0">
                <a:latin typeface="Lantinghei SC Demibold" charset="-122"/>
                <a:ea typeface="Lantinghei SC Demibold" charset="-122"/>
                <a:cs typeface="Lantinghei SC Demibold" charset="-122"/>
              </a:rPr>
              <a:t>刑法偏好另有原因</a:t>
            </a:r>
            <a:endParaRPr kumimoji="1" lang="zh-CN" altLang="en-US" sz="3600" dirty="0"/>
          </a:p>
        </p:txBody>
      </p:sp>
      <p:sp>
        <p:nvSpPr>
          <p:cNvPr id="3" name="内容占位符 2"/>
          <p:cNvSpPr>
            <a:spLocks noGrp="1"/>
          </p:cNvSpPr>
          <p:nvPr>
            <p:ph idx="1"/>
          </p:nvPr>
        </p:nvSpPr>
        <p:spPr>
          <a:xfrm>
            <a:off x="457200" y="1125538"/>
            <a:ext cx="8229600" cy="5543822"/>
          </a:xfrm>
        </p:spPr>
        <p:txBody>
          <a:bodyPr/>
          <a:lstStyle/>
          <a:p>
            <a:r>
              <a:rPr lang="zh-CN" altLang="zh-CN" sz="2800" dirty="0"/>
              <a:t>对身边干部的</a:t>
            </a:r>
            <a:r>
              <a:rPr lang="zh-CN" altLang="zh-CN" sz="2800" dirty="0" smtClean="0"/>
              <a:t>信任度越</a:t>
            </a:r>
            <a:r>
              <a:rPr lang="zh-CN" altLang="zh-CN" sz="2800" dirty="0"/>
              <a:t>低，则刑法偏好系数越高，反之，对干部的信任度越高，越偏好轻法</a:t>
            </a:r>
            <a:r>
              <a:rPr lang="zh-CN" altLang="zh-CN" sz="2800" dirty="0" smtClean="0"/>
              <a:t>。</a:t>
            </a:r>
            <a:endParaRPr lang="zh-CN" altLang="en-US" sz="2800" dirty="0" smtClean="0"/>
          </a:p>
          <a:p>
            <a:r>
              <a:rPr lang="zh-CN" altLang="zh-CN" sz="2800" dirty="0" smtClean="0"/>
              <a:t>贪腐</a:t>
            </a:r>
            <a:r>
              <a:rPr lang="zh-CN" altLang="zh-CN" sz="2800" dirty="0"/>
              <a:t>暗数</a:t>
            </a:r>
            <a:r>
              <a:rPr lang="zh-CN" altLang="zh-CN" sz="2800" dirty="0" smtClean="0"/>
              <a:t>估计：</a:t>
            </a:r>
            <a:r>
              <a:rPr lang="zh-CN" altLang="zh-CN" sz="2800" dirty="0"/>
              <a:t>对贪腐暗数估计越高，即认为未被发现查处的贪腐现象实际规模越大，越可能偏好重法，反之，越是认为贪腐现象的实际规模有限，对反贪效果越乐观，越可能偏好轻法</a:t>
            </a:r>
            <a:r>
              <a:rPr lang="zh-CN" altLang="zh-CN" sz="2800" dirty="0" smtClean="0"/>
              <a:t>。</a:t>
            </a:r>
            <a:endParaRPr lang="zh-CN" altLang="en-US" sz="2800" dirty="0" smtClean="0"/>
          </a:p>
          <a:p>
            <a:r>
              <a:rPr lang="zh-CN" altLang="zh-CN" sz="2800" dirty="0" smtClean="0"/>
              <a:t>社会保障：</a:t>
            </a:r>
            <a:r>
              <a:rPr lang="zh-CN" altLang="zh-CN" sz="2800" dirty="0"/>
              <a:t>认为社会保障越差，越可能偏好重法，对社会保障满意度越高，越可能偏好轻法</a:t>
            </a:r>
            <a:r>
              <a:rPr lang="zh-CN" altLang="zh-CN" sz="2800" dirty="0" smtClean="0"/>
              <a:t>。</a:t>
            </a:r>
            <a:endParaRPr lang="zh-CN" altLang="en-US" sz="2800" dirty="0" smtClean="0"/>
          </a:p>
          <a:p>
            <a:r>
              <a:rPr lang="zh-CN" altLang="zh-CN" sz="2800" b="1" dirty="0" smtClean="0"/>
              <a:t>可见</a:t>
            </a:r>
            <a:r>
              <a:rPr lang="zh-CN" altLang="zh-CN" sz="2800" b="1" dirty="0"/>
              <a:t>，尽管逻辑上人们应该出于对犯罪的恐惧而求助于严刑重法，但事实上对公权力行使的不满更可能导致偏好重法。 </a:t>
            </a:r>
            <a:endParaRPr kumimoji="1" lang="zh-CN" altLang="en-US" sz="2800" b="1" dirty="0"/>
          </a:p>
        </p:txBody>
      </p:sp>
    </p:spTree>
    <p:extLst>
      <p:ext uri="{BB962C8B-B14F-4D97-AF65-F5344CB8AC3E}">
        <p14:creationId xmlns:p14="http://schemas.microsoft.com/office/powerpoint/2010/main" val="1131611746"/>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发现简述</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r>
              <a:rPr lang="zh-CN" altLang="zh-CN" sz="2800" b="1" dirty="0">
                <a:latin typeface="楷体"/>
                <a:ea typeface="楷体"/>
                <a:cs typeface="楷体"/>
              </a:rPr>
              <a:t>（一）中国民众的刑法偏好系数低于</a:t>
            </a:r>
            <a:r>
              <a:rPr lang="en-US" altLang="zh-CN" sz="2800" b="1" dirty="0">
                <a:latin typeface="楷体"/>
                <a:ea typeface="楷体"/>
                <a:cs typeface="楷体"/>
              </a:rPr>
              <a:t>0</a:t>
            </a:r>
            <a:r>
              <a:rPr lang="zh-CN" altLang="zh-CN" sz="2800" b="1" dirty="0">
                <a:latin typeface="楷体"/>
                <a:ea typeface="楷体"/>
                <a:cs typeface="楷体"/>
              </a:rPr>
              <a:t>到</a:t>
            </a:r>
            <a:r>
              <a:rPr lang="en-US" altLang="zh-CN" sz="2800" b="1" dirty="0">
                <a:latin typeface="楷体"/>
                <a:ea typeface="楷体"/>
                <a:cs typeface="楷体"/>
              </a:rPr>
              <a:t>1</a:t>
            </a:r>
            <a:r>
              <a:rPr lang="zh-CN" altLang="zh-CN" sz="2800" b="1" dirty="0">
                <a:latin typeface="楷体"/>
                <a:ea typeface="楷体"/>
                <a:cs typeface="楷体"/>
              </a:rPr>
              <a:t>之间的中间线，为</a:t>
            </a:r>
            <a:r>
              <a:rPr lang="en-US" altLang="zh-CN" sz="2800" b="1" dirty="0">
                <a:latin typeface="楷体"/>
                <a:ea typeface="楷体"/>
                <a:cs typeface="楷体"/>
              </a:rPr>
              <a:t>0.36</a:t>
            </a:r>
            <a:r>
              <a:rPr lang="zh-CN" altLang="en-US" sz="2800" b="1" dirty="0">
                <a:latin typeface="楷体"/>
                <a:ea typeface="楷体"/>
                <a:cs typeface="楷体"/>
              </a:rPr>
              <a:t>，</a:t>
            </a:r>
            <a:r>
              <a:rPr lang="zh-CN" altLang="zh-CN" sz="2800" b="1" dirty="0">
                <a:latin typeface="楷体"/>
                <a:ea typeface="楷体"/>
                <a:cs typeface="楷体"/>
              </a:rPr>
              <a:t>说明大样本研究的证据并不支持中国民众普遍偏好重法的说法 </a:t>
            </a:r>
            <a:r>
              <a:rPr lang="zh-CN" altLang="zh-CN" sz="2800" b="1" dirty="0" smtClean="0">
                <a:latin typeface="楷体"/>
                <a:ea typeface="楷体"/>
                <a:cs typeface="楷体"/>
              </a:rPr>
              <a:t>；</a:t>
            </a:r>
            <a:endParaRPr lang="en-US" altLang="zh-CN" sz="2800" b="1" dirty="0" smtClean="0">
              <a:latin typeface="楷体"/>
              <a:ea typeface="楷体"/>
              <a:cs typeface="楷体"/>
            </a:endParaRPr>
          </a:p>
          <a:p>
            <a:r>
              <a:rPr lang="zh-CN" altLang="zh-CN" sz="2800" b="1" dirty="0" smtClean="0">
                <a:latin typeface="楷体"/>
                <a:ea typeface="楷体"/>
                <a:cs typeface="楷体"/>
              </a:rPr>
              <a:t>（</a:t>
            </a:r>
            <a:r>
              <a:rPr lang="zh-CN" altLang="zh-CN" sz="2800" b="1" dirty="0">
                <a:latin typeface="楷体"/>
                <a:ea typeface="楷体"/>
                <a:cs typeface="楷体"/>
              </a:rPr>
              <a:t>二）有无传统犯罪的被害遭遇，对刑法偏好的轻重并无显著影响</a:t>
            </a:r>
            <a:r>
              <a:rPr lang="zh-CN" altLang="zh-CN" sz="2800" b="1" dirty="0" smtClean="0">
                <a:latin typeface="楷体"/>
                <a:ea typeface="楷体"/>
                <a:cs typeface="楷体"/>
              </a:rPr>
              <a:t>；</a:t>
            </a:r>
            <a:endParaRPr lang="en-US" altLang="zh-CN" sz="2800" b="1" dirty="0" smtClean="0">
              <a:latin typeface="楷体"/>
              <a:ea typeface="楷体"/>
              <a:cs typeface="楷体"/>
            </a:endParaRPr>
          </a:p>
          <a:p>
            <a:r>
              <a:rPr lang="zh-CN" altLang="zh-CN" sz="2800" b="1" dirty="0" smtClean="0">
                <a:latin typeface="楷体"/>
                <a:ea typeface="楷体"/>
                <a:cs typeface="楷体"/>
              </a:rPr>
              <a:t>（</a:t>
            </a:r>
            <a:r>
              <a:rPr lang="zh-CN" altLang="zh-CN" sz="2800" b="1" dirty="0">
                <a:latin typeface="楷体"/>
                <a:ea typeface="楷体"/>
                <a:cs typeface="楷体"/>
              </a:rPr>
              <a:t>三</a:t>
            </a:r>
            <a:r>
              <a:rPr lang="zh-CN" altLang="zh-CN" sz="2800" b="1" dirty="0" smtClean="0">
                <a:latin typeface="楷体"/>
                <a:ea typeface="楷体"/>
                <a:cs typeface="楷体"/>
              </a:rPr>
              <a:t>）</a:t>
            </a:r>
            <a:r>
              <a:rPr lang="zh-CN" altLang="zh-CN" sz="2800" b="1" dirty="0">
                <a:latin typeface="楷体"/>
                <a:ea typeface="楷体"/>
                <a:cs typeface="楷体"/>
              </a:rPr>
              <a:t>对中国民众</a:t>
            </a:r>
            <a:r>
              <a:rPr lang="zh-CN" altLang="zh-CN" sz="2800" b="1" dirty="0" smtClean="0">
                <a:latin typeface="楷体"/>
                <a:ea typeface="楷体"/>
                <a:cs typeface="楷体"/>
              </a:rPr>
              <a:t>的刑法偏好</a:t>
            </a:r>
            <a:r>
              <a:rPr lang="zh-CN" altLang="en-US" sz="2800" b="1" dirty="0" smtClean="0">
                <a:latin typeface="楷体"/>
                <a:ea typeface="楷体"/>
                <a:cs typeface="楷体"/>
              </a:rPr>
              <a:t>构成显著</a:t>
            </a:r>
            <a:r>
              <a:rPr lang="zh-CN" altLang="zh-CN" sz="2800" b="1" dirty="0" smtClean="0">
                <a:latin typeface="楷体"/>
                <a:ea typeface="楷体"/>
                <a:cs typeface="楷体"/>
              </a:rPr>
              <a:t>影响</a:t>
            </a:r>
            <a:r>
              <a:rPr lang="zh-CN" altLang="en-US" sz="2800" b="1" dirty="0" smtClean="0">
                <a:latin typeface="楷体"/>
                <a:ea typeface="楷体"/>
                <a:cs typeface="楷体"/>
              </a:rPr>
              <a:t>的是</a:t>
            </a:r>
            <a:r>
              <a:rPr lang="zh-CN" altLang="zh-CN" sz="2800" b="1" dirty="0" smtClean="0">
                <a:latin typeface="楷体"/>
                <a:ea typeface="楷体"/>
                <a:cs typeface="楷体"/>
              </a:rPr>
              <a:t>个人</a:t>
            </a:r>
            <a:r>
              <a:rPr lang="zh-CN" altLang="zh-CN" sz="2800" b="1" dirty="0">
                <a:latin typeface="楷体"/>
                <a:ea typeface="楷体"/>
                <a:cs typeface="楷体"/>
              </a:rPr>
              <a:t>、社会因素以及公权力行使的满</a:t>
            </a:r>
            <a:r>
              <a:rPr lang="zh-CN" altLang="zh-CN" sz="2800" b="1" dirty="0" smtClean="0">
                <a:latin typeface="楷体"/>
                <a:ea typeface="楷体"/>
                <a:cs typeface="楷体"/>
              </a:rPr>
              <a:t>意度</a:t>
            </a:r>
            <a:r>
              <a:rPr lang="zh-CN" altLang="en-US" sz="2800" b="1" dirty="0" smtClean="0">
                <a:latin typeface="楷体"/>
                <a:ea typeface="楷体"/>
                <a:cs typeface="楷体"/>
              </a:rPr>
              <a:t>因素</a:t>
            </a:r>
            <a:r>
              <a:rPr lang="zh-CN" altLang="zh-CN" sz="2800" b="1" dirty="0" smtClean="0">
                <a:latin typeface="楷体"/>
                <a:ea typeface="楷体"/>
                <a:cs typeface="楷体"/>
              </a:rPr>
              <a:t>。 </a:t>
            </a:r>
            <a:endParaRPr kumimoji="1" lang="zh-CN" altLang="en-US" sz="2800" b="1" dirty="0">
              <a:latin typeface="楷体"/>
              <a:ea typeface="楷体"/>
              <a:cs typeface="楷体"/>
            </a:endParaRPr>
          </a:p>
        </p:txBody>
      </p:sp>
    </p:spTree>
    <p:extLst>
      <p:ext uri="{BB962C8B-B14F-4D97-AF65-F5344CB8AC3E}">
        <p14:creationId xmlns:p14="http://schemas.microsoft.com/office/powerpoint/2010/main" val="1858512371"/>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讨论</a:t>
            </a:r>
            <a:endParaRPr kumimoji="1" lang="zh-CN" altLang="en-US" sz="3600" dirty="0">
              <a:latin typeface="黑体"/>
              <a:ea typeface="黑体"/>
              <a:cs typeface="黑体"/>
            </a:endParaRPr>
          </a:p>
        </p:txBody>
      </p:sp>
      <p:sp>
        <p:nvSpPr>
          <p:cNvPr id="3" name="内容占位符 2"/>
          <p:cNvSpPr>
            <a:spLocks noGrp="1"/>
          </p:cNvSpPr>
          <p:nvPr>
            <p:ph idx="1"/>
          </p:nvPr>
        </p:nvSpPr>
        <p:spPr>
          <a:xfrm>
            <a:off x="395536" y="836712"/>
            <a:ext cx="8229600" cy="5688632"/>
          </a:xfrm>
        </p:spPr>
        <p:txBody>
          <a:bodyPr/>
          <a:lstStyle/>
          <a:p>
            <a:r>
              <a:rPr kumimoji="1" lang="zh-CN" altLang="en-US" sz="2800" dirty="0" smtClean="0">
                <a:latin typeface="宋体"/>
                <a:ea typeface="宋体"/>
                <a:cs typeface="宋体"/>
              </a:rPr>
              <a:t>犯罪定义学的基本问题：对象还是主体</a:t>
            </a:r>
            <a:endParaRPr kumimoji="1" lang="en-US" altLang="zh-CN" sz="2800" dirty="0" smtClean="0">
              <a:latin typeface="宋体"/>
              <a:ea typeface="宋体"/>
              <a:cs typeface="宋体"/>
            </a:endParaRPr>
          </a:p>
          <a:p>
            <a:r>
              <a:rPr lang="zh-CN" altLang="zh-CN" sz="2800" dirty="0" smtClean="0">
                <a:latin typeface="宋体"/>
                <a:ea typeface="宋体"/>
                <a:cs typeface="宋体"/>
              </a:rPr>
              <a:t>刑法偏好</a:t>
            </a:r>
            <a:r>
              <a:rPr lang="zh-CN" altLang="en-US" sz="2800" dirty="0" smtClean="0">
                <a:latin typeface="宋体"/>
                <a:ea typeface="宋体"/>
                <a:cs typeface="宋体"/>
              </a:rPr>
              <a:t>是影子定义，其</a:t>
            </a:r>
            <a:r>
              <a:rPr lang="zh-CN" altLang="zh-CN" sz="2800" dirty="0" smtClean="0">
                <a:latin typeface="宋体"/>
                <a:ea typeface="宋体"/>
                <a:cs typeface="宋体"/>
              </a:rPr>
              <a:t>问题</a:t>
            </a:r>
            <a:r>
              <a:rPr lang="zh-CN" altLang="en-US" sz="2800" dirty="0" smtClean="0">
                <a:latin typeface="宋体"/>
                <a:ea typeface="宋体"/>
                <a:cs typeface="宋体"/>
              </a:rPr>
              <a:t>便</a:t>
            </a:r>
            <a:r>
              <a:rPr lang="zh-CN" altLang="zh-CN" sz="2800" dirty="0" smtClean="0">
                <a:latin typeface="宋体"/>
                <a:ea typeface="宋体"/>
                <a:cs typeface="宋体"/>
              </a:rPr>
              <a:t>是</a:t>
            </a:r>
            <a:r>
              <a:rPr lang="zh-CN" altLang="zh-CN" sz="2800" dirty="0">
                <a:latin typeface="宋体"/>
                <a:ea typeface="宋体"/>
                <a:cs typeface="宋体"/>
              </a:rPr>
              <a:t>，影响民众偏好重法还是轻刑的主要因素，到底</a:t>
            </a:r>
            <a:r>
              <a:rPr lang="zh-CN" altLang="zh-CN" sz="2800" dirty="0" smtClean="0">
                <a:latin typeface="宋体"/>
                <a:ea typeface="宋体"/>
                <a:cs typeface="宋体"/>
              </a:rPr>
              <a:t>是犯罪行为</a:t>
            </a:r>
            <a:r>
              <a:rPr lang="zh-CN" altLang="en-US" sz="2800" dirty="0" smtClean="0">
                <a:latin typeface="宋体"/>
                <a:ea typeface="宋体"/>
                <a:cs typeface="宋体"/>
              </a:rPr>
              <a:t>本身</a:t>
            </a:r>
            <a:r>
              <a:rPr lang="zh-CN" altLang="zh-CN" sz="2800" dirty="0" smtClean="0">
                <a:latin typeface="宋体"/>
                <a:ea typeface="宋体"/>
                <a:cs typeface="宋体"/>
              </a:rPr>
              <a:t>，</a:t>
            </a:r>
            <a:r>
              <a:rPr lang="zh-CN" altLang="zh-CN" sz="2800" dirty="0">
                <a:latin typeface="宋体"/>
                <a:ea typeface="宋体"/>
                <a:cs typeface="宋体"/>
              </a:rPr>
              <a:t>还是民众自身的某些属性</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本研究为主体理论</a:t>
            </a:r>
            <a:r>
              <a:rPr lang="zh-CN" altLang="zh-CN" sz="2800" dirty="0">
                <a:latin typeface="宋体"/>
                <a:ea typeface="宋体"/>
                <a:cs typeface="宋体"/>
              </a:rPr>
              <a:t>提供了新证据：</a:t>
            </a:r>
            <a:r>
              <a:rPr lang="zh-CN" altLang="zh-CN" sz="2800" dirty="0" smtClean="0">
                <a:latin typeface="宋体"/>
                <a:ea typeface="宋体"/>
                <a:cs typeface="宋体"/>
              </a:rPr>
              <a:t>刑法偏好未见</a:t>
            </a:r>
            <a:r>
              <a:rPr lang="zh-CN" altLang="zh-CN" sz="2800" dirty="0">
                <a:latin typeface="宋体"/>
                <a:ea typeface="宋体"/>
                <a:cs typeface="宋体"/>
              </a:rPr>
              <a:t>犯罪本身的显著影响，反而在很大程度上受个人、社会因素以及公权力满意度等因素的显著影响</a:t>
            </a:r>
            <a:r>
              <a:rPr lang="zh-CN" altLang="zh-CN" sz="2800" dirty="0" smtClean="0">
                <a:latin typeface="宋体"/>
                <a:ea typeface="宋体"/>
                <a:cs typeface="宋体"/>
              </a:rPr>
              <a:t>，是一种</a:t>
            </a:r>
            <a:r>
              <a:rPr lang="zh-CN" altLang="zh-CN" sz="2800" dirty="0">
                <a:latin typeface="宋体"/>
                <a:ea typeface="宋体"/>
                <a:cs typeface="宋体"/>
              </a:rPr>
              <a:t>主体性的流露和彰显。 </a:t>
            </a:r>
            <a:endParaRPr lang="en-US" altLang="zh-CN" sz="2800" dirty="0">
              <a:latin typeface="宋体"/>
              <a:ea typeface="宋体"/>
              <a:cs typeface="宋体"/>
            </a:endParaRPr>
          </a:p>
          <a:p>
            <a:r>
              <a:rPr lang="zh-CN" altLang="en-US" sz="2800" dirty="0" smtClean="0">
                <a:latin typeface="宋体"/>
                <a:ea typeface="宋体"/>
                <a:cs typeface="宋体"/>
              </a:rPr>
              <a:t>刑法已不再是</a:t>
            </a:r>
            <a:r>
              <a:rPr lang="zh-CN" altLang="en-US" sz="2800" dirty="0" smtClean="0">
                <a:solidFill>
                  <a:srgbClr val="FF0000"/>
                </a:solidFill>
                <a:latin typeface="黑体"/>
                <a:ea typeface="黑体"/>
                <a:cs typeface="黑体"/>
              </a:rPr>
              <a:t>关于</a:t>
            </a:r>
            <a:r>
              <a:rPr lang="zh-CN" altLang="en-US" sz="2800" dirty="0">
                <a:solidFill>
                  <a:srgbClr val="FF0000"/>
                </a:solidFill>
                <a:latin typeface="黑体"/>
                <a:ea typeface="黑体"/>
                <a:cs typeface="黑体"/>
              </a:rPr>
              <a:t>犯罪的</a:t>
            </a:r>
            <a:r>
              <a:rPr lang="zh-CN" altLang="en-US" sz="2800" dirty="0">
                <a:latin typeface="宋体"/>
                <a:ea typeface="宋体"/>
                <a:cs typeface="宋体"/>
              </a:rPr>
              <a:t>“集体愤怒”的工具，</a:t>
            </a:r>
            <a:r>
              <a:rPr lang="zh-CN" altLang="en-US" sz="2800" dirty="0" smtClean="0">
                <a:latin typeface="宋体"/>
                <a:ea typeface="宋体"/>
                <a:cs typeface="宋体"/>
              </a:rPr>
              <a:t>犯罪本身也未必是惩戒资源</a:t>
            </a:r>
            <a:r>
              <a:rPr kumimoji="1" lang="zh-CN" altLang="en-US" sz="2800" dirty="0" smtClean="0">
                <a:latin typeface="宋体"/>
                <a:ea typeface="宋体"/>
                <a:cs typeface="宋体"/>
              </a:rPr>
              <a:t>投入的主要理由</a:t>
            </a:r>
            <a:r>
              <a:rPr kumimoji="1" lang="en-US" altLang="zh-CN" sz="2800" dirty="0" smtClean="0">
                <a:latin typeface="宋体"/>
                <a:ea typeface="宋体"/>
                <a:cs typeface="宋体"/>
              </a:rPr>
              <a:t>——</a:t>
            </a:r>
            <a:r>
              <a:rPr kumimoji="1" lang="zh-CN" altLang="en-US" sz="2800" dirty="0" smtClean="0">
                <a:latin typeface="宋体"/>
                <a:ea typeface="宋体"/>
                <a:cs typeface="宋体"/>
              </a:rPr>
              <a:t>刑法的</a:t>
            </a:r>
            <a:r>
              <a:rPr lang="zh-CN" altLang="en-US" sz="2800" dirty="0" smtClean="0">
                <a:latin typeface="宋体"/>
                <a:ea typeface="宋体"/>
                <a:cs typeface="宋体"/>
              </a:rPr>
              <a:t>报应功能（期待）正在悄悄减弱。</a:t>
            </a:r>
            <a:endParaRPr lang="en-US" altLang="zh-CN" sz="2800" dirty="0">
              <a:latin typeface="宋体"/>
              <a:ea typeface="宋体"/>
              <a:cs typeface="宋体"/>
            </a:endParaRPr>
          </a:p>
          <a:p>
            <a:r>
              <a:rPr kumimoji="1" lang="en-US" altLang="zh-CN" sz="2800" dirty="0" smtClean="0">
                <a:latin typeface="黑体"/>
                <a:ea typeface="黑体"/>
                <a:cs typeface="黑体"/>
              </a:rPr>
              <a:t>——</a:t>
            </a:r>
            <a:r>
              <a:rPr kumimoji="1" lang="zh-CN" altLang="en-US" sz="2800" dirty="0" smtClean="0">
                <a:latin typeface="黑体"/>
                <a:ea typeface="黑体"/>
                <a:cs typeface="黑体"/>
              </a:rPr>
              <a:t>人们的刑法偏好其实另有原因</a:t>
            </a:r>
          </a:p>
        </p:txBody>
      </p:sp>
    </p:spTree>
    <p:extLst>
      <p:ext uri="{BB962C8B-B14F-4D97-AF65-F5344CB8AC3E}">
        <p14:creationId xmlns:p14="http://schemas.microsoft.com/office/powerpoint/2010/main" val="867773782"/>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438" y="211138"/>
            <a:ext cx="8244978" cy="625574"/>
          </a:xfrm>
        </p:spPr>
        <p:txBody>
          <a:bodyPr/>
          <a:lstStyle/>
          <a:p>
            <a:pPr algn="ctr"/>
            <a:r>
              <a:rPr kumimoji="1" lang="zh-CN" altLang="en-US" sz="3200" dirty="0" smtClean="0">
                <a:latin typeface="黑体"/>
                <a:ea typeface="黑体"/>
                <a:cs typeface="黑体"/>
              </a:rPr>
              <a:t>刑法偏好是社会现实的扭曲反映</a:t>
            </a:r>
            <a:endParaRPr kumimoji="1" lang="zh-CN" altLang="en-US" sz="3200" dirty="0">
              <a:latin typeface="黑体"/>
              <a:ea typeface="黑体"/>
              <a:cs typeface="黑体"/>
            </a:endParaRPr>
          </a:p>
        </p:txBody>
      </p:sp>
      <p:sp>
        <p:nvSpPr>
          <p:cNvPr id="3" name="内容占位符 2"/>
          <p:cNvSpPr>
            <a:spLocks noGrp="1"/>
          </p:cNvSpPr>
          <p:nvPr>
            <p:ph idx="1"/>
          </p:nvPr>
        </p:nvSpPr>
        <p:spPr>
          <a:xfrm>
            <a:off x="467544" y="836712"/>
            <a:ext cx="8229600" cy="5616624"/>
          </a:xfrm>
        </p:spPr>
        <p:txBody>
          <a:bodyPr/>
          <a:lstStyle/>
          <a:p>
            <a:r>
              <a:rPr lang="zh-CN" altLang="zh-CN" sz="2800" dirty="0" smtClean="0">
                <a:latin typeface="宋体"/>
                <a:ea typeface="宋体"/>
                <a:cs typeface="宋体"/>
              </a:rPr>
              <a:t>受访者</a:t>
            </a:r>
            <a:r>
              <a:rPr lang="zh-CN" altLang="en-US" sz="2800" dirty="0" smtClean="0">
                <a:latin typeface="宋体"/>
                <a:ea typeface="宋体"/>
                <a:cs typeface="宋体"/>
              </a:rPr>
              <a:t>的</a:t>
            </a:r>
            <a:r>
              <a:rPr lang="zh-CN" altLang="zh-CN" sz="2800" dirty="0" smtClean="0">
                <a:latin typeface="宋体"/>
                <a:ea typeface="宋体"/>
                <a:cs typeface="宋体"/>
              </a:rPr>
              <a:t>代入感</a:t>
            </a:r>
            <a:r>
              <a:rPr lang="zh-CN" altLang="en-US" sz="2800" dirty="0" smtClean="0">
                <a:latin typeface="宋体"/>
                <a:ea typeface="宋体"/>
                <a:cs typeface="宋体"/>
              </a:rPr>
              <a:t>：</a:t>
            </a:r>
            <a:r>
              <a:rPr lang="zh-CN" altLang="zh-CN" sz="2800" dirty="0" smtClean="0">
                <a:latin typeface="宋体"/>
                <a:ea typeface="宋体"/>
                <a:cs typeface="宋体"/>
              </a:rPr>
              <a:t>以公权力滥</a:t>
            </a:r>
            <a:r>
              <a:rPr lang="zh-CN" altLang="zh-CN" sz="2800" dirty="0">
                <a:latin typeface="宋体"/>
                <a:ea typeface="宋体"/>
                <a:cs typeface="宋体"/>
              </a:rPr>
              <a:t>用的被害人自居，</a:t>
            </a:r>
            <a:r>
              <a:rPr lang="zh-CN" altLang="zh-CN" sz="2800" dirty="0" smtClean="0">
                <a:latin typeface="宋体"/>
                <a:ea typeface="宋体"/>
                <a:cs typeface="宋体"/>
              </a:rPr>
              <a:t>在激</a:t>
            </a:r>
            <a:r>
              <a:rPr lang="zh-CN" altLang="zh-CN" sz="2800" dirty="0">
                <a:latin typeface="宋体"/>
                <a:ea typeface="宋体"/>
                <a:cs typeface="宋体"/>
              </a:rPr>
              <a:t>活的负面情绪支配下选择严</a:t>
            </a:r>
            <a:r>
              <a:rPr lang="zh-CN" altLang="zh-CN" sz="2800" dirty="0" smtClean="0">
                <a:latin typeface="宋体"/>
                <a:ea typeface="宋体"/>
                <a:cs typeface="宋体"/>
              </a:rPr>
              <a:t>法重刑</a:t>
            </a:r>
            <a:r>
              <a:rPr lang="zh-CN" altLang="en-US" sz="2800" dirty="0" smtClean="0">
                <a:latin typeface="宋体"/>
                <a:ea typeface="宋体"/>
                <a:cs typeface="宋体"/>
              </a:rPr>
              <a:t>，</a:t>
            </a:r>
            <a:r>
              <a:rPr lang="zh-CN" altLang="zh-CN" sz="2800" dirty="0" smtClean="0">
                <a:latin typeface="宋体"/>
                <a:ea typeface="宋体"/>
                <a:cs typeface="宋体"/>
              </a:rPr>
              <a:t>宣泄</a:t>
            </a:r>
            <a:r>
              <a:rPr lang="zh-CN" altLang="zh-CN" sz="2800" dirty="0">
                <a:latin typeface="宋体"/>
                <a:ea typeface="宋体"/>
                <a:cs typeface="宋体"/>
              </a:rPr>
              <a:t>心中的不满</a:t>
            </a:r>
            <a:r>
              <a:rPr lang="zh-CN" altLang="zh-CN" sz="2800" dirty="0" smtClean="0">
                <a:latin typeface="宋体"/>
                <a:ea typeface="宋体"/>
                <a:cs typeface="宋体"/>
              </a:rPr>
              <a:t>。不满情绪</a:t>
            </a:r>
            <a:r>
              <a:rPr lang="zh-CN" altLang="zh-CN" sz="2800" dirty="0">
                <a:latin typeface="宋体"/>
                <a:ea typeface="宋体"/>
                <a:cs typeface="宋体"/>
              </a:rPr>
              <a:t>越大，刑法偏好越重。 </a:t>
            </a:r>
            <a:endParaRPr lang="en-US" altLang="zh-CN" sz="2800" dirty="0" smtClean="0">
              <a:latin typeface="宋体"/>
              <a:ea typeface="宋体"/>
              <a:cs typeface="宋体"/>
            </a:endParaRPr>
          </a:p>
          <a:p>
            <a:r>
              <a:rPr lang="zh-CN" altLang="zh-CN" sz="2800" dirty="0" smtClean="0">
                <a:latin typeface="宋体"/>
                <a:ea typeface="宋体"/>
                <a:cs typeface="宋体"/>
              </a:rPr>
              <a:t>在美</a:t>
            </a:r>
            <a:r>
              <a:rPr lang="zh-CN" altLang="zh-CN" sz="2800" dirty="0">
                <a:latin typeface="宋体"/>
                <a:ea typeface="宋体"/>
                <a:cs typeface="宋体"/>
              </a:rPr>
              <a:t>国</a:t>
            </a:r>
            <a:r>
              <a:rPr lang="zh-CN" altLang="zh-CN" sz="2800" dirty="0" smtClean="0">
                <a:latin typeface="宋体"/>
                <a:ea typeface="宋体"/>
                <a:cs typeface="宋体"/>
              </a:rPr>
              <a:t>，</a:t>
            </a:r>
            <a:r>
              <a:rPr lang="zh-CN" altLang="en-US" sz="2800" dirty="0" smtClean="0">
                <a:latin typeface="宋体"/>
                <a:ea typeface="宋体"/>
                <a:cs typeface="宋体"/>
              </a:rPr>
              <a:t>黑人</a:t>
            </a:r>
            <a:r>
              <a:rPr lang="zh-CN" altLang="zh-CN" sz="2800" dirty="0" smtClean="0">
                <a:latin typeface="宋体"/>
                <a:ea typeface="宋体"/>
                <a:cs typeface="宋体"/>
              </a:rPr>
              <a:t>的惩办主义程度轻于</a:t>
            </a:r>
            <a:r>
              <a:rPr lang="zh-CN" altLang="zh-CN" sz="2800" dirty="0">
                <a:latin typeface="宋体"/>
                <a:ea typeface="宋体"/>
                <a:cs typeface="宋体"/>
              </a:rPr>
              <a:t>白人</a:t>
            </a:r>
            <a:r>
              <a:rPr lang="zh-CN" altLang="zh-CN" sz="2800" dirty="0" smtClean="0">
                <a:latin typeface="宋体"/>
                <a:ea typeface="宋体"/>
                <a:cs typeface="宋体"/>
              </a:rPr>
              <a:t>，因为他们觉得刑事司法系统本身就是带有偏见</a:t>
            </a:r>
            <a:r>
              <a:rPr lang="zh-CN" altLang="zh-CN" sz="2800" dirty="0">
                <a:latin typeface="宋体"/>
                <a:ea typeface="宋体"/>
                <a:cs typeface="宋体"/>
              </a:rPr>
              <a:t>的</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在</a:t>
            </a:r>
            <a:r>
              <a:rPr lang="en-US" altLang="zh-CN" sz="2800" dirty="0">
                <a:latin typeface="宋体"/>
                <a:ea typeface="宋体"/>
                <a:cs typeface="宋体"/>
              </a:rPr>
              <a:t>2006</a:t>
            </a:r>
            <a:r>
              <a:rPr lang="zh-CN" altLang="zh-CN" sz="2800" dirty="0">
                <a:latin typeface="宋体"/>
                <a:ea typeface="宋体"/>
                <a:cs typeface="宋体"/>
              </a:rPr>
              <a:t>年的盖洛普调查中，仅有</a:t>
            </a:r>
            <a:r>
              <a:rPr lang="en-US" altLang="zh-CN" sz="2800" dirty="0">
                <a:latin typeface="宋体"/>
                <a:ea typeface="宋体"/>
                <a:cs typeface="宋体"/>
              </a:rPr>
              <a:t>38%</a:t>
            </a:r>
            <a:r>
              <a:rPr lang="zh-CN" altLang="zh-CN" sz="2800" dirty="0">
                <a:latin typeface="宋体"/>
                <a:ea typeface="宋体"/>
                <a:cs typeface="宋体"/>
              </a:rPr>
              <a:t>的非裔美国人说他们相信死刑的正当性，而如此回答的白人比例高达</a:t>
            </a:r>
            <a:r>
              <a:rPr lang="en-US" altLang="zh-CN" sz="2800" dirty="0">
                <a:latin typeface="宋体"/>
                <a:ea typeface="宋体"/>
                <a:cs typeface="宋体"/>
              </a:rPr>
              <a:t>71%</a:t>
            </a:r>
            <a:r>
              <a:rPr lang="zh-CN" altLang="zh-CN" sz="2800" dirty="0">
                <a:latin typeface="宋体"/>
                <a:ea typeface="宋体"/>
                <a:cs typeface="宋体"/>
              </a:rPr>
              <a:t>。 </a:t>
            </a:r>
            <a:endParaRPr lang="en-US" altLang="zh-CN" sz="2800" dirty="0" smtClean="0">
              <a:latin typeface="宋体"/>
              <a:ea typeface="宋体"/>
              <a:cs typeface="宋体"/>
            </a:endParaRPr>
          </a:p>
          <a:p>
            <a:r>
              <a:rPr lang="zh-CN" altLang="zh-CN" sz="2800" dirty="0">
                <a:latin typeface="宋体"/>
                <a:ea typeface="宋体"/>
                <a:cs typeface="宋体"/>
              </a:rPr>
              <a:t>尤其是，当沮丧感、郁闷心境等精神状态因素介入其中时，上述各种因素的作用过程又可能平添更多的情绪化</a:t>
            </a:r>
            <a:r>
              <a:rPr lang="zh-CN" altLang="zh-CN" sz="2800" dirty="0" smtClean="0">
                <a:latin typeface="宋体"/>
                <a:ea typeface="宋体"/>
                <a:cs typeface="宋体"/>
              </a:rPr>
              <a:t>色彩</a:t>
            </a:r>
            <a:r>
              <a:rPr lang="en-US" altLang="zh-CN" sz="2800" dirty="0" smtClean="0">
                <a:latin typeface="宋体"/>
                <a:ea typeface="宋体"/>
                <a:cs typeface="宋体"/>
              </a:rPr>
              <a:t>——</a:t>
            </a:r>
            <a:r>
              <a:rPr lang="zh-CN" altLang="en-US" sz="2800" dirty="0" smtClean="0">
                <a:latin typeface="宋体"/>
                <a:ea typeface="宋体"/>
                <a:cs typeface="宋体"/>
              </a:rPr>
              <a:t>非理性</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en-US" sz="2800" dirty="0" smtClean="0">
                <a:solidFill>
                  <a:srgbClr val="FF0000"/>
                </a:solidFill>
                <a:latin typeface="黑体"/>
                <a:ea typeface="黑体"/>
                <a:cs typeface="黑体"/>
              </a:rPr>
              <a:t>基本结论：应理性对待民意</a:t>
            </a:r>
            <a:endParaRPr lang="en-US" altLang="zh-CN" sz="2800" dirty="0" smtClean="0">
              <a:solidFill>
                <a:srgbClr val="FF0000"/>
              </a:solidFill>
              <a:latin typeface="黑体"/>
              <a:ea typeface="黑体"/>
              <a:cs typeface="黑体"/>
            </a:endParaRPr>
          </a:p>
        </p:txBody>
      </p:sp>
    </p:spTree>
    <p:extLst>
      <p:ext uri="{BB962C8B-B14F-4D97-AF65-F5344CB8AC3E}">
        <p14:creationId xmlns:p14="http://schemas.microsoft.com/office/powerpoint/2010/main" val="1112507297"/>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188640"/>
            <a:ext cx="8316986" cy="697582"/>
          </a:xfrm>
        </p:spPr>
        <p:txBody>
          <a:bodyPr/>
          <a:lstStyle/>
          <a:p>
            <a:r>
              <a:rPr lang="en-US" altLang="en-US" sz="3600" dirty="0" smtClean="0">
                <a:latin typeface="黑体"/>
                <a:ea typeface="黑体"/>
                <a:cs typeface="黑体"/>
              </a:rPr>
              <a:t>    1、</a:t>
            </a:r>
            <a:r>
              <a:rPr lang="zh-CN" altLang="en-US" sz="3600" dirty="0" smtClean="0">
                <a:latin typeface="黑体"/>
                <a:ea typeface="黑体"/>
                <a:cs typeface="黑体"/>
              </a:rPr>
              <a:t>概括的民意优于具体民意</a:t>
            </a:r>
            <a:endParaRPr kumimoji="1" lang="zh-CN" altLang="en-US" dirty="0"/>
          </a:p>
        </p:txBody>
      </p:sp>
      <p:sp>
        <p:nvSpPr>
          <p:cNvPr id="3" name="内容占位符 2"/>
          <p:cNvSpPr>
            <a:spLocks noGrp="1"/>
          </p:cNvSpPr>
          <p:nvPr>
            <p:ph idx="1"/>
          </p:nvPr>
        </p:nvSpPr>
        <p:spPr/>
        <p:txBody>
          <a:bodyPr/>
          <a:lstStyle/>
          <a:p>
            <a:r>
              <a:rPr lang="zh-CN" altLang="zh-CN" sz="2800" b="1" dirty="0" smtClean="0">
                <a:latin typeface="楷体"/>
                <a:ea typeface="楷体"/>
                <a:cs typeface="楷体"/>
              </a:rPr>
              <a:t>中国民众</a:t>
            </a:r>
            <a:r>
              <a:rPr lang="zh-CN" altLang="zh-CN" sz="2800" b="1" dirty="0">
                <a:latin typeface="楷体"/>
                <a:ea typeface="楷体"/>
                <a:cs typeface="楷体"/>
              </a:rPr>
              <a:t>的一般刑法偏好大概位于偏好全距中线以下略高于三分之一的水平</a:t>
            </a:r>
            <a:r>
              <a:rPr lang="zh-CN" altLang="zh-CN" sz="2800" b="1" dirty="0" smtClean="0">
                <a:latin typeface="楷体"/>
                <a:ea typeface="楷体"/>
                <a:cs typeface="楷体"/>
              </a:rPr>
              <a:t>。</a:t>
            </a:r>
            <a:endParaRPr lang="en-US" altLang="zh-CN" sz="2800" b="1" dirty="0" smtClean="0">
              <a:latin typeface="楷体"/>
              <a:ea typeface="楷体"/>
              <a:cs typeface="楷体"/>
            </a:endParaRPr>
          </a:p>
          <a:p>
            <a:r>
              <a:rPr lang="zh-CN" altLang="zh-CN" sz="2800" b="1" dirty="0" smtClean="0">
                <a:latin typeface="楷体"/>
                <a:ea typeface="楷体"/>
                <a:cs typeface="楷体"/>
              </a:rPr>
              <a:t>基本适度</a:t>
            </a:r>
            <a:r>
              <a:rPr lang="zh-CN" altLang="zh-CN" sz="2800" b="1" dirty="0">
                <a:latin typeface="楷体"/>
                <a:ea typeface="楷体"/>
                <a:cs typeface="楷体"/>
              </a:rPr>
              <a:t>，并不属于重法偏好</a:t>
            </a:r>
            <a:r>
              <a:rPr lang="zh-CN" altLang="zh-CN" sz="2800" b="1" dirty="0" smtClean="0">
                <a:latin typeface="楷体"/>
                <a:ea typeface="楷体"/>
                <a:cs typeface="楷体"/>
              </a:rPr>
              <a:t>。</a:t>
            </a:r>
            <a:endParaRPr lang="en-US" altLang="zh-CN" sz="2800" b="1" dirty="0" smtClean="0">
              <a:latin typeface="楷体"/>
              <a:ea typeface="楷体"/>
              <a:cs typeface="楷体"/>
            </a:endParaRPr>
          </a:p>
          <a:p>
            <a:r>
              <a:rPr lang="zh-CN" altLang="zh-CN" sz="2800" b="1" smtClean="0">
                <a:latin typeface="楷体"/>
                <a:ea typeface="楷体"/>
                <a:cs typeface="楷体"/>
              </a:rPr>
              <a:t>如果</a:t>
            </a:r>
            <a:r>
              <a:rPr lang="zh-CN" altLang="en-US" sz="2800" b="1" smtClean="0">
                <a:latin typeface="楷体"/>
                <a:ea typeface="楷体"/>
                <a:cs typeface="楷体"/>
              </a:rPr>
              <a:t>比问卷中</a:t>
            </a:r>
            <a:r>
              <a:rPr lang="zh-CN" altLang="zh-CN" sz="2800" b="1" smtClean="0">
                <a:latin typeface="楷体"/>
                <a:ea typeface="楷体"/>
                <a:cs typeface="楷体"/>
              </a:rPr>
              <a:t>犯罪</a:t>
            </a:r>
            <a:r>
              <a:rPr lang="zh-CN" altLang="zh-CN" sz="2800" b="1" dirty="0" smtClean="0">
                <a:latin typeface="楷体"/>
                <a:ea typeface="楷体"/>
                <a:cs typeface="楷体"/>
              </a:rPr>
              <a:t>圈</a:t>
            </a:r>
            <a:r>
              <a:rPr lang="zh-CN" altLang="zh-CN" sz="2800" b="1" dirty="0">
                <a:latin typeface="楷体"/>
                <a:ea typeface="楷体"/>
                <a:cs typeface="楷体"/>
              </a:rPr>
              <a:t>再有所扩大或者死刑执行数量更多，将失去一半甚至更多民众的认同</a:t>
            </a:r>
            <a:r>
              <a:rPr lang="zh-CN" altLang="zh-CN" sz="2800" b="1" dirty="0" smtClean="0">
                <a:latin typeface="楷体"/>
                <a:ea typeface="楷体"/>
                <a:cs typeface="楷体"/>
              </a:rPr>
              <a:t>。具体舆论，</a:t>
            </a:r>
            <a:r>
              <a:rPr lang="zh-CN" altLang="zh-CN" sz="2800" b="1" dirty="0">
                <a:latin typeface="楷体"/>
                <a:ea typeface="楷体"/>
                <a:cs typeface="楷体"/>
              </a:rPr>
              <a:t>如果重法重判的呼声过高，可能并不代表大多数民众的意愿</a:t>
            </a:r>
            <a:r>
              <a:rPr lang="zh-CN" altLang="zh-CN" sz="2800" b="1" dirty="0" smtClean="0">
                <a:latin typeface="楷体"/>
                <a:ea typeface="楷体"/>
                <a:cs typeface="楷体"/>
              </a:rPr>
              <a:t>。</a:t>
            </a:r>
            <a:endParaRPr lang="en-US" altLang="zh-CN" sz="2800" b="1" dirty="0" smtClean="0">
              <a:latin typeface="楷体"/>
              <a:ea typeface="楷体"/>
              <a:cs typeface="楷体"/>
            </a:endParaRPr>
          </a:p>
          <a:p>
            <a:r>
              <a:rPr lang="zh-CN" altLang="zh-CN" sz="2800" b="1" dirty="0" smtClean="0">
                <a:latin typeface="楷体"/>
                <a:ea typeface="楷体"/>
                <a:cs typeface="楷体"/>
              </a:rPr>
              <a:t>用</a:t>
            </a:r>
            <a:r>
              <a:rPr lang="zh-CN" altLang="zh-CN" sz="2800" b="1" dirty="0">
                <a:latin typeface="楷体"/>
                <a:ea typeface="楷体"/>
                <a:cs typeface="楷体"/>
              </a:rPr>
              <a:t>概括的民意校准具体的舆论，才能理性地对待民意。 </a:t>
            </a:r>
            <a:endParaRPr kumimoji="1" lang="zh-CN" altLang="en-US" sz="2800" b="1" dirty="0">
              <a:latin typeface="楷体"/>
              <a:ea typeface="楷体"/>
              <a:cs typeface="楷体"/>
            </a:endParaRPr>
          </a:p>
        </p:txBody>
      </p:sp>
    </p:spTree>
    <p:extLst>
      <p:ext uri="{BB962C8B-B14F-4D97-AF65-F5344CB8AC3E}">
        <p14:creationId xmlns:p14="http://schemas.microsoft.com/office/powerpoint/2010/main" val="1917509897"/>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en-US" sz="3600" dirty="0" smtClean="0">
                <a:latin typeface="黑体"/>
                <a:ea typeface="黑体"/>
                <a:cs typeface="黑体"/>
              </a:rPr>
              <a:t>2、</a:t>
            </a:r>
            <a:r>
              <a:rPr lang="zh-CN" altLang="zh-CN" sz="3600" dirty="0" smtClean="0">
                <a:latin typeface="黑体"/>
                <a:ea typeface="黑体"/>
                <a:cs typeface="黑体"/>
              </a:rPr>
              <a:t>刑法</a:t>
            </a:r>
            <a:r>
              <a:rPr lang="zh-CN" altLang="en-US" sz="3600" dirty="0" smtClean="0">
                <a:latin typeface="黑体"/>
                <a:ea typeface="黑体"/>
                <a:cs typeface="黑体"/>
              </a:rPr>
              <a:t>不宜</a:t>
            </a:r>
            <a:r>
              <a:rPr lang="zh-CN" altLang="zh-CN" sz="3600" dirty="0" smtClean="0">
                <a:latin typeface="黑体"/>
                <a:ea typeface="黑体"/>
                <a:cs typeface="黑体"/>
              </a:rPr>
              <a:t>过度社会化</a:t>
            </a:r>
            <a:endParaRPr kumimoji="1" lang="zh-CN" altLang="en-US" sz="3600" dirty="0">
              <a:latin typeface="黑体"/>
              <a:ea typeface="黑体"/>
              <a:cs typeface="黑体"/>
            </a:endParaRPr>
          </a:p>
        </p:txBody>
      </p:sp>
      <p:sp>
        <p:nvSpPr>
          <p:cNvPr id="3" name="内容占位符 2"/>
          <p:cNvSpPr>
            <a:spLocks noGrp="1"/>
          </p:cNvSpPr>
          <p:nvPr>
            <p:ph idx="1"/>
          </p:nvPr>
        </p:nvSpPr>
        <p:spPr>
          <a:xfrm>
            <a:off x="467544" y="836712"/>
            <a:ext cx="8229600" cy="5544616"/>
          </a:xfrm>
        </p:spPr>
        <p:txBody>
          <a:bodyPr/>
          <a:lstStyle/>
          <a:p>
            <a:r>
              <a:rPr kumimoji="1" lang="zh-CN" altLang="en-US" sz="2800" b="1" dirty="0" smtClean="0">
                <a:latin typeface="楷体"/>
                <a:ea typeface="楷体"/>
                <a:cs typeface="楷体"/>
              </a:rPr>
              <a:t>犯罪本身的影响还不如其他社会因素</a:t>
            </a:r>
            <a:r>
              <a:rPr kumimoji="1" lang="en-US" altLang="zh-CN" sz="2800" b="1" dirty="0" smtClean="0">
                <a:latin typeface="楷体"/>
                <a:ea typeface="楷体"/>
                <a:cs typeface="楷体"/>
              </a:rPr>
              <a:t>——</a:t>
            </a:r>
            <a:r>
              <a:rPr lang="zh-CN" altLang="zh-CN" sz="2800" b="1" dirty="0" smtClean="0">
                <a:latin typeface="楷体"/>
                <a:ea typeface="楷体"/>
                <a:cs typeface="楷体"/>
              </a:rPr>
              <a:t>人们往往寄希望于司法承担过</a:t>
            </a:r>
            <a:r>
              <a:rPr lang="zh-CN" altLang="zh-CN" sz="2800" b="1" dirty="0">
                <a:latin typeface="楷体"/>
                <a:ea typeface="楷体"/>
                <a:cs typeface="楷体"/>
              </a:rPr>
              <a:t>多的社会职能，通过司法改变强弱</a:t>
            </a:r>
            <a:r>
              <a:rPr lang="zh-CN" altLang="zh-CN" sz="2800" b="1" dirty="0" smtClean="0">
                <a:latin typeface="楷体"/>
                <a:ea typeface="楷体"/>
                <a:cs typeface="楷体"/>
              </a:rPr>
              <a:t>主体</a:t>
            </a:r>
            <a:r>
              <a:rPr lang="zh-CN" altLang="en-US" sz="2800" b="1" dirty="0" smtClean="0">
                <a:latin typeface="楷体"/>
                <a:ea typeface="楷体"/>
                <a:cs typeface="楷体"/>
              </a:rPr>
              <a:t>的地位</a:t>
            </a:r>
            <a:r>
              <a:rPr lang="zh-CN" altLang="zh-CN" sz="2800" b="1" dirty="0" smtClean="0">
                <a:latin typeface="楷体"/>
                <a:ea typeface="楷体"/>
                <a:cs typeface="楷体"/>
              </a:rPr>
              <a:t>。 </a:t>
            </a:r>
            <a:endParaRPr lang="en-US" altLang="zh-CN" sz="2800" b="1" dirty="0" smtClean="0">
              <a:latin typeface="楷体"/>
              <a:ea typeface="楷体"/>
              <a:cs typeface="楷体"/>
            </a:endParaRPr>
          </a:p>
          <a:p>
            <a:r>
              <a:rPr lang="zh-CN" altLang="zh-CN" sz="2800" b="1" dirty="0" smtClean="0">
                <a:latin typeface="楷体"/>
                <a:ea typeface="楷体"/>
                <a:cs typeface="楷体"/>
              </a:rPr>
              <a:t>杨佳袭警案，</a:t>
            </a:r>
            <a:r>
              <a:rPr lang="zh-CN" altLang="en-US" sz="2800" b="1" dirty="0" smtClean="0">
                <a:latin typeface="楷体"/>
                <a:ea typeface="楷体"/>
                <a:cs typeface="楷体"/>
              </a:rPr>
              <a:t>舆论焦点是</a:t>
            </a:r>
            <a:r>
              <a:rPr lang="zh-CN" altLang="zh-CN" sz="2800" b="1" dirty="0" smtClean="0">
                <a:latin typeface="楷体"/>
                <a:ea typeface="楷体"/>
                <a:cs typeface="楷体"/>
              </a:rPr>
              <a:t>警民关</a:t>
            </a:r>
            <a:r>
              <a:rPr lang="zh-CN" altLang="zh-CN" sz="2800" b="1" dirty="0">
                <a:latin typeface="楷体"/>
                <a:ea typeface="楷体"/>
                <a:cs typeface="楷体"/>
              </a:rPr>
              <a:t>系；崔英杰杀死城管队员案，</a:t>
            </a:r>
            <a:r>
              <a:rPr lang="zh-CN" altLang="zh-CN" sz="2800" b="1" dirty="0" smtClean="0">
                <a:latin typeface="楷体"/>
                <a:ea typeface="楷体"/>
                <a:cs typeface="楷体"/>
              </a:rPr>
              <a:t>公众</a:t>
            </a:r>
            <a:r>
              <a:rPr lang="zh-CN" altLang="en-US" sz="2800" b="1" dirty="0" smtClean="0">
                <a:latin typeface="楷体"/>
                <a:ea typeface="楷体"/>
                <a:cs typeface="楷体"/>
              </a:rPr>
              <a:t>关注</a:t>
            </a:r>
            <a:r>
              <a:rPr lang="zh-CN" altLang="zh-CN" sz="2800" b="1" dirty="0" smtClean="0">
                <a:latin typeface="楷体"/>
                <a:ea typeface="楷体"/>
                <a:cs typeface="楷体"/>
              </a:rPr>
              <a:t>城管执法问题</a:t>
            </a:r>
            <a:r>
              <a:rPr lang="zh-CN" altLang="zh-CN" sz="2800" b="1" dirty="0">
                <a:latin typeface="楷体"/>
                <a:ea typeface="楷体"/>
                <a:cs typeface="楷体"/>
              </a:rPr>
              <a:t>；看守所出现非正常死亡的案件，公众更多的是批判司法不透明</a:t>
            </a:r>
            <a:r>
              <a:rPr lang="zh-CN" altLang="zh-CN" sz="2800" b="1" dirty="0" smtClean="0">
                <a:latin typeface="楷体"/>
                <a:ea typeface="楷体"/>
                <a:cs typeface="楷体"/>
              </a:rPr>
              <a:t>。</a:t>
            </a:r>
            <a:endParaRPr lang="en-US" altLang="zh-CN" sz="2800" b="1" dirty="0">
              <a:latin typeface="楷体"/>
              <a:ea typeface="楷体"/>
              <a:cs typeface="楷体"/>
            </a:endParaRPr>
          </a:p>
          <a:p>
            <a:r>
              <a:rPr lang="zh-CN" altLang="zh-CN" sz="2800" b="1" dirty="0" smtClean="0">
                <a:latin typeface="楷体"/>
                <a:ea typeface="楷体"/>
                <a:cs typeface="楷体"/>
              </a:rPr>
              <a:t>而</a:t>
            </a:r>
            <a:r>
              <a:rPr lang="zh-CN" altLang="zh-CN" sz="2800" b="1" dirty="0">
                <a:latin typeface="楷体"/>
                <a:ea typeface="楷体"/>
                <a:cs typeface="楷体"/>
              </a:rPr>
              <a:t>其中的犯罪事实以及相关</a:t>
            </a:r>
            <a:r>
              <a:rPr lang="zh-CN" altLang="zh-CN" sz="2800" b="1" dirty="0" smtClean="0">
                <a:latin typeface="楷体"/>
                <a:ea typeface="楷体"/>
                <a:cs typeface="楷体"/>
              </a:rPr>
              <a:t>的法律问题反倒被人们所忽略</a:t>
            </a:r>
            <a:r>
              <a:rPr lang="en-US" altLang="zh-CN" sz="2800" b="1" dirty="0" smtClean="0">
                <a:latin typeface="楷体"/>
                <a:ea typeface="楷体"/>
                <a:cs typeface="楷体"/>
              </a:rPr>
              <a:t>——</a:t>
            </a:r>
            <a:r>
              <a:rPr lang="zh-CN" altLang="zh-CN" sz="2800" b="1" dirty="0" smtClean="0">
                <a:latin typeface="楷体"/>
                <a:ea typeface="楷体"/>
                <a:cs typeface="楷体"/>
              </a:rPr>
              <a:t>社会问题司法化倾向</a:t>
            </a:r>
            <a:endParaRPr lang="en-US" altLang="zh-CN" sz="2800" b="1" dirty="0" smtClean="0">
              <a:latin typeface="楷体"/>
              <a:ea typeface="楷体"/>
              <a:cs typeface="楷体"/>
            </a:endParaRPr>
          </a:p>
          <a:p>
            <a:r>
              <a:rPr lang="zh-CN" altLang="en-US" sz="2800" b="1" dirty="0" smtClean="0">
                <a:latin typeface="楷体"/>
                <a:ea typeface="楷体"/>
                <a:cs typeface="楷体"/>
              </a:rPr>
              <a:t>默许</a:t>
            </a:r>
            <a:r>
              <a:rPr lang="zh-CN" altLang="zh-CN" sz="2800" b="1" dirty="0" smtClean="0">
                <a:latin typeface="楷体"/>
                <a:ea typeface="楷体"/>
                <a:cs typeface="楷体"/>
              </a:rPr>
              <a:t>更</a:t>
            </a:r>
            <a:r>
              <a:rPr lang="zh-CN" altLang="zh-CN" sz="2800" b="1" dirty="0">
                <a:latin typeface="楷体"/>
                <a:ea typeface="楷体"/>
                <a:cs typeface="楷体"/>
              </a:rPr>
              <a:t>多的刑法以外的力量介入刑法的修订、解释和适用</a:t>
            </a:r>
            <a:r>
              <a:rPr lang="zh-CN" altLang="zh-CN" sz="2800" b="1" dirty="0" smtClean="0">
                <a:latin typeface="楷体"/>
                <a:ea typeface="楷体"/>
                <a:cs typeface="楷体"/>
              </a:rPr>
              <a:t>。</a:t>
            </a:r>
            <a:endParaRPr lang="en-US" altLang="zh-CN" sz="2800" b="1" dirty="0" smtClean="0">
              <a:latin typeface="楷体"/>
              <a:ea typeface="楷体"/>
              <a:cs typeface="楷体"/>
            </a:endParaRPr>
          </a:p>
          <a:p>
            <a:r>
              <a:rPr lang="zh-CN" altLang="zh-CN" sz="2800" b="1" dirty="0" smtClean="0">
                <a:latin typeface="楷体"/>
                <a:ea typeface="楷体"/>
                <a:cs typeface="楷体"/>
              </a:rPr>
              <a:t>于</a:t>
            </a:r>
            <a:r>
              <a:rPr lang="zh-CN" altLang="zh-CN" sz="2800" b="1" dirty="0">
                <a:latin typeface="楷体"/>
                <a:ea typeface="楷体"/>
                <a:cs typeface="楷体"/>
              </a:rPr>
              <a:t>是，扭</a:t>
            </a:r>
            <a:r>
              <a:rPr lang="zh-CN" altLang="zh-CN" sz="2800" b="1" dirty="0" smtClean="0">
                <a:latin typeface="楷体"/>
                <a:ea typeface="楷体"/>
                <a:cs typeface="楷体"/>
              </a:rPr>
              <a:t>曲的更加扭曲</a:t>
            </a:r>
            <a:r>
              <a:rPr lang="zh-CN" altLang="zh-CN" sz="2800" b="1" dirty="0">
                <a:latin typeface="楷体"/>
                <a:ea typeface="楷体"/>
                <a:cs typeface="楷体"/>
              </a:rPr>
              <a:t>，</a:t>
            </a:r>
            <a:r>
              <a:rPr lang="zh-CN" altLang="zh-CN" sz="2800" b="1" dirty="0" smtClean="0">
                <a:latin typeface="楷体"/>
                <a:ea typeface="楷体"/>
                <a:cs typeface="楷体"/>
              </a:rPr>
              <a:t>规则逻辑却被淡化</a:t>
            </a:r>
            <a:r>
              <a:rPr lang="zh-CN" altLang="zh-CN" sz="2800" b="1" dirty="0">
                <a:latin typeface="楷体"/>
                <a:ea typeface="楷体"/>
                <a:cs typeface="楷体"/>
              </a:rPr>
              <a:t>。 </a:t>
            </a:r>
          </a:p>
          <a:p>
            <a:endParaRPr kumimoji="1" lang="zh-CN" altLang="en-US" dirty="0"/>
          </a:p>
        </p:txBody>
      </p:sp>
    </p:spTree>
    <p:extLst>
      <p:ext uri="{BB962C8B-B14F-4D97-AF65-F5344CB8AC3E}">
        <p14:creationId xmlns:p14="http://schemas.microsoft.com/office/powerpoint/2010/main" val="301748350"/>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71600" y="332656"/>
            <a:ext cx="6518852" cy="492125"/>
          </a:xfrm>
        </p:spPr>
        <p:txBody>
          <a:bodyPr/>
          <a:lstStyle/>
          <a:p>
            <a:pPr algn="ctr"/>
            <a:r>
              <a:rPr lang="en-US" altLang="en-US" sz="3600" dirty="0" smtClean="0">
                <a:latin typeface="黑体"/>
                <a:ea typeface="黑体"/>
                <a:cs typeface="黑体"/>
              </a:rPr>
              <a:t>3、</a:t>
            </a:r>
            <a:r>
              <a:rPr lang="zh-CN" altLang="en-US" sz="3600" dirty="0" smtClean="0">
                <a:latin typeface="黑体"/>
                <a:ea typeface="黑体"/>
                <a:cs typeface="黑体"/>
              </a:rPr>
              <a:t>不应滥用民意</a:t>
            </a:r>
            <a:endParaRPr kumimoji="1" lang="zh-CN" altLang="en-US" sz="3600" dirty="0"/>
          </a:p>
        </p:txBody>
      </p:sp>
      <p:sp>
        <p:nvSpPr>
          <p:cNvPr id="3" name="内容占位符 2"/>
          <p:cNvSpPr>
            <a:spLocks noGrp="1"/>
          </p:cNvSpPr>
          <p:nvPr>
            <p:ph idx="1"/>
          </p:nvPr>
        </p:nvSpPr>
        <p:spPr>
          <a:xfrm>
            <a:off x="395536" y="980728"/>
            <a:ext cx="8229600" cy="5616624"/>
          </a:xfrm>
        </p:spPr>
        <p:txBody>
          <a:bodyPr/>
          <a:lstStyle/>
          <a:p>
            <a:r>
              <a:rPr lang="zh-CN" altLang="zh-CN" sz="2800" dirty="0">
                <a:latin typeface="楷体"/>
                <a:ea typeface="楷体"/>
                <a:cs typeface="楷体"/>
              </a:rPr>
              <a:t>刑法偏好系数越高，可能反映了社会公信力</a:t>
            </a:r>
            <a:r>
              <a:rPr lang="zh-CN" altLang="zh-CN" sz="2800" dirty="0" smtClean="0">
                <a:latin typeface="楷体"/>
                <a:ea typeface="楷体"/>
                <a:cs typeface="楷体"/>
              </a:rPr>
              <a:t>越差</a:t>
            </a:r>
            <a:endParaRPr lang="en-US" altLang="zh-CN" sz="2800" dirty="0" smtClean="0">
              <a:latin typeface="楷体"/>
              <a:ea typeface="楷体"/>
              <a:cs typeface="楷体"/>
            </a:endParaRPr>
          </a:p>
          <a:p>
            <a:r>
              <a:rPr lang="zh-CN" altLang="zh-CN" sz="2800" dirty="0">
                <a:latin typeface="黑体"/>
                <a:ea typeface="黑体"/>
                <a:cs typeface="黑体"/>
              </a:rPr>
              <a:t>恶性循环：</a:t>
            </a:r>
            <a:r>
              <a:rPr lang="zh-CN" altLang="zh-CN" sz="2800" dirty="0" smtClean="0">
                <a:latin typeface="楷体"/>
                <a:ea typeface="楷体"/>
                <a:cs typeface="楷体"/>
              </a:rPr>
              <a:t>民众对公权力越不满，</a:t>
            </a:r>
            <a:r>
              <a:rPr kumimoji="1" lang="zh-CN" altLang="en-US" sz="2800" dirty="0" smtClean="0">
                <a:latin typeface="楷体"/>
                <a:ea typeface="楷体"/>
                <a:cs typeface="楷体"/>
              </a:rPr>
              <a:t>越给官方定义选</a:t>
            </a:r>
            <a:r>
              <a:rPr kumimoji="1" lang="zh-CN" altLang="en-US" sz="2800" dirty="0">
                <a:latin typeface="楷体"/>
                <a:ea typeface="楷体"/>
                <a:cs typeface="楷体"/>
              </a:rPr>
              <a:t>用重法提供支持，</a:t>
            </a:r>
            <a:r>
              <a:rPr lang="zh-CN" altLang="zh-CN" sz="2800" dirty="0" smtClean="0">
                <a:latin typeface="楷体"/>
                <a:ea typeface="楷体"/>
                <a:cs typeface="楷体"/>
              </a:rPr>
              <a:t>于</a:t>
            </a:r>
            <a:r>
              <a:rPr lang="zh-CN" altLang="zh-CN" sz="2800" dirty="0">
                <a:latin typeface="楷体"/>
                <a:ea typeface="楷体"/>
                <a:cs typeface="楷体"/>
              </a:rPr>
              <a:t>是便有更多的惩戒资源投放</a:t>
            </a:r>
            <a:r>
              <a:rPr lang="zh-CN" altLang="zh-CN" sz="2800" dirty="0" smtClean="0">
                <a:latin typeface="楷体"/>
                <a:ea typeface="楷体"/>
                <a:cs typeface="楷体"/>
              </a:rPr>
              <a:t>社会</a:t>
            </a:r>
            <a:r>
              <a:rPr lang="zh-CN" altLang="en-US" sz="2800" dirty="0" smtClean="0">
                <a:latin typeface="楷体"/>
                <a:ea typeface="楷体"/>
                <a:cs typeface="楷体"/>
              </a:rPr>
              <a:t>，</a:t>
            </a:r>
            <a:r>
              <a:rPr lang="zh-CN" altLang="zh-CN" sz="2800" dirty="0" smtClean="0">
                <a:latin typeface="楷体"/>
                <a:ea typeface="楷体"/>
                <a:cs typeface="楷体"/>
              </a:rPr>
              <a:t>加剧社会紧张</a:t>
            </a:r>
            <a:r>
              <a:rPr lang="en-US" altLang="zh-CN" sz="2800" dirty="0" smtClean="0">
                <a:latin typeface="楷体"/>
                <a:ea typeface="楷体"/>
                <a:cs typeface="楷体"/>
              </a:rPr>
              <a:t>——</a:t>
            </a:r>
            <a:r>
              <a:rPr kumimoji="1" lang="zh-CN" altLang="en-US" sz="2800" dirty="0" smtClean="0">
                <a:solidFill>
                  <a:srgbClr val="FF0000"/>
                </a:solidFill>
                <a:latin typeface="楷体"/>
                <a:ea typeface="楷体"/>
                <a:cs typeface="楷体"/>
              </a:rPr>
              <a:t>惩戒资源</a:t>
            </a:r>
            <a:r>
              <a:rPr kumimoji="1" lang="zh-CN" altLang="en-US" sz="2800" dirty="0">
                <a:solidFill>
                  <a:srgbClr val="FF0000"/>
                </a:solidFill>
                <a:latin typeface="楷体"/>
                <a:ea typeface="楷体"/>
                <a:cs typeface="楷体"/>
              </a:rPr>
              <a:t>“通胀”</a:t>
            </a:r>
            <a:r>
              <a:rPr kumimoji="1" lang="zh-CN" altLang="en-US" sz="2800" dirty="0">
                <a:latin typeface="楷体"/>
                <a:ea typeface="楷体"/>
                <a:cs typeface="楷体"/>
              </a:rPr>
              <a:t>。</a:t>
            </a:r>
            <a:endParaRPr kumimoji="1" lang="en-US" altLang="zh-CN" sz="2800" dirty="0">
              <a:latin typeface="楷体"/>
              <a:ea typeface="楷体"/>
              <a:cs typeface="楷体"/>
            </a:endParaRPr>
          </a:p>
          <a:p>
            <a:r>
              <a:rPr kumimoji="1" lang="zh-CN" altLang="en-US" sz="2800" dirty="0" smtClean="0">
                <a:latin typeface="楷体"/>
                <a:ea typeface="楷体"/>
                <a:cs typeface="楷体"/>
              </a:rPr>
              <a:t>不应借口民众</a:t>
            </a:r>
            <a:r>
              <a:rPr kumimoji="1" lang="zh-CN" altLang="en-US" sz="2800" dirty="0">
                <a:latin typeface="楷体"/>
                <a:ea typeface="楷体"/>
                <a:cs typeface="楷体"/>
              </a:rPr>
              <a:t>的重法偏好</a:t>
            </a:r>
            <a:r>
              <a:rPr kumimoji="1" lang="zh-CN" altLang="en-US" sz="2800" dirty="0" smtClean="0">
                <a:latin typeface="楷体"/>
                <a:ea typeface="楷体"/>
                <a:cs typeface="楷体"/>
              </a:rPr>
              <a:t>，滥用民意。</a:t>
            </a:r>
            <a:endParaRPr lang="en-US" altLang="zh-CN" sz="2800" dirty="0" smtClean="0">
              <a:latin typeface="楷体"/>
              <a:ea typeface="楷体"/>
              <a:cs typeface="楷体"/>
            </a:endParaRPr>
          </a:p>
          <a:p>
            <a:r>
              <a:rPr lang="zh-CN" altLang="zh-CN" sz="2800" dirty="0">
                <a:latin typeface="楷体"/>
                <a:ea typeface="楷体"/>
                <a:cs typeface="楷体"/>
              </a:rPr>
              <a:t>刑法无法消除社会不平等，但至少不要制造、扩大社会不公，</a:t>
            </a:r>
            <a:r>
              <a:rPr lang="zh-CN" altLang="zh-CN" sz="2800" dirty="0">
                <a:solidFill>
                  <a:srgbClr val="FF0000"/>
                </a:solidFill>
                <a:latin typeface="黑体"/>
                <a:ea typeface="黑体"/>
                <a:cs typeface="黑体"/>
              </a:rPr>
              <a:t>更不能以民意的名义</a:t>
            </a:r>
            <a:r>
              <a:rPr lang="zh-CN" altLang="zh-CN" sz="2800" dirty="0">
                <a:latin typeface="楷体"/>
                <a:ea typeface="楷体"/>
                <a:cs typeface="楷体"/>
              </a:rPr>
              <a:t>扩大社会不公。 </a:t>
            </a:r>
            <a:endParaRPr lang="en-US" altLang="zh-CN" sz="2800" dirty="0" smtClean="0">
              <a:latin typeface="楷体"/>
              <a:ea typeface="楷体"/>
              <a:cs typeface="楷体"/>
            </a:endParaRPr>
          </a:p>
          <a:p>
            <a:r>
              <a:rPr kumimoji="1" lang="zh-CN" altLang="en-US" sz="2800" dirty="0" smtClean="0">
                <a:latin typeface="楷体"/>
                <a:ea typeface="楷体"/>
                <a:cs typeface="楷体"/>
              </a:rPr>
              <a:t>所谓犯罪控制，还包括对犯罪定义过</a:t>
            </a:r>
            <a:r>
              <a:rPr kumimoji="1" lang="zh-CN" altLang="en-US" sz="2800" dirty="0">
                <a:latin typeface="楷体"/>
                <a:ea typeface="楷体"/>
                <a:cs typeface="楷体"/>
              </a:rPr>
              <a:t>程中两种定义者之间关系的控制</a:t>
            </a:r>
            <a:r>
              <a:rPr kumimoji="1" lang="en-US" altLang="zh-CN" sz="2800" dirty="0">
                <a:latin typeface="楷体"/>
                <a:ea typeface="楷体"/>
                <a:cs typeface="楷体"/>
              </a:rPr>
              <a:t>——</a:t>
            </a:r>
            <a:r>
              <a:rPr kumimoji="1" lang="zh-CN" altLang="en-US" sz="2800" dirty="0">
                <a:solidFill>
                  <a:srgbClr val="FF0000"/>
                </a:solidFill>
                <a:latin typeface="楷体"/>
                <a:ea typeface="楷体"/>
                <a:cs typeface="楷体"/>
              </a:rPr>
              <a:t>“控制犯罪控制”的深化。</a:t>
            </a:r>
            <a:endParaRPr kumimoji="1" lang="zh-CN" altLang="en-US" sz="2800" dirty="0">
              <a:latin typeface="楷体"/>
              <a:ea typeface="楷体"/>
              <a:cs typeface="楷体"/>
            </a:endParaRPr>
          </a:p>
        </p:txBody>
      </p:sp>
    </p:spTree>
    <p:extLst>
      <p:ext uri="{BB962C8B-B14F-4D97-AF65-F5344CB8AC3E}">
        <p14:creationId xmlns:p14="http://schemas.microsoft.com/office/powerpoint/2010/main" val="1275627883"/>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9592" y="260648"/>
            <a:ext cx="7170737" cy="492125"/>
          </a:xfrm>
        </p:spPr>
        <p:txBody>
          <a:bodyPr/>
          <a:lstStyle/>
          <a:p>
            <a:pPr algn="ctr"/>
            <a:r>
              <a:rPr kumimoji="1" lang="zh-CN" altLang="en-US" sz="3600" dirty="0" smtClean="0">
                <a:latin typeface="黑体"/>
                <a:ea typeface="黑体"/>
                <a:cs typeface="黑体"/>
              </a:rPr>
              <a:t>犯罪定义学研究得到的启示</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r>
              <a:rPr lang="zh-CN" altLang="zh-CN" sz="2800" dirty="0">
                <a:latin typeface="宋体"/>
                <a:ea typeface="宋体"/>
                <a:cs typeface="宋体"/>
              </a:rPr>
              <a:t>为了最大限度上限制主体性，犯罪定义的制定和运用，必须对主体性的滥用有所自觉</a:t>
            </a:r>
            <a:r>
              <a:rPr lang="zh-CN" altLang="zh-CN" sz="2800" dirty="0" smtClean="0">
                <a:latin typeface="宋体"/>
                <a:ea typeface="宋体"/>
                <a:cs typeface="宋体"/>
              </a:rPr>
              <a:t>，必须限制定义</a:t>
            </a:r>
            <a:r>
              <a:rPr lang="zh-CN" altLang="zh-CN" sz="2800" dirty="0">
                <a:latin typeface="宋体"/>
                <a:ea typeface="宋体"/>
                <a:cs typeface="宋体"/>
              </a:rPr>
              <a:t>者滥用权力的可能性。 </a:t>
            </a:r>
            <a:endParaRPr lang="en-US" altLang="zh-CN" sz="2800" dirty="0" smtClean="0">
              <a:latin typeface="宋体"/>
              <a:ea typeface="宋体"/>
              <a:cs typeface="宋体"/>
            </a:endParaRPr>
          </a:p>
          <a:p>
            <a:r>
              <a:rPr kumimoji="1" lang="zh-CN" altLang="en-US" sz="2800" dirty="0" smtClean="0">
                <a:latin typeface="宋体"/>
                <a:ea typeface="宋体"/>
                <a:cs typeface="宋体"/>
              </a:rPr>
              <a:t>同案不同判</a:t>
            </a:r>
            <a:endParaRPr kumimoji="1" lang="en-US" altLang="zh-CN" sz="2800" dirty="0" smtClean="0">
              <a:latin typeface="宋体"/>
              <a:ea typeface="宋体"/>
              <a:cs typeface="宋体"/>
            </a:endParaRPr>
          </a:p>
          <a:p>
            <a:r>
              <a:rPr kumimoji="1" lang="zh-CN" altLang="en-US" sz="2800" dirty="0" smtClean="0">
                <a:latin typeface="宋体"/>
                <a:ea typeface="宋体"/>
                <a:cs typeface="宋体"/>
              </a:rPr>
              <a:t>错杀无辜</a:t>
            </a:r>
            <a:endParaRPr kumimoji="1" lang="en-US" altLang="zh-CN" sz="2800" dirty="0" smtClean="0">
              <a:latin typeface="宋体"/>
              <a:ea typeface="宋体"/>
              <a:cs typeface="宋体"/>
            </a:endParaRPr>
          </a:p>
          <a:p>
            <a:r>
              <a:rPr kumimoji="1" lang="zh-CN" altLang="en-US" sz="2800" dirty="0" smtClean="0">
                <a:latin typeface="宋体"/>
                <a:ea typeface="宋体"/>
                <a:cs typeface="宋体"/>
              </a:rPr>
              <a:t>立法上罪刑失衡</a:t>
            </a:r>
            <a:endParaRPr kumimoji="1" lang="en-US" altLang="zh-CN" sz="2800" dirty="0" smtClean="0">
              <a:latin typeface="宋体"/>
              <a:ea typeface="宋体"/>
              <a:cs typeface="宋体"/>
            </a:endParaRPr>
          </a:p>
          <a:p>
            <a:r>
              <a:rPr kumimoji="1" lang="en-US" altLang="zh-CN" sz="2800" dirty="0" smtClean="0">
                <a:latin typeface="宋体"/>
                <a:ea typeface="宋体"/>
                <a:cs typeface="宋体"/>
              </a:rPr>
              <a:t>……</a:t>
            </a:r>
          </a:p>
          <a:p>
            <a:r>
              <a:rPr kumimoji="1" lang="zh-CN" altLang="en-US" sz="2800" b="1" dirty="0" smtClean="0">
                <a:latin typeface="黑体"/>
                <a:ea typeface="黑体"/>
                <a:cs typeface="黑体"/>
              </a:rPr>
              <a:t>问题是，怎样限制主体性？</a:t>
            </a:r>
            <a:endParaRPr kumimoji="1" lang="zh-CN" altLang="en-US" sz="2800" b="1" dirty="0">
              <a:latin typeface="黑体"/>
              <a:ea typeface="黑体"/>
              <a:cs typeface="黑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81</a:t>
            </a:fld>
            <a:endParaRPr lang="zh-CN" altLang="en-US"/>
          </a:p>
        </p:txBody>
      </p:sp>
    </p:spTree>
    <p:extLst>
      <p:ext uri="{BB962C8B-B14F-4D97-AF65-F5344CB8AC3E}">
        <p14:creationId xmlns:p14="http://schemas.microsoft.com/office/powerpoint/2010/main" val="554976511"/>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99592" y="332656"/>
            <a:ext cx="7170737" cy="492125"/>
          </a:xfrm>
        </p:spPr>
        <p:txBody>
          <a:bodyPr/>
          <a:lstStyle/>
          <a:p>
            <a:pPr algn="ctr"/>
            <a:r>
              <a:rPr lang="zh-CN" altLang="en-US" sz="4400" b="1" dirty="0" smtClean="0">
                <a:latin typeface="黑体"/>
                <a:ea typeface="黑体"/>
                <a:cs typeface="黑体"/>
              </a:rPr>
              <a:t>第六讲</a:t>
            </a:r>
            <a:r>
              <a:rPr lang="en-US" altLang="zh-CN" sz="4400" b="1" dirty="0" smtClean="0">
                <a:latin typeface="黑体"/>
                <a:ea typeface="黑体"/>
                <a:cs typeface="黑体"/>
              </a:rPr>
              <a:t>  </a:t>
            </a:r>
            <a:r>
              <a:rPr lang="zh-CN" altLang="en-US" sz="4400" b="1" dirty="0" smtClean="0">
                <a:latin typeface="黑体"/>
                <a:ea typeface="黑体"/>
                <a:cs typeface="黑体"/>
              </a:rPr>
              <a:t>除</a:t>
            </a:r>
            <a:r>
              <a:rPr lang="zh-CN" altLang="zh-CN" sz="4400" b="1" dirty="0" smtClean="0">
                <a:latin typeface="黑体"/>
                <a:ea typeface="黑体"/>
                <a:cs typeface="黑体"/>
              </a:rPr>
              <a:t>刑</a:t>
            </a:r>
            <a:endParaRPr kumimoji="1" lang="zh-CN" altLang="en-US" sz="4400" b="1" dirty="0">
              <a:latin typeface="黑体"/>
              <a:ea typeface="黑体"/>
              <a:cs typeface="黑体"/>
            </a:endParaRPr>
          </a:p>
        </p:txBody>
      </p:sp>
      <p:sp>
        <p:nvSpPr>
          <p:cNvPr id="3" name="内容占位符 2"/>
          <p:cNvSpPr>
            <a:spLocks noGrp="1"/>
          </p:cNvSpPr>
          <p:nvPr>
            <p:ph idx="1"/>
          </p:nvPr>
        </p:nvSpPr>
        <p:spPr>
          <a:xfrm>
            <a:off x="457200" y="1125538"/>
            <a:ext cx="8435280" cy="5000625"/>
          </a:xfrm>
        </p:spPr>
        <p:txBody>
          <a:bodyPr/>
          <a:lstStyle/>
          <a:p>
            <a:r>
              <a:rPr lang="zh-CN" altLang="en-US" sz="2800" b="1" dirty="0" smtClean="0">
                <a:latin typeface="宋体"/>
                <a:ea typeface="宋体"/>
                <a:cs typeface="宋体"/>
              </a:rPr>
              <a:t>动刑条件只是必要条件，不是充要条件。</a:t>
            </a:r>
            <a:endParaRPr lang="en-US" altLang="zh-CN" sz="2800" b="1" dirty="0" smtClean="0">
              <a:latin typeface="宋体"/>
              <a:ea typeface="宋体"/>
              <a:cs typeface="宋体"/>
            </a:endParaRPr>
          </a:p>
          <a:p>
            <a:r>
              <a:rPr lang="zh-CN" altLang="zh-CN" sz="2800" b="1" dirty="0" smtClean="0">
                <a:latin typeface="宋体"/>
                <a:ea typeface="宋体"/>
                <a:cs typeface="宋体"/>
              </a:rPr>
              <a:t>除刑</a:t>
            </a:r>
            <a:r>
              <a:rPr lang="zh-CN" altLang="en-US" sz="2800" b="1" dirty="0" smtClean="0">
                <a:latin typeface="宋体"/>
                <a:ea typeface="宋体"/>
                <a:cs typeface="宋体"/>
              </a:rPr>
              <a:t>是</a:t>
            </a:r>
            <a:r>
              <a:rPr lang="zh-CN" altLang="zh-CN" sz="2800" b="1" dirty="0" smtClean="0">
                <a:latin typeface="宋体"/>
                <a:ea typeface="宋体"/>
                <a:cs typeface="宋体"/>
              </a:rPr>
              <a:t>消极</a:t>
            </a:r>
            <a:r>
              <a:rPr lang="zh-CN" altLang="zh-CN" sz="2800" b="1" dirty="0">
                <a:latin typeface="宋体"/>
                <a:ea typeface="宋体"/>
                <a:cs typeface="宋体"/>
              </a:rPr>
              <a:t>证否性事实，即“黑天鹅事由”，对某个可能被追究刑事责任的行为做出罪处理的过程。 </a:t>
            </a:r>
            <a:endParaRPr lang="en-US" altLang="zh-CN" sz="2800" b="1" dirty="0">
              <a:latin typeface="宋体"/>
              <a:ea typeface="宋体"/>
              <a:cs typeface="宋体"/>
            </a:endParaRPr>
          </a:p>
          <a:p>
            <a:r>
              <a:rPr lang="zh-CN" altLang="zh-CN" sz="2800" b="1" dirty="0" smtClean="0">
                <a:latin typeface="宋体"/>
                <a:ea typeface="宋体"/>
                <a:cs typeface="宋体"/>
              </a:rPr>
              <a:t>是某个可能被问责</a:t>
            </a:r>
            <a:r>
              <a:rPr lang="zh-CN" altLang="zh-CN" sz="2800" b="1" dirty="0">
                <a:latin typeface="宋体"/>
                <a:ea typeface="宋体"/>
                <a:cs typeface="宋体"/>
              </a:rPr>
              <a:t>的行为</a:t>
            </a:r>
            <a:r>
              <a:rPr lang="zh-CN" altLang="zh-CN" sz="3200" b="1" i="1" dirty="0">
                <a:solidFill>
                  <a:srgbClr val="FF0000"/>
                </a:solidFill>
                <a:latin typeface="Lantinghei SC Demibold" charset="-122"/>
                <a:ea typeface="Lantinghei SC Demibold" charset="-122"/>
                <a:cs typeface="Lantinghei SC Demibold" charset="-122"/>
              </a:rPr>
              <a:t>不</a:t>
            </a:r>
            <a:r>
              <a:rPr lang="zh-CN" altLang="zh-CN" sz="2800" b="1" dirty="0">
                <a:latin typeface="宋体"/>
                <a:ea typeface="宋体"/>
                <a:cs typeface="宋体"/>
              </a:rPr>
              <a:t>构成犯罪的基本理由</a:t>
            </a:r>
            <a:r>
              <a:rPr lang="zh-CN" altLang="zh-CN" sz="2800" b="1" dirty="0" smtClean="0">
                <a:latin typeface="宋体"/>
                <a:ea typeface="宋体"/>
                <a:cs typeface="宋体"/>
              </a:rPr>
              <a:t>，</a:t>
            </a:r>
            <a:endParaRPr lang="en-US" altLang="zh-CN" sz="2800" b="1" dirty="0" smtClean="0">
              <a:latin typeface="宋体"/>
              <a:ea typeface="宋体"/>
              <a:cs typeface="宋体"/>
            </a:endParaRPr>
          </a:p>
          <a:p>
            <a:r>
              <a:rPr lang="zh-CN" altLang="zh-CN" sz="2800" b="1" dirty="0" smtClean="0">
                <a:latin typeface="宋体"/>
                <a:ea typeface="宋体"/>
                <a:cs typeface="宋体"/>
              </a:rPr>
              <a:t>是</a:t>
            </a:r>
            <a:r>
              <a:rPr lang="zh-CN" altLang="zh-CN" sz="2800" b="1" dirty="0">
                <a:latin typeface="宋体"/>
                <a:ea typeface="宋体"/>
                <a:cs typeface="宋体"/>
              </a:rPr>
              <a:t>刑事责任认定过程中的一种保护性机制</a:t>
            </a:r>
            <a:r>
              <a:rPr lang="zh-CN" altLang="zh-CN" sz="2800" b="1" dirty="0" smtClean="0">
                <a:latin typeface="宋体"/>
                <a:ea typeface="宋体"/>
                <a:cs typeface="宋体"/>
              </a:rPr>
              <a:t>。</a:t>
            </a:r>
            <a:endParaRPr lang="en-US" altLang="zh-CN" sz="2800" b="1" dirty="0" smtClean="0">
              <a:latin typeface="宋体"/>
              <a:ea typeface="宋体"/>
              <a:cs typeface="宋体"/>
            </a:endParaRPr>
          </a:p>
          <a:p>
            <a:r>
              <a:rPr lang="zh-CN" altLang="zh-CN" sz="2800" b="1" dirty="0">
                <a:latin typeface="宋体"/>
                <a:ea typeface="宋体"/>
                <a:cs typeface="宋体"/>
              </a:rPr>
              <a:t>许多冤假错案</a:t>
            </a:r>
            <a:r>
              <a:rPr lang="zh-CN" altLang="zh-CN" sz="2800" b="1" dirty="0" smtClean="0">
                <a:latin typeface="宋体"/>
                <a:ea typeface="宋体"/>
                <a:cs typeface="宋体"/>
              </a:rPr>
              <a:t>，就是因为没有严格运行除刑</a:t>
            </a:r>
            <a:r>
              <a:rPr lang="zh-CN" altLang="zh-CN" sz="2800" b="1" dirty="0">
                <a:latin typeface="宋体"/>
                <a:ea typeface="宋体"/>
                <a:cs typeface="宋体"/>
              </a:rPr>
              <a:t>机制的恶果。 </a:t>
            </a:r>
            <a:endParaRPr lang="en-US" altLang="zh-CN" sz="2800" b="1" dirty="0" smtClean="0">
              <a:latin typeface="宋体"/>
              <a:ea typeface="宋体"/>
              <a:cs typeface="宋体"/>
            </a:endParaRPr>
          </a:p>
          <a:p>
            <a:r>
              <a:rPr lang="zh-CN" altLang="zh-CN" sz="2800" b="1" dirty="0" smtClean="0">
                <a:latin typeface="宋体"/>
                <a:ea typeface="宋体"/>
                <a:cs typeface="宋体"/>
              </a:rPr>
              <a:t>其</a:t>
            </a:r>
            <a:r>
              <a:rPr lang="zh-CN" altLang="zh-CN" sz="2800" b="1" dirty="0">
                <a:latin typeface="宋体"/>
                <a:ea typeface="宋体"/>
                <a:cs typeface="宋体"/>
              </a:rPr>
              <a:t>中，正当防卫、刑法效力、责任年龄、但书、刑罚消灭等等，都可以视为除刑问题。</a:t>
            </a:r>
          </a:p>
          <a:p>
            <a:endParaRPr kumimoji="1" lang="zh-CN" altLang="en-US" dirty="0"/>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82</a:t>
            </a:fld>
            <a:endParaRPr lang="zh-CN" altLang="en-US"/>
          </a:p>
        </p:txBody>
      </p:sp>
    </p:spTree>
    <p:extLst>
      <p:ext uri="{BB962C8B-B14F-4D97-AF65-F5344CB8AC3E}">
        <p14:creationId xmlns:p14="http://schemas.microsoft.com/office/powerpoint/2010/main" val="4003918083"/>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sz="3600" dirty="0" smtClean="0">
                <a:latin typeface="黑体"/>
                <a:ea typeface="黑体"/>
                <a:cs typeface="黑体"/>
              </a:rPr>
              <a:t>除刑之一</a:t>
            </a:r>
            <a:r>
              <a:rPr lang="zh-CN" altLang="zh-CN" sz="3600" dirty="0" smtClean="0">
                <a:latin typeface="黑体"/>
                <a:ea typeface="黑体"/>
                <a:cs typeface="黑体"/>
              </a:rPr>
              <a:t>：</a:t>
            </a:r>
            <a:r>
              <a:rPr lang="zh-CN" altLang="zh-CN" sz="3600" dirty="0">
                <a:latin typeface="黑体"/>
                <a:ea typeface="黑体"/>
                <a:cs typeface="黑体"/>
              </a:rPr>
              <a:t>罪刑法定 </a:t>
            </a:r>
            <a:endParaRPr kumimoji="1" lang="zh-CN" altLang="en-US" sz="3600" dirty="0">
              <a:latin typeface="黑体"/>
              <a:ea typeface="黑体"/>
              <a:cs typeface="黑体"/>
            </a:endParaRPr>
          </a:p>
        </p:txBody>
      </p:sp>
      <p:sp>
        <p:nvSpPr>
          <p:cNvPr id="3" name="内容占位符 2"/>
          <p:cNvSpPr>
            <a:spLocks noGrp="1"/>
          </p:cNvSpPr>
          <p:nvPr>
            <p:ph idx="1"/>
          </p:nvPr>
        </p:nvSpPr>
        <p:spPr>
          <a:xfrm>
            <a:off x="467544" y="908720"/>
            <a:ext cx="8229600" cy="5000625"/>
          </a:xfrm>
        </p:spPr>
        <p:txBody>
          <a:bodyPr/>
          <a:lstStyle/>
          <a:p>
            <a:r>
              <a:rPr lang="zh-CN" altLang="zh-CN" sz="3200" b="1" dirty="0">
                <a:latin typeface="楷体"/>
                <a:ea typeface="楷体"/>
                <a:cs typeface="楷体"/>
              </a:rPr>
              <a:t>“法无明文规定不为罪，法无明文规定不处罚</a:t>
            </a:r>
            <a:r>
              <a:rPr lang="zh-CN" altLang="zh-CN" sz="3200" b="1" dirty="0" smtClean="0">
                <a:latin typeface="楷体"/>
                <a:ea typeface="楷体"/>
                <a:cs typeface="楷体"/>
              </a:rPr>
              <a:t>”</a:t>
            </a:r>
            <a:endParaRPr lang="en-US" altLang="zh-CN" sz="3200" b="1" dirty="0" smtClean="0">
              <a:latin typeface="楷体"/>
              <a:ea typeface="楷体"/>
              <a:cs typeface="楷体"/>
            </a:endParaRPr>
          </a:p>
          <a:p>
            <a:r>
              <a:rPr lang="zh-CN" altLang="en-US" sz="2800" dirty="0" smtClean="0">
                <a:latin typeface="宋体"/>
                <a:ea typeface="宋体"/>
                <a:cs typeface="宋体"/>
              </a:rPr>
              <a:t>中国刑法</a:t>
            </a:r>
            <a:r>
              <a:rPr lang="zh-CN" altLang="zh-CN" sz="2800" dirty="0" smtClean="0">
                <a:latin typeface="宋体"/>
                <a:ea typeface="宋体"/>
                <a:cs typeface="宋体"/>
              </a:rPr>
              <a:t>第三条规</a:t>
            </a:r>
            <a:r>
              <a:rPr lang="zh-CN" altLang="zh-CN" sz="2800" dirty="0">
                <a:latin typeface="宋体"/>
                <a:ea typeface="宋体"/>
                <a:cs typeface="宋体"/>
              </a:rPr>
              <a:t>定：“法律明文规定为犯罪行为的，依照法律规定处罚；法律没有明文规定为犯罪行为的，不得定罪处罚”</a:t>
            </a:r>
            <a:r>
              <a:rPr lang="zh-CN" altLang="zh-CN" sz="2800" dirty="0" smtClean="0">
                <a:latin typeface="宋体"/>
                <a:ea typeface="宋体"/>
                <a:cs typeface="宋体"/>
              </a:rPr>
              <a:t>。—</a:t>
            </a:r>
            <a:r>
              <a:rPr lang="zh-CN" altLang="zh-CN" sz="2800" dirty="0">
                <a:latin typeface="宋体"/>
                <a:ea typeface="宋体"/>
                <a:cs typeface="宋体"/>
              </a:rPr>
              <a:t>—除了禁止法</a:t>
            </a:r>
            <a:r>
              <a:rPr lang="zh-CN" altLang="zh-CN" sz="2800" b="1" dirty="0">
                <a:latin typeface="宋体"/>
                <a:ea typeface="宋体"/>
                <a:cs typeface="宋体"/>
              </a:rPr>
              <a:t>外</a:t>
            </a:r>
            <a:r>
              <a:rPr lang="zh-CN" altLang="zh-CN" sz="2800" dirty="0">
                <a:latin typeface="宋体"/>
                <a:ea typeface="宋体"/>
                <a:cs typeface="宋体"/>
              </a:rPr>
              <a:t>入罪以外，还增加了禁止法</a:t>
            </a:r>
            <a:r>
              <a:rPr lang="zh-CN" altLang="zh-CN" sz="2800" b="1" dirty="0">
                <a:latin typeface="宋体"/>
                <a:ea typeface="宋体"/>
                <a:cs typeface="宋体"/>
              </a:rPr>
              <a:t>内</a:t>
            </a:r>
            <a:r>
              <a:rPr lang="zh-CN" altLang="zh-CN" sz="2800" dirty="0">
                <a:latin typeface="宋体"/>
                <a:ea typeface="宋体"/>
                <a:cs typeface="宋体"/>
              </a:rPr>
              <a:t>出罪的功能</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en-US" sz="2800" dirty="0" smtClean="0">
                <a:latin typeface="宋体"/>
                <a:ea typeface="宋体"/>
                <a:cs typeface="宋体"/>
              </a:rPr>
              <a:t>案例：</a:t>
            </a:r>
            <a:r>
              <a:rPr lang="en-US" altLang="zh-CN" sz="2800" dirty="0" smtClean="0">
                <a:latin typeface="宋体"/>
                <a:ea typeface="宋体"/>
                <a:cs typeface="宋体"/>
              </a:rPr>
              <a:t>1996</a:t>
            </a:r>
            <a:r>
              <a:rPr lang="zh-CN" altLang="zh-CN" sz="2800" dirty="0">
                <a:latin typeface="宋体"/>
                <a:ea typeface="宋体"/>
                <a:cs typeface="宋体"/>
              </a:rPr>
              <a:t>年</a:t>
            </a:r>
            <a:r>
              <a:rPr lang="en-US" altLang="zh-CN" sz="2800" dirty="0">
                <a:latin typeface="宋体"/>
                <a:ea typeface="宋体"/>
                <a:cs typeface="宋体"/>
              </a:rPr>
              <a:t>8</a:t>
            </a:r>
            <a:r>
              <a:rPr lang="zh-CN" altLang="zh-CN" sz="2800" dirty="0">
                <a:latin typeface="宋体"/>
                <a:ea typeface="宋体"/>
                <a:cs typeface="宋体"/>
              </a:rPr>
              <a:t>月</a:t>
            </a:r>
            <a:r>
              <a:rPr lang="en-US" altLang="zh-CN" sz="2800" dirty="0">
                <a:latin typeface="宋体"/>
                <a:ea typeface="宋体"/>
                <a:cs typeface="宋体"/>
              </a:rPr>
              <a:t>9</a:t>
            </a:r>
            <a:r>
              <a:rPr lang="zh-CN" altLang="zh-CN" sz="2800" dirty="0">
                <a:latin typeface="宋体"/>
                <a:ea typeface="宋体"/>
                <a:cs typeface="宋体"/>
              </a:rPr>
              <a:t>日晚，</a:t>
            </a:r>
            <a:r>
              <a:rPr lang="zh-CN" altLang="zh-CN" sz="2800" dirty="0" smtClean="0">
                <a:latin typeface="宋体"/>
                <a:ea typeface="宋体"/>
                <a:cs typeface="宋体"/>
              </a:rPr>
              <a:t>被告许贤同因涉嫌盗窃被公安局审查</a:t>
            </a:r>
            <a:r>
              <a:rPr lang="zh-CN" altLang="zh-CN" sz="2800" dirty="0">
                <a:latin typeface="宋体"/>
                <a:ea typeface="宋体"/>
                <a:cs typeface="宋体"/>
              </a:rPr>
              <a:t>，次日凌晨</a:t>
            </a:r>
            <a:r>
              <a:rPr lang="en-US" altLang="zh-CN" sz="2800" dirty="0">
                <a:latin typeface="宋体"/>
                <a:ea typeface="宋体"/>
                <a:cs typeface="宋体"/>
              </a:rPr>
              <a:t>6</a:t>
            </a:r>
            <a:r>
              <a:rPr lang="zh-CN" altLang="zh-CN" sz="2800" dirty="0">
                <a:latin typeface="宋体"/>
                <a:ea typeface="宋体"/>
                <a:cs typeface="宋体"/>
              </a:rPr>
              <a:t>时许</a:t>
            </a:r>
            <a:r>
              <a:rPr lang="zh-CN" altLang="zh-CN" sz="2800" dirty="0" smtClean="0">
                <a:latin typeface="宋体"/>
                <a:ea typeface="宋体"/>
                <a:cs typeface="宋体"/>
              </a:rPr>
              <a:t>，许乘看守民警胡</a:t>
            </a:r>
            <a:r>
              <a:rPr lang="zh-CN" altLang="en-US" sz="2800" dirty="0" smtClean="0">
                <a:latin typeface="宋体"/>
                <a:ea typeface="宋体"/>
                <a:cs typeface="宋体"/>
              </a:rPr>
              <a:t>某</a:t>
            </a:r>
            <a:r>
              <a:rPr lang="zh-CN" altLang="zh-CN" sz="2800" dirty="0" smtClean="0">
                <a:latin typeface="宋体"/>
                <a:ea typeface="宋体"/>
                <a:cs typeface="宋体"/>
              </a:rPr>
              <a:t>不备</a:t>
            </a:r>
            <a:r>
              <a:rPr lang="zh-CN" altLang="zh-CN" sz="2800" dirty="0">
                <a:latin typeface="宋体"/>
                <a:ea typeface="宋体"/>
                <a:cs typeface="宋体"/>
              </a:rPr>
              <a:t>，</a:t>
            </a:r>
            <a:r>
              <a:rPr lang="zh-CN" altLang="zh-CN" sz="2800" dirty="0" smtClean="0">
                <a:latin typeface="宋体"/>
                <a:ea typeface="宋体"/>
                <a:cs typeface="宋体"/>
              </a:rPr>
              <a:t>挣脱绳索，</a:t>
            </a:r>
            <a:r>
              <a:rPr lang="zh-CN" altLang="en-US" sz="2800" dirty="0" smtClean="0">
                <a:latin typeface="宋体"/>
                <a:ea typeface="宋体"/>
                <a:cs typeface="宋体"/>
              </a:rPr>
              <a:t>用</a:t>
            </a:r>
            <a:r>
              <a:rPr lang="zh-CN" altLang="zh-CN" sz="2800" dirty="0" smtClean="0">
                <a:latin typeface="宋体"/>
                <a:ea typeface="宋体"/>
                <a:cs typeface="宋体"/>
              </a:rPr>
              <a:t>铁锤击打胡头部</a:t>
            </a:r>
            <a:r>
              <a:rPr lang="zh-CN" altLang="zh-CN" sz="2800" dirty="0">
                <a:latin typeface="宋体"/>
                <a:ea typeface="宋体"/>
                <a:cs typeface="宋体"/>
              </a:rPr>
              <a:t>，致其当场昏迷，</a:t>
            </a:r>
            <a:r>
              <a:rPr lang="zh-CN" altLang="zh-CN" sz="2800" dirty="0" smtClean="0">
                <a:latin typeface="宋体"/>
                <a:ea typeface="宋体"/>
                <a:cs typeface="宋体"/>
              </a:rPr>
              <a:t>抢去胡携带的手枪、子弹后逃离现场</a:t>
            </a:r>
            <a:r>
              <a:rPr lang="zh-CN" altLang="zh-CN" sz="2800" dirty="0">
                <a:latin typeface="宋体"/>
                <a:ea typeface="宋体"/>
                <a:cs typeface="宋体"/>
              </a:rPr>
              <a:t>。</a:t>
            </a:r>
          </a:p>
          <a:p>
            <a:r>
              <a:rPr kumimoji="1" lang="zh-CN" altLang="en-US" sz="2800" b="1" dirty="0">
                <a:latin typeface="楷体"/>
                <a:ea typeface="楷体"/>
                <a:cs typeface="楷体"/>
              </a:rPr>
              <a:t>问题：被告的行为是否构成</a:t>
            </a:r>
            <a:r>
              <a:rPr kumimoji="1" lang="zh-CN" altLang="zh-CN" sz="2800" b="1" dirty="0">
                <a:latin typeface="楷体"/>
                <a:ea typeface="楷体"/>
                <a:cs typeface="楷体"/>
              </a:rPr>
              <a:t>抢劫枪支罪</a:t>
            </a:r>
            <a:r>
              <a:rPr kumimoji="1" lang="zh-CN" altLang="en-US" sz="2800" b="1" dirty="0">
                <a:latin typeface="楷体"/>
                <a:ea typeface="楷体"/>
                <a:cs typeface="楷体"/>
              </a:rPr>
              <a:t>？</a:t>
            </a:r>
            <a:r>
              <a:rPr lang="zh-CN" altLang="zh-CN" sz="2800" dirty="0" smtClean="0">
                <a:latin typeface="宋体"/>
                <a:ea typeface="宋体"/>
                <a:cs typeface="宋体"/>
              </a:rPr>
              <a:t>  </a:t>
            </a:r>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83</a:t>
            </a:fld>
            <a:endParaRPr lang="zh-CN" altLang="en-US"/>
          </a:p>
        </p:txBody>
      </p:sp>
    </p:spTree>
    <p:extLst>
      <p:ext uri="{BB962C8B-B14F-4D97-AF65-F5344CB8AC3E}">
        <p14:creationId xmlns:p14="http://schemas.microsoft.com/office/powerpoint/2010/main" val="465999349"/>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438" y="211138"/>
            <a:ext cx="8316986" cy="492125"/>
          </a:xfrm>
        </p:spPr>
        <p:txBody>
          <a:bodyPr/>
          <a:lstStyle/>
          <a:p>
            <a:pPr algn="ctr"/>
            <a:r>
              <a:rPr kumimoji="1" lang="zh-CN" altLang="en-US" sz="3200" dirty="0" smtClean="0">
                <a:latin typeface="黑体"/>
                <a:ea typeface="黑体"/>
                <a:cs typeface="黑体"/>
              </a:rPr>
              <a:t>罪刑法定原则之一：禁止类推</a:t>
            </a:r>
            <a:endParaRPr kumimoji="1" lang="zh-CN" altLang="en-US" sz="3200" dirty="0">
              <a:latin typeface="黑体"/>
              <a:ea typeface="黑体"/>
              <a:cs typeface="黑体"/>
            </a:endParaRPr>
          </a:p>
        </p:txBody>
      </p:sp>
      <p:sp>
        <p:nvSpPr>
          <p:cNvPr id="3" name="内容占位符 2"/>
          <p:cNvSpPr>
            <a:spLocks noGrp="1"/>
          </p:cNvSpPr>
          <p:nvPr>
            <p:ph idx="1"/>
          </p:nvPr>
        </p:nvSpPr>
        <p:spPr>
          <a:xfrm>
            <a:off x="467544" y="836712"/>
            <a:ext cx="8229600" cy="5000625"/>
          </a:xfrm>
        </p:spPr>
        <p:txBody>
          <a:bodyPr/>
          <a:lstStyle/>
          <a:p>
            <a:r>
              <a:rPr lang="zh-CN" altLang="zh-CN" sz="2800" dirty="0" smtClean="0">
                <a:latin typeface="宋体"/>
                <a:ea typeface="宋体"/>
                <a:cs typeface="宋体"/>
              </a:rPr>
              <a:t>类推，</a:t>
            </a:r>
            <a:r>
              <a:rPr lang="zh-CN" altLang="zh-CN" sz="2800" dirty="0">
                <a:latin typeface="宋体"/>
                <a:ea typeface="宋体"/>
                <a:cs typeface="宋体"/>
              </a:rPr>
              <a:t>是对法无明文规定的行为比照与其最相类似的罪名予以定罪处罚</a:t>
            </a:r>
            <a:r>
              <a:rPr lang="zh-CN" altLang="zh-CN" sz="2800" dirty="0" smtClean="0">
                <a:latin typeface="宋体"/>
                <a:ea typeface="宋体"/>
                <a:cs typeface="宋体"/>
              </a:rPr>
              <a:t>。是不利于被告的入罪解释。允许法官法外定罪处罚，</a:t>
            </a:r>
            <a:r>
              <a:rPr lang="zh-CN" altLang="zh-CN" sz="2800" dirty="0">
                <a:latin typeface="宋体"/>
                <a:ea typeface="宋体"/>
                <a:cs typeface="宋体"/>
              </a:rPr>
              <a:t>可能助长司法权的滥用</a:t>
            </a:r>
            <a:r>
              <a:rPr lang="zh-CN" altLang="zh-CN" sz="2800" dirty="0" smtClean="0">
                <a:latin typeface="宋体"/>
                <a:ea typeface="宋体"/>
                <a:cs typeface="宋体"/>
              </a:rPr>
              <a:t>，与</a:t>
            </a:r>
            <a:r>
              <a:rPr lang="zh-CN" altLang="zh-CN" sz="2800" dirty="0">
                <a:latin typeface="宋体"/>
                <a:ea typeface="宋体"/>
                <a:cs typeface="宋体"/>
              </a:rPr>
              <a:t>罪刑法定的基本精神相悖</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en-US" sz="2800" dirty="0" smtClean="0">
                <a:latin typeface="宋体"/>
                <a:ea typeface="宋体"/>
                <a:cs typeface="宋体"/>
              </a:rPr>
              <a:t>案例：</a:t>
            </a:r>
            <a:r>
              <a:rPr lang="en-US" altLang="zh-CN" sz="2800" dirty="0">
                <a:latin typeface="宋体"/>
                <a:ea typeface="宋体"/>
                <a:cs typeface="宋体"/>
              </a:rPr>
              <a:t>1987</a:t>
            </a:r>
            <a:r>
              <a:rPr lang="zh-CN" altLang="zh-CN" sz="2800" dirty="0">
                <a:latin typeface="宋体"/>
                <a:ea typeface="宋体"/>
                <a:cs typeface="宋体"/>
              </a:rPr>
              <a:t>年</a:t>
            </a:r>
            <a:r>
              <a:rPr lang="en-US" altLang="zh-CN" sz="2800" dirty="0">
                <a:latin typeface="宋体"/>
                <a:ea typeface="宋体"/>
                <a:cs typeface="宋体"/>
              </a:rPr>
              <a:t>2</a:t>
            </a:r>
            <a:r>
              <a:rPr lang="zh-CN" altLang="zh-CN" sz="2800" dirty="0">
                <a:latin typeface="宋体"/>
                <a:ea typeface="宋体"/>
                <a:cs typeface="宋体"/>
              </a:rPr>
              <a:t>月，</a:t>
            </a:r>
            <a:r>
              <a:rPr lang="zh-CN" altLang="zh-CN" sz="2800" dirty="0" smtClean="0">
                <a:latin typeface="宋体"/>
                <a:ea typeface="宋体"/>
                <a:cs typeface="宋体"/>
              </a:rPr>
              <a:t>被告马晓东与来沪经商的郭长浩结识</a:t>
            </a:r>
            <a:r>
              <a:rPr lang="zh-CN" altLang="zh-CN" sz="2800" dirty="0">
                <a:latin typeface="宋体"/>
                <a:ea typeface="宋体"/>
                <a:cs typeface="宋体"/>
              </a:rPr>
              <a:t>。</a:t>
            </a:r>
            <a:r>
              <a:rPr lang="zh-CN" altLang="zh-CN" sz="2800" dirty="0" smtClean="0">
                <a:latin typeface="宋体"/>
                <a:ea typeface="宋体"/>
                <a:cs typeface="宋体"/>
              </a:rPr>
              <a:t>郭</a:t>
            </a:r>
            <a:r>
              <a:rPr lang="zh-CN" altLang="en-US" sz="2800" dirty="0" smtClean="0">
                <a:latin typeface="宋体"/>
                <a:ea typeface="宋体"/>
                <a:cs typeface="宋体"/>
              </a:rPr>
              <a:t>外出</a:t>
            </a:r>
            <a:r>
              <a:rPr lang="zh-CN" altLang="zh-CN" sz="2800" dirty="0" smtClean="0">
                <a:latin typeface="宋体"/>
                <a:ea typeface="宋体"/>
                <a:cs typeface="宋体"/>
              </a:rPr>
              <a:t>办事</a:t>
            </a:r>
            <a:r>
              <a:rPr lang="zh-CN" altLang="zh-CN" sz="2800" dirty="0">
                <a:latin typeface="宋体"/>
                <a:ea typeface="宋体"/>
                <a:cs typeface="宋体"/>
              </a:rPr>
              <a:t>，</a:t>
            </a:r>
            <a:r>
              <a:rPr lang="zh-CN" altLang="zh-CN" sz="2800" dirty="0" smtClean="0">
                <a:latin typeface="宋体"/>
                <a:ea typeface="宋体"/>
                <a:cs typeface="宋体"/>
              </a:rPr>
              <a:t>将密码箱交给马</a:t>
            </a:r>
            <a:r>
              <a:rPr lang="zh-CN" altLang="zh-CN" sz="2800" dirty="0">
                <a:latin typeface="宋体"/>
                <a:ea typeface="宋体"/>
                <a:cs typeface="宋体"/>
              </a:rPr>
              <a:t>保管。</a:t>
            </a:r>
            <a:r>
              <a:rPr lang="zh-CN" altLang="zh-CN" sz="2800" dirty="0" smtClean="0">
                <a:latin typeface="宋体"/>
                <a:ea typeface="宋体"/>
                <a:cs typeface="宋体"/>
              </a:rPr>
              <a:t>马在郭</a:t>
            </a:r>
            <a:r>
              <a:rPr lang="zh-CN" altLang="en-US" sz="2800" dirty="0" smtClean="0">
                <a:latin typeface="宋体"/>
                <a:ea typeface="宋体"/>
                <a:cs typeface="宋体"/>
              </a:rPr>
              <a:t>离开</a:t>
            </a:r>
            <a:r>
              <a:rPr lang="zh-CN" altLang="zh-CN" sz="2800" dirty="0" smtClean="0">
                <a:latin typeface="宋体"/>
                <a:ea typeface="宋体"/>
                <a:cs typeface="宋体"/>
              </a:rPr>
              <a:t>后撬开</a:t>
            </a:r>
            <a:r>
              <a:rPr lang="zh-CN" altLang="zh-CN" sz="2800" dirty="0">
                <a:latin typeface="宋体"/>
                <a:ea typeface="宋体"/>
                <a:cs typeface="宋体"/>
              </a:rPr>
              <a:t>手提箱，</a:t>
            </a:r>
            <a:r>
              <a:rPr lang="zh-CN" altLang="zh-CN" sz="2800" dirty="0" smtClean="0">
                <a:latin typeface="宋体"/>
                <a:ea typeface="宋体"/>
                <a:cs typeface="宋体"/>
              </a:rPr>
              <a:t>窃取银行存款折</a:t>
            </a:r>
            <a:r>
              <a:rPr lang="zh-CN" altLang="zh-CN" sz="2800" dirty="0">
                <a:latin typeface="宋体"/>
                <a:ea typeface="宋体"/>
                <a:cs typeface="宋体"/>
              </a:rPr>
              <a:t>、</a:t>
            </a:r>
            <a:r>
              <a:rPr lang="zh-CN" altLang="zh-CN" sz="2800" dirty="0" smtClean="0">
                <a:latin typeface="宋体"/>
                <a:ea typeface="宋体"/>
                <a:cs typeface="宋体"/>
              </a:rPr>
              <a:t>现金</a:t>
            </a:r>
            <a:r>
              <a:rPr lang="zh-CN" altLang="zh-CN" sz="2800" dirty="0">
                <a:latin typeface="宋体"/>
                <a:ea typeface="宋体"/>
                <a:cs typeface="宋体"/>
              </a:rPr>
              <a:t>、</a:t>
            </a:r>
            <a:r>
              <a:rPr lang="zh-CN" altLang="zh-CN" sz="2800" dirty="0" smtClean="0">
                <a:latin typeface="宋体"/>
                <a:ea typeface="宋体"/>
                <a:cs typeface="宋体"/>
              </a:rPr>
              <a:t>私人图章等财物，</a:t>
            </a:r>
            <a:r>
              <a:rPr lang="zh-CN" altLang="en-US" sz="2800" dirty="0" smtClean="0">
                <a:latin typeface="宋体"/>
                <a:ea typeface="宋体"/>
                <a:cs typeface="宋体"/>
              </a:rPr>
              <a:t>并</a:t>
            </a:r>
            <a:r>
              <a:rPr lang="zh-CN" altLang="zh-CN" sz="2800" dirty="0" smtClean="0">
                <a:latin typeface="宋体"/>
                <a:ea typeface="宋体"/>
                <a:cs typeface="宋体"/>
              </a:rPr>
              <a:t>先后数次从银</a:t>
            </a:r>
            <a:r>
              <a:rPr lang="zh-CN" altLang="zh-CN" sz="2800" dirty="0">
                <a:latin typeface="宋体"/>
                <a:ea typeface="宋体"/>
                <a:cs typeface="宋体"/>
              </a:rPr>
              <a:t>行支取郭的存款合计</a:t>
            </a:r>
            <a:r>
              <a:rPr lang="en-US" altLang="zh-CN" sz="2800" dirty="0">
                <a:latin typeface="宋体"/>
                <a:ea typeface="宋体"/>
                <a:cs typeface="宋体"/>
              </a:rPr>
              <a:t>2</a:t>
            </a:r>
            <a:r>
              <a:rPr lang="zh-CN" altLang="zh-CN" sz="2800" dirty="0">
                <a:latin typeface="宋体"/>
                <a:ea typeface="宋体"/>
                <a:cs typeface="宋体"/>
              </a:rPr>
              <a:t>万多元用于挥霍。郭返回广州后，发现马去向不明，向公安机关报案。 </a:t>
            </a:r>
            <a:r>
              <a:rPr lang="zh-CN" altLang="zh-CN" sz="2800" dirty="0" smtClean="0">
                <a:latin typeface="宋体"/>
                <a:ea typeface="宋体"/>
                <a:cs typeface="宋体"/>
              </a:rPr>
              <a:t> </a:t>
            </a:r>
            <a:endParaRPr lang="en-US" altLang="zh-CN" sz="2800" dirty="0" smtClean="0">
              <a:latin typeface="宋体"/>
              <a:ea typeface="宋体"/>
              <a:cs typeface="宋体"/>
            </a:endParaRPr>
          </a:p>
          <a:p>
            <a:r>
              <a:rPr kumimoji="1" lang="zh-CN" altLang="en-US" sz="2800" dirty="0" smtClean="0">
                <a:latin typeface="宋体"/>
                <a:ea typeface="宋体"/>
                <a:cs typeface="宋体"/>
              </a:rPr>
              <a:t>问题：当时刑法没有侵占罪，能否按盗窃罪定罪？</a:t>
            </a:r>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84</a:t>
            </a:fld>
            <a:endParaRPr lang="zh-CN" altLang="en-US"/>
          </a:p>
        </p:txBody>
      </p:sp>
    </p:spTree>
    <p:extLst>
      <p:ext uri="{BB962C8B-B14F-4D97-AF65-F5344CB8AC3E}">
        <p14:creationId xmlns:p14="http://schemas.microsoft.com/office/powerpoint/2010/main" val="1077065784"/>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一个时代的结束</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zh-CN" altLang="zh-CN" sz="2800" dirty="0">
                <a:latin typeface="宋体"/>
                <a:ea typeface="宋体"/>
                <a:cs typeface="宋体"/>
              </a:rPr>
              <a:t>侵占罪是指，以非法占有为目的，将自己代为保管的他人财物非法占为己有，数额较大，拒不退还或者将他人的遗忘物或者埋藏物非法占为己有，数额较大，拒不交出的行为。 </a:t>
            </a:r>
            <a:endParaRPr lang="en-US" altLang="zh-CN" sz="2800" dirty="0" smtClean="0">
              <a:latin typeface="宋体"/>
              <a:ea typeface="宋体"/>
              <a:cs typeface="宋体"/>
            </a:endParaRPr>
          </a:p>
          <a:p>
            <a:r>
              <a:rPr kumimoji="1" lang="zh-CN" altLang="en-US" sz="2800" dirty="0" smtClean="0">
                <a:latin typeface="宋体"/>
                <a:ea typeface="宋体"/>
                <a:cs typeface="宋体"/>
              </a:rPr>
              <a:t>此案经四级法院审理定罪，依据</a:t>
            </a:r>
            <a:r>
              <a:rPr lang="zh-CN" altLang="zh-CN" sz="2800" dirty="0" smtClean="0">
                <a:latin typeface="宋体"/>
                <a:ea typeface="宋体"/>
                <a:cs typeface="宋体"/>
              </a:rPr>
              <a:t>是</a:t>
            </a:r>
            <a:r>
              <a:rPr lang="en-US" altLang="zh-CN" sz="2800" dirty="0">
                <a:latin typeface="宋体"/>
                <a:ea typeface="宋体"/>
                <a:cs typeface="宋体"/>
              </a:rPr>
              <a:t>1979</a:t>
            </a:r>
            <a:r>
              <a:rPr lang="zh-CN" altLang="zh-CN" sz="2800" dirty="0">
                <a:latin typeface="宋体"/>
                <a:ea typeface="宋体"/>
                <a:cs typeface="宋体"/>
              </a:rPr>
              <a:t>年刑法典第七十九条的规定，即“本法分则没有明文规定的犯罪，可以比照本法分则最相类似的条文定罪判刑，但是应当报请最高人民法院核准。” </a:t>
            </a:r>
            <a:endParaRPr lang="en-US" altLang="zh-CN" sz="2800" dirty="0" smtClean="0">
              <a:latin typeface="宋体"/>
              <a:ea typeface="宋体"/>
              <a:cs typeface="宋体"/>
            </a:endParaRPr>
          </a:p>
          <a:p>
            <a:r>
              <a:rPr lang="zh-CN" altLang="en-US" sz="2800" dirty="0" smtClean="0">
                <a:latin typeface="宋体"/>
                <a:ea typeface="宋体"/>
                <a:cs typeface="宋体"/>
              </a:rPr>
              <a:t>历史上最后一批类推案件，标志着一个时代的结束。</a:t>
            </a:r>
            <a:endParaRPr lang="en-US" altLang="zh-CN" sz="2800" dirty="0" smtClean="0">
              <a:latin typeface="宋体"/>
              <a:ea typeface="宋体"/>
              <a:cs typeface="宋体"/>
            </a:endParaRPr>
          </a:p>
          <a:p>
            <a:endParaRPr kumimoji="1" lang="zh-CN" altLang="en-US" dirty="0"/>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85</a:t>
            </a:fld>
            <a:endParaRPr lang="zh-CN" altLang="en-US"/>
          </a:p>
        </p:txBody>
      </p:sp>
    </p:spTree>
    <p:extLst>
      <p:ext uri="{BB962C8B-B14F-4D97-AF65-F5344CB8AC3E}">
        <p14:creationId xmlns:p14="http://schemas.microsoft.com/office/powerpoint/2010/main" val="2890436736"/>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类推与扩大解释之间</a:t>
            </a:r>
            <a:endParaRPr kumimoji="1" lang="zh-CN" altLang="en-US" sz="3200" dirty="0">
              <a:latin typeface="黑体"/>
              <a:ea typeface="黑体"/>
              <a:cs typeface="黑体"/>
            </a:endParaRPr>
          </a:p>
        </p:txBody>
      </p:sp>
      <p:sp>
        <p:nvSpPr>
          <p:cNvPr id="3" name="内容占位符 2"/>
          <p:cNvSpPr>
            <a:spLocks noGrp="1"/>
          </p:cNvSpPr>
          <p:nvPr>
            <p:ph idx="1"/>
          </p:nvPr>
        </p:nvSpPr>
        <p:spPr>
          <a:xfrm>
            <a:off x="467544" y="908720"/>
            <a:ext cx="8229600" cy="5688632"/>
          </a:xfrm>
        </p:spPr>
        <p:txBody>
          <a:bodyPr/>
          <a:lstStyle/>
          <a:p>
            <a:r>
              <a:rPr lang="zh-CN" altLang="en-US" dirty="0" smtClean="0">
                <a:latin typeface="宋体"/>
                <a:ea typeface="宋体"/>
                <a:cs typeface="宋体"/>
              </a:rPr>
              <a:t>能否</a:t>
            </a:r>
            <a:r>
              <a:rPr lang="zh-CN" altLang="zh-CN" dirty="0" smtClean="0">
                <a:latin typeface="宋体"/>
                <a:ea typeface="宋体"/>
                <a:cs typeface="宋体"/>
              </a:rPr>
              <a:t>将鸡奸男童的行为解释为奸淫幼女</a:t>
            </a:r>
            <a:r>
              <a:rPr lang="zh-CN" altLang="en-US" dirty="0" smtClean="0">
                <a:latin typeface="宋体"/>
                <a:ea typeface="宋体"/>
                <a:cs typeface="宋体"/>
              </a:rPr>
              <a:t>？</a:t>
            </a:r>
            <a:endParaRPr lang="en-US" altLang="zh-CN" dirty="0" smtClean="0">
              <a:latin typeface="宋体"/>
              <a:ea typeface="宋体"/>
              <a:cs typeface="宋体"/>
            </a:endParaRPr>
          </a:p>
          <a:p>
            <a:r>
              <a:rPr lang="zh-CN" altLang="en-US" dirty="0" smtClean="0">
                <a:latin typeface="宋体"/>
                <a:ea typeface="宋体"/>
                <a:cs typeface="宋体"/>
              </a:rPr>
              <a:t>能否</a:t>
            </a:r>
            <a:r>
              <a:rPr lang="zh-CN" altLang="zh-CN" dirty="0" smtClean="0">
                <a:latin typeface="宋体"/>
                <a:ea typeface="宋体"/>
                <a:cs typeface="宋体"/>
              </a:rPr>
              <a:t>将伪造假币中</a:t>
            </a:r>
            <a:r>
              <a:rPr lang="zh-CN" altLang="zh-CN" dirty="0">
                <a:latin typeface="宋体"/>
                <a:ea typeface="宋体"/>
                <a:cs typeface="宋体"/>
              </a:rPr>
              <a:t>使用的铜版解释为假币本</a:t>
            </a:r>
            <a:r>
              <a:rPr lang="zh-CN" altLang="zh-CN" dirty="0" smtClean="0">
                <a:latin typeface="宋体"/>
                <a:ea typeface="宋体"/>
                <a:cs typeface="宋体"/>
              </a:rPr>
              <a:t>身</a:t>
            </a:r>
            <a:r>
              <a:rPr lang="zh-CN" altLang="en-US" dirty="0" smtClean="0">
                <a:latin typeface="宋体"/>
                <a:ea typeface="宋体"/>
                <a:cs typeface="宋体"/>
              </a:rPr>
              <a:t>？</a:t>
            </a:r>
            <a:endParaRPr lang="zh-CN" altLang="zh-CN" dirty="0">
              <a:latin typeface="宋体"/>
              <a:ea typeface="宋体"/>
              <a:cs typeface="宋体"/>
            </a:endParaRPr>
          </a:p>
          <a:p>
            <a:r>
              <a:rPr lang="zh-CN" altLang="zh-CN" dirty="0">
                <a:latin typeface="宋体"/>
                <a:ea typeface="宋体"/>
                <a:cs typeface="宋体"/>
              </a:rPr>
              <a:t>能否把真军警抢劫解释为“冒充军警抢劫”？</a:t>
            </a:r>
          </a:p>
          <a:p>
            <a:r>
              <a:rPr lang="zh-CN" altLang="zh-CN" dirty="0">
                <a:latin typeface="宋体"/>
                <a:ea typeface="宋体"/>
                <a:cs typeface="宋体"/>
              </a:rPr>
              <a:t>能否把组织男妓卖淫解释为组织卖淫</a:t>
            </a:r>
            <a:r>
              <a:rPr lang="zh-CN" altLang="zh-CN" dirty="0" smtClean="0">
                <a:latin typeface="宋体"/>
                <a:ea typeface="宋体"/>
                <a:cs typeface="宋体"/>
              </a:rPr>
              <a:t>？</a:t>
            </a:r>
            <a:endParaRPr lang="en-US" altLang="zh-CN" dirty="0" smtClean="0">
              <a:latin typeface="宋体"/>
              <a:ea typeface="宋体"/>
              <a:cs typeface="宋体"/>
            </a:endParaRPr>
          </a:p>
          <a:p>
            <a:r>
              <a:rPr lang="zh-CN" altLang="en-US" dirty="0" smtClean="0">
                <a:latin typeface="宋体"/>
                <a:ea typeface="宋体"/>
                <a:cs typeface="宋体"/>
              </a:rPr>
              <a:t>入户抢劫的“户”到底包括哪些范围？</a:t>
            </a:r>
            <a:endParaRPr lang="en-US" altLang="zh-CN" dirty="0" smtClean="0">
              <a:latin typeface="宋体"/>
              <a:ea typeface="宋体"/>
              <a:cs typeface="宋体"/>
            </a:endParaRPr>
          </a:p>
          <a:p>
            <a:r>
              <a:rPr lang="zh-CN" altLang="en-US" dirty="0" smtClean="0">
                <a:latin typeface="宋体"/>
                <a:ea typeface="宋体"/>
                <a:cs typeface="宋体"/>
              </a:rPr>
              <a:t>能否将“墙”解释为“凶器”？</a:t>
            </a:r>
            <a:endParaRPr lang="en-US" altLang="zh-CN" dirty="0" smtClean="0">
              <a:latin typeface="宋体"/>
              <a:ea typeface="宋体"/>
              <a:cs typeface="宋体"/>
            </a:endParaRPr>
          </a:p>
          <a:p>
            <a:r>
              <a:rPr lang="zh-CN" altLang="en-US" dirty="0" smtClean="0">
                <a:latin typeface="宋体"/>
                <a:ea typeface="宋体"/>
                <a:cs typeface="宋体"/>
              </a:rPr>
              <a:t>能否将股票解释进“款”？</a:t>
            </a:r>
            <a:endParaRPr lang="en-US" altLang="zh-CN" dirty="0" smtClean="0">
              <a:latin typeface="宋体"/>
              <a:ea typeface="宋体"/>
              <a:cs typeface="宋体"/>
            </a:endParaRPr>
          </a:p>
          <a:p>
            <a:r>
              <a:rPr lang="zh-CN" altLang="en-US" dirty="0" smtClean="0">
                <a:latin typeface="宋体"/>
                <a:ea typeface="宋体"/>
                <a:cs typeface="宋体"/>
              </a:rPr>
              <a:t>能否将拐卖“基本上为男性的双性人”解释为拐卖妇女的对象？</a:t>
            </a:r>
            <a:endParaRPr lang="en-US" altLang="zh-CN" dirty="0" smtClean="0">
              <a:latin typeface="宋体"/>
              <a:ea typeface="宋体"/>
              <a:cs typeface="宋体"/>
            </a:endParaRPr>
          </a:p>
          <a:p>
            <a:r>
              <a:rPr lang="zh-CN" altLang="en-US" dirty="0" smtClean="0">
                <a:latin typeface="宋体"/>
                <a:ea typeface="宋体"/>
                <a:cs typeface="宋体"/>
              </a:rPr>
              <a:t>能否将古沉船解释进“古文化遗址”？</a:t>
            </a:r>
            <a:endParaRPr lang="en-US" altLang="zh-CN" dirty="0" smtClean="0">
              <a:latin typeface="宋体"/>
              <a:ea typeface="宋体"/>
              <a:cs typeface="宋体"/>
            </a:endParaRPr>
          </a:p>
          <a:p>
            <a:r>
              <a:rPr lang="zh-CN" altLang="en-US" dirty="0" smtClean="0">
                <a:latin typeface="宋体"/>
                <a:ea typeface="宋体"/>
                <a:cs typeface="宋体"/>
              </a:rPr>
              <a:t>能否把银行内部对帐单解释进“其他结算凭证”？</a:t>
            </a:r>
            <a:endParaRPr lang="en-US" altLang="zh-CN" dirty="0" smtClean="0">
              <a:latin typeface="宋体"/>
              <a:ea typeface="宋体"/>
              <a:cs typeface="宋体"/>
            </a:endParaRPr>
          </a:p>
          <a:p>
            <a:r>
              <a:rPr lang="zh-CN" altLang="en-US" dirty="0" smtClean="0">
                <a:latin typeface="宋体"/>
                <a:ea typeface="宋体"/>
                <a:cs typeface="宋体"/>
              </a:rPr>
              <a:t>游戏装备是不是财物？</a:t>
            </a:r>
            <a:endParaRPr lang="en-US" altLang="zh-CN" dirty="0" smtClean="0">
              <a:latin typeface="宋体"/>
              <a:ea typeface="宋体"/>
              <a:cs typeface="宋体"/>
            </a:endParaRPr>
          </a:p>
          <a:p>
            <a:r>
              <a:rPr lang="en-US" altLang="zh-CN" dirty="0" smtClean="0">
                <a:latin typeface="宋体"/>
                <a:ea typeface="宋体"/>
                <a:cs typeface="宋体"/>
              </a:rPr>
              <a:t>……</a:t>
            </a:r>
            <a:endParaRPr lang="zh-CN" altLang="zh-CN"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86</a:t>
            </a:fld>
            <a:endParaRPr lang="zh-CN" altLang="en-US"/>
          </a:p>
        </p:txBody>
      </p:sp>
    </p:spTree>
    <p:extLst>
      <p:ext uri="{BB962C8B-B14F-4D97-AF65-F5344CB8AC3E}">
        <p14:creationId xmlns:p14="http://schemas.microsoft.com/office/powerpoint/2010/main" val="402461745"/>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438" y="211138"/>
            <a:ext cx="8316986" cy="492125"/>
          </a:xfrm>
        </p:spPr>
        <p:txBody>
          <a:bodyPr/>
          <a:lstStyle/>
          <a:p>
            <a:pPr algn="ctr"/>
            <a:r>
              <a:rPr kumimoji="1" lang="zh-CN" altLang="en-US" sz="3200" dirty="0" smtClean="0">
                <a:latin typeface="黑体"/>
                <a:ea typeface="黑体"/>
                <a:cs typeface="黑体"/>
              </a:rPr>
              <a:t>罪刑法定原则之二：</a:t>
            </a:r>
            <a:r>
              <a:rPr lang="zh-CN" altLang="zh-CN" sz="3200" dirty="0"/>
              <a:t>排斥习惯法 </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zh-CN" altLang="zh-CN" sz="2800" dirty="0" smtClean="0">
                <a:latin typeface="宋体"/>
                <a:ea typeface="宋体"/>
                <a:cs typeface="宋体"/>
              </a:rPr>
              <a:t>习惯法是民间法，不成文法</a:t>
            </a:r>
            <a:r>
              <a:rPr lang="zh-CN" altLang="zh-CN" sz="2800" dirty="0">
                <a:latin typeface="宋体"/>
                <a:ea typeface="宋体"/>
                <a:cs typeface="宋体"/>
              </a:rPr>
              <a:t>，源自于长期共同生活的，处于同一文化圈里的多数居民的某些共同信念</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习惯法</a:t>
            </a:r>
            <a:r>
              <a:rPr lang="zh-CN" altLang="zh-CN" sz="2800" dirty="0">
                <a:latin typeface="宋体"/>
                <a:ea typeface="宋体"/>
                <a:cs typeface="宋体"/>
              </a:rPr>
              <a:t>往往具有一定的区域性、原始性和不明确性</a:t>
            </a:r>
            <a:r>
              <a:rPr lang="zh-CN" altLang="zh-CN" sz="2800" dirty="0" smtClean="0">
                <a:latin typeface="宋体"/>
                <a:ea typeface="宋体"/>
                <a:cs typeface="宋体"/>
              </a:rPr>
              <a:t>。</a:t>
            </a:r>
            <a:endParaRPr lang="en-US" altLang="zh-CN" sz="2800" dirty="0">
              <a:latin typeface="宋体"/>
              <a:ea typeface="宋体"/>
              <a:cs typeface="宋体"/>
            </a:endParaRPr>
          </a:p>
          <a:p>
            <a:r>
              <a:rPr lang="zh-CN" altLang="zh-CN" sz="2800" dirty="0" smtClean="0">
                <a:latin typeface="宋体"/>
                <a:ea typeface="宋体"/>
                <a:cs typeface="宋体"/>
              </a:rPr>
              <a:t>如果依照习惯</a:t>
            </a:r>
            <a:r>
              <a:rPr lang="zh-CN" altLang="zh-CN" sz="2800" dirty="0">
                <a:latin typeface="宋体"/>
                <a:ea typeface="宋体"/>
                <a:cs typeface="宋体"/>
              </a:rPr>
              <a:t>法定罪量刑，可能使被告人的权利在较大程度上处于不确定的状态，还可能导致法制的不统一</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因</a:t>
            </a:r>
            <a:r>
              <a:rPr lang="zh-CN" altLang="zh-CN" sz="2800" dirty="0">
                <a:latin typeface="宋体"/>
                <a:ea typeface="宋体"/>
                <a:cs typeface="宋体"/>
              </a:rPr>
              <a:t>此，依照明文规定的法律规范而非习惯法来决定被告人的刑事责任，是罪刑法定原则的应有之义。</a:t>
            </a:r>
          </a:p>
          <a:p>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87</a:t>
            </a:fld>
            <a:endParaRPr lang="zh-CN" altLang="en-US"/>
          </a:p>
        </p:txBody>
      </p:sp>
    </p:spTree>
    <p:extLst>
      <p:ext uri="{BB962C8B-B14F-4D97-AF65-F5344CB8AC3E}">
        <p14:creationId xmlns:p14="http://schemas.microsoft.com/office/powerpoint/2010/main" val="3543323768"/>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260648"/>
            <a:ext cx="7170737" cy="492125"/>
          </a:xfrm>
        </p:spPr>
        <p:txBody>
          <a:bodyPr/>
          <a:lstStyle/>
          <a:p>
            <a:pPr algn="ctr"/>
            <a:r>
              <a:rPr kumimoji="1" lang="zh-CN" altLang="en-US" sz="3200" dirty="0" smtClean="0">
                <a:latin typeface="黑体"/>
                <a:ea typeface="黑体"/>
                <a:cs typeface="黑体"/>
              </a:rPr>
              <a:t>习惯法不是习惯、惯性思维、前见等等</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zh-CN" altLang="zh-CN" sz="2800" dirty="0">
                <a:latin typeface="宋体"/>
                <a:ea typeface="宋体"/>
                <a:cs typeface="宋体"/>
              </a:rPr>
              <a:t>“黑人多的城市犯罪率高，所以黑人更可能犯罪”</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a:t>
            </a:r>
            <a:r>
              <a:rPr lang="zh-CN" altLang="zh-CN" sz="2800" dirty="0">
                <a:latin typeface="宋体"/>
                <a:ea typeface="宋体"/>
                <a:cs typeface="宋体"/>
              </a:rPr>
              <a:t>某人实施盗窃一犯再犯，和某个体面人同时被发现在某个失窃现场，于是，窃贼肯定是这个惯窃而不是那个体面人”</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b="1" dirty="0" smtClean="0">
                <a:latin typeface="宋体"/>
                <a:ea typeface="宋体"/>
                <a:cs typeface="宋体"/>
              </a:rPr>
              <a:t>这些</a:t>
            </a:r>
            <a:r>
              <a:rPr lang="zh-CN" altLang="zh-CN" sz="2800" b="1" dirty="0">
                <a:latin typeface="宋体"/>
                <a:ea typeface="宋体"/>
                <a:cs typeface="宋体"/>
              </a:rPr>
              <a:t>，</a:t>
            </a:r>
            <a:r>
              <a:rPr lang="zh-CN" altLang="zh-CN" sz="2800" b="1" dirty="0" smtClean="0">
                <a:latin typeface="宋体"/>
                <a:ea typeface="宋体"/>
                <a:cs typeface="宋体"/>
              </a:rPr>
              <a:t>都是</a:t>
            </a:r>
            <a:r>
              <a:rPr lang="zh-CN" altLang="en-US" sz="2800" b="1" dirty="0" smtClean="0">
                <a:latin typeface="宋体"/>
                <a:ea typeface="宋体"/>
                <a:cs typeface="宋体"/>
              </a:rPr>
              <a:t>惯性思维、逻辑错误，</a:t>
            </a:r>
            <a:r>
              <a:rPr lang="zh-CN" altLang="zh-CN" sz="2800" b="1" dirty="0" smtClean="0">
                <a:latin typeface="宋体"/>
                <a:ea typeface="宋体"/>
                <a:cs typeface="宋体"/>
              </a:rPr>
              <a:t>而不是习惯法</a:t>
            </a:r>
            <a:r>
              <a:rPr lang="zh-CN" altLang="zh-CN" sz="2800" b="1" dirty="0">
                <a:latin typeface="宋体"/>
                <a:ea typeface="宋体"/>
                <a:cs typeface="宋体"/>
              </a:rPr>
              <a:t>，因而，罪刑法定解决不了这类问题。</a:t>
            </a:r>
            <a:endParaRPr lang="zh-CN" altLang="zh-CN" sz="2800" dirty="0">
              <a:latin typeface="宋体"/>
              <a:ea typeface="宋体"/>
              <a:cs typeface="宋体"/>
            </a:endParaRPr>
          </a:p>
          <a:p>
            <a:endParaRPr kumimoji="1" lang="zh-CN" altLang="en-US" dirty="0"/>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88</a:t>
            </a:fld>
            <a:endParaRPr lang="zh-CN" altLang="en-US"/>
          </a:p>
        </p:txBody>
      </p:sp>
    </p:spTree>
    <p:extLst>
      <p:ext uri="{BB962C8B-B14F-4D97-AF65-F5344CB8AC3E}">
        <p14:creationId xmlns:p14="http://schemas.microsoft.com/office/powerpoint/2010/main" val="206118978"/>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438" y="211138"/>
            <a:ext cx="8316986" cy="492125"/>
          </a:xfrm>
        </p:spPr>
        <p:txBody>
          <a:bodyPr/>
          <a:lstStyle/>
          <a:p>
            <a:pPr algn="ctr"/>
            <a:r>
              <a:rPr kumimoji="1" lang="zh-CN" altLang="en-US" sz="3200" dirty="0" smtClean="0">
                <a:latin typeface="黑体"/>
                <a:ea typeface="黑体"/>
                <a:cs typeface="黑体"/>
              </a:rPr>
              <a:t>罪刑法定原则之三：</a:t>
            </a:r>
            <a:r>
              <a:rPr lang="zh-CN" altLang="zh-CN" sz="3200" dirty="0"/>
              <a:t>禁止溯及既往 </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zh-CN" altLang="zh-CN" sz="2800" dirty="0">
                <a:latin typeface="宋体"/>
                <a:ea typeface="宋体"/>
                <a:cs typeface="宋体"/>
              </a:rPr>
              <a:t>溯及既往，就是事后法，即允许新法适用于新法颁布</a:t>
            </a:r>
            <a:r>
              <a:rPr lang="zh-CN" altLang="zh-CN" sz="2800" dirty="0" smtClean="0">
                <a:latin typeface="宋体"/>
                <a:ea typeface="宋体"/>
                <a:cs typeface="宋体"/>
              </a:rPr>
              <a:t>以前的行为</a:t>
            </a:r>
            <a:r>
              <a:rPr lang="en-US" altLang="zh-CN" sz="2800" dirty="0" smtClean="0">
                <a:latin typeface="宋体"/>
                <a:ea typeface="宋体"/>
                <a:cs typeface="宋体"/>
              </a:rPr>
              <a:t>——</a:t>
            </a:r>
            <a:r>
              <a:rPr lang="zh-CN" altLang="en-US" sz="2800" dirty="0" smtClean="0">
                <a:latin typeface="宋体"/>
                <a:ea typeface="宋体"/>
                <a:cs typeface="宋体"/>
              </a:rPr>
              <a:t>对</a:t>
            </a:r>
            <a:r>
              <a:rPr lang="zh-CN" altLang="zh-CN" sz="2800" dirty="0" smtClean="0">
                <a:latin typeface="宋体"/>
                <a:ea typeface="宋体"/>
                <a:cs typeface="宋体"/>
              </a:rPr>
              <a:t>公民而言就意味着危险</a:t>
            </a:r>
            <a:r>
              <a:rPr lang="zh-CN" altLang="en-US"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国家可以随时根据</a:t>
            </a:r>
            <a:r>
              <a:rPr lang="zh-CN" altLang="zh-CN" sz="2800" dirty="0">
                <a:latin typeface="宋体"/>
                <a:ea typeface="宋体"/>
                <a:cs typeface="宋体"/>
              </a:rPr>
              <a:t>自己的需要</a:t>
            </a:r>
            <a:r>
              <a:rPr lang="zh-CN" altLang="zh-CN" sz="2800" dirty="0" smtClean="0">
                <a:latin typeface="宋体"/>
                <a:ea typeface="宋体"/>
                <a:cs typeface="宋体"/>
              </a:rPr>
              <a:t>制定法律来</a:t>
            </a:r>
            <a:r>
              <a:rPr lang="zh-CN" altLang="en-US" sz="2800" dirty="0" smtClean="0">
                <a:latin typeface="宋体"/>
                <a:ea typeface="宋体"/>
                <a:cs typeface="宋体"/>
              </a:rPr>
              <a:t>对付</a:t>
            </a:r>
            <a:r>
              <a:rPr lang="zh-CN" altLang="zh-CN" sz="2800" dirty="0" smtClean="0">
                <a:latin typeface="宋体"/>
                <a:ea typeface="宋体"/>
                <a:cs typeface="宋体"/>
              </a:rPr>
              <a:t>公民</a:t>
            </a:r>
            <a:r>
              <a:rPr lang="en-US" altLang="zh-CN" sz="2800" dirty="0" smtClean="0">
                <a:latin typeface="宋体"/>
                <a:ea typeface="宋体"/>
                <a:cs typeface="宋体"/>
              </a:rPr>
              <a:t>——</a:t>
            </a:r>
            <a:r>
              <a:rPr lang="zh-CN" altLang="zh-CN" sz="2800" dirty="0" smtClean="0">
                <a:latin typeface="宋体"/>
                <a:ea typeface="宋体"/>
                <a:cs typeface="宋体"/>
              </a:rPr>
              <a:t>法律</a:t>
            </a:r>
            <a:r>
              <a:rPr lang="zh-CN" altLang="zh-CN" sz="2800" dirty="0">
                <a:latin typeface="宋体"/>
                <a:ea typeface="宋体"/>
                <a:cs typeface="宋体"/>
              </a:rPr>
              <a:t>恣意性的一种表现</a:t>
            </a:r>
            <a:r>
              <a:rPr lang="zh-CN" altLang="zh-CN" sz="2800" dirty="0" smtClean="0">
                <a:latin typeface="宋体"/>
                <a:ea typeface="宋体"/>
                <a:cs typeface="宋体"/>
              </a:rPr>
              <a:t>，与现代</a:t>
            </a:r>
            <a:r>
              <a:rPr lang="zh-CN" altLang="zh-CN" sz="2800" dirty="0">
                <a:latin typeface="宋体"/>
                <a:ea typeface="宋体"/>
                <a:cs typeface="宋体"/>
              </a:rPr>
              <a:t>文明不符</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罪刑法定原则</a:t>
            </a:r>
            <a:r>
              <a:rPr lang="zh-CN" altLang="zh-CN" sz="2800" dirty="0">
                <a:latin typeface="宋体"/>
                <a:ea typeface="宋体"/>
                <a:cs typeface="宋体"/>
              </a:rPr>
              <a:t>要求</a:t>
            </a:r>
            <a:r>
              <a:rPr lang="zh-CN" altLang="zh-CN" sz="2800" dirty="0" smtClean="0">
                <a:latin typeface="宋体"/>
                <a:ea typeface="宋体"/>
                <a:cs typeface="宋体"/>
              </a:rPr>
              <a:t>，如果当时</a:t>
            </a:r>
            <a:r>
              <a:rPr lang="zh-CN" altLang="zh-CN" sz="2800" dirty="0">
                <a:latin typeface="宋体"/>
                <a:ea typeface="宋体"/>
                <a:cs typeface="宋体"/>
              </a:rPr>
              <a:t>的法律不认为是犯罪或者只规定了相对较轻的刑罚，即使新法已经颁布施行，也只适用</a:t>
            </a:r>
            <a:r>
              <a:rPr lang="zh-CN" altLang="zh-CN" sz="2800" dirty="0" smtClean="0">
                <a:latin typeface="宋体"/>
                <a:ea typeface="宋体"/>
                <a:cs typeface="宋体"/>
              </a:rPr>
              <a:t>旧法</a:t>
            </a:r>
            <a:r>
              <a:rPr lang="en-US" altLang="zh-CN" sz="2800" dirty="0" smtClean="0">
                <a:latin typeface="宋体"/>
                <a:ea typeface="宋体"/>
                <a:cs typeface="宋体"/>
              </a:rPr>
              <a:t>——</a:t>
            </a:r>
            <a:r>
              <a:rPr lang="zh-CN" altLang="en-US" sz="2800" dirty="0" smtClean="0">
                <a:latin typeface="宋体"/>
                <a:ea typeface="宋体"/>
                <a:cs typeface="宋体"/>
              </a:rPr>
              <a:t>法不溯及既往。</a:t>
            </a:r>
            <a:endParaRPr lang="en-US" altLang="zh-CN" sz="2800" dirty="0" smtClean="0">
              <a:latin typeface="宋体"/>
              <a:ea typeface="宋体"/>
              <a:cs typeface="宋体"/>
            </a:endParaRPr>
          </a:p>
          <a:p>
            <a:r>
              <a:rPr lang="zh-CN" altLang="en-US" sz="2800" dirty="0" smtClean="0">
                <a:latin typeface="宋体"/>
                <a:ea typeface="宋体"/>
                <a:cs typeface="宋体"/>
              </a:rPr>
              <a:t>但并非绝对，也有例外。</a:t>
            </a:r>
            <a:endParaRPr lang="zh-CN" altLang="zh-CN" sz="2800" dirty="0">
              <a:latin typeface="宋体"/>
              <a:ea typeface="宋体"/>
              <a:cs typeface="宋体"/>
            </a:endParaRPr>
          </a:p>
          <a:p>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89</a:t>
            </a:fld>
            <a:endParaRPr lang="zh-CN" altLang="en-US"/>
          </a:p>
        </p:txBody>
      </p:sp>
    </p:spTree>
    <p:extLst>
      <p:ext uri="{BB962C8B-B14F-4D97-AF65-F5344CB8AC3E}">
        <p14:creationId xmlns:p14="http://schemas.microsoft.com/office/powerpoint/2010/main" val="3543323768"/>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丛旧兼从轻</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zh-CN" altLang="zh-CN" sz="2800" dirty="0" smtClean="0">
                <a:latin typeface="宋体"/>
                <a:ea typeface="宋体"/>
                <a:cs typeface="宋体"/>
              </a:rPr>
              <a:t>刑法规</a:t>
            </a:r>
            <a:r>
              <a:rPr lang="zh-CN" altLang="zh-CN" sz="2800" dirty="0">
                <a:latin typeface="宋体"/>
                <a:ea typeface="宋体"/>
                <a:cs typeface="宋体"/>
              </a:rPr>
              <a:t>定，当旧法和新法都认为是犯罪时，以刑罚较轻</a:t>
            </a:r>
            <a:r>
              <a:rPr lang="zh-CN" altLang="zh-CN" sz="2800" dirty="0" smtClean="0">
                <a:latin typeface="宋体"/>
                <a:ea typeface="宋体"/>
                <a:cs typeface="宋体"/>
              </a:rPr>
              <a:t>的为准</a:t>
            </a:r>
            <a:r>
              <a:rPr lang="en-US" altLang="zh-CN" sz="2800" dirty="0" smtClean="0">
                <a:latin typeface="宋体"/>
                <a:ea typeface="宋体"/>
                <a:cs typeface="宋体"/>
              </a:rPr>
              <a:t>——</a:t>
            </a:r>
            <a:r>
              <a:rPr lang="zh-CN" altLang="en-US" sz="2800" dirty="0" smtClean="0">
                <a:latin typeface="宋体"/>
                <a:ea typeface="宋体"/>
                <a:cs typeface="宋体"/>
              </a:rPr>
              <a:t>如果</a:t>
            </a:r>
            <a:r>
              <a:rPr lang="zh-CN" altLang="zh-CN" sz="2800" dirty="0" smtClean="0">
                <a:latin typeface="宋体"/>
                <a:ea typeface="宋体"/>
                <a:cs typeface="宋体"/>
              </a:rPr>
              <a:t>新法的刑罚轻于</a:t>
            </a:r>
            <a:r>
              <a:rPr lang="zh-CN" altLang="zh-CN" sz="2800" dirty="0">
                <a:latin typeface="宋体"/>
                <a:ea typeface="宋体"/>
                <a:cs typeface="宋体"/>
              </a:rPr>
              <a:t>旧法，则适用新法</a:t>
            </a:r>
            <a:r>
              <a:rPr lang="zh-CN" altLang="zh-CN" sz="2800" dirty="0" smtClean="0">
                <a:latin typeface="宋体"/>
                <a:ea typeface="宋体"/>
                <a:cs typeface="宋体"/>
              </a:rPr>
              <a:t>。事后法并不是绝对被</a:t>
            </a:r>
            <a:r>
              <a:rPr lang="zh-CN" altLang="zh-CN" sz="2800" dirty="0">
                <a:latin typeface="宋体"/>
                <a:ea typeface="宋体"/>
                <a:cs typeface="宋体"/>
              </a:rPr>
              <a:t>排斥，在有利于被告的情况下，还是可以适用新法。</a:t>
            </a:r>
          </a:p>
          <a:p>
            <a:r>
              <a:rPr lang="zh-CN" altLang="zh-CN" sz="2800" b="1" dirty="0">
                <a:latin typeface="宋体"/>
                <a:ea typeface="宋体"/>
                <a:cs typeface="宋体"/>
              </a:rPr>
              <a:t>本案中，</a:t>
            </a:r>
            <a:r>
              <a:rPr lang="zh-CN" altLang="zh-CN" sz="2800" dirty="0">
                <a:latin typeface="宋体"/>
                <a:ea typeface="宋体"/>
                <a:cs typeface="宋体"/>
              </a:rPr>
              <a:t>被告人许贤同的行为发生在《刑法》修订以前，在</a:t>
            </a:r>
            <a:r>
              <a:rPr lang="en-US" altLang="zh-CN" sz="2800" dirty="0">
                <a:latin typeface="宋体"/>
                <a:ea typeface="宋体"/>
                <a:cs typeface="宋体"/>
              </a:rPr>
              <a:t>1979</a:t>
            </a:r>
            <a:r>
              <a:rPr lang="zh-CN" altLang="zh-CN" sz="2800" dirty="0">
                <a:latin typeface="宋体"/>
                <a:ea typeface="宋体"/>
                <a:cs typeface="宋体"/>
              </a:rPr>
              <a:t>年《刑法》中没有抢劫枪支罪的罪名，故公诉机关指控被告人许贤同犯抢劫枪支罪的罪名不能成立</a:t>
            </a:r>
            <a:r>
              <a:rPr lang="zh-CN" altLang="zh-CN" sz="2800" dirty="0" smtClean="0">
                <a:latin typeface="宋体"/>
                <a:ea typeface="宋体"/>
                <a:cs typeface="宋体"/>
              </a:rPr>
              <a:t>。被告人许贤同用铁锤击打看守民警并抢走该民警配带</a:t>
            </a:r>
            <a:r>
              <a:rPr lang="zh-CN" altLang="zh-CN" sz="2800" dirty="0">
                <a:latin typeface="宋体"/>
                <a:ea typeface="宋体"/>
                <a:cs typeface="宋体"/>
              </a:rPr>
              <a:t>的“五四”式手枪的行为属两个完全独立的行为</a:t>
            </a:r>
            <a:r>
              <a:rPr lang="zh-CN" altLang="zh-CN" sz="2800" dirty="0" smtClean="0">
                <a:latin typeface="宋体"/>
                <a:ea typeface="宋体"/>
                <a:cs typeface="宋体"/>
              </a:rPr>
              <a:t>，</a:t>
            </a:r>
            <a:r>
              <a:rPr lang="zh-CN" altLang="en-US" sz="2800" dirty="0" smtClean="0">
                <a:latin typeface="宋体"/>
                <a:ea typeface="宋体"/>
                <a:cs typeface="宋体"/>
              </a:rPr>
              <a:t>构成</a:t>
            </a:r>
            <a:r>
              <a:rPr lang="zh-CN" altLang="zh-CN" sz="2800" dirty="0" smtClean="0">
                <a:latin typeface="宋体"/>
                <a:ea typeface="宋体"/>
                <a:cs typeface="宋体"/>
              </a:rPr>
              <a:t>故意伤害罪和抢夺枪支</a:t>
            </a:r>
            <a:r>
              <a:rPr lang="zh-CN" altLang="zh-CN" sz="2800" dirty="0">
                <a:latin typeface="宋体"/>
                <a:ea typeface="宋体"/>
                <a:cs typeface="宋体"/>
              </a:rPr>
              <a:t>罪。</a:t>
            </a:r>
          </a:p>
          <a:p>
            <a:endParaRPr kumimoji="1" lang="zh-CN" altLang="en-US" dirty="0"/>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90</a:t>
            </a:fld>
            <a:endParaRPr lang="zh-CN" altLang="en-US"/>
          </a:p>
        </p:txBody>
      </p:sp>
    </p:spTree>
    <p:extLst>
      <p:ext uri="{BB962C8B-B14F-4D97-AF65-F5344CB8AC3E}">
        <p14:creationId xmlns:p14="http://schemas.microsoft.com/office/powerpoint/2010/main" val="2747468551"/>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438" y="211138"/>
            <a:ext cx="8316986" cy="492125"/>
          </a:xfrm>
        </p:spPr>
        <p:txBody>
          <a:bodyPr/>
          <a:lstStyle/>
          <a:p>
            <a:pPr algn="ctr"/>
            <a:r>
              <a:rPr kumimoji="1" lang="zh-CN" altLang="en-US" sz="3200" dirty="0" smtClean="0">
                <a:latin typeface="黑体"/>
                <a:ea typeface="黑体"/>
                <a:cs typeface="黑体"/>
              </a:rPr>
              <a:t>罪刑法定原则之四：</a:t>
            </a:r>
            <a:r>
              <a:rPr lang="zh-CN" altLang="zh-CN" sz="3200" dirty="0"/>
              <a:t>禁止绝对的不定期刑 </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zh-CN" altLang="zh-CN" sz="2800" dirty="0">
                <a:latin typeface="宋体"/>
                <a:ea typeface="宋体"/>
                <a:cs typeface="宋体"/>
              </a:rPr>
              <a:t>绝对的不定期刑，就是对自由刑而言，刑法只规定科处刑罚而不规定量刑幅度</a:t>
            </a:r>
            <a:r>
              <a:rPr lang="zh-CN" altLang="zh-CN" sz="2800" dirty="0" smtClean="0">
                <a:latin typeface="宋体"/>
                <a:ea typeface="宋体"/>
                <a:cs typeface="宋体"/>
              </a:rPr>
              <a:t>，司法上法官只科处自由刑而</a:t>
            </a:r>
            <a:r>
              <a:rPr lang="zh-CN" altLang="zh-CN" sz="2800" dirty="0">
                <a:latin typeface="宋体"/>
                <a:ea typeface="宋体"/>
                <a:cs typeface="宋体"/>
              </a:rPr>
              <a:t>不宣告具体的刑期</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en-US" sz="2800" dirty="0" smtClean="0">
                <a:latin typeface="宋体"/>
                <a:ea typeface="宋体"/>
                <a:cs typeface="宋体"/>
              </a:rPr>
              <a:t>原理：</a:t>
            </a:r>
            <a:r>
              <a:rPr lang="zh-CN" altLang="zh-CN" sz="2800" dirty="0" smtClean="0">
                <a:latin typeface="宋体"/>
                <a:ea typeface="宋体"/>
                <a:cs typeface="宋体"/>
              </a:rPr>
              <a:t>实证</a:t>
            </a:r>
            <a:r>
              <a:rPr lang="zh-CN" altLang="zh-CN" sz="2800" dirty="0">
                <a:latin typeface="宋体"/>
                <a:ea typeface="宋体"/>
                <a:cs typeface="宋体"/>
              </a:rPr>
              <a:t>学派，犯罪原因，</a:t>
            </a:r>
            <a:r>
              <a:rPr lang="zh-CN" altLang="zh-CN" sz="2800" dirty="0" smtClean="0">
                <a:latin typeface="宋体"/>
                <a:ea typeface="宋体"/>
                <a:cs typeface="宋体"/>
              </a:rPr>
              <a:t>刑罚个别化。</a:t>
            </a:r>
            <a:endParaRPr lang="en-US" altLang="zh-CN" sz="2800" dirty="0" smtClean="0">
              <a:latin typeface="宋体"/>
              <a:ea typeface="宋体"/>
              <a:cs typeface="宋体"/>
            </a:endParaRPr>
          </a:p>
          <a:p>
            <a:r>
              <a:rPr lang="zh-CN" altLang="zh-CN" sz="2800" dirty="0" smtClean="0">
                <a:latin typeface="宋体"/>
                <a:ea typeface="宋体"/>
                <a:cs typeface="宋体"/>
              </a:rPr>
              <a:t>这无疑是给法官过于灵活和宽泛</a:t>
            </a:r>
            <a:r>
              <a:rPr lang="zh-CN" altLang="zh-CN" sz="2800" dirty="0">
                <a:latin typeface="宋体"/>
                <a:ea typeface="宋体"/>
                <a:cs typeface="宋体"/>
              </a:rPr>
              <a:t>的擅断权，而使潜在的和现实的犯罪人处于一种难以确定和把握的境地</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而按</a:t>
            </a:r>
            <a:r>
              <a:rPr lang="zh-CN" altLang="zh-CN" sz="2800" dirty="0">
                <a:latin typeface="宋体"/>
                <a:ea typeface="宋体"/>
                <a:cs typeface="宋体"/>
              </a:rPr>
              <a:t>照罪刑法定的要求，正是要限制司法官员的这种擅断权，使可能受到刑罚处罚的公民按照明确的罪刑关系承担刑事责任。 </a:t>
            </a:r>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91</a:t>
            </a:fld>
            <a:endParaRPr lang="zh-CN" altLang="en-US"/>
          </a:p>
        </p:txBody>
      </p:sp>
    </p:spTree>
    <p:extLst>
      <p:ext uri="{BB962C8B-B14F-4D97-AF65-F5344CB8AC3E}">
        <p14:creationId xmlns:p14="http://schemas.microsoft.com/office/powerpoint/2010/main" val="3543323768"/>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438" y="211138"/>
            <a:ext cx="8316986" cy="492125"/>
          </a:xfrm>
        </p:spPr>
        <p:txBody>
          <a:bodyPr/>
          <a:lstStyle/>
          <a:p>
            <a:pPr algn="ctr"/>
            <a:r>
              <a:rPr kumimoji="1" lang="zh-CN" altLang="en-US" sz="3200" dirty="0" smtClean="0">
                <a:latin typeface="黑体"/>
                <a:ea typeface="黑体"/>
                <a:cs typeface="黑体"/>
              </a:rPr>
              <a:t>罪刑法定原则的价值</a:t>
            </a:r>
            <a:endParaRPr kumimoji="1" lang="zh-CN" altLang="en-US" sz="3200" dirty="0">
              <a:latin typeface="黑体"/>
              <a:ea typeface="黑体"/>
              <a:cs typeface="黑体"/>
            </a:endParaRPr>
          </a:p>
        </p:txBody>
      </p:sp>
      <p:sp>
        <p:nvSpPr>
          <p:cNvPr id="3" name="内容占位符 2"/>
          <p:cNvSpPr>
            <a:spLocks noGrp="1"/>
          </p:cNvSpPr>
          <p:nvPr>
            <p:ph idx="1"/>
          </p:nvPr>
        </p:nvSpPr>
        <p:spPr>
          <a:xfrm>
            <a:off x="467544" y="908720"/>
            <a:ext cx="8229600" cy="5000625"/>
          </a:xfrm>
        </p:spPr>
        <p:txBody>
          <a:bodyPr/>
          <a:lstStyle/>
          <a:p>
            <a:r>
              <a:rPr lang="zh-CN" altLang="zh-CN" sz="2800" dirty="0">
                <a:latin typeface="宋体"/>
                <a:ea typeface="宋体"/>
                <a:cs typeface="宋体"/>
              </a:rPr>
              <a:t>首先，罪刑法定意味着以立法权</a:t>
            </a:r>
            <a:r>
              <a:rPr lang="zh-CN" altLang="zh-CN" sz="2800" b="1" dirty="0">
                <a:latin typeface="黑体"/>
                <a:ea typeface="黑体"/>
                <a:cs typeface="黑体"/>
              </a:rPr>
              <a:t>限制司法权</a:t>
            </a:r>
            <a:r>
              <a:rPr lang="zh-CN" altLang="zh-CN" sz="2800" dirty="0">
                <a:latin typeface="宋体"/>
                <a:ea typeface="宋体"/>
                <a:cs typeface="宋体"/>
              </a:rPr>
              <a:t>，防止司法擅断对公民个人自由、安全的侵犯</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因为公民对</a:t>
            </a:r>
            <a:r>
              <a:rPr lang="zh-CN" altLang="zh-CN" sz="2800" dirty="0">
                <a:latin typeface="宋体"/>
                <a:ea typeface="宋体"/>
                <a:cs typeface="宋体"/>
              </a:rPr>
              <a:t>自己行为法律后果的可预见性，标志着社会的法治化程度。这种可预见性程度越高，说明公民可以在更大程度上做出自由选择是否触犯刑法。反之，就会“人怕人”而非“人怕法”，加剧社会冲突。 </a:t>
            </a:r>
            <a:endParaRPr lang="en-US" altLang="zh-CN" sz="2800" dirty="0" smtClean="0">
              <a:latin typeface="宋体"/>
              <a:ea typeface="宋体"/>
              <a:cs typeface="宋体"/>
            </a:endParaRPr>
          </a:p>
          <a:p>
            <a:r>
              <a:rPr lang="zh-CN" altLang="zh-CN" sz="2800" dirty="0">
                <a:latin typeface="宋体"/>
                <a:ea typeface="宋体"/>
                <a:cs typeface="宋体"/>
              </a:rPr>
              <a:t>第二，罪刑法定还意味着</a:t>
            </a:r>
            <a:r>
              <a:rPr lang="zh-CN" altLang="zh-CN" sz="2800" b="1" dirty="0">
                <a:latin typeface="黑体"/>
                <a:ea typeface="黑体"/>
                <a:cs typeface="黑体"/>
              </a:rPr>
              <a:t>对立法权的限制</a:t>
            </a:r>
            <a:r>
              <a:rPr lang="zh-CN" altLang="zh-CN" sz="2800" dirty="0">
                <a:latin typeface="宋体"/>
                <a:ea typeface="宋体"/>
                <a:cs typeface="宋体"/>
              </a:rPr>
              <a:t>——法律规</a:t>
            </a:r>
            <a:r>
              <a:rPr lang="zh-CN" altLang="zh-CN" sz="2800" dirty="0" smtClean="0">
                <a:latin typeface="宋体"/>
                <a:ea typeface="宋体"/>
                <a:cs typeface="宋体"/>
              </a:rPr>
              <a:t>定要明确</a:t>
            </a:r>
            <a:r>
              <a:rPr lang="zh-CN" altLang="en-US" sz="2800" dirty="0" smtClean="0">
                <a:latin typeface="宋体"/>
                <a:ea typeface="宋体"/>
                <a:cs typeface="宋体"/>
              </a:rPr>
              <a:t>。</a:t>
            </a:r>
            <a:r>
              <a:rPr lang="zh-CN" altLang="zh-CN" sz="2800" dirty="0" smtClean="0">
                <a:latin typeface="宋体"/>
                <a:ea typeface="宋体"/>
                <a:cs typeface="宋体"/>
              </a:rPr>
              <a:t>比如，</a:t>
            </a:r>
            <a:r>
              <a:rPr lang="zh-CN" altLang="en-US" sz="2800" dirty="0" smtClean="0">
                <a:latin typeface="宋体"/>
                <a:ea typeface="宋体"/>
                <a:cs typeface="宋体"/>
              </a:rPr>
              <a:t>“</a:t>
            </a:r>
            <a:r>
              <a:rPr lang="zh-CN" altLang="zh-CN" sz="2800" dirty="0" smtClean="0">
                <a:latin typeface="宋体"/>
                <a:ea typeface="宋体"/>
                <a:cs typeface="宋体"/>
              </a:rPr>
              <a:t>口袋罪</a:t>
            </a:r>
            <a:r>
              <a:rPr lang="zh-CN" altLang="en-US" sz="2800" dirty="0" smtClean="0">
                <a:latin typeface="宋体"/>
                <a:ea typeface="宋体"/>
                <a:cs typeface="宋体"/>
              </a:rPr>
              <a:t>”</a:t>
            </a:r>
            <a:r>
              <a:rPr lang="zh-CN" altLang="zh-CN" sz="2800" dirty="0" smtClean="0">
                <a:latin typeface="宋体"/>
                <a:ea typeface="宋体"/>
                <a:cs typeface="宋体"/>
              </a:rPr>
              <a:t>被拆分</a:t>
            </a:r>
            <a:r>
              <a:rPr lang="zh-CN" altLang="zh-CN" sz="2800" dirty="0">
                <a:latin typeface="宋体"/>
                <a:ea typeface="宋体"/>
                <a:cs typeface="宋体"/>
              </a:rPr>
              <a:t>，就是追求明确性</a:t>
            </a:r>
            <a:r>
              <a:rPr lang="zh-CN" altLang="zh-CN" sz="2800" dirty="0" smtClean="0">
                <a:latin typeface="宋体"/>
                <a:ea typeface="宋体"/>
                <a:cs typeface="宋体"/>
              </a:rPr>
              <a:t>。</a:t>
            </a:r>
            <a:endParaRPr lang="en-US" altLang="zh-CN" sz="2800" dirty="0" smtClean="0">
              <a:latin typeface="宋体"/>
              <a:ea typeface="宋体"/>
              <a:cs typeface="宋体"/>
            </a:endParaRPr>
          </a:p>
          <a:p>
            <a:r>
              <a:rPr kumimoji="1" lang="zh-CN" altLang="en-US" sz="2800" dirty="0" smtClean="0">
                <a:latin typeface="宋体"/>
                <a:ea typeface="宋体"/>
                <a:cs typeface="宋体"/>
              </a:rPr>
              <a:t>总之，法无明文规定，是除刑的第一个条件。</a:t>
            </a:r>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92</a:t>
            </a:fld>
            <a:endParaRPr lang="zh-CN" altLang="en-US"/>
          </a:p>
        </p:txBody>
      </p:sp>
    </p:spTree>
    <p:extLst>
      <p:ext uri="{BB962C8B-B14F-4D97-AF65-F5344CB8AC3E}">
        <p14:creationId xmlns:p14="http://schemas.microsoft.com/office/powerpoint/2010/main" val="3543323768"/>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除刑之二：责任能力</a:t>
            </a:r>
            <a:endParaRPr kumimoji="1" lang="zh-CN" altLang="en-US" sz="3600" dirty="0">
              <a:latin typeface="黑体"/>
              <a:ea typeface="黑体"/>
              <a:cs typeface="黑体"/>
            </a:endParaRPr>
          </a:p>
        </p:txBody>
      </p:sp>
      <p:sp>
        <p:nvSpPr>
          <p:cNvPr id="3" name="内容占位符 2"/>
          <p:cNvSpPr>
            <a:spLocks noGrp="1"/>
          </p:cNvSpPr>
          <p:nvPr>
            <p:ph idx="1"/>
          </p:nvPr>
        </p:nvSpPr>
        <p:spPr/>
        <p:txBody>
          <a:bodyPr/>
          <a:lstStyle/>
          <a:p>
            <a:r>
              <a:rPr lang="zh-CN" altLang="zh-CN" sz="2800" dirty="0">
                <a:latin typeface="宋体"/>
                <a:ea typeface="宋体"/>
                <a:cs typeface="宋体"/>
              </a:rPr>
              <a:t>被告人于某（生于</a:t>
            </a:r>
            <a:r>
              <a:rPr lang="en-US" altLang="zh-CN" sz="2800" dirty="0">
                <a:latin typeface="宋体"/>
                <a:ea typeface="宋体"/>
                <a:cs typeface="宋体"/>
              </a:rPr>
              <a:t>1985</a:t>
            </a:r>
            <a:r>
              <a:rPr lang="zh-CN" altLang="zh-CN" sz="2800" dirty="0">
                <a:latin typeface="宋体"/>
                <a:ea typeface="宋体"/>
                <a:cs typeface="宋体"/>
              </a:rPr>
              <a:t>年</a:t>
            </a:r>
            <a:r>
              <a:rPr lang="en-US" altLang="zh-CN" sz="2800" dirty="0">
                <a:latin typeface="宋体"/>
                <a:ea typeface="宋体"/>
                <a:cs typeface="宋体"/>
              </a:rPr>
              <a:t>8</a:t>
            </a:r>
            <a:r>
              <a:rPr lang="zh-CN" altLang="zh-CN" sz="2800" dirty="0">
                <a:latin typeface="宋体"/>
                <a:ea typeface="宋体"/>
                <a:cs typeface="宋体"/>
              </a:rPr>
              <a:t>月</a:t>
            </a:r>
            <a:r>
              <a:rPr lang="en-US" altLang="zh-CN" sz="2800" dirty="0">
                <a:latin typeface="宋体"/>
                <a:ea typeface="宋体"/>
                <a:cs typeface="宋体"/>
              </a:rPr>
              <a:t>13</a:t>
            </a:r>
            <a:r>
              <a:rPr lang="zh-CN" altLang="zh-CN" sz="2800" dirty="0">
                <a:latin typeface="宋体"/>
                <a:ea typeface="宋体"/>
                <a:cs typeface="宋体"/>
              </a:rPr>
              <a:t>日）于</a:t>
            </a:r>
            <a:r>
              <a:rPr lang="en-US" altLang="zh-CN" sz="2800" dirty="0">
                <a:latin typeface="宋体"/>
                <a:ea typeface="宋体"/>
                <a:cs typeface="宋体"/>
              </a:rPr>
              <a:t>1999</a:t>
            </a:r>
            <a:r>
              <a:rPr lang="zh-CN" altLang="zh-CN" sz="2800" dirty="0">
                <a:latin typeface="宋体"/>
                <a:ea typeface="宋体"/>
                <a:cs typeface="宋体"/>
              </a:rPr>
              <a:t>年</a:t>
            </a:r>
            <a:r>
              <a:rPr lang="en-US" altLang="zh-CN" sz="2800" dirty="0">
                <a:latin typeface="宋体"/>
                <a:ea typeface="宋体"/>
                <a:cs typeface="宋体"/>
              </a:rPr>
              <a:t>8</a:t>
            </a:r>
            <a:r>
              <a:rPr lang="zh-CN" altLang="zh-CN" sz="2800" dirty="0">
                <a:latin typeface="宋体"/>
                <a:ea typeface="宋体"/>
                <a:cs typeface="宋体"/>
              </a:rPr>
              <a:t>月</a:t>
            </a:r>
            <a:r>
              <a:rPr lang="en-US" altLang="zh-CN" sz="2800" dirty="0">
                <a:latin typeface="宋体"/>
                <a:ea typeface="宋体"/>
                <a:cs typeface="宋体"/>
              </a:rPr>
              <a:t>11</a:t>
            </a:r>
            <a:r>
              <a:rPr lang="zh-CN" altLang="zh-CN" sz="2800" dirty="0">
                <a:latin typeface="宋体"/>
                <a:ea typeface="宋体"/>
                <a:cs typeface="宋体"/>
              </a:rPr>
              <a:t>日放暑假时来到读书的学校打乒乓球，碰见本校初一女学生张某（</a:t>
            </a:r>
            <a:r>
              <a:rPr lang="en-US" altLang="zh-CN" sz="2800" dirty="0">
                <a:latin typeface="宋体"/>
                <a:ea typeface="宋体"/>
                <a:cs typeface="宋体"/>
              </a:rPr>
              <a:t>12</a:t>
            </a:r>
            <a:r>
              <a:rPr lang="zh-CN" altLang="zh-CN" sz="2800" dirty="0">
                <a:latin typeface="宋体"/>
                <a:ea typeface="宋体"/>
                <a:cs typeface="宋体"/>
              </a:rPr>
              <a:t>岁）独身一人在学校值班室内，遂起歹念，将张某骗至学校地下室内进行猥亵，张某进行反抗，并说要将此事告诉老师。于某用石头将张某砸昏后，又用随身携带的小刀在张某的喉部、胸部和腹部连刺</a:t>
            </a:r>
            <a:r>
              <a:rPr lang="en-US" altLang="zh-CN" sz="2800" dirty="0">
                <a:latin typeface="宋体"/>
                <a:ea typeface="宋体"/>
                <a:cs typeface="宋体"/>
              </a:rPr>
              <a:t>20</a:t>
            </a:r>
            <a:r>
              <a:rPr lang="zh-CN" altLang="zh-CN" sz="2800" dirty="0">
                <a:latin typeface="宋体"/>
                <a:ea typeface="宋体"/>
                <a:cs typeface="宋体"/>
              </a:rPr>
              <a:t>余刀，并割掉张某的舌头，剜出张某的双眼，致张某当场死亡。</a:t>
            </a:r>
          </a:p>
          <a:p>
            <a:r>
              <a:rPr kumimoji="1" lang="zh-CN" altLang="en-US" sz="2800" dirty="0" smtClean="0">
                <a:latin typeface="楷体"/>
                <a:ea typeface="楷体"/>
                <a:cs typeface="楷体"/>
              </a:rPr>
              <a:t>于某有罪吗？为什么？</a:t>
            </a:r>
            <a:endParaRPr kumimoji="1" lang="zh-CN" altLang="en-US" sz="2800" dirty="0">
              <a:latin typeface="楷体"/>
              <a:ea typeface="楷体"/>
              <a:cs typeface="楷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93</a:t>
            </a:fld>
            <a:endParaRPr lang="zh-CN" altLang="en-US"/>
          </a:p>
        </p:txBody>
      </p:sp>
    </p:spTree>
    <p:extLst>
      <p:ext uri="{BB962C8B-B14F-4D97-AF65-F5344CB8AC3E}">
        <p14:creationId xmlns:p14="http://schemas.microsoft.com/office/powerpoint/2010/main" val="1471600121"/>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sz="3200" b="1" dirty="0">
                <a:latin typeface="黑体"/>
                <a:ea typeface="黑体"/>
                <a:cs typeface="黑体"/>
              </a:rPr>
              <a:t>基本概念：刑事责任</a:t>
            </a:r>
            <a:r>
              <a:rPr lang="zh-CN" altLang="zh-CN" sz="3200" b="1" dirty="0" smtClean="0">
                <a:latin typeface="黑体"/>
                <a:ea typeface="黑体"/>
                <a:cs typeface="黑体"/>
              </a:rPr>
              <a:t>能力</a:t>
            </a:r>
            <a:endParaRPr kumimoji="1" lang="zh-CN" altLang="en-US" sz="3200" dirty="0">
              <a:latin typeface="黑体"/>
              <a:ea typeface="黑体"/>
              <a:cs typeface="黑体"/>
            </a:endParaRPr>
          </a:p>
        </p:txBody>
      </p:sp>
      <p:sp>
        <p:nvSpPr>
          <p:cNvPr id="3" name="内容占位符 2"/>
          <p:cNvSpPr>
            <a:spLocks noGrp="1"/>
          </p:cNvSpPr>
          <p:nvPr>
            <p:ph idx="1"/>
          </p:nvPr>
        </p:nvSpPr>
        <p:spPr>
          <a:xfrm>
            <a:off x="457200" y="1125538"/>
            <a:ext cx="8229600" cy="5327798"/>
          </a:xfrm>
        </p:spPr>
        <p:txBody>
          <a:bodyPr/>
          <a:lstStyle/>
          <a:p>
            <a:r>
              <a:rPr lang="zh-CN" altLang="zh-CN" sz="2800" dirty="0" smtClean="0">
                <a:latin typeface="宋体"/>
                <a:ea typeface="宋体"/>
                <a:cs typeface="宋体"/>
              </a:rPr>
              <a:t>无责任能力</a:t>
            </a:r>
            <a:r>
              <a:rPr lang="zh-CN" altLang="en-US" sz="2800" dirty="0" smtClean="0">
                <a:latin typeface="宋体"/>
                <a:ea typeface="宋体"/>
                <a:cs typeface="宋体"/>
              </a:rPr>
              <a:t>：</a:t>
            </a:r>
            <a:r>
              <a:rPr lang="zh-CN" altLang="zh-CN" sz="2800" dirty="0" smtClean="0">
                <a:latin typeface="宋体"/>
                <a:ea typeface="宋体"/>
                <a:cs typeface="宋体"/>
              </a:rPr>
              <a:t>绝对</a:t>
            </a:r>
            <a:r>
              <a:rPr lang="zh-CN" altLang="zh-CN" sz="2800" dirty="0">
                <a:latin typeface="宋体"/>
                <a:ea typeface="宋体"/>
                <a:cs typeface="宋体"/>
              </a:rPr>
              <a:t>的免责条件</a:t>
            </a:r>
            <a:r>
              <a:rPr lang="zh-CN" altLang="zh-CN" sz="2800" dirty="0" smtClean="0">
                <a:latin typeface="宋体"/>
                <a:ea typeface="宋体"/>
                <a:cs typeface="宋体"/>
              </a:rPr>
              <a:t>，无责任能力则无</a:t>
            </a:r>
            <a:r>
              <a:rPr lang="zh-CN" altLang="zh-CN" sz="2800" dirty="0">
                <a:latin typeface="宋体"/>
                <a:ea typeface="宋体"/>
                <a:cs typeface="宋体"/>
              </a:rPr>
              <a:t>犯罪，</a:t>
            </a:r>
            <a:r>
              <a:rPr lang="zh-CN" altLang="zh-CN" sz="2800" dirty="0" smtClean="0">
                <a:latin typeface="宋体"/>
                <a:ea typeface="宋体"/>
                <a:cs typeface="宋体"/>
              </a:rPr>
              <a:t>国家不能对无刑事责</a:t>
            </a:r>
            <a:r>
              <a:rPr lang="zh-CN" altLang="zh-CN" sz="2800" dirty="0">
                <a:latin typeface="宋体"/>
                <a:ea typeface="宋体"/>
                <a:cs typeface="宋体"/>
              </a:rPr>
              <a:t>任能力的人发动刑罚</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法理：</a:t>
            </a:r>
            <a:r>
              <a:rPr lang="zh-CN" altLang="zh-CN" sz="2800" dirty="0">
                <a:latin typeface="宋体"/>
                <a:ea typeface="宋体"/>
                <a:cs typeface="宋体"/>
              </a:rPr>
              <a:t>犯罪是自由选择的结果</a:t>
            </a:r>
            <a:r>
              <a:rPr lang="zh-CN" altLang="zh-CN" sz="2800" dirty="0" smtClean="0">
                <a:latin typeface="宋体"/>
                <a:ea typeface="宋体"/>
                <a:cs typeface="宋体"/>
              </a:rPr>
              <a:t>，责任能力意味着选择</a:t>
            </a:r>
            <a:r>
              <a:rPr lang="zh-CN" altLang="zh-CN" sz="2800" dirty="0">
                <a:latin typeface="宋体"/>
                <a:ea typeface="宋体"/>
                <a:cs typeface="宋体"/>
              </a:rPr>
              <a:t>的自主性</a:t>
            </a:r>
            <a:r>
              <a:rPr lang="zh-CN" altLang="zh-CN" sz="2800" dirty="0" smtClean="0">
                <a:latin typeface="宋体"/>
                <a:ea typeface="宋体"/>
                <a:cs typeface="宋体"/>
              </a:rPr>
              <a:t>，意味</a:t>
            </a:r>
            <a:r>
              <a:rPr lang="zh-CN" altLang="zh-CN" sz="2800" dirty="0">
                <a:latin typeface="宋体"/>
                <a:ea typeface="宋体"/>
                <a:cs typeface="宋体"/>
              </a:rPr>
              <a:t>着犯罪能力</a:t>
            </a:r>
            <a:r>
              <a:rPr lang="zh-CN" altLang="zh-CN" sz="2800" dirty="0" smtClean="0">
                <a:latin typeface="宋体"/>
                <a:ea typeface="宋体"/>
                <a:cs typeface="宋体"/>
              </a:rPr>
              <a:t>。</a:t>
            </a:r>
            <a:r>
              <a:rPr lang="zh-CN" altLang="en-US" sz="2800" dirty="0" smtClean="0">
                <a:latin typeface="宋体"/>
                <a:ea typeface="宋体"/>
                <a:cs typeface="宋体"/>
              </a:rPr>
              <a:t>惩戒</a:t>
            </a:r>
            <a:r>
              <a:rPr lang="zh-CN" altLang="zh-CN" sz="2800" dirty="0" smtClean="0">
                <a:latin typeface="宋体"/>
                <a:ea typeface="宋体"/>
                <a:cs typeface="宋体"/>
              </a:rPr>
              <a:t>一个不具备</a:t>
            </a:r>
            <a:r>
              <a:rPr lang="zh-CN" altLang="zh-CN" sz="2800" dirty="0">
                <a:latin typeface="宋体"/>
                <a:ea typeface="宋体"/>
                <a:cs typeface="宋体"/>
              </a:rPr>
              <a:t>犯罪</a:t>
            </a:r>
            <a:r>
              <a:rPr lang="zh-CN" altLang="zh-CN" sz="2800" dirty="0" smtClean="0">
                <a:latin typeface="宋体"/>
                <a:ea typeface="宋体"/>
                <a:cs typeface="宋体"/>
              </a:rPr>
              <a:t>能力</a:t>
            </a:r>
            <a:r>
              <a:rPr lang="zh-CN" altLang="en-US" sz="2800" dirty="0" smtClean="0">
                <a:latin typeface="宋体"/>
                <a:ea typeface="宋体"/>
                <a:cs typeface="宋体"/>
              </a:rPr>
              <a:t>的人</a:t>
            </a:r>
            <a:r>
              <a:rPr lang="zh-CN" altLang="zh-CN" sz="2800" dirty="0" smtClean="0">
                <a:latin typeface="宋体"/>
                <a:ea typeface="宋体"/>
                <a:cs typeface="宋体"/>
              </a:rPr>
              <a:t>，</a:t>
            </a:r>
            <a:r>
              <a:rPr lang="zh-CN" altLang="en-US" sz="2800" dirty="0" smtClean="0">
                <a:latin typeface="宋体"/>
                <a:ea typeface="宋体"/>
                <a:cs typeface="宋体"/>
              </a:rPr>
              <a:t>既不人道，又无意义</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责任能力包括</a:t>
            </a:r>
            <a:r>
              <a:rPr lang="zh-CN" altLang="en-US" sz="2800" dirty="0" smtClean="0">
                <a:latin typeface="宋体"/>
                <a:ea typeface="宋体"/>
                <a:cs typeface="宋体"/>
              </a:rPr>
              <a:t>认识</a:t>
            </a:r>
            <a:r>
              <a:rPr lang="zh-CN" altLang="zh-CN" sz="2800" dirty="0" smtClean="0">
                <a:latin typeface="宋体"/>
                <a:ea typeface="宋体"/>
                <a:cs typeface="宋体"/>
              </a:rPr>
              <a:t>能力和控制能力。</a:t>
            </a:r>
            <a:endParaRPr lang="en-US" altLang="zh-CN" sz="2800" dirty="0" smtClean="0">
              <a:latin typeface="宋体"/>
              <a:ea typeface="宋体"/>
              <a:cs typeface="宋体"/>
            </a:endParaRPr>
          </a:p>
          <a:p>
            <a:r>
              <a:rPr lang="zh-CN" altLang="zh-CN" sz="2800" dirty="0" smtClean="0">
                <a:latin typeface="宋体"/>
                <a:ea typeface="宋体"/>
                <a:cs typeface="宋体"/>
              </a:rPr>
              <a:t>没有认识</a:t>
            </a:r>
            <a:r>
              <a:rPr lang="zh-CN" altLang="zh-CN" sz="2800" dirty="0">
                <a:latin typeface="宋体"/>
                <a:ea typeface="宋体"/>
                <a:cs typeface="宋体"/>
              </a:rPr>
              <a:t>能力与不知法是两个概念。不知法不是免责条件</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en-US" sz="2800" dirty="0" smtClean="0">
                <a:latin typeface="宋体"/>
                <a:ea typeface="宋体"/>
                <a:cs typeface="宋体"/>
              </a:rPr>
              <a:t>控制能力就是支配自己行为的能力。</a:t>
            </a:r>
            <a:endParaRPr lang="en-US" altLang="zh-CN" sz="2800" dirty="0" smtClean="0">
              <a:latin typeface="宋体"/>
              <a:ea typeface="宋体"/>
              <a:cs typeface="宋体"/>
            </a:endParaRPr>
          </a:p>
          <a:p>
            <a:r>
              <a:rPr lang="zh-CN" altLang="en-US" sz="2800" dirty="0" smtClean="0">
                <a:latin typeface="宋体"/>
                <a:ea typeface="宋体"/>
                <a:cs typeface="宋体"/>
              </a:rPr>
              <a:t>二者关系：认识能力是</a:t>
            </a:r>
            <a:r>
              <a:rPr lang="zh-CN" altLang="zh-CN" sz="2800" dirty="0" smtClean="0">
                <a:latin typeface="宋体"/>
                <a:ea typeface="宋体"/>
                <a:cs typeface="宋体"/>
              </a:rPr>
              <a:t>控制能力</a:t>
            </a:r>
            <a:r>
              <a:rPr lang="zh-CN" altLang="en-US" sz="2800" dirty="0" smtClean="0">
                <a:latin typeface="宋体"/>
                <a:ea typeface="宋体"/>
                <a:cs typeface="宋体"/>
              </a:rPr>
              <a:t>的前提。</a:t>
            </a:r>
            <a:endParaRPr lang="zh-CN" altLang="zh-CN" sz="2800" dirty="0">
              <a:latin typeface="宋体"/>
              <a:ea typeface="宋体"/>
              <a:cs typeface="宋体"/>
            </a:endParaRPr>
          </a:p>
          <a:p>
            <a:endParaRPr kumimoji="1" lang="zh-CN" altLang="en-US" dirty="0"/>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94</a:t>
            </a:fld>
            <a:endParaRPr lang="zh-CN" altLang="en-US"/>
          </a:p>
        </p:txBody>
      </p:sp>
    </p:spTree>
    <p:extLst>
      <p:ext uri="{BB962C8B-B14F-4D97-AF65-F5344CB8AC3E}">
        <p14:creationId xmlns:p14="http://schemas.microsoft.com/office/powerpoint/2010/main" val="3440907481"/>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260648"/>
            <a:ext cx="8064896" cy="648072"/>
          </a:xfrm>
        </p:spPr>
        <p:txBody>
          <a:bodyPr/>
          <a:lstStyle/>
          <a:p>
            <a:pPr algn="ctr"/>
            <a:r>
              <a:rPr kumimoji="1" lang="zh-CN" altLang="en-US" sz="3200" dirty="0" smtClean="0">
                <a:latin typeface="黑体"/>
                <a:ea typeface="黑体"/>
                <a:cs typeface="黑体"/>
              </a:rPr>
              <a:t>犯罪能力的标志之一：责任年龄（第</a:t>
            </a:r>
            <a:r>
              <a:rPr kumimoji="1" lang="en-US" altLang="zh-CN" sz="3200" dirty="0" smtClean="0">
                <a:latin typeface="黑体"/>
                <a:ea typeface="黑体"/>
                <a:cs typeface="黑体"/>
              </a:rPr>
              <a:t>17</a:t>
            </a:r>
            <a:r>
              <a:rPr kumimoji="1" lang="zh-CN" altLang="en-US" sz="3200" dirty="0" smtClean="0">
                <a:latin typeface="黑体"/>
                <a:ea typeface="黑体"/>
                <a:cs typeface="黑体"/>
              </a:rPr>
              <a:t>条）</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zh-CN" altLang="zh-CN" b="1" dirty="0" smtClean="0">
                <a:latin typeface="宋体"/>
                <a:ea typeface="宋体"/>
                <a:cs typeface="宋体"/>
              </a:rPr>
              <a:t>已满十六周岁</a:t>
            </a:r>
            <a:r>
              <a:rPr lang="zh-CN" altLang="zh-CN" b="1" dirty="0">
                <a:latin typeface="宋体"/>
                <a:ea typeface="宋体"/>
                <a:cs typeface="宋体"/>
              </a:rPr>
              <a:t>的人犯罪，应当负刑事责任</a:t>
            </a:r>
            <a:r>
              <a:rPr lang="zh-CN" altLang="zh-CN" b="1" dirty="0" smtClean="0">
                <a:latin typeface="宋体"/>
                <a:ea typeface="宋体"/>
                <a:cs typeface="宋体"/>
              </a:rPr>
              <a:t>。</a:t>
            </a:r>
            <a:r>
              <a:rPr lang="zh-CN" altLang="en-US" b="1" dirty="0" smtClean="0">
                <a:latin typeface="宋体"/>
                <a:ea typeface="宋体"/>
                <a:cs typeface="宋体"/>
              </a:rPr>
              <a:t>（完全刑事责任年龄段）</a:t>
            </a:r>
            <a:endParaRPr lang="en-US" altLang="zh-CN" b="1" dirty="0">
              <a:latin typeface="宋体"/>
              <a:ea typeface="宋体"/>
              <a:cs typeface="宋体"/>
            </a:endParaRPr>
          </a:p>
          <a:p>
            <a:r>
              <a:rPr lang="zh-CN" altLang="zh-CN" b="1" dirty="0" smtClean="0">
                <a:latin typeface="宋体"/>
                <a:ea typeface="宋体"/>
                <a:cs typeface="宋体"/>
              </a:rPr>
              <a:t>已满十四周岁不满十六周岁</a:t>
            </a:r>
            <a:r>
              <a:rPr lang="zh-CN" altLang="zh-CN" b="1" dirty="0">
                <a:latin typeface="宋体"/>
                <a:ea typeface="宋体"/>
                <a:cs typeface="宋体"/>
              </a:rPr>
              <a:t>的人，犯故意杀人、故意伤害致人重伤或者死亡、强奸、抢劫、贩卖毒品、放火、爆炸、投毒罪的，应当负刑事责任</a:t>
            </a:r>
            <a:r>
              <a:rPr lang="zh-CN" altLang="zh-CN" b="1" dirty="0" smtClean="0">
                <a:latin typeface="宋体"/>
                <a:ea typeface="宋体"/>
                <a:cs typeface="宋体"/>
              </a:rPr>
              <a:t>。</a:t>
            </a:r>
            <a:r>
              <a:rPr lang="zh-CN" altLang="en-US" b="1" dirty="0" smtClean="0">
                <a:latin typeface="宋体"/>
                <a:ea typeface="宋体"/>
                <a:cs typeface="宋体"/>
              </a:rPr>
              <a:t>（相对刑事责任年龄段）</a:t>
            </a:r>
            <a:endParaRPr lang="en-US" altLang="zh-CN" b="1" dirty="0">
              <a:latin typeface="宋体"/>
              <a:ea typeface="宋体"/>
              <a:cs typeface="宋体"/>
            </a:endParaRPr>
          </a:p>
          <a:p>
            <a:r>
              <a:rPr lang="zh-CN" altLang="zh-CN" b="1" dirty="0" smtClean="0">
                <a:latin typeface="宋体"/>
                <a:ea typeface="宋体"/>
                <a:cs typeface="宋体"/>
              </a:rPr>
              <a:t>已满十四周岁不满十八周岁</a:t>
            </a:r>
            <a:r>
              <a:rPr lang="zh-CN" altLang="zh-CN" b="1" dirty="0">
                <a:latin typeface="宋体"/>
                <a:ea typeface="宋体"/>
                <a:cs typeface="宋体"/>
              </a:rPr>
              <a:t>的人犯罪，应当从轻或者减轻处罚</a:t>
            </a:r>
            <a:r>
              <a:rPr lang="zh-CN" altLang="zh-CN" b="1" dirty="0" smtClean="0">
                <a:latin typeface="宋体"/>
                <a:ea typeface="宋体"/>
                <a:cs typeface="宋体"/>
              </a:rPr>
              <a:t>。</a:t>
            </a:r>
            <a:r>
              <a:rPr lang="zh-CN" altLang="en-US" b="1" dirty="0" smtClean="0">
                <a:latin typeface="宋体"/>
                <a:ea typeface="宋体"/>
                <a:cs typeface="宋体"/>
              </a:rPr>
              <a:t>（从宽刑事责任年龄段）</a:t>
            </a:r>
            <a:endParaRPr lang="en-US" altLang="zh-CN" b="1" dirty="0">
              <a:latin typeface="宋体"/>
              <a:ea typeface="宋体"/>
              <a:cs typeface="宋体"/>
            </a:endParaRPr>
          </a:p>
          <a:p>
            <a:r>
              <a:rPr lang="zh-CN" altLang="zh-CN" b="1" dirty="0" smtClean="0">
                <a:latin typeface="宋体"/>
                <a:ea typeface="宋体"/>
                <a:cs typeface="宋体"/>
              </a:rPr>
              <a:t>因不满十六周岁不予刑事处罚</a:t>
            </a:r>
            <a:r>
              <a:rPr lang="zh-CN" altLang="zh-CN" b="1" dirty="0">
                <a:latin typeface="宋体"/>
                <a:ea typeface="宋体"/>
                <a:cs typeface="宋体"/>
              </a:rPr>
              <a:t>的，责令他的家长或者监护人加以管教；在必要的时候，也可以由政府收容教养</a:t>
            </a:r>
            <a:r>
              <a:rPr lang="zh-CN" altLang="zh-CN" b="1" dirty="0" smtClean="0">
                <a:latin typeface="宋体"/>
                <a:ea typeface="宋体"/>
                <a:cs typeface="宋体"/>
              </a:rPr>
              <a:t>。</a:t>
            </a:r>
            <a:endParaRPr lang="en-US" altLang="zh-CN" b="1" dirty="0">
              <a:latin typeface="宋体"/>
              <a:ea typeface="宋体"/>
              <a:cs typeface="宋体"/>
            </a:endParaRPr>
          </a:p>
          <a:p>
            <a:r>
              <a:rPr lang="zh-CN" altLang="zh-CN" b="1" dirty="0" smtClean="0">
                <a:latin typeface="宋体"/>
                <a:ea typeface="宋体"/>
                <a:cs typeface="宋体"/>
              </a:rPr>
              <a:t>已满七十五周岁</a:t>
            </a:r>
            <a:r>
              <a:rPr lang="zh-CN" altLang="zh-CN" b="1" dirty="0">
                <a:latin typeface="宋体"/>
                <a:ea typeface="宋体"/>
                <a:cs typeface="宋体"/>
              </a:rPr>
              <a:t>的人故意犯罪的，可以从轻或者减轻处罚；过失犯罪的，应当从轻或者减轻处罚</a:t>
            </a:r>
            <a:r>
              <a:rPr lang="zh-CN" altLang="zh-CN" b="1" dirty="0" smtClean="0">
                <a:latin typeface="宋体"/>
                <a:ea typeface="宋体"/>
                <a:cs typeface="宋体"/>
              </a:rPr>
              <a:t>。</a:t>
            </a:r>
            <a:endParaRPr lang="zh-CN" altLang="zh-CN" b="1" dirty="0">
              <a:latin typeface="宋体"/>
              <a:ea typeface="宋体"/>
              <a:cs typeface="宋体"/>
            </a:endParaRPr>
          </a:p>
          <a:p>
            <a:endParaRPr kumimoji="1" lang="zh-CN" altLang="en-US" dirty="0"/>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95</a:t>
            </a:fld>
            <a:endParaRPr lang="zh-CN" altLang="en-US"/>
          </a:p>
        </p:txBody>
      </p:sp>
    </p:spTree>
    <p:extLst>
      <p:ext uri="{BB962C8B-B14F-4D97-AF65-F5344CB8AC3E}">
        <p14:creationId xmlns:p14="http://schemas.microsoft.com/office/powerpoint/2010/main" val="682516836"/>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特殊刑事责任能力</a:t>
            </a:r>
            <a:endParaRPr kumimoji="1" lang="zh-CN" altLang="en-US" sz="3200" dirty="0">
              <a:latin typeface="黑体"/>
              <a:ea typeface="黑体"/>
              <a:cs typeface="黑体"/>
            </a:endParaRPr>
          </a:p>
        </p:txBody>
      </p:sp>
      <p:sp>
        <p:nvSpPr>
          <p:cNvPr id="3" name="内容占位符 2"/>
          <p:cNvSpPr>
            <a:spLocks noGrp="1"/>
          </p:cNvSpPr>
          <p:nvPr>
            <p:ph idx="1"/>
          </p:nvPr>
        </p:nvSpPr>
        <p:spPr>
          <a:xfrm>
            <a:off x="467544" y="836712"/>
            <a:ext cx="8229600" cy="5000625"/>
          </a:xfrm>
        </p:spPr>
        <p:txBody>
          <a:bodyPr/>
          <a:lstStyle/>
          <a:p>
            <a:r>
              <a:rPr lang="zh-CN" altLang="zh-CN" sz="2800" dirty="0" smtClean="0">
                <a:latin typeface="宋体"/>
                <a:ea typeface="宋体"/>
                <a:cs typeface="宋体"/>
              </a:rPr>
              <a:t>第十八条</a:t>
            </a:r>
            <a:r>
              <a:rPr lang="en-US" altLang="zh-CN" sz="2800" dirty="0">
                <a:latin typeface="宋体"/>
                <a:ea typeface="宋体"/>
                <a:cs typeface="宋体"/>
              </a:rPr>
              <a:t> </a:t>
            </a:r>
            <a:r>
              <a:rPr lang="en-US" altLang="zh-CN" sz="2800" dirty="0" smtClean="0">
                <a:latin typeface="宋体"/>
                <a:ea typeface="宋体"/>
                <a:cs typeface="宋体"/>
              </a:rPr>
              <a:t> </a:t>
            </a:r>
            <a:r>
              <a:rPr lang="zh-CN" altLang="zh-CN" sz="2800" dirty="0" smtClean="0">
                <a:latin typeface="宋体"/>
                <a:ea typeface="宋体"/>
                <a:cs typeface="宋体"/>
              </a:rPr>
              <a:t>精神</a:t>
            </a:r>
            <a:r>
              <a:rPr lang="zh-CN" altLang="zh-CN" sz="2800" dirty="0">
                <a:latin typeface="宋体"/>
                <a:ea typeface="宋体"/>
                <a:cs typeface="宋体"/>
              </a:rPr>
              <a:t>病人在不能辨认或者不能控制自己行为的时候造成危害结果，经法定程序鉴定确认的，不负刑事责任，但是应当责令他的家属或者监护人严加看管和医疗；在必要的时候，由政府强制医疗。</a:t>
            </a:r>
            <a:r>
              <a:rPr lang="en-US" altLang="zh-CN" sz="2800" dirty="0">
                <a:latin typeface="宋体"/>
                <a:ea typeface="宋体"/>
                <a:cs typeface="宋体"/>
              </a:rPr>
              <a:t/>
            </a:r>
            <a:br>
              <a:rPr lang="en-US" altLang="zh-CN" sz="2800" dirty="0">
                <a:latin typeface="宋体"/>
                <a:ea typeface="宋体"/>
                <a:cs typeface="宋体"/>
              </a:rPr>
            </a:br>
            <a:r>
              <a:rPr lang="zh-CN" altLang="zh-CN" sz="2800" dirty="0">
                <a:latin typeface="宋体"/>
                <a:ea typeface="宋体"/>
                <a:cs typeface="宋体"/>
              </a:rPr>
              <a:t>　　间歇性的精神病人在精神正常的时候犯罪，应当负刑事责任。</a:t>
            </a:r>
            <a:r>
              <a:rPr lang="en-US" altLang="zh-CN" sz="2800" dirty="0">
                <a:latin typeface="宋体"/>
                <a:ea typeface="宋体"/>
                <a:cs typeface="宋体"/>
              </a:rPr>
              <a:t/>
            </a:r>
            <a:br>
              <a:rPr lang="en-US" altLang="zh-CN" sz="2800" dirty="0">
                <a:latin typeface="宋体"/>
                <a:ea typeface="宋体"/>
                <a:cs typeface="宋体"/>
              </a:rPr>
            </a:br>
            <a:r>
              <a:rPr lang="zh-CN" altLang="zh-CN" sz="2800" dirty="0">
                <a:latin typeface="宋体"/>
                <a:ea typeface="宋体"/>
                <a:cs typeface="宋体"/>
              </a:rPr>
              <a:t>　　尚未完全丧失辨认或者控制自己行为能力的精神病人犯罪的，应当负刑事责任，但是可以从轻或者减轻处罚。</a:t>
            </a:r>
            <a:r>
              <a:rPr lang="en-US" altLang="zh-CN" sz="2800" dirty="0">
                <a:latin typeface="宋体"/>
                <a:ea typeface="宋体"/>
                <a:cs typeface="宋体"/>
              </a:rPr>
              <a:t/>
            </a:r>
            <a:br>
              <a:rPr lang="en-US" altLang="zh-CN" sz="2800" dirty="0">
                <a:latin typeface="宋体"/>
                <a:ea typeface="宋体"/>
                <a:cs typeface="宋体"/>
              </a:rPr>
            </a:br>
            <a:r>
              <a:rPr lang="zh-CN" altLang="zh-CN" sz="2800" dirty="0">
                <a:latin typeface="宋体"/>
                <a:ea typeface="宋体"/>
                <a:cs typeface="宋体"/>
              </a:rPr>
              <a:t>　　醉酒的人犯罪，应当负刑事责任</a:t>
            </a:r>
            <a:r>
              <a:rPr lang="zh-CN" altLang="zh-CN" sz="2800" dirty="0" smtClean="0">
                <a:latin typeface="宋体"/>
                <a:ea typeface="宋体"/>
                <a:cs typeface="宋体"/>
              </a:rPr>
              <a:t>。</a:t>
            </a:r>
            <a:endParaRPr lang="zh-CN" altLang="zh-CN" sz="2800" dirty="0">
              <a:latin typeface="宋体"/>
              <a:ea typeface="宋体"/>
              <a:cs typeface="宋体"/>
            </a:endParaRPr>
          </a:p>
          <a:p>
            <a:r>
              <a:rPr lang="zh-CN" altLang="zh-CN" sz="2800" dirty="0" smtClean="0">
                <a:latin typeface="宋体"/>
                <a:ea typeface="宋体"/>
                <a:cs typeface="宋体"/>
              </a:rPr>
              <a:t>第十九条</a:t>
            </a:r>
            <a:r>
              <a:rPr lang="en-US" altLang="zh-CN" sz="2800" dirty="0" smtClean="0">
                <a:latin typeface="宋体"/>
                <a:ea typeface="宋体"/>
                <a:cs typeface="宋体"/>
              </a:rPr>
              <a:t>  </a:t>
            </a:r>
            <a:r>
              <a:rPr lang="zh-CN" altLang="zh-CN" sz="2800" dirty="0" smtClean="0">
                <a:latin typeface="宋体"/>
                <a:ea typeface="宋体"/>
                <a:cs typeface="宋体"/>
              </a:rPr>
              <a:t>又聋又哑</a:t>
            </a:r>
            <a:r>
              <a:rPr lang="zh-CN" altLang="zh-CN" sz="2800" dirty="0">
                <a:latin typeface="宋体"/>
                <a:ea typeface="宋体"/>
                <a:cs typeface="宋体"/>
              </a:rPr>
              <a:t>的人或者盲人犯罪，可以从轻、减轻或者免除处罚。</a:t>
            </a:r>
          </a:p>
          <a:p>
            <a:endParaRPr kumimoji="1" lang="zh-CN" altLang="en-US"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96</a:t>
            </a:fld>
            <a:endParaRPr lang="zh-CN" altLang="en-US"/>
          </a:p>
        </p:txBody>
      </p:sp>
    </p:spTree>
    <p:extLst>
      <p:ext uri="{BB962C8B-B14F-4D97-AF65-F5344CB8AC3E}">
        <p14:creationId xmlns:p14="http://schemas.microsoft.com/office/powerpoint/2010/main" val="662908467"/>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除刑之三：正当防卫</a:t>
            </a:r>
            <a:endParaRPr kumimoji="1" lang="zh-CN" altLang="en-US" sz="3200" dirty="0"/>
          </a:p>
        </p:txBody>
      </p:sp>
      <p:sp>
        <p:nvSpPr>
          <p:cNvPr id="3" name="内容占位符 2"/>
          <p:cNvSpPr>
            <a:spLocks noGrp="1"/>
          </p:cNvSpPr>
          <p:nvPr>
            <p:ph idx="1"/>
          </p:nvPr>
        </p:nvSpPr>
        <p:spPr/>
        <p:txBody>
          <a:bodyPr/>
          <a:lstStyle/>
          <a:p>
            <a:r>
              <a:rPr lang="zh-CN" altLang="zh-CN" sz="2800" dirty="0">
                <a:latin typeface="宋体"/>
                <a:ea typeface="宋体"/>
                <a:cs typeface="宋体"/>
              </a:rPr>
              <a:t>被告人杜福美，女，</a:t>
            </a:r>
            <a:r>
              <a:rPr lang="en-US" altLang="zh-CN" sz="2800" dirty="0">
                <a:latin typeface="宋体"/>
                <a:ea typeface="宋体"/>
                <a:cs typeface="宋体"/>
              </a:rPr>
              <a:t>16</a:t>
            </a:r>
            <a:r>
              <a:rPr lang="zh-CN" altLang="zh-CN" sz="2800" dirty="0">
                <a:latin typeface="宋体"/>
                <a:ea typeface="宋体"/>
                <a:cs typeface="宋体"/>
              </a:rPr>
              <a:t>周</a:t>
            </a:r>
            <a:r>
              <a:rPr lang="zh-CN" altLang="zh-CN" sz="2800" dirty="0" smtClean="0">
                <a:latin typeface="宋体"/>
                <a:ea typeface="宋体"/>
                <a:cs typeface="宋体"/>
              </a:rPr>
              <a:t>岁。</a:t>
            </a:r>
            <a:r>
              <a:rPr lang="en-US" altLang="zh-CN" sz="2800" dirty="0">
                <a:latin typeface="宋体"/>
                <a:ea typeface="宋体"/>
                <a:cs typeface="宋体"/>
              </a:rPr>
              <a:t>1997</a:t>
            </a:r>
            <a:r>
              <a:rPr lang="zh-CN" altLang="zh-CN" sz="2800" dirty="0">
                <a:latin typeface="宋体"/>
                <a:ea typeface="宋体"/>
                <a:cs typeface="宋体"/>
              </a:rPr>
              <a:t>年</a:t>
            </a:r>
            <a:r>
              <a:rPr lang="en-US" altLang="zh-CN" sz="2800" dirty="0">
                <a:latin typeface="宋体"/>
                <a:ea typeface="宋体"/>
                <a:cs typeface="宋体"/>
              </a:rPr>
              <a:t>2</a:t>
            </a:r>
            <a:r>
              <a:rPr lang="zh-CN" altLang="zh-CN" sz="2800" dirty="0">
                <a:latin typeface="宋体"/>
                <a:ea typeface="宋体"/>
                <a:cs typeface="宋体"/>
              </a:rPr>
              <a:t>月</a:t>
            </a:r>
            <a:r>
              <a:rPr lang="en-US" altLang="zh-CN" sz="2800" dirty="0">
                <a:latin typeface="宋体"/>
                <a:ea typeface="宋体"/>
                <a:cs typeface="宋体"/>
              </a:rPr>
              <a:t>10</a:t>
            </a:r>
            <a:r>
              <a:rPr lang="zh-CN" altLang="zh-CN" sz="2800" dirty="0">
                <a:latin typeface="宋体"/>
                <a:ea typeface="宋体"/>
                <a:cs typeface="宋体"/>
              </a:rPr>
              <a:t>日，</a:t>
            </a:r>
            <a:r>
              <a:rPr lang="zh-CN" altLang="zh-CN" sz="2800" dirty="0" smtClean="0">
                <a:latin typeface="宋体"/>
                <a:ea typeface="宋体"/>
                <a:cs typeface="宋体"/>
              </a:rPr>
              <a:t>被告人之母、兄将杜哄骗到</a:t>
            </a:r>
            <a:r>
              <a:rPr lang="zh-CN" altLang="en-US" sz="2800" dirty="0" smtClean="0">
                <a:latin typeface="宋体"/>
                <a:ea typeface="宋体"/>
                <a:cs typeface="宋体"/>
              </a:rPr>
              <a:t>某</a:t>
            </a:r>
            <a:r>
              <a:rPr lang="zh-CN" altLang="zh-CN" sz="2800" dirty="0" smtClean="0">
                <a:latin typeface="宋体"/>
                <a:ea typeface="宋体"/>
                <a:cs typeface="宋体"/>
              </a:rPr>
              <a:t>村的代课教师孟</a:t>
            </a:r>
            <a:r>
              <a:rPr lang="zh-CN" altLang="en-US" sz="2800" dirty="0" smtClean="0">
                <a:latin typeface="宋体"/>
                <a:ea typeface="宋体"/>
                <a:cs typeface="宋体"/>
              </a:rPr>
              <a:t>某</a:t>
            </a:r>
            <a:r>
              <a:rPr lang="zh-CN" altLang="zh-CN" sz="2800" dirty="0" smtClean="0">
                <a:latin typeface="宋体"/>
                <a:ea typeface="宋体"/>
                <a:cs typeface="宋体"/>
              </a:rPr>
              <a:t>家，孟多次强行与被告人发</a:t>
            </a:r>
            <a:r>
              <a:rPr lang="zh-CN" altLang="zh-CN" sz="2800" dirty="0">
                <a:latin typeface="宋体"/>
                <a:ea typeface="宋体"/>
                <a:cs typeface="宋体"/>
              </a:rPr>
              <a:t>生性行为，均遭到</a:t>
            </a:r>
            <a:r>
              <a:rPr lang="zh-CN" altLang="zh-CN" sz="2800" dirty="0" smtClean="0">
                <a:latin typeface="宋体"/>
                <a:ea typeface="宋体"/>
                <a:cs typeface="宋体"/>
              </a:rPr>
              <a:t>被告反抗，仍未引起被害人家人之</a:t>
            </a:r>
            <a:r>
              <a:rPr lang="zh-CN" altLang="zh-CN" sz="2800" dirty="0">
                <a:latin typeface="宋体"/>
                <a:ea typeface="宋体"/>
                <a:cs typeface="宋体"/>
              </a:rPr>
              <a:t>同情</a:t>
            </a:r>
            <a:r>
              <a:rPr lang="zh-CN" altLang="zh-CN" sz="2800" dirty="0" smtClean="0">
                <a:latin typeface="宋体"/>
                <a:ea typeface="宋体"/>
                <a:cs typeface="宋体"/>
              </a:rPr>
              <a:t>。被告人产生对</a:t>
            </a:r>
            <a:r>
              <a:rPr lang="zh-CN" altLang="zh-CN" sz="2800" dirty="0">
                <a:latin typeface="宋体"/>
                <a:ea typeface="宋体"/>
                <a:cs typeface="宋体"/>
              </a:rPr>
              <a:t>被害人孟庭碧的怨恨，于</a:t>
            </a:r>
            <a:r>
              <a:rPr lang="en-US" altLang="zh-CN" sz="2800" dirty="0">
                <a:latin typeface="宋体"/>
                <a:ea typeface="宋体"/>
                <a:cs typeface="宋体"/>
              </a:rPr>
              <a:t>1997</a:t>
            </a:r>
            <a:r>
              <a:rPr lang="zh-CN" altLang="zh-CN" sz="2800" dirty="0">
                <a:latin typeface="宋体"/>
                <a:ea typeface="宋体"/>
                <a:cs typeface="宋体"/>
              </a:rPr>
              <a:t>年</a:t>
            </a:r>
            <a:r>
              <a:rPr lang="en-US" altLang="zh-CN" sz="2800" dirty="0">
                <a:latin typeface="宋体"/>
                <a:ea typeface="宋体"/>
                <a:cs typeface="宋体"/>
              </a:rPr>
              <a:t>5</a:t>
            </a:r>
            <a:r>
              <a:rPr lang="zh-CN" altLang="zh-CN" sz="2800" dirty="0">
                <a:latin typeface="宋体"/>
                <a:ea typeface="宋体"/>
                <a:cs typeface="宋体"/>
              </a:rPr>
              <a:t>月</a:t>
            </a:r>
            <a:r>
              <a:rPr lang="en-US" altLang="zh-CN" sz="2800" dirty="0">
                <a:latin typeface="宋体"/>
                <a:ea typeface="宋体"/>
                <a:cs typeface="宋体"/>
              </a:rPr>
              <a:t>20</a:t>
            </a:r>
            <a:r>
              <a:rPr lang="zh-CN" altLang="zh-CN" sz="2800" dirty="0">
                <a:latin typeface="宋体"/>
                <a:ea typeface="宋体"/>
                <a:cs typeface="宋体"/>
              </a:rPr>
              <a:t>日趁赶集之机买回“鼠克星”液体灭鼠药一瓶，准备毒死孟庭碧。同年</a:t>
            </a:r>
            <a:r>
              <a:rPr lang="en-US" altLang="zh-CN" sz="2800" dirty="0">
                <a:latin typeface="宋体"/>
                <a:ea typeface="宋体"/>
                <a:cs typeface="宋体"/>
              </a:rPr>
              <a:t>5</a:t>
            </a:r>
            <a:r>
              <a:rPr lang="zh-CN" altLang="zh-CN" sz="2800" dirty="0">
                <a:latin typeface="宋体"/>
                <a:ea typeface="宋体"/>
                <a:cs typeface="宋体"/>
              </a:rPr>
              <a:t>月</a:t>
            </a:r>
            <a:r>
              <a:rPr lang="en-US" altLang="zh-CN" sz="2800" dirty="0">
                <a:latin typeface="宋体"/>
                <a:ea typeface="宋体"/>
                <a:cs typeface="宋体"/>
              </a:rPr>
              <a:t>22</a:t>
            </a:r>
            <a:r>
              <a:rPr lang="zh-CN" altLang="zh-CN" sz="2800" dirty="0">
                <a:latin typeface="宋体"/>
                <a:ea typeface="宋体"/>
                <a:cs typeface="宋体"/>
              </a:rPr>
              <a:t>日上午，被告趁舀饭之机将灭鼠药倒入孟庭碧食用的饭内，致孟食后中毒，于当天下午</a:t>
            </a:r>
            <a:r>
              <a:rPr lang="en-US" altLang="zh-CN" sz="2800" dirty="0">
                <a:latin typeface="宋体"/>
                <a:ea typeface="宋体"/>
                <a:cs typeface="宋体"/>
              </a:rPr>
              <a:t>1</a:t>
            </a:r>
            <a:r>
              <a:rPr lang="zh-CN" altLang="zh-CN" sz="2800" dirty="0">
                <a:latin typeface="宋体"/>
                <a:ea typeface="宋体"/>
                <a:cs typeface="宋体"/>
              </a:rPr>
              <a:t>时</a:t>
            </a:r>
            <a:r>
              <a:rPr lang="en-US" altLang="zh-CN" sz="2800" dirty="0">
                <a:latin typeface="宋体"/>
                <a:ea typeface="宋体"/>
                <a:cs typeface="宋体"/>
              </a:rPr>
              <a:t>25</a:t>
            </a:r>
            <a:r>
              <a:rPr lang="zh-CN" altLang="zh-CN" sz="2800" dirty="0">
                <a:latin typeface="宋体"/>
                <a:ea typeface="宋体"/>
                <a:cs typeface="宋体"/>
              </a:rPr>
              <a:t>分死亡</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经法医尸检在</a:t>
            </a:r>
            <a:r>
              <a:rPr lang="zh-CN" altLang="zh-CN" sz="2800" dirty="0">
                <a:latin typeface="宋体"/>
                <a:ea typeface="宋体"/>
                <a:cs typeface="宋体"/>
              </a:rPr>
              <a:t>孟庭碧的胃内溶液中检出氟乙酰胺杀鼠药成分</a:t>
            </a:r>
            <a:r>
              <a:rPr lang="zh-CN" altLang="zh-CN" sz="2800" dirty="0" smtClean="0">
                <a:latin typeface="宋体"/>
                <a:ea typeface="宋体"/>
                <a:cs typeface="宋体"/>
              </a:rPr>
              <a:t>。</a:t>
            </a:r>
            <a:endParaRPr lang="zh-CN" altLang="zh-CN"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97</a:t>
            </a:fld>
            <a:endParaRPr lang="zh-CN" altLang="en-US"/>
          </a:p>
        </p:txBody>
      </p:sp>
    </p:spTree>
    <p:extLst>
      <p:ext uri="{BB962C8B-B14F-4D97-AF65-F5344CB8AC3E}">
        <p14:creationId xmlns:p14="http://schemas.microsoft.com/office/powerpoint/2010/main" val="7588145"/>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律师的辩护意见要点</a:t>
            </a:r>
            <a:endParaRPr kumimoji="1" lang="zh-CN" altLang="en-US" sz="3200" dirty="0">
              <a:latin typeface="黑体"/>
              <a:ea typeface="黑体"/>
              <a:cs typeface="黑体"/>
            </a:endParaRPr>
          </a:p>
        </p:txBody>
      </p:sp>
      <p:sp>
        <p:nvSpPr>
          <p:cNvPr id="3" name="内容占位符 2"/>
          <p:cNvSpPr>
            <a:spLocks noGrp="1"/>
          </p:cNvSpPr>
          <p:nvPr>
            <p:ph idx="1"/>
          </p:nvPr>
        </p:nvSpPr>
        <p:spPr>
          <a:xfrm>
            <a:off x="467544" y="980728"/>
            <a:ext cx="8229600" cy="5472608"/>
          </a:xfrm>
        </p:spPr>
        <p:txBody>
          <a:bodyPr/>
          <a:lstStyle/>
          <a:p>
            <a:r>
              <a:rPr lang="zh-CN" altLang="zh-CN" dirty="0" smtClean="0">
                <a:latin typeface="宋体"/>
                <a:ea typeface="宋体"/>
                <a:cs typeface="宋体"/>
              </a:rPr>
              <a:t>第一</a:t>
            </a:r>
            <a:r>
              <a:rPr lang="zh-CN" altLang="zh-CN" dirty="0">
                <a:latin typeface="宋体"/>
                <a:ea typeface="宋体"/>
                <a:cs typeface="宋体"/>
              </a:rPr>
              <a:t>，</a:t>
            </a:r>
            <a:r>
              <a:rPr lang="zh-CN" altLang="zh-CN" dirty="0" smtClean="0">
                <a:latin typeface="宋体"/>
                <a:ea typeface="宋体"/>
                <a:cs typeface="宋体"/>
              </a:rPr>
              <a:t>被告人与孟的关</a:t>
            </a:r>
            <a:r>
              <a:rPr lang="zh-CN" altLang="zh-CN" dirty="0">
                <a:latin typeface="宋体"/>
                <a:ea typeface="宋体"/>
                <a:cs typeface="宋体"/>
              </a:rPr>
              <a:t>系不是夫妻关系。我国《婚姻法》第</a:t>
            </a:r>
            <a:r>
              <a:rPr lang="en-US" altLang="zh-CN" dirty="0">
                <a:latin typeface="宋体"/>
                <a:ea typeface="宋体"/>
                <a:cs typeface="宋体"/>
              </a:rPr>
              <a:t>5</a:t>
            </a:r>
            <a:r>
              <a:rPr lang="zh-CN" altLang="zh-CN" dirty="0">
                <a:latin typeface="宋体"/>
                <a:ea typeface="宋体"/>
                <a:cs typeface="宋体"/>
              </a:rPr>
              <a:t>条规定：结婚年龄，男不得早于</a:t>
            </a:r>
            <a:r>
              <a:rPr lang="en-US" altLang="zh-CN" dirty="0">
                <a:latin typeface="宋体"/>
                <a:ea typeface="宋体"/>
                <a:cs typeface="宋体"/>
              </a:rPr>
              <a:t>22</a:t>
            </a:r>
            <a:r>
              <a:rPr lang="zh-CN" altLang="zh-CN" dirty="0">
                <a:latin typeface="宋体"/>
                <a:ea typeface="宋体"/>
                <a:cs typeface="宋体"/>
              </a:rPr>
              <a:t>周岁，女不得早于</a:t>
            </a:r>
            <a:r>
              <a:rPr lang="en-US" altLang="zh-CN" dirty="0">
                <a:latin typeface="宋体"/>
                <a:ea typeface="宋体"/>
                <a:cs typeface="宋体"/>
              </a:rPr>
              <a:t>20</a:t>
            </a:r>
            <a:r>
              <a:rPr lang="zh-CN" altLang="zh-CN" dirty="0">
                <a:latin typeface="宋体"/>
                <a:ea typeface="宋体"/>
                <a:cs typeface="宋体"/>
              </a:rPr>
              <a:t>周岁。本案被告人到被害人家时尚未满</a:t>
            </a:r>
            <a:r>
              <a:rPr lang="en-US" altLang="zh-CN" dirty="0">
                <a:latin typeface="宋体"/>
                <a:ea typeface="宋体"/>
                <a:cs typeface="宋体"/>
              </a:rPr>
              <a:t>16</a:t>
            </a:r>
            <a:r>
              <a:rPr lang="zh-CN" altLang="zh-CN" dirty="0">
                <a:latin typeface="宋体"/>
                <a:ea typeface="宋体"/>
                <a:cs typeface="宋体"/>
              </a:rPr>
              <a:t>周岁，故两人属非法婚姻，依法不受法律保护</a:t>
            </a:r>
            <a:r>
              <a:rPr lang="zh-CN" altLang="zh-CN" dirty="0" smtClean="0">
                <a:latin typeface="宋体"/>
                <a:ea typeface="宋体"/>
                <a:cs typeface="宋体"/>
              </a:rPr>
              <a:t>。</a:t>
            </a:r>
            <a:endParaRPr lang="en-US" altLang="zh-CN" dirty="0" smtClean="0">
              <a:latin typeface="宋体"/>
              <a:ea typeface="宋体"/>
              <a:cs typeface="宋体"/>
            </a:endParaRPr>
          </a:p>
          <a:p>
            <a:r>
              <a:rPr lang="zh-CN" altLang="zh-CN" dirty="0" smtClean="0">
                <a:latin typeface="宋体"/>
                <a:ea typeface="宋体"/>
                <a:cs typeface="宋体"/>
              </a:rPr>
              <a:t>第二</a:t>
            </a:r>
            <a:r>
              <a:rPr lang="zh-CN" altLang="zh-CN" dirty="0">
                <a:latin typeface="宋体"/>
                <a:ea typeface="宋体"/>
                <a:cs typeface="宋体"/>
              </a:rPr>
              <a:t>，被害人孟庭碧强行与被告人发生性关系的行为属强奸行为</a:t>
            </a:r>
            <a:r>
              <a:rPr lang="zh-CN" altLang="zh-CN" dirty="0" smtClean="0">
                <a:latin typeface="宋体"/>
                <a:ea typeface="宋体"/>
                <a:cs typeface="宋体"/>
              </a:rPr>
              <a:t>。</a:t>
            </a:r>
            <a:endParaRPr lang="en-US" altLang="zh-CN" dirty="0" smtClean="0">
              <a:latin typeface="宋体"/>
              <a:ea typeface="宋体"/>
              <a:cs typeface="宋体"/>
            </a:endParaRPr>
          </a:p>
          <a:p>
            <a:r>
              <a:rPr lang="zh-CN" altLang="zh-CN" dirty="0" smtClean="0">
                <a:latin typeface="宋体"/>
                <a:ea typeface="宋体"/>
                <a:cs typeface="宋体"/>
              </a:rPr>
              <a:t>第三，《</a:t>
            </a:r>
            <a:r>
              <a:rPr lang="zh-CN" altLang="zh-CN" dirty="0">
                <a:latin typeface="宋体"/>
                <a:ea typeface="宋体"/>
                <a:cs typeface="宋体"/>
              </a:rPr>
              <a:t>刑法</a:t>
            </a:r>
            <a:r>
              <a:rPr lang="zh-CN" altLang="zh-CN" dirty="0" smtClean="0">
                <a:latin typeface="宋体"/>
                <a:ea typeface="宋体"/>
                <a:cs typeface="宋体"/>
              </a:rPr>
              <a:t>》规</a:t>
            </a:r>
            <a:r>
              <a:rPr lang="zh-CN" altLang="zh-CN" dirty="0">
                <a:latin typeface="宋体"/>
                <a:ea typeface="宋体"/>
                <a:cs typeface="宋体"/>
              </a:rPr>
              <a:t>定</a:t>
            </a:r>
            <a:r>
              <a:rPr lang="zh-CN" altLang="zh-CN" dirty="0" smtClean="0">
                <a:latin typeface="宋体"/>
                <a:ea typeface="宋体"/>
                <a:cs typeface="宋体"/>
              </a:rPr>
              <a:t>：正当防卫不负刑事责</a:t>
            </a:r>
            <a:r>
              <a:rPr lang="zh-CN" altLang="zh-CN" dirty="0">
                <a:latin typeface="宋体"/>
                <a:ea typeface="宋体"/>
                <a:cs typeface="宋体"/>
              </a:rPr>
              <a:t>任</a:t>
            </a:r>
            <a:r>
              <a:rPr lang="zh-CN" altLang="zh-CN" dirty="0" smtClean="0">
                <a:latin typeface="宋体"/>
                <a:ea typeface="宋体"/>
                <a:cs typeface="宋体"/>
              </a:rPr>
              <a:t>。被告</a:t>
            </a:r>
            <a:r>
              <a:rPr lang="zh-CN" altLang="zh-CN" dirty="0">
                <a:latin typeface="宋体"/>
                <a:ea typeface="宋体"/>
                <a:cs typeface="宋体"/>
              </a:rPr>
              <a:t>人的人身权利在孟家期间随时都有被侵害的可能，因此杜的行为是对随时可能发生的不法侵害进行防卫</a:t>
            </a:r>
            <a:r>
              <a:rPr lang="zh-CN" altLang="zh-CN" dirty="0" smtClean="0">
                <a:latin typeface="宋体"/>
                <a:ea typeface="宋体"/>
                <a:cs typeface="宋体"/>
              </a:rPr>
              <a:t>。</a:t>
            </a:r>
            <a:endParaRPr lang="en-US" altLang="zh-CN" dirty="0" smtClean="0">
              <a:latin typeface="宋体"/>
              <a:ea typeface="宋体"/>
              <a:cs typeface="宋体"/>
            </a:endParaRPr>
          </a:p>
          <a:p>
            <a:r>
              <a:rPr lang="zh-CN" altLang="zh-CN" dirty="0" smtClean="0">
                <a:latin typeface="宋体"/>
                <a:ea typeface="宋体"/>
                <a:cs typeface="宋体"/>
              </a:rPr>
              <a:t>所以</a:t>
            </a:r>
            <a:r>
              <a:rPr lang="zh-CN" altLang="zh-CN" dirty="0">
                <a:latin typeface="宋体"/>
                <a:ea typeface="宋体"/>
                <a:cs typeface="宋体"/>
              </a:rPr>
              <a:t>，被告人杜福美的行为属正当防卫，不应承担刑事责任</a:t>
            </a:r>
            <a:r>
              <a:rPr lang="zh-CN" altLang="zh-CN" dirty="0" smtClean="0">
                <a:latin typeface="宋体"/>
                <a:ea typeface="宋体"/>
                <a:cs typeface="宋体"/>
              </a:rPr>
              <a:t>。</a:t>
            </a:r>
            <a:endParaRPr lang="en-US" altLang="zh-CN" dirty="0" smtClean="0">
              <a:latin typeface="宋体"/>
              <a:ea typeface="宋体"/>
              <a:cs typeface="宋体"/>
            </a:endParaRPr>
          </a:p>
          <a:p>
            <a:r>
              <a:rPr lang="zh-CN" altLang="en-US" dirty="0" smtClean="0">
                <a:latin typeface="宋体"/>
                <a:ea typeface="宋体"/>
                <a:cs typeface="宋体"/>
              </a:rPr>
              <a:t>到底什么是正当防卫？</a:t>
            </a:r>
            <a:r>
              <a:rPr lang="zh-CN" altLang="zh-CN" dirty="0" smtClean="0">
                <a:latin typeface="宋体"/>
                <a:ea typeface="宋体"/>
                <a:cs typeface="宋体"/>
              </a:rPr>
              <a:t> </a:t>
            </a:r>
            <a:endParaRPr kumimoji="1" lang="zh-CN" altLang="en-US"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98</a:t>
            </a:fld>
            <a:endParaRPr lang="zh-CN" altLang="en-US"/>
          </a:p>
        </p:txBody>
      </p:sp>
    </p:spTree>
    <p:extLst>
      <p:ext uri="{BB962C8B-B14F-4D97-AF65-F5344CB8AC3E}">
        <p14:creationId xmlns:p14="http://schemas.microsoft.com/office/powerpoint/2010/main" val="3974502100"/>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基本概念：正当防卫（第</a:t>
            </a:r>
            <a:r>
              <a:rPr kumimoji="1" lang="en-US" altLang="zh-CN" sz="3200" dirty="0" smtClean="0">
                <a:latin typeface="黑体"/>
                <a:ea typeface="黑体"/>
                <a:cs typeface="黑体"/>
              </a:rPr>
              <a:t>20</a:t>
            </a:r>
            <a:r>
              <a:rPr kumimoji="1" lang="zh-CN" altLang="en-US" sz="3200" dirty="0" smtClean="0">
                <a:latin typeface="黑体"/>
                <a:ea typeface="黑体"/>
                <a:cs typeface="黑体"/>
              </a:rPr>
              <a:t>条）</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zh-CN" altLang="zh-CN" sz="2800" b="1" dirty="0" smtClean="0">
                <a:latin typeface="宋体"/>
                <a:ea typeface="宋体"/>
                <a:cs typeface="宋体"/>
              </a:rPr>
              <a:t>为</a:t>
            </a:r>
            <a:r>
              <a:rPr lang="zh-CN" altLang="zh-CN" sz="2800" b="1" dirty="0">
                <a:latin typeface="宋体"/>
                <a:ea typeface="宋体"/>
                <a:cs typeface="宋体"/>
              </a:rPr>
              <a:t>了使国家、公共利益、本人或者他人的人身、财产和其他权利免受正在进行的不法侵害，而采取的制止不法侵害的行为，对不法侵害人造成损害的，属于正当防卫，不负刑事责任</a:t>
            </a:r>
            <a:r>
              <a:rPr lang="zh-CN" altLang="zh-CN" sz="2800" b="1" dirty="0" smtClean="0">
                <a:latin typeface="宋体"/>
                <a:ea typeface="宋体"/>
                <a:cs typeface="宋体"/>
              </a:rPr>
              <a:t>。</a:t>
            </a:r>
            <a:endParaRPr lang="en-US" altLang="zh-CN" sz="2800" b="1" dirty="0">
              <a:latin typeface="宋体"/>
              <a:ea typeface="宋体"/>
              <a:cs typeface="宋体"/>
            </a:endParaRPr>
          </a:p>
          <a:p>
            <a:r>
              <a:rPr lang="zh-CN" altLang="zh-CN" sz="2800" b="1" dirty="0" smtClean="0">
                <a:latin typeface="宋体"/>
                <a:ea typeface="宋体"/>
                <a:cs typeface="宋体"/>
              </a:rPr>
              <a:t>正当防卫明显超过</a:t>
            </a:r>
            <a:r>
              <a:rPr lang="zh-CN" altLang="zh-CN" sz="2800" b="1" dirty="0">
                <a:latin typeface="宋体"/>
                <a:ea typeface="宋体"/>
                <a:cs typeface="宋体"/>
              </a:rPr>
              <a:t>必要限度造成重大损害的，应当负刑事责任，但是应当减轻或者免除处罚</a:t>
            </a:r>
            <a:r>
              <a:rPr lang="zh-CN" altLang="zh-CN" sz="2800" b="1" dirty="0" smtClean="0">
                <a:latin typeface="宋体"/>
                <a:ea typeface="宋体"/>
                <a:cs typeface="宋体"/>
              </a:rPr>
              <a:t>。</a:t>
            </a:r>
            <a:endParaRPr lang="en-US" altLang="zh-CN" sz="2800" b="1" dirty="0">
              <a:latin typeface="宋体"/>
              <a:ea typeface="宋体"/>
              <a:cs typeface="宋体"/>
            </a:endParaRPr>
          </a:p>
          <a:p>
            <a:r>
              <a:rPr lang="zh-CN" altLang="zh-CN" sz="2800" b="1" dirty="0" smtClean="0">
                <a:latin typeface="宋体"/>
                <a:ea typeface="宋体"/>
                <a:cs typeface="宋体"/>
              </a:rPr>
              <a:t>对</a:t>
            </a:r>
            <a:r>
              <a:rPr lang="zh-CN" altLang="zh-CN" sz="2800" b="1" dirty="0">
                <a:latin typeface="宋体"/>
                <a:ea typeface="宋体"/>
                <a:cs typeface="宋体"/>
              </a:rPr>
              <a:t>正在进行行凶、杀人、抢劫、强奸、绑架以及其他严重危及人身安全的暴力犯罪，采取防卫行为，造成不法侵害人伤亡的，不属于防卫过当，不负刑事责任。 </a:t>
            </a:r>
            <a:endParaRPr kumimoji="1" lang="zh-CN" altLang="en-US" sz="2800" b="1"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99</a:t>
            </a:fld>
            <a:endParaRPr lang="zh-CN" altLang="en-US"/>
          </a:p>
        </p:txBody>
      </p:sp>
    </p:spTree>
    <p:extLst>
      <p:ext uri="{BB962C8B-B14F-4D97-AF65-F5344CB8AC3E}">
        <p14:creationId xmlns:p14="http://schemas.microsoft.com/office/powerpoint/2010/main" val="3911013702"/>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防卫必须依法</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zh-CN" altLang="zh-CN" sz="2800" dirty="0">
                <a:latin typeface="宋体"/>
                <a:ea typeface="宋体"/>
                <a:cs typeface="宋体"/>
              </a:rPr>
              <a:t>正当防卫是由犯罪的被害人直接发动的针对犯罪的对抗，但正当防卫决非私刑，而国家犯罪控制活动的重要补充</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正是由于正当防卫是由犯罪被害人直接发动</a:t>
            </a:r>
            <a:r>
              <a:rPr lang="zh-CN" altLang="zh-CN" sz="2800" dirty="0">
                <a:latin typeface="宋体"/>
                <a:ea typeface="宋体"/>
                <a:cs typeface="宋体"/>
              </a:rPr>
              <a:t>的制止犯罪的活动，所以，正当防卫又必须符合法律规定</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否则</a:t>
            </a:r>
            <a:r>
              <a:rPr lang="zh-CN" altLang="zh-CN" sz="2800" dirty="0">
                <a:latin typeface="宋体"/>
                <a:ea typeface="宋体"/>
                <a:cs typeface="宋体"/>
              </a:rPr>
              <a:t>，不仅没有制止犯罪，还可能出现新的犯罪。所以，防卫人必须依法防卫。 </a:t>
            </a:r>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100</a:t>
            </a:fld>
            <a:endParaRPr lang="zh-CN" altLang="en-US"/>
          </a:p>
        </p:txBody>
      </p:sp>
    </p:spTree>
    <p:extLst>
      <p:ext uri="{BB962C8B-B14F-4D97-AF65-F5344CB8AC3E}">
        <p14:creationId xmlns:p14="http://schemas.microsoft.com/office/powerpoint/2010/main" val="873832960"/>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正当防卫的成立条件</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zh-CN" altLang="zh-CN" sz="3200" b="1" dirty="0">
                <a:latin typeface="黑体"/>
                <a:ea typeface="黑体"/>
                <a:cs typeface="黑体"/>
              </a:rPr>
              <a:t>第一，由不法侵害所引起。</a:t>
            </a:r>
            <a:endParaRPr lang="zh-CN" altLang="zh-CN" sz="3200" dirty="0">
              <a:latin typeface="黑体"/>
              <a:ea typeface="黑体"/>
              <a:cs typeface="黑体"/>
            </a:endParaRPr>
          </a:p>
          <a:p>
            <a:r>
              <a:rPr kumimoji="1" lang="zh-CN" altLang="en-US" sz="2800" dirty="0" smtClean="0">
                <a:latin typeface="宋体"/>
                <a:ea typeface="宋体"/>
                <a:cs typeface="宋体"/>
              </a:rPr>
              <a:t>假想防卫不是正当防卫（护林人打死老人案）</a:t>
            </a:r>
            <a:endParaRPr kumimoji="1" lang="en-US" altLang="zh-CN" sz="2800" dirty="0" smtClean="0">
              <a:latin typeface="宋体"/>
              <a:ea typeface="宋体"/>
              <a:cs typeface="宋体"/>
            </a:endParaRPr>
          </a:p>
          <a:p>
            <a:r>
              <a:rPr kumimoji="1" lang="zh-CN" altLang="en-US" sz="2800" dirty="0" smtClean="0">
                <a:latin typeface="宋体"/>
                <a:ea typeface="宋体"/>
                <a:cs typeface="宋体"/>
              </a:rPr>
              <a:t>假想防卫不可能是故意犯罪。</a:t>
            </a:r>
            <a:endParaRPr kumimoji="1" lang="en-US" altLang="zh-CN" sz="2800" dirty="0" smtClean="0">
              <a:latin typeface="宋体"/>
              <a:ea typeface="宋体"/>
              <a:cs typeface="宋体"/>
            </a:endParaRPr>
          </a:p>
          <a:p>
            <a:r>
              <a:rPr kumimoji="1" lang="zh-CN" altLang="en-US" sz="2800" dirty="0" smtClean="0">
                <a:latin typeface="宋体"/>
                <a:ea typeface="宋体"/>
                <a:cs typeface="宋体"/>
              </a:rPr>
              <a:t>根据是否应当预见，分别属于过失犯罪（致人死亡或伤害）或意外事件。</a:t>
            </a:r>
            <a:endParaRPr kumimoji="1" lang="en-US" altLang="zh-CN" sz="2800" dirty="0" smtClean="0">
              <a:latin typeface="宋体"/>
              <a:ea typeface="宋体"/>
              <a:cs typeface="宋体"/>
            </a:endParaRPr>
          </a:p>
          <a:p>
            <a:r>
              <a:rPr lang="zh-CN" altLang="zh-CN" sz="2800" dirty="0">
                <a:latin typeface="宋体"/>
                <a:ea typeface="宋体"/>
                <a:cs typeface="宋体"/>
              </a:rPr>
              <a:t>引起正当防卫的不法侵害，通常属于暴力性的、破坏性、紧迫性的犯罪，比如杀人、伤害、抢劫、强奸、危害公共</a:t>
            </a:r>
            <a:r>
              <a:rPr lang="zh-CN" altLang="zh-CN" sz="2800" dirty="0" smtClean="0">
                <a:latin typeface="宋体"/>
                <a:ea typeface="宋体"/>
                <a:cs typeface="宋体"/>
              </a:rPr>
              <a:t>安全等等</a:t>
            </a:r>
            <a:r>
              <a:rPr lang="en-US" altLang="zh-CN" sz="2800" dirty="0" smtClean="0">
                <a:latin typeface="宋体"/>
                <a:ea typeface="宋体"/>
                <a:cs typeface="宋体"/>
              </a:rPr>
              <a:t>——</a:t>
            </a:r>
            <a:r>
              <a:rPr lang="zh-CN" altLang="en-US" sz="2800" dirty="0" smtClean="0">
                <a:latin typeface="宋体"/>
                <a:ea typeface="宋体"/>
                <a:cs typeface="宋体"/>
              </a:rPr>
              <a:t>对其他犯罪一般不发生正当防卫问题。</a:t>
            </a:r>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101</a:t>
            </a:fld>
            <a:endParaRPr lang="zh-CN" altLang="en-US"/>
          </a:p>
        </p:txBody>
      </p:sp>
    </p:spTree>
    <p:extLst>
      <p:ext uri="{BB962C8B-B14F-4D97-AF65-F5344CB8AC3E}">
        <p14:creationId xmlns:p14="http://schemas.microsoft.com/office/powerpoint/2010/main" val="3757735439"/>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正当防卫的成立条件</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zh-CN" altLang="zh-CN" sz="3200" b="1" dirty="0" smtClean="0">
                <a:latin typeface="黑体"/>
                <a:ea typeface="黑体"/>
                <a:cs typeface="黑体"/>
              </a:rPr>
              <a:t>第</a:t>
            </a:r>
            <a:r>
              <a:rPr lang="zh-CN" altLang="en-US" sz="3200" b="1" dirty="0" smtClean="0">
                <a:latin typeface="黑体"/>
                <a:ea typeface="黑体"/>
                <a:cs typeface="黑体"/>
              </a:rPr>
              <a:t>二</a:t>
            </a:r>
            <a:r>
              <a:rPr lang="zh-CN" altLang="zh-CN" sz="3200" b="1" dirty="0" smtClean="0">
                <a:latin typeface="黑体"/>
                <a:ea typeface="黑体"/>
                <a:cs typeface="黑体"/>
              </a:rPr>
              <a:t>，不法侵害</a:t>
            </a:r>
            <a:r>
              <a:rPr lang="zh-CN" altLang="en-US" sz="3200" b="1" dirty="0" smtClean="0">
                <a:latin typeface="黑体"/>
                <a:ea typeface="黑体"/>
                <a:cs typeface="黑体"/>
              </a:rPr>
              <a:t>正在进行</a:t>
            </a:r>
            <a:r>
              <a:rPr lang="zh-CN" altLang="zh-CN" sz="3200" b="1" dirty="0" smtClean="0">
                <a:latin typeface="黑体"/>
                <a:ea typeface="黑体"/>
                <a:cs typeface="黑体"/>
              </a:rPr>
              <a:t>。</a:t>
            </a:r>
            <a:endParaRPr lang="zh-CN" altLang="zh-CN" sz="3200" dirty="0">
              <a:latin typeface="黑体"/>
              <a:ea typeface="黑体"/>
              <a:cs typeface="黑体"/>
            </a:endParaRPr>
          </a:p>
          <a:p>
            <a:r>
              <a:rPr lang="zh-CN" altLang="zh-CN" sz="2800" dirty="0">
                <a:latin typeface="宋体"/>
                <a:ea typeface="宋体"/>
                <a:cs typeface="宋体"/>
              </a:rPr>
              <a:t>事前防卫</a:t>
            </a:r>
            <a:r>
              <a:rPr lang="zh-CN" altLang="zh-CN" sz="2800" dirty="0" smtClean="0">
                <a:latin typeface="宋体"/>
                <a:ea typeface="宋体"/>
                <a:cs typeface="宋体"/>
              </a:rPr>
              <a:t>，事后防卫</a:t>
            </a:r>
            <a:r>
              <a:rPr lang="zh-CN" altLang="zh-CN" sz="2800" dirty="0">
                <a:latin typeface="宋体"/>
                <a:ea typeface="宋体"/>
                <a:cs typeface="宋体"/>
              </a:rPr>
              <a:t>或延长防卫，都不是正当防卫</a:t>
            </a:r>
            <a:r>
              <a:rPr lang="zh-CN" altLang="zh-CN" sz="2800" dirty="0" smtClean="0">
                <a:latin typeface="宋体"/>
                <a:ea typeface="宋体"/>
                <a:cs typeface="宋体"/>
              </a:rPr>
              <a:t>。</a:t>
            </a:r>
            <a:r>
              <a:rPr lang="zh-CN" altLang="en-US" sz="2800" dirty="0" smtClean="0">
                <a:latin typeface="宋体"/>
                <a:ea typeface="宋体"/>
                <a:cs typeface="宋体"/>
              </a:rPr>
              <a:t>问题是，</a:t>
            </a:r>
            <a:r>
              <a:rPr kumimoji="1" lang="zh-CN" altLang="en-US" sz="2800" dirty="0" smtClean="0">
                <a:latin typeface="宋体"/>
                <a:ea typeface="宋体"/>
                <a:cs typeface="宋体"/>
              </a:rPr>
              <a:t>何为“正在进行”？</a:t>
            </a:r>
            <a:endParaRPr kumimoji="1" lang="en-US" altLang="zh-CN" sz="2800" dirty="0" smtClean="0">
              <a:latin typeface="宋体"/>
              <a:ea typeface="宋体"/>
              <a:cs typeface="宋体"/>
            </a:endParaRPr>
          </a:p>
          <a:p>
            <a:r>
              <a:rPr lang="zh-CN" altLang="zh-CN" sz="2800" b="1" dirty="0" smtClean="0">
                <a:latin typeface="宋体"/>
                <a:ea typeface="宋体"/>
                <a:cs typeface="宋体"/>
              </a:rPr>
              <a:t>危险是否排除</a:t>
            </a:r>
            <a:r>
              <a:rPr lang="zh-CN" altLang="zh-CN" sz="2800" dirty="0">
                <a:latin typeface="宋体"/>
                <a:ea typeface="宋体"/>
                <a:cs typeface="宋体"/>
              </a:rPr>
              <a:t>—</a:t>
            </a:r>
            <a:r>
              <a:rPr lang="zh-CN" altLang="zh-CN" sz="2800" dirty="0" smtClean="0">
                <a:latin typeface="宋体"/>
                <a:ea typeface="宋体"/>
                <a:cs typeface="宋体"/>
              </a:rPr>
              <a:t>—</a:t>
            </a:r>
            <a:r>
              <a:rPr lang="zh-CN" altLang="en-US" sz="2800" dirty="0" smtClean="0">
                <a:latin typeface="宋体"/>
                <a:ea typeface="宋体"/>
                <a:cs typeface="宋体"/>
              </a:rPr>
              <a:t>虽然</a:t>
            </a:r>
            <a:r>
              <a:rPr lang="zh-CN" altLang="zh-CN" sz="2800" dirty="0" smtClean="0">
                <a:latin typeface="宋体"/>
                <a:ea typeface="宋体"/>
                <a:cs typeface="宋体"/>
              </a:rPr>
              <a:t>侵害行为停顿</a:t>
            </a:r>
            <a:r>
              <a:rPr lang="zh-CN" altLang="zh-CN" sz="2800" dirty="0">
                <a:latin typeface="宋体"/>
                <a:ea typeface="宋体"/>
                <a:cs typeface="宋体"/>
              </a:rPr>
              <a:t>，无法断定是否会继续侵害，仍可进行防卫</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b="1" dirty="0" smtClean="0">
                <a:latin typeface="宋体"/>
                <a:ea typeface="宋体"/>
                <a:cs typeface="宋体"/>
              </a:rPr>
              <a:t>行为是否停止</a:t>
            </a:r>
            <a:r>
              <a:rPr lang="zh-CN" altLang="zh-CN" sz="2800" dirty="0">
                <a:latin typeface="宋体"/>
                <a:ea typeface="宋体"/>
                <a:cs typeface="宋体"/>
              </a:rPr>
              <a:t>——</a:t>
            </a:r>
            <a:r>
              <a:rPr lang="zh-CN" altLang="zh-CN" sz="2800" dirty="0" smtClean="0">
                <a:latin typeface="宋体"/>
                <a:ea typeface="宋体"/>
                <a:cs typeface="宋体"/>
              </a:rPr>
              <a:t>只</a:t>
            </a:r>
            <a:r>
              <a:rPr lang="zh-CN" altLang="zh-CN" sz="2800" dirty="0">
                <a:latin typeface="宋体"/>
                <a:ea typeface="宋体"/>
                <a:cs typeface="宋体"/>
              </a:rPr>
              <a:t>要侵害停止了，防卫也应停止。</a:t>
            </a:r>
          </a:p>
          <a:p>
            <a:r>
              <a:rPr lang="zh-CN" altLang="zh-CN" sz="2800" b="1" dirty="0" smtClean="0">
                <a:latin typeface="宋体"/>
                <a:ea typeface="宋体"/>
                <a:cs typeface="宋体"/>
              </a:rPr>
              <a:t>侵害者是否离开现场</a:t>
            </a:r>
            <a:r>
              <a:rPr lang="en-US" altLang="zh-CN" sz="2800" b="1" dirty="0" smtClean="0">
                <a:latin typeface="宋体"/>
                <a:ea typeface="宋体"/>
                <a:cs typeface="宋体"/>
              </a:rPr>
              <a:t>——</a:t>
            </a:r>
            <a:r>
              <a:rPr lang="zh-CN" altLang="zh-CN" sz="2800" dirty="0" smtClean="0">
                <a:latin typeface="宋体"/>
                <a:ea typeface="宋体"/>
                <a:cs typeface="宋体"/>
              </a:rPr>
              <a:t>离开</a:t>
            </a:r>
            <a:r>
              <a:rPr lang="zh-CN" altLang="zh-CN" sz="2800" dirty="0">
                <a:latin typeface="宋体"/>
                <a:ea typeface="宋体"/>
                <a:cs typeface="宋体"/>
              </a:rPr>
              <a:t>了，就不能防卫。</a:t>
            </a:r>
          </a:p>
          <a:p>
            <a:r>
              <a:rPr lang="zh-CN" altLang="zh-CN" sz="2800" b="1" dirty="0" smtClean="0">
                <a:latin typeface="宋体"/>
                <a:ea typeface="宋体"/>
                <a:cs typeface="宋体"/>
              </a:rPr>
              <a:t>侵害状态是否继续</a:t>
            </a:r>
            <a:r>
              <a:rPr lang="en-US" altLang="zh-CN" sz="2800" b="1" dirty="0" smtClean="0">
                <a:latin typeface="宋体"/>
                <a:ea typeface="宋体"/>
                <a:cs typeface="宋体"/>
              </a:rPr>
              <a:t>——</a:t>
            </a:r>
            <a:r>
              <a:rPr lang="zh-CN" altLang="zh-CN" sz="2800" dirty="0" smtClean="0">
                <a:latin typeface="宋体"/>
                <a:ea typeface="宋体"/>
                <a:cs typeface="宋体"/>
              </a:rPr>
              <a:t>状态</a:t>
            </a:r>
            <a:r>
              <a:rPr lang="zh-CN" altLang="zh-CN" sz="2800" dirty="0">
                <a:latin typeface="宋体"/>
                <a:ea typeface="宋体"/>
                <a:cs typeface="宋体"/>
              </a:rPr>
              <a:t>消失，</a:t>
            </a:r>
            <a:r>
              <a:rPr lang="zh-CN" altLang="zh-CN" sz="2800" dirty="0" smtClean="0">
                <a:latin typeface="宋体"/>
                <a:ea typeface="宋体"/>
                <a:cs typeface="宋体"/>
              </a:rPr>
              <a:t>就</a:t>
            </a:r>
            <a:r>
              <a:rPr lang="zh-CN" altLang="en-US" sz="2800" dirty="0" smtClean="0">
                <a:latin typeface="宋体"/>
                <a:ea typeface="宋体"/>
                <a:cs typeface="宋体"/>
              </a:rPr>
              <a:t>不能防卫。</a:t>
            </a:r>
            <a:endParaRPr lang="zh-CN" altLang="zh-CN" sz="2800" dirty="0">
              <a:latin typeface="宋体"/>
              <a:ea typeface="宋体"/>
              <a:cs typeface="宋体"/>
            </a:endParaRPr>
          </a:p>
          <a:p>
            <a:endParaRPr lang="zh-CN" altLang="zh-CN" sz="2800" dirty="0">
              <a:latin typeface="宋体"/>
              <a:ea typeface="宋体"/>
              <a:cs typeface="宋体"/>
            </a:endParaRPr>
          </a:p>
          <a:p>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102</a:t>
            </a:fld>
            <a:endParaRPr lang="zh-CN" altLang="en-US"/>
          </a:p>
        </p:txBody>
      </p:sp>
    </p:spTree>
    <p:extLst>
      <p:ext uri="{BB962C8B-B14F-4D97-AF65-F5344CB8AC3E}">
        <p14:creationId xmlns:p14="http://schemas.microsoft.com/office/powerpoint/2010/main" val="2562469535"/>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260648"/>
            <a:ext cx="7170737" cy="492125"/>
          </a:xfrm>
        </p:spPr>
        <p:txBody>
          <a:bodyPr/>
          <a:lstStyle/>
          <a:p>
            <a:pPr algn="ctr"/>
            <a:r>
              <a:rPr kumimoji="1" lang="zh-CN" altLang="en-US" sz="3200" dirty="0" smtClean="0">
                <a:latin typeface="黑体"/>
                <a:ea typeface="黑体"/>
                <a:cs typeface="黑体"/>
              </a:rPr>
              <a:t>侵害是否结束与被害权益的性质有关</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zh-CN" altLang="zh-CN" sz="2800" dirty="0">
                <a:latin typeface="宋体"/>
                <a:ea typeface="宋体"/>
                <a:cs typeface="宋体"/>
              </a:rPr>
              <a:t>对于生命、健康的侵害</a:t>
            </a:r>
            <a:r>
              <a:rPr lang="zh-CN" altLang="zh-CN" sz="2800" dirty="0" smtClean="0">
                <a:latin typeface="宋体"/>
                <a:ea typeface="宋体"/>
                <a:cs typeface="宋体"/>
              </a:rPr>
              <a:t>。可依据</a:t>
            </a:r>
            <a:r>
              <a:rPr lang="zh-CN" altLang="zh-CN" sz="2800" dirty="0">
                <a:latin typeface="宋体"/>
                <a:ea typeface="宋体"/>
                <a:cs typeface="宋体"/>
              </a:rPr>
              <a:t>侵害者侵害能力是否消失为判断标准</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对于</a:t>
            </a:r>
            <a:r>
              <a:rPr lang="zh-CN" altLang="zh-CN" sz="2800" dirty="0">
                <a:latin typeface="宋体"/>
                <a:ea typeface="宋体"/>
                <a:cs typeface="宋体"/>
              </a:rPr>
              <a:t>自由的侵害，如非法拘禁，可根据被害人是否重获自由为标准</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对于财产</a:t>
            </a:r>
            <a:r>
              <a:rPr lang="zh-CN" altLang="zh-CN" sz="2800" dirty="0">
                <a:latin typeface="宋体"/>
                <a:ea typeface="宋体"/>
                <a:cs typeface="宋体"/>
              </a:rPr>
              <a:t>的侵害，盗窃行为虽然结束，但不法状态仍在继续，因此对盗窃后逃离中的不法分子仍然可以进行防卫</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2800" dirty="0" smtClean="0">
                <a:latin typeface="宋体"/>
                <a:ea typeface="宋体"/>
                <a:cs typeface="宋体"/>
              </a:rPr>
              <a:t>性的权</a:t>
            </a:r>
            <a:r>
              <a:rPr lang="zh-CN" altLang="zh-CN" sz="2800" dirty="0">
                <a:latin typeface="宋体"/>
                <a:ea typeface="宋体"/>
                <a:cs typeface="宋体"/>
              </a:rPr>
              <a:t>利既非生命健康又非人身自由，又非财产</a:t>
            </a:r>
            <a:r>
              <a:rPr lang="zh-CN" altLang="zh-CN" sz="2800" dirty="0" smtClean="0">
                <a:latin typeface="宋体"/>
                <a:ea typeface="宋体"/>
                <a:cs typeface="宋体"/>
              </a:rPr>
              <a:t>所有权</a:t>
            </a:r>
            <a:r>
              <a:rPr lang="zh-CN" altLang="en-US" sz="2800" dirty="0" smtClean="0">
                <a:latin typeface="宋体"/>
                <a:ea typeface="宋体"/>
                <a:cs typeface="宋体"/>
              </a:rPr>
              <a:t>，怎样掌握“正在进行”的标准？</a:t>
            </a:r>
            <a:endParaRPr lang="en-US" altLang="zh-CN" sz="2800" dirty="0" smtClean="0">
              <a:latin typeface="宋体"/>
              <a:ea typeface="宋体"/>
              <a:cs typeface="宋体"/>
            </a:endParaRPr>
          </a:p>
          <a:p>
            <a:r>
              <a:rPr kumimoji="1" lang="zh-CN" altLang="en-US" sz="2800" dirty="0" smtClean="0">
                <a:latin typeface="宋体"/>
                <a:ea typeface="宋体"/>
                <a:cs typeface="宋体"/>
              </a:rPr>
              <a:t>对杜某案而言，至少不是持续犯，因而不构成防卫权的行使。</a:t>
            </a:r>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103</a:t>
            </a:fld>
            <a:endParaRPr lang="zh-CN" altLang="en-US"/>
          </a:p>
        </p:txBody>
      </p:sp>
    </p:spTree>
    <p:extLst>
      <p:ext uri="{BB962C8B-B14F-4D97-AF65-F5344CB8AC3E}">
        <p14:creationId xmlns:p14="http://schemas.microsoft.com/office/powerpoint/2010/main" val="489424221"/>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正当防卫的成立条件</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zh-CN" altLang="zh-CN" sz="3200" b="1" dirty="0" smtClean="0">
                <a:latin typeface="黑体"/>
                <a:ea typeface="黑体"/>
                <a:cs typeface="黑体"/>
              </a:rPr>
              <a:t>第</a:t>
            </a:r>
            <a:r>
              <a:rPr lang="zh-CN" altLang="en-US" sz="3200" b="1" dirty="0" smtClean="0">
                <a:latin typeface="黑体"/>
                <a:ea typeface="黑体"/>
                <a:cs typeface="黑体"/>
              </a:rPr>
              <a:t>三</a:t>
            </a:r>
            <a:r>
              <a:rPr lang="zh-CN" altLang="zh-CN" sz="3200" b="1" dirty="0" smtClean="0">
                <a:latin typeface="黑体"/>
                <a:ea typeface="黑体"/>
                <a:cs typeface="黑体"/>
              </a:rPr>
              <a:t>，</a:t>
            </a:r>
            <a:r>
              <a:rPr lang="zh-CN" altLang="en-US" sz="3200" b="1" dirty="0" smtClean="0">
                <a:latin typeface="黑体"/>
                <a:ea typeface="黑体"/>
                <a:cs typeface="黑体"/>
              </a:rPr>
              <a:t>针对</a:t>
            </a:r>
            <a:r>
              <a:rPr lang="zh-CN" altLang="zh-CN" sz="3200" b="1" dirty="0" smtClean="0">
                <a:latin typeface="黑体"/>
                <a:ea typeface="黑体"/>
                <a:cs typeface="黑体"/>
              </a:rPr>
              <a:t>不法侵害</a:t>
            </a:r>
            <a:r>
              <a:rPr lang="zh-CN" altLang="en-US" sz="3200" b="1" dirty="0" smtClean="0">
                <a:latin typeface="黑体"/>
                <a:ea typeface="黑体"/>
                <a:cs typeface="黑体"/>
              </a:rPr>
              <a:t>者本人进行防卫</a:t>
            </a:r>
            <a:r>
              <a:rPr lang="zh-CN" altLang="zh-CN" sz="3200" b="1" dirty="0" smtClean="0">
                <a:latin typeface="黑体"/>
                <a:ea typeface="黑体"/>
                <a:cs typeface="黑体"/>
              </a:rPr>
              <a:t>。</a:t>
            </a:r>
            <a:endParaRPr lang="zh-CN" altLang="zh-CN" sz="3200" dirty="0">
              <a:latin typeface="黑体"/>
              <a:ea typeface="黑体"/>
              <a:cs typeface="黑体"/>
            </a:endParaRPr>
          </a:p>
          <a:p>
            <a:r>
              <a:rPr lang="zh-CN" altLang="en-US" sz="2800" dirty="0" smtClean="0">
                <a:latin typeface="宋体"/>
                <a:ea typeface="宋体"/>
                <a:cs typeface="宋体"/>
              </a:rPr>
              <a:t>不能针对第三人进行所谓防卫。</a:t>
            </a:r>
            <a:endParaRPr lang="en-US" altLang="zh-CN" sz="2800" dirty="0" smtClean="0">
              <a:latin typeface="宋体"/>
              <a:ea typeface="宋体"/>
              <a:cs typeface="宋体"/>
            </a:endParaRPr>
          </a:p>
          <a:p>
            <a:r>
              <a:rPr lang="zh-CN" altLang="en-US" dirty="0">
                <a:latin typeface="楷体"/>
                <a:ea typeface="楷体"/>
                <a:cs typeface="楷体"/>
              </a:rPr>
              <a:t>案例</a:t>
            </a:r>
            <a:r>
              <a:rPr lang="zh-CN" altLang="en-US" dirty="0" smtClean="0">
                <a:latin typeface="楷体"/>
                <a:ea typeface="楷体"/>
                <a:cs typeface="楷体"/>
              </a:rPr>
              <a:t>：</a:t>
            </a:r>
            <a:r>
              <a:rPr lang="zh-CN" altLang="zh-CN" dirty="0" smtClean="0">
                <a:latin typeface="楷体"/>
                <a:ea typeface="楷体"/>
                <a:cs typeface="楷体"/>
              </a:rPr>
              <a:t>俞</a:t>
            </a:r>
            <a:r>
              <a:rPr lang="zh-CN" altLang="zh-CN" dirty="0">
                <a:latin typeface="楷体"/>
                <a:ea typeface="楷体"/>
                <a:cs typeface="楷体"/>
              </a:rPr>
              <a:t>某在云南省财贸学校学生宿舍与同校学生杨某因琐事发生口角。</a:t>
            </a:r>
            <a:r>
              <a:rPr lang="en-US" altLang="zh-CN" dirty="0">
                <a:latin typeface="楷体"/>
                <a:ea typeface="楷体"/>
                <a:cs typeface="楷体"/>
              </a:rPr>
              <a:t>18</a:t>
            </a:r>
            <a:r>
              <a:rPr lang="zh-CN" altLang="zh-CN" dirty="0">
                <a:latin typeface="楷体"/>
                <a:ea typeface="楷体"/>
                <a:cs typeface="楷体"/>
              </a:rPr>
              <a:t>时许俞遭到杨约来的同学罗某等多人的殴打。罗用钢筋抽打俞时，俞便用随身携带的匕首刺中罗及持西瓜刀朝其冲过来的杨，后又将该校校卫队前来劝架的马某刺伤。杨因被锐器刺中肺部造成失血性休克并血气胸，经送医院抢救无效死亡。罗、马的损伤经法医鉴定为轻伤</a:t>
            </a:r>
            <a:r>
              <a:rPr lang="zh-CN" altLang="zh-CN" dirty="0" smtClean="0">
                <a:latin typeface="楷体"/>
                <a:ea typeface="楷体"/>
                <a:cs typeface="楷体"/>
              </a:rPr>
              <a:t>。</a:t>
            </a:r>
            <a:endParaRPr lang="en-US" altLang="zh-CN" dirty="0" smtClean="0">
              <a:latin typeface="楷体"/>
              <a:ea typeface="楷体"/>
              <a:cs typeface="楷体"/>
            </a:endParaRPr>
          </a:p>
          <a:p>
            <a:r>
              <a:rPr lang="zh-CN" altLang="zh-CN" sz="2800" dirty="0" smtClean="0">
                <a:latin typeface="宋体"/>
                <a:ea typeface="宋体"/>
                <a:cs typeface="宋体"/>
              </a:rPr>
              <a:t>该</a:t>
            </a:r>
            <a:r>
              <a:rPr lang="zh-CN" altLang="zh-CN" sz="2800" dirty="0">
                <a:latin typeface="宋体"/>
                <a:ea typeface="宋体"/>
                <a:cs typeface="宋体"/>
              </a:rPr>
              <a:t>案中俞针对前来劝架的马某的伤害就属于针对无辜第三者的伤害。 </a:t>
            </a:r>
          </a:p>
          <a:p>
            <a:endParaRPr kumimoji="1" lang="zh-CN" altLang="en-US"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104</a:t>
            </a:fld>
            <a:endParaRPr lang="zh-CN" altLang="en-US"/>
          </a:p>
        </p:txBody>
      </p:sp>
    </p:spTree>
    <p:extLst>
      <p:ext uri="{BB962C8B-B14F-4D97-AF65-F5344CB8AC3E}">
        <p14:creationId xmlns:p14="http://schemas.microsoft.com/office/powerpoint/2010/main" val="2897721240"/>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正当防卫的成立条件</a:t>
            </a:r>
            <a:endParaRPr kumimoji="1" lang="zh-CN" altLang="en-US" sz="3200" dirty="0">
              <a:latin typeface="黑体"/>
              <a:ea typeface="黑体"/>
              <a:cs typeface="黑体"/>
            </a:endParaRPr>
          </a:p>
        </p:txBody>
      </p:sp>
      <p:sp>
        <p:nvSpPr>
          <p:cNvPr id="3" name="内容占位符 2"/>
          <p:cNvSpPr>
            <a:spLocks noGrp="1"/>
          </p:cNvSpPr>
          <p:nvPr>
            <p:ph idx="1"/>
          </p:nvPr>
        </p:nvSpPr>
        <p:spPr>
          <a:xfrm>
            <a:off x="467544" y="980728"/>
            <a:ext cx="8229600" cy="5255790"/>
          </a:xfrm>
        </p:spPr>
        <p:txBody>
          <a:bodyPr/>
          <a:lstStyle/>
          <a:p>
            <a:r>
              <a:rPr lang="zh-CN" altLang="zh-CN" sz="3200" b="1" dirty="0" smtClean="0">
                <a:latin typeface="黑体"/>
                <a:ea typeface="黑体"/>
                <a:cs typeface="黑体"/>
              </a:rPr>
              <a:t>第</a:t>
            </a:r>
            <a:r>
              <a:rPr lang="zh-CN" altLang="en-US" sz="3200" b="1" dirty="0" smtClean="0">
                <a:latin typeface="黑体"/>
                <a:ea typeface="黑体"/>
                <a:cs typeface="黑体"/>
              </a:rPr>
              <a:t>四</a:t>
            </a:r>
            <a:r>
              <a:rPr lang="zh-CN" altLang="zh-CN" sz="3200" b="1" dirty="0" smtClean="0">
                <a:latin typeface="黑体"/>
                <a:ea typeface="黑体"/>
                <a:cs typeface="黑体"/>
              </a:rPr>
              <a:t>，</a:t>
            </a:r>
            <a:r>
              <a:rPr lang="zh-CN" altLang="en-US" sz="3200" b="1" dirty="0" smtClean="0">
                <a:latin typeface="黑体"/>
                <a:ea typeface="黑体"/>
                <a:cs typeface="黑体"/>
              </a:rPr>
              <a:t>出于正当防卫的意思</a:t>
            </a:r>
            <a:r>
              <a:rPr lang="zh-CN" altLang="zh-CN" sz="3200" b="1" dirty="0" smtClean="0">
                <a:latin typeface="黑体"/>
                <a:ea typeface="黑体"/>
                <a:cs typeface="黑体"/>
              </a:rPr>
              <a:t>。</a:t>
            </a:r>
            <a:endParaRPr lang="zh-CN" altLang="zh-CN" sz="3200" dirty="0">
              <a:latin typeface="黑体"/>
              <a:ea typeface="黑体"/>
              <a:cs typeface="黑体"/>
            </a:endParaRPr>
          </a:p>
          <a:p>
            <a:r>
              <a:rPr lang="zh-CN" altLang="zh-CN" sz="2800" dirty="0">
                <a:latin typeface="宋体"/>
                <a:ea typeface="宋体"/>
                <a:cs typeface="宋体"/>
              </a:rPr>
              <a:t>防卫挑拨、互殴都不是正当防卫</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zh-CN" sz="3200" b="1" dirty="0">
                <a:latin typeface="黑体"/>
                <a:ea typeface="黑体"/>
                <a:cs typeface="黑体"/>
              </a:rPr>
              <a:t>第</a:t>
            </a:r>
            <a:r>
              <a:rPr lang="zh-CN" altLang="en-US" sz="3200" b="1" dirty="0">
                <a:latin typeface="黑体"/>
                <a:ea typeface="黑体"/>
                <a:cs typeface="黑体"/>
              </a:rPr>
              <a:t>五</a:t>
            </a:r>
            <a:r>
              <a:rPr lang="zh-CN" altLang="zh-CN" sz="3200" b="1" dirty="0" smtClean="0">
                <a:latin typeface="黑体"/>
                <a:ea typeface="黑体"/>
                <a:cs typeface="黑体"/>
              </a:rPr>
              <a:t>，</a:t>
            </a:r>
            <a:r>
              <a:rPr lang="zh-CN" altLang="en-US" sz="3200" b="1" dirty="0" smtClean="0">
                <a:latin typeface="黑体"/>
                <a:ea typeface="黑体"/>
                <a:cs typeface="黑体"/>
              </a:rPr>
              <a:t>防卫不超过必要限度</a:t>
            </a:r>
            <a:r>
              <a:rPr lang="zh-CN" altLang="zh-CN" sz="3200" b="1" dirty="0" smtClean="0">
                <a:latin typeface="黑体"/>
                <a:ea typeface="黑体"/>
                <a:cs typeface="黑体"/>
              </a:rPr>
              <a:t>。</a:t>
            </a:r>
            <a:endParaRPr lang="zh-CN" altLang="zh-CN" sz="3200" b="1" dirty="0">
              <a:latin typeface="黑体"/>
              <a:ea typeface="黑体"/>
              <a:cs typeface="黑体"/>
            </a:endParaRPr>
          </a:p>
          <a:p>
            <a:r>
              <a:rPr lang="zh-CN" altLang="en-US" sz="2800" dirty="0" smtClean="0">
                <a:latin typeface="宋体"/>
                <a:ea typeface="宋体"/>
                <a:cs typeface="宋体"/>
              </a:rPr>
              <a:t>案例：小宝剑。</a:t>
            </a:r>
            <a:endParaRPr lang="en-US" altLang="zh-CN" sz="2800" dirty="0" smtClean="0">
              <a:latin typeface="宋体"/>
              <a:ea typeface="宋体"/>
              <a:cs typeface="宋体"/>
            </a:endParaRPr>
          </a:p>
          <a:p>
            <a:r>
              <a:rPr lang="zh-CN" altLang="zh-CN" sz="2800" dirty="0" smtClean="0">
                <a:latin typeface="宋体"/>
                <a:ea typeface="宋体"/>
                <a:cs typeface="宋体"/>
              </a:rPr>
              <a:t>法院认</a:t>
            </a:r>
            <a:r>
              <a:rPr lang="zh-CN" altLang="zh-CN" sz="2800" dirty="0">
                <a:latin typeface="宋体"/>
                <a:ea typeface="宋体"/>
                <a:cs typeface="宋体"/>
              </a:rPr>
              <a:t>定，张某的行为属于防卫过当，按照故意杀人罪判处有期徒刑</a:t>
            </a:r>
            <a:r>
              <a:rPr lang="en-US" altLang="zh-CN" sz="2800" dirty="0">
                <a:latin typeface="宋体"/>
                <a:ea typeface="宋体"/>
                <a:cs typeface="宋体"/>
              </a:rPr>
              <a:t>8</a:t>
            </a:r>
            <a:r>
              <a:rPr lang="zh-CN" altLang="zh-CN" sz="2800" dirty="0">
                <a:latin typeface="宋体"/>
                <a:ea typeface="宋体"/>
                <a:cs typeface="宋体"/>
              </a:rPr>
              <a:t>年。 </a:t>
            </a:r>
            <a:endParaRPr lang="en-US" altLang="zh-CN" sz="2800" dirty="0" smtClean="0">
              <a:latin typeface="宋体"/>
              <a:ea typeface="宋体"/>
              <a:cs typeface="宋体"/>
            </a:endParaRPr>
          </a:p>
          <a:p>
            <a:r>
              <a:rPr kumimoji="1" lang="zh-CN" altLang="en-US" sz="2800" dirty="0" smtClean="0">
                <a:latin typeface="宋体"/>
                <a:ea typeface="宋体"/>
                <a:cs typeface="宋体"/>
              </a:rPr>
              <a:t>何为必要限度的判断：</a:t>
            </a:r>
            <a:endParaRPr kumimoji="1" lang="en-US" altLang="zh-CN" sz="2800" dirty="0" smtClean="0">
              <a:latin typeface="宋体"/>
              <a:ea typeface="宋体"/>
              <a:cs typeface="宋体"/>
            </a:endParaRPr>
          </a:p>
          <a:p>
            <a:pPr marL="0" indent="0">
              <a:buNone/>
            </a:pPr>
            <a:r>
              <a:rPr kumimoji="1" lang="en-US" altLang="zh-CN" sz="2800" dirty="0">
                <a:latin typeface="宋体"/>
                <a:ea typeface="宋体"/>
                <a:cs typeface="宋体"/>
              </a:rPr>
              <a:t> </a:t>
            </a:r>
            <a:r>
              <a:rPr kumimoji="1" lang="en-US" altLang="zh-CN" sz="2800" dirty="0" smtClean="0">
                <a:latin typeface="宋体"/>
                <a:ea typeface="宋体"/>
                <a:cs typeface="宋体"/>
              </a:rPr>
              <a:t>   </a:t>
            </a:r>
            <a:r>
              <a:rPr kumimoji="1" lang="zh-CN" altLang="en-US" sz="2800" dirty="0" smtClean="0">
                <a:latin typeface="宋体"/>
                <a:ea typeface="宋体"/>
                <a:cs typeface="宋体"/>
              </a:rPr>
              <a:t>法益对等，或者，程度相当。</a:t>
            </a:r>
            <a:endParaRPr kumimoji="1" lang="en-US" altLang="zh-CN" sz="2800" dirty="0" smtClean="0">
              <a:latin typeface="宋体"/>
              <a:ea typeface="宋体"/>
              <a:cs typeface="宋体"/>
            </a:endParaRPr>
          </a:p>
          <a:p>
            <a:pPr marL="0" indent="0">
              <a:buNone/>
            </a:pPr>
            <a:r>
              <a:rPr kumimoji="1" lang="en-US" altLang="zh-CN" sz="2800" dirty="0">
                <a:latin typeface="宋体"/>
                <a:ea typeface="宋体"/>
                <a:cs typeface="宋体"/>
              </a:rPr>
              <a:t> </a:t>
            </a:r>
            <a:r>
              <a:rPr kumimoji="1" lang="en-US" altLang="zh-CN" sz="2800" dirty="0" smtClean="0">
                <a:latin typeface="宋体"/>
                <a:ea typeface="宋体"/>
                <a:cs typeface="宋体"/>
              </a:rPr>
              <a:t>   </a:t>
            </a:r>
            <a:r>
              <a:rPr kumimoji="1" lang="zh-CN" altLang="en-US" sz="2800" dirty="0" smtClean="0">
                <a:latin typeface="宋体"/>
                <a:ea typeface="宋体"/>
                <a:cs typeface="宋体"/>
              </a:rPr>
              <a:t>但，</a:t>
            </a:r>
            <a:r>
              <a:rPr kumimoji="1" lang="zh-CN" altLang="en-US" sz="2800" dirty="0">
                <a:latin typeface="宋体"/>
                <a:ea typeface="宋体"/>
                <a:cs typeface="宋体"/>
              </a:rPr>
              <a:t>对强奸怎么办？</a:t>
            </a: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105</a:t>
            </a:fld>
            <a:endParaRPr lang="zh-CN" altLang="en-US"/>
          </a:p>
        </p:txBody>
      </p:sp>
    </p:spTree>
    <p:extLst>
      <p:ext uri="{BB962C8B-B14F-4D97-AF65-F5344CB8AC3E}">
        <p14:creationId xmlns:p14="http://schemas.microsoft.com/office/powerpoint/2010/main" val="2275345250"/>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除刑之四：紧急避险</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zh-CN" altLang="zh-CN" b="1" dirty="0" smtClean="0">
                <a:latin typeface="宋体"/>
                <a:ea typeface="宋体"/>
                <a:cs typeface="宋体"/>
              </a:rPr>
              <a:t>第二十一条</a:t>
            </a:r>
            <a:r>
              <a:rPr lang="en-US" altLang="zh-CN" b="1" dirty="0">
                <a:latin typeface="宋体"/>
                <a:ea typeface="宋体"/>
                <a:cs typeface="宋体"/>
              </a:rPr>
              <a:t> </a:t>
            </a:r>
            <a:r>
              <a:rPr lang="en-US" altLang="zh-CN" b="1" dirty="0" smtClean="0">
                <a:latin typeface="宋体"/>
                <a:ea typeface="宋体"/>
                <a:cs typeface="宋体"/>
              </a:rPr>
              <a:t> </a:t>
            </a:r>
            <a:r>
              <a:rPr lang="zh-CN" altLang="zh-CN" b="1" dirty="0" smtClean="0">
                <a:latin typeface="宋体"/>
                <a:ea typeface="宋体"/>
                <a:cs typeface="宋体"/>
              </a:rPr>
              <a:t>为</a:t>
            </a:r>
            <a:r>
              <a:rPr lang="zh-CN" altLang="zh-CN" b="1" dirty="0">
                <a:latin typeface="宋体"/>
                <a:ea typeface="宋体"/>
                <a:cs typeface="宋体"/>
              </a:rPr>
              <a:t>了使国家、公共利益、本人或者他人的人身、财产和其他权利免受正在发生的危险，不得已采取的紧急避险行为，造成损害的，不负刑事责任。</a:t>
            </a:r>
            <a:r>
              <a:rPr lang="en-US" altLang="zh-CN" b="1" dirty="0">
                <a:latin typeface="宋体"/>
                <a:ea typeface="宋体"/>
                <a:cs typeface="宋体"/>
              </a:rPr>
              <a:t/>
            </a:r>
            <a:br>
              <a:rPr lang="en-US" altLang="zh-CN" b="1" dirty="0">
                <a:latin typeface="宋体"/>
                <a:ea typeface="宋体"/>
                <a:cs typeface="宋体"/>
              </a:rPr>
            </a:br>
            <a:r>
              <a:rPr lang="zh-CN" altLang="zh-CN" b="1" dirty="0">
                <a:latin typeface="宋体"/>
                <a:ea typeface="宋体"/>
                <a:cs typeface="宋体"/>
              </a:rPr>
              <a:t>　　紧急避险超过必要限度造成不应有的损害的，应当负刑事责任，但是应当减轻或者免除处罚。</a:t>
            </a:r>
            <a:r>
              <a:rPr lang="en-US" altLang="zh-CN" b="1" dirty="0">
                <a:latin typeface="宋体"/>
                <a:ea typeface="宋体"/>
                <a:cs typeface="宋体"/>
              </a:rPr>
              <a:t/>
            </a:r>
            <a:br>
              <a:rPr lang="en-US" altLang="zh-CN" b="1" dirty="0">
                <a:latin typeface="宋体"/>
                <a:ea typeface="宋体"/>
                <a:cs typeface="宋体"/>
              </a:rPr>
            </a:br>
            <a:r>
              <a:rPr lang="zh-CN" altLang="zh-CN" b="1" dirty="0">
                <a:latin typeface="宋体"/>
                <a:ea typeface="宋体"/>
                <a:cs typeface="宋体"/>
              </a:rPr>
              <a:t>　　第一款中关于避免本人危险的规定，不适用于职务上、业务上负有特定责任的人。 </a:t>
            </a:r>
            <a:endParaRPr lang="en-US" altLang="zh-CN" b="1" dirty="0" smtClean="0">
              <a:latin typeface="宋体"/>
              <a:ea typeface="宋体"/>
              <a:cs typeface="宋体"/>
            </a:endParaRPr>
          </a:p>
          <a:p>
            <a:r>
              <a:rPr lang="zh-CN" altLang="en-US" sz="2800" b="1" dirty="0" smtClean="0">
                <a:latin typeface="宋体"/>
                <a:ea typeface="宋体"/>
                <a:cs typeface="宋体"/>
              </a:rPr>
              <a:t>概念：</a:t>
            </a:r>
            <a:r>
              <a:rPr lang="zh-CN" altLang="zh-CN" sz="2800" b="1" dirty="0" smtClean="0">
                <a:latin typeface="宋体"/>
                <a:ea typeface="宋体"/>
                <a:cs typeface="宋体"/>
              </a:rPr>
              <a:t>紧急避险是针对</a:t>
            </a:r>
            <a:r>
              <a:rPr lang="zh-CN" altLang="zh-CN" sz="2800" b="1" dirty="0">
                <a:latin typeface="宋体"/>
                <a:ea typeface="宋体"/>
                <a:cs typeface="宋体"/>
              </a:rPr>
              <a:t>正在发生的危险，在不得已的情况下，损害某一利益，以保全更大利益的行为。 </a:t>
            </a:r>
            <a:endParaRPr lang="en-US" altLang="zh-CN" sz="2800" b="1" dirty="0" smtClean="0">
              <a:latin typeface="宋体"/>
              <a:ea typeface="宋体"/>
              <a:cs typeface="宋体"/>
            </a:endParaRPr>
          </a:p>
          <a:p>
            <a:r>
              <a:rPr lang="zh-CN" altLang="en-US" sz="2800" b="1" dirty="0" smtClean="0">
                <a:latin typeface="宋体"/>
                <a:ea typeface="宋体"/>
                <a:cs typeface="宋体"/>
              </a:rPr>
              <a:t>讨论：正当防卫与紧急避险有何区别？</a:t>
            </a:r>
            <a:endParaRPr lang="zh-CN" altLang="en-US" sz="2800" b="1"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106</a:t>
            </a:fld>
            <a:endParaRPr lang="zh-CN" altLang="en-US"/>
          </a:p>
        </p:txBody>
      </p:sp>
    </p:spTree>
    <p:extLst>
      <p:ext uri="{BB962C8B-B14F-4D97-AF65-F5344CB8AC3E}">
        <p14:creationId xmlns:p14="http://schemas.microsoft.com/office/powerpoint/2010/main" val="2230827353"/>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正当防卫与紧急避险</a:t>
            </a:r>
            <a:endParaRPr kumimoji="1" lang="zh-CN" altLang="en-US" sz="3200" dirty="0">
              <a:latin typeface="黑体"/>
              <a:ea typeface="黑体"/>
              <a:cs typeface="黑体"/>
            </a:endParaRPr>
          </a:p>
        </p:txBody>
      </p:sp>
      <p:sp>
        <p:nvSpPr>
          <p:cNvPr id="3" name="内容占位符 2"/>
          <p:cNvSpPr>
            <a:spLocks noGrp="1"/>
          </p:cNvSpPr>
          <p:nvPr>
            <p:ph idx="1"/>
          </p:nvPr>
        </p:nvSpPr>
        <p:spPr>
          <a:xfrm>
            <a:off x="457200" y="908720"/>
            <a:ext cx="8229600" cy="5544616"/>
          </a:xfrm>
        </p:spPr>
        <p:txBody>
          <a:bodyPr/>
          <a:lstStyle/>
          <a:p>
            <a:r>
              <a:rPr lang="en-US" altLang="zh-CN" dirty="0">
                <a:latin typeface="宋体"/>
                <a:ea typeface="宋体"/>
                <a:cs typeface="宋体"/>
              </a:rPr>
              <a:t>1</a:t>
            </a:r>
            <a:r>
              <a:rPr lang="zh-CN" altLang="zh-CN" dirty="0">
                <a:latin typeface="宋体"/>
                <a:ea typeface="宋体"/>
                <a:cs typeface="宋体"/>
              </a:rPr>
              <a:t>、</a:t>
            </a:r>
            <a:r>
              <a:rPr lang="zh-CN" altLang="zh-CN" b="1" dirty="0">
                <a:latin typeface="宋体"/>
                <a:ea typeface="宋体"/>
                <a:cs typeface="宋体"/>
              </a:rPr>
              <a:t>危险</a:t>
            </a:r>
            <a:r>
              <a:rPr lang="zh-CN" altLang="zh-CN" b="1" dirty="0" smtClean="0">
                <a:latin typeface="宋体"/>
                <a:ea typeface="宋体"/>
                <a:cs typeface="宋体"/>
              </a:rPr>
              <a:t>来源</a:t>
            </a:r>
            <a:r>
              <a:rPr lang="zh-CN" altLang="zh-CN" dirty="0" smtClean="0">
                <a:latin typeface="宋体"/>
                <a:ea typeface="宋体"/>
                <a:cs typeface="宋体"/>
              </a:rPr>
              <a:t>。“不法</a:t>
            </a:r>
            <a:r>
              <a:rPr lang="zh-CN" altLang="zh-CN" dirty="0">
                <a:latin typeface="宋体"/>
                <a:ea typeface="宋体"/>
                <a:cs typeface="宋体"/>
              </a:rPr>
              <a:t>侵害”</a:t>
            </a:r>
            <a:r>
              <a:rPr lang="zh-CN" altLang="zh-CN" dirty="0" smtClean="0">
                <a:latin typeface="宋体"/>
                <a:ea typeface="宋体"/>
                <a:cs typeface="宋体"/>
              </a:rPr>
              <a:t>，“危险</a:t>
            </a:r>
            <a:r>
              <a:rPr lang="zh-CN" altLang="zh-CN" dirty="0">
                <a:latin typeface="宋体"/>
                <a:ea typeface="宋体"/>
                <a:cs typeface="宋体"/>
              </a:rPr>
              <a:t>”</a:t>
            </a:r>
            <a:r>
              <a:rPr lang="zh-CN" altLang="zh-CN" dirty="0" smtClean="0">
                <a:latin typeface="宋体"/>
                <a:ea typeface="宋体"/>
                <a:cs typeface="宋体"/>
              </a:rPr>
              <a:t>。</a:t>
            </a:r>
            <a:endParaRPr lang="zh-CN" altLang="zh-CN" dirty="0">
              <a:latin typeface="宋体"/>
              <a:ea typeface="宋体"/>
              <a:cs typeface="宋体"/>
            </a:endParaRPr>
          </a:p>
          <a:p>
            <a:r>
              <a:rPr lang="en-US" altLang="zh-CN" dirty="0">
                <a:latin typeface="宋体"/>
                <a:ea typeface="宋体"/>
                <a:cs typeface="宋体"/>
              </a:rPr>
              <a:t>2</a:t>
            </a:r>
            <a:r>
              <a:rPr lang="zh-CN" altLang="zh-CN" dirty="0" smtClean="0">
                <a:latin typeface="宋体"/>
                <a:ea typeface="宋体"/>
                <a:cs typeface="宋体"/>
              </a:rPr>
              <a:t>、</a:t>
            </a:r>
            <a:r>
              <a:rPr lang="zh-CN" altLang="zh-CN" b="1" dirty="0" smtClean="0">
                <a:latin typeface="宋体"/>
                <a:ea typeface="宋体"/>
                <a:cs typeface="宋体"/>
              </a:rPr>
              <a:t>表现方式</a:t>
            </a:r>
            <a:r>
              <a:rPr lang="zh-CN" altLang="zh-CN" dirty="0" smtClean="0">
                <a:latin typeface="宋体"/>
                <a:ea typeface="宋体"/>
                <a:cs typeface="宋体"/>
              </a:rPr>
              <a:t>。积极</a:t>
            </a:r>
            <a:r>
              <a:rPr lang="zh-CN" altLang="zh-CN" dirty="0">
                <a:latin typeface="宋体"/>
                <a:ea typeface="宋体"/>
                <a:cs typeface="宋体"/>
              </a:rPr>
              <a:t>的反击、</a:t>
            </a:r>
            <a:r>
              <a:rPr lang="zh-CN" altLang="zh-CN" dirty="0" smtClean="0">
                <a:latin typeface="宋体"/>
                <a:ea typeface="宋体"/>
                <a:cs typeface="宋体"/>
              </a:rPr>
              <a:t>抵抗，</a:t>
            </a:r>
            <a:r>
              <a:rPr lang="zh-CN" altLang="en-US" dirty="0" smtClean="0">
                <a:latin typeface="宋体"/>
                <a:ea typeface="宋体"/>
                <a:cs typeface="宋体"/>
              </a:rPr>
              <a:t>还</a:t>
            </a:r>
            <a:r>
              <a:rPr lang="zh-CN" altLang="zh-CN" dirty="0" smtClean="0">
                <a:latin typeface="宋体"/>
                <a:ea typeface="宋体"/>
                <a:cs typeface="宋体"/>
              </a:rPr>
              <a:t>是消极躲避。</a:t>
            </a:r>
            <a:endParaRPr lang="zh-CN" altLang="zh-CN" dirty="0">
              <a:latin typeface="宋体"/>
              <a:ea typeface="宋体"/>
              <a:cs typeface="宋体"/>
            </a:endParaRPr>
          </a:p>
          <a:p>
            <a:r>
              <a:rPr lang="en-US" altLang="zh-CN" dirty="0">
                <a:latin typeface="宋体"/>
                <a:ea typeface="宋体"/>
                <a:cs typeface="宋体"/>
              </a:rPr>
              <a:t>3</a:t>
            </a:r>
            <a:r>
              <a:rPr lang="zh-CN" altLang="zh-CN" dirty="0">
                <a:latin typeface="宋体"/>
                <a:ea typeface="宋体"/>
                <a:cs typeface="宋体"/>
              </a:rPr>
              <a:t>、损害的</a:t>
            </a:r>
            <a:r>
              <a:rPr lang="zh-CN" altLang="zh-CN" b="1" dirty="0">
                <a:latin typeface="宋体"/>
                <a:ea typeface="宋体"/>
                <a:cs typeface="宋体"/>
              </a:rPr>
              <a:t>对</a:t>
            </a:r>
            <a:r>
              <a:rPr lang="zh-CN" altLang="zh-CN" b="1" dirty="0" smtClean="0">
                <a:latin typeface="宋体"/>
                <a:ea typeface="宋体"/>
                <a:cs typeface="宋体"/>
              </a:rPr>
              <a:t>象</a:t>
            </a:r>
            <a:r>
              <a:rPr lang="zh-CN" altLang="zh-CN" dirty="0" smtClean="0">
                <a:latin typeface="宋体"/>
                <a:ea typeface="宋体"/>
                <a:cs typeface="宋体"/>
              </a:rPr>
              <a:t>。</a:t>
            </a:r>
            <a:r>
              <a:rPr lang="zh-CN" altLang="zh-CN" dirty="0">
                <a:latin typeface="宋体"/>
                <a:ea typeface="宋体"/>
                <a:cs typeface="宋体"/>
              </a:rPr>
              <a:t>正当防卫只能对不法侵害者实施损害，而紧急避险可能对第三者的利益造成损害</a:t>
            </a:r>
            <a:r>
              <a:rPr lang="zh-CN" altLang="zh-CN" dirty="0" smtClean="0">
                <a:latin typeface="宋体"/>
                <a:ea typeface="宋体"/>
                <a:cs typeface="宋体"/>
              </a:rPr>
              <a:t>。</a:t>
            </a:r>
            <a:r>
              <a:rPr lang="zh-CN" altLang="en-US" b="1" dirty="0" smtClean="0">
                <a:latin typeface="宋体"/>
                <a:ea typeface="宋体"/>
                <a:cs typeface="宋体"/>
              </a:rPr>
              <a:t>（换位睡觉）</a:t>
            </a:r>
            <a:endParaRPr lang="zh-CN" altLang="zh-CN" b="1" dirty="0">
              <a:latin typeface="宋体"/>
              <a:ea typeface="宋体"/>
              <a:cs typeface="宋体"/>
            </a:endParaRPr>
          </a:p>
          <a:p>
            <a:r>
              <a:rPr lang="en-US" altLang="zh-CN" dirty="0">
                <a:latin typeface="宋体"/>
                <a:ea typeface="宋体"/>
                <a:cs typeface="宋体"/>
              </a:rPr>
              <a:t>4</a:t>
            </a:r>
            <a:r>
              <a:rPr lang="zh-CN" altLang="zh-CN" dirty="0">
                <a:latin typeface="宋体"/>
                <a:ea typeface="宋体"/>
                <a:cs typeface="宋体"/>
              </a:rPr>
              <a:t>、实施</a:t>
            </a:r>
            <a:r>
              <a:rPr lang="zh-CN" altLang="zh-CN" b="1" dirty="0" smtClean="0">
                <a:latin typeface="宋体"/>
                <a:ea typeface="宋体"/>
                <a:cs typeface="宋体"/>
              </a:rPr>
              <a:t>条件</a:t>
            </a:r>
            <a:r>
              <a:rPr lang="zh-CN" altLang="zh-CN" dirty="0" smtClean="0">
                <a:latin typeface="宋体"/>
                <a:ea typeface="宋体"/>
                <a:cs typeface="宋体"/>
              </a:rPr>
              <a:t>。在可以逃离</a:t>
            </a:r>
            <a:r>
              <a:rPr lang="zh-CN" altLang="zh-CN" dirty="0">
                <a:latin typeface="宋体"/>
                <a:ea typeface="宋体"/>
                <a:cs typeface="宋体"/>
              </a:rPr>
              <a:t>的情况下而实施防卫，仍属于正当防卫。</a:t>
            </a:r>
            <a:r>
              <a:rPr lang="zh-CN" altLang="zh-CN" dirty="0" smtClean="0">
                <a:latin typeface="宋体"/>
                <a:ea typeface="宋体"/>
                <a:cs typeface="宋体"/>
              </a:rPr>
              <a:t>而只有</a:t>
            </a:r>
            <a:r>
              <a:rPr lang="zh-CN" altLang="zh-CN" b="1" dirty="0" smtClean="0">
                <a:latin typeface="宋体"/>
                <a:ea typeface="宋体"/>
                <a:cs typeface="宋体"/>
              </a:rPr>
              <a:t>不得已时</a:t>
            </a:r>
            <a:r>
              <a:rPr lang="zh-CN" altLang="zh-CN" dirty="0">
                <a:latin typeface="宋体"/>
                <a:ea typeface="宋体"/>
                <a:cs typeface="宋体"/>
              </a:rPr>
              <a:t>，才能进行紧急避险。</a:t>
            </a:r>
          </a:p>
          <a:p>
            <a:r>
              <a:rPr lang="en-US" altLang="zh-CN" dirty="0">
                <a:latin typeface="宋体"/>
                <a:ea typeface="宋体"/>
                <a:cs typeface="宋体"/>
              </a:rPr>
              <a:t>5</a:t>
            </a:r>
            <a:r>
              <a:rPr lang="zh-CN" altLang="zh-CN" dirty="0">
                <a:latin typeface="宋体"/>
                <a:ea typeface="宋体"/>
                <a:cs typeface="宋体"/>
              </a:rPr>
              <a:t>、</a:t>
            </a:r>
            <a:r>
              <a:rPr lang="zh-CN" altLang="zh-CN" b="1" dirty="0" smtClean="0">
                <a:latin typeface="宋体"/>
                <a:ea typeface="宋体"/>
                <a:cs typeface="宋体"/>
              </a:rPr>
              <a:t>主体</a:t>
            </a:r>
            <a:r>
              <a:rPr lang="zh-CN" altLang="zh-CN" dirty="0" smtClean="0">
                <a:latin typeface="宋体"/>
                <a:ea typeface="宋体"/>
                <a:cs typeface="宋体"/>
              </a:rPr>
              <a:t>范围。</a:t>
            </a:r>
            <a:r>
              <a:rPr lang="zh-CN" altLang="zh-CN" dirty="0">
                <a:latin typeface="宋体"/>
                <a:ea typeface="宋体"/>
                <a:cs typeface="宋体"/>
              </a:rPr>
              <a:t>任何人都有权进行正当防卫，但紧急避险不适用于职务上、业务上负有特定责任的人</a:t>
            </a:r>
            <a:r>
              <a:rPr lang="zh-CN" altLang="zh-CN" dirty="0" smtClean="0">
                <a:latin typeface="宋体"/>
                <a:ea typeface="宋体"/>
                <a:cs typeface="宋体"/>
              </a:rPr>
              <a:t>。</a:t>
            </a:r>
            <a:endParaRPr lang="zh-CN" altLang="zh-CN" dirty="0">
              <a:latin typeface="宋体"/>
              <a:ea typeface="宋体"/>
              <a:cs typeface="宋体"/>
            </a:endParaRPr>
          </a:p>
          <a:p>
            <a:r>
              <a:rPr lang="en-US" altLang="zh-CN" dirty="0">
                <a:latin typeface="宋体"/>
                <a:ea typeface="宋体"/>
                <a:cs typeface="宋体"/>
              </a:rPr>
              <a:t>6</a:t>
            </a:r>
            <a:r>
              <a:rPr lang="zh-CN" altLang="zh-CN" dirty="0">
                <a:latin typeface="宋体"/>
                <a:ea typeface="宋体"/>
                <a:cs typeface="宋体"/>
              </a:rPr>
              <a:t>、</a:t>
            </a:r>
            <a:r>
              <a:rPr lang="zh-CN" altLang="zh-CN" b="1" dirty="0">
                <a:latin typeface="宋体"/>
                <a:ea typeface="宋体"/>
                <a:cs typeface="宋体"/>
              </a:rPr>
              <a:t>限度</a:t>
            </a:r>
            <a:r>
              <a:rPr lang="zh-CN" altLang="zh-CN" dirty="0" smtClean="0">
                <a:latin typeface="宋体"/>
                <a:ea typeface="宋体"/>
                <a:cs typeface="宋体"/>
              </a:rPr>
              <a:t>条件。紧急避险的限度更严格。</a:t>
            </a:r>
            <a:endParaRPr lang="zh-CN" altLang="zh-CN" dirty="0">
              <a:latin typeface="宋体"/>
              <a:ea typeface="宋体"/>
              <a:cs typeface="宋体"/>
            </a:endParaRPr>
          </a:p>
          <a:p>
            <a:r>
              <a:rPr lang="en-US" altLang="zh-CN" dirty="0">
                <a:latin typeface="宋体"/>
                <a:ea typeface="宋体"/>
                <a:cs typeface="宋体"/>
              </a:rPr>
              <a:t>7</a:t>
            </a:r>
            <a:r>
              <a:rPr lang="zh-CN" altLang="zh-CN" dirty="0">
                <a:latin typeface="宋体"/>
                <a:ea typeface="宋体"/>
                <a:cs typeface="宋体"/>
              </a:rPr>
              <a:t>、</a:t>
            </a:r>
            <a:r>
              <a:rPr lang="zh-CN" altLang="zh-CN" b="1" dirty="0">
                <a:latin typeface="宋体"/>
                <a:ea typeface="宋体"/>
                <a:cs typeface="宋体"/>
              </a:rPr>
              <a:t>被损害人可以做</a:t>
            </a:r>
            <a:r>
              <a:rPr lang="zh-CN" altLang="zh-CN" b="1" dirty="0" smtClean="0">
                <a:latin typeface="宋体"/>
                <a:ea typeface="宋体"/>
                <a:cs typeface="宋体"/>
              </a:rPr>
              <a:t>出的反应</a:t>
            </a:r>
            <a:r>
              <a:rPr lang="zh-CN" altLang="zh-CN" dirty="0" smtClean="0">
                <a:latin typeface="宋体"/>
                <a:ea typeface="宋体"/>
                <a:cs typeface="宋体"/>
              </a:rPr>
              <a:t>。</a:t>
            </a:r>
            <a:r>
              <a:rPr lang="zh-CN" altLang="zh-CN" dirty="0">
                <a:latin typeface="宋体"/>
                <a:ea typeface="宋体"/>
                <a:cs typeface="宋体"/>
              </a:rPr>
              <a:t>正当防卫的对象（不法侵害者）无权对防卫者进行抵抗，更无权以紧急避险为由，对第三者的利益造成进一步损害。而在紧急避险中，被损害的第三人却可以实施再避险，或连锁避险</a:t>
            </a:r>
            <a:r>
              <a:rPr lang="zh-CN" altLang="zh-CN" dirty="0" smtClean="0">
                <a:latin typeface="宋体"/>
                <a:ea typeface="宋体"/>
                <a:cs typeface="宋体"/>
              </a:rPr>
              <a:t>。</a:t>
            </a:r>
            <a:endParaRPr lang="zh-CN" altLang="zh-CN" dirty="0">
              <a:latin typeface="宋体"/>
              <a:ea typeface="宋体"/>
              <a:cs typeface="宋体"/>
            </a:endParaRPr>
          </a:p>
          <a:p>
            <a:endParaRPr kumimoji="1" lang="zh-CN" altLang="en-US" dirty="0"/>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107</a:t>
            </a:fld>
            <a:endParaRPr lang="zh-CN" altLang="en-US"/>
          </a:p>
        </p:txBody>
      </p:sp>
    </p:spTree>
    <p:extLst>
      <p:ext uri="{BB962C8B-B14F-4D97-AF65-F5344CB8AC3E}">
        <p14:creationId xmlns:p14="http://schemas.microsoft.com/office/powerpoint/2010/main" val="2797309984"/>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zh-CN" sz="3200" dirty="0">
                <a:latin typeface="黑体"/>
                <a:ea typeface="黑体"/>
                <a:cs typeface="黑体"/>
              </a:rPr>
              <a:t>紧急避险的几个具体问题 </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zh-CN" altLang="zh-CN" dirty="0">
                <a:latin typeface="宋体"/>
                <a:ea typeface="宋体"/>
                <a:cs typeface="宋体"/>
              </a:rPr>
              <a:t>能否对国家重点保护的野生动物实施紧急避险？——</a:t>
            </a:r>
            <a:r>
              <a:rPr lang="zh-CN" altLang="zh-CN" dirty="0" smtClean="0">
                <a:latin typeface="宋体"/>
                <a:ea typeface="宋体"/>
                <a:cs typeface="宋体"/>
              </a:rPr>
              <a:t>要看何种危险</a:t>
            </a:r>
            <a:r>
              <a:rPr lang="zh-CN" altLang="zh-CN" dirty="0">
                <a:latin typeface="宋体"/>
                <a:ea typeface="宋体"/>
                <a:cs typeface="宋体"/>
              </a:rPr>
              <a:t>，及人还是及物。一般来说，及物时不能避险，比如正在吃农民的庄稼</a:t>
            </a:r>
            <a:r>
              <a:rPr lang="zh-CN" altLang="zh-CN" dirty="0" smtClean="0">
                <a:latin typeface="宋体"/>
                <a:ea typeface="宋体"/>
                <a:cs typeface="宋体"/>
              </a:rPr>
              <a:t>。</a:t>
            </a:r>
            <a:endParaRPr lang="zh-CN" altLang="zh-CN" dirty="0">
              <a:latin typeface="宋体"/>
              <a:ea typeface="宋体"/>
              <a:cs typeface="宋体"/>
            </a:endParaRPr>
          </a:p>
          <a:p>
            <a:r>
              <a:rPr lang="zh-CN" altLang="zh-CN" dirty="0" smtClean="0">
                <a:latin typeface="宋体"/>
                <a:ea typeface="宋体"/>
                <a:cs typeface="宋体"/>
              </a:rPr>
              <a:t>被迫行为是否一律构成胁从犯</a:t>
            </a:r>
            <a:r>
              <a:rPr lang="zh-CN" altLang="zh-CN" dirty="0">
                <a:latin typeface="宋体"/>
                <a:ea typeface="宋体"/>
                <a:cs typeface="宋体"/>
              </a:rPr>
              <a:t>？</a:t>
            </a:r>
          </a:p>
          <a:p>
            <a:r>
              <a:rPr lang="zh-CN" altLang="zh-CN" dirty="0">
                <a:latin typeface="宋体"/>
                <a:ea typeface="宋体"/>
                <a:cs typeface="宋体"/>
              </a:rPr>
              <a:t>案例：</a:t>
            </a:r>
            <a:r>
              <a:rPr lang="zh-CN" altLang="zh-CN" dirty="0" smtClean="0">
                <a:latin typeface="宋体"/>
                <a:ea typeface="宋体"/>
                <a:cs typeface="宋体"/>
              </a:rPr>
              <a:t>谭某</a:t>
            </a:r>
            <a:r>
              <a:rPr lang="zh-CN" altLang="en-US" dirty="0" smtClean="0">
                <a:latin typeface="宋体"/>
                <a:ea typeface="宋体"/>
                <a:cs typeface="宋体"/>
              </a:rPr>
              <a:t>等</a:t>
            </a:r>
            <a:r>
              <a:rPr lang="zh-CN" altLang="zh-CN" dirty="0" smtClean="0">
                <a:latin typeface="宋体"/>
                <a:ea typeface="宋体"/>
                <a:cs typeface="宋体"/>
              </a:rPr>
              <a:t>三人某晚在公园预见</a:t>
            </a:r>
            <a:r>
              <a:rPr lang="zh-CN" altLang="zh-CN" dirty="0">
                <a:latin typeface="宋体"/>
                <a:ea typeface="宋体"/>
                <a:cs typeface="宋体"/>
              </a:rPr>
              <a:t>蒙某（男）和翟</a:t>
            </a:r>
            <a:r>
              <a:rPr lang="zh-CN" altLang="zh-CN" dirty="0" smtClean="0">
                <a:latin typeface="宋体"/>
                <a:ea typeface="宋体"/>
                <a:cs typeface="宋体"/>
              </a:rPr>
              <a:t>某（</a:t>
            </a:r>
            <a:r>
              <a:rPr lang="zh-CN" altLang="zh-CN" dirty="0">
                <a:latin typeface="宋体"/>
                <a:ea typeface="宋体"/>
                <a:cs typeface="宋体"/>
              </a:rPr>
              <a:t>女）在谈恋爱，便开始对其进行抢劫。然后强迫两人脱光衣服进行性交表演。蒙某因害怕，生理上无法进行。又要求二人进行口交。期间，蒙某乘机独自跳进水库脱逃。</a:t>
            </a:r>
          </a:p>
          <a:p>
            <a:r>
              <a:rPr lang="zh-CN" altLang="zh-CN" dirty="0" smtClean="0">
                <a:latin typeface="宋体"/>
                <a:ea typeface="宋体"/>
                <a:cs typeface="宋体"/>
              </a:rPr>
              <a:t>蒙某至少被迫实施了强奸</a:t>
            </a:r>
            <a:r>
              <a:rPr lang="zh-CN" altLang="zh-CN" dirty="0">
                <a:latin typeface="宋体"/>
                <a:ea typeface="宋体"/>
                <a:cs typeface="宋体"/>
              </a:rPr>
              <a:t>、猥亵的行为，是胁从犯还是紧急避险？</a:t>
            </a:r>
          </a:p>
          <a:p>
            <a:r>
              <a:rPr lang="zh-CN" altLang="zh-CN" dirty="0">
                <a:latin typeface="宋体"/>
                <a:ea typeface="宋体"/>
                <a:cs typeface="宋体"/>
              </a:rPr>
              <a:t>——紧急避险。因为与生命安全相比，其他权益相对较小。也因此，不能反过</a:t>
            </a:r>
            <a:r>
              <a:rPr lang="zh-CN" altLang="zh-CN" dirty="0" smtClean="0">
                <a:latin typeface="宋体"/>
                <a:ea typeface="宋体"/>
                <a:cs typeface="宋体"/>
              </a:rPr>
              <a:t>来。 </a:t>
            </a:r>
            <a:endParaRPr kumimoji="1" lang="zh-CN" altLang="en-US"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108</a:t>
            </a:fld>
            <a:endParaRPr lang="zh-CN" altLang="en-US"/>
          </a:p>
        </p:txBody>
      </p:sp>
    </p:spTree>
    <p:extLst>
      <p:ext uri="{BB962C8B-B14F-4D97-AF65-F5344CB8AC3E}">
        <p14:creationId xmlns:p14="http://schemas.microsoft.com/office/powerpoint/2010/main" val="2762499692"/>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dirty="0"/>
          </a:p>
        </p:txBody>
      </p:sp>
      <p:sp>
        <p:nvSpPr>
          <p:cNvPr id="3" name="内容占位符 2"/>
          <p:cNvSpPr>
            <a:spLocks noGrp="1"/>
          </p:cNvSpPr>
          <p:nvPr>
            <p:ph idx="1"/>
          </p:nvPr>
        </p:nvSpPr>
        <p:spPr/>
        <p:txBody>
          <a:bodyPr/>
          <a:lstStyle/>
          <a:p>
            <a:r>
              <a:rPr lang="zh-CN" altLang="zh-CN" dirty="0">
                <a:latin typeface="宋体"/>
                <a:ea typeface="宋体"/>
                <a:cs typeface="宋体"/>
              </a:rPr>
              <a:t>利益冲突问题</a:t>
            </a:r>
            <a:r>
              <a:rPr lang="zh-CN" altLang="zh-CN" dirty="0" smtClean="0">
                <a:latin typeface="宋体"/>
                <a:ea typeface="宋体"/>
                <a:cs typeface="宋体"/>
              </a:rPr>
              <a:t>。</a:t>
            </a:r>
            <a:r>
              <a:rPr lang="zh-CN" altLang="en-US" dirty="0" smtClean="0">
                <a:latin typeface="宋体"/>
                <a:ea typeface="宋体"/>
                <a:cs typeface="宋体"/>
              </a:rPr>
              <a:t>如</a:t>
            </a:r>
            <a:r>
              <a:rPr lang="zh-CN" altLang="zh-CN" dirty="0" smtClean="0">
                <a:latin typeface="宋体"/>
                <a:ea typeface="宋体"/>
                <a:cs typeface="宋体"/>
              </a:rPr>
              <a:t>洞穴吃人案</a:t>
            </a:r>
            <a:r>
              <a:rPr lang="zh-CN" altLang="en-US" dirty="0" smtClean="0">
                <a:latin typeface="宋体"/>
                <a:ea typeface="宋体"/>
                <a:cs typeface="宋体"/>
              </a:rPr>
              <a:t>的</a:t>
            </a:r>
            <a:r>
              <a:rPr lang="zh-CN" altLang="zh-CN" dirty="0" smtClean="0">
                <a:latin typeface="宋体"/>
                <a:ea typeface="宋体"/>
                <a:cs typeface="宋体"/>
              </a:rPr>
              <a:t>一种</a:t>
            </a:r>
            <a:r>
              <a:rPr lang="zh-CN" altLang="en-US" dirty="0" smtClean="0">
                <a:latin typeface="宋体"/>
                <a:ea typeface="宋体"/>
                <a:cs typeface="宋体"/>
              </a:rPr>
              <a:t>解释</a:t>
            </a:r>
            <a:r>
              <a:rPr lang="zh-CN" altLang="zh-CN" dirty="0" smtClean="0">
                <a:latin typeface="宋体"/>
                <a:ea typeface="宋体"/>
                <a:cs typeface="宋体"/>
              </a:rPr>
              <a:t>就是紧急避险</a:t>
            </a:r>
            <a:r>
              <a:rPr lang="zh-CN" altLang="zh-CN" dirty="0">
                <a:latin typeface="宋体"/>
                <a:ea typeface="宋体"/>
                <a:cs typeface="宋体"/>
              </a:rPr>
              <a:t>。</a:t>
            </a:r>
          </a:p>
          <a:p>
            <a:r>
              <a:rPr lang="zh-CN" altLang="zh-CN" dirty="0" smtClean="0">
                <a:latin typeface="宋体"/>
                <a:ea typeface="宋体"/>
                <a:cs typeface="宋体"/>
              </a:rPr>
              <a:t>义务冲突问题。孕妇难产</a:t>
            </a:r>
            <a:r>
              <a:rPr lang="zh-CN" altLang="zh-CN" dirty="0">
                <a:latin typeface="宋体"/>
                <a:ea typeface="宋体"/>
                <a:cs typeface="宋体"/>
              </a:rPr>
              <a:t>，</a:t>
            </a:r>
            <a:r>
              <a:rPr lang="zh-CN" altLang="zh-CN" dirty="0" smtClean="0">
                <a:latin typeface="宋体"/>
                <a:ea typeface="宋体"/>
                <a:cs typeface="宋体"/>
              </a:rPr>
              <a:t>只能保一个。</a:t>
            </a:r>
            <a:endParaRPr lang="zh-CN" altLang="zh-CN" dirty="0">
              <a:latin typeface="宋体"/>
              <a:ea typeface="宋体"/>
              <a:cs typeface="宋体"/>
            </a:endParaRPr>
          </a:p>
          <a:p>
            <a:r>
              <a:rPr lang="zh-CN" altLang="zh-CN" dirty="0" smtClean="0">
                <a:latin typeface="宋体"/>
                <a:ea typeface="宋体"/>
                <a:cs typeface="宋体"/>
              </a:rPr>
              <a:t>危险</a:t>
            </a:r>
            <a:r>
              <a:rPr lang="zh-CN" altLang="zh-CN" dirty="0">
                <a:latin typeface="宋体"/>
                <a:ea typeface="宋体"/>
                <a:cs typeface="宋体"/>
              </a:rPr>
              <a:t>来自精神</a:t>
            </a:r>
            <a:r>
              <a:rPr lang="zh-CN" altLang="zh-CN" dirty="0" smtClean="0">
                <a:latin typeface="宋体"/>
                <a:ea typeface="宋体"/>
                <a:cs typeface="宋体"/>
              </a:rPr>
              <a:t>病人的攻击。</a:t>
            </a:r>
            <a:endParaRPr lang="zh-CN" altLang="zh-CN" dirty="0">
              <a:latin typeface="宋体"/>
              <a:ea typeface="宋体"/>
              <a:cs typeface="宋体"/>
            </a:endParaRPr>
          </a:p>
          <a:p>
            <a:r>
              <a:rPr lang="zh-CN" altLang="en-US" b="1" dirty="0" smtClean="0">
                <a:latin typeface="宋体"/>
                <a:ea typeface="宋体"/>
                <a:cs typeface="宋体"/>
              </a:rPr>
              <a:t>案例：</a:t>
            </a:r>
            <a:r>
              <a:rPr lang="zh-CN" altLang="zh-CN" b="1" dirty="0" smtClean="0">
                <a:latin typeface="宋体"/>
                <a:ea typeface="宋体"/>
                <a:cs typeface="宋体"/>
              </a:rPr>
              <a:t>患</a:t>
            </a:r>
            <a:r>
              <a:rPr lang="zh-CN" altLang="zh-CN" b="1" dirty="0">
                <a:latin typeface="宋体"/>
                <a:ea typeface="宋体"/>
                <a:cs typeface="宋体"/>
              </a:rPr>
              <a:t>精神病近</a:t>
            </a:r>
            <a:r>
              <a:rPr lang="en-US" altLang="zh-CN" b="1" dirty="0">
                <a:latin typeface="宋体"/>
                <a:ea typeface="宋体"/>
                <a:cs typeface="宋体"/>
              </a:rPr>
              <a:t>10</a:t>
            </a:r>
            <a:r>
              <a:rPr lang="zh-CN" altLang="zh-CN" b="1" dirty="0">
                <a:latin typeface="宋体"/>
                <a:ea typeface="宋体"/>
                <a:cs typeface="宋体"/>
              </a:rPr>
              <a:t>年并经常无故殴打他人的被害人范尚雨追打其侄女后，又手持木棒、砖头在公路上追撵其兄范尚秀。范尚秀在跑了几圈之后，因无力跑动，便停了下来转身抓住范尚雨的头发将其按倒在地，并夺下木棒朝持砖欲起身的范尚雨头部打了两棒，致范尚雨当即倒在地上。约</a:t>
            </a:r>
            <a:r>
              <a:rPr lang="en-US" altLang="zh-CN" b="1" dirty="0">
                <a:latin typeface="宋体"/>
                <a:ea typeface="宋体"/>
                <a:cs typeface="宋体"/>
              </a:rPr>
              <a:t>1</a:t>
            </a:r>
            <a:r>
              <a:rPr lang="zh-CN" altLang="zh-CN" b="1" dirty="0">
                <a:latin typeface="宋体"/>
                <a:ea typeface="宋体"/>
                <a:cs typeface="宋体"/>
              </a:rPr>
              <a:t>小时后，范尚秀见范尚雨未回家，即到现场用板车将范尚雨拉到住处。范尚雨于当日死亡。</a:t>
            </a:r>
            <a:endParaRPr lang="zh-CN" altLang="zh-CN" dirty="0">
              <a:latin typeface="宋体"/>
              <a:ea typeface="宋体"/>
              <a:cs typeface="宋体"/>
            </a:endParaRPr>
          </a:p>
          <a:p>
            <a:r>
              <a:rPr lang="zh-CN" altLang="zh-CN" b="1" dirty="0">
                <a:latin typeface="宋体"/>
                <a:ea typeface="宋体"/>
                <a:cs typeface="宋体"/>
              </a:rPr>
              <a:t>问题：为躲避精神病人的追打对其实施打击致其死亡的，是防卫行为、避险行为还是故意伤害罪？</a:t>
            </a:r>
            <a:r>
              <a:rPr lang="zh-CN" altLang="zh-CN" dirty="0">
                <a:latin typeface="宋体"/>
                <a:ea typeface="宋体"/>
                <a:cs typeface="宋体"/>
              </a:rPr>
              <a:t> </a:t>
            </a:r>
            <a:endParaRPr kumimoji="1" lang="zh-CN" altLang="en-US"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109</a:t>
            </a:fld>
            <a:endParaRPr lang="zh-CN" altLang="en-US"/>
          </a:p>
        </p:txBody>
      </p:sp>
    </p:spTree>
    <p:extLst>
      <p:ext uri="{BB962C8B-B14F-4D97-AF65-F5344CB8AC3E}">
        <p14:creationId xmlns:p14="http://schemas.microsoft.com/office/powerpoint/2010/main" val="2476793935"/>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dirty="0"/>
          </a:p>
        </p:txBody>
      </p:sp>
      <p:sp>
        <p:nvSpPr>
          <p:cNvPr id="3" name="内容占位符 2"/>
          <p:cNvSpPr>
            <a:spLocks noGrp="1"/>
          </p:cNvSpPr>
          <p:nvPr>
            <p:ph idx="1"/>
          </p:nvPr>
        </p:nvSpPr>
        <p:spPr/>
        <p:txBody>
          <a:bodyPr/>
          <a:lstStyle/>
          <a:p>
            <a:r>
              <a:rPr lang="zh-CN" altLang="zh-CN" sz="2800" b="1" dirty="0">
                <a:latin typeface="宋体"/>
                <a:ea typeface="宋体"/>
                <a:cs typeface="宋体"/>
              </a:rPr>
              <a:t>检察院以被告人范尚秀的行为构成故意伤害罪向法院提起公诉</a:t>
            </a:r>
            <a:r>
              <a:rPr lang="zh-CN" altLang="zh-CN" sz="2800" b="1" dirty="0" smtClean="0">
                <a:latin typeface="宋体"/>
                <a:ea typeface="宋体"/>
                <a:cs typeface="宋体"/>
              </a:rPr>
              <a:t>。</a:t>
            </a:r>
            <a:endParaRPr lang="en-US" altLang="zh-CN" sz="2800" b="1" dirty="0" smtClean="0">
              <a:latin typeface="宋体"/>
              <a:ea typeface="宋体"/>
              <a:cs typeface="宋体"/>
            </a:endParaRPr>
          </a:p>
          <a:p>
            <a:r>
              <a:rPr lang="zh-CN" altLang="zh-CN" sz="2800" b="1" dirty="0" smtClean="0">
                <a:latin typeface="宋体"/>
                <a:ea typeface="宋体"/>
                <a:cs typeface="宋体"/>
              </a:rPr>
              <a:t>被告人辩称</a:t>
            </a:r>
            <a:r>
              <a:rPr lang="zh-CN" altLang="zh-CN" sz="2800" b="1" dirty="0">
                <a:latin typeface="宋体"/>
                <a:ea typeface="宋体"/>
                <a:cs typeface="宋体"/>
              </a:rPr>
              <a:t>，其用木棒致死被害人不是故意的，是不得已而为之的自卫行为</a:t>
            </a:r>
            <a:r>
              <a:rPr lang="zh-CN" altLang="zh-CN" sz="2800" b="1" dirty="0" smtClean="0">
                <a:latin typeface="宋体"/>
                <a:ea typeface="宋体"/>
                <a:cs typeface="宋体"/>
              </a:rPr>
              <a:t>。</a:t>
            </a:r>
            <a:endParaRPr lang="en-US" altLang="zh-CN" sz="2800" b="1" dirty="0" smtClean="0">
              <a:latin typeface="宋体"/>
              <a:ea typeface="宋体"/>
              <a:cs typeface="宋体"/>
            </a:endParaRPr>
          </a:p>
          <a:p>
            <a:r>
              <a:rPr lang="zh-CN" altLang="zh-CN" sz="2800" b="1" dirty="0" smtClean="0">
                <a:latin typeface="宋体"/>
                <a:ea typeface="宋体"/>
                <a:cs typeface="宋体"/>
              </a:rPr>
              <a:t>法</a:t>
            </a:r>
            <a:r>
              <a:rPr lang="zh-CN" altLang="zh-CN" sz="2800" b="1" dirty="0">
                <a:latin typeface="宋体"/>
                <a:ea typeface="宋体"/>
                <a:cs typeface="宋体"/>
              </a:rPr>
              <a:t>院认为，被告人范尚秀的行为是正当防卫但超过了必要限度，构成故意伤害罪，判处有期徒刑三年，缓刑三年。</a:t>
            </a:r>
            <a:r>
              <a:rPr lang="zh-CN" altLang="zh-CN" sz="2800" dirty="0">
                <a:latin typeface="宋体"/>
                <a:ea typeface="宋体"/>
                <a:cs typeface="宋体"/>
              </a:rPr>
              <a:t> </a:t>
            </a:r>
            <a:endParaRPr lang="en-US" altLang="zh-CN" sz="2800" dirty="0" smtClean="0">
              <a:latin typeface="宋体"/>
              <a:ea typeface="宋体"/>
              <a:cs typeface="宋体"/>
            </a:endParaRPr>
          </a:p>
          <a:p>
            <a:r>
              <a:rPr lang="zh-CN" altLang="en-US" sz="2800" b="1" dirty="0">
                <a:latin typeface="宋体"/>
                <a:ea typeface="宋体"/>
                <a:cs typeface="宋体"/>
              </a:rPr>
              <a:t>说明，</a:t>
            </a:r>
            <a:r>
              <a:rPr lang="zh-CN" altLang="zh-CN" sz="2800" b="1" dirty="0">
                <a:latin typeface="宋体"/>
                <a:ea typeface="宋体"/>
                <a:cs typeface="宋体"/>
              </a:rPr>
              <a:t>精神病人的侵害行为也是不法侵害，可以对其进行防卫。 </a:t>
            </a:r>
            <a:endParaRPr lang="zh-CN" altLang="en-US" sz="2800" b="1"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110</a:t>
            </a:fld>
            <a:endParaRPr lang="zh-CN" altLang="en-US"/>
          </a:p>
        </p:txBody>
      </p:sp>
    </p:spTree>
    <p:extLst>
      <p:ext uri="{BB962C8B-B14F-4D97-AF65-F5344CB8AC3E}">
        <p14:creationId xmlns:p14="http://schemas.microsoft.com/office/powerpoint/2010/main" val="3368270709"/>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200" dirty="0" smtClean="0">
                <a:latin typeface="黑体"/>
                <a:ea typeface="黑体"/>
                <a:cs typeface="黑体"/>
              </a:rPr>
              <a:t>除刑之五：但书</a:t>
            </a:r>
            <a:endParaRPr kumimoji="1" lang="zh-CN" altLang="en-US" sz="3200" dirty="0">
              <a:latin typeface="黑体"/>
              <a:ea typeface="黑体"/>
              <a:cs typeface="黑体"/>
            </a:endParaRPr>
          </a:p>
        </p:txBody>
      </p:sp>
      <p:sp>
        <p:nvSpPr>
          <p:cNvPr id="3" name="内容占位符 2"/>
          <p:cNvSpPr>
            <a:spLocks noGrp="1"/>
          </p:cNvSpPr>
          <p:nvPr>
            <p:ph idx="1"/>
          </p:nvPr>
        </p:nvSpPr>
        <p:spPr/>
        <p:txBody>
          <a:bodyPr/>
          <a:lstStyle/>
          <a:p>
            <a:r>
              <a:rPr lang="zh-CN" altLang="zh-CN" sz="2800" b="1" dirty="0" smtClean="0">
                <a:latin typeface="宋体"/>
                <a:ea typeface="宋体"/>
                <a:cs typeface="宋体"/>
              </a:rPr>
              <a:t>第十三条</a:t>
            </a:r>
            <a:r>
              <a:rPr lang="en-US" altLang="zh-CN" sz="2800" b="1" dirty="0" smtClean="0">
                <a:latin typeface="宋体"/>
                <a:ea typeface="宋体"/>
                <a:cs typeface="宋体"/>
              </a:rPr>
              <a:t>   </a:t>
            </a:r>
            <a:r>
              <a:rPr lang="zh-CN" altLang="zh-CN" sz="2800" b="1" dirty="0" smtClean="0">
                <a:latin typeface="宋体"/>
                <a:ea typeface="宋体"/>
                <a:cs typeface="宋体"/>
              </a:rPr>
              <a:t>一切危害国家主权</a:t>
            </a:r>
            <a:r>
              <a:rPr lang="zh-CN" altLang="zh-CN" sz="2800" b="1" dirty="0">
                <a:latin typeface="宋体"/>
                <a:ea typeface="宋体"/>
                <a:cs typeface="宋体"/>
              </a:rPr>
              <a:t>、领土完整和安全，分裂国家、颠覆人民民主专政的政权和推翻社会主义制度，破坏社会秩序和经济秩序，侵犯国有财产或者劳动群众集体所有的财产，侵犯公民私人所有的财产，侵犯公民的人身权利、民主权利和其他权利，以及其他危害社会的行为，依照法律应当受刑罚处罚的，都是犯罪，</a:t>
            </a:r>
            <a:r>
              <a:rPr lang="zh-CN" altLang="zh-CN" sz="3600" b="1" dirty="0">
                <a:latin typeface="黑体"/>
                <a:ea typeface="黑体"/>
                <a:cs typeface="黑体"/>
              </a:rPr>
              <a:t>但是情节显著轻微危害不大的，不认为是犯罪</a:t>
            </a:r>
            <a:r>
              <a:rPr lang="zh-CN" altLang="zh-CN" sz="3600" b="1" dirty="0" smtClean="0">
                <a:latin typeface="黑体"/>
                <a:ea typeface="黑体"/>
                <a:cs typeface="黑体"/>
              </a:rPr>
              <a:t>。</a:t>
            </a:r>
            <a:endParaRPr lang="en-US" altLang="zh-CN" sz="3600" b="1" dirty="0" smtClean="0">
              <a:latin typeface="黑体"/>
              <a:ea typeface="黑体"/>
              <a:cs typeface="黑体"/>
            </a:endParaRPr>
          </a:p>
          <a:p>
            <a:r>
              <a:rPr lang="zh-CN" altLang="en-US" sz="2800" b="1" dirty="0">
                <a:latin typeface="宋体"/>
                <a:ea typeface="宋体"/>
                <a:cs typeface="宋体"/>
              </a:rPr>
              <a:t>“</a:t>
            </a:r>
            <a:r>
              <a:rPr lang="zh-CN" altLang="en-US" sz="2800" b="1" dirty="0" smtClean="0">
                <a:latin typeface="宋体"/>
                <a:ea typeface="宋体"/>
                <a:cs typeface="宋体"/>
              </a:rPr>
              <a:t>不认为是犯罪”就是绝对不起诉，不是相对不起诉。</a:t>
            </a:r>
            <a:r>
              <a:rPr lang="zh-CN" altLang="zh-CN" sz="2800" b="1" dirty="0" smtClean="0">
                <a:latin typeface="宋体"/>
                <a:ea typeface="宋体"/>
                <a:cs typeface="宋体"/>
              </a:rPr>
              <a:t> </a:t>
            </a:r>
            <a:endParaRPr lang="zh-CN" altLang="en-US" sz="2800" b="1"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111</a:t>
            </a:fld>
            <a:endParaRPr lang="zh-CN" altLang="en-US"/>
          </a:p>
        </p:txBody>
      </p:sp>
    </p:spTree>
    <p:extLst>
      <p:ext uri="{BB962C8B-B14F-4D97-AF65-F5344CB8AC3E}">
        <p14:creationId xmlns:p14="http://schemas.microsoft.com/office/powerpoint/2010/main" val="1382466077"/>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55576" y="260648"/>
            <a:ext cx="7170737" cy="492125"/>
          </a:xfrm>
        </p:spPr>
        <p:txBody>
          <a:bodyPr/>
          <a:lstStyle/>
          <a:p>
            <a:pPr algn="ctr"/>
            <a:r>
              <a:rPr kumimoji="1" lang="zh-CN" altLang="en-US" sz="3200" dirty="0" smtClean="0">
                <a:latin typeface="黑体"/>
                <a:ea typeface="黑体"/>
                <a:cs typeface="黑体"/>
              </a:rPr>
              <a:t>除刑之六：经验定义</a:t>
            </a:r>
            <a:endParaRPr kumimoji="1" lang="zh-CN" altLang="en-US" sz="3200" dirty="0">
              <a:solidFill>
                <a:schemeClr val="tx1"/>
              </a:solidFill>
              <a:latin typeface="黑体"/>
              <a:ea typeface="黑体"/>
              <a:cs typeface="黑体"/>
            </a:endParaRPr>
          </a:p>
        </p:txBody>
      </p:sp>
      <p:sp>
        <p:nvSpPr>
          <p:cNvPr id="3" name="内容占位符 2"/>
          <p:cNvSpPr>
            <a:spLocks noGrp="1"/>
          </p:cNvSpPr>
          <p:nvPr>
            <p:ph idx="1"/>
          </p:nvPr>
        </p:nvSpPr>
        <p:spPr>
          <a:xfrm>
            <a:off x="467544" y="1052736"/>
            <a:ext cx="8229600" cy="5400600"/>
          </a:xfrm>
        </p:spPr>
        <p:txBody>
          <a:bodyPr/>
          <a:lstStyle/>
          <a:p>
            <a:r>
              <a:rPr lang="zh-CN" altLang="zh-CN" sz="3200" dirty="0" smtClean="0">
                <a:latin typeface="Lantinghei SC Demibold" charset="-122"/>
                <a:ea typeface="Lantinghei SC Demibold" charset="-122"/>
                <a:cs typeface="Lantinghei SC Demibold" charset="-122"/>
              </a:rPr>
              <a:t>抢劫罪</a:t>
            </a:r>
            <a:r>
              <a:rPr lang="zh-CN" altLang="zh-CN" sz="2800" dirty="0">
                <a:latin typeface="宋体"/>
                <a:ea typeface="宋体"/>
                <a:cs typeface="宋体"/>
              </a:rPr>
              <a:t>是暴力当场夺取他人财物的行为</a:t>
            </a:r>
            <a:r>
              <a:rPr lang="zh-CN" altLang="zh-CN" sz="2800" dirty="0" smtClean="0">
                <a:latin typeface="宋体"/>
                <a:ea typeface="宋体"/>
                <a:cs typeface="宋体"/>
              </a:rPr>
              <a:t>。</a:t>
            </a:r>
            <a:endParaRPr lang="en-US" altLang="zh-CN" sz="2800" dirty="0" smtClean="0">
              <a:latin typeface="宋体"/>
              <a:ea typeface="宋体"/>
              <a:cs typeface="宋体"/>
            </a:endParaRPr>
          </a:p>
          <a:p>
            <a:r>
              <a:rPr lang="zh-CN" altLang="en-US" sz="2800" dirty="0" smtClean="0">
                <a:latin typeface="宋体"/>
                <a:ea typeface="宋体"/>
                <a:cs typeface="宋体"/>
              </a:rPr>
              <a:t>逆定理是否成立：暴力当场取财的行为都是抢劫。</a:t>
            </a:r>
            <a:endParaRPr lang="en-US" altLang="zh-CN" sz="2800" dirty="0">
              <a:latin typeface="宋体"/>
              <a:ea typeface="宋体"/>
              <a:cs typeface="宋体"/>
            </a:endParaRPr>
          </a:p>
          <a:p>
            <a:r>
              <a:rPr lang="zh-CN" altLang="en-US" sz="2800" dirty="0" smtClean="0">
                <a:latin typeface="宋体"/>
                <a:ea typeface="宋体"/>
                <a:cs typeface="宋体"/>
              </a:rPr>
              <a:t>法官们何时会说“不”：</a:t>
            </a:r>
            <a:endParaRPr lang="en-US" altLang="zh-CN" sz="2800" dirty="0">
              <a:latin typeface="宋体"/>
              <a:ea typeface="宋体"/>
              <a:cs typeface="宋体"/>
            </a:endParaRPr>
          </a:p>
          <a:p>
            <a:r>
              <a:rPr lang="zh-CN" altLang="zh-CN" dirty="0" smtClean="0">
                <a:latin typeface="楷体"/>
                <a:ea typeface="楷体"/>
                <a:cs typeface="楷体"/>
              </a:rPr>
              <a:t>例</a:t>
            </a:r>
            <a:r>
              <a:rPr lang="zh-CN" altLang="zh-CN" dirty="0">
                <a:latin typeface="楷体"/>
                <a:ea typeface="楷体"/>
                <a:cs typeface="楷体"/>
              </a:rPr>
              <a:t>一：被告人刘某等人因购买的推土机质量不合格，遇到来自同一地方的推土机推销商，便以暴力手段逼迫其“赔偿损失”。被害人因其产品确属拼装机而惧怕见官，当场交付了财物。控方以抢劫罪指控，而法院以敲诈勒索罪认定。 </a:t>
            </a:r>
            <a:endParaRPr lang="en-US" altLang="zh-CN" dirty="0" smtClean="0">
              <a:latin typeface="楷体"/>
              <a:ea typeface="楷体"/>
              <a:cs typeface="楷体"/>
            </a:endParaRPr>
          </a:p>
          <a:p>
            <a:r>
              <a:rPr lang="zh-CN" altLang="zh-CN" dirty="0">
                <a:latin typeface="楷体"/>
                <a:ea typeface="楷体"/>
                <a:cs typeface="楷体"/>
              </a:rPr>
              <a:t>例二：被告人翟某得知女友又与另一男青年相好后，将该男青年引到僻静处以暴力相威胁，被害人被迫当场交出银行卡及密码。控方以抢劫罪指控，而法院以敲诈勒索罪认定。 </a:t>
            </a:r>
            <a:endParaRPr lang="zh-CN" altLang="en-US" dirty="0">
              <a:latin typeface="楷体"/>
              <a:ea typeface="楷体"/>
              <a:cs typeface="楷体"/>
            </a:endParaRPr>
          </a:p>
        </p:txBody>
      </p:sp>
    </p:spTree>
    <p:extLst>
      <p:ext uri="{BB962C8B-B14F-4D97-AF65-F5344CB8AC3E}">
        <p14:creationId xmlns:p14="http://schemas.microsoft.com/office/powerpoint/2010/main" val="39615148"/>
      </p:ext>
    </p:extLst>
  </p:cSld>
  <p:clrMapOvr>
    <a:masterClrMapping/>
  </p:clrMapOvr>
  <p:transition>
    <p:fade/>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a:xfrm>
            <a:off x="457200" y="703263"/>
            <a:ext cx="8229600" cy="5822081"/>
          </a:xfrm>
        </p:spPr>
        <p:txBody>
          <a:bodyPr/>
          <a:lstStyle/>
          <a:p>
            <a:r>
              <a:rPr lang="zh-CN" altLang="zh-CN" dirty="0" smtClean="0">
                <a:latin typeface="楷体"/>
                <a:ea typeface="楷体"/>
                <a:cs typeface="楷体"/>
              </a:rPr>
              <a:t>例三：被告人周某等人打麻将后得知，被害人打麻将有作弊嫌疑，遂纠集多人找到被害人当场抢走一万多元。控方以抢劫罪指控，而法院以敲诈勒索罪认定。 </a:t>
            </a:r>
            <a:endParaRPr lang="en-US" altLang="zh-CN" dirty="0" smtClean="0">
              <a:latin typeface="楷体"/>
              <a:ea typeface="楷体"/>
              <a:cs typeface="楷体"/>
            </a:endParaRPr>
          </a:p>
          <a:p>
            <a:r>
              <a:rPr lang="zh-CN" altLang="zh-CN" dirty="0" smtClean="0">
                <a:latin typeface="楷体"/>
                <a:ea typeface="楷体"/>
                <a:cs typeface="楷体"/>
              </a:rPr>
              <a:t>例</a:t>
            </a:r>
            <a:r>
              <a:rPr lang="zh-CN" altLang="en-US" dirty="0" smtClean="0">
                <a:latin typeface="楷体"/>
                <a:ea typeface="楷体"/>
                <a:cs typeface="楷体"/>
              </a:rPr>
              <a:t>四</a:t>
            </a:r>
            <a:r>
              <a:rPr lang="zh-CN" altLang="zh-CN" dirty="0" smtClean="0">
                <a:latin typeface="楷体"/>
                <a:ea typeface="楷体"/>
                <a:cs typeface="楷体"/>
              </a:rPr>
              <a:t>：</a:t>
            </a:r>
            <a:r>
              <a:rPr lang="zh-CN" altLang="zh-CN" dirty="0">
                <a:latin typeface="楷体"/>
                <a:ea typeface="楷体"/>
                <a:cs typeface="楷体"/>
              </a:rPr>
              <a:t>被告人在酒席中被人打断一颗牙，遂纠集多人对打人者进行殴打并当众将其带走拘禁两个小时，要求其家属支付</a:t>
            </a:r>
            <a:r>
              <a:rPr lang="en-US" altLang="zh-CN" dirty="0">
                <a:latin typeface="楷体"/>
                <a:ea typeface="楷体"/>
                <a:cs typeface="楷体"/>
              </a:rPr>
              <a:t>6000</a:t>
            </a:r>
            <a:r>
              <a:rPr lang="zh-CN" altLang="zh-CN" dirty="0">
                <a:latin typeface="楷体"/>
                <a:ea typeface="楷体"/>
                <a:cs typeface="楷体"/>
              </a:rPr>
              <a:t>元的补牙费用。控方以抢劫罪指控，法院以非法拘禁罪认定。</a:t>
            </a:r>
            <a:endParaRPr lang="en-US" altLang="zh-CN" dirty="0">
              <a:latin typeface="楷体"/>
              <a:ea typeface="楷体"/>
              <a:cs typeface="楷体"/>
            </a:endParaRPr>
          </a:p>
          <a:p>
            <a:r>
              <a:rPr lang="zh-CN" altLang="en-US" dirty="0" smtClean="0">
                <a:latin typeface="楷体"/>
                <a:ea typeface="楷体"/>
                <a:cs typeface="楷体"/>
              </a:rPr>
              <a:t>例五：</a:t>
            </a:r>
            <a:r>
              <a:rPr lang="zh-CN" altLang="zh-CN" dirty="0" smtClean="0">
                <a:latin typeface="楷体"/>
                <a:ea typeface="楷体"/>
                <a:cs typeface="楷体"/>
              </a:rPr>
              <a:t>被告彭某嫖娼后以做</a:t>
            </a:r>
            <a:r>
              <a:rPr lang="zh-CN" altLang="zh-CN" dirty="0">
                <a:latin typeface="楷体"/>
                <a:ea typeface="楷体"/>
                <a:cs typeface="楷体"/>
              </a:rPr>
              <a:t>法不符合要求为由持刀强行要回嫖资</a:t>
            </a:r>
            <a:r>
              <a:rPr lang="en-US" altLang="zh-CN" dirty="0">
                <a:latin typeface="楷体"/>
                <a:ea typeface="楷体"/>
                <a:cs typeface="楷体"/>
              </a:rPr>
              <a:t>30</a:t>
            </a:r>
            <a:r>
              <a:rPr lang="zh-CN" altLang="zh-CN" dirty="0">
                <a:latin typeface="楷体"/>
                <a:ea typeface="楷体"/>
                <a:cs typeface="楷体"/>
              </a:rPr>
              <a:t>元，并将阻止其逃跑的人刺成重伤。控方以抢劫罪指控，法院以故意伤害罪认定。 </a:t>
            </a:r>
            <a:endParaRPr lang="en-US" altLang="zh-CN" dirty="0" smtClean="0">
              <a:latin typeface="楷体"/>
              <a:ea typeface="楷体"/>
              <a:cs typeface="楷体"/>
            </a:endParaRPr>
          </a:p>
          <a:p>
            <a:r>
              <a:rPr lang="zh-CN" altLang="en-US" sz="2800" dirty="0" smtClean="0">
                <a:latin typeface="黑体"/>
                <a:ea typeface="黑体"/>
                <a:cs typeface="黑体"/>
              </a:rPr>
              <a:t>归纳：</a:t>
            </a:r>
            <a:r>
              <a:rPr lang="zh-CN" altLang="en-US" dirty="0" smtClean="0">
                <a:latin typeface="黑体"/>
                <a:ea typeface="黑体"/>
                <a:cs typeface="黑体"/>
              </a:rPr>
              <a:t>都是在一定前因后果中的暴力当场取财，</a:t>
            </a:r>
            <a:endParaRPr lang="en-US" altLang="zh-CN" dirty="0" smtClean="0">
              <a:latin typeface="黑体"/>
              <a:ea typeface="黑体"/>
              <a:cs typeface="黑体"/>
            </a:endParaRPr>
          </a:p>
          <a:p>
            <a:r>
              <a:rPr lang="zh-CN" altLang="en-US" dirty="0" smtClean="0">
                <a:latin typeface="黑体"/>
                <a:ea typeface="黑体"/>
                <a:cs typeface="黑体"/>
              </a:rPr>
              <a:t>都没有定抢劫罪。所以</a:t>
            </a:r>
            <a:r>
              <a:rPr lang="en-US" altLang="zh-CN" dirty="0" smtClean="0">
                <a:latin typeface="黑体"/>
                <a:ea typeface="黑体"/>
                <a:cs typeface="黑体"/>
              </a:rPr>
              <a:t>——</a:t>
            </a:r>
          </a:p>
          <a:p>
            <a:r>
              <a:rPr lang="zh-CN" altLang="zh-CN" dirty="0" smtClean="0">
                <a:latin typeface="黑体"/>
                <a:ea typeface="黑体"/>
                <a:cs typeface="黑体"/>
              </a:rPr>
              <a:t>抢劫罪</a:t>
            </a:r>
            <a:r>
              <a:rPr lang="zh-CN" altLang="zh-CN" dirty="0">
                <a:latin typeface="黑体"/>
                <a:ea typeface="黑体"/>
                <a:cs typeface="黑体"/>
              </a:rPr>
              <a:t>，通常是指没有明显前因后果的裸的当场暴力劫取他人财物的行为。 </a:t>
            </a:r>
            <a:r>
              <a:rPr lang="zh-CN" altLang="zh-CN" dirty="0" smtClean="0">
                <a:latin typeface="黑体"/>
                <a:ea typeface="黑体"/>
                <a:cs typeface="黑体"/>
              </a:rPr>
              <a:t> </a:t>
            </a:r>
            <a:endParaRPr lang="zh-CN" altLang="en-US" dirty="0">
              <a:latin typeface="黑体"/>
              <a:ea typeface="黑体"/>
              <a:cs typeface="黑体"/>
            </a:endParaRPr>
          </a:p>
        </p:txBody>
      </p:sp>
    </p:spTree>
    <p:extLst>
      <p:ext uri="{BB962C8B-B14F-4D97-AF65-F5344CB8AC3E}">
        <p14:creationId xmlns:p14="http://schemas.microsoft.com/office/powerpoint/2010/main" val="91861866"/>
      </p:ext>
    </p:extLst>
  </p:cSld>
  <p:clrMapOvr>
    <a:masterClrMapping/>
  </p:clrMapOvr>
  <p:transition>
    <p:fade/>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41017" y="260648"/>
            <a:ext cx="7668914" cy="481558"/>
          </a:xfrm>
        </p:spPr>
        <p:txBody>
          <a:bodyPr/>
          <a:lstStyle/>
          <a:p>
            <a:pPr algn="ctr"/>
            <a:r>
              <a:rPr lang="zh-CN" altLang="zh-CN" sz="3200" dirty="0" smtClean="0">
                <a:latin typeface="黑体"/>
                <a:ea typeface="黑体"/>
                <a:cs typeface="黑体"/>
              </a:rPr>
              <a:t> </a:t>
            </a:r>
            <a:r>
              <a:rPr lang="zh-CN" altLang="en-US" sz="3200" b="1" dirty="0" smtClean="0">
                <a:solidFill>
                  <a:schemeClr val="tx1"/>
                </a:solidFill>
                <a:latin typeface="黑体"/>
                <a:ea typeface="黑体"/>
                <a:cs typeface="黑体"/>
              </a:rPr>
              <a:t>用经验归纳修正三段论</a:t>
            </a:r>
            <a:endParaRPr kumimoji="1" lang="zh-CN" altLang="en-US" sz="3200" b="1" dirty="0">
              <a:solidFill>
                <a:schemeClr val="tx1"/>
              </a:solidFill>
              <a:latin typeface="黑体"/>
              <a:ea typeface="黑体"/>
              <a:cs typeface="黑体"/>
            </a:endParaRPr>
          </a:p>
        </p:txBody>
      </p:sp>
      <p:sp>
        <p:nvSpPr>
          <p:cNvPr id="3" name="内容占位符 2"/>
          <p:cNvSpPr>
            <a:spLocks noGrp="1"/>
          </p:cNvSpPr>
          <p:nvPr>
            <p:ph idx="1"/>
          </p:nvPr>
        </p:nvSpPr>
        <p:spPr>
          <a:xfrm>
            <a:off x="683568" y="1125538"/>
            <a:ext cx="7704856" cy="5000625"/>
          </a:xfrm>
        </p:spPr>
        <p:txBody>
          <a:bodyPr/>
          <a:lstStyle/>
          <a:p>
            <a:r>
              <a:rPr lang="zh-CN" altLang="zh-CN" sz="2800" b="1" dirty="0" smtClean="0">
                <a:latin typeface="楷体"/>
                <a:ea typeface="楷体"/>
                <a:cs typeface="楷体"/>
              </a:rPr>
              <a:t>“</a:t>
            </a:r>
            <a:r>
              <a:rPr lang="zh-CN" altLang="zh-CN" sz="2800" b="1" dirty="0">
                <a:latin typeface="楷体"/>
                <a:ea typeface="楷体"/>
                <a:cs typeface="楷体"/>
              </a:rPr>
              <a:t>抢劫罪是暴力当场劫取他人财物的行为”</a:t>
            </a:r>
            <a:r>
              <a:rPr lang="zh-CN" altLang="zh-CN" sz="2800" b="1" dirty="0">
                <a:latin typeface="黑体"/>
                <a:ea typeface="黑体"/>
                <a:cs typeface="黑体"/>
              </a:rPr>
              <a:t>（大前提）</a:t>
            </a:r>
            <a:r>
              <a:rPr lang="zh-CN" altLang="zh-CN" sz="2800" b="1" dirty="0">
                <a:latin typeface="楷体"/>
                <a:ea typeface="楷体"/>
                <a:cs typeface="楷体"/>
              </a:rPr>
              <a:t>；</a:t>
            </a:r>
            <a:endParaRPr lang="en-US" altLang="zh-CN" sz="2800" b="1" dirty="0">
              <a:latin typeface="楷体"/>
              <a:ea typeface="楷体"/>
              <a:cs typeface="楷体"/>
            </a:endParaRPr>
          </a:p>
          <a:p>
            <a:r>
              <a:rPr lang="zh-CN" altLang="zh-CN" sz="2800" b="1" dirty="0">
                <a:latin typeface="楷体"/>
                <a:ea typeface="楷体"/>
                <a:cs typeface="楷体"/>
              </a:rPr>
              <a:t>“</a:t>
            </a:r>
            <a:r>
              <a:rPr lang="zh-CN" altLang="zh-CN" sz="2800" b="1" dirty="0" smtClean="0">
                <a:latin typeface="楷体"/>
                <a:ea typeface="楷体"/>
                <a:cs typeface="楷体"/>
              </a:rPr>
              <a:t>但</a:t>
            </a:r>
            <a:r>
              <a:rPr lang="zh-CN" altLang="en-US" sz="2800" b="1" dirty="0" smtClean="0">
                <a:latin typeface="楷体"/>
                <a:ea typeface="楷体"/>
                <a:cs typeface="楷体"/>
              </a:rPr>
              <a:t>许多</a:t>
            </a:r>
            <a:r>
              <a:rPr lang="zh-CN" altLang="zh-CN" sz="2800" b="1" dirty="0" smtClean="0">
                <a:latin typeface="楷体"/>
                <a:ea typeface="楷体"/>
                <a:cs typeface="楷体"/>
              </a:rPr>
              <a:t>发生</a:t>
            </a:r>
            <a:r>
              <a:rPr lang="zh-CN" altLang="zh-CN" sz="2800" b="1" dirty="0">
                <a:latin typeface="楷体"/>
                <a:ea typeface="楷体"/>
                <a:cs typeface="楷体"/>
              </a:rPr>
              <a:t>在一定冲突背景中的除外”</a:t>
            </a:r>
            <a:r>
              <a:rPr lang="zh-CN" altLang="zh-CN" sz="2800" b="1" dirty="0">
                <a:latin typeface="黑体"/>
                <a:ea typeface="黑体"/>
                <a:cs typeface="黑体"/>
              </a:rPr>
              <a:t>（</a:t>
            </a:r>
            <a:r>
              <a:rPr lang="zh-CN" altLang="en-US" sz="2800" b="1" dirty="0">
                <a:latin typeface="黑体"/>
                <a:ea typeface="黑体"/>
                <a:cs typeface="黑体"/>
              </a:rPr>
              <a:t>来自大样本的</a:t>
            </a:r>
            <a:r>
              <a:rPr lang="zh-CN" altLang="zh-CN" sz="2800" b="1" dirty="0">
                <a:latin typeface="黑体"/>
                <a:ea typeface="黑体"/>
                <a:cs typeface="黑体"/>
              </a:rPr>
              <a:t>经验概括）</a:t>
            </a:r>
            <a:r>
              <a:rPr lang="zh-CN" altLang="zh-CN" sz="2800" b="1" dirty="0">
                <a:latin typeface="楷体"/>
                <a:ea typeface="楷体"/>
                <a:cs typeface="楷体"/>
              </a:rPr>
              <a:t>；</a:t>
            </a:r>
            <a:endParaRPr lang="en-US" altLang="zh-CN" sz="2800" b="1" dirty="0">
              <a:latin typeface="楷体"/>
              <a:ea typeface="楷体"/>
              <a:cs typeface="楷体"/>
            </a:endParaRPr>
          </a:p>
          <a:p>
            <a:r>
              <a:rPr lang="zh-CN" altLang="zh-CN" sz="2800" b="1" dirty="0" smtClean="0">
                <a:latin typeface="楷体"/>
                <a:ea typeface="楷体"/>
                <a:cs typeface="楷体"/>
              </a:rPr>
              <a:t>“某</a:t>
            </a:r>
            <a:r>
              <a:rPr lang="zh-CN" altLang="zh-CN" sz="2800" b="1" dirty="0">
                <a:latin typeface="楷体"/>
                <a:ea typeface="楷体"/>
                <a:cs typeface="楷体"/>
              </a:rPr>
              <a:t>被告</a:t>
            </a:r>
            <a:r>
              <a:rPr lang="zh-CN" altLang="zh-CN" sz="2800" b="1" dirty="0" smtClean="0">
                <a:latin typeface="楷体"/>
                <a:ea typeface="楷体"/>
                <a:cs typeface="楷体"/>
              </a:rPr>
              <a:t>的</a:t>
            </a:r>
            <a:r>
              <a:rPr lang="zh-CN" altLang="en-US" sz="2800" b="1" dirty="0" smtClean="0">
                <a:latin typeface="楷体"/>
                <a:ea typeface="楷体"/>
                <a:cs typeface="楷体"/>
              </a:rPr>
              <a:t>行为是</a:t>
            </a:r>
            <a:r>
              <a:rPr lang="zh-CN" altLang="zh-CN" sz="2800" b="1" dirty="0" smtClean="0">
                <a:latin typeface="楷体"/>
                <a:ea typeface="楷体"/>
                <a:cs typeface="楷体"/>
              </a:rPr>
              <a:t>发生</a:t>
            </a:r>
            <a:r>
              <a:rPr lang="zh-CN" altLang="zh-CN" sz="2800" b="1" dirty="0">
                <a:latin typeface="楷体"/>
                <a:ea typeface="楷体"/>
                <a:cs typeface="楷体"/>
              </a:rPr>
              <a:t>在一定冲突背景</a:t>
            </a:r>
            <a:r>
              <a:rPr lang="zh-CN" altLang="zh-CN" sz="2800" b="1" dirty="0" smtClean="0">
                <a:latin typeface="楷体"/>
                <a:ea typeface="楷体"/>
                <a:cs typeface="楷体"/>
              </a:rPr>
              <a:t>中</a:t>
            </a:r>
            <a:r>
              <a:rPr lang="zh-CN" altLang="en-US" sz="2800" b="1" dirty="0" smtClean="0">
                <a:latin typeface="楷体"/>
                <a:ea typeface="楷体"/>
                <a:cs typeface="楷体"/>
              </a:rPr>
              <a:t>的</a:t>
            </a:r>
            <a:r>
              <a:rPr lang="zh-CN" altLang="zh-CN" sz="2800" b="1" dirty="0">
                <a:latin typeface="楷体"/>
                <a:ea typeface="楷体"/>
                <a:cs typeface="楷体"/>
              </a:rPr>
              <a:t>暴力当场取财行为”</a:t>
            </a:r>
            <a:r>
              <a:rPr lang="zh-CN" altLang="zh-CN" sz="2800" b="1" dirty="0" smtClean="0">
                <a:latin typeface="黑体"/>
                <a:ea typeface="黑体"/>
                <a:cs typeface="黑体"/>
              </a:rPr>
              <a:t>（</a:t>
            </a:r>
            <a:r>
              <a:rPr lang="zh-CN" altLang="en-US" sz="2800" b="1" dirty="0" smtClean="0">
                <a:latin typeface="黑体"/>
                <a:ea typeface="黑体"/>
                <a:cs typeface="黑体"/>
              </a:rPr>
              <a:t>与经验概括相关的</a:t>
            </a:r>
            <a:r>
              <a:rPr lang="zh-CN" altLang="zh-CN" sz="2800" b="1" dirty="0" smtClean="0">
                <a:latin typeface="黑体"/>
                <a:ea typeface="黑体"/>
                <a:cs typeface="黑体"/>
              </a:rPr>
              <a:t>小</a:t>
            </a:r>
            <a:r>
              <a:rPr lang="zh-CN" altLang="zh-CN" sz="2800" b="1" dirty="0">
                <a:latin typeface="黑体"/>
                <a:ea typeface="黑体"/>
                <a:cs typeface="黑体"/>
              </a:rPr>
              <a:t>前提）</a:t>
            </a:r>
            <a:r>
              <a:rPr lang="zh-CN" altLang="zh-CN" sz="2800" b="1" dirty="0">
                <a:latin typeface="楷体"/>
                <a:ea typeface="楷体"/>
                <a:cs typeface="楷体"/>
              </a:rPr>
              <a:t>；</a:t>
            </a:r>
            <a:endParaRPr lang="en-US" altLang="zh-CN" sz="2800" b="1" dirty="0">
              <a:latin typeface="楷体"/>
              <a:ea typeface="楷体"/>
              <a:cs typeface="楷体"/>
            </a:endParaRPr>
          </a:p>
          <a:p>
            <a:r>
              <a:rPr lang="zh-CN" altLang="zh-CN" sz="2800" b="1" dirty="0">
                <a:latin typeface="楷体"/>
                <a:ea typeface="楷体"/>
                <a:cs typeface="楷体"/>
              </a:rPr>
              <a:t>“所以，该被告的行为</a:t>
            </a:r>
            <a:r>
              <a:rPr lang="zh-CN" altLang="en-US" sz="2800" b="1" dirty="0" smtClean="0">
                <a:latin typeface="楷体"/>
                <a:ea typeface="楷体"/>
                <a:cs typeface="楷体"/>
              </a:rPr>
              <a:t>（很可能）</a:t>
            </a:r>
            <a:r>
              <a:rPr lang="zh-CN" altLang="zh-CN" sz="2800" b="1" dirty="0">
                <a:latin typeface="楷体"/>
                <a:ea typeface="楷体"/>
                <a:cs typeface="楷体"/>
              </a:rPr>
              <a:t>不是抢劫罪”</a:t>
            </a:r>
            <a:r>
              <a:rPr lang="zh-CN" altLang="zh-CN" sz="2800" b="1" dirty="0">
                <a:latin typeface="黑体"/>
                <a:ea typeface="黑体"/>
                <a:cs typeface="黑体"/>
              </a:rPr>
              <a:t>（结论）</a:t>
            </a:r>
            <a:r>
              <a:rPr lang="zh-CN" altLang="zh-CN" sz="2800" b="1" dirty="0" smtClean="0">
                <a:latin typeface="楷体"/>
                <a:ea typeface="楷体"/>
                <a:cs typeface="楷体"/>
              </a:rPr>
              <a:t>。</a:t>
            </a:r>
            <a:endParaRPr lang="en-US" altLang="zh-CN" sz="2800" b="1" dirty="0">
              <a:solidFill>
                <a:srgbClr val="FF0000"/>
              </a:solidFill>
              <a:latin typeface="黑体"/>
              <a:ea typeface="黑体"/>
              <a:cs typeface="黑体"/>
            </a:endParaRPr>
          </a:p>
          <a:p>
            <a:endParaRPr lang="zh-CN" altLang="zh-CN" sz="2800" dirty="0">
              <a:latin typeface="宋体"/>
              <a:ea typeface="宋体"/>
              <a:cs typeface="宋体"/>
            </a:endParaRPr>
          </a:p>
          <a:p>
            <a:endParaRPr lang="zh-CN" altLang="en-US" sz="2800" dirty="0">
              <a:latin typeface="宋体"/>
              <a:ea typeface="宋体"/>
              <a:cs typeface="宋体"/>
            </a:endParaRPr>
          </a:p>
        </p:txBody>
      </p:sp>
    </p:spTree>
    <p:extLst>
      <p:ext uri="{BB962C8B-B14F-4D97-AF65-F5344CB8AC3E}">
        <p14:creationId xmlns:p14="http://schemas.microsoft.com/office/powerpoint/2010/main" val="2029123316"/>
      </p:ext>
    </p:extLst>
  </p:cSld>
  <p:clrMapOvr>
    <a:masterClrMapping/>
  </p:clrMapOvr>
  <p:transition>
    <p:fade/>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188640"/>
            <a:ext cx="8352927" cy="648072"/>
          </a:xfrm>
        </p:spPr>
        <p:txBody>
          <a:bodyPr/>
          <a:lstStyle/>
          <a:p>
            <a:pPr algn="ctr"/>
            <a:r>
              <a:rPr lang="zh-CN" altLang="en-US" b="1" dirty="0" smtClean="0">
                <a:solidFill>
                  <a:schemeClr val="tx1"/>
                </a:solidFill>
                <a:latin typeface="黑体"/>
                <a:ea typeface="黑体"/>
                <a:cs typeface="黑体"/>
              </a:rPr>
              <a:t>法的“经验定义”：</a:t>
            </a:r>
            <a:r>
              <a:rPr lang="zh-CN" altLang="zh-CN" sz="2000" b="1" dirty="0" smtClean="0">
                <a:solidFill>
                  <a:schemeClr val="tx1"/>
                </a:solidFill>
                <a:latin typeface="黑体"/>
                <a:ea typeface="黑体"/>
                <a:cs typeface="黑体"/>
              </a:rPr>
              <a:t>类型化</a:t>
            </a:r>
            <a:r>
              <a:rPr lang="zh-CN" altLang="zh-CN" sz="2000" b="1" dirty="0">
                <a:solidFill>
                  <a:schemeClr val="tx1"/>
                </a:solidFill>
                <a:latin typeface="黑体"/>
                <a:ea typeface="黑体"/>
                <a:cs typeface="黑体"/>
              </a:rPr>
              <a:t>案件事实</a:t>
            </a:r>
            <a:r>
              <a:rPr lang="zh-CN" altLang="en-US" sz="2000" b="1" dirty="0">
                <a:solidFill>
                  <a:schemeClr val="tx1"/>
                </a:solidFill>
                <a:latin typeface="黑体"/>
                <a:ea typeface="黑体"/>
                <a:cs typeface="黑体"/>
              </a:rPr>
              <a:t>法律</a:t>
            </a:r>
            <a:r>
              <a:rPr lang="zh-CN" altLang="zh-CN" sz="2000" b="1" dirty="0">
                <a:solidFill>
                  <a:schemeClr val="tx1"/>
                </a:solidFill>
                <a:latin typeface="黑体"/>
                <a:ea typeface="黑体"/>
                <a:cs typeface="黑体"/>
              </a:rPr>
              <a:t>性质的否定性特称判断。</a:t>
            </a:r>
            <a:endParaRPr kumimoji="1" lang="zh-CN" altLang="en-US" sz="2000" dirty="0">
              <a:solidFill>
                <a:schemeClr val="tx1"/>
              </a:solidFill>
            </a:endParaRPr>
          </a:p>
        </p:txBody>
      </p:sp>
      <p:sp>
        <p:nvSpPr>
          <p:cNvPr id="3" name="内容占位符 2"/>
          <p:cNvSpPr>
            <a:spLocks noGrp="1"/>
          </p:cNvSpPr>
          <p:nvPr>
            <p:ph idx="1"/>
          </p:nvPr>
        </p:nvSpPr>
        <p:spPr>
          <a:xfrm>
            <a:off x="395536" y="836712"/>
            <a:ext cx="8496944" cy="5544616"/>
          </a:xfrm>
        </p:spPr>
        <p:txBody>
          <a:bodyPr/>
          <a:lstStyle/>
          <a:p>
            <a:r>
              <a:rPr lang="zh-CN" altLang="en-US" b="1" dirty="0">
                <a:latin typeface="黑体"/>
                <a:ea typeface="黑体"/>
                <a:cs typeface="黑体"/>
              </a:rPr>
              <a:t>首先</a:t>
            </a:r>
            <a:r>
              <a:rPr lang="zh-CN" altLang="en-US" b="1" dirty="0" smtClean="0">
                <a:latin typeface="黑体"/>
                <a:ea typeface="黑体"/>
                <a:cs typeface="黑体"/>
              </a:rPr>
              <a:t>，</a:t>
            </a:r>
            <a:r>
              <a:rPr lang="zh-CN" altLang="zh-CN" b="1" dirty="0" smtClean="0">
                <a:latin typeface="黑体"/>
                <a:ea typeface="黑体"/>
                <a:cs typeface="黑体"/>
              </a:rPr>
              <a:t>经验概括位于</a:t>
            </a:r>
            <a:r>
              <a:rPr lang="zh-CN" altLang="zh-CN" b="1" dirty="0">
                <a:latin typeface="黑体"/>
                <a:ea typeface="黑体"/>
                <a:cs typeface="黑体"/>
              </a:rPr>
              <a:t>三段</a:t>
            </a:r>
            <a:r>
              <a:rPr lang="zh-CN" altLang="zh-CN" b="1" dirty="0" smtClean="0">
                <a:latin typeface="黑体"/>
                <a:ea typeface="黑体"/>
                <a:cs typeface="黑体"/>
              </a:rPr>
              <a:t>论的大小</a:t>
            </a:r>
            <a:r>
              <a:rPr lang="zh-CN" altLang="zh-CN" b="1" dirty="0">
                <a:latin typeface="黑体"/>
                <a:ea typeface="黑体"/>
                <a:cs typeface="黑体"/>
              </a:rPr>
              <a:t>前提之间。</a:t>
            </a:r>
            <a:endParaRPr lang="en-US" altLang="zh-CN" b="1" dirty="0">
              <a:latin typeface="黑体"/>
              <a:ea typeface="黑体"/>
              <a:cs typeface="黑体"/>
            </a:endParaRPr>
          </a:p>
          <a:p>
            <a:r>
              <a:rPr lang="zh-CN" altLang="en-US" dirty="0" smtClean="0">
                <a:latin typeface="宋体"/>
                <a:ea typeface="宋体"/>
                <a:cs typeface="宋体"/>
              </a:rPr>
              <a:t>对小前提加以限制，让</a:t>
            </a:r>
            <a:r>
              <a:rPr lang="zh-CN" altLang="zh-CN" dirty="0" smtClean="0">
                <a:latin typeface="宋体"/>
                <a:ea typeface="宋体"/>
                <a:cs typeface="宋体"/>
              </a:rPr>
              <a:t>事实与规范</a:t>
            </a:r>
            <a:r>
              <a:rPr lang="zh-CN" altLang="zh-CN" dirty="0">
                <a:latin typeface="宋体"/>
                <a:ea typeface="宋体"/>
                <a:cs typeface="宋体"/>
              </a:rPr>
              <a:t>之间的</a:t>
            </a:r>
            <a:r>
              <a:rPr lang="zh-CN" altLang="zh-CN" dirty="0" smtClean="0">
                <a:latin typeface="宋体"/>
                <a:ea typeface="宋体"/>
                <a:cs typeface="宋体"/>
              </a:rPr>
              <a:t>联系更加</a:t>
            </a:r>
            <a:r>
              <a:rPr lang="zh-CN" altLang="zh-CN" dirty="0">
                <a:latin typeface="宋体"/>
                <a:ea typeface="宋体"/>
                <a:cs typeface="宋体"/>
              </a:rPr>
              <a:t>确定</a:t>
            </a:r>
            <a:r>
              <a:rPr lang="zh-CN" altLang="zh-CN" dirty="0" smtClean="0">
                <a:latin typeface="宋体"/>
                <a:ea typeface="宋体"/>
                <a:cs typeface="宋体"/>
              </a:rPr>
              <a:t>。</a:t>
            </a:r>
            <a:endParaRPr lang="en-US" altLang="zh-CN" dirty="0" smtClean="0">
              <a:latin typeface="宋体"/>
              <a:ea typeface="宋体"/>
              <a:cs typeface="宋体"/>
            </a:endParaRPr>
          </a:p>
          <a:p>
            <a:r>
              <a:rPr kumimoji="1" lang="zh-CN" altLang="en-US" b="1" dirty="0" smtClean="0">
                <a:latin typeface="黑体"/>
                <a:ea typeface="黑体"/>
                <a:cs typeface="黑体"/>
              </a:rPr>
              <a:t>其次</a:t>
            </a:r>
            <a:r>
              <a:rPr kumimoji="1" lang="zh-CN" altLang="en-US" b="1" dirty="0">
                <a:latin typeface="黑体"/>
                <a:ea typeface="黑体"/>
                <a:cs typeface="黑体"/>
              </a:rPr>
              <a:t>，经验概括是否定性特称</a:t>
            </a:r>
            <a:r>
              <a:rPr kumimoji="1" lang="zh-CN" altLang="en-US" b="1" dirty="0" smtClean="0">
                <a:latin typeface="黑体"/>
                <a:ea typeface="黑体"/>
                <a:cs typeface="黑体"/>
              </a:rPr>
              <a:t>判断。</a:t>
            </a:r>
            <a:endParaRPr kumimoji="1" lang="en-US" altLang="zh-CN" b="1" dirty="0" smtClean="0">
              <a:latin typeface="黑体"/>
              <a:ea typeface="黑体"/>
              <a:cs typeface="黑体"/>
            </a:endParaRPr>
          </a:p>
          <a:p>
            <a:r>
              <a:rPr lang="zh-CN" altLang="zh-CN" dirty="0" smtClean="0">
                <a:latin typeface="宋体"/>
                <a:ea typeface="宋体"/>
                <a:cs typeface="宋体"/>
              </a:rPr>
              <a:t>“</a:t>
            </a:r>
            <a:r>
              <a:rPr lang="en-US" altLang="zh-CN" dirty="0" smtClean="0">
                <a:latin typeface="宋体"/>
                <a:ea typeface="宋体"/>
                <a:cs typeface="宋体"/>
              </a:rPr>
              <a:t>……</a:t>
            </a:r>
            <a:r>
              <a:rPr lang="zh-CN" altLang="zh-CN" dirty="0" smtClean="0">
                <a:latin typeface="宋体"/>
                <a:ea typeface="宋体"/>
                <a:cs typeface="宋体"/>
              </a:rPr>
              <a:t>行为</a:t>
            </a:r>
            <a:r>
              <a:rPr lang="zh-CN" altLang="zh-CN" i="1" u="sng" dirty="0">
                <a:latin typeface="Lantinghei SC Demibold" charset="-122"/>
                <a:ea typeface="Lantinghei SC Demibold" charset="-122"/>
                <a:cs typeface="Lantinghei SC Demibold" charset="-122"/>
              </a:rPr>
              <a:t>不是</a:t>
            </a:r>
            <a:r>
              <a:rPr lang="zh-CN" altLang="zh-CN" dirty="0">
                <a:latin typeface="宋体"/>
                <a:ea typeface="宋体"/>
                <a:cs typeface="宋体"/>
              </a:rPr>
              <a:t>抢劫罪</a:t>
            </a:r>
            <a:r>
              <a:rPr lang="zh-CN" altLang="zh-CN" dirty="0" smtClean="0">
                <a:latin typeface="宋体"/>
                <a:ea typeface="宋体"/>
                <a:cs typeface="宋体"/>
              </a:rPr>
              <a:t>”</a:t>
            </a:r>
            <a:r>
              <a:rPr lang="en-US" altLang="zh-CN" dirty="0" smtClean="0">
                <a:latin typeface="宋体"/>
                <a:ea typeface="宋体"/>
                <a:cs typeface="宋体"/>
              </a:rPr>
              <a:t>——</a:t>
            </a:r>
            <a:r>
              <a:rPr lang="zh-CN" altLang="en-US" dirty="0">
                <a:solidFill>
                  <a:srgbClr val="FF0000"/>
                </a:solidFill>
                <a:latin typeface="Lantinghei SC Demibold" charset="-122"/>
                <a:ea typeface="Lantinghei SC Demibold" charset="-122"/>
                <a:cs typeface="Lantinghei SC Demibold" charset="-122"/>
              </a:rPr>
              <a:t>“小但书</a:t>
            </a:r>
            <a:r>
              <a:rPr lang="zh-CN" altLang="en-US" dirty="0" smtClean="0">
                <a:solidFill>
                  <a:srgbClr val="FF0000"/>
                </a:solidFill>
                <a:latin typeface="Lantinghei SC Demibold" charset="-122"/>
                <a:ea typeface="Lantinghei SC Demibold" charset="-122"/>
                <a:cs typeface="Lantinghei SC Demibold" charset="-122"/>
              </a:rPr>
              <a:t>”</a:t>
            </a:r>
            <a:r>
              <a:rPr lang="zh-CN" altLang="en-US" dirty="0">
                <a:latin typeface="宋体"/>
                <a:ea typeface="宋体"/>
                <a:cs typeface="宋体"/>
              </a:rPr>
              <a:t>（</a:t>
            </a:r>
            <a:r>
              <a:rPr lang="zh-CN" altLang="en-US" dirty="0" smtClean="0">
                <a:latin typeface="宋体"/>
                <a:ea typeface="宋体"/>
                <a:cs typeface="宋体"/>
              </a:rPr>
              <a:t>相对无罪）。</a:t>
            </a:r>
            <a:endParaRPr kumimoji="1" lang="zh-CN" altLang="en-US" dirty="0">
              <a:latin typeface="宋体"/>
              <a:ea typeface="宋体"/>
              <a:cs typeface="宋体"/>
            </a:endParaRPr>
          </a:p>
          <a:p>
            <a:r>
              <a:rPr kumimoji="1" lang="zh-CN" altLang="en-US" dirty="0">
                <a:latin typeface="黑体"/>
                <a:ea typeface="黑体"/>
                <a:cs typeface="黑体"/>
              </a:rPr>
              <a:t>第三，经验概括是特称</a:t>
            </a:r>
            <a:r>
              <a:rPr kumimoji="1" lang="zh-CN" altLang="en-US" dirty="0" smtClean="0">
                <a:latin typeface="黑体"/>
                <a:ea typeface="黑体"/>
                <a:cs typeface="黑体"/>
              </a:rPr>
              <a:t>判断</a:t>
            </a:r>
            <a:r>
              <a:rPr kumimoji="1" lang="zh-CN" altLang="en-US" dirty="0">
                <a:latin typeface="黑体"/>
                <a:ea typeface="黑体"/>
                <a:cs typeface="黑体"/>
              </a:rPr>
              <a:t>：</a:t>
            </a:r>
            <a:r>
              <a:rPr lang="zh-CN" altLang="en-US" dirty="0" smtClean="0">
                <a:latin typeface="宋体"/>
                <a:ea typeface="宋体"/>
                <a:cs typeface="宋体"/>
              </a:rPr>
              <a:t>不</a:t>
            </a:r>
            <a:r>
              <a:rPr lang="zh-CN" altLang="en-US" dirty="0">
                <a:latin typeface="宋体"/>
                <a:ea typeface="宋体"/>
                <a:cs typeface="宋体"/>
              </a:rPr>
              <a:t>是“</a:t>
            </a:r>
            <a:r>
              <a:rPr lang="zh-CN" altLang="en-US" dirty="0" smtClean="0">
                <a:latin typeface="宋体"/>
                <a:ea typeface="宋体"/>
                <a:cs typeface="宋体"/>
              </a:rPr>
              <a:t>所有”</a:t>
            </a:r>
            <a:r>
              <a:rPr lang="zh-CN" altLang="en-US" dirty="0">
                <a:latin typeface="宋体"/>
                <a:ea typeface="宋体"/>
                <a:cs typeface="宋体"/>
              </a:rPr>
              <a:t>，而是“</a:t>
            </a:r>
            <a:r>
              <a:rPr lang="zh-CN" altLang="en-US" dirty="0" smtClean="0">
                <a:latin typeface="宋体"/>
                <a:ea typeface="宋体"/>
                <a:cs typeface="宋体"/>
              </a:rPr>
              <a:t>许多”</a:t>
            </a:r>
            <a:endParaRPr lang="en-US" altLang="zh-CN" dirty="0">
              <a:latin typeface="宋体"/>
              <a:ea typeface="宋体"/>
              <a:cs typeface="宋体"/>
            </a:endParaRPr>
          </a:p>
          <a:p>
            <a:r>
              <a:rPr lang="zh-CN" altLang="zh-CN" dirty="0" smtClean="0">
                <a:latin typeface="宋体"/>
                <a:ea typeface="宋体"/>
                <a:cs typeface="宋体"/>
              </a:rPr>
              <a:t>样本</a:t>
            </a:r>
            <a:r>
              <a:rPr lang="zh-CN" altLang="zh-CN" dirty="0">
                <a:latin typeface="宋体"/>
                <a:ea typeface="宋体"/>
                <a:cs typeface="宋体"/>
              </a:rPr>
              <a:t>越大，在司法实践中越具有普遍性，借助这种经验之知对具体案件作出判断时，所冒的犯错误的风险就越小。</a:t>
            </a:r>
            <a:endParaRPr lang="en-US" altLang="zh-CN" dirty="0">
              <a:latin typeface="宋体"/>
              <a:ea typeface="宋体"/>
              <a:cs typeface="宋体"/>
            </a:endParaRPr>
          </a:p>
          <a:p>
            <a:r>
              <a:rPr lang="zh-CN" altLang="zh-CN" dirty="0" smtClean="0">
                <a:latin typeface="宋体"/>
                <a:ea typeface="宋体"/>
                <a:cs typeface="宋体"/>
              </a:rPr>
              <a:t>三</a:t>
            </a:r>
            <a:r>
              <a:rPr lang="zh-CN" altLang="zh-CN" dirty="0">
                <a:latin typeface="宋体"/>
                <a:ea typeface="宋体"/>
                <a:cs typeface="宋体"/>
              </a:rPr>
              <a:t>段论</a:t>
            </a:r>
            <a:r>
              <a:rPr lang="zh-CN" altLang="en-US" dirty="0">
                <a:latin typeface="宋体"/>
                <a:ea typeface="宋体"/>
                <a:cs typeface="宋体"/>
              </a:rPr>
              <a:t>的</a:t>
            </a:r>
            <a:r>
              <a:rPr lang="zh-CN" altLang="zh-CN" dirty="0">
                <a:latin typeface="宋体"/>
                <a:ea typeface="宋体"/>
                <a:cs typeface="宋体"/>
              </a:rPr>
              <a:t>大前提是被人们事先放进一些东西的</a:t>
            </a:r>
            <a:r>
              <a:rPr lang="zh-CN" altLang="zh-CN" sz="2800" dirty="0">
                <a:solidFill>
                  <a:srgbClr val="FF0000"/>
                </a:solidFill>
                <a:latin typeface="Lantinghei SC Demibold" charset="-122"/>
                <a:ea typeface="Lantinghei SC Demibold" charset="-122"/>
                <a:cs typeface="Lantinghei SC Demibold" charset="-122"/>
              </a:rPr>
              <a:t>盒子</a:t>
            </a:r>
            <a:r>
              <a:rPr lang="zh-CN" altLang="zh-CN" dirty="0" smtClean="0">
                <a:latin typeface="宋体"/>
                <a:ea typeface="宋体"/>
                <a:cs typeface="宋体"/>
              </a:rPr>
              <a:t>，</a:t>
            </a:r>
            <a:r>
              <a:rPr lang="zh-CN" altLang="en-US" dirty="0" smtClean="0">
                <a:latin typeface="宋体"/>
                <a:ea typeface="宋体"/>
                <a:cs typeface="宋体"/>
              </a:rPr>
              <a:t>法律解释实际上是在</a:t>
            </a:r>
            <a:r>
              <a:rPr lang="zh-CN" altLang="zh-CN" dirty="0" smtClean="0">
                <a:latin typeface="宋体"/>
                <a:ea typeface="宋体"/>
                <a:cs typeface="宋体"/>
              </a:rPr>
              <a:t>“</a:t>
            </a:r>
            <a:r>
              <a:rPr lang="zh-CN" altLang="zh-CN" dirty="0">
                <a:latin typeface="宋体"/>
                <a:ea typeface="宋体"/>
                <a:cs typeface="宋体"/>
              </a:rPr>
              <a:t>猜”盒子里曾</a:t>
            </a:r>
            <a:r>
              <a:rPr lang="zh-CN" altLang="zh-CN" dirty="0" smtClean="0">
                <a:latin typeface="宋体"/>
                <a:ea typeface="宋体"/>
                <a:cs typeface="宋体"/>
              </a:rPr>
              <a:t>经装</a:t>
            </a:r>
            <a:r>
              <a:rPr lang="zh-CN" altLang="en-US" dirty="0" smtClean="0">
                <a:latin typeface="宋体"/>
                <a:ea typeface="宋体"/>
                <a:cs typeface="宋体"/>
              </a:rPr>
              <a:t>有</a:t>
            </a:r>
            <a:r>
              <a:rPr lang="zh-CN" altLang="zh-CN" dirty="0" smtClean="0">
                <a:latin typeface="宋体"/>
                <a:ea typeface="宋体"/>
                <a:cs typeface="宋体"/>
              </a:rPr>
              <a:t>什么</a:t>
            </a:r>
            <a:r>
              <a:rPr lang="en-US" altLang="zh-CN" dirty="0">
                <a:latin typeface="宋体"/>
                <a:ea typeface="宋体"/>
                <a:cs typeface="宋体"/>
              </a:rPr>
              <a:t>。</a:t>
            </a:r>
          </a:p>
          <a:p>
            <a:r>
              <a:rPr lang="zh-CN" altLang="zh-CN" dirty="0">
                <a:latin typeface="宋体"/>
                <a:ea typeface="宋体"/>
                <a:cs typeface="宋体"/>
              </a:rPr>
              <a:t>经验</a:t>
            </a:r>
            <a:r>
              <a:rPr lang="zh-CN" altLang="en-US" dirty="0">
                <a:latin typeface="宋体"/>
                <a:ea typeface="宋体"/>
                <a:cs typeface="宋体"/>
              </a:rPr>
              <a:t>定义</a:t>
            </a:r>
            <a:r>
              <a:rPr lang="zh-CN" altLang="zh-CN" dirty="0" smtClean="0">
                <a:latin typeface="宋体"/>
                <a:ea typeface="宋体"/>
                <a:cs typeface="宋体"/>
              </a:rPr>
              <a:t>不能</a:t>
            </a:r>
            <a:r>
              <a:rPr lang="zh-CN" altLang="en-US" dirty="0" smtClean="0">
                <a:latin typeface="宋体"/>
                <a:ea typeface="宋体"/>
                <a:cs typeface="宋体"/>
              </a:rPr>
              <a:t>告诉人们，盒子里肯定有什么。</a:t>
            </a:r>
            <a:endParaRPr lang="en-US" altLang="zh-CN" dirty="0">
              <a:latin typeface="宋体"/>
              <a:ea typeface="宋体"/>
              <a:cs typeface="宋体"/>
            </a:endParaRPr>
          </a:p>
          <a:p>
            <a:r>
              <a:rPr lang="zh-CN" altLang="zh-CN" sz="2800" b="1" dirty="0">
                <a:latin typeface="黑体"/>
                <a:ea typeface="黑体"/>
                <a:cs typeface="黑体"/>
              </a:rPr>
              <a:t>至少</a:t>
            </a:r>
            <a:r>
              <a:rPr lang="zh-CN" altLang="zh-CN" sz="2800" b="1" dirty="0" smtClean="0">
                <a:latin typeface="黑体"/>
                <a:ea typeface="黑体"/>
                <a:cs typeface="黑体"/>
              </a:rPr>
              <a:t>可以</a:t>
            </a:r>
            <a:r>
              <a:rPr lang="zh-CN" altLang="en-US" sz="2800" b="1" dirty="0" smtClean="0">
                <a:latin typeface="黑体"/>
                <a:ea typeface="黑体"/>
                <a:cs typeface="黑体"/>
              </a:rPr>
              <a:t>通过归纳大量的</a:t>
            </a:r>
            <a:r>
              <a:rPr lang="zh-CN" altLang="en-US" sz="2800" b="1" dirty="0" smtClean="0">
                <a:solidFill>
                  <a:srgbClr val="FF0000"/>
                </a:solidFill>
                <a:latin typeface="黑体"/>
                <a:ea typeface="黑体"/>
                <a:cs typeface="黑体"/>
              </a:rPr>
              <a:t>除刑实践</a:t>
            </a:r>
            <a:r>
              <a:rPr lang="zh-CN" altLang="zh-CN" sz="2800" b="1" dirty="0" smtClean="0">
                <a:latin typeface="黑体"/>
                <a:ea typeface="黑体"/>
                <a:cs typeface="黑体"/>
              </a:rPr>
              <a:t>告诉</a:t>
            </a:r>
            <a:r>
              <a:rPr lang="zh-CN" altLang="zh-CN" sz="2800" b="1" dirty="0">
                <a:latin typeface="黑体"/>
                <a:ea typeface="黑体"/>
                <a:cs typeface="黑体"/>
              </a:rPr>
              <a:t>人们，盒子里</a:t>
            </a:r>
            <a:r>
              <a:rPr lang="zh-CN" altLang="zh-CN" sz="2800" b="1" dirty="0" smtClean="0">
                <a:latin typeface="黑体"/>
                <a:ea typeface="黑体"/>
                <a:cs typeface="黑体"/>
              </a:rPr>
              <a:t>其实</a:t>
            </a:r>
            <a:r>
              <a:rPr lang="zh-CN" altLang="en-US" sz="2800" b="1" dirty="0" smtClean="0">
                <a:latin typeface="黑体"/>
                <a:ea typeface="黑体"/>
                <a:cs typeface="黑体"/>
              </a:rPr>
              <a:t>（很可能）</a:t>
            </a:r>
            <a:r>
              <a:rPr lang="zh-CN" altLang="zh-CN" sz="2800" b="1" dirty="0" smtClean="0">
                <a:latin typeface="黑体"/>
                <a:ea typeface="黑体"/>
                <a:cs typeface="黑体"/>
              </a:rPr>
              <a:t>没有什么</a:t>
            </a:r>
            <a:r>
              <a:rPr lang="zh-CN" altLang="en-US" sz="2800" b="1" dirty="0" smtClean="0">
                <a:latin typeface="黑体"/>
                <a:ea typeface="黑体"/>
                <a:cs typeface="黑体"/>
              </a:rPr>
              <a:t>。</a:t>
            </a:r>
            <a:endParaRPr lang="en-US" altLang="zh-CN" sz="2800" b="1" dirty="0" smtClean="0">
              <a:latin typeface="黑体"/>
              <a:ea typeface="黑体"/>
              <a:cs typeface="黑体"/>
            </a:endParaRPr>
          </a:p>
        </p:txBody>
      </p:sp>
    </p:spTree>
    <p:extLst>
      <p:ext uri="{BB962C8B-B14F-4D97-AF65-F5344CB8AC3E}">
        <p14:creationId xmlns:p14="http://schemas.microsoft.com/office/powerpoint/2010/main" val="1435257652"/>
      </p:ext>
    </p:extLst>
  </p:cSld>
  <p:clrMapOvr>
    <a:masterClrMapping/>
  </p:clrMapOvr>
  <p:transition>
    <p:fade/>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b="1" dirty="0" smtClean="0">
                <a:latin typeface="Lantinghei SC Demibold" charset="-122"/>
                <a:ea typeface="Lantinghei SC Demibold" charset="-122"/>
                <a:cs typeface="Lantinghei SC Demibold" charset="-122"/>
              </a:rPr>
              <a:t>什么是操纵市场罪？</a:t>
            </a:r>
            <a:endParaRPr lang="zh-CN" altLang="en-US" dirty="0">
              <a:latin typeface="Lantinghei SC Demibold" charset="-122"/>
              <a:ea typeface="Lantinghei SC Demibold" charset="-122"/>
              <a:cs typeface="Lantinghei SC Demibold" charset="-122"/>
            </a:endParaRPr>
          </a:p>
        </p:txBody>
      </p:sp>
      <p:sp>
        <p:nvSpPr>
          <p:cNvPr id="3" name="内容占位符 2"/>
          <p:cNvSpPr>
            <a:spLocks noGrp="1"/>
          </p:cNvSpPr>
          <p:nvPr>
            <p:ph sz="quarter" idx="1"/>
          </p:nvPr>
        </p:nvSpPr>
        <p:spPr>
          <a:xfrm>
            <a:off x="467544" y="836712"/>
            <a:ext cx="8229600" cy="5760640"/>
          </a:xfrm>
        </p:spPr>
        <p:txBody>
          <a:bodyPr/>
          <a:lstStyle/>
          <a:p>
            <a:r>
              <a:rPr lang="zh-CN" altLang="en-US" dirty="0" smtClean="0">
                <a:latin typeface="KaiTi" charset="-122"/>
                <a:ea typeface="KaiTi" charset="-122"/>
                <a:cs typeface="KaiTi" charset="-122"/>
              </a:rPr>
              <a:t>严峻在其住所通过“股神通”可视电话，破解了申银万国证券公司某营业部电子交易中心电话委托系统内</a:t>
            </a:r>
            <a:r>
              <a:rPr lang="en-US" altLang="zh-CN" dirty="0" smtClean="0">
                <a:latin typeface="KaiTi" charset="-122"/>
                <a:ea typeface="KaiTi" charset="-122"/>
                <a:cs typeface="KaiTi" charset="-122"/>
              </a:rPr>
              <a:t>77</a:t>
            </a:r>
            <a:r>
              <a:rPr lang="zh-CN" altLang="en-US" dirty="0" smtClean="0">
                <a:latin typeface="KaiTi" charset="-122"/>
                <a:ea typeface="KaiTi" charset="-122"/>
                <a:cs typeface="KaiTi" charset="-122"/>
              </a:rPr>
              <a:t>名客户的资金帐号及股票交易密码。</a:t>
            </a:r>
            <a:endParaRPr lang="en-US" altLang="zh-CN" dirty="0" smtClean="0">
              <a:latin typeface="KaiTi" charset="-122"/>
              <a:ea typeface="KaiTi" charset="-122"/>
              <a:cs typeface="KaiTi" charset="-122"/>
            </a:endParaRPr>
          </a:p>
          <a:p>
            <a:r>
              <a:rPr lang="zh-CN" altLang="en-US" dirty="0" smtClean="0">
                <a:latin typeface="KaiTi" charset="-122"/>
                <a:ea typeface="KaiTi" charset="-122"/>
                <a:cs typeface="KaiTi" charset="-122"/>
              </a:rPr>
              <a:t>同年</a:t>
            </a:r>
            <a:r>
              <a:rPr lang="en-US" altLang="zh-CN" dirty="0" smtClean="0">
                <a:latin typeface="KaiTi" charset="-122"/>
                <a:ea typeface="KaiTi" charset="-122"/>
                <a:cs typeface="KaiTi" charset="-122"/>
              </a:rPr>
              <a:t>6</a:t>
            </a:r>
            <a:r>
              <a:rPr lang="zh-CN" altLang="en-US" dirty="0" smtClean="0">
                <a:latin typeface="KaiTi" charset="-122"/>
                <a:ea typeface="KaiTi" charset="-122"/>
                <a:cs typeface="KaiTi" charset="-122"/>
              </a:rPr>
              <a:t>月</a:t>
            </a:r>
            <a:r>
              <a:rPr lang="en-US" altLang="zh-CN" dirty="0" smtClean="0">
                <a:latin typeface="KaiTi" charset="-122"/>
                <a:ea typeface="KaiTi" charset="-122"/>
                <a:cs typeface="KaiTi" charset="-122"/>
              </a:rPr>
              <a:t>5</a:t>
            </a:r>
            <a:r>
              <a:rPr lang="zh-CN" altLang="en-US" dirty="0" smtClean="0">
                <a:latin typeface="KaiTi" charset="-122"/>
                <a:ea typeface="KaiTi" charset="-122"/>
                <a:cs typeface="KaiTi" charset="-122"/>
              </a:rPr>
              <a:t>日至</a:t>
            </a:r>
            <a:r>
              <a:rPr lang="en-US" altLang="zh-CN" dirty="0" smtClean="0">
                <a:latin typeface="KaiTi" charset="-122"/>
                <a:ea typeface="KaiTi" charset="-122"/>
                <a:cs typeface="KaiTi" charset="-122"/>
              </a:rPr>
              <a:t>18</a:t>
            </a:r>
            <a:r>
              <a:rPr lang="zh-CN" altLang="en-US" dirty="0" smtClean="0">
                <a:latin typeface="KaiTi" charset="-122"/>
                <a:ea typeface="KaiTi" charset="-122"/>
                <a:cs typeface="KaiTi" charset="-122"/>
              </a:rPr>
              <a:t>日，严峻对设在上述证券营业部内的杨鑫顺等</a:t>
            </a:r>
            <a:r>
              <a:rPr lang="en-US" altLang="zh-CN" dirty="0" smtClean="0">
                <a:latin typeface="KaiTi" charset="-122"/>
                <a:ea typeface="KaiTi" charset="-122"/>
                <a:cs typeface="KaiTi" charset="-122"/>
              </a:rPr>
              <a:t>10</a:t>
            </a:r>
            <a:r>
              <a:rPr lang="zh-CN" altLang="en-US" dirty="0" smtClean="0">
                <a:latin typeface="KaiTi" charset="-122"/>
                <a:ea typeface="KaiTi" charset="-122"/>
                <a:cs typeface="KaiTi" charset="-122"/>
              </a:rPr>
              <a:t>名客户的股票帐户非法进行交易，造成他人损失计人民币</a:t>
            </a:r>
            <a:r>
              <a:rPr lang="en-US" altLang="zh-CN" dirty="0" smtClean="0">
                <a:latin typeface="KaiTi" charset="-122"/>
                <a:ea typeface="KaiTi" charset="-122"/>
                <a:cs typeface="KaiTi" charset="-122"/>
              </a:rPr>
              <a:t>13</a:t>
            </a:r>
            <a:r>
              <a:rPr lang="zh-CN" altLang="en-US" dirty="0" smtClean="0">
                <a:latin typeface="KaiTi" charset="-122"/>
                <a:ea typeface="KaiTi" charset="-122"/>
                <a:cs typeface="KaiTi" charset="-122"/>
              </a:rPr>
              <a:t>万余元。</a:t>
            </a:r>
            <a:endParaRPr lang="en-US" altLang="zh-CN" dirty="0" smtClean="0">
              <a:latin typeface="KaiTi" charset="-122"/>
              <a:ea typeface="KaiTi" charset="-122"/>
              <a:cs typeface="KaiTi" charset="-122"/>
            </a:endParaRPr>
          </a:p>
          <a:p>
            <a:endParaRPr lang="en-US" altLang="zh-CN" dirty="0" smtClean="0"/>
          </a:p>
          <a:p>
            <a:r>
              <a:rPr lang="zh-CN" altLang="en-US" dirty="0" smtClean="0">
                <a:latin typeface="Lantinghei SC Demibold" charset="-122"/>
                <a:ea typeface="Lantinghei SC Demibold" charset="-122"/>
                <a:cs typeface="Lantinghei SC Demibold" charset="-122"/>
              </a:rPr>
              <a:t>问题：非法进入他人股票账户进行人为操作，通过价格差价获利，是否构成操纵证券交易价格罪？</a:t>
            </a:r>
            <a:endParaRPr lang="en-US" altLang="zh-CN" dirty="0">
              <a:latin typeface="Lantinghei SC Demibold" charset="-122"/>
              <a:ea typeface="Lantinghei SC Demibold" charset="-122"/>
              <a:cs typeface="Lantinghei SC Demibold" charset="-122"/>
            </a:endParaRPr>
          </a:p>
          <a:p>
            <a:r>
              <a:rPr lang="zh-CN" altLang="en-US" dirty="0" smtClean="0"/>
              <a:t>检察院：指控操纵证券交易价格罪。同年</a:t>
            </a:r>
            <a:r>
              <a:rPr lang="en-US" altLang="zh-CN" dirty="0" smtClean="0"/>
              <a:t>7</a:t>
            </a:r>
            <a:r>
              <a:rPr lang="zh-CN" altLang="en-US" dirty="0" smtClean="0"/>
              <a:t>月</a:t>
            </a:r>
            <a:r>
              <a:rPr lang="en-US" altLang="zh-CN" dirty="0" smtClean="0"/>
              <a:t>21</a:t>
            </a:r>
            <a:r>
              <a:rPr lang="zh-CN" altLang="en-US" dirty="0" smtClean="0"/>
              <a:t>日因涉嫌犯破坏计算机信息系统罪被逮捕。</a:t>
            </a:r>
            <a:endParaRPr lang="en-US" altLang="zh-CN" dirty="0" smtClean="0"/>
          </a:p>
          <a:p>
            <a:r>
              <a:rPr lang="zh-CN" altLang="en-US" dirty="0" smtClean="0"/>
              <a:t>法院：以故意毁坏财物罪被起诉和定罪。</a:t>
            </a:r>
            <a:endParaRPr lang="zh-CN" altLang="en-US" dirty="0"/>
          </a:p>
        </p:txBody>
      </p:sp>
    </p:spTree>
    <p:extLst>
      <p:ext uri="{BB962C8B-B14F-4D97-AF65-F5344CB8AC3E}">
        <p14:creationId xmlns:p14="http://schemas.microsoft.com/office/powerpoint/2010/main" val="136055162"/>
      </p:ext>
    </p:extLst>
  </p:cSld>
  <p:clrMapOvr>
    <a:masterClrMapping/>
  </p:clrMapOvr>
  <p:transition>
    <p:fade/>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260648"/>
            <a:ext cx="7170737" cy="492125"/>
          </a:xfrm>
        </p:spPr>
        <p:txBody>
          <a:bodyPr/>
          <a:lstStyle/>
          <a:p>
            <a:pPr algn="ctr"/>
            <a:r>
              <a:rPr lang="zh-CN" altLang="en-US" b="1" dirty="0" smtClean="0">
                <a:latin typeface="Lantinghei SC Demibold" charset="-122"/>
                <a:ea typeface="Lantinghei SC Demibold" charset="-122"/>
                <a:cs typeface="Lantinghei SC Demibold" charset="-122"/>
              </a:rPr>
              <a:t>钱炳良案</a:t>
            </a:r>
            <a:endParaRPr lang="zh-CN" altLang="en-US" dirty="0">
              <a:latin typeface="Lantinghei SC Demibold" charset="-122"/>
              <a:ea typeface="Lantinghei SC Demibold" charset="-122"/>
              <a:cs typeface="Lantinghei SC Demibold" charset="-122"/>
            </a:endParaRPr>
          </a:p>
        </p:txBody>
      </p:sp>
      <p:sp>
        <p:nvSpPr>
          <p:cNvPr id="3" name="内容占位符 2"/>
          <p:cNvSpPr>
            <a:spLocks noGrp="1"/>
          </p:cNvSpPr>
          <p:nvPr>
            <p:ph sz="quarter" idx="1"/>
          </p:nvPr>
        </p:nvSpPr>
        <p:spPr>
          <a:xfrm>
            <a:off x="467544" y="980728"/>
            <a:ext cx="8229600" cy="5328592"/>
          </a:xfrm>
        </p:spPr>
        <p:txBody>
          <a:bodyPr>
            <a:normAutofit/>
          </a:bodyPr>
          <a:lstStyle/>
          <a:p>
            <a:r>
              <a:rPr lang="zh-CN" altLang="en-US" dirty="0" smtClean="0">
                <a:latin typeface="KaiTi" charset="-122"/>
                <a:ea typeface="KaiTi" charset="-122"/>
                <a:cs typeface="KaiTi" charset="-122"/>
              </a:rPr>
              <a:t>被告人钱炳良在江阴营业部交易大厅，通过偷窥和推测的方法先后获得在该营业部开户的殷阿祥等</a:t>
            </a:r>
            <a:r>
              <a:rPr lang="en-US" altLang="zh-CN" dirty="0" smtClean="0">
                <a:latin typeface="KaiTi" charset="-122"/>
                <a:ea typeface="KaiTi" charset="-122"/>
                <a:cs typeface="KaiTi" charset="-122"/>
              </a:rPr>
              <a:t>16</a:t>
            </a:r>
            <a:r>
              <a:rPr lang="zh-CN" altLang="en-US" dirty="0" smtClean="0">
                <a:latin typeface="KaiTi" charset="-122"/>
                <a:ea typeface="KaiTi" charset="-122"/>
                <a:cs typeface="KaiTi" charset="-122"/>
              </a:rPr>
              <a:t>人的股票帐户帐号及交易密码。</a:t>
            </a:r>
            <a:endParaRPr lang="en-US" altLang="zh-CN" dirty="0" smtClean="0">
              <a:latin typeface="KaiTi" charset="-122"/>
              <a:ea typeface="KaiTi" charset="-122"/>
              <a:cs typeface="KaiTi" charset="-122"/>
            </a:endParaRPr>
          </a:p>
          <a:p>
            <a:r>
              <a:rPr lang="zh-CN" altLang="en-US" dirty="0" smtClean="0">
                <a:latin typeface="KaiTi" charset="-122"/>
                <a:ea typeface="KaiTi" charset="-122"/>
                <a:cs typeface="KaiTi" charset="-122"/>
              </a:rPr>
              <a:t>然后，利用电话或在证券公司的交易大厅内进行电脑操作等委托方式</a:t>
            </a:r>
            <a:r>
              <a:rPr lang="en-US" altLang="zh-CN" dirty="0">
                <a:latin typeface="KaiTi" charset="-122"/>
                <a:ea typeface="KaiTi" charset="-122"/>
                <a:cs typeface="KaiTi" charset="-122"/>
              </a:rPr>
              <a:t>，</a:t>
            </a:r>
            <a:r>
              <a:rPr lang="zh-CN" altLang="en-US" dirty="0" smtClean="0">
                <a:latin typeface="KaiTi" charset="-122"/>
                <a:ea typeface="KaiTi" charset="-122"/>
                <a:cs typeface="KaiTi" charset="-122"/>
              </a:rPr>
              <a:t>在</a:t>
            </a:r>
            <a:r>
              <a:rPr lang="en-US" altLang="zh-CN" dirty="0" smtClean="0">
                <a:latin typeface="KaiTi" charset="-122"/>
                <a:ea typeface="KaiTi" charset="-122"/>
                <a:cs typeface="KaiTi" charset="-122"/>
              </a:rPr>
              <a:t>16</a:t>
            </a:r>
            <a:r>
              <a:rPr lang="zh-CN" altLang="en-US" dirty="0" smtClean="0">
                <a:latin typeface="KaiTi" charset="-122"/>
                <a:ea typeface="KaiTi" charset="-122"/>
                <a:cs typeface="KaiTi" charset="-122"/>
              </a:rPr>
              <a:t>人的股票帐户上高买低卖某一股票。</a:t>
            </a:r>
            <a:endParaRPr lang="en-US" altLang="zh-CN" dirty="0" smtClean="0">
              <a:latin typeface="KaiTi" charset="-122"/>
              <a:ea typeface="KaiTi" charset="-122"/>
              <a:cs typeface="KaiTi" charset="-122"/>
            </a:endParaRPr>
          </a:p>
          <a:p>
            <a:r>
              <a:rPr lang="zh-CN" altLang="en-US" dirty="0" smtClean="0">
                <a:latin typeface="KaiTi" charset="-122"/>
                <a:ea typeface="KaiTi" charset="-122"/>
                <a:cs typeface="KaiTi" charset="-122"/>
              </a:rPr>
              <a:t>同时通过自己在江阴营业部开设的股票帐户上低买高卖同一股票</a:t>
            </a:r>
            <a:r>
              <a:rPr lang="zh-CN" altLang="zh-CN" dirty="0" smtClean="0">
                <a:latin typeface="KaiTi" charset="-122"/>
                <a:ea typeface="KaiTi" charset="-122"/>
                <a:cs typeface="KaiTi" charset="-122"/>
              </a:rPr>
              <a:t>，</a:t>
            </a:r>
            <a:r>
              <a:rPr lang="zh-CN" altLang="en-US" dirty="0" smtClean="0">
                <a:latin typeface="KaiTi" charset="-122"/>
                <a:ea typeface="KaiTi" charset="-122"/>
                <a:cs typeface="KaiTi" charset="-122"/>
              </a:rPr>
              <a:t>给被害人造成</a:t>
            </a:r>
            <a:r>
              <a:rPr lang="en-US" altLang="zh-CN" dirty="0" smtClean="0">
                <a:latin typeface="KaiTi" charset="-122"/>
                <a:ea typeface="KaiTi" charset="-122"/>
                <a:cs typeface="KaiTi" charset="-122"/>
              </a:rPr>
              <a:t>37</a:t>
            </a:r>
            <a:r>
              <a:rPr lang="zh-CN" altLang="en-US" dirty="0" smtClean="0">
                <a:latin typeface="KaiTi" charset="-122"/>
                <a:ea typeface="KaiTi" charset="-122"/>
                <a:cs typeface="KaiTi" charset="-122"/>
              </a:rPr>
              <a:t>．</a:t>
            </a:r>
            <a:r>
              <a:rPr lang="en-US" altLang="zh-CN" dirty="0" smtClean="0">
                <a:latin typeface="KaiTi" charset="-122"/>
                <a:ea typeface="KaiTi" charset="-122"/>
                <a:cs typeface="KaiTi" charset="-122"/>
              </a:rPr>
              <a:t>1</a:t>
            </a:r>
            <a:r>
              <a:rPr lang="zh-CN" altLang="en-US" dirty="0" smtClean="0">
                <a:latin typeface="KaiTi" charset="-122"/>
                <a:ea typeface="KaiTi" charset="-122"/>
                <a:cs typeface="KaiTi" charset="-122"/>
              </a:rPr>
              <a:t>万余元的损失，自己获取非法利润</a:t>
            </a:r>
            <a:r>
              <a:rPr lang="en-US" altLang="zh-CN" dirty="0" smtClean="0">
                <a:latin typeface="KaiTi" charset="-122"/>
                <a:ea typeface="KaiTi" charset="-122"/>
                <a:cs typeface="KaiTi" charset="-122"/>
              </a:rPr>
              <a:t>14</a:t>
            </a:r>
            <a:r>
              <a:rPr lang="zh-CN" altLang="en-US" dirty="0" smtClean="0">
                <a:latin typeface="KaiTi" charset="-122"/>
                <a:ea typeface="KaiTi" charset="-122"/>
                <a:cs typeface="KaiTi" charset="-122"/>
              </a:rPr>
              <a:t>．</a:t>
            </a:r>
            <a:r>
              <a:rPr lang="en-US" altLang="zh-CN" dirty="0" smtClean="0">
                <a:latin typeface="KaiTi" charset="-122"/>
                <a:ea typeface="KaiTi" charset="-122"/>
                <a:cs typeface="KaiTi" charset="-122"/>
              </a:rPr>
              <a:t>3</a:t>
            </a:r>
            <a:r>
              <a:rPr lang="zh-CN" altLang="en-US" dirty="0" smtClean="0">
                <a:latin typeface="KaiTi" charset="-122"/>
                <a:ea typeface="KaiTi" charset="-122"/>
                <a:cs typeface="KaiTi" charset="-122"/>
              </a:rPr>
              <a:t>万余元。</a:t>
            </a:r>
            <a:endParaRPr lang="en-US" altLang="zh-CN" dirty="0" smtClean="0">
              <a:latin typeface="KaiTi" charset="-122"/>
              <a:ea typeface="KaiTi" charset="-122"/>
              <a:cs typeface="KaiTi" charset="-122"/>
            </a:endParaRPr>
          </a:p>
          <a:p>
            <a:r>
              <a:rPr lang="zh-CN" altLang="en-US" dirty="0"/>
              <a:t>法院认为，钱炳良以非法占有为目的、盗用他人帐号和交易密码</a:t>
            </a:r>
            <a:r>
              <a:rPr lang="zh-CN" altLang="zh-CN" dirty="0"/>
              <a:t>，</a:t>
            </a:r>
            <a:r>
              <a:rPr lang="zh-CN" altLang="en-US" dirty="0"/>
              <a:t>采用在被害人帐户上高买低卖某一股票，同时在自己的帐户上低买高卖同一股票的方法改变财产的持有状态，将他人财产据为已有，钱炳良的主观故意和行为不符合操纵证券交易价格罪的构成要件，应当构成盗窃罪。</a:t>
            </a:r>
          </a:p>
          <a:p>
            <a:endParaRPr lang="en-US" altLang="zh-CN" dirty="0" smtClean="0"/>
          </a:p>
          <a:p>
            <a:endParaRPr lang="en-US" altLang="zh-CN" dirty="0" smtClean="0"/>
          </a:p>
        </p:txBody>
      </p:sp>
    </p:spTree>
    <p:extLst>
      <p:ext uri="{BB962C8B-B14F-4D97-AF65-F5344CB8AC3E}">
        <p14:creationId xmlns:p14="http://schemas.microsoft.com/office/powerpoint/2010/main" val="1756507326"/>
      </p:ext>
    </p:extLst>
  </p:cSld>
  <p:clrMapOvr>
    <a:masterClrMapping/>
  </p:clrMapOvr>
  <p:transition>
    <p:fade/>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latin typeface="Lantinghei SC Demibold" charset="-122"/>
                <a:ea typeface="Lantinghei SC Demibold" charset="-122"/>
                <a:cs typeface="Lantinghei SC Demibold" charset="-122"/>
              </a:rPr>
              <a:t>赵江波“期货精灵”案</a:t>
            </a:r>
            <a:endParaRPr lang="zh-CN" altLang="en-US" dirty="0">
              <a:latin typeface="Lantinghei SC Demibold" charset="-122"/>
              <a:ea typeface="Lantinghei SC Demibold" charset="-122"/>
              <a:cs typeface="Lantinghei SC Demibold" charset="-122"/>
            </a:endParaRPr>
          </a:p>
        </p:txBody>
      </p:sp>
      <p:sp>
        <p:nvSpPr>
          <p:cNvPr id="3" name="内容占位符 2"/>
          <p:cNvSpPr>
            <a:spLocks noGrp="1"/>
          </p:cNvSpPr>
          <p:nvPr>
            <p:ph sz="quarter" idx="1"/>
          </p:nvPr>
        </p:nvSpPr>
        <p:spPr/>
        <p:txBody>
          <a:bodyPr>
            <a:normAutofit lnSpcReduction="10000"/>
          </a:bodyPr>
          <a:lstStyle/>
          <a:p>
            <a:r>
              <a:rPr lang="zh-CN" altLang="en-US" dirty="0" smtClean="0">
                <a:latin typeface="KaiTi" charset="-122"/>
                <a:ea typeface="KaiTi" charset="-122"/>
                <a:cs typeface="KaiTi" charset="-122"/>
              </a:rPr>
              <a:t>赵江波设计出一套期货交易程序</a:t>
            </a:r>
            <a:r>
              <a:rPr lang="en-US" altLang="zh-CN" dirty="0" smtClean="0">
                <a:latin typeface="KaiTi" charset="-122"/>
                <a:ea typeface="KaiTi" charset="-122"/>
                <a:cs typeface="KaiTi" charset="-122"/>
              </a:rPr>
              <a:t>——“</a:t>
            </a:r>
            <a:r>
              <a:rPr lang="zh-CN" altLang="en-US" dirty="0" smtClean="0">
                <a:latin typeface="KaiTi" charset="-122"/>
                <a:ea typeface="KaiTi" charset="-122"/>
                <a:cs typeface="KaiTi" charset="-122"/>
              </a:rPr>
              <a:t>期货精灵”，并放到网上，供大家免费下载使用。但实际上，该程序可帮助赵江波窃取了用户的账户和密码。</a:t>
            </a:r>
            <a:endParaRPr lang="en-US" altLang="zh-CN" dirty="0" smtClean="0">
              <a:latin typeface="KaiTi" charset="-122"/>
              <a:ea typeface="KaiTi" charset="-122"/>
              <a:cs typeface="KaiTi" charset="-122"/>
            </a:endParaRPr>
          </a:p>
          <a:p>
            <a:r>
              <a:rPr lang="en-US" altLang="zh-CN" dirty="0" smtClean="0">
                <a:latin typeface="KaiTi" charset="-122"/>
                <a:ea typeface="KaiTi" charset="-122"/>
                <a:cs typeface="KaiTi" charset="-122"/>
              </a:rPr>
              <a:t>2003</a:t>
            </a:r>
            <a:r>
              <a:rPr lang="zh-CN" altLang="en-US" dirty="0" smtClean="0">
                <a:latin typeface="KaiTi" charset="-122"/>
                <a:ea typeface="KaiTi" charset="-122"/>
                <a:cs typeface="KaiTi" charset="-122"/>
              </a:rPr>
              <a:t>年</a:t>
            </a:r>
            <a:r>
              <a:rPr lang="en-US" altLang="zh-CN" dirty="0" smtClean="0">
                <a:latin typeface="KaiTi" charset="-122"/>
                <a:ea typeface="KaiTi" charset="-122"/>
                <a:cs typeface="KaiTi" charset="-122"/>
              </a:rPr>
              <a:t>2</a:t>
            </a:r>
            <a:r>
              <a:rPr lang="zh-CN" altLang="en-US" dirty="0" smtClean="0">
                <a:latin typeface="KaiTi" charset="-122"/>
                <a:ea typeface="KaiTi" charset="-122"/>
                <a:cs typeface="KaiTi" charset="-122"/>
              </a:rPr>
              <a:t>月</a:t>
            </a:r>
            <a:r>
              <a:rPr lang="en-US" altLang="zh-CN" dirty="0" smtClean="0">
                <a:latin typeface="KaiTi" charset="-122"/>
                <a:ea typeface="KaiTi" charset="-122"/>
                <a:cs typeface="KaiTi" charset="-122"/>
              </a:rPr>
              <a:t>14</a:t>
            </a:r>
            <a:r>
              <a:rPr lang="zh-CN" altLang="en-US" dirty="0" smtClean="0">
                <a:latin typeface="KaiTi" charset="-122"/>
                <a:ea typeface="KaiTi" charset="-122"/>
                <a:cs typeface="KaiTi" charset="-122"/>
              </a:rPr>
              <a:t>日，赵江波利用掌握的账户和密码操纵期货交易。赵江波用掌握的账户资金拉抬、打压天然橡胶</a:t>
            </a:r>
            <a:r>
              <a:rPr lang="en-US" altLang="zh-CN" dirty="0" smtClean="0">
                <a:latin typeface="KaiTi" charset="-122"/>
                <a:ea typeface="KaiTi" charset="-122"/>
                <a:cs typeface="KaiTi" charset="-122"/>
              </a:rPr>
              <a:t>10</a:t>
            </a:r>
            <a:r>
              <a:rPr lang="zh-CN" altLang="en-US" dirty="0" smtClean="0">
                <a:latin typeface="KaiTi" charset="-122"/>
                <a:ea typeface="KaiTi" charset="-122"/>
                <a:cs typeface="KaiTi" charset="-122"/>
              </a:rPr>
              <a:t>月合约价格，同时利用自己掌握的账户，根据价格变动方向高卖低买，并致使期货交易价格和交易量异常波动，一度使交易点数从</a:t>
            </a:r>
            <a:r>
              <a:rPr lang="en-US" altLang="zh-CN" dirty="0" smtClean="0">
                <a:latin typeface="KaiTi" charset="-122"/>
                <a:ea typeface="KaiTi" charset="-122"/>
                <a:cs typeface="KaiTi" charset="-122"/>
              </a:rPr>
              <a:t>11700</a:t>
            </a:r>
            <a:r>
              <a:rPr lang="zh-CN" altLang="en-US" dirty="0" smtClean="0">
                <a:latin typeface="KaiTi" charset="-122"/>
                <a:ea typeface="KaiTi" charset="-122"/>
                <a:cs typeface="KaiTi" charset="-122"/>
              </a:rPr>
              <a:t>点暴升至</a:t>
            </a:r>
            <a:r>
              <a:rPr lang="en-US" altLang="zh-CN" dirty="0" smtClean="0">
                <a:latin typeface="KaiTi" charset="-122"/>
                <a:ea typeface="KaiTi" charset="-122"/>
                <a:cs typeface="KaiTi" charset="-122"/>
              </a:rPr>
              <a:t>12980</a:t>
            </a:r>
            <a:r>
              <a:rPr lang="zh-CN" altLang="en-US" dirty="0" smtClean="0">
                <a:latin typeface="KaiTi" charset="-122"/>
                <a:ea typeface="KaiTi" charset="-122"/>
                <a:cs typeface="KaiTi" charset="-122"/>
              </a:rPr>
              <a:t>点。</a:t>
            </a:r>
            <a:endParaRPr lang="en-US" altLang="zh-CN" dirty="0" smtClean="0">
              <a:latin typeface="KaiTi" charset="-122"/>
              <a:ea typeface="KaiTi" charset="-122"/>
              <a:cs typeface="KaiTi" charset="-122"/>
            </a:endParaRPr>
          </a:p>
          <a:p>
            <a:r>
              <a:rPr lang="zh-CN" altLang="en-US" dirty="0" smtClean="0">
                <a:latin typeface="KaiTi" charset="-122"/>
                <a:ea typeface="KaiTi" charset="-122"/>
                <a:cs typeface="KaiTi" charset="-122"/>
              </a:rPr>
              <a:t>他三天时间做成多笔交易，并将获利的五万元“差价”打到他未来岳父的账户上。由于自己账上资金有限，赵江波反复操作也仅获利五万元，但几个大户却损失了三百余万元。</a:t>
            </a:r>
            <a:endParaRPr lang="en-US" altLang="zh-CN" dirty="0" smtClean="0">
              <a:latin typeface="KaiTi" charset="-122"/>
              <a:ea typeface="KaiTi" charset="-122"/>
              <a:cs typeface="KaiTi" charset="-122"/>
            </a:endParaRPr>
          </a:p>
          <a:p>
            <a:r>
              <a:rPr lang="zh-CN" altLang="en-US" dirty="0" smtClean="0"/>
              <a:t>以操纵证券期货交易价格罪被控，被判盗窃罪。</a:t>
            </a:r>
            <a:endParaRPr lang="zh-CN" altLang="en-US" dirty="0"/>
          </a:p>
        </p:txBody>
      </p:sp>
    </p:spTree>
    <p:extLst>
      <p:ext uri="{BB962C8B-B14F-4D97-AF65-F5344CB8AC3E}">
        <p14:creationId xmlns:p14="http://schemas.microsoft.com/office/powerpoint/2010/main" val="160932773"/>
      </p:ext>
    </p:extLst>
  </p:cSld>
  <p:clrMapOvr>
    <a:masterClrMapping/>
  </p:clrMapOvr>
  <p:transition>
    <p:fade/>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dirty="0" smtClean="0">
                <a:latin typeface="Lantinghei SC Demibold" charset="-122"/>
                <a:ea typeface="Lantinghei SC Demibold" charset="-122"/>
                <a:cs typeface="Lantinghei SC Demibold" charset="-122"/>
              </a:rPr>
              <a:t>归纳</a:t>
            </a:r>
            <a:endParaRPr kumimoji="1" lang="zh-CN" altLang="en-US" dirty="0">
              <a:latin typeface="Lantinghei SC Demibold" charset="-122"/>
              <a:ea typeface="Lantinghei SC Demibold" charset="-122"/>
              <a:cs typeface="Lantinghei SC Demibold" charset="-122"/>
            </a:endParaRPr>
          </a:p>
        </p:txBody>
      </p:sp>
      <p:sp>
        <p:nvSpPr>
          <p:cNvPr id="3" name="内容占位符 2"/>
          <p:cNvSpPr>
            <a:spLocks noGrp="1"/>
          </p:cNvSpPr>
          <p:nvPr>
            <p:ph idx="1"/>
          </p:nvPr>
        </p:nvSpPr>
        <p:spPr>
          <a:xfrm>
            <a:off x="457200" y="908720"/>
            <a:ext cx="8229600" cy="5616624"/>
          </a:xfrm>
        </p:spPr>
        <p:txBody>
          <a:bodyPr/>
          <a:lstStyle/>
          <a:p>
            <a:r>
              <a:rPr kumimoji="1" lang="zh-CN" altLang="en-US" sz="2800" dirty="0" smtClean="0">
                <a:latin typeface="楷体"/>
                <a:ea typeface="楷体"/>
                <a:cs typeface="楷体"/>
              </a:rPr>
              <a:t>严峻案：秘密处分他人财产，</a:t>
            </a:r>
            <a:endParaRPr kumimoji="1" lang="en-US" altLang="zh-CN" sz="2800" dirty="0" smtClean="0">
              <a:latin typeface="楷体"/>
              <a:ea typeface="楷体"/>
              <a:cs typeface="楷体"/>
            </a:endParaRPr>
          </a:p>
          <a:p>
            <a:r>
              <a:rPr kumimoji="1" lang="zh-CN" altLang="en-US" sz="2800" dirty="0" smtClean="0">
                <a:latin typeface="楷体"/>
                <a:ea typeface="楷体"/>
                <a:cs typeface="楷体"/>
              </a:rPr>
              <a:t>钱炳良案：秘密处分他人财产，</a:t>
            </a:r>
            <a:endParaRPr kumimoji="1" lang="en-US" altLang="zh-CN" sz="2800" dirty="0" smtClean="0">
              <a:latin typeface="楷体"/>
              <a:ea typeface="楷体"/>
              <a:cs typeface="楷体"/>
            </a:endParaRPr>
          </a:p>
          <a:p>
            <a:r>
              <a:rPr kumimoji="1" lang="zh-CN" altLang="en-US" sz="2800" dirty="0" smtClean="0">
                <a:latin typeface="楷体"/>
                <a:ea typeface="楷体"/>
                <a:cs typeface="楷体"/>
              </a:rPr>
              <a:t>赵江波案：秘密处分他人财产，</a:t>
            </a:r>
            <a:endParaRPr kumimoji="1" lang="en-US" altLang="zh-CN" sz="2800" dirty="0" smtClean="0">
              <a:latin typeface="楷体"/>
              <a:ea typeface="楷体"/>
              <a:cs typeface="楷体"/>
            </a:endParaRPr>
          </a:p>
          <a:p>
            <a:r>
              <a:rPr kumimoji="1" lang="zh-CN" altLang="en-US" sz="2800" dirty="0" smtClean="0">
                <a:latin typeface="楷体"/>
                <a:ea typeface="楷体"/>
                <a:cs typeface="楷体"/>
              </a:rPr>
              <a:t>这些都变更了操纵证券市场的起诉罪名，</a:t>
            </a:r>
            <a:endParaRPr kumimoji="1" lang="en-US" altLang="zh-CN" sz="2800" dirty="0" smtClean="0">
              <a:latin typeface="楷体"/>
              <a:ea typeface="楷体"/>
              <a:cs typeface="楷体"/>
            </a:endParaRPr>
          </a:p>
          <a:p>
            <a:r>
              <a:rPr kumimoji="1" lang="zh-CN" altLang="en-US" sz="2800" dirty="0" smtClean="0">
                <a:latin typeface="楷体"/>
                <a:ea typeface="楷体"/>
                <a:cs typeface="楷体"/>
              </a:rPr>
              <a:t>所以，秘密处分他人财产而人为抬高压低证券、期货交易价格的行为，不按操纵证券市场罪处理，而定盗窃或毁坏财物。</a:t>
            </a:r>
            <a:endParaRPr kumimoji="1" lang="en-US" altLang="zh-CN" sz="2800" dirty="0" smtClean="0">
              <a:latin typeface="楷体"/>
              <a:ea typeface="楷体"/>
              <a:cs typeface="楷体"/>
            </a:endParaRPr>
          </a:p>
          <a:p>
            <a:r>
              <a:rPr kumimoji="1" lang="en-US" altLang="en-US" sz="2800" dirty="0" smtClean="0">
                <a:solidFill>
                  <a:srgbClr val="FF0000"/>
                </a:solidFill>
                <a:latin typeface="黑体"/>
                <a:ea typeface="黑体"/>
                <a:cs typeface="黑体"/>
              </a:rPr>
              <a:t>其实，</a:t>
            </a:r>
            <a:r>
              <a:rPr kumimoji="1" lang="en-US" altLang="en-US" sz="2800" dirty="0" smtClean="0">
                <a:latin typeface="楷体"/>
                <a:ea typeface="楷体"/>
                <a:cs typeface="楷体"/>
              </a:rPr>
              <a:t>非法处分行为</a:t>
            </a:r>
            <a:r>
              <a:rPr kumimoji="1" lang="zh-CN" altLang="en-US" sz="2800" dirty="0" smtClean="0">
                <a:latin typeface="楷体"/>
                <a:ea typeface="楷体"/>
                <a:cs typeface="楷体"/>
              </a:rPr>
              <a:t>与导致</a:t>
            </a:r>
            <a:r>
              <a:rPr kumimoji="1" lang="en-US" altLang="en-US" sz="2800" dirty="0" smtClean="0">
                <a:latin typeface="楷体"/>
                <a:ea typeface="楷体"/>
                <a:cs typeface="楷体"/>
              </a:rPr>
              <a:t>市场异常波动，两者</a:t>
            </a:r>
            <a:r>
              <a:rPr kumimoji="1" lang="zh-CN" altLang="en-US" sz="2800" dirty="0" smtClean="0">
                <a:latin typeface="楷体"/>
                <a:ea typeface="楷体"/>
                <a:cs typeface="楷体"/>
              </a:rPr>
              <a:t>既可能并存，</a:t>
            </a:r>
            <a:r>
              <a:rPr kumimoji="1" lang="en-US" altLang="en-US" sz="2800" dirty="0" smtClean="0">
                <a:latin typeface="楷体"/>
                <a:ea typeface="楷体"/>
                <a:cs typeface="楷体"/>
              </a:rPr>
              <a:t>又不必然交叉，所以，是想象竞合</a:t>
            </a:r>
            <a:r>
              <a:rPr kumimoji="1" lang="zh-CN" altLang="en-US" sz="2800" dirty="0" smtClean="0">
                <a:latin typeface="楷体"/>
                <a:ea typeface="楷体"/>
                <a:cs typeface="楷体"/>
              </a:rPr>
              <a:t>。最终认定，以危害较大的为准。</a:t>
            </a:r>
            <a:endParaRPr kumimoji="1" lang="en-US" altLang="zh-CN" sz="2800" dirty="0" smtClean="0">
              <a:latin typeface="楷体"/>
              <a:ea typeface="楷体"/>
              <a:cs typeface="楷体"/>
            </a:endParaRPr>
          </a:p>
          <a:p>
            <a:r>
              <a:rPr kumimoji="1" lang="zh-CN" altLang="en-US" sz="2800" dirty="0" smtClean="0">
                <a:latin typeface="楷体"/>
                <a:ea typeface="楷体"/>
                <a:cs typeface="楷体"/>
              </a:rPr>
              <a:t>可见，</a:t>
            </a:r>
            <a:r>
              <a:rPr kumimoji="1" lang="zh-CN" altLang="en-US" dirty="0" smtClean="0"/>
              <a:t>除刑的结果未必都由重到轻，关键是准确定罪。</a:t>
            </a:r>
            <a:endParaRPr kumimoji="1" lang="en-US" altLang="zh-CN" sz="2800" dirty="0" smtClean="0">
              <a:latin typeface="楷体"/>
              <a:ea typeface="楷体"/>
              <a:cs typeface="楷体"/>
            </a:endParaRPr>
          </a:p>
        </p:txBody>
      </p:sp>
    </p:spTree>
    <p:extLst>
      <p:ext uri="{BB962C8B-B14F-4D97-AF65-F5344CB8AC3E}">
        <p14:creationId xmlns:p14="http://schemas.microsoft.com/office/powerpoint/2010/main" val="1115204238"/>
      </p:ext>
    </p:extLst>
  </p:cSld>
  <p:clrMapOvr>
    <a:masterClrMapping/>
  </p:clrMapOvr>
  <p:transition>
    <p:fade/>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dirty="0" smtClean="0">
                <a:latin typeface="黑体"/>
                <a:ea typeface="黑体"/>
                <a:cs typeface="黑体"/>
              </a:rPr>
              <a:t>除刑之七：时效</a:t>
            </a:r>
            <a:endParaRPr kumimoji="1" lang="zh-CN" altLang="en-US" dirty="0"/>
          </a:p>
        </p:txBody>
      </p:sp>
      <p:sp>
        <p:nvSpPr>
          <p:cNvPr id="3" name="内容占位符 2"/>
          <p:cNvSpPr>
            <a:spLocks noGrp="1"/>
          </p:cNvSpPr>
          <p:nvPr>
            <p:ph idx="1"/>
          </p:nvPr>
        </p:nvSpPr>
        <p:spPr/>
        <p:txBody>
          <a:bodyPr/>
          <a:lstStyle/>
          <a:p>
            <a:r>
              <a:rPr lang="zh-CN" altLang="en-US" sz="2800" dirty="0" smtClean="0">
                <a:latin typeface="宋体"/>
                <a:ea typeface="宋体"/>
                <a:cs typeface="宋体"/>
              </a:rPr>
              <a:t>为节省司法资源、体现动刑必要性，刑法规定：</a:t>
            </a:r>
            <a:endParaRPr lang="en-US" altLang="zh-CN" sz="2800" dirty="0" smtClean="0">
              <a:latin typeface="宋体"/>
              <a:ea typeface="宋体"/>
              <a:cs typeface="宋体"/>
            </a:endParaRPr>
          </a:p>
          <a:p>
            <a:r>
              <a:rPr lang="zh-CN" altLang="zh-CN" sz="2800" dirty="0" smtClean="0">
                <a:latin typeface="宋体"/>
                <a:ea typeface="宋体"/>
                <a:cs typeface="宋体"/>
              </a:rPr>
              <a:t>第八十七条</a:t>
            </a:r>
            <a:r>
              <a:rPr lang="en-US" altLang="zh-CN" sz="2800" dirty="0" smtClean="0">
                <a:latin typeface="宋体"/>
                <a:ea typeface="宋体"/>
                <a:cs typeface="宋体"/>
              </a:rPr>
              <a:t>  </a:t>
            </a:r>
            <a:r>
              <a:rPr lang="zh-CN" altLang="zh-CN" sz="2800" dirty="0" smtClean="0">
                <a:latin typeface="宋体"/>
                <a:ea typeface="宋体"/>
                <a:cs typeface="宋体"/>
              </a:rPr>
              <a:t>犯罪经过下列</a:t>
            </a:r>
            <a:r>
              <a:rPr lang="zh-CN" altLang="zh-CN" sz="2800" dirty="0">
                <a:latin typeface="宋体"/>
                <a:ea typeface="宋体"/>
                <a:cs typeface="宋体"/>
              </a:rPr>
              <a:t>期限不再追诉：</a:t>
            </a:r>
            <a:r>
              <a:rPr lang="en-US" altLang="zh-CN" sz="2800" dirty="0">
                <a:latin typeface="宋体"/>
                <a:ea typeface="宋体"/>
                <a:cs typeface="宋体"/>
              </a:rPr>
              <a:t/>
            </a:r>
            <a:br>
              <a:rPr lang="en-US" altLang="zh-CN" sz="2800" dirty="0">
                <a:latin typeface="宋体"/>
                <a:ea typeface="宋体"/>
                <a:cs typeface="宋体"/>
              </a:rPr>
            </a:br>
            <a:r>
              <a:rPr lang="zh-CN" altLang="zh-CN" sz="2800" dirty="0">
                <a:latin typeface="宋体"/>
                <a:ea typeface="宋体"/>
                <a:cs typeface="宋体"/>
              </a:rPr>
              <a:t>　　</a:t>
            </a:r>
            <a:r>
              <a:rPr lang="en-US" altLang="zh-CN" sz="2800" dirty="0">
                <a:latin typeface="宋体"/>
                <a:ea typeface="宋体"/>
                <a:cs typeface="宋体"/>
              </a:rPr>
              <a:t>(</a:t>
            </a:r>
            <a:r>
              <a:rPr lang="zh-CN" altLang="zh-CN" sz="2800" dirty="0">
                <a:latin typeface="宋体"/>
                <a:ea typeface="宋体"/>
                <a:cs typeface="宋体"/>
              </a:rPr>
              <a:t>一</a:t>
            </a:r>
            <a:r>
              <a:rPr lang="en-US" altLang="zh-CN" sz="2800" dirty="0">
                <a:latin typeface="宋体"/>
                <a:ea typeface="宋体"/>
                <a:cs typeface="宋体"/>
              </a:rPr>
              <a:t>)</a:t>
            </a:r>
            <a:r>
              <a:rPr lang="zh-CN" altLang="zh-CN" sz="2800" dirty="0">
                <a:latin typeface="宋体"/>
                <a:ea typeface="宋体"/>
                <a:cs typeface="宋体"/>
              </a:rPr>
              <a:t>法定最高刑为不满五年有期徒刑的，经过五年；</a:t>
            </a:r>
            <a:r>
              <a:rPr lang="en-US" altLang="zh-CN" sz="2800" dirty="0">
                <a:latin typeface="宋体"/>
                <a:ea typeface="宋体"/>
                <a:cs typeface="宋体"/>
              </a:rPr>
              <a:t/>
            </a:r>
            <a:br>
              <a:rPr lang="en-US" altLang="zh-CN" sz="2800" dirty="0">
                <a:latin typeface="宋体"/>
                <a:ea typeface="宋体"/>
                <a:cs typeface="宋体"/>
              </a:rPr>
            </a:br>
            <a:r>
              <a:rPr lang="zh-CN" altLang="zh-CN" sz="2800" dirty="0">
                <a:latin typeface="宋体"/>
                <a:ea typeface="宋体"/>
                <a:cs typeface="宋体"/>
              </a:rPr>
              <a:t>　　</a:t>
            </a:r>
            <a:r>
              <a:rPr lang="en-US" altLang="zh-CN" sz="2800" dirty="0">
                <a:latin typeface="宋体"/>
                <a:ea typeface="宋体"/>
                <a:cs typeface="宋体"/>
              </a:rPr>
              <a:t>(</a:t>
            </a:r>
            <a:r>
              <a:rPr lang="zh-CN" altLang="zh-CN" sz="2800" dirty="0">
                <a:latin typeface="宋体"/>
                <a:ea typeface="宋体"/>
                <a:cs typeface="宋体"/>
              </a:rPr>
              <a:t>二</a:t>
            </a:r>
            <a:r>
              <a:rPr lang="en-US" altLang="zh-CN" sz="2800" dirty="0">
                <a:latin typeface="宋体"/>
                <a:ea typeface="宋体"/>
                <a:cs typeface="宋体"/>
              </a:rPr>
              <a:t>)</a:t>
            </a:r>
            <a:r>
              <a:rPr lang="zh-CN" altLang="zh-CN" sz="2800" dirty="0">
                <a:latin typeface="宋体"/>
                <a:ea typeface="宋体"/>
                <a:cs typeface="宋体"/>
              </a:rPr>
              <a:t>法定最高刑为五年以上不满十年有期徒刑的，经过十年；</a:t>
            </a:r>
            <a:r>
              <a:rPr lang="en-US" altLang="zh-CN" sz="2800" dirty="0">
                <a:latin typeface="宋体"/>
                <a:ea typeface="宋体"/>
                <a:cs typeface="宋体"/>
              </a:rPr>
              <a:t/>
            </a:r>
            <a:br>
              <a:rPr lang="en-US" altLang="zh-CN" sz="2800" dirty="0">
                <a:latin typeface="宋体"/>
                <a:ea typeface="宋体"/>
                <a:cs typeface="宋体"/>
              </a:rPr>
            </a:br>
            <a:r>
              <a:rPr lang="zh-CN" altLang="zh-CN" sz="2800" dirty="0">
                <a:latin typeface="宋体"/>
                <a:ea typeface="宋体"/>
                <a:cs typeface="宋体"/>
              </a:rPr>
              <a:t>　　</a:t>
            </a:r>
            <a:r>
              <a:rPr lang="en-US" altLang="zh-CN" sz="2800" dirty="0">
                <a:latin typeface="宋体"/>
                <a:ea typeface="宋体"/>
                <a:cs typeface="宋体"/>
              </a:rPr>
              <a:t>(</a:t>
            </a:r>
            <a:r>
              <a:rPr lang="zh-CN" altLang="zh-CN" sz="2800" dirty="0">
                <a:latin typeface="宋体"/>
                <a:ea typeface="宋体"/>
                <a:cs typeface="宋体"/>
              </a:rPr>
              <a:t>三</a:t>
            </a:r>
            <a:r>
              <a:rPr lang="en-US" altLang="zh-CN" sz="2800" dirty="0">
                <a:latin typeface="宋体"/>
                <a:ea typeface="宋体"/>
                <a:cs typeface="宋体"/>
              </a:rPr>
              <a:t>)</a:t>
            </a:r>
            <a:r>
              <a:rPr lang="zh-CN" altLang="zh-CN" sz="2800" dirty="0">
                <a:latin typeface="宋体"/>
                <a:ea typeface="宋体"/>
                <a:cs typeface="宋体"/>
              </a:rPr>
              <a:t>法定最高刑为十年以上有期徒刑的，经过十五年；</a:t>
            </a:r>
            <a:r>
              <a:rPr lang="en-US" altLang="zh-CN" sz="2800" dirty="0">
                <a:latin typeface="宋体"/>
                <a:ea typeface="宋体"/>
                <a:cs typeface="宋体"/>
              </a:rPr>
              <a:t/>
            </a:r>
            <a:br>
              <a:rPr lang="en-US" altLang="zh-CN" sz="2800" dirty="0">
                <a:latin typeface="宋体"/>
                <a:ea typeface="宋体"/>
                <a:cs typeface="宋体"/>
              </a:rPr>
            </a:br>
            <a:r>
              <a:rPr lang="zh-CN" altLang="zh-CN" sz="2800" dirty="0">
                <a:latin typeface="宋体"/>
                <a:ea typeface="宋体"/>
                <a:cs typeface="宋体"/>
              </a:rPr>
              <a:t>　　</a:t>
            </a:r>
            <a:r>
              <a:rPr lang="en-US" altLang="zh-CN" sz="2800" dirty="0">
                <a:latin typeface="宋体"/>
                <a:ea typeface="宋体"/>
                <a:cs typeface="宋体"/>
              </a:rPr>
              <a:t>(</a:t>
            </a:r>
            <a:r>
              <a:rPr lang="zh-CN" altLang="zh-CN" sz="2800" dirty="0">
                <a:latin typeface="宋体"/>
                <a:ea typeface="宋体"/>
                <a:cs typeface="宋体"/>
              </a:rPr>
              <a:t>四</a:t>
            </a:r>
            <a:r>
              <a:rPr lang="en-US" altLang="zh-CN" sz="2800" dirty="0">
                <a:latin typeface="宋体"/>
                <a:ea typeface="宋体"/>
                <a:cs typeface="宋体"/>
              </a:rPr>
              <a:t>)</a:t>
            </a:r>
            <a:r>
              <a:rPr lang="zh-CN" altLang="zh-CN" sz="2800" dirty="0">
                <a:latin typeface="宋体"/>
                <a:ea typeface="宋体"/>
                <a:cs typeface="宋体"/>
              </a:rPr>
              <a:t>法定最高刑为无期徒刑、死刑的，经过二十年。如果二十年以后认为必须追诉的，须报请最高人民检察院核准</a:t>
            </a:r>
            <a:r>
              <a:rPr lang="zh-CN" altLang="zh-CN" sz="2800" dirty="0" smtClean="0">
                <a:latin typeface="宋体"/>
                <a:ea typeface="宋体"/>
                <a:cs typeface="宋体"/>
              </a:rPr>
              <a:t>。</a:t>
            </a:r>
            <a:endParaRPr lang="zh-CN" altLang="zh-CN" sz="2800" dirty="0">
              <a:latin typeface="宋体"/>
              <a:ea typeface="宋体"/>
              <a:cs typeface="宋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120</a:t>
            </a:fld>
            <a:endParaRPr lang="zh-CN" altLang="en-US"/>
          </a:p>
        </p:txBody>
      </p:sp>
    </p:spTree>
    <p:extLst>
      <p:ext uri="{BB962C8B-B14F-4D97-AF65-F5344CB8AC3E}">
        <p14:creationId xmlns:p14="http://schemas.microsoft.com/office/powerpoint/2010/main" val="3404653776"/>
      </p:ext>
    </p:extLst>
  </p:cSld>
  <p:clrMapOvr>
    <a:masterClrMapping/>
  </p:clrMapOvr>
  <p:transition>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r>
              <a:rPr lang="zh-CN" altLang="zh-CN" sz="2800" dirty="0">
                <a:latin typeface="宋体"/>
                <a:ea typeface="宋体"/>
                <a:cs typeface="宋体"/>
              </a:rPr>
              <a:t>第八十八条【追诉期限的延长】在人民检察院、公安机关、国家安全机关立案侦查或者在人民法院受理案件以后，逃避侦查或者审判的，不受追诉期限的限制。</a:t>
            </a:r>
            <a:r>
              <a:rPr lang="en-US" altLang="zh-CN" sz="2800" dirty="0">
                <a:latin typeface="宋体"/>
                <a:ea typeface="宋体"/>
                <a:cs typeface="宋体"/>
              </a:rPr>
              <a:t/>
            </a:r>
            <a:br>
              <a:rPr lang="en-US" altLang="zh-CN" sz="2800" dirty="0">
                <a:latin typeface="宋体"/>
                <a:ea typeface="宋体"/>
                <a:cs typeface="宋体"/>
              </a:rPr>
            </a:br>
            <a:r>
              <a:rPr lang="zh-CN" altLang="zh-CN" sz="2800" dirty="0">
                <a:latin typeface="宋体"/>
                <a:ea typeface="宋体"/>
                <a:cs typeface="宋体"/>
              </a:rPr>
              <a:t>　　被害人在追诉期限内提出控告，人民法院、人民检察院、公安机关应当立案而不予立案的，不受追诉期限的限制。</a:t>
            </a:r>
            <a:r>
              <a:rPr lang="en-US" altLang="zh-CN" sz="2800" dirty="0">
                <a:latin typeface="宋体"/>
                <a:ea typeface="宋体"/>
                <a:cs typeface="宋体"/>
              </a:rPr>
              <a:t> </a:t>
            </a:r>
            <a:endParaRPr lang="zh-CN" altLang="zh-CN" sz="2800" dirty="0">
              <a:latin typeface="宋体"/>
              <a:ea typeface="宋体"/>
              <a:cs typeface="宋体"/>
            </a:endParaRPr>
          </a:p>
          <a:p>
            <a:r>
              <a:rPr lang="zh-CN" altLang="zh-CN" sz="2800" dirty="0" smtClean="0">
                <a:latin typeface="宋体"/>
                <a:ea typeface="宋体"/>
                <a:cs typeface="宋体"/>
              </a:rPr>
              <a:t>第八十九条</a:t>
            </a:r>
            <a:r>
              <a:rPr lang="zh-CN" altLang="zh-CN" sz="2800" dirty="0">
                <a:latin typeface="宋体"/>
                <a:ea typeface="宋体"/>
                <a:cs typeface="宋体"/>
              </a:rPr>
              <a:t>【追诉期限的计算与中断】追诉期限从犯罪之日起计算；犯罪行为有连续或者继续状态的，从犯罪行为终了之日起计算。</a:t>
            </a:r>
            <a:r>
              <a:rPr lang="en-US" altLang="zh-CN" sz="2800" dirty="0">
                <a:latin typeface="宋体"/>
                <a:ea typeface="宋体"/>
                <a:cs typeface="宋体"/>
              </a:rPr>
              <a:t/>
            </a:r>
            <a:br>
              <a:rPr lang="en-US" altLang="zh-CN" sz="2800" dirty="0">
                <a:latin typeface="宋体"/>
                <a:ea typeface="宋体"/>
                <a:cs typeface="宋体"/>
              </a:rPr>
            </a:br>
            <a:r>
              <a:rPr lang="zh-CN" altLang="zh-CN" sz="2800" dirty="0">
                <a:latin typeface="宋体"/>
                <a:ea typeface="宋体"/>
                <a:cs typeface="宋体"/>
              </a:rPr>
              <a:t>　　在追诉期限以内又犯罪的，前罪追诉的期限从犯后罪之日起计算。 </a:t>
            </a:r>
            <a:endParaRPr kumimoji="1" lang="zh-CN" altLang="en-US" sz="2800" dirty="0">
              <a:latin typeface="宋体"/>
              <a:ea typeface="宋体"/>
              <a:cs typeface="宋体"/>
            </a:endParaRPr>
          </a:p>
          <a:p>
            <a:endParaRPr kumimoji="1" lang="zh-CN" altLang="en-US" dirty="0"/>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121</a:t>
            </a:fld>
            <a:endParaRPr lang="zh-CN" altLang="en-US"/>
          </a:p>
        </p:txBody>
      </p:sp>
    </p:spTree>
    <p:extLst>
      <p:ext uri="{BB962C8B-B14F-4D97-AF65-F5344CB8AC3E}">
        <p14:creationId xmlns:p14="http://schemas.microsoft.com/office/powerpoint/2010/main" val="1374929678"/>
      </p:ext>
    </p:extLst>
  </p:cSld>
  <p:clrMapOvr>
    <a:masterClrMapping/>
  </p:clrMapOvr>
  <p:transition>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实然：</a:t>
            </a:r>
            <a:endParaRPr kumimoji="1" lang="zh-CN" altLang="en-US" sz="3600" dirty="0">
              <a:latin typeface="黑体"/>
              <a:ea typeface="黑体"/>
              <a:cs typeface="黑体"/>
            </a:endParaRPr>
          </a:p>
        </p:txBody>
      </p:sp>
      <p:sp>
        <p:nvSpPr>
          <p:cNvPr id="3" name="内容占位符 2"/>
          <p:cNvSpPr>
            <a:spLocks noGrp="1"/>
          </p:cNvSpPr>
          <p:nvPr>
            <p:ph idx="1"/>
          </p:nvPr>
        </p:nvSpPr>
        <p:spPr>
          <a:xfrm>
            <a:off x="395536" y="836712"/>
            <a:ext cx="8229600" cy="5904656"/>
          </a:xfrm>
        </p:spPr>
        <p:txBody>
          <a:bodyPr/>
          <a:lstStyle/>
          <a:p>
            <a:r>
              <a:rPr lang="zh-CN" altLang="en-US" b="1" dirty="0" smtClean="0">
                <a:latin typeface="黑体"/>
                <a:ea typeface="黑体"/>
                <a:cs typeface="黑体"/>
              </a:rPr>
              <a:t>尽管有坚硬的理论和原则，但仍有弹</a:t>
            </a:r>
            <a:r>
              <a:rPr lang="zh-CN" altLang="en-US" b="1" dirty="0">
                <a:latin typeface="黑体"/>
                <a:ea typeface="黑体"/>
                <a:cs typeface="黑体"/>
              </a:rPr>
              <a:t>性的规则。比如：</a:t>
            </a:r>
            <a:endParaRPr lang="en-US" altLang="zh-CN" b="1" dirty="0">
              <a:latin typeface="黑体"/>
              <a:ea typeface="黑体"/>
              <a:cs typeface="黑体"/>
            </a:endParaRPr>
          </a:p>
          <a:p>
            <a:r>
              <a:rPr lang="zh-CN" altLang="en-US" dirty="0">
                <a:latin typeface="楷体"/>
                <a:ea typeface="楷体"/>
                <a:cs typeface="楷体"/>
              </a:rPr>
              <a:t>虐待家庭成员，情节恶劣的，处</a:t>
            </a:r>
            <a:r>
              <a:rPr lang="en-US" altLang="zh-CN" dirty="0">
                <a:latin typeface="楷体"/>
                <a:ea typeface="楷体"/>
                <a:cs typeface="楷体"/>
              </a:rPr>
              <a:t>……</a:t>
            </a:r>
          </a:p>
          <a:p>
            <a:r>
              <a:rPr lang="zh-CN" altLang="en-US" dirty="0">
                <a:latin typeface="楷体"/>
                <a:ea typeface="楷体"/>
                <a:cs typeface="楷体"/>
              </a:rPr>
              <a:t>传播淫秽的书刊、影片、音像、图片或者其他淫秽物品，情节严重的，处</a:t>
            </a:r>
            <a:r>
              <a:rPr lang="en-US" altLang="zh-CN" dirty="0">
                <a:latin typeface="楷体"/>
                <a:ea typeface="楷体"/>
                <a:cs typeface="楷体"/>
              </a:rPr>
              <a:t>……</a:t>
            </a:r>
          </a:p>
          <a:p>
            <a:r>
              <a:rPr lang="zh-CN" altLang="en-US" dirty="0">
                <a:latin typeface="楷体"/>
                <a:ea typeface="楷体"/>
                <a:cs typeface="楷体"/>
              </a:rPr>
              <a:t>虐待俘虏，情节恶劣的，处</a:t>
            </a:r>
            <a:r>
              <a:rPr lang="en-US" altLang="zh-CN" dirty="0">
                <a:latin typeface="楷体"/>
                <a:ea typeface="楷体"/>
                <a:cs typeface="楷体"/>
              </a:rPr>
              <a:t>……</a:t>
            </a:r>
          </a:p>
          <a:p>
            <a:r>
              <a:rPr lang="zh-CN" altLang="en-US" dirty="0">
                <a:latin typeface="楷体"/>
                <a:ea typeface="楷体"/>
                <a:cs typeface="楷体"/>
              </a:rPr>
              <a:t>以暴力、威胁手段强买强卖商品、强迫他人提供服务或者强迫他人接受服务，情节严重的，处</a:t>
            </a:r>
            <a:r>
              <a:rPr lang="en-US" altLang="zh-CN" dirty="0">
                <a:latin typeface="楷体"/>
                <a:ea typeface="楷体"/>
                <a:cs typeface="楷体"/>
              </a:rPr>
              <a:t>……</a:t>
            </a:r>
          </a:p>
          <a:p>
            <a:r>
              <a:rPr lang="zh-CN" altLang="en-US" b="1" dirty="0">
                <a:latin typeface="黑体"/>
                <a:ea typeface="黑体"/>
                <a:cs typeface="黑体"/>
              </a:rPr>
              <a:t>纯正情节犯：定量不明确</a:t>
            </a:r>
            <a:endParaRPr lang="en-US" altLang="zh-CN" b="1" dirty="0">
              <a:latin typeface="黑体"/>
              <a:ea typeface="黑体"/>
              <a:cs typeface="黑体"/>
            </a:endParaRPr>
          </a:p>
          <a:p>
            <a:r>
              <a:rPr lang="zh-CN" altLang="en-US" dirty="0">
                <a:latin typeface="楷体"/>
                <a:ea typeface="楷体"/>
                <a:cs typeface="楷体"/>
              </a:rPr>
              <a:t>扰乱、冲击或者以其他方法破坏依法举行的集会、游行、示威，造成公共秩序混乱的，处</a:t>
            </a:r>
            <a:r>
              <a:rPr lang="en-US" altLang="zh-CN" dirty="0">
                <a:latin typeface="楷体"/>
                <a:ea typeface="楷体"/>
                <a:cs typeface="楷体"/>
              </a:rPr>
              <a:t>……</a:t>
            </a:r>
          </a:p>
          <a:p>
            <a:r>
              <a:rPr lang="zh-CN" altLang="en-US" dirty="0">
                <a:latin typeface="楷体"/>
                <a:ea typeface="楷体"/>
                <a:cs typeface="楷体"/>
              </a:rPr>
              <a:t>以暴力或者其他方法公然侮辱他人或者捏造事实诽谤他人，情节严重的，处</a:t>
            </a:r>
            <a:r>
              <a:rPr lang="en-US" altLang="zh-CN" dirty="0">
                <a:latin typeface="楷体"/>
                <a:ea typeface="楷体"/>
                <a:cs typeface="楷体"/>
              </a:rPr>
              <a:t>……</a:t>
            </a:r>
          </a:p>
          <a:p>
            <a:r>
              <a:rPr lang="zh-CN" altLang="en-US" dirty="0">
                <a:latin typeface="楷体"/>
                <a:ea typeface="楷体"/>
                <a:cs typeface="楷体"/>
              </a:rPr>
              <a:t>抢劫、非法经营、洗钱</a:t>
            </a:r>
            <a:r>
              <a:rPr lang="en-US" altLang="zh-CN" dirty="0">
                <a:latin typeface="楷体"/>
                <a:ea typeface="楷体"/>
                <a:cs typeface="楷体"/>
              </a:rPr>
              <a:t>……</a:t>
            </a:r>
          </a:p>
          <a:p>
            <a:r>
              <a:rPr lang="zh-CN" altLang="en-US" b="1" dirty="0">
                <a:latin typeface="黑体"/>
                <a:ea typeface="黑体"/>
                <a:cs typeface="黑体"/>
              </a:rPr>
              <a:t>兜底犯：定性不明确</a:t>
            </a:r>
            <a:endParaRPr lang="en-US" altLang="zh-CN" b="1" dirty="0">
              <a:latin typeface="黑体"/>
              <a:ea typeface="黑体"/>
              <a:cs typeface="黑体"/>
            </a:endParaRPr>
          </a:p>
          <a:p>
            <a:endParaRPr kumimoji="1" lang="en-US" altLang="zh-CN" dirty="0" smtClean="0"/>
          </a:p>
          <a:p>
            <a:endParaRPr kumimoji="1" lang="zh-CN" altLang="en-US" dirty="0"/>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122</a:t>
            </a:fld>
            <a:endParaRPr lang="zh-CN" altLang="en-US"/>
          </a:p>
        </p:txBody>
      </p:sp>
    </p:spTree>
    <p:extLst>
      <p:ext uri="{BB962C8B-B14F-4D97-AF65-F5344CB8AC3E}">
        <p14:creationId xmlns:p14="http://schemas.microsoft.com/office/powerpoint/2010/main" val="972720048"/>
      </p:ext>
    </p:extLst>
  </p:cSld>
  <p:clrMapOvr>
    <a:masterClrMapping/>
  </p:clrMapOvr>
  <p:transition>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zh-CN" altLang="en-US" sz="4400" dirty="0" smtClean="0">
                <a:latin typeface="黑体"/>
                <a:ea typeface="黑体"/>
                <a:cs typeface="黑体"/>
              </a:rPr>
              <a:t>于是</a:t>
            </a:r>
            <a:r>
              <a:rPr lang="en-US" altLang="zh-CN" sz="4400" dirty="0" smtClean="0">
                <a:latin typeface="黑体"/>
                <a:ea typeface="黑体"/>
                <a:cs typeface="黑体"/>
              </a:rPr>
              <a:t>—</a:t>
            </a:r>
            <a:r>
              <a:rPr lang="en-US" altLang="zh-CN" sz="4400" dirty="0">
                <a:latin typeface="黑体"/>
                <a:ea typeface="黑体"/>
                <a:cs typeface="黑体"/>
              </a:rPr>
              <a:t>—</a:t>
            </a:r>
          </a:p>
        </p:txBody>
      </p:sp>
      <p:sp>
        <p:nvSpPr>
          <p:cNvPr id="47107" name="Rectangle 3"/>
          <p:cNvSpPr>
            <a:spLocks noGrp="1" noChangeArrowheads="1"/>
          </p:cNvSpPr>
          <p:nvPr>
            <p:ph type="body" idx="1"/>
          </p:nvPr>
        </p:nvSpPr>
        <p:spPr/>
        <p:txBody>
          <a:bodyPr/>
          <a:lstStyle/>
          <a:p>
            <a:r>
              <a:rPr lang="zh-CN" altLang="en-US" sz="3600" dirty="0">
                <a:ea typeface="经典粗圆简" pitchFamily="49" charset="-122"/>
              </a:rPr>
              <a:t>无论是否定罪都符合形式性要求，但定罪与否的规范根据本身都不明确。</a:t>
            </a:r>
          </a:p>
          <a:p>
            <a:r>
              <a:rPr lang="zh-CN" altLang="en-US" sz="3600" dirty="0">
                <a:ea typeface="经典粗圆简" pitchFamily="49" charset="-122"/>
              </a:rPr>
              <a:t>如果想定罪，则有明文规定，如果不想定罪，便可以说法无明文规定。</a:t>
            </a:r>
          </a:p>
          <a:p>
            <a:r>
              <a:rPr lang="zh-CN" altLang="en-US" sz="3600" dirty="0">
                <a:ea typeface="经典粗圆简" pitchFamily="49" charset="-122"/>
              </a:rPr>
              <a:t>既是法无明文规定</a:t>
            </a:r>
            <a:r>
              <a:rPr lang="en-US" altLang="zh-CN" sz="3600" dirty="0">
                <a:latin typeface="Arial"/>
                <a:ea typeface="经典粗圆简" pitchFamily="49" charset="-122"/>
              </a:rPr>
              <a:t>——</a:t>
            </a:r>
            <a:r>
              <a:rPr lang="zh-CN" altLang="en-US" sz="3600" dirty="0">
                <a:ea typeface="经典粗圆简" pitchFamily="49" charset="-122"/>
              </a:rPr>
              <a:t>定罪就违法；又意味着法有明文规定</a:t>
            </a:r>
            <a:r>
              <a:rPr lang="en-US" altLang="zh-CN" sz="3600" dirty="0">
                <a:latin typeface="Arial"/>
                <a:ea typeface="经典粗圆简" pitchFamily="49" charset="-122"/>
              </a:rPr>
              <a:t>——</a:t>
            </a:r>
            <a:r>
              <a:rPr lang="zh-CN" altLang="en-US" sz="3600" dirty="0" smtClean="0">
                <a:ea typeface="经典粗圆简" pitchFamily="49" charset="-122"/>
              </a:rPr>
              <a:t>不定罪也违法</a:t>
            </a:r>
            <a:r>
              <a:rPr lang="zh-CN" altLang="en-US" sz="3600" dirty="0">
                <a:ea typeface="经典粗圆简" pitchFamily="49" charset="-122"/>
              </a:rPr>
              <a:t>。</a:t>
            </a:r>
          </a:p>
        </p:txBody>
      </p:sp>
      <p:sp>
        <p:nvSpPr>
          <p:cNvPr id="2" name="幻灯片编号占位符 1"/>
          <p:cNvSpPr>
            <a:spLocks noGrp="1"/>
          </p:cNvSpPr>
          <p:nvPr>
            <p:ph type="sldNum" sz="quarter" idx="12"/>
          </p:nvPr>
        </p:nvSpPr>
        <p:spPr/>
        <p:txBody>
          <a:bodyPr/>
          <a:lstStyle/>
          <a:p>
            <a:fld id="{837C144C-5A62-4B53-B939-FE9C4EDA708D}" type="slidenum">
              <a:rPr lang="en-US" altLang="zh-CN" smtClean="0"/>
              <a:pPr/>
              <a:t>123</a:t>
            </a:fld>
            <a:endParaRPr lang="zh-CN" altLang="en-US"/>
          </a:p>
        </p:txBody>
      </p:sp>
    </p:spTree>
    <p:extLst>
      <p:ext uri="{BB962C8B-B14F-4D97-AF65-F5344CB8AC3E}">
        <p14:creationId xmlns:p14="http://schemas.microsoft.com/office/powerpoint/2010/main" val="3997830074"/>
      </p:ext>
    </p:extLst>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2590800" y="1905000"/>
            <a:ext cx="2701925" cy="1219200"/>
          </a:xfrm>
          <a:prstGeom prst="rect">
            <a:avLst/>
          </a:prstGeom>
          <a:solidFill>
            <a:schemeClr val="bg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bg1"/>
            </a:extrusionClr>
          </a:sp3d>
        </p:spPr>
        <p:txBody>
          <a:bodyPr wrap="none" anchor="ctr">
            <a:flatTx/>
          </a:bodyPr>
          <a:lstStyle/>
          <a:p>
            <a:pPr algn="ctr"/>
            <a:r>
              <a:rPr kumimoji="1" lang="zh-CN" altLang="en-US" sz="7200" b="1">
                <a:solidFill>
                  <a:srgbClr val="000000"/>
                </a:solidFill>
                <a:latin typeface="Times New Roman" pitchFamily="18" charset="0"/>
                <a:ea typeface="方正超粗黑简体" pitchFamily="2" charset="-122"/>
              </a:rPr>
              <a:t>法典</a:t>
            </a:r>
          </a:p>
        </p:txBody>
      </p:sp>
      <p:sp>
        <p:nvSpPr>
          <p:cNvPr id="66563" name="Rectangle 3"/>
          <p:cNvSpPr>
            <a:spLocks noChangeArrowheads="1"/>
          </p:cNvSpPr>
          <p:nvPr/>
        </p:nvSpPr>
        <p:spPr bwMode="auto">
          <a:xfrm>
            <a:off x="5508625" y="1844675"/>
            <a:ext cx="2362200" cy="1219200"/>
          </a:xfrm>
          <a:prstGeom prst="rect">
            <a:avLst/>
          </a:prstGeom>
          <a:solidFill>
            <a:schemeClr val="bg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bg1"/>
            </a:extrusionClr>
          </a:sp3d>
        </p:spPr>
        <p:txBody>
          <a:bodyPr wrap="none" anchor="ctr">
            <a:flatTx/>
          </a:bodyPr>
          <a:lstStyle/>
          <a:p>
            <a:pPr algn="ctr"/>
            <a:r>
              <a:rPr kumimoji="1" lang="zh-CN" altLang="en-US" sz="7200" b="1">
                <a:solidFill>
                  <a:srgbClr val="000000"/>
                </a:solidFill>
                <a:latin typeface="Times New Roman" pitchFamily="18" charset="0"/>
                <a:ea typeface="方正超粗黑简体" pitchFamily="2" charset="-122"/>
              </a:rPr>
              <a:t>无</a:t>
            </a:r>
          </a:p>
        </p:txBody>
      </p:sp>
      <p:sp>
        <p:nvSpPr>
          <p:cNvPr id="66564" name="Rectangle 4"/>
          <p:cNvSpPr>
            <a:spLocks noChangeArrowheads="1"/>
          </p:cNvSpPr>
          <p:nvPr/>
        </p:nvSpPr>
        <p:spPr bwMode="auto">
          <a:xfrm>
            <a:off x="304800" y="3200400"/>
            <a:ext cx="2133600" cy="990600"/>
          </a:xfrm>
          <a:prstGeom prst="rect">
            <a:avLst/>
          </a:prstGeom>
          <a:solidFill>
            <a:schemeClr val="bg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bg1"/>
            </a:extrusionClr>
          </a:sp3d>
        </p:spPr>
        <p:txBody>
          <a:bodyPr wrap="none" anchor="ctr">
            <a:flatTx/>
          </a:bodyPr>
          <a:lstStyle/>
          <a:p>
            <a:pPr algn="ctr"/>
            <a:r>
              <a:rPr kumimoji="1" lang="zh-CN" altLang="en-US" sz="7200" b="1">
                <a:solidFill>
                  <a:srgbClr val="000000"/>
                </a:solidFill>
                <a:latin typeface="Times New Roman" pitchFamily="18" charset="0"/>
                <a:ea typeface="方正超粗黑简体" pitchFamily="2" charset="-122"/>
              </a:rPr>
              <a:t>明确</a:t>
            </a:r>
          </a:p>
        </p:txBody>
      </p:sp>
      <p:sp>
        <p:nvSpPr>
          <p:cNvPr id="66565" name="Rectangle 5"/>
          <p:cNvSpPr>
            <a:spLocks noChangeArrowheads="1"/>
          </p:cNvSpPr>
          <p:nvPr/>
        </p:nvSpPr>
        <p:spPr bwMode="auto">
          <a:xfrm>
            <a:off x="323850" y="4437063"/>
            <a:ext cx="2133600" cy="1066800"/>
          </a:xfrm>
          <a:prstGeom prst="rect">
            <a:avLst/>
          </a:prstGeom>
          <a:solidFill>
            <a:schemeClr val="bg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bg1"/>
            </a:extrusionClr>
          </a:sp3d>
        </p:spPr>
        <p:txBody>
          <a:bodyPr wrap="none" anchor="ctr">
            <a:flatTx/>
          </a:bodyPr>
          <a:lstStyle/>
          <a:p>
            <a:pPr algn="ctr"/>
            <a:r>
              <a:rPr kumimoji="1" lang="zh-CN" altLang="en-US" sz="7200" b="1" dirty="0">
                <a:solidFill>
                  <a:srgbClr val="000000"/>
                </a:solidFill>
                <a:latin typeface="Times New Roman" pitchFamily="18" charset="0"/>
                <a:ea typeface="方正超粗黑简体" pitchFamily="2" charset="-122"/>
              </a:rPr>
              <a:t>含糊</a:t>
            </a:r>
          </a:p>
        </p:txBody>
      </p:sp>
      <p:sp>
        <p:nvSpPr>
          <p:cNvPr id="66566" name="Rectangle 6"/>
          <p:cNvSpPr>
            <a:spLocks noChangeArrowheads="1"/>
          </p:cNvSpPr>
          <p:nvPr/>
        </p:nvSpPr>
        <p:spPr bwMode="auto">
          <a:xfrm>
            <a:off x="2590800" y="3200400"/>
            <a:ext cx="2701925" cy="990600"/>
          </a:xfrm>
          <a:prstGeom prst="rect">
            <a:avLst/>
          </a:prstGeom>
          <a:solidFill>
            <a:schemeClr val="bg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bg1"/>
            </a:extrusionClr>
          </a:sp3d>
        </p:spPr>
        <p:txBody>
          <a:bodyPr wrap="none" anchor="ctr">
            <a:flatTx/>
          </a:bodyPr>
          <a:lstStyle/>
          <a:p>
            <a:pPr algn="ctr"/>
            <a:r>
              <a:rPr kumimoji="1" lang="zh-CN" altLang="en-US" sz="4800" b="1">
                <a:solidFill>
                  <a:srgbClr val="000000"/>
                </a:solidFill>
                <a:latin typeface="Times New Roman" pitchFamily="18" charset="0"/>
                <a:ea typeface="方正舒体" pitchFamily="2" charset="-122"/>
              </a:rPr>
              <a:t>典型刑法</a:t>
            </a:r>
          </a:p>
        </p:txBody>
      </p:sp>
      <p:sp>
        <p:nvSpPr>
          <p:cNvPr id="66567" name="Rectangle 7"/>
          <p:cNvSpPr>
            <a:spLocks noChangeArrowheads="1"/>
          </p:cNvSpPr>
          <p:nvPr/>
        </p:nvSpPr>
        <p:spPr bwMode="auto">
          <a:xfrm flipH="1">
            <a:off x="5508625" y="3213100"/>
            <a:ext cx="2362200" cy="990600"/>
          </a:xfrm>
          <a:prstGeom prst="rect">
            <a:avLst/>
          </a:prstGeom>
          <a:solidFill>
            <a:schemeClr val="bg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bg1"/>
            </a:extrusionClr>
          </a:sp3d>
        </p:spPr>
        <p:txBody>
          <a:bodyPr wrap="none" anchor="ctr">
            <a:flatTx/>
          </a:bodyPr>
          <a:lstStyle/>
          <a:p>
            <a:pPr algn="ctr"/>
            <a:r>
              <a:rPr kumimoji="1" lang="zh-CN" altLang="en-US" sz="6000">
                <a:solidFill>
                  <a:srgbClr val="000000"/>
                </a:solidFill>
                <a:latin typeface="Times New Roman" pitchFamily="18" charset="0"/>
                <a:ea typeface="方正舒体" pitchFamily="2" charset="-122"/>
              </a:rPr>
              <a:t>判例法</a:t>
            </a:r>
          </a:p>
        </p:txBody>
      </p:sp>
      <p:sp>
        <p:nvSpPr>
          <p:cNvPr id="66568" name="Rectangle 8"/>
          <p:cNvSpPr>
            <a:spLocks noChangeArrowheads="1"/>
          </p:cNvSpPr>
          <p:nvPr/>
        </p:nvSpPr>
        <p:spPr bwMode="auto">
          <a:xfrm>
            <a:off x="2627313" y="4437063"/>
            <a:ext cx="2665412" cy="1066800"/>
          </a:xfrm>
          <a:prstGeom prst="rect">
            <a:avLst/>
          </a:prstGeom>
          <a:solidFill>
            <a:schemeClr val="bg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bg1"/>
            </a:extrusionClr>
          </a:sp3d>
        </p:spPr>
        <p:txBody>
          <a:bodyPr wrap="none" anchor="ctr">
            <a:flatTx/>
          </a:bodyPr>
          <a:lstStyle/>
          <a:p>
            <a:pPr algn="ctr"/>
            <a:r>
              <a:rPr kumimoji="1" lang="zh-CN" altLang="en-US" sz="4800" b="1" dirty="0">
                <a:solidFill>
                  <a:srgbClr val="FF0000"/>
                </a:solidFill>
                <a:latin typeface="Times New Roman" pitchFamily="18" charset="0"/>
                <a:ea typeface="方正舒体" pitchFamily="2" charset="-122"/>
              </a:rPr>
              <a:t>弹性刑法</a:t>
            </a:r>
          </a:p>
        </p:txBody>
      </p:sp>
      <p:sp>
        <p:nvSpPr>
          <p:cNvPr id="66569" name="Rectangle 9"/>
          <p:cNvSpPr>
            <a:spLocks noChangeArrowheads="1"/>
          </p:cNvSpPr>
          <p:nvPr/>
        </p:nvSpPr>
        <p:spPr bwMode="auto">
          <a:xfrm>
            <a:off x="5508625" y="4365625"/>
            <a:ext cx="2362200" cy="1066800"/>
          </a:xfrm>
          <a:prstGeom prst="rect">
            <a:avLst/>
          </a:prstGeom>
          <a:solidFill>
            <a:schemeClr val="bg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bg1"/>
            </a:extrusionClr>
          </a:sp3d>
        </p:spPr>
        <p:txBody>
          <a:bodyPr wrap="none" anchor="ctr">
            <a:flatTx/>
          </a:bodyPr>
          <a:lstStyle/>
          <a:p>
            <a:pPr algn="ctr"/>
            <a:r>
              <a:rPr kumimoji="1" lang="zh-CN" altLang="en-US" sz="6000" b="1">
                <a:solidFill>
                  <a:srgbClr val="000000"/>
                </a:solidFill>
                <a:latin typeface="Times New Roman" pitchFamily="18" charset="0"/>
                <a:ea typeface="方正舒体" pitchFamily="2" charset="-122"/>
              </a:rPr>
              <a:t>随便</a:t>
            </a:r>
          </a:p>
        </p:txBody>
      </p:sp>
      <p:sp>
        <p:nvSpPr>
          <p:cNvPr id="66570" name="Rectangle 10"/>
          <p:cNvSpPr>
            <a:spLocks noChangeArrowheads="1"/>
          </p:cNvSpPr>
          <p:nvPr/>
        </p:nvSpPr>
        <p:spPr bwMode="auto">
          <a:xfrm>
            <a:off x="250825" y="333375"/>
            <a:ext cx="5903913" cy="1368425"/>
          </a:xfrm>
          <a:prstGeom prst="rect">
            <a:avLst/>
          </a:prstGeom>
          <a:solidFill>
            <a:schemeClr val="bg1"/>
          </a:solidFill>
          <a:ln w="9525">
            <a:miter lim="800000"/>
            <a:headEnd/>
            <a:tailEnd/>
          </a:ln>
          <a:effectLst/>
          <a:scene3d>
            <a:camera prst="legacyObliqueTopRight"/>
            <a:lightRig rig="legacyFlat3" dir="b"/>
          </a:scene3d>
          <a:sp3d extrusionH="430200" prstMaterial="legacyMatte">
            <a:bevelT w="13500" h="13500" prst="angle"/>
            <a:bevelB w="13500" h="13500" prst="angle"/>
            <a:extrusionClr>
              <a:schemeClr val="bg1"/>
            </a:extrusionClr>
          </a:sp3d>
        </p:spPr>
        <p:txBody>
          <a:bodyPr wrap="none" anchor="ctr">
            <a:flatTx/>
          </a:bodyPr>
          <a:lstStyle/>
          <a:p>
            <a:pPr algn="ctr"/>
            <a:r>
              <a:rPr kumimoji="1" lang="zh-CN" altLang="en-US" sz="6600">
                <a:solidFill>
                  <a:srgbClr val="000000"/>
                </a:solidFill>
                <a:latin typeface="Times New Roman" pitchFamily="18" charset="0"/>
                <a:ea typeface="华文琥珀" pitchFamily="2" charset="-122"/>
              </a:rPr>
              <a:t>形式与明确</a:t>
            </a:r>
          </a:p>
        </p:txBody>
      </p:sp>
      <p:sp>
        <p:nvSpPr>
          <p:cNvPr id="2" name="幻灯片编号占位符 1"/>
          <p:cNvSpPr>
            <a:spLocks noGrp="1"/>
          </p:cNvSpPr>
          <p:nvPr>
            <p:ph type="sldNum" sz="quarter" idx="12"/>
          </p:nvPr>
        </p:nvSpPr>
        <p:spPr/>
        <p:txBody>
          <a:bodyPr/>
          <a:lstStyle/>
          <a:p>
            <a:fld id="{E48E8300-F0AA-4671-8397-F49141120FA8}" type="slidenum">
              <a:rPr lang="en-US" altLang="zh-CN" smtClean="0"/>
              <a:pPr/>
              <a:t>124</a:t>
            </a:fld>
            <a:endParaRPr lang="zh-CN" altLang="en-US"/>
          </a:p>
        </p:txBody>
      </p:sp>
    </p:spTree>
    <p:extLst>
      <p:ext uri="{BB962C8B-B14F-4D97-AF65-F5344CB8AC3E}">
        <p14:creationId xmlns:p14="http://schemas.microsoft.com/office/powerpoint/2010/main" val="39136524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6570"/>
                                        </p:tgtEl>
                                        <p:attrNameLst>
                                          <p:attrName>style.visibility</p:attrName>
                                        </p:attrNameLst>
                                      </p:cBhvr>
                                      <p:to>
                                        <p:strVal val="visible"/>
                                      </p:to>
                                    </p:set>
                                    <p:animEffect transition="in" filter="box(out)">
                                      <p:cBhvr>
                                        <p:cTn id="7" dur="500"/>
                                        <p:tgtEl>
                                          <p:spTgt spid="66570"/>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66562"/>
                                        </p:tgtEl>
                                        <p:attrNameLst>
                                          <p:attrName>style.visibility</p:attrName>
                                        </p:attrNameLst>
                                      </p:cBhvr>
                                      <p:to>
                                        <p:strVal val="visible"/>
                                      </p:to>
                                    </p:set>
                                    <p:animEffect transition="in" filter="box(out)">
                                      <p:cBhvr>
                                        <p:cTn id="12" dur="500"/>
                                        <p:tgtEl>
                                          <p:spTgt spid="66562"/>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66563"/>
                                        </p:tgtEl>
                                        <p:attrNameLst>
                                          <p:attrName>style.visibility</p:attrName>
                                        </p:attrNameLst>
                                      </p:cBhvr>
                                      <p:to>
                                        <p:strVal val="visible"/>
                                      </p:to>
                                    </p:set>
                                    <p:animEffect transition="in" filter="box(out)">
                                      <p:cBhvr>
                                        <p:cTn id="17" dur="500"/>
                                        <p:tgtEl>
                                          <p:spTgt spid="66563"/>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66564"/>
                                        </p:tgtEl>
                                        <p:attrNameLst>
                                          <p:attrName>style.visibility</p:attrName>
                                        </p:attrNameLst>
                                      </p:cBhvr>
                                      <p:to>
                                        <p:strVal val="visible"/>
                                      </p:to>
                                    </p:set>
                                    <p:animEffect transition="in" filter="box(out)">
                                      <p:cBhvr>
                                        <p:cTn id="22" dur="500"/>
                                        <p:tgtEl>
                                          <p:spTgt spid="66564"/>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66565"/>
                                        </p:tgtEl>
                                        <p:attrNameLst>
                                          <p:attrName>style.visibility</p:attrName>
                                        </p:attrNameLst>
                                      </p:cBhvr>
                                      <p:to>
                                        <p:strVal val="visible"/>
                                      </p:to>
                                    </p:set>
                                    <p:animEffect transition="in" filter="box(out)">
                                      <p:cBhvr>
                                        <p:cTn id="27" dur="500"/>
                                        <p:tgtEl>
                                          <p:spTgt spid="66565"/>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66566">
                                            <p:txEl>
                                              <p:pRg st="0" end="0"/>
                                            </p:txEl>
                                          </p:spTgt>
                                        </p:tgtEl>
                                        <p:attrNameLst>
                                          <p:attrName>style.visibility</p:attrName>
                                        </p:attrNameLst>
                                      </p:cBhvr>
                                      <p:to>
                                        <p:strVal val="visible"/>
                                      </p:to>
                                    </p:set>
                                    <p:animEffect transition="in" filter="wipe(up)">
                                      <p:cBhvr>
                                        <p:cTn id="32" dur="75"/>
                                        <p:tgtEl>
                                          <p:spTgt spid="66566">
                                            <p:txEl>
                                              <p:pRg st="0" end="0"/>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3" name="type.wav"/>
                                        </p:tgtEl>
                                      </p:cMediaNode>
                                    </p:audio>
                                  </p:sub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iterate type="lt">
                                    <p:tmPct val="100000"/>
                                  </p:iterate>
                                  <p:childTnLst>
                                    <p:set>
                                      <p:cBhvr>
                                        <p:cTn id="36" dur="1" fill="hold">
                                          <p:stCondLst>
                                            <p:cond delay="0"/>
                                          </p:stCondLst>
                                        </p:cTn>
                                        <p:tgtEl>
                                          <p:spTgt spid="66567">
                                            <p:txEl>
                                              <p:pRg st="0" end="0"/>
                                            </p:txEl>
                                          </p:spTgt>
                                        </p:tgtEl>
                                        <p:attrNameLst>
                                          <p:attrName>style.visibility</p:attrName>
                                        </p:attrNameLst>
                                      </p:cBhvr>
                                      <p:to>
                                        <p:strVal val="visible"/>
                                      </p:to>
                                    </p:set>
                                    <p:animEffect transition="in" filter="wipe(up)">
                                      <p:cBhvr>
                                        <p:cTn id="37" dur="75"/>
                                        <p:tgtEl>
                                          <p:spTgt spid="66567">
                                            <p:txEl>
                                              <p:pRg st="0" end="0"/>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3" name="type.wav"/>
                                        </p:tgtEl>
                                      </p:cMediaNode>
                                    </p:audio>
                                  </p:sub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iterate type="lt">
                                    <p:tmPct val="100000"/>
                                  </p:iterate>
                                  <p:childTnLst>
                                    <p:set>
                                      <p:cBhvr>
                                        <p:cTn id="41" dur="1" fill="hold">
                                          <p:stCondLst>
                                            <p:cond delay="0"/>
                                          </p:stCondLst>
                                        </p:cTn>
                                        <p:tgtEl>
                                          <p:spTgt spid="66568">
                                            <p:txEl>
                                              <p:pRg st="0" end="0"/>
                                            </p:txEl>
                                          </p:spTgt>
                                        </p:tgtEl>
                                        <p:attrNameLst>
                                          <p:attrName>style.visibility</p:attrName>
                                        </p:attrNameLst>
                                      </p:cBhvr>
                                      <p:to>
                                        <p:strVal val="visible"/>
                                      </p:to>
                                    </p:set>
                                    <p:animEffect transition="in" filter="wipe(up)">
                                      <p:cBhvr>
                                        <p:cTn id="42" dur="75"/>
                                        <p:tgtEl>
                                          <p:spTgt spid="66568">
                                            <p:txEl>
                                              <p:pRg st="0" end="0"/>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3" name="type.wav"/>
                                        </p:tgtEl>
                                      </p:cMediaNode>
                                    </p:audio>
                                  </p:sub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iterate type="lt">
                                    <p:tmPct val="100000"/>
                                  </p:iterate>
                                  <p:childTnLst>
                                    <p:set>
                                      <p:cBhvr>
                                        <p:cTn id="46" dur="1" fill="hold">
                                          <p:stCondLst>
                                            <p:cond delay="0"/>
                                          </p:stCondLst>
                                        </p:cTn>
                                        <p:tgtEl>
                                          <p:spTgt spid="66569">
                                            <p:txEl>
                                              <p:pRg st="0" end="0"/>
                                            </p:txEl>
                                          </p:spTgt>
                                        </p:tgtEl>
                                        <p:attrNameLst>
                                          <p:attrName>style.visibility</p:attrName>
                                        </p:attrNameLst>
                                      </p:cBhvr>
                                      <p:to>
                                        <p:strVal val="visible"/>
                                      </p:to>
                                    </p:set>
                                    <p:animEffect transition="in" filter="wipe(up)">
                                      <p:cBhvr>
                                        <p:cTn id="47" dur="75"/>
                                        <p:tgtEl>
                                          <p:spTgt spid="66569">
                                            <p:txEl>
                                              <p:pRg st="0" end="0"/>
                                            </p:txEl>
                                          </p:spTgt>
                                        </p:tgtEl>
                                      </p:cBhvr>
                                    </p:animEffect>
                                  </p:childTnLst>
                                  <p:subTnLst>
                                    <p:audio>
                                      <p:cMediaNode>
                                        <p:cTn display="0" masterRel="sameClick">
                                          <p:stCondLst>
                                            <p:cond evt="begin" delay="0">
                                              <p:tn val="45"/>
                                            </p:cond>
                                          </p:stCondLst>
                                          <p:endCondLst>
                                            <p:cond evt="onStopAudio" delay="0">
                                              <p:tgtEl>
                                                <p:sldTgt/>
                                              </p:tgtEl>
                                            </p:cond>
                                          </p:endCondLst>
                                        </p:cTn>
                                        <p:tgtEl>
                                          <p:sndTgt r:embed="rId3"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animBg="1" autoUpdateAnimBg="0"/>
      <p:bldP spid="66563" grpId="0" animBg="1" autoUpdateAnimBg="0"/>
      <p:bldP spid="66564" grpId="0" animBg="1" autoUpdateAnimBg="0"/>
      <p:bldP spid="66565" grpId="0" animBg="1" autoUpdateAnimBg="0"/>
      <p:bldP spid="66566" grpId="0" build="p" autoUpdateAnimBg="0"/>
      <p:bldP spid="66567" grpId="0" build="p" autoUpdateAnimBg="0"/>
      <p:bldP spid="66568" grpId="0" build="p" autoUpdateAnimBg="0"/>
      <p:bldP spid="66569" grpId="0" build="p" autoUpdateAnimBg="0"/>
      <p:bldP spid="66570" grpId="0" animBg="1"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4"/>
          <p:cNvSpPr>
            <a:spLocks noGrp="1" noChangeArrowheads="1"/>
          </p:cNvSpPr>
          <p:nvPr>
            <p:ph type="title"/>
          </p:nvPr>
        </p:nvSpPr>
        <p:spPr/>
        <p:txBody>
          <a:bodyPr/>
          <a:lstStyle/>
          <a:p>
            <a:pPr algn="ctr"/>
            <a:r>
              <a:rPr lang="zh-CN" altLang="en-US" sz="4400" b="1" dirty="0">
                <a:latin typeface="黑体"/>
                <a:ea typeface="黑体"/>
                <a:cs typeface="黑体"/>
              </a:rPr>
              <a:t>新老刑法比较</a:t>
            </a:r>
          </a:p>
        </p:txBody>
      </p:sp>
      <p:pic>
        <p:nvPicPr>
          <p:cNvPr id="69639" name="Picture 7"/>
          <p:cNvPicPr>
            <a:picLocks noGrp="1" noChangeAspect="1" noChangeArrowheads="1"/>
          </p:cNvPicPr>
          <p:nvPr>
            <p:ph sz="half" idx="2"/>
          </p:nvPr>
        </p:nvPicPr>
        <p:blipFill>
          <a:blip cstate="print"/>
          <a:srcRect/>
          <a:stretch>
            <a:fillRect/>
          </a:stretch>
        </p:blipFill>
        <p:spPr>
          <a:xfrm>
            <a:off x="4140200" y="1746250"/>
            <a:ext cx="5184775" cy="4635500"/>
          </a:xfrm>
          <a:noFill/>
          <a:ln/>
        </p:spPr>
      </p:pic>
      <p:pic>
        <p:nvPicPr>
          <p:cNvPr id="69640" name="Picture 8"/>
          <p:cNvPicPr>
            <a:picLocks noGrp="1" noChangeAspect="1" noChangeArrowheads="1"/>
          </p:cNvPicPr>
          <p:nvPr>
            <p:ph sz="half" idx="1"/>
          </p:nvPr>
        </p:nvPicPr>
        <p:blipFill>
          <a:blip cstate="print"/>
          <a:srcRect/>
          <a:stretch>
            <a:fillRect/>
          </a:stretch>
        </p:blipFill>
        <p:spPr>
          <a:xfrm>
            <a:off x="0" y="1778000"/>
            <a:ext cx="4932363" cy="4603750"/>
          </a:xfrm>
          <a:noFill/>
          <a:ln/>
        </p:spPr>
      </p:pic>
      <p:sp>
        <p:nvSpPr>
          <p:cNvPr id="2" name="幻灯片编号占位符 1"/>
          <p:cNvSpPr>
            <a:spLocks noGrp="1"/>
          </p:cNvSpPr>
          <p:nvPr>
            <p:ph type="sldNum" sz="quarter" idx="12"/>
          </p:nvPr>
        </p:nvSpPr>
        <p:spPr/>
        <p:txBody>
          <a:bodyPr/>
          <a:lstStyle/>
          <a:p>
            <a:fld id="{67ED21AA-184C-4641-9370-082D8E62746A}" type="slidenum">
              <a:rPr lang="en-US" altLang="zh-CN" smtClean="0"/>
              <a:pPr/>
              <a:t>125</a:t>
            </a:fld>
            <a:endParaRPr lang="zh-CN" altLang="en-US"/>
          </a:p>
        </p:txBody>
      </p:sp>
    </p:spTree>
    <p:extLst>
      <p:ext uri="{BB962C8B-B14F-4D97-AF65-F5344CB8AC3E}">
        <p14:creationId xmlns:p14="http://schemas.microsoft.com/office/powerpoint/2010/main" val="370934300"/>
      </p:ext>
    </p:extLst>
  </p:cSld>
  <p:clrMapOvr>
    <a:masterClrMapping/>
  </p:clrMapOvr>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2518" name="Group 662"/>
          <p:cNvGraphicFramePr>
            <a:graphicFrameLocks noGrp="1"/>
          </p:cNvGraphicFramePr>
          <p:nvPr/>
        </p:nvGraphicFramePr>
        <p:xfrm>
          <a:off x="0" y="44450"/>
          <a:ext cx="9144000" cy="6813552"/>
        </p:xfrm>
        <a:graphic>
          <a:graphicData uri="http://schemas.openxmlformats.org/drawingml/2006/table">
            <a:tbl>
              <a:tblPr/>
              <a:tblGrid>
                <a:gridCol w="1828800"/>
                <a:gridCol w="1179513"/>
                <a:gridCol w="1830387"/>
                <a:gridCol w="1827213"/>
                <a:gridCol w="2478087"/>
              </a:tblGrid>
              <a:tr h="4238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国家</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罪名总数</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纯正情节犯个数</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纯正兜底犯个数</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000" b="1"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弹性刑法占罪名总数％</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法国刑法典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115</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美国量刑指南</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140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荷兰刑法典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402</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3</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0.8</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西班牙刑法典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445</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4</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0.9</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巴西刑法典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382</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4</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1</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德国刑法典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324</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6</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1.9</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加拿大刑法典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392</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10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2.6</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澳大利亚刑法典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294</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8</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2.7</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日本刑法典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168</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6</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3.6</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菲律宾刑法典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251</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9</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3.6</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意大利刑法典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419</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19</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4.5</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瑞士刑法典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212</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11</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5.2</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俄罗斯刑法典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278</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15</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5.4</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泰国刑法典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311</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17</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5.5</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丹麦刑法典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208</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14</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6.7</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49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奥地利刑法典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238</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23</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9.7</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越南刑法典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262</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26</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9.9</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瑞典刑法典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196</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0</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26</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13.3</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3655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中国刑法典</a:t>
                      </a:r>
                      <a:endParaRPr kumimoji="0" lang="zh-CN" altLang="en-US"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435</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27</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chemeClr val="tx1"/>
                          </a:solidFill>
                          <a:effectLst/>
                          <a:latin typeface="Times New Roman" pitchFamily="18" charset="0"/>
                          <a:ea typeface="微软简粗黑" pitchFamily="2" charset="-122"/>
                          <a:cs typeface="宋体" pitchFamily="2" charset="-122"/>
                        </a:rPr>
                        <a:t>44</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000" b="0" i="0" u="none" strike="noStrike" cap="none" normalizeH="0" baseline="0" smtClean="0">
                          <a:ln>
                            <a:noFill/>
                          </a:ln>
                          <a:solidFill>
                            <a:srgbClr val="000000"/>
                          </a:solidFill>
                          <a:effectLst/>
                          <a:latin typeface="Times New Roman" pitchFamily="18" charset="0"/>
                          <a:ea typeface="微软简粗黑" pitchFamily="2" charset="-122"/>
                          <a:cs typeface="宋体" pitchFamily="2" charset="-122"/>
                        </a:rPr>
                        <a:t>15.6</a:t>
                      </a:r>
                      <a:endParaRPr kumimoji="0" lang="en-US" altLang="zh-CN" sz="1800" b="0" i="0" u="none" strike="noStrike" cap="none" normalizeH="0" baseline="0" smtClean="0">
                        <a:ln>
                          <a:noFill/>
                        </a:ln>
                        <a:solidFill>
                          <a:schemeClr val="tx1"/>
                        </a:solidFill>
                        <a:effectLst/>
                        <a:latin typeface="Arial" pitchFamily="34" charset="0"/>
                        <a:ea typeface="微软简粗黑" pitchFamily="2" charset="-122"/>
                        <a:cs typeface="宋体"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2" name="幻灯片编号占位符 1"/>
          <p:cNvSpPr>
            <a:spLocks noGrp="1"/>
          </p:cNvSpPr>
          <p:nvPr>
            <p:ph type="sldNum" sz="quarter" idx="12"/>
          </p:nvPr>
        </p:nvSpPr>
        <p:spPr/>
        <p:txBody>
          <a:bodyPr/>
          <a:lstStyle/>
          <a:p>
            <a:fld id="{E48E8300-F0AA-4671-8397-F49141120FA8}" type="slidenum">
              <a:rPr lang="en-US" altLang="zh-CN" smtClean="0"/>
              <a:pPr/>
              <a:t>126</a:t>
            </a:fld>
            <a:endParaRPr lang="zh-CN" altLang="en-US"/>
          </a:p>
        </p:txBody>
      </p:sp>
    </p:spTree>
    <p:extLst>
      <p:ext uri="{BB962C8B-B14F-4D97-AF65-F5344CB8AC3E}">
        <p14:creationId xmlns:p14="http://schemas.microsoft.com/office/powerpoint/2010/main" val="543575296"/>
      </p:ext>
    </p:extLst>
  </p:cSld>
  <p:clrMapOvr>
    <a:masterClrMapping/>
  </p:clrMapOvr>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kumimoji="1" lang="zh-CN" altLang="en-US" sz="3600" dirty="0" smtClean="0">
                <a:latin typeface="黑体"/>
                <a:ea typeface="黑体"/>
                <a:cs typeface="黑体"/>
              </a:rPr>
              <a:t>小结</a:t>
            </a:r>
            <a:endParaRPr kumimoji="1" lang="zh-CN" altLang="en-US" sz="3600" dirty="0">
              <a:latin typeface="黑体"/>
              <a:ea typeface="黑体"/>
              <a:cs typeface="黑体"/>
            </a:endParaRPr>
          </a:p>
        </p:txBody>
      </p:sp>
      <p:sp>
        <p:nvSpPr>
          <p:cNvPr id="3" name="内容占位符 2"/>
          <p:cNvSpPr>
            <a:spLocks noGrp="1"/>
          </p:cNvSpPr>
          <p:nvPr>
            <p:ph idx="1"/>
          </p:nvPr>
        </p:nvSpPr>
        <p:spPr>
          <a:xfrm>
            <a:off x="457200" y="908720"/>
            <a:ext cx="8229600" cy="5544616"/>
          </a:xfrm>
        </p:spPr>
        <p:txBody>
          <a:bodyPr/>
          <a:lstStyle/>
          <a:p>
            <a:r>
              <a:rPr kumimoji="1" lang="zh-CN" altLang="en-US" sz="2800" b="1" dirty="0" smtClean="0">
                <a:latin typeface="楷体"/>
                <a:ea typeface="楷体"/>
                <a:cs typeface="楷体"/>
              </a:rPr>
              <a:t>上述除刑制度有何共性？</a:t>
            </a:r>
            <a:endParaRPr kumimoji="1" lang="en-US" altLang="zh-CN" sz="2800" b="1" dirty="0" smtClean="0">
              <a:latin typeface="楷体"/>
              <a:ea typeface="楷体"/>
              <a:cs typeface="楷体"/>
            </a:endParaRPr>
          </a:p>
          <a:p>
            <a:pPr marL="0" indent="0">
              <a:buNone/>
            </a:pPr>
            <a:r>
              <a:rPr kumimoji="1" lang="en-US" altLang="zh-CN" sz="2800" b="1" dirty="0" smtClean="0">
                <a:latin typeface="楷体"/>
                <a:ea typeface="楷体"/>
                <a:cs typeface="楷体"/>
              </a:rPr>
              <a:t>    </a:t>
            </a:r>
            <a:r>
              <a:rPr kumimoji="1" lang="zh-CN" altLang="en-US" sz="2800" b="1" dirty="0" smtClean="0">
                <a:latin typeface="楷体"/>
                <a:ea typeface="楷体"/>
                <a:cs typeface="楷体"/>
              </a:rPr>
              <a:t>防止法外动刑</a:t>
            </a:r>
            <a:endParaRPr kumimoji="1" lang="en-US" altLang="zh-CN" sz="2800" b="1" dirty="0" smtClean="0">
              <a:latin typeface="楷体"/>
              <a:ea typeface="楷体"/>
              <a:cs typeface="楷体"/>
            </a:endParaRPr>
          </a:p>
          <a:p>
            <a:pPr marL="0" indent="0">
              <a:buNone/>
            </a:pPr>
            <a:r>
              <a:rPr kumimoji="1" lang="en-US" altLang="zh-CN" sz="2800" b="1" dirty="0" smtClean="0">
                <a:latin typeface="楷体"/>
                <a:ea typeface="楷体"/>
                <a:cs typeface="楷体"/>
              </a:rPr>
              <a:t>      </a:t>
            </a:r>
            <a:r>
              <a:rPr kumimoji="1" lang="zh-CN" altLang="en-US" sz="2800" b="1" dirty="0" smtClean="0">
                <a:latin typeface="楷体"/>
                <a:ea typeface="楷体"/>
                <a:cs typeface="楷体"/>
              </a:rPr>
              <a:t>或者，防止动刑不合理</a:t>
            </a:r>
            <a:endParaRPr kumimoji="1" lang="en-US" altLang="zh-CN" sz="2800" b="1" dirty="0" smtClean="0">
              <a:latin typeface="楷体"/>
              <a:ea typeface="楷体"/>
              <a:cs typeface="楷体"/>
            </a:endParaRPr>
          </a:p>
          <a:p>
            <a:pPr marL="0" indent="0">
              <a:buNone/>
            </a:pPr>
            <a:r>
              <a:rPr kumimoji="1" lang="en-US" altLang="zh-CN" sz="2800" b="1" dirty="0" smtClean="0">
                <a:latin typeface="楷体"/>
                <a:ea typeface="楷体"/>
                <a:cs typeface="楷体"/>
              </a:rPr>
              <a:t>        ——</a:t>
            </a:r>
            <a:r>
              <a:rPr kumimoji="1" lang="zh-CN" altLang="en-US" sz="2800" b="1" dirty="0" smtClean="0">
                <a:latin typeface="楷体"/>
                <a:ea typeface="楷体"/>
                <a:cs typeface="楷体"/>
              </a:rPr>
              <a:t>防止惩戒资源的滥用</a:t>
            </a:r>
            <a:endParaRPr kumimoji="1" lang="en-US" altLang="zh-CN" sz="2800" b="1" dirty="0" smtClean="0">
              <a:latin typeface="楷体"/>
              <a:ea typeface="楷体"/>
              <a:cs typeface="楷体"/>
            </a:endParaRPr>
          </a:p>
          <a:p>
            <a:r>
              <a:rPr kumimoji="1" lang="zh-CN" altLang="en-US" sz="2800" b="1" dirty="0" smtClean="0">
                <a:latin typeface="楷体"/>
                <a:ea typeface="楷体"/>
                <a:cs typeface="楷体"/>
              </a:rPr>
              <a:t>谁会因此而受到伤害：犯罪人？被告人？所有人？</a:t>
            </a:r>
            <a:endParaRPr kumimoji="1" lang="en-US" altLang="zh-CN" sz="2800" b="1" dirty="0" smtClean="0">
              <a:latin typeface="楷体"/>
              <a:ea typeface="楷体"/>
              <a:cs typeface="楷体"/>
            </a:endParaRPr>
          </a:p>
          <a:p>
            <a:r>
              <a:rPr kumimoji="1" lang="zh-CN" altLang="en-US" sz="2800" b="1" dirty="0" smtClean="0">
                <a:latin typeface="楷体"/>
                <a:ea typeface="楷体"/>
                <a:cs typeface="楷体"/>
              </a:rPr>
              <a:t>所以，动刑的权力必须受到限制。</a:t>
            </a:r>
            <a:endParaRPr kumimoji="1" lang="en-US" altLang="zh-CN" sz="2800" b="1" dirty="0" smtClean="0">
              <a:latin typeface="楷体"/>
              <a:ea typeface="楷体"/>
              <a:cs typeface="楷体"/>
            </a:endParaRPr>
          </a:p>
          <a:p>
            <a:r>
              <a:rPr kumimoji="1" lang="zh-CN" altLang="en-US" sz="2800" b="1" dirty="0" smtClean="0">
                <a:latin typeface="楷体"/>
                <a:ea typeface="楷体"/>
                <a:cs typeface="楷体"/>
              </a:rPr>
              <a:t>否则，滥刑、乱刑，还不如无刑。</a:t>
            </a:r>
            <a:endParaRPr kumimoji="1" lang="en-US" altLang="zh-CN" sz="2800" b="1" dirty="0" smtClean="0">
              <a:latin typeface="楷体"/>
              <a:ea typeface="楷体"/>
              <a:cs typeface="楷体"/>
            </a:endParaRPr>
          </a:p>
          <a:p>
            <a:r>
              <a:rPr kumimoji="1" lang="zh-CN" altLang="en-US" sz="2800" b="1" dirty="0" smtClean="0">
                <a:latin typeface="楷体"/>
                <a:ea typeface="楷体"/>
                <a:cs typeface="楷体"/>
              </a:rPr>
              <a:t>第四、五、六讲</a:t>
            </a:r>
            <a:r>
              <a:rPr lang="zh-CN" altLang="zh-CN" sz="2800" b="1" dirty="0" smtClean="0">
                <a:latin typeface="楷体"/>
                <a:ea typeface="楷体"/>
                <a:cs typeface="楷体"/>
              </a:rPr>
              <a:t>分别</a:t>
            </a:r>
            <a:r>
              <a:rPr lang="zh-CN" altLang="zh-CN" sz="2800" b="1" dirty="0">
                <a:latin typeface="楷体"/>
                <a:ea typeface="楷体"/>
                <a:cs typeface="楷体"/>
              </a:rPr>
              <a:t>是“犯罪人”、“犯罪化”、“除刑</a:t>
            </a:r>
            <a:r>
              <a:rPr lang="zh-CN" altLang="zh-CN" sz="2800" b="1" dirty="0" smtClean="0">
                <a:latin typeface="楷体"/>
                <a:ea typeface="楷体"/>
                <a:cs typeface="楷体"/>
              </a:rPr>
              <a:t>”</a:t>
            </a:r>
            <a:r>
              <a:rPr lang="zh-CN" altLang="en-US" sz="2800" b="1" dirty="0" smtClean="0">
                <a:latin typeface="楷体"/>
                <a:ea typeface="楷体"/>
                <a:cs typeface="楷体"/>
              </a:rPr>
              <a:t>。</a:t>
            </a:r>
            <a:r>
              <a:rPr lang="zh-CN" altLang="zh-CN" sz="2800" b="1" dirty="0" smtClean="0">
                <a:latin typeface="楷体"/>
                <a:ea typeface="楷体"/>
                <a:cs typeface="楷体"/>
              </a:rPr>
              <a:t>内在逻辑是给人贴上犯罪标签</a:t>
            </a:r>
            <a:r>
              <a:rPr lang="zh-CN" altLang="zh-CN" sz="2800" b="1" dirty="0">
                <a:latin typeface="楷体"/>
                <a:ea typeface="楷体"/>
                <a:cs typeface="楷体"/>
              </a:rPr>
              <a:t>，难免滥用刑罚的风险。由于刑罚不仁，所以要有除刑</a:t>
            </a:r>
            <a:r>
              <a:rPr lang="zh-CN" altLang="zh-CN" sz="2800" b="1" dirty="0" smtClean="0">
                <a:latin typeface="楷体"/>
                <a:ea typeface="楷体"/>
                <a:cs typeface="楷体"/>
              </a:rPr>
              <a:t>机制</a:t>
            </a:r>
            <a:r>
              <a:rPr lang="zh-CN" altLang="zh-CN" sz="3200" b="1" dirty="0" smtClean="0">
                <a:latin typeface="黑体"/>
                <a:ea typeface="黑体"/>
                <a:cs typeface="黑体"/>
              </a:rPr>
              <a:t>。 </a:t>
            </a:r>
            <a:endParaRPr kumimoji="1" lang="zh-CN" altLang="en-US" sz="3200" b="1" dirty="0">
              <a:latin typeface="黑体"/>
              <a:ea typeface="黑体"/>
              <a:cs typeface="黑体"/>
            </a:endParaRPr>
          </a:p>
        </p:txBody>
      </p:sp>
      <p:sp>
        <p:nvSpPr>
          <p:cNvPr id="4" name="幻灯片编号占位符 3"/>
          <p:cNvSpPr>
            <a:spLocks noGrp="1"/>
          </p:cNvSpPr>
          <p:nvPr>
            <p:ph type="sldNum" sz="quarter" idx="12"/>
          </p:nvPr>
        </p:nvSpPr>
        <p:spPr/>
        <p:txBody>
          <a:bodyPr/>
          <a:lstStyle/>
          <a:p>
            <a:fld id="{837C144C-5A62-4B53-B939-FE9C4EDA708D}" type="slidenum">
              <a:rPr lang="en-US" altLang="zh-CN" smtClean="0"/>
              <a:pPr/>
              <a:t>127</a:t>
            </a:fld>
            <a:endParaRPr lang="zh-CN" altLang="en-US"/>
          </a:p>
        </p:txBody>
      </p:sp>
    </p:spTree>
    <p:extLst>
      <p:ext uri="{BB962C8B-B14F-4D97-AF65-F5344CB8AC3E}">
        <p14:creationId xmlns:p14="http://schemas.microsoft.com/office/powerpoint/2010/main" val="4058532936"/>
      </p:ext>
    </p:extLst>
  </p:cSld>
  <p:clrMapOvr>
    <a:masterClrMapping/>
  </p:clrMapOvr>
  <p:transition>
    <p:fade/>
  </p:transition>
</p:sld>
</file>

<file path=ppt/theme/theme1.xml><?xml version="1.0" encoding="utf-8"?>
<a:theme xmlns:a="http://schemas.openxmlformats.org/drawingml/2006/main" name="technical-drawing">
  <a:themeElements>
    <a:clrScheme name="Office 主题 13">
      <a:dk1>
        <a:srgbClr val="000000"/>
      </a:dk1>
      <a:lt1>
        <a:srgbClr val="FFFFFF"/>
      </a:lt1>
      <a:dk2>
        <a:srgbClr val="000000"/>
      </a:dk2>
      <a:lt2>
        <a:srgbClr val="C6C6C6"/>
      </a:lt2>
      <a:accent1>
        <a:srgbClr val="C1F1FF"/>
      </a:accent1>
      <a:accent2>
        <a:srgbClr val="FFC1CE"/>
      </a:accent2>
      <a:accent3>
        <a:srgbClr val="FFFFFF"/>
      </a:accent3>
      <a:accent4>
        <a:srgbClr val="000000"/>
      </a:accent4>
      <a:accent5>
        <a:srgbClr val="DDF7FF"/>
      </a:accent5>
      <a:accent6>
        <a:srgbClr val="E7AFBA"/>
      </a:accent6>
      <a:hlink>
        <a:srgbClr val="CDFFC1"/>
      </a:hlink>
      <a:folHlink>
        <a:srgbClr val="FFE1C1"/>
      </a:folHlink>
    </a:clrScheme>
    <a:fontScheme name="Office 主题">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1" i="0" u="none" strike="noStrike" cap="none" normalizeH="0" baseline="0" noProof="1"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1" i="0" u="none" strike="noStrike" cap="none" normalizeH="0" baseline="0" noProof="1" smtClean="0">
            <a:ln>
              <a:noFill/>
            </a:ln>
            <a:solidFill>
              <a:schemeClr val="tx1"/>
            </a:solidFill>
            <a:effectLst/>
            <a:latin typeface="Arial" pitchFamily="34" charset="0"/>
          </a:defRPr>
        </a:defPPr>
      </a:lstStyle>
    </a:lnDef>
  </a:objectDefaults>
  <a:extraClrSchemeLst>
    <a:extraClrScheme>
      <a:clrScheme name="Office 主题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主题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主题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主题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主题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主题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主题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主题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主题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主题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主题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主题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ffice 主题 13">
        <a:dk1>
          <a:srgbClr val="000000"/>
        </a:dk1>
        <a:lt1>
          <a:srgbClr val="FFFFFF"/>
        </a:lt1>
        <a:dk2>
          <a:srgbClr val="000000"/>
        </a:dk2>
        <a:lt2>
          <a:srgbClr val="C6C6C6"/>
        </a:lt2>
        <a:accent1>
          <a:srgbClr val="C1F1FF"/>
        </a:accent1>
        <a:accent2>
          <a:srgbClr val="FFC1CE"/>
        </a:accent2>
        <a:accent3>
          <a:srgbClr val="FFFFFF"/>
        </a:accent3>
        <a:accent4>
          <a:srgbClr val="000000"/>
        </a:accent4>
        <a:accent5>
          <a:srgbClr val="DDF7FF"/>
        </a:accent5>
        <a:accent6>
          <a:srgbClr val="E7AFBA"/>
        </a:accent6>
        <a:hlink>
          <a:srgbClr val="CDFFC1"/>
        </a:hlink>
        <a:folHlink>
          <a:srgbClr val="FFE1C1"/>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technical-drawing</Template>
  <TotalTime>9114</TotalTime>
  <Words>15049</Words>
  <Application>Microsoft Macintosh PowerPoint</Application>
  <PresentationFormat>全屏显示(4:3)</PresentationFormat>
  <Paragraphs>1180</Paragraphs>
  <Slides>127</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127</vt:i4>
      </vt:variant>
    </vt:vector>
  </HeadingPairs>
  <TitlesOfParts>
    <vt:vector size="147" baseType="lpstr">
      <vt:lpstr>Calibri</vt:lpstr>
      <vt:lpstr>Cambria</vt:lpstr>
      <vt:lpstr>KaiTi</vt:lpstr>
      <vt:lpstr>Lantinghei SC Demibold</vt:lpstr>
      <vt:lpstr>MingLiU</vt:lpstr>
      <vt:lpstr>Times New Roman</vt:lpstr>
      <vt:lpstr>方正超粗黑简体</vt:lpstr>
      <vt:lpstr>方正舒体</vt:lpstr>
      <vt:lpstr>仿宋</vt:lpstr>
      <vt:lpstr>黑体</vt:lpstr>
      <vt:lpstr>华文仿宋</vt:lpstr>
      <vt:lpstr>华文琥珀</vt:lpstr>
      <vt:lpstr>经典粗圆简</vt:lpstr>
      <vt:lpstr>楷体</vt:lpstr>
      <vt:lpstr>宋体</vt:lpstr>
      <vt:lpstr>微软简粗黑</vt:lpstr>
      <vt:lpstr>微软雅黑</vt:lpstr>
      <vt:lpstr>細明體</vt:lpstr>
      <vt:lpstr>Arial</vt:lpstr>
      <vt:lpstr>technical-drawing</vt:lpstr>
      <vt:lpstr>第四讲  犯罪人</vt:lpstr>
      <vt:lpstr>             风化犯</vt:lpstr>
      <vt:lpstr>强奸罪的概念和构成条件</vt:lpstr>
      <vt:lpstr>怎样判断“违背妇女意志”？</vt:lpstr>
      <vt:lpstr>PowerPoint 演示文稿</vt:lpstr>
      <vt:lpstr>PowerPoint 演示文稿</vt:lpstr>
      <vt:lpstr>PowerPoint 演示文稿</vt:lpstr>
      <vt:lpstr>婚内一定无奸？</vt:lpstr>
      <vt:lpstr>美国学者科恩的分类：</vt:lpstr>
      <vt:lpstr>性滥用</vt:lpstr>
      <vt:lpstr>到底该怎样理解犯罪人？</vt:lpstr>
      <vt:lpstr>PowerPoint 演示文稿</vt:lpstr>
      <vt:lpstr>龙布罗梭的观察与回答</vt:lpstr>
      <vt:lpstr>如果犯罪人是天生异类，那么——</vt:lpstr>
      <vt:lpstr>     既然犯罪人不一定是异类，就要看行为本身是否恶性十足了？</vt:lpstr>
      <vt:lpstr>可见：</vt:lpstr>
      <vt:lpstr>第五讲  犯罪化</vt:lpstr>
      <vt:lpstr>犯罪化与对象化</vt:lpstr>
      <vt:lpstr>反过来写的价值</vt:lpstr>
      <vt:lpstr>类型</vt:lpstr>
      <vt:lpstr>基本理论</vt:lpstr>
      <vt:lpstr>两种理论比较：主客体关系</vt:lpstr>
      <vt:lpstr>两种理论比较：对象与定义关系</vt:lpstr>
      <vt:lpstr>客体理论的理论根据</vt:lpstr>
      <vt:lpstr>孪生子研究、1833年法国格雷的《论法国的道德统计》</vt:lpstr>
      <vt:lpstr>罪刑关系逻辑批判</vt:lpstr>
      <vt:lpstr>主体理论依据之一：能动论</vt:lpstr>
      <vt:lpstr>一个民间传说</vt:lpstr>
      <vt:lpstr>两次争论，两次定义权争夺</vt:lpstr>
      <vt:lpstr>【电影】拉里福林克 </vt:lpstr>
      <vt:lpstr>主体理论依据之二：多元论</vt:lpstr>
      <vt:lpstr>多元论代表：《文化冲突论》</vt:lpstr>
      <vt:lpstr>基于两个假定的推论</vt:lpstr>
      <vt:lpstr>主体理论依据之三：冲突论</vt:lpstr>
      <vt:lpstr>目标与手段的断裂</vt:lpstr>
      <vt:lpstr>对社会异常的个体反应方式 </vt:lpstr>
      <vt:lpstr>    总之：</vt:lpstr>
      <vt:lpstr>罗生门里的十二怒汉</vt:lpstr>
      <vt:lpstr>真相？</vt:lpstr>
      <vt:lpstr>PowerPoint 演示文稿</vt:lpstr>
      <vt:lpstr>正义女神忒弥斯真的蒙上双眼？ </vt:lpstr>
      <vt:lpstr>比较犯罪定义学</vt:lpstr>
      <vt:lpstr>    问题：</vt:lpstr>
      <vt:lpstr>空间因素（交互分析）</vt:lpstr>
      <vt:lpstr> 人口因素（均值比较） 6.7倍！——死刑国家基本上是人口大国。 </vt:lpstr>
      <vt:lpstr>    而且：</vt:lpstr>
      <vt:lpstr>人口因素（续）</vt:lpstr>
      <vt:lpstr>民族因素： ——死刑国家的民族异质性程度很可能大于非死刑国家。</vt:lpstr>
      <vt:lpstr>经济因素     已经发现，犯罪率高低乃至刑事司法的宽严都与经济发展程度有关，但尚无证据表明刑事立法是否与经济发展有关。</vt:lpstr>
      <vt:lpstr>可见——</vt:lpstr>
      <vt:lpstr>回到问题</vt:lpstr>
      <vt:lpstr>犯罪定义是主客体之间的中介物</vt:lpstr>
      <vt:lpstr>PowerPoint 演示文稿</vt:lpstr>
      <vt:lpstr>媒体案例</vt:lpstr>
      <vt:lpstr>药家鑫案</vt:lpstr>
      <vt:lpstr>李昌奎案</vt:lpstr>
      <vt:lpstr>天价过路费案</vt:lpstr>
      <vt:lpstr>PowerPoint 演示文稿</vt:lpstr>
      <vt:lpstr>概念操作化</vt:lpstr>
      <vt:lpstr>犯罪圈大小</vt:lpstr>
      <vt:lpstr>刑罚轻重</vt:lpstr>
      <vt:lpstr>罪刑轻重顺序</vt:lpstr>
      <vt:lpstr>理论假设</vt:lpstr>
      <vt:lpstr>因变量：刑法偏好系数</vt:lpstr>
      <vt:lpstr>自变量：被害感受</vt:lpstr>
      <vt:lpstr>样本</vt:lpstr>
      <vt:lpstr>CFPS 样本区县地理分布图 </vt:lpstr>
      <vt:lpstr>结果与发现</vt:lpstr>
      <vt:lpstr>刑法偏好具体观察</vt:lpstr>
      <vt:lpstr>刑法偏好具体观察</vt:lpstr>
      <vt:lpstr>回归结果：刑法偏好与犯罪被害感受无关 </vt:lpstr>
      <vt:lpstr>（续前表）</vt:lpstr>
      <vt:lpstr>刑法偏好另有原因</vt:lpstr>
      <vt:lpstr>刑法偏好另有原因</vt:lpstr>
      <vt:lpstr>发现简述</vt:lpstr>
      <vt:lpstr>讨论</vt:lpstr>
      <vt:lpstr>刑法偏好是社会现实的扭曲反映</vt:lpstr>
      <vt:lpstr>    1、概括的民意优于具体民意</vt:lpstr>
      <vt:lpstr>2、刑法不宜过度社会化</vt:lpstr>
      <vt:lpstr>3、不应滥用民意</vt:lpstr>
      <vt:lpstr>犯罪定义学研究得到的启示</vt:lpstr>
      <vt:lpstr>第六讲  除刑</vt:lpstr>
      <vt:lpstr>除刑之一：罪刑法定 </vt:lpstr>
      <vt:lpstr>罪刑法定原则之一：禁止类推</vt:lpstr>
      <vt:lpstr>一个时代的结束</vt:lpstr>
      <vt:lpstr>类推与扩大解释之间</vt:lpstr>
      <vt:lpstr>罪刑法定原则之二：排斥习惯法 </vt:lpstr>
      <vt:lpstr>习惯法不是习惯、惯性思维、前见等等</vt:lpstr>
      <vt:lpstr>罪刑法定原则之三：禁止溯及既往 </vt:lpstr>
      <vt:lpstr>丛旧兼从轻</vt:lpstr>
      <vt:lpstr>罪刑法定原则之四：禁止绝对的不定期刑 </vt:lpstr>
      <vt:lpstr>罪刑法定原则的价值</vt:lpstr>
      <vt:lpstr>除刑之二：责任能力</vt:lpstr>
      <vt:lpstr>基本概念：刑事责任能力</vt:lpstr>
      <vt:lpstr>犯罪能力的标志之一：责任年龄（第17条）</vt:lpstr>
      <vt:lpstr>特殊刑事责任能力</vt:lpstr>
      <vt:lpstr>除刑之三：正当防卫</vt:lpstr>
      <vt:lpstr>律师的辩护意见要点</vt:lpstr>
      <vt:lpstr>基本概念：正当防卫（第20条）</vt:lpstr>
      <vt:lpstr>防卫必须依法</vt:lpstr>
      <vt:lpstr>正当防卫的成立条件</vt:lpstr>
      <vt:lpstr>正当防卫的成立条件</vt:lpstr>
      <vt:lpstr>侵害是否结束与被害权益的性质有关</vt:lpstr>
      <vt:lpstr>正当防卫的成立条件</vt:lpstr>
      <vt:lpstr>正当防卫的成立条件</vt:lpstr>
      <vt:lpstr>除刑之四：紧急避险</vt:lpstr>
      <vt:lpstr>正当防卫与紧急避险</vt:lpstr>
      <vt:lpstr>紧急避险的几个具体问题 </vt:lpstr>
      <vt:lpstr>PowerPoint 演示文稿</vt:lpstr>
      <vt:lpstr>PowerPoint 演示文稿</vt:lpstr>
      <vt:lpstr>除刑之五：但书</vt:lpstr>
      <vt:lpstr>除刑之六：经验定义</vt:lpstr>
      <vt:lpstr>PowerPoint 演示文稿</vt:lpstr>
      <vt:lpstr> 用经验归纳修正三段论</vt:lpstr>
      <vt:lpstr>法的“经验定义”：类型化案件事实法律性质的否定性特称判断。</vt:lpstr>
      <vt:lpstr>什么是操纵市场罪？</vt:lpstr>
      <vt:lpstr>钱炳良案</vt:lpstr>
      <vt:lpstr>赵江波“期货精灵”案</vt:lpstr>
      <vt:lpstr>归纳</vt:lpstr>
      <vt:lpstr>除刑之七：时效</vt:lpstr>
      <vt:lpstr>PowerPoint 演示文稿</vt:lpstr>
      <vt:lpstr>实然：</vt:lpstr>
      <vt:lpstr>于是——</vt:lpstr>
      <vt:lpstr>PowerPoint 演示文稿</vt:lpstr>
      <vt:lpstr>新老刑法比较</vt:lpstr>
      <vt:lpstr>PowerPoint 演示文稿</vt:lpstr>
      <vt:lpstr>小结</vt:lpstr>
    </vt:vector>
  </TitlesOfParts>
  <LinksUpToDate>false</LinksUpToDate>
  <SharedDoc>false</SharedDoc>
  <HyperlinksChanged>false</HyperlinksChanged>
  <AppVersion>15.0040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bjj</dc:creator>
  <cp:lastModifiedBy>Microsoft Office 用户</cp:lastModifiedBy>
  <cp:revision>385</cp:revision>
  <dcterms:created xsi:type="dcterms:W3CDTF">2010-09-20T08:14:22Z</dcterms:created>
  <dcterms:modified xsi:type="dcterms:W3CDTF">2017-11-15T03:14:02Z</dcterms:modified>
</cp:coreProperties>
</file>