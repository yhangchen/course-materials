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13" r:id="rId2"/>
    <p:sldId id="414" r:id="rId3"/>
    <p:sldId id="415" r:id="rId4"/>
    <p:sldId id="416" r:id="rId5"/>
    <p:sldId id="417" r:id="rId6"/>
    <p:sldId id="411" r:id="rId7"/>
    <p:sldId id="536" r:id="rId8"/>
    <p:sldId id="537" r:id="rId9"/>
    <p:sldId id="538" r:id="rId10"/>
    <p:sldId id="418" r:id="rId11"/>
    <p:sldId id="419" r:id="rId12"/>
    <p:sldId id="420" r:id="rId13"/>
    <p:sldId id="421" r:id="rId14"/>
    <p:sldId id="422" r:id="rId15"/>
    <p:sldId id="423" r:id="rId16"/>
    <p:sldId id="424" r:id="rId17"/>
    <p:sldId id="425" r:id="rId18"/>
    <p:sldId id="427" r:id="rId19"/>
    <p:sldId id="428" r:id="rId20"/>
    <p:sldId id="429" r:id="rId21"/>
    <p:sldId id="430" r:id="rId22"/>
    <p:sldId id="431" r:id="rId23"/>
    <p:sldId id="433" r:id="rId24"/>
    <p:sldId id="434" r:id="rId25"/>
    <p:sldId id="436" r:id="rId26"/>
    <p:sldId id="440" r:id="rId27"/>
    <p:sldId id="441" r:id="rId28"/>
    <p:sldId id="442" r:id="rId29"/>
    <p:sldId id="443" r:id="rId30"/>
    <p:sldId id="444" r:id="rId31"/>
    <p:sldId id="445" r:id="rId32"/>
    <p:sldId id="446" r:id="rId33"/>
    <p:sldId id="447" r:id="rId34"/>
    <p:sldId id="448" r:id="rId35"/>
    <p:sldId id="449" r:id="rId36"/>
    <p:sldId id="450" r:id="rId37"/>
    <p:sldId id="454" r:id="rId38"/>
    <p:sldId id="455" r:id="rId39"/>
    <p:sldId id="456" r:id="rId40"/>
    <p:sldId id="457" r:id="rId41"/>
    <p:sldId id="459" r:id="rId42"/>
    <p:sldId id="460" r:id="rId43"/>
    <p:sldId id="461" r:id="rId44"/>
    <p:sldId id="462" r:id="rId45"/>
    <p:sldId id="463" r:id="rId46"/>
    <p:sldId id="464" r:id="rId47"/>
    <p:sldId id="465" r:id="rId48"/>
    <p:sldId id="466" r:id="rId49"/>
    <p:sldId id="467" r:id="rId50"/>
    <p:sldId id="468" r:id="rId51"/>
    <p:sldId id="469" r:id="rId52"/>
    <p:sldId id="470" r:id="rId53"/>
    <p:sldId id="471" r:id="rId54"/>
    <p:sldId id="472" r:id="rId55"/>
    <p:sldId id="473" r:id="rId56"/>
    <p:sldId id="474" r:id="rId57"/>
    <p:sldId id="475" r:id="rId58"/>
    <p:sldId id="535" r:id="rId59"/>
    <p:sldId id="533" r:id="rId60"/>
    <p:sldId id="534" r:id="rId61"/>
    <p:sldId id="532" r:id="rId62"/>
    <p:sldId id="476" r:id="rId63"/>
    <p:sldId id="477" r:id="rId64"/>
    <p:sldId id="478" r:id="rId65"/>
    <p:sldId id="479" r:id="rId66"/>
    <p:sldId id="480" r:id="rId67"/>
    <p:sldId id="481" r:id="rId68"/>
    <p:sldId id="482" r:id="rId69"/>
    <p:sldId id="483" r:id="rId70"/>
    <p:sldId id="484" r:id="rId71"/>
    <p:sldId id="496" r:id="rId72"/>
    <p:sldId id="501" r:id="rId73"/>
    <p:sldId id="506" r:id="rId74"/>
    <p:sldId id="507" r:id="rId75"/>
    <p:sldId id="530" r:id="rId76"/>
    <p:sldId id="516" r:id="rId77"/>
    <p:sldId id="517" r:id="rId78"/>
    <p:sldId id="528" r:id="rId79"/>
    <p:sldId id="529" r:id="rId80"/>
    <p:sldId id="492" r:id="rId81"/>
    <p:sldId id="540" r:id="rId82"/>
    <p:sldId id="541" r:id="rId83"/>
    <p:sldId id="542" r:id="rId84"/>
    <p:sldId id="543" r:id="rId85"/>
    <p:sldId id="544" r:id="rId86"/>
    <p:sldId id="545" r:id="rId87"/>
    <p:sldId id="546" r:id="rId88"/>
    <p:sldId id="547" r:id="rId89"/>
    <p:sldId id="548" r:id="rId90"/>
    <p:sldId id="549" r:id="rId91"/>
    <p:sldId id="539" r:id="rId92"/>
  </p:sldIdLst>
  <p:sldSz cx="9144000" cy="6858000" type="screen4x3"/>
  <p:notesSz cx="6858000" cy="9144000"/>
  <p:defaultTextStyle>
    <a:defPPr>
      <a:defRPr lang="zh-CN"/>
    </a:defPPr>
    <a:lvl1pPr algn="l" rtl="0" fontAlgn="base">
      <a:spcBef>
        <a:spcPct val="0"/>
      </a:spcBef>
      <a:spcAft>
        <a:spcPct val="0"/>
      </a:spcAft>
      <a:defRPr b="1" kern="1200">
        <a:solidFill>
          <a:schemeClr val="tx1"/>
        </a:solidFill>
        <a:latin typeface="Arial" pitchFamily="34" charset="0"/>
        <a:ea typeface="+mn-ea"/>
        <a:cs typeface="+mn-cs"/>
      </a:defRPr>
    </a:lvl1pPr>
    <a:lvl2pPr marL="457200" algn="l" rtl="0" fontAlgn="base">
      <a:spcBef>
        <a:spcPct val="0"/>
      </a:spcBef>
      <a:spcAft>
        <a:spcPct val="0"/>
      </a:spcAft>
      <a:defRPr b="1" kern="1200">
        <a:solidFill>
          <a:schemeClr val="tx1"/>
        </a:solidFill>
        <a:latin typeface="Arial" pitchFamily="34" charset="0"/>
        <a:ea typeface="+mn-ea"/>
        <a:cs typeface="+mn-cs"/>
      </a:defRPr>
    </a:lvl2pPr>
    <a:lvl3pPr marL="914400" algn="l" rtl="0" fontAlgn="base">
      <a:spcBef>
        <a:spcPct val="0"/>
      </a:spcBef>
      <a:spcAft>
        <a:spcPct val="0"/>
      </a:spcAft>
      <a:defRPr b="1" kern="1200">
        <a:solidFill>
          <a:schemeClr val="tx1"/>
        </a:solidFill>
        <a:latin typeface="Arial" pitchFamily="34" charset="0"/>
        <a:ea typeface="+mn-ea"/>
        <a:cs typeface="+mn-cs"/>
      </a:defRPr>
    </a:lvl3pPr>
    <a:lvl4pPr marL="1371600" algn="l" rtl="0" fontAlgn="base">
      <a:spcBef>
        <a:spcPct val="0"/>
      </a:spcBef>
      <a:spcAft>
        <a:spcPct val="0"/>
      </a:spcAft>
      <a:defRPr b="1" kern="1200">
        <a:solidFill>
          <a:schemeClr val="tx1"/>
        </a:solidFill>
        <a:latin typeface="Arial" pitchFamily="34" charset="0"/>
        <a:ea typeface="+mn-ea"/>
        <a:cs typeface="+mn-cs"/>
      </a:defRPr>
    </a:lvl4pPr>
    <a:lvl5pPr marL="1828800" algn="l" rtl="0" fontAlgn="base">
      <a:spcBef>
        <a:spcPct val="0"/>
      </a:spcBef>
      <a:spcAft>
        <a:spcPct val="0"/>
      </a:spcAft>
      <a:defRPr b="1" kern="1200">
        <a:solidFill>
          <a:schemeClr val="tx1"/>
        </a:solidFill>
        <a:latin typeface="Arial" pitchFamily="34" charset="0"/>
        <a:ea typeface="+mn-ea"/>
        <a:cs typeface="+mn-cs"/>
      </a:defRPr>
    </a:lvl5pPr>
    <a:lvl6pPr marL="2286000" algn="l" defTabSz="914400" rtl="0" eaLnBrk="1" latinLnBrk="0" hangingPunct="1">
      <a:defRPr b="1" kern="1200">
        <a:solidFill>
          <a:schemeClr val="tx1"/>
        </a:solidFill>
        <a:latin typeface="Arial" pitchFamily="34" charset="0"/>
        <a:ea typeface="+mn-ea"/>
        <a:cs typeface="+mn-cs"/>
      </a:defRPr>
    </a:lvl6pPr>
    <a:lvl7pPr marL="2743200" algn="l" defTabSz="914400" rtl="0" eaLnBrk="1" latinLnBrk="0" hangingPunct="1">
      <a:defRPr b="1" kern="1200">
        <a:solidFill>
          <a:schemeClr val="tx1"/>
        </a:solidFill>
        <a:latin typeface="Arial" pitchFamily="34" charset="0"/>
        <a:ea typeface="+mn-ea"/>
        <a:cs typeface="+mn-cs"/>
      </a:defRPr>
    </a:lvl7pPr>
    <a:lvl8pPr marL="3200400" algn="l" defTabSz="914400" rtl="0" eaLnBrk="1" latinLnBrk="0" hangingPunct="1">
      <a:defRPr b="1" kern="1200">
        <a:solidFill>
          <a:schemeClr val="tx1"/>
        </a:solidFill>
        <a:latin typeface="Arial" pitchFamily="34" charset="0"/>
        <a:ea typeface="+mn-ea"/>
        <a:cs typeface="+mn-cs"/>
      </a:defRPr>
    </a:lvl8pPr>
    <a:lvl9pPr marL="3657600" algn="l" defTabSz="914400" rtl="0" eaLnBrk="1" latinLnBrk="0" hangingPunct="1">
      <a:defRPr b="1"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2" autoAdjust="0"/>
    <p:restoredTop sz="92736" autoAdjust="0"/>
  </p:normalViewPr>
  <p:slideViewPr>
    <p:cSldViewPr>
      <p:cViewPr varScale="1">
        <p:scale>
          <a:sx n="94" d="100"/>
          <a:sy n="94" d="100"/>
        </p:scale>
        <p:origin x="180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E010AC-95D3-E442-8BBD-0C8EF076C9BC}" type="doc">
      <dgm:prSet loTypeId="urn:microsoft.com/office/officeart/2005/8/layout/hierarchy1" loCatId="" qsTypeId="urn:microsoft.com/office/officeart/2005/8/quickstyle/3D6" qsCatId="3D" csTypeId="urn:microsoft.com/office/officeart/2005/8/colors/accent1_2" csCatId="accent1" phldr="1"/>
      <dgm:spPr/>
      <dgm:t>
        <a:bodyPr/>
        <a:lstStyle/>
        <a:p>
          <a:endParaRPr lang="zh-CN" altLang="en-US"/>
        </a:p>
      </dgm:t>
    </dgm:pt>
    <dgm:pt modelId="{8035014C-E765-4242-A1A1-65A7D509BD68}">
      <dgm:prSet phldrT="[文本]" custT="1"/>
      <dgm:spPr/>
      <dgm:t>
        <a:bodyPr/>
        <a:lstStyle/>
        <a:p>
          <a:r>
            <a:rPr lang="zh-CN" altLang="en-US" sz="3600" dirty="0">
              <a:latin typeface="华文琥珀"/>
              <a:ea typeface="华文琥珀"/>
              <a:cs typeface="华文琥珀"/>
            </a:rPr>
            <a:t>危险心理</a:t>
          </a:r>
        </a:p>
      </dgm:t>
    </dgm:pt>
    <dgm:pt modelId="{412237C0-E93C-6245-85C9-5E7C6545751B}" type="parTrans" cxnId="{715E9B84-C020-3248-A3CD-E1F57A949523}">
      <dgm:prSet/>
      <dgm:spPr/>
      <dgm:t>
        <a:bodyPr/>
        <a:lstStyle/>
        <a:p>
          <a:endParaRPr lang="zh-CN" altLang="en-US"/>
        </a:p>
      </dgm:t>
    </dgm:pt>
    <dgm:pt modelId="{4F9426EB-246E-D444-9009-60EBB0DCAEA5}" type="sibTrans" cxnId="{715E9B84-C020-3248-A3CD-E1F57A949523}">
      <dgm:prSet/>
      <dgm:spPr/>
      <dgm:t>
        <a:bodyPr/>
        <a:lstStyle/>
        <a:p>
          <a:endParaRPr lang="zh-CN" altLang="en-US"/>
        </a:p>
      </dgm:t>
    </dgm:pt>
    <dgm:pt modelId="{E51A38E8-BF65-AB4E-842B-D4F3F90A21F4}">
      <dgm:prSet phldrT="[文本]" custT="1"/>
      <dgm:spPr/>
      <dgm:t>
        <a:bodyPr/>
        <a:lstStyle/>
        <a:p>
          <a:r>
            <a:rPr lang="zh-CN" altLang="en-US" sz="3600" b="1" dirty="0">
              <a:latin typeface="黑体"/>
              <a:ea typeface="黑体"/>
              <a:cs typeface="黑体"/>
            </a:rPr>
            <a:t>危险人格</a:t>
          </a:r>
        </a:p>
      </dgm:t>
    </dgm:pt>
    <dgm:pt modelId="{EB57546B-6EBD-0147-81DA-467EE0F4AB93}" type="parTrans" cxnId="{FA8487A7-BA08-C046-8022-83A4632D985B}">
      <dgm:prSet/>
      <dgm:spPr/>
      <dgm:t>
        <a:bodyPr/>
        <a:lstStyle/>
        <a:p>
          <a:endParaRPr lang="zh-CN" altLang="en-US"/>
        </a:p>
      </dgm:t>
    </dgm:pt>
    <dgm:pt modelId="{B7CE9AA9-E99E-1E41-9A03-EA527BC0EF26}" type="sibTrans" cxnId="{FA8487A7-BA08-C046-8022-83A4632D985B}">
      <dgm:prSet/>
      <dgm:spPr/>
      <dgm:t>
        <a:bodyPr/>
        <a:lstStyle/>
        <a:p>
          <a:endParaRPr lang="zh-CN" altLang="en-US"/>
        </a:p>
      </dgm:t>
    </dgm:pt>
    <dgm:pt modelId="{80D18A58-E60D-3648-A35A-2BBBF4A18566}">
      <dgm:prSet phldrT="[文本]"/>
      <dgm:spPr/>
      <dgm:t>
        <a:bodyPr/>
        <a:lstStyle/>
        <a:p>
          <a:r>
            <a:rPr lang="zh-CN" altLang="en-US" dirty="0">
              <a:latin typeface="黑体"/>
              <a:ea typeface="黑体"/>
              <a:cs typeface="黑体"/>
            </a:rPr>
            <a:t>反社会人格</a:t>
          </a:r>
        </a:p>
      </dgm:t>
    </dgm:pt>
    <dgm:pt modelId="{95CCDC57-58A5-9F4F-AC47-FCD43E908D1E}" type="parTrans" cxnId="{295B2B3B-7BE4-4044-95FA-A1D445E4E0F8}">
      <dgm:prSet/>
      <dgm:spPr/>
      <dgm:t>
        <a:bodyPr/>
        <a:lstStyle/>
        <a:p>
          <a:endParaRPr lang="zh-CN" altLang="en-US"/>
        </a:p>
      </dgm:t>
    </dgm:pt>
    <dgm:pt modelId="{CE7FEF87-AC64-574F-8BCC-9C445A92FA09}" type="sibTrans" cxnId="{295B2B3B-7BE4-4044-95FA-A1D445E4E0F8}">
      <dgm:prSet/>
      <dgm:spPr/>
      <dgm:t>
        <a:bodyPr/>
        <a:lstStyle/>
        <a:p>
          <a:endParaRPr lang="zh-CN" altLang="en-US"/>
        </a:p>
      </dgm:t>
    </dgm:pt>
    <dgm:pt modelId="{C38E383A-41E7-A144-8330-635C5842A491}">
      <dgm:prSet phldrT="[文本]" custT="1"/>
      <dgm:spPr/>
      <dgm:t>
        <a:bodyPr/>
        <a:lstStyle/>
        <a:p>
          <a:r>
            <a:rPr lang="zh-CN" altLang="en-US" sz="3600" b="1" dirty="0">
              <a:latin typeface="黑体"/>
              <a:ea typeface="黑体"/>
              <a:cs typeface="黑体"/>
            </a:rPr>
            <a:t>危险心结</a:t>
          </a:r>
        </a:p>
      </dgm:t>
    </dgm:pt>
    <dgm:pt modelId="{B30AB9D2-96E0-D841-9C54-82BB83417A06}" type="parTrans" cxnId="{0278F8B4-97F8-CF47-B069-DA6E4E63B139}">
      <dgm:prSet/>
      <dgm:spPr/>
      <dgm:t>
        <a:bodyPr/>
        <a:lstStyle/>
        <a:p>
          <a:endParaRPr lang="zh-CN" altLang="en-US"/>
        </a:p>
      </dgm:t>
    </dgm:pt>
    <dgm:pt modelId="{850CB479-C30B-FD48-8BAA-0970A8E2E8D6}" type="sibTrans" cxnId="{0278F8B4-97F8-CF47-B069-DA6E4E63B139}">
      <dgm:prSet/>
      <dgm:spPr/>
      <dgm:t>
        <a:bodyPr/>
        <a:lstStyle/>
        <a:p>
          <a:endParaRPr lang="zh-CN" altLang="en-US"/>
        </a:p>
      </dgm:t>
    </dgm:pt>
    <dgm:pt modelId="{46A4F984-784C-3A43-A1BE-3D35800F6B74}">
      <dgm:prSet phldrT="[文本]"/>
      <dgm:spPr/>
      <dgm:t>
        <a:bodyPr/>
        <a:lstStyle/>
        <a:p>
          <a:r>
            <a:rPr lang="zh-CN" altLang="en-US" dirty="0">
              <a:latin typeface="黑体"/>
              <a:ea typeface="黑体"/>
              <a:cs typeface="黑体"/>
            </a:rPr>
            <a:t>危险意结</a:t>
          </a:r>
        </a:p>
      </dgm:t>
    </dgm:pt>
    <dgm:pt modelId="{BE1A4D38-B54A-7B4D-AE23-C0FB6E846AC4}" type="parTrans" cxnId="{23103F94-9C2C-3D42-B9C2-C5CA72F7D664}">
      <dgm:prSet/>
      <dgm:spPr/>
      <dgm:t>
        <a:bodyPr/>
        <a:lstStyle/>
        <a:p>
          <a:endParaRPr lang="zh-CN" altLang="en-US"/>
        </a:p>
      </dgm:t>
    </dgm:pt>
    <dgm:pt modelId="{8A9403E4-2977-D34E-B07A-AF049C1F0C77}" type="sibTrans" cxnId="{23103F94-9C2C-3D42-B9C2-C5CA72F7D664}">
      <dgm:prSet/>
      <dgm:spPr/>
      <dgm:t>
        <a:bodyPr/>
        <a:lstStyle/>
        <a:p>
          <a:endParaRPr lang="zh-CN" altLang="en-US"/>
        </a:p>
      </dgm:t>
    </dgm:pt>
    <dgm:pt modelId="{D8BD545D-4620-7048-AAFD-AF5C9CB7EBB0}">
      <dgm:prSet/>
      <dgm:spPr/>
      <dgm:t>
        <a:bodyPr/>
        <a:lstStyle/>
        <a:p>
          <a:r>
            <a:rPr lang="zh-CN" altLang="en-US" dirty="0">
              <a:latin typeface="黑体"/>
              <a:ea typeface="黑体"/>
              <a:cs typeface="黑体"/>
            </a:rPr>
            <a:t>犯罪人格</a:t>
          </a:r>
        </a:p>
      </dgm:t>
    </dgm:pt>
    <dgm:pt modelId="{2957EA99-E1A1-CE4B-A130-2A04A7F2EBE9}" type="parTrans" cxnId="{6EC80196-5171-7541-8CD1-5883F9D98614}">
      <dgm:prSet/>
      <dgm:spPr/>
      <dgm:t>
        <a:bodyPr/>
        <a:lstStyle/>
        <a:p>
          <a:endParaRPr lang="zh-CN" altLang="en-US"/>
        </a:p>
      </dgm:t>
    </dgm:pt>
    <dgm:pt modelId="{1542658D-09B0-204B-92B1-DA87926306F0}" type="sibTrans" cxnId="{6EC80196-5171-7541-8CD1-5883F9D98614}">
      <dgm:prSet/>
      <dgm:spPr/>
      <dgm:t>
        <a:bodyPr/>
        <a:lstStyle/>
        <a:p>
          <a:endParaRPr lang="zh-CN" altLang="en-US"/>
        </a:p>
      </dgm:t>
    </dgm:pt>
    <dgm:pt modelId="{DE00A90B-F19B-1746-9628-5ECE21F12D79}">
      <dgm:prSet/>
      <dgm:spPr/>
      <dgm:t>
        <a:bodyPr/>
        <a:lstStyle/>
        <a:p>
          <a:r>
            <a:rPr lang="zh-CN" altLang="en-US" dirty="0">
              <a:latin typeface="黑体"/>
              <a:ea typeface="黑体"/>
              <a:cs typeface="黑体"/>
            </a:rPr>
            <a:t>危险知结</a:t>
          </a:r>
        </a:p>
      </dgm:t>
    </dgm:pt>
    <dgm:pt modelId="{658DD58F-F447-4D44-94FE-ABF40402A3E4}" type="parTrans" cxnId="{B28194AE-CC36-1546-9267-0B8982FC9BAC}">
      <dgm:prSet/>
      <dgm:spPr/>
      <dgm:t>
        <a:bodyPr/>
        <a:lstStyle/>
        <a:p>
          <a:endParaRPr lang="zh-CN" altLang="en-US"/>
        </a:p>
      </dgm:t>
    </dgm:pt>
    <dgm:pt modelId="{95A6C8D5-7027-4B4E-BCF7-B3FA2356F257}" type="sibTrans" cxnId="{B28194AE-CC36-1546-9267-0B8982FC9BAC}">
      <dgm:prSet/>
      <dgm:spPr/>
      <dgm:t>
        <a:bodyPr/>
        <a:lstStyle/>
        <a:p>
          <a:endParaRPr lang="zh-CN" altLang="en-US"/>
        </a:p>
      </dgm:t>
    </dgm:pt>
    <dgm:pt modelId="{B91CFA08-BF94-AA49-B91B-2F3D24F9A20B}">
      <dgm:prSet/>
      <dgm:spPr/>
      <dgm:t>
        <a:bodyPr/>
        <a:lstStyle/>
        <a:p>
          <a:r>
            <a:rPr lang="zh-CN" altLang="en-US" dirty="0">
              <a:latin typeface="黑体"/>
              <a:ea typeface="黑体"/>
              <a:cs typeface="黑体"/>
            </a:rPr>
            <a:t>缺陷人格</a:t>
          </a:r>
        </a:p>
      </dgm:t>
    </dgm:pt>
    <dgm:pt modelId="{7907EAD8-4213-494F-A945-FBB529EB6347}" type="parTrans" cxnId="{8764C806-0EE6-5E43-9362-3D9EAAED12DC}">
      <dgm:prSet/>
      <dgm:spPr/>
      <dgm:t>
        <a:bodyPr/>
        <a:lstStyle/>
        <a:p>
          <a:endParaRPr lang="zh-CN" altLang="en-US"/>
        </a:p>
      </dgm:t>
    </dgm:pt>
    <dgm:pt modelId="{50A50004-C531-CC4F-A0C9-611F276E9C58}" type="sibTrans" cxnId="{8764C806-0EE6-5E43-9362-3D9EAAED12DC}">
      <dgm:prSet/>
      <dgm:spPr/>
      <dgm:t>
        <a:bodyPr/>
        <a:lstStyle/>
        <a:p>
          <a:endParaRPr lang="zh-CN" altLang="en-US"/>
        </a:p>
      </dgm:t>
    </dgm:pt>
    <dgm:pt modelId="{AA31B066-31A8-E24D-AC29-FF7882A7D3DE}">
      <dgm:prSet/>
      <dgm:spPr/>
      <dgm:t>
        <a:bodyPr/>
        <a:lstStyle/>
        <a:p>
          <a:r>
            <a:rPr lang="zh-CN" altLang="en-US" dirty="0">
              <a:latin typeface="黑体"/>
              <a:ea typeface="黑体"/>
              <a:cs typeface="黑体"/>
            </a:rPr>
            <a:t>危险情结</a:t>
          </a:r>
        </a:p>
      </dgm:t>
    </dgm:pt>
    <dgm:pt modelId="{416775FA-790F-7A4C-BAFF-93B80A37899A}" type="parTrans" cxnId="{FB0ED70A-0E28-C549-9923-AF8FE27D3854}">
      <dgm:prSet/>
      <dgm:spPr/>
      <dgm:t>
        <a:bodyPr/>
        <a:lstStyle/>
        <a:p>
          <a:endParaRPr lang="zh-CN" altLang="en-US"/>
        </a:p>
      </dgm:t>
    </dgm:pt>
    <dgm:pt modelId="{599B2ED3-FDB3-AD45-93B8-FBAF5D3CCBEC}" type="sibTrans" cxnId="{FB0ED70A-0E28-C549-9923-AF8FE27D3854}">
      <dgm:prSet/>
      <dgm:spPr/>
      <dgm:t>
        <a:bodyPr/>
        <a:lstStyle/>
        <a:p>
          <a:endParaRPr lang="zh-CN" altLang="en-US"/>
        </a:p>
      </dgm:t>
    </dgm:pt>
    <dgm:pt modelId="{AA74A077-A3A8-DB49-95E2-E5C70FB379B3}" type="pres">
      <dgm:prSet presAssocID="{F3E010AC-95D3-E442-8BBD-0C8EF076C9BC}" presName="hierChild1" presStyleCnt="0">
        <dgm:presLayoutVars>
          <dgm:chPref val="1"/>
          <dgm:dir/>
          <dgm:animOne val="branch"/>
          <dgm:animLvl val="lvl"/>
          <dgm:resizeHandles/>
        </dgm:presLayoutVars>
      </dgm:prSet>
      <dgm:spPr/>
    </dgm:pt>
    <dgm:pt modelId="{5B43F4B6-5A60-284B-ACB9-94BFDE0492BA}" type="pres">
      <dgm:prSet presAssocID="{8035014C-E765-4242-A1A1-65A7D509BD68}" presName="hierRoot1" presStyleCnt="0"/>
      <dgm:spPr/>
    </dgm:pt>
    <dgm:pt modelId="{6BF11E48-8E59-0540-B854-45815D13882E}" type="pres">
      <dgm:prSet presAssocID="{8035014C-E765-4242-A1A1-65A7D509BD68}" presName="composite" presStyleCnt="0"/>
      <dgm:spPr/>
    </dgm:pt>
    <dgm:pt modelId="{8E832C3C-3575-7843-B04E-7135D72BCC73}" type="pres">
      <dgm:prSet presAssocID="{8035014C-E765-4242-A1A1-65A7D509BD68}" presName="background" presStyleLbl="node0" presStyleIdx="0" presStyleCnt="1"/>
      <dgm:spPr/>
    </dgm:pt>
    <dgm:pt modelId="{19C45595-286E-0242-BC20-0B3774B36229}" type="pres">
      <dgm:prSet presAssocID="{8035014C-E765-4242-A1A1-65A7D509BD68}" presName="text" presStyleLbl="fgAcc0" presStyleIdx="0" presStyleCnt="1" custScaleX="256748" custLinFactNeighborX="-9774" custLinFactNeighborY="-54787">
        <dgm:presLayoutVars>
          <dgm:chPref val="3"/>
        </dgm:presLayoutVars>
      </dgm:prSet>
      <dgm:spPr/>
    </dgm:pt>
    <dgm:pt modelId="{8F9EB7A8-D5C9-CA45-8577-BB2A18D8AAC0}" type="pres">
      <dgm:prSet presAssocID="{8035014C-E765-4242-A1A1-65A7D509BD68}" presName="hierChild2" presStyleCnt="0"/>
      <dgm:spPr/>
    </dgm:pt>
    <dgm:pt modelId="{1EE04CD9-7B97-D943-93F5-82E1D39BE8D8}" type="pres">
      <dgm:prSet presAssocID="{EB57546B-6EBD-0147-81DA-467EE0F4AB93}" presName="Name10" presStyleLbl="parChTrans1D2" presStyleIdx="0" presStyleCnt="2"/>
      <dgm:spPr/>
    </dgm:pt>
    <dgm:pt modelId="{95EC9F51-E819-7D42-924C-88C008859519}" type="pres">
      <dgm:prSet presAssocID="{E51A38E8-BF65-AB4E-842B-D4F3F90A21F4}" presName="hierRoot2" presStyleCnt="0"/>
      <dgm:spPr/>
    </dgm:pt>
    <dgm:pt modelId="{398FFFD1-2086-0F40-AAF1-AD5A5F87A524}" type="pres">
      <dgm:prSet presAssocID="{E51A38E8-BF65-AB4E-842B-D4F3F90A21F4}" presName="composite2" presStyleCnt="0"/>
      <dgm:spPr/>
    </dgm:pt>
    <dgm:pt modelId="{C483F4C0-BA3C-E742-AD61-78B931AC3BA5}" type="pres">
      <dgm:prSet presAssocID="{E51A38E8-BF65-AB4E-842B-D4F3F90A21F4}" presName="background2" presStyleLbl="node2" presStyleIdx="0" presStyleCnt="2"/>
      <dgm:spPr/>
    </dgm:pt>
    <dgm:pt modelId="{DE3A02DE-E0F3-0641-A6CA-C373619D5F59}" type="pres">
      <dgm:prSet presAssocID="{E51A38E8-BF65-AB4E-842B-D4F3F90A21F4}" presName="text2" presStyleLbl="fgAcc2" presStyleIdx="0" presStyleCnt="2" custScaleX="213137">
        <dgm:presLayoutVars>
          <dgm:chPref val="3"/>
        </dgm:presLayoutVars>
      </dgm:prSet>
      <dgm:spPr/>
    </dgm:pt>
    <dgm:pt modelId="{CB2EE6EC-0366-C740-AF96-347094B277A6}" type="pres">
      <dgm:prSet presAssocID="{E51A38E8-BF65-AB4E-842B-D4F3F90A21F4}" presName="hierChild3" presStyleCnt="0"/>
      <dgm:spPr/>
    </dgm:pt>
    <dgm:pt modelId="{CA3137D5-4382-B14E-98D1-AC0EAB888AAC}" type="pres">
      <dgm:prSet presAssocID="{95CCDC57-58A5-9F4F-AC47-FCD43E908D1E}" presName="Name17" presStyleLbl="parChTrans1D3" presStyleIdx="0" presStyleCnt="2"/>
      <dgm:spPr/>
    </dgm:pt>
    <dgm:pt modelId="{54A1FFA8-2144-C645-9ED4-5A9B8CD4C3DA}" type="pres">
      <dgm:prSet presAssocID="{80D18A58-E60D-3648-A35A-2BBBF4A18566}" presName="hierRoot3" presStyleCnt="0"/>
      <dgm:spPr/>
    </dgm:pt>
    <dgm:pt modelId="{1F58C569-093D-4747-878D-D3E4C48B42EB}" type="pres">
      <dgm:prSet presAssocID="{80D18A58-E60D-3648-A35A-2BBBF4A18566}" presName="composite3" presStyleCnt="0"/>
      <dgm:spPr/>
    </dgm:pt>
    <dgm:pt modelId="{2814311E-93F4-A845-81C4-DED3FE5D5BC3}" type="pres">
      <dgm:prSet presAssocID="{80D18A58-E60D-3648-A35A-2BBBF4A18566}" presName="background3" presStyleLbl="node3" presStyleIdx="0" presStyleCnt="2"/>
      <dgm:spPr/>
    </dgm:pt>
    <dgm:pt modelId="{A13200A6-5C7A-B44B-A1B6-9FF04553BFE3}" type="pres">
      <dgm:prSet presAssocID="{80D18A58-E60D-3648-A35A-2BBBF4A18566}" presName="text3" presStyleLbl="fgAcc3" presStyleIdx="0" presStyleCnt="2" custScaleX="215094">
        <dgm:presLayoutVars>
          <dgm:chPref val="3"/>
        </dgm:presLayoutVars>
      </dgm:prSet>
      <dgm:spPr/>
    </dgm:pt>
    <dgm:pt modelId="{BF40BA3D-D74F-F04D-BE0C-187C585154A1}" type="pres">
      <dgm:prSet presAssocID="{80D18A58-E60D-3648-A35A-2BBBF4A18566}" presName="hierChild4" presStyleCnt="0"/>
      <dgm:spPr/>
    </dgm:pt>
    <dgm:pt modelId="{CBC872DF-D846-1141-AA63-56EEB3F2E29B}" type="pres">
      <dgm:prSet presAssocID="{2957EA99-E1A1-CE4B-A130-2A04A7F2EBE9}" presName="Name23" presStyleLbl="parChTrans1D4" presStyleIdx="0" presStyleCnt="4"/>
      <dgm:spPr/>
    </dgm:pt>
    <dgm:pt modelId="{5664B6A4-2B8F-854C-A6E0-4D3528245CC7}" type="pres">
      <dgm:prSet presAssocID="{D8BD545D-4620-7048-AAFD-AF5C9CB7EBB0}" presName="hierRoot4" presStyleCnt="0"/>
      <dgm:spPr/>
    </dgm:pt>
    <dgm:pt modelId="{7EA38881-4CB0-E24C-B798-02A5C8A7A15F}" type="pres">
      <dgm:prSet presAssocID="{D8BD545D-4620-7048-AAFD-AF5C9CB7EBB0}" presName="composite4" presStyleCnt="0"/>
      <dgm:spPr/>
    </dgm:pt>
    <dgm:pt modelId="{1680359F-7972-8A4A-8234-A2044511BA29}" type="pres">
      <dgm:prSet presAssocID="{D8BD545D-4620-7048-AAFD-AF5C9CB7EBB0}" presName="background4" presStyleLbl="node4" presStyleIdx="0" presStyleCnt="4"/>
      <dgm:spPr/>
    </dgm:pt>
    <dgm:pt modelId="{44D2253F-0047-AB43-87BF-2E6842141614}" type="pres">
      <dgm:prSet presAssocID="{D8BD545D-4620-7048-AAFD-AF5C9CB7EBB0}" presName="text4" presStyleLbl="fgAcc4" presStyleIdx="0" presStyleCnt="4" custScaleX="226205" custLinFactNeighborX="1095" custLinFactNeighborY="6">
        <dgm:presLayoutVars>
          <dgm:chPref val="3"/>
        </dgm:presLayoutVars>
      </dgm:prSet>
      <dgm:spPr/>
    </dgm:pt>
    <dgm:pt modelId="{7D7ACE68-0555-1843-AB67-C6B6B3FEA42F}" type="pres">
      <dgm:prSet presAssocID="{D8BD545D-4620-7048-AAFD-AF5C9CB7EBB0}" presName="hierChild5" presStyleCnt="0"/>
      <dgm:spPr/>
    </dgm:pt>
    <dgm:pt modelId="{E93CBD36-7C1D-EF43-A980-A54C90F0A20B}" type="pres">
      <dgm:prSet presAssocID="{7907EAD8-4213-494F-A945-FBB529EB6347}" presName="Name23" presStyleLbl="parChTrans1D4" presStyleIdx="1" presStyleCnt="4"/>
      <dgm:spPr/>
    </dgm:pt>
    <dgm:pt modelId="{2A0A9CBA-65FF-7C4C-A1CA-20C8A5EFA79F}" type="pres">
      <dgm:prSet presAssocID="{B91CFA08-BF94-AA49-B91B-2F3D24F9A20B}" presName="hierRoot4" presStyleCnt="0"/>
      <dgm:spPr/>
    </dgm:pt>
    <dgm:pt modelId="{C46E8457-020A-524B-A6BC-B0A255029163}" type="pres">
      <dgm:prSet presAssocID="{B91CFA08-BF94-AA49-B91B-2F3D24F9A20B}" presName="composite4" presStyleCnt="0"/>
      <dgm:spPr/>
    </dgm:pt>
    <dgm:pt modelId="{40625B15-F4C7-3645-915E-6C834D91E698}" type="pres">
      <dgm:prSet presAssocID="{B91CFA08-BF94-AA49-B91B-2F3D24F9A20B}" presName="background4" presStyleLbl="node4" presStyleIdx="1" presStyleCnt="4"/>
      <dgm:spPr/>
    </dgm:pt>
    <dgm:pt modelId="{865889AB-D1E1-AF4F-967F-890EF5483D58}" type="pres">
      <dgm:prSet presAssocID="{B91CFA08-BF94-AA49-B91B-2F3D24F9A20B}" presName="text4" presStyleLbl="fgAcc4" presStyleIdx="1" presStyleCnt="4" custScaleX="270369">
        <dgm:presLayoutVars>
          <dgm:chPref val="3"/>
        </dgm:presLayoutVars>
      </dgm:prSet>
      <dgm:spPr/>
    </dgm:pt>
    <dgm:pt modelId="{E34183D5-DB2A-6449-9FF2-96B76BBB42C3}" type="pres">
      <dgm:prSet presAssocID="{B91CFA08-BF94-AA49-B91B-2F3D24F9A20B}" presName="hierChild5" presStyleCnt="0"/>
      <dgm:spPr/>
    </dgm:pt>
    <dgm:pt modelId="{BB32C14A-8F1E-DE48-9D2D-22F6021E62B3}" type="pres">
      <dgm:prSet presAssocID="{B30AB9D2-96E0-D841-9C54-82BB83417A06}" presName="Name10" presStyleLbl="parChTrans1D2" presStyleIdx="1" presStyleCnt="2"/>
      <dgm:spPr/>
    </dgm:pt>
    <dgm:pt modelId="{5C903DED-2F4B-9D4D-9338-A5D55CE781AF}" type="pres">
      <dgm:prSet presAssocID="{C38E383A-41E7-A144-8330-635C5842A491}" presName="hierRoot2" presStyleCnt="0"/>
      <dgm:spPr/>
    </dgm:pt>
    <dgm:pt modelId="{572FEA28-C963-944D-ADCC-6F723E861164}" type="pres">
      <dgm:prSet presAssocID="{C38E383A-41E7-A144-8330-635C5842A491}" presName="composite2" presStyleCnt="0"/>
      <dgm:spPr/>
    </dgm:pt>
    <dgm:pt modelId="{0DA2EF7D-E8B5-8346-B3A3-FB581EBF4B6A}" type="pres">
      <dgm:prSet presAssocID="{C38E383A-41E7-A144-8330-635C5842A491}" presName="background2" presStyleLbl="node2" presStyleIdx="1" presStyleCnt="2"/>
      <dgm:spPr/>
    </dgm:pt>
    <dgm:pt modelId="{EADBEC72-7DCB-9B49-9A0C-C8D3222F7C47}" type="pres">
      <dgm:prSet presAssocID="{C38E383A-41E7-A144-8330-635C5842A491}" presName="text2" presStyleLbl="fgAcc2" presStyleIdx="1" presStyleCnt="2" custScaleX="250034">
        <dgm:presLayoutVars>
          <dgm:chPref val="3"/>
        </dgm:presLayoutVars>
      </dgm:prSet>
      <dgm:spPr/>
    </dgm:pt>
    <dgm:pt modelId="{5C6575B1-78B7-3240-A9CC-9A1D6B4E4B7C}" type="pres">
      <dgm:prSet presAssocID="{C38E383A-41E7-A144-8330-635C5842A491}" presName="hierChild3" presStyleCnt="0"/>
      <dgm:spPr/>
    </dgm:pt>
    <dgm:pt modelId="{2DD87453-215C-D448-8520-F89A9090A5DD}" type="pres">
      <dgm:prSet presAssocID="{BE1A4D38-B54A-7B4D-AE23-C0FB6E846AC4}" presName="Name17" presStyleLbl="parChTrans1D3" presStyleIdx="1" presStyleCnt="2"/>
      <dgm:spPr/>
    </dgm:pt>
    <dgm:pt modelId="{5617B2B5-DCF1-B44E-BC79-9FB6F2868BED}" type="pres">
      <dgm:prSet presAssocID="{46A4F984-784C-3A43-A1BE-3D35800F6B74}" presName="hierRoot3" presStyleCnt="0"/>
      <dgm:spPr/>
    </dgm:pt>
    <dgm:pt modelId="{A9ACDC59-E8B5-FC47-BF01-476B8ECE5191}" type="pres">
      <dgm:prSet presAssocID="{46A4F984-784C-3A43-A1BE-3D35800F6B74}" presName="composite3" presStyleCnt="0"/>
      <dgm:spPr/>
    </dgm:pt>
    <dgm:pt modelId="{AB9D0A4E-06F2-9342-B0B2-3150DFB14F94}" type="pres">
      <dgm:prSet presAssocID="{46A4F984-784C-3A43-A1BE-3D35800F6B74}" presName="background3" presStyleLbl="node3" presStyleIdx="1" presStyleCnt="2"/>
      <dgm:spPr/>
    </dgm:pt>
    <dgm:pt modelId="{0D09FCC9-266B-654A-BCA3-B7C250D1ED5B}" type="pres">
      <dgm:prSet presAssocID="{46A4F984-784C-3A43-A1BE-3D35800F6B74}" presName="text3" presStyleLbl="fgAcc3" presStyleIdx="1" presStyleCnt="2" custScaleX="237090" custLinFactNeighborX="-3254" custLinFactNeighborY="3827">
        <dgm:presLayoutVars>
          <dgm:chPref val="3"/>
        </dgm:presLayoutVars>
      </dgm:prSet>
      <dgm:spPr/>
    </dgm:pt>
    <dgm:pt modelId="{CD7824DC-6370-1148-B21A-E8AC999B056B}" type="pres">
      <dgm:prSet presAssocID="{46A4F984-784C-3A43-A1BE-3D35800F6B74}" presName="hierChild4" presStyleCnt="0"/>
      <dgm:spPr/>
    </dgm:pt>
    <dgm:pt modelId="{2B7C2E53-A2B6-8644-8920-315C82A4653D}" type="pres">
      <dgm:prSet presAssocID="{658DD58F-F447-4D44-94FE-ABF40402A3E4}" presName="Name23" presStyleLbl="parChTrans1D4" presStyleIdx="2" presStyleCnt="4"/>
      <dgm:spPr/>
    </dgm:pt>
    <dgm:pt modelId="{DDFA09C7-B8CB-064B-9563-07BEF8FE46A8}" type="pres">
      <dgm:prSet presAssocID="{DE00A90B-F19B-1746-9628-5ECE21F12D79}" presName="hierRoot4" presStyleCnt="0"/>
      <dgm:spPr/>
    </dgm:pt>
    <dgm:pt modelId="{8D64EEF1-D840-6841-973B-3DD911DFFB70}" type="pres">
      <dgm:prSet presAssocID="{DE00A90B-F19B-1746-9628-5ECE21F12D79}" presName="composite4" presStyleCnt="0"/>
      <dgm:spPr/>
    </dgm:pt>
    <dgm:pt modelId="{06101337-5EBF-0D4D-AC80-EC71B4621881}" type="pres">
      <dgm:prSet presAssocID="{DE00A90B-F19B-1746-9628-5ECE21F12D79}" presName="background4" presStyleLbl="node4" presStyleIdx="2" presStyleCnt="4"/>
      <dgm:spPr/>
    </dgm:pt>
    <dgm:pt modelId="{38EC4395-0ADA-604D-B4AB-90BC4CF36C21}" type="pres">
      <dgm:prSet presAssocID="{DE00A90B-F19B-1746-9628-5ECE21F12D79}" presName="text4" presStyleLbl="fgAcc4" presStyleIdx="2" presStyleCnt="4" custScaleX="275503">
        <dgm:presLayoutVars>
          <dgm:chPref val="3"/>
        </dgm:presLayoutVars>
      </dgm:prSet>
      <dgm:spPr/>
    </dgm:pt>
    <dgm:pt modelId="{82947695-CDA7-7E49-A9A9-B79271C80B81}" type="pres">
      <dgm:prSet presAssocID="{DE00A90B-F19B-1746-9628-5ECE21F12D79}" presName="hierChild5" presStyleCnt="0"/>
      <dgm:spPr/>
    </dgm:pt>
    <dgm:pt modelId="{E44BA53A-E8CB-C248-B6E1-BB6DB4DF48E5}" type="pres">
      <dgm:prSet presAssocID="{416775FA-790F-7A4C-BAFF-93B80A37899A}" presName="Name23" presStyleLbl="parChTrans1D4" presStyleIdx="3" presStyleCnt="4"/>
      <dgm:spPr/>
    </dgm:pt>
    <dgm:pt modelId="{A861466A-C2C1-4E47-87E6-ACBA140510FB}" type="pres">
      <dgm:prSet presAssocID="{AA31B066-31A8-E24D-AC29-FF7882A7D3DE}" presName="hierRoot4" presStyleCnt="0"/>
      <dgm:spPr/>
    </dgm:pt>
    <dgm:pt modelId="{DB4B1ACE-C213-8B4E-B38F-548F65F938F9}" type="pres">
      <dgm:prSet presAssocID="{AA31B066-31A8-E24D-AC29-FF7882A7D3DE}" presName="composite4" presStyleCnt="0"/>
      <dgm:spPr/>
    </dgm:pt>
    <dgm:pt modelId="{562FA719-D0F8-E640-ADD9-2C9C2613F91F}" type="pres">
      <dgm:prSet presAssocID="{AA31B066-31A8-E24D-AC29-FF7882A7D3DE}" presName="background4" presStyleLbl="node4" presStyleIdx="3" presStyleCnt="4"/>
      <dgm:spPr/>
    </dgm:pt>
    <dgm:pt modelId="{DB0A0E7C-09A2-6742-9281-AC9C75A1C0B6}" type="pres">
      <dgm:prSet presAssocID="{AA31B066-31A8-E24D-AC29-FF7882A7D3DE}" presName="text4" presStyleLbl="fgAcc4" presStyleIdx="3" presStyleCnt="4" custScaleX="281773">
        <dgm:presLayoutVars>
          <dgm:chPref val="3"/>
        </dgm:presLayoutVars>
      </dgm:prSet>
      <dgm:spPr/>
    </dgm:pt>
    <dgm:pt modelId="{878AD933-41C4-0A45-9DA7-D4B85165E2B9}" type="pres">
      <dgm:prSet presAssocID="{AA31B066-31A8-E24D-AC29-FF7882A7D3DE}" presName="hierChild5" presStyleCnt="0"/>
      <dgm:spPr/>
    </dgm:pt>
  </dgm:ptLst>
  <dgm:cxnLst>
    <dgm:cxn modelId="{CC956A00-382E-8749-BA57-CE6D3070C58F}" type="presOf" srcId="{46A4F984-784C-3A43-A1BE-3D35800F6B74}" destId="{0D09FCC9-266B-654A-BCA3-B7C250D1ED5B}" srcOrd="0" destOrd="0" presId="urn:microsoft.com/office/officeart/2005/8/layout/hierarchy1"/>
    <dgm:cxn modelId="{E8C58403-BDF9-354A-A49B-C9FF7E7D9E39}" type="presOf" srcId="{95CCDC57-58A5-9F4F-AC47-FCD43E908D1E}" destId="{CA3137D5-4382-B14E-98D1-AC0EAB888AAC}" srcOrd="0" destOrd="0" presId="urn:microsoft.com/office/officeart/2005/8/layout/hierarchy1"/>
    <dgm:cxn modelId="{8764C806-0EE6-5E43-9362-3D9EAAED12DC}" srcId="{D8BD545D-4620-7048-AAFD-AF5C9CB7EBB0}" destId="{B91CFA08-BF94-AA49-B91B-2F3D24F9A20B}" srcOrd="0" destOrd="0" parTransId="{7907EAD8-4213-494F-A945-FBB529EB6347}" sibTransId="{50A50004-C531-CC4F-A0C9-611F276E9C58}"/>
    <dgm:cxn modelId="{FB0ED70A-0E28-C549-9923-AF8FE27D3854}" srcId="{DE00A90B-F19B-1746-9628-5ECE21F12D79}" destId="{AA31B066-31A8-E24D-AC29-FF7882A7D3DE}" srcOrd="0" destOrd="0" parTransId="{416775FA-790F-7A4C-BAFF-93B80A37899A}" sibTransId="{599B2ED3-FDB3-AD45-93B8-FBAF5D3CCBEC}"/>
    <dgm:cxn modelId="{129A9515-0693-E049-9609-C78CE7DF8F40}" type="presOf" srcId="{658DD58F-F447-4D44-94FE-ABF40402A3E4}" destId="{2B7C2E53-A2B6-8644-8920-315C82A4653D}" srcOrd="0" destOrd="0" presId="urn:microsoft.com/office/officeart/2005/8/layout/hierarchy1"/>
    <dgm:cxn modelId="{89646129-5F78-D649-9216-A8057FD453D4}" type="presOf" srcId="{EB57546B-6EBD-0147-81DA-467EE0F4AB93}" destId="{1EE04CD9-7B97-D943-93F5-82E1D39BE8D8}" srcOrd="0" destOrd="0" presId="urn:microsoft.com/office/officeart/2005/8/layout/hierarchy1"/>
    <dgm:cxn modelId="{295B2B3B-7BE4-4044-95FA-A1D445E4E0F8}" srcId="{E51A38E8-BF65-AB4E-842B-D4F3F90A21F4}" destId="{80D18A58-E60D-3648-A35A-2BBBF4A18566}" srcOrd="0" destOrd="0" parTransId="{95CCDC57-58A5-9F4F-AC47-FCD43E908D1E}" sibTransId="{CE7FEF87-AC64-574F-8BCC-9C445A92FA09}"/>
    <dgm:cxn modelId="{1AC4AC69-B3E5-F344-829F-56A90EDF58EC}" type="presOf" srcId="{C38E383A-41E7-A144-8330-635C5842A491}" destId="{EADBEC72-7DCB-9B49-9A0C-C8D3222F7C47}" srcOrd="0" destOrd="0" presId="urn:microsoft.com/office/officeart/2005/8/layout/hierarchy1"/>
    <dgm:cxn modelId="{3EECE969-F0B1-3A46-87D7-B67C09E429A3}" type="presOf" srcId="{B30AB9D2-96E0-D841-9C54-82BB83417A06}" destId="{BB32C14A-8F1E-DE48-9D2D-22F6021E62B3}" srcOrd="0" destOrd="0" presId="urn:microsoft.com/office/officeart/2005/8/layout/hierarchy1"/>
    <dgm:cxn modelId="{79560574-BE7C-274A-84A0-250C50D0201A}" type="presOf" srcId="{416775FA-790F-7A4C-BAFF-93B80A37899A}" destId="{E44BA53A-E8CB-C248-B6E1-BB6DB4DF48E5}" srcOrd="0" destOrd="0" presId="urn:microsoft.com/office/officeart/2005/8/layout/hierarchy1"/>
    <dgm:cxn modelId="{9A20AC76-C811-F043-9DC2-4ABA9DCA4BE4}" type="presOf" srcId="{B91CFA08-BF94-AA49-B91B-2F3D24F9A20B}" destId="{865889AB-D1E1-AF4F-967F-890EF5483D58}" srcOrd="0" destOrd="0" presId="urn:microsoft.com/office/officeart/2005/8/layout/hierarchy1"/>
    <dgm:cxn modelId="{01F11478-9D24-D54E-B4A7-76F79F880AEC}" type="presOf" srcId="{DE00A90B-F19B-1746-9628-5ECE21F12D79}" destId="{38EC4395-0ADA-604D-B4AB-90BC4CF36C21}" srcOrd="0" destOrd="0" presId="urn:microsoft.com/office/officeart/2005/8/layout/hierarchy1"/>
    <dgm:cxn modelId="{715E9B84-C020-3248-A3CD-E1F57A949523}" srcId="{F3E010AC-95D3-E442-8BBD-0C8EF076C9BC}" destId="{8035014C-E765-4242-A1A1-65A7D509BD68}" srcOrd="0" destOrd="0" parTransId="{412237C0-E93C-6245-85C9-5E7C6545751B}" sibTransId="{4F9426EB-246E-D444-9009-60EBB0DCAEA5}"/>
    <dgm:cxn modelId="{6CA4B98D-EC0C-344A-9749-78072D6E5919}" type="presOf" srcId="{BE1A4D38-B54A-7B4D-AE23-C0FB6E846AC4}" destId="{2DD87453-215C-D448-8520-F89A9090A5DD}" srcOrd="0" destOrd="0" presId="urn:microsoft.com/office/officeart/2005/8/layout/hierarchy1"/>
    <dgm:cxn modelId="{23103F94-9C2C-3D42-B9C2-C5CA72F7D664}" srcId="{C38E383A-41E7-A144-8330-635C5842A491}" destId="{46A4F984-784C-3A43-A1BE-3D35800F6B74}" srcOrd="0" destOrd="0" parTransId="{BE1A4D38-B54A-7B4D-AE23-C0FB6E846AC4}" sibTransId="{8A9403E4-2977-D34E-B07A-AF049C1F0C77}"/>
    <dgm:cxn modelId="{6EC80196-5171-7541-8CD1-5883F9D98614}" srcId="{80D18A58-E60D-3648-A35A-2BBBF4A18566}" destId="{D8BD545D-4620-7048-AAFD-AF5C9CB7EBB0}" srcOrd="0" destOrd="0" parTransId="{2957EA99-E1A1-CE4B-A130-2A04A7F2EBE9}" sibTransId="{1542658D-09B0-204B-92B1-DA87926306F0}"/>
    <dgm:cxn modelId="{F55B5FA4-7616-E047-B66D-23EFDECD2F80}" type="presOf" srcId="{D8BD545D-4620-7048-AAFD-AF5C9CB7EBB0}" destId="{44D2253F-0047-AB43-87BF-2E6842141614}" srcOrd="0" destOrd="0" presId="urn:microsoft.com/office/officeart/2005/8/layout/hierarchy1"/>
    <dgm:cxn modelId="{FA8487A7-BA08-C046-8022-83A4632D985B}" srcId="{8035014C-E765-4242-A1A1-65A7D509BD68}" destId="{E51A38E8-BF65-AB4E-842B-D4F3F90A21F4}" srcOrd="0" destOrd="0" parTransId="{EB57546B-6EBD-0147-81DA-467EE0F4AB93}" sibTransId="{B7CE9AA9-E99E-1E41-9A03-EA527BC0EF26}"/>
    <dgm:cxn modelId="{2EC40FAB-A028-944E-BD87-423948100736}" type="presOf" srcId="{AA31B066-31A8-E24D-AC29-FF7882A7D3DE}" destId="{DB0A0E7C-09A2-6742-9281-AC9C75A1C0B6}" srcOrd="0" destOrd="0" presId="urn:microsoft.com/office/officeart/2005/8/layout/hierarchy1"/>
    <dgm:cxn modelId="{B28194AE-CC36-1546-9267-0B8982FC9BAC}" srcId="{46A4F984-784C-3A43-A1BE-3D35800F6B74}" destId="{DE00A90B-F19B-1746-9628-5ECE21F12D79}" srcOrd="0" destOrd="0" parTransId="{658DD58F-F447-4D44-94FE-ABF40402A3E4}" sibTransId="{95A6C8D5-7027-4B4E-BCF7-B3FA2356F257}"/>
    <dgm:cxn modelId="{7DAB43B1-6F0E-574F-A84C-A215FEA6A412}" type="presOf" srcId="{80D18A58-E60D-3648-A35A-2BBBF4A18566}" destId="{A13200A6-5C7A-B44B-A1B6-9FF04553BFE3}" srcOrd="0" destOrd="0" presId="urn:microsoft.com/office/officeart/2005/8/layout/hierarchy1"/>
    <dgm:cxn modelId="{0278F8B4-97F8-CF47-B069-DA6E4E63B139}" srcId="{8035014C-E765-4242-A1A1-65A7D509BD68}" destId="{C38E383A-41E7-A144-8330-635C5842A491}" srcOrd="1" destOrd="0" parTransId="{B30AB9D2-96E0-D841-9C54-82BB83417A06}" sibTransId="{850CB479-C30B-FD48-8BAA-0970A8E2E8D6}"/>
    <dgm:cxn modelId="{1401C5B9-EA69-734F-A54B-23A55028C1E4}" type="presOf" srcId="{2957EA99-E1A1-CE4B-A130-2A04A7F2EBE9}" destId="{CBC872DF-D846-1141-AA63-56EEB3F2E29B}" srcOrd="0" destOrd="0" presId="urn:microsoft.com/office/officeart/2005/8/layout/hierarchy1"/>
    <dgm:cxn modelId="{28B35CC2-DF1F-4A42-A477-E979D420A118}" type="presOf" srcId="{F3E010AC-95D3-E442-8BBD-0C8EF076C9BC}" destId="{AA74A077-A3A8-DB49-95E2-E5C70FB379B3}" srcOrd="0" destOrd="0" presId="urn:microsoft.com/office/officeart/2005/8/layout/hierarchy1"/>
    <dgm:cxn modelId="{9372B3E0-BA01-ED4B-A3AB-AB40BDB7046D}" type="presOf" srcId="{8035014C-E765-4242-A1A1-65A7D509BD68}" destId="{19C45595-286E-0242-BC20-0B3774B36229}" srcOrd="0" destOrd="0" presId="urn:microsoft.com/office/officeart/2005/8/layout/hierarchy1"/>
    <dgm:cxn modelId="{D18197EA-012F-4045-A69F-9D71AD16E1FB}" type="presOf" srcId="{7907EAD8-4213-494F-A945-FBB529EB6347}" destId="{E93CBD36-7C1D-EF43-A980-A54C90F0A20B}" srcOrd="0" destOrd="0" presId="urn:microsoft.com/office/officeart/2005/8/layout/hierarchy1"/>
    <dgm:cxn modelId="{939619FC-BAC6-0045-B3D5-9000D2E0F224}" type="presOf" srcId="{E51A38E8-BF65-AB4E-842B-D4F3F90A21F4}" destId="{DE3A02DE-E0F3-0641-A6CA-C373619D5F59}" srcOrd="0" destOrd="0" presId="urn:microsoft.com/office/officeart/2005/8/layout/hierarchy1"/>
    <dgm:cxn modelId="{36F9EF6C-D2EC-A54C-A8CC-E839A68EC51A}" type="presParOf" srcId="{AA74A077-A3A8-DB49-95E2-E5C70FB379B3}" destId="{5B43F4B6-5A60-284B-ACB9-94BFDE0492BA}" srcOrd="0" destOrd="0" presId="urn:microsoft.com/office/officeart/2005/8/layout/hierarchy1"/>
    <dgm:cxn modelId="{8C90EA56-F14C-5346-BA08-3167F639701B}" type="presParOf" srcId="{5B43F4B6-5A60-284B-ACB9-94BFDE0492BA}" destId="{6BF11E48-8E59-0540-B854-45815D13882E}" srcOrd="0" destOrd="0" presId="urn:microsoft.com/office/officeart/2005/8/layout/hierarchy1"/>
    <dgm:cxn modelId="{378B632A-06E1-934B-8A9F-F610B875B87A}" type="presParOf" srcId="{6BF11E48-8E59-0540-B854-45815D13882E}" destId="{8E832C3C-3575-7843-B04E-7135D72BCC73}" srcOrd="0" destOrd="0" presId="urn:microsoft.com/office/officeart/2005/8/layout/hierarchy1"/>
    <dgm:cxn modelId="{35AB789E-4A0B-D344-8DB7-4EEA6B97C2C7}" type="presParOf" srcId="{6BF11E48-8E59-0540-B854-45815D13882E}" destId="{19C45595-286E-0242-BC20-0B3774B36229}" srcOrd="1" destOrd="0" presId="urn:microsoft.com/office/officeart/2005/8/layout/hierarchy1"/>
    <dgm:cxn modelId="{59119B0D-76D8-9442-8B5F-E2C25676B022}" type="presParOf" srcId="{5B43F4B6-5A60-284B-ACB9-94BFDE0492BA}" destId="{8F9EB7A8-D5C9-CA45-8577-BB2A18D8AAC0}" srcOrd="1" destOrd="0" presId="urn:microsoft.com/office/officeart/2005/8/layout/hierarchy1"/>
    <dgm:cxn modelId="{8FBA9117-8180-DA40-BDEF-EADE0D686A24}" type="presParOf" srcId="{8F9EB7A8-D5C9-CA45-8577-BB2A18D8AAC0}" destId="{1EE04CD9-7B97-D943-93F5-82E1D39BE8D8}" srcOrd="0" destOrd="0" presId="urn:microsoft.com/office/officeart/2005/8/layout/hierarchy1"/>
    <dgm:cxn modelId="{54AAC1DF-18F2-E546-8C16-0E30639E65AA}" type="presParOf" srcId="{8F9EB7A8-D5C9-CA45-8577-BB2A18D8AAC0}" destId="{95EC9F51-E819-7D42-924C-88C008859519}" srcOrd="1" destOrd="0" presId="urn:microsoft.com/office/officeart/2005/8/layout/hierarchy1"/>
    <dgm:cxn modelId="{0CE6825B-4621-D24B-B4EB-F5251E338C9F}" type="presParOf" srcId="{95EC9F51-E819-7D42-924C-88C008859519}" destId="{398FFFD1-2086-0F40-AAF1-AD5A5F87A524}" srcOrd="0" destOrd="0" presId="urn:microsoft.com/office/officeart/2005/8/layout/hierarchy1"/>
    <dgm:cxn modelId="{05E5E69E-C21D-384A-8B22-242A89CF351E}" type="presParOf" srcId="{398FFFD1-2086-0F40-AAF1-AD5A5F87A524}" destId="{C483F4C0-BA3C-E742-AD61-78B931AC3BA5}" srcOrd="0" destOrd="0" presId="urn:microsoft.com/office/officeart/2005/8/layout/hierarchy1"/>
    <dgm:cxn modelId="{BE5A507B-8A7C-BA49-9909-E11EDABB27DB}" type="presParOf" srcId="{398FFFD1-2086-0F40-AAF1-AD5A5F87A524}" destId="{DE3A02DE-E0F3-0641-A6CA-C373619D5F59}" srcOrd="1" destOrd="0" presId="urn:microsoft.com/office/officeart/2005/8/layout/hierarchy1"/>
    <dgm:cxn modelId="{D0E8BD2E-003D-214F-B7B8-89766950E59F}" type="presParOf" srcId="{95EC9F51-E819-7D42-924C-88C008859519}" destId="{CB2EE6EC-0366-C740-AF96-347094B277A6}" srcOrd="1" destOrd="0" presId="urn:microsoft.com/office/officeart/2005/8/layout/hierarchy1"/>
    <dgm:cxn modelId="{EA71478A-E964-9C49-A2D2-D8889B15F4B9}" type="presParOf" srcId="{CB2EE6EC-0366-C740-AF96-347094B277A6}" destId="{CA3137D5-4382-B14E-98D1-AC0EAB888AAC}" srcOrd="0" destOrd="0" presId="urn:microsoft.com/office/officeart/2005/8/layout/hierarchy1"/>
    <dgm:cxn modelId="{2A9FD11E-9CD8-1F4C-B75A-B616729CBF02}" type="presParOf" srcId="{CB2EE6EC-0366-C740-AF96-347094B277A6}" destId="{54A1FFA8-2144-C645-9ED4-5A9B8CD4C3DA}" srcOrd="1" destOrd="0" presId="urn:microsoft.com/office/officeart/2005/8/layout/hierarchy1"/>
    <dgm:cxn modelId="{2404F01B-D7B0-B945-A73C-1E3A04FB4C9A}" type="presParOf" srcId="{54A1FFA8-2144-C645-9ED4-5A9B8CD4C3DA}" destId="{1F58C569-093D-4747-878D-D3E4C48B42EB}" srcOrd="0" destOrd="0" presId="urn:microsoft.com/office/officeart/2005/8/layout/hierarchy1"/>
    <dgm:cxn modelId="{EBA0776A-9B65-7E4D-B6C7-8AC6DE71A4BF}" type="presParOf" srcId="{1F58C569-093D-4747-878D-D3E4C48B42EB}" destId="{2814311E-93F4-A845-81C4-DED3FE5D5BC3}" srcOrd="0" destOrd="0" presId="urn:microsoft.com/office/officeart/2005/8/layout/hierarchy1"/>
    <dgm:cxn modelId="{C2ABB207-B851-A14E-A6E7-19B9B8E7D165}" type="presParOf" srcId="{1F58C569-093D-4747-878D-D3E4C48B42EB}" destId="{A13200A6-5C7A-B44B-A1B6-9FF04553BFE3}" srcOrd="1" destOrd="0" presId="urn:microsoft.com/office/officeart/2005/8/layout/hierarchy1"/>
    <dgm:cxn modelId="{B552FD5B-D5C4-D746-B117-D67CC3E41C4C}" type="presParOf" srcId="{54A1FFA8-2144-C645-9ED4-5A9B8CD4C3DA}" destId="{BF40BA3D-D74F-F04D-BE0C-187C585154A1}" srcOrd="1" destOrd="0" presId="urn:microsoft.com/office/officeart/2005/8/layout/hierarchy1"/>
    <dgm:cxn modelId="{37012183-DF87-754E-8A55-3E9E2A7408F6}" type="presParOf" srcId="{BF40BA3D-D74F-F04D-BE0C-187C585154A1}" destId="{CBC872DF-D846-1141-AA63-56EEB3F2E29B}" srcOrd="0" destOrd="0" presId="urn:microsoft.com/office/officeart/2005/8/layout/hierarchy1"/>
    <dgm:cxn modelId="{D8C39D54-C36E-6542-BA6F-5210A9323707}" type="presParOf" srcId="{BF40BA3D-D74F-F04D-BE0C-187C585154A1}" destId="{5664B6A4-2B8F-854C-A6E0-4D3528245CC7}" srcOrd="1" destOrd="0" presId="urn:microsoft.com/office/officeart/2005/8/layout/hierarchy1"/>
    <dgm:cxn modelId="{92A476DF-83A3-8C46-AE11-C262F534763D}" type="presParOf" srcId="{5664B6A4-2B8F-854C-A6E0-4D3528245CC7}" destId="{7EA38881-4CB0-E24C-B798-02A5C8A7A15F}" srcOrd="0" destOrd="0" presId="urn:microsoft.com/office/officeart/2005/8/layout/hierarchy1"/>
    <dgm:cxn modelId="{4002A7B5-B36A-9746-BFFC-BC853CD17B0F}" type="presParOf" srcId="{7EA38881-4CB0-E24C-B798-02A5C8A7A15F}" destId="{1680359F-7972-8A4A-8234-A2044511BA29}" srcOrd="0" destOrd="0" presId="urn:microsoft.com/office/officeart/2005/8/layout/hierarchy1"/>
    <dgm:cxn modelId="{30EFAF2C-5928-244C-878C-C4B7C7578A93}" type="presParOf" srcId="{7EA38881-4CB0-E24C-B798-02A5C8A7A15F}" destId="{44D2253F-0047-AB43-87BF-2E6842141614}" srcOrd="1" destOrd="0" presId="urn:microsoft.com/office/officeart/2005/8/layout/hierarchy1"/>
    <dgm:cxn modelId="{255FFBC1-F0C9-A64D-AF7D-DAFEAA1217B4}" type="presParOf" srcId="{5664B6A4-2B8F-854C-A6E0-4D3528245CC7}" destId="{7D7ACE68-0555-1843-AB67-C6B6B3FEA42F}" srcOrd="1" destOrd="0" presId="urn:microsoft.com/office/officeart/2005/8/layout/hierarchy1"/>
    <dgm:cxn modelId="{7EC3F26A-A2EB-634D-88C7-5C2384525523}" type="presParOf" srcId="{7D7ACE68-0555-1843-AB67-C6B6B3FEA42F}" destId="{E93CBD36-7C1D-EF43-A980-A54C90F0A20B}" srcOrd="0" destOrd="0" presId="urn:microsoft.com/office/officeart/2005/8/layout/hierarchy1"/>
    <dgm:cxn modelId="{D3D40980-EFC0-0B45-B0C2-973197FA038E}" type="presParOf" srcId="{7D7ACE68-0555-1843-AB67-C6B6B3FEA42F}" destId="{2A0A9CBA-65FF-7C4C-A1CA-20C8A5EFA79F}" srcOrd="1" destOrd="0" presId="urn:microsoft.com/office/officeart/2005/8/layout/hierarchy1"/>
    <dgm:cxn modelId="{484A5A1D-111B-AF4E-832C-53ECCE98E1A6}" type="presParOf" srcId="{2A0A9CBA-65FF-7C4C-A1CA-20C8A5EFA79F}" destId="{C46E8457-020A-524B-A6BC-B0A255029163}" srcOrd="0" destOrd="0" presId="urn:microsoft.com/office/officeart/2005/8/layout/hierarchy1"/>
    <dgm:cxn modelId="{AF4F206A-5E12-D541-A072-76F3DC4EECD0}" type="presParOf" srcId="{C46E8457-020A-524B-A6BC-B0A255029163}" destId="{40625B15-F4C7-3645-915E-6C834D91E698}" srcOrd="0" destOrd="0" presId="urn:microsoft.com/office/officeart/2005/8/layout/hierarchy1"/>
    <dgm:cxn modelId="{0EA1A64A-1A83-B442-A90F-AAD90B96165E}" type="presParOf" srcId="{C46E8457-020A-524B-A6BC-B0A255029163}" destId="{865889AB-D1E1-AF4F-967F-890EF5483D58}" srcOrd="1" destOrd="0" presId="urn:microsoft.com/office/officeart/2005/8/layout/hierarchy1"/>
    <dgm:cxn modelId="{A577866F-A08E-BA42-A29F-3E96448F9B8F}" type="presParOf" srcId="{2A0A9CBA-65FF-7C4C-A1CA-20C8A5EFA79F}" destId="{E34183D5-DB2A-6449-9FF2-96B76BBB42C3}" srcOrd="1" destOrd="0" presId="urn:microsoft.com/office/officeart/2005/8/layout/hierarchy1"/>
    <dgm:cxn modelId="{B6E220D4-E443-6C42-808A-B33393FC7158}" type="presParOf" srcId="{8F9EB7A8-D5C9-CA45-8577-BB2A18D8AAC0}" destId="{BB32C14A-8F1E-DE48-9D2D-22F6021E62B3}" srcOrd="2" destOrd="0" presId="urn:microsoft.com/office/officeart/2005/8/layout/hierarchy1"/>
    <dgm:cxn modelId="{E650FDB1-20A2-8740-A576-F6F03A332C44}" type="presParOf" srcId="{8F9EB7A8-D5C9-CA45-8577-BB2A18D8AAC0}" destId="{5C903DED-2F4B-9D4D-9338-A5D55CE781AF}" srcOrd="3" destOrd="0" presId="urn:microsoft.com/office/officeart/2005/8/layout/hierarchy1"/>
    <dgm:cxn modelId="{D278A1B5-EEFC-5647-8A7A-F99C9F8033F1}" type="presParOf" srcId="{5C903DED-2F4B-9D4D-9338-A5D55CE781AF}" destId="{572FEA28-C963-944D-ADCC-6F723E861164}" srcOrd="0" destOrd="0" presId="urn:microsoft.com/office/officeart/2005/8/layout/hierarchy1"/>
    <dgm:cxn modelId="{692CEC56-FCBB-DC46-B3A8-A3DD48A175E5}" type="presParOf" srcId="{572FEA28-C963-944D-ADCC-6F723E861164}" destId="{0DA2EF7D-E8B5-8346-B3A3-FB581EBF4B6A}" srcOrd="0" destOrd="0" presId="urn:microsoft.com/office/officeart/2005/8/layout/hierarchy1"/>
    <dgm:cxn modelId="{9E471CE9-876F-AA49-A96F-A1C33BCF67AB}" type="presParOf" srcId="{572FEA28-C963-944D-ADCC-6F723E861164}" destId="{EADBEC72-7DCB-9B49-9A0C-C8D3222F7C47}" srcOrd="1" destOrd="0" presId="urn:microsoft.com/office/officeart/2005/8/layout/hierarchy1"/>
    <dgm:cxn modelId="{5EAC71B8-0C04-754E-95DD-D91E3A95BE60}" type="presParOf" srcId="{5C903DED-2F4B-9D4D-9338-A5D55CE781AF}" destId="{5C6575B1-78B7-3240-A9CC-9A1D6B4E4B7C}" srcOrd="1" destOrd="0" presId="urn:microsoft.com/office/officeart/2005/8/layout/hierarchy1"/>
    <dgm:cxn modelId="{2E2C276D-4C24-664F-9523-35B099F56B9A}" type="presParOf" srcId="{5C6575B1-78B7-3240-A9CC-9A1D6B4E4B7C}" destId="{2DD87453-215C-D448-8520-F89A9090A5DD}" srcOrd="0" destOrd="0" presId="urn:microsoft.com/office/officeart/2005/8/layout/hierarchy1"/>
    <dgm:cxn modelId="{148B9C8A-15B9-0D45-A29F-312A7663B8FF}" type="presParOf" srcId="{5C6575B1-78B7-3240-A9CC-9A1D6B4E4B7C}" destId="{5617B2B5-DCF1-B44E-BC79-9FB6F2868BED}" srcOrd="1" destOrd="0" presId="urn:microsoft.com/office/officeart/2005/8/layout/hierarchy1"/>
    <dgm:cxn modelId="{657DFD75-3CD1-B141-88AE-29FB8E319B6C}" type="presParOf" srcId="{5617B2B5-DCF1-B44E-BC79-9FB6F2868BED}" destId="{A9ACDC59-E8B5-FC47-BF01-476B8ECE5191}" srcOrd="0" destOrd="0" presId="urn:microsoft.com/office/officeart/2005/8/layout/hierarchy1"/>
    <dgm:cxn modelId="{67A95362-E882-0244-A49B-7E835E2B6A17}" type="presParOf" srcId="{A9ACDC59-E8B5-FC47-BF01-476B8ECE5191}" destId="{AB9D0A4E-06F2-9342-B0B2-3150DFB14F94}" srcOrd="0" destOrd="0" presId="urn:microsoft.com/office/officeart/2005/8/layout/hierarchy1"/>
    <dgm:cxn modelId="{48EC0024-BDD1-E840-A540-F8080EAF68C6}" type="presParOf" srcId="{A9ACDC59-E8B5-FC47-BF01-476B8ECE5191}" destId="{0D09FCC9-266B-654A-BCA3-B7C250D1ED5B}" srcOrd="1" destOrd="0" presId="urn:microsoft.com/office/officeart/2005/8/layout/hierarchy1"/>
    <dgm:cxn modelId="{9D89705D-1DCD-0F4D-B480-4F91772F8F64}" type="presParOf" srcId="{5617B2B5-DCF1-B44E-BC79-9FB6F2868BED}" destId="{CD7824DC-6370-1148-B21A-E8AC999B056B}" srcOrd="1" destOrd="0" presId="urn:microsoft.com/office/officeart/2005/8/layout/hierarchy1"/>
    <dgm:cxn modelId="{1717B535-86E4-B54C-B489-1D654FE3084B}" type="presParOf" srcId="{CD7824DC-6370-1148-B21A-E8AC999B056B}" destId="{2B7C2E53-A2B6-8644-8920-315C82A4653D}" srcOrd="0" destOrd="0" presId="urn:microsoft.com/office/officeart/2005/8/layout/hierarchy1"/>
    <dgm:cxn modelId="{6CF894D4-B8A9-C94E-B7D8-72BE7166C243}" type="presParOf" srcId="{CD7824DC-6370-1148-B21A-E8AC999B056B}" destId="{DDFA09C7-B8CB-064B-9563-07BEF8FE46A8}" srcOrd="1" destOrd="0" presId="urn:microsoft.com/office/officeart/2005/8/layout/hierarchy1"/>
    <dgm:cxn modelId="{6C95BB16-C77F-1841-A368-311312C403FF}" type="presParOf" srcId="{DDFA09C7-B8CB-064B-9563-07BEF8FE46A8}" destId="{8D64EEF1-D840-6841-973B-3DD911DFFB70}" srcOrd="0" destOrd="0" presId="urn:microsoft.com/office/officeart/2005/8/layout/hierarchy1"/>
    <dgm:cxn modelId="{69835703-DD18-BC4B-8647-161B00FD6BC7}" type="presParOf" srcId="{8D64EEF1-D840-6841-973B-3DD911DFFB70}" destId="{06101337-5EBF-0D4D-AC80-EC71B4621881}" srcOrd="0" destOrd="0" presId="urn:microsoft.com/office/officeart/2005/8/layout/hierarchy1"/>
    <dgm:cxn modelId="{064B34CE-79BA-A640-8D4A-2B00247DD928}" type="presParOf" srcId="{8D64EEF1-D840-6841-973B-3DD911DFFB70}" destId="{38EC4395-0ADA-604D-B4AB-90BC4CF36C21}" srcOrd="1" destOrd="0" presId="urn:microsoft.com/office/officeart/2005/8/layout/hierarchy1"/>
    <dgm:cxn modelId="{433F13AE-65DF-CA49-9CA3-4D4009A28ED7}" type="presParOf" srcId="{DDFA09C7-B8CB-064B-9563-07BEF8FE46A8}" destId="{82947695-CDA7-7E49-A9A9-B79271C80B81}" srcOrd="1" destOrd="0" presId="urn:microsoft.com/office/officeart/2005/8/layout/hierarchy1"/>
    <dgm:cxn modelId="{77FC9664-E7D4-6A45-B0D8-779EE596FD20}" type="presParOf" srcId="{82947695-CDA7-7E49-A9A9-B79271C80B81}" destId="{E44BA53A-E8CB-C248-B6E1-BB6DB4DF48E5}" srcOrd="0" destOrd="0" presId="urn:microsoft.com/office/officeart/2005/8/layout/hierarchy1"/>
    <dgm:cxn modelId="{27CDB43C-8FF4-4A48-920D-D4C13A960D50}" type="presParOf" srcId="{82947695-CDA7-7E49-A9A9-B79271C80B81}" destId="{A861466A-C2C1-4E47-87E6-ACBA140510FB}" srcOrd="1" destOrd="0" presId="urn:microsoft.com/office/officeart/2005/8/layout/hierarchy1"/>
    <dgm:cxn modelId="{BC39C47C-E1AF-2047-9307-E10BCFE8409C}" type="presParOf" srcId="{A861466A-C2C1-4E47-87E6-ACBA140510FB}" destId="{DB4B1ACE-C213-8B4E-B38F-548F65F938F9}" srcOrd="0" destOrd="0" presId="urn:microsoft.com/office/officeart/2005/8/layout/hierarchy1"/>
    <dgm:cxn modelId="{59CECC0B-FD73-CD4D-9A68-29F77C20D800}" type="presParOf" srcId="{DB4B1ACE-C213-8B4E-B38F-548F65F938F9}" destId="{562FA719-D0F8-E640-ADD9-2C9C2613F91F}" srcOrd="0" destOrd="0" presId="urn:microsoft.com/office/officeart/2005/8/layout/hierarchy1"/>
    <dgm:cxn modelId="{1BE0A7E3-195A-2B42-9389-788DF16708FE}" type="presParOf" srcId="{DB4B1ACE-C213-8B4E-B38F-548F65F938F9}" destId="{DB0A0E7C-09A2-6742-9281-AC9C75A1C0B6}" srcOrd="1" destOrd="0" presId="urn:microsoft.com/office/officeart/2005/8/layout/hierarchy1"/>
    <dgm:cxn modelId="{0542AD51-E9ED-5E4C-A354-EFEFDF116A6E}" type="presParOf" srcId="{A861466A-C2C1-4E47-87E6-ACBA140510FB}" destId="{878AD933-41C4-0A45-9DA7-D4B85165E2B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4BA53A-E8CB-C248-B6E1-BB6DB4DF48E5}">
      <dsp:nvSpPr>
        <dsp:cNvPr id="0" name=""/>
        <dsp:cNvSpPr/>
      </dsp:nvSpPr>
      <dsp:spPr>
        <a:xfrm>
          <a:off x="6351027" y="5248754"/>
          <a:ext cx="91440" cy="429051"/>
        </a:xfrm>
        <a:custGeom>
          <a:avLst/>
          <a:gdLst/>
          <a:ahLst/>
          <a:cxnLst/>
          <a:rect l="0" t="0" r="0" b="0"/>
          <a:pathLst>
            <a:path>
              <a:moveTo>
                <a:pt x="45720" y="0"/>
              </a:moveTo>
              <a:lnTo>
                <a:pt x="45720" y="429051"/>
              </a:lnTo>
            </a:path>
          </a:pathLst>
        </a:custGeom>
        <a:noFill/>
        <a:ln w="25400" cap="flat" cmpd="sng" algn="ctr">
          <a:solidFill>
            <a:schemeClr val="accent1">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2B7C2E53-A2B6-8644-8920-315C82A4653D}">
      <dsp:nvSpPr>
        <dsp:cNvPr id="0" name=""/>
        <dsp:cNvSpPr/>
      </dsp:nvSpPr>
      <dsp:spPr>
        <a:xfrm>
          <a:off x="6303022" y="3918770"/>
          <a:ext cx="91440" cy="393201"/>
        </a:xfrm>
        <a:custGeom>
          <a:avLst/>
          <a:gdLst/>
          <a:ahLst/>
          <a:cxnLst/>
          <a:rect l="0" t="0" r="0" b="0"/>
          <a:pathLst>
            <a:path>
              <a:moveTo>
                <a:pt x="45720" y="0"/>
              </a:moveTo>
              <a:lnTo>
                <a:pt x="45720" y="256535"/>
              </a:lnTo>
              <a:lnTo>
                <a:pt x="93724" y="256535"/>
              </a:lnTo>
              <a:lnTo>
                <a:pt x="93724" y="393201"/>
              </a:lnTo>
            </a:path>
          </a:pathLst>
        </a:custGeom>
        <a:noFill/>
        <a:ln w="25400" cap="flat" cmpd="sng" algn="ctr">
          <a:solidFill>
            <a:schemeClr val="accent1">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2DD87453-215C-D448-8520-F89A9090A5DD}">
      <dsp:nvSpPr>
        <dsp:cNvPr id="0" name=""/>
        <dsp:cNvSpPr/>
      </dsp:nvSpPr>
      <dsp:spPr>
        <a:xfrm>
          <a:off x="6303022" y="2517083"/>
          <a:ext cx="91440" cy="464902"/>
        </a:xfrm>
        <a:custGeom>
          <a:avLst/>
          <a:gdLst/>
          <a:ahLst/>
          <a:cxnLst/>
          <a:rect l="0" t="0" r="0" b="0"/>
          <a:pathLst>
            <a:path>
              <a:moveTo>
                <a:pt x="93724" y="0"/>
              </a:moveTo>
              <a:lnTo>
                <a:pt x="93724" y="328237"/>
              </a:lnTo>
              <a:lnTo>
                <a:pt x="45720" y="328237"/>
              </a:lnTo>
              <a:lnTo>
                <a:pt x="45720" y="464902"/>
              </a:lnTo>
            </a:path>
          </a:pathLst>
        </a:custGeom>
        <a:noFill/>
        <a:ln w="25400" cap="flat" cmpd="sng" algn="ctr">
          <a:solidFill>
            <a:schemeClr val="accent1">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BB32C14A-8F1E-DE48-9D2D-22F6021E62B3}">
      <dsp:nvSpPr>
        <dsp:cNvPr id="0" name=""/>
        <dsp:cNvSpPr/>
      </dsp:nvSpPr>
      <dsp:spPr>
        <a:xfrm>
          <a:off x="4188352" y="781062"/>
          <a:ext cx="2208395" cy="799237"/>
        </a:xfrm>
        <a:custGeom>
          <a:avLst/>
          <a:gdLst/>
          <a:ahLst/>
          <a:cxnLst/>
          <a:rect l="0" t="0" r="0" b="0"/>
          <a:pathLst>
            <a:path>
              <a:moveTo>
                <a:pt x="0" y="0"/>
              </a:moveTo>
              <a:lnTo>
                <a:pt x="0" y="662571"/>
              </a:lnTo>
              <a:lnTo>
                <a:pt x="2208395" y="662571"/>
              </a:lnTo>
              <a:lnTo>
                <a:pt x="2208395" y="799237"/>
              </a:lnTo>
            </a:path>
          </a:pathLst>
        </a:custGeom>
        <a:noFill/>
        <a:ln w="25400" cap="flat" cmpd="sng" algn="ctr">
          <a:solidFill>
            <a:schemeClr val="accent1">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E93CBD36-7C1D-EF43-A980-A54C90F0A20B}">
      <dsp:nvSpPr>
        <dsp:cNvPr id="0" name=""/>
        <dsp:cNvSpPr/>
      </dsp:nvSpPr>
      <dsp:spPr>
        <a:xfrm>
          <a:off x="1950457" y="5248811"/>
          <a:ext cx="91440" cy="428995"/>
        </a:xfrm>
        <a:custGeom>
          <a:avLst/>
          <a:gdLst/>
          <a:ahLst/>
          <a:cxnLst/>
          <a:rect l="0" t="0" r="0" b="0"/>
          <a:pathLst>
            <a:path>
              <a:moveTo>
                <a:pt x="61873" y="0"/>
              </a:moveTo>
              <a:lnTo>
                <a:pt x="61873" y="292330"/>
              </a:lnTo>
              <a:lnTo>
                <a:pt x="45720" y="292330"/>
              </a:lnTo>
              <a:lnTo>
                <a:pt x="45720" y="428995"/>
              </a:lnTo>
            </a:path>
          </a:pathLst>
        </a:custGeom>
        <a:noFill/>
        <a:ln w="25400" cap="flat" cmpd="sng" algn="ctr">
          <a:solidFill>
            <a:schemeClr val="accent1">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CBC872DF-D846-1141-AA63-56EEB3F2E29B}">
      <dsp:nvSpPr>
        <dsp:cNvPr id="0" name=""/>
        <dsp:cNvSpPr/>
      </dsp:nvSpPr>
      <dsp:spPr>
        <a:xfrm>
          <a:off x="1950457" y="3882919"/>
          <a:ext cx="91440" cy="429108"/>
        </a:xfrm>
        <a:custGeom>
          <a:avLst/>
          <a:gdLst/>
          <a:ahLst/>
          <a:cxnLst/>
          <a:rect l="0" t="0" r="0" b="0"/>
          <a:pathLst>
            <a:path>
              <a:moveTo>
                <a:pt x="45720" y="0"/>
              </a:moveTo>
              <a:lnTo>
                <a:pt x="45720" y="292442"/>
              </a:lnTo>
              <a:lnTo>
                <a:pt x="61873" y="292442"/>
              </a:lnTo>
              <a:lnTo>
                <a:pt x="61873" y="429108"/>
              </a:lnTo>
            </a:path>
          </a:pathLst>
        </a:custGeom>
        <a:noFill/>
        <a:ln w="25400" cap="flat" cmpd="sng" algn="ctr">
          <a:solidFill>
            <a:schemeClr val="accent1">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CA3137D5-4382-B14E-98D1-AC0EAB888AAC}">
      <dsp:nvSpPr>
        <dsp:cNvPr id="0" name=""/>
        <dsp:cNvSpPr/>
      </dsp:nvSpPr>
      <dsp:spPr>
        <a:xfrm>
          <a:off x="1950457" y="2517083"/>
          <a:ext cx="91440" cy="429051"/>
        </a:xfrm>
        <a:custGeom>
          <a:avLst/>
          <a:gdLst/>
          <a:ahLst/>
          <a:cxnLst/>
          <a:rect l="0" t="0" r="0" b="0"/>
          <a:pathLst>
            <a:path>
              <a:moveTo>
                <a:pt x="45720" y="0"/>
              </a:moveTo>
              <a:lnTo>
                <a:pt x="45720" y="429051"/>
              </a:lnTo>
            </a:path>
          </a:pathLst>
        </a:custGeom>
        <a:noFill/>
        <a:ln w="25400" cap="flat" cmpd="sng" algn="ctr">
          <a:solidFill>
            <a:schemeClr val="accent1">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1EE04CD9-7B97-D943-93F5-82E1D39BE8D8}">
      <dsp:nvSpPr>
        <dsp:cNvPr id="0" name=""/>
        <dsp:cNvSpPr/>
      </dsp:nvSpPr>
      <dsp:spPr>
        <a:xfrm>
          <a:off x="1996177" y="781062"/>
          <a:ext cx="2192174" cy="799237"/>
        </a:xfrm>
        <a:custGeom>
          <a:avLst/>
          <a:gdLst/>
          <a:ahLst/>
          <a:cxnLst/>
          <a:rect l="0" t="0" r="0" b="0"/>
          <a:pathLst>
            <a:path>
              <a:moveTo>
                <a:pt x="2192174" y="0"/>
              </a:moveTo>
              <a:lnTo>
                <a:pt x="2192174" y="662571"/>
              </a:lnTo>
              <a:lnTo>
                <a:pt x="0" y="662571"/>
              </a:lnTo>
              <a:lnTo>
                <a:pt x="0" y="799237"/>
              </a:lnTo>
            </a:path>
          </a:pathLst>
        </a:custGeom>
        <a:noFill/>
        <a:ln w="25400" cap="flat" cmpd="sng" algn="ctr">
          <a:solidFill>
            <a:schemeClr val="accent1">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8E832C3C-3575-7843-B04E-7135D72BCC73}">
      <dsp:nvSpPr>
        <dsp:cNvPr id="0" name=""/>
        <dsp:cNvSpPr/>
      </dsp:nvSpPr>
      <dsp:spPr>
        <a:xfrm>
          <a:off x="2294514" y="-155720"/>
          <a:ext cx="3787674"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19C45595-286E-0242-BC20-0B3774B36229}">
      <dsp:nvSpPr>
        <dsp:cNvPr id="0" name=""/>
        <dsp:cNvSpPr/>
      </dsp:nvSpPr>
      <dsp:spPr>
        <a:xfrm>
          <a:off x="2458431" y="0"/>
          <a:ext cx="3787674"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latin typeface="华文琥珀"/>
              <a:ea typeface="华文琥珀"/>
              <a:cs typeface="华文琥珀"/>
            </a:rPr>
            <a:t>危险心理</a:t>
          </a:r>
        </a:p>
      </dsp:txBody>
      <dsp:txXfrm>
        <a:off x="2485868" y="27437"/>
        <a:ext cx="3732800" cy="881909"/>
      </dsp:txXfrm>
    </dsp:sp>
    <dsp:sp modelId="{C483F4C0-BA3C-E742-AD61-78B931AC3BA5}">
      <dsp:nvSpPr>
        <dsp:cNvPr id="0" name=""/>
        <dsp:cNvSpPr/>
      </dsp:nvSpPr>
      <dsp:spPr>
        <a:xfrm>
          <a:off x="424025" y="1580300"/>
          <a:ext cx="3144303"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DE3A02DE-E0F3-0641-A6CA-C373619D5F59}">
      <dsp:nvSpPr>
        <dsp:cNvPr id="0" name=""/>
        <dsp:cNvSpPr/>
      </dsp:nvSpPr>
      <dsp:spPr>
        <a:xfrm>
          <a:off x="587942" y="1736021"/>
          <a:ext cx="3144303"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b="1" kern="1200" dirty="0">
              <a:latin typeface="黑体"/>
              <a:ea typeface="黑体"/>
              <a:cs typeface="黑体"/>
            </a:rPr>
            <a:t>危险人格</a:t>
          </a:r>
        </a:p>
      </dsp:txBody>
      <dsp:txXfrm>
        <a:off x="615379" y="1763458"/>
        <a:ext cx="3089429" cy="881909"/>
      </dsp:txXfrm>
    </dsp:sp>
    <dsp:sp modelId="{2814311E-93F4-A845-81C4-DED3FE5D5BC3}">
      <dsp:nvSpPr>
        <dsp:cNvPr id="0" name=""/>
        <dsp:cNvSpPr/>
      </dsp:nvSpPr>
      <dsp:spPr>
        <a:xfrm>
          <a:off x="409590" y="2946135"/>
          <a:ext cx="3173173"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A13200A6-5C7A-B44B-A1B6-9FF04553BFE3}">
      <dsp:nvSpPr>
        <dsp:cNvPr id="0" name=""/>
        <dsp:cNvSpPr/>
      </dsp:nvSpPr>
      <dsp:spPr>
        <a:xfrm>
          <a:off x="573506" y="3101856"/>
          <a:ext cx="3173173"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zh-CN" altLang="en-US" sz="4200" kern="1200" dirty="0">
              <a:latin typeface="黑体"/>
              <a:ea typeface="黑体"/>
              <a:cs typeface="黑体"/>
            </a:rPr>
            <a:t>反社会人格</a:t>
          </a:r>
        </a:p>
      </dsp:txBody>
      <dsp:txXfrm>
        <a:off x="600943" y="3129293"/>
        <a:ext cx="3118299" cy="881909"/>
      </dsp:txXfrm>
    </dsp:sp>
    <dsp:sp modelId="{1680359F-7972-8A4A-8234-A2044511BA29}">
      <dsp:nvSpPr>
        <dsp:cNvPr id="0" name=""/>
        <dsp:cNvSpPr/>
      </dsp:nvSpPr>
      <dsp:spPr>
        <a:xfrm>
          <a:off x="343786" y="4312027"/>
          <a:ext cx="3337088"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44D2253F-0047-AB43-87BF-2E6842141614}">
      <dsp:nvSpPr>
        <dsp:cNvPr id="0" name=""/>
        <dsp:cNvSpPr/>
      </dsp:nvSpPr>
      <dsp:spPr>
        <a:xfrm>
          <a:off x="507703" y="4467748"/>
          <a:ext cx="3337088"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zh-CN" altLang="en-US" sz="4200" kern="1200" dirty="0">
              <a:latin typeface="黑体"/>
              <a:ea typeface="黑体"/>
              <a:cs typeface="黑体"/>
            </a:rPr>
            <a:t>犯罪人格</a:t>
          </a:r>
        </a:p>
      </dsp:txBody>
      <dsp:txXfrm>
        <a:off x="535140" y="4495185"/>
        <a:ext cx="3282214" cy="881909"/>
      </dsp:txXfrm>
    </dsp:sp>
    <dsp:sp modelId="{40625B15-F4C7-3645-915E-6C834D91E698}">
      <dsp:nvSpPr>
        <dsp:cNvPr id="0" name=""/>
        <dsp:cNvSpPr/>
      </dsp:nvSpPr>
      <dsp:spPr>
        <a:xfrm>
          <a:off x="1868" y="5677806"/>
          <a:ext cx="3988618"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865889AB-D1E1-AF4F-967F-890EF5483D58}">
      <dsp:nvSpPr>
        <dsp:cNvPr id="0" name=""/>
        <dsp:cNvSpPr/>
      </dsp:nvSpPr>
      <dsp:spPr>
        <a:xfrm>
          <a:off x="165784" y="5833527"/>
          <a:ext cx="3988618"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zh-CN" altLang="en-US" sz="4200" kern="1200" dirty="0">
              <a:latin typeface="黑体"/>
              <a:ea typeface="黑体"/>
              <a:cs typeface="黑体"/>
            </a:rPr>
            <a:t>缺陷人格</a:t>
          </a:r>
        </a:p>
      </dsp:txBody>
      <dsp:txXfrm>
        <a:off x="193221" y="5860964"/>
        <a:ext cx="3933744" cy="881909"/>
      </dsp:txXfrm>
    </dsp:sp>
    <dsp:sp modelId="{0DA2EF7D-E8B5-8346-B3A3-FB581EBF4B6A}">
      <dsp:nvSpPr>
        <dsp:cNvPr id="0" name=""/>
        <dsp:cNvSpPr/>
      </dsp:nvSpPr>
      <dsp:spPr>
        <a:xfrm>
          <a:off x="4552434" y="1580300"/>
          <a:ext cx="3688626"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EADBEC72-7DCB-9B49-9A0C-C8D3222F7C47}">
      <dsp:nvSpPr>
        <dsp:cNvPr id="0" name=""/>
        <dsp:cNvSpPr/>
      </dsp:nvSpPr>
      <dsp:spPr>
        <a:xfrm>
          <a:off x="4716350" y="1736021"/>
          <a:ext cx="3688626"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b="1" kern="1200" dirty="0">
              <a:latin typeface="黑体"/>
              <a:ea typeface="黑体"/>
              <a:cs typeface="黑体"/>
            </a:rPr>
            <a:t>危险心结</a:t>
          </a:r>
        </a:p>
      </dsp:txBody>
      <dsp:txXfrm>
        <a:off x="4743787" y="1763458"/>
        <a:ext cx="3633752" cy="881909"/>
      </dsp:txXfrm>
    </dsp:sp>
    <dsp:sp modelId="{AB9D0A4E-06F2-9342-B0B2-3150DFB14F94}">
      <dsp:nvSpPr>
        <dsp:cNvPr id="0" name=""/>
        <dsp:cNvSpPr/>
      </dsp:nvSpPr>
      <dsp:spPr>
        <a:xfrm>
          <a:off x="4599907" y="2981986"/>
          <a:ext cx="3497669"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0D09FCC9-266B-654A-BCA3-B7C250D1ED5B}">
      <dsp:nvSpPr>
        <dsp:cNvPr id="0" name=""/>
        <dsp:cNvSpPr/>
      </dsp:nvSpPr>
      <dsp:spPr>
        <a:xfrm>
          <a:off x="4763824" y="3137707"/>
          <a:ext cx="3497669"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zh-CN" altLang="en-US" sz="4200" kern="1200" dirty="0">
              <a:latin typeface="黑体"/>
              <a:ea typeface="黑体"/>
              <a:cs typeface="黑体"/>
            </a:rPr>
            <a:t>危险意结</a:t>
          </a:r>
        </a:p>
      </dsp:txBody>
      <dsp:txXfrm>
        <a:off x="4791261" y="3165144"/>
        <a:ext cx="3442795" cy="881909"/>
      </dsp:txXfrm>
    </dsp:sp>
    <dsp:sp modelId="{06101337-5EBF-0D4D-AC80-EC71B4621881}">
      <dsp:nvSpPr>
        <dsp:cNvPr id="0" name=""/>
        <dsp:cNvSpPr/>
      </dsp:nvSpPr>
      <dsp:spPr>
        <a:xfrm>
          <a:off x="4364568" y="4311971"/>
          <a:ext cx="4064357"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38EC4395-0ADA-604D-B4AB-90BC4CF36C21}">
      <dsp:nvSpPr>
        <dsp:cNvPr id="0" name=""/>
        <dsp:cNvSpPr/>
      </dsp:nvSpPr>
      <dsp:spPr>
        <a:xfrm>
          <a:off x="4528485" y="4467692"/>
          <a:ext cx="4064357"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zh-CN" altLang="en-US" sz="4200" kern="1200" dirty="0">
              <a:latin typeface="黑体"/>
              <a:ea typeface="黑体"/>
              <a:cs typeface="黑体"/>
            </a:rPr>
            <a:t>危险知结</a:t>
          </a:r>
        </a:p>
      </dsp:txBody>
      <dsp:txXfrm>
        <a:off x="4555922" y="4495129"/>
        <a:ext cx="4009483" cy="881909"/>
      </dsp:txXfrm>
    </dsp:sp>
    <dsp:sp modelId="{562FA719-D0F8-E640-ADD9-2C9C2613F91F}">
      <dsp:nvSpPr>
        <dsp:cNvPr id="0" name=""/>
        <dsp:cNvSpPr/>
      </dsp:nvSpPr>
      <dsp:spPr>
        <a:xfrm>
          <a:off x="4318319" y="5677806"/>
          <a:ext cx="4156855" cy="936783"/>
        </a:xfrm>
        <a:prstGeom prst="roundRect">
          <a:avLst>
            <a:gd name="adj" fmla="val 10000"/>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DB0A0E7C-09A2-6742-9281-AC9C75A1C0B6}">
      <dsp:nvSpPr>
        <dsp:cNvPr id="0" name=""/>
        <dsp:cNvSpPr/>
      </dsp:nvSpPr>
      <dsp:spPr>
        <a:xfrm>
          <a:off x="4482236" y="5833527"/>
          <a:ext cx="4156855" cy="936783"/>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a:sp3d z="50080" prstMaterial="plastic">
          <a:bevelT w="25400" h="25400"/>
          <a:bevelB w="25400" h="25400"/>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zh-CN" altLang="en-US" sz="4200" kern="1200" dirty="0">
              <a:latin typeface="黑体"/>
              <a:ea typeface="黑体"/>
              <a:cs typeface="黑体"/>
            </a:rPr>
            <a:t>危险情结</a:t>
          </a:r>
        </a:p>
      </dsp:txBody>
      <dsp:txXfrm>
        <a:off x="4509673" y="5860964"/>
        <a:ext cx="4101981" cy="88190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3074" name="Picture 2" descr="technical-drawin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076" name="Rectangle 4"/>
          <p:cNvSpPr>
            <a:spLocks noGrp="1" noChangeArrowheads="1"/>
          </p:cNvSpPr>
          <p:nvPr>
            <p:ph type="ctrTitle"/>
          </p:nvPr>
        </p:nvSpPr>
        <p:spPr>
          <a:xfrm>
            <a:off x="323850" y="1916113"/>
            <a:ext cx="7772400" cy="663575"/>
          </a:xfrm>
        </p:spPr>
        <p:txBody>
          <a:bodyPr/>
          <a:lstStyle>
            <a:lvl1pPr>
              <a:defRPr sz="3600" noProof="1"/>
            </a:lvl1pPr>
          </a:lstStyle>
          <a:p>
            <a:r>
              <a:rPr lang="zh-CN" altLang="en-US" noProof="1"/>
              <a:t>单击此处编辑母版标题样式</a:t>
            </a:r>
            <a:endParaRPr lang="en-US" altLang="zh-CN" noProof="1"/>
          </a:p>
        </p:txBody>
      </p:sp>
      <p:sp>
        <p:nvSpPr>
          <p:cNvPr id="3077" name="Rectangle 5"/>
          <p:cNvSpPr>
            <a:spLocks noGrp="1" noChangeArrowheads="1"/>
          </p:cNvSpPr>
          <p:nvPr>
            <p:ph type="subTitle" idx="1"/>
          </p:nvPr>
        </p:nvSpPr>
        <p:spPr>
          <a:xfrm>
            <a:off x="323850" y="2816225"/>
            <a:ext cx="6400800" cy="1620838"/>
          </a:xfrm>
        </p:spPr>
        <p:txBody>
          <a:bodyPr/>
          <a:lstStyle>
            <a:lvl1pPr marL="0" indent="0">
              <a:buFontTx/>
              <a:buNone/>
              <a:defRPr noProof="1"/>
            </a:lvl1pPr>
          </a:lstStyle>
          <a:p>
            <a:r>
              <a:rPr lang="zh-CN" altLang="en-US" noProof="1"/>
              <a:t>单击此处编辑母版副标题样式</a:t>
            </a:r>
            <a:endParaRPr lang="en-US" altLang="zh-CN" noProof="1"/>
          </a:p>
        </p:txBody>
      </p:sp>
      <p:sp>
        <p:nvSpPr>
          <p:cNvPr id="3081" name="Rectangle 9"/>
          <p:cNvSpPr>
            <a:spLocks noGrp="1" noChangeArrowheads="1"/>
          </p:cNvSpPr>
          <p:nvPr>
            <p:ph type="dt" sz="half" idx="2"/>
          </p:nvPr>
        </p:nvSpPr>
        <p:spPr/>
        <p:txBody>
          <a:bodyPr/>
          <a:lstStyle>
            <a:lvl1pPr>
              <a:defRPr/>
            </a:lvl1pPr>
          </a:lstStyle>
          <a:p>
            <a:endParaRPr lang="en-US" altLang="zh-CN"/>
          </a:p>
        </p:txBody>
      </p:sp>
      <p:sp>
        <p:nvSpPr>
          <p:cNvPr id="3082" name="Rectangle 10"/>
          <p:cNvSpPr>
            <a:spLocks noGrp="1" noChangeArrowheads="1"/>
          </p:cNvSpPr>
          <p:nvPr>
            <p:ph type="ftr" sz="quarter" idx="3"/>
          </p:nvPr>
        </p:nvSpPr>
        <p:spPr/>
        <p:txBody>
          <a:bodyPr/>
          <a:lstStyle>
            <a:lvl1pPr>
              <a:defRPr/>
            </a:lvl1pPr>
          </a:lstStyle>
          <a:p>
            <a:endParaRPr lang="zh-CN" altLang="zh-CN"/>
          </a:p>
        </p:txBody>
      </p:sp>
      <p:sp>
        <p:nvSpPr>
          <p:cNvPr id="3083" name="Rectangle 11"/>
          <p:cNvSpPr>
            <a:spLocks noGrp="1" noChangeArrowheads="1"/>
          </p:cNvSpPr>
          <p:nvPr>
            <p:ph type="sldNum" sz="quarter" idx="4"/>
          </p:nvPr>
        </p:nvSpPr>
        <p:spPr/>
        <p:txBody>
          <a:bodyPr/>
          <a:lstStyle>
            <a:lvl1pPr>
              <a:defRPr/>
            </a:lvl1pPr>
          </a:lstStyle>
          <a:p>
            <a:fld id="{6B072979-0336-418D-B7D9-C99A80321136}" type="slidenum">
              <a:rPr altLang="zh-CN"/>
              <a:pPr/>
              <a:t>‹#›</a:t>
            </a:fld>
            <a:endParaRPr lang="zh-CN"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3076"/>
                                        </p:tgtEl>
                                        <p:attrNameLst>
                                          <p:attrName>style.visibility</p:attrName>
                                        </p:attrNameLst>
                                      </p:cBhvr>
                                      <p:to>
                                        <p:strVal val="visible"/>
                                      </p:to>
                                    </p:set>
                                    <p:anim calcmode="lin" valueType="num">
                                      <p:cBhvr>
                                        <p:cTn id="7" dur="500" fill="hold"/>
                                        <p:tgtEl>
                                          <p:spTgt spid="3076"/>
                                        </p:tgtEl>
                                        <p:attrNameLst>
                                          <p:attrName>ppt_w</p:attrName>
                                        </p:attrNameLst>
                                      </p:cBhvr>
                                      <p:tavLst>
                                        <p:tav tm="0">
                                          <p:val>
                                            <p:fltVal val="0"/>
                                          </p:val>
                                        </p:tav>
                                        <p:tav tm="100000">
                                          <p:val>
                                            <p:strVal val="#ppt_w"/>
                                          </p:val>
                                        </p:tav>
                                      </p:tavLst>
                                    </p:anim>
                                    <p:anim calcmode="lin" valueType="num">
                                      <p:cBhvr>
                                        <p:cTn id="8" dur="500" fill="hold"/>
                                        <p:tgtEl>
                                          <p:spTgt spid="3076"/>
                                        </p:tgtEl>
                                        <p:attrNameLst>
                                          <p:attrName>ppt_h</p:attrName>
                                        </p:attrNameLst>
                                      </p:cBhvr>
                                      <p:tavLst>
                                        <p:tav tm="0">
                                          <p:val>
                                            <p:fltVal val="0"/>
                                          </p:val>
                                        </p:tav>
                                        <p:tav tm="100000">
                                          <p:val>
                                            <p:strVal val="#ppt_h"/>
                                          </p:val>
                                        </p:tav>
                                      </p:tavLst>
                                    </p:anim>
                                    <p:animEffect transition="in" filter="fade">
                                      <p:cBhvr>
                                        <p:cTn id="9" dur="500"/>
                                        <p:tgtEl>
                                          <p:spTgt spid="3076"/>
                                        </p:tgtEl>
                                      </p:cBhvr>
                                    </p:animEffect>
                                  </p:childTnLst>
                                </p:cTn>
                              </p:par>
                            </p:childTnLst>
                          </p:cTn>
                        </p:par>
                        <p:par>
                          <p:cTn id="10" fill="hold">
                            <p:stCondLst>
                              <p:cond delay="1020"/>
                            </p:stCondLst>
                            <p:childTnLst>
                              <p:par>
                                <p:cTn id="11" presetID="42" presetClass="entr" presetSubtype="0" fill="hold" grpId="0" nodeType="afterEffect">
                                  <p:stCondLst>
                                    <p:cond delay="0"/>
                                  </p:stCondLst>
                                  <p:childTnLst>
                                    <p:set>
                                      <p:cBhvr>
                                        <p:cTn id="12" dur="1" fill="hold">
                                          <p:stCondLst>
                                            <p:cond delay="0"/>
                                          </p:stCondLst>
                                        </p:cTn>
                                        <p:tgtEl>
                                          <p:spTgt spid="3077">
                                            <p:txEl>
                                              <p:pRg st="0" end="0"/>
                                            </p:txEl>
                                          </p:spTgt>
                                        </p:tgtEl>
                                        <p:attrNameLst>
                                          <p:attrName>style.visibility</p:attrName>
                                        </p:attrNameLst>
                                      </p:cBhvr>
                                      <p:to>
                                        <p:strVal val="visible"/>
                                      </p:to>
                                    </p:set>
                                    <p:animEffect transition="in" filter="fade">
                                      <p:cBhvr>
                                        <p:cTn id="13" dur="500"/>
                                        <p:tgtEl>
                                          <p:spTgt spid="3077">
                                            <p:txEl>
                                              <p:pRg st="0" end="0"/>
                                            </p:txEl>
                                          </p:spTgt>
                                        </p:tgtEl>
                                      </p:cBhvr>
                                    </p:animEffect>
                                    <p:anim calcmode="lin" valueType="num">
                                      <p:cBhvr>
                                        <p:cTn id="14" dur="500" fill="hold"/>
                                        <p:tgtEl>
                                          <p:spTgt spid="3077">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07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P spid="3077" grpId="0" build="p">
        <p:tmplLst>
          <p:tmpl lvl="1">
            <p:tnLst>
              <p:par>
                <p:cTn presetID="42" presetClass="entr" presetSubtype="0" fill="hold" nodeType="afterEffect">
                  <p:stCondLst>
                    <p:cond delay="0"/>
                  </p:stCondLst>
                  <p:childTnLst>
                    <p:set>
                      <p:cBhvr>
                        <p:cTn dur="1" fill="hold">
                          <p:stCondLst>
                            <p:cond delay="0"/>
                          </p:stCondLst>
                        </p:cTn>
                        <p:tgtEl>
                          <p:spTgt spid="3077"/>
                        </p:tgtEl>
                        <p:attrNameLst>
                          <p:attrName>style.visibility</p:attrName>
                        </p:attrNameLst>
                      </p:cBhvr>
                      <p:to>
                        <p:strVal val="visible"/>
                      </p:to>
                    </p:set>
                    <p:animEffect transition="in" filter="fade">
                      <p:cBhvr>
                        <p:cTn dur="500"/>
                        <p:tgtEl>
                          <p:spTgt spid="3077"/>
                        </p:tgtEl>
                      </p:cBhvr>
                    </p:animEffect>
                    <p:anim calcmode="lin" valueType="num">
                      <p:cBhvr>
                        <p:cTn dur="500" fill="hold"/>
                        <p:tgtEl>
                          <p:spTgt spid="3077"/>
                        </p:tgtEl>
                        <p:attrNameLst>
                          <p:attrName>ppt_x</p:attrName>
                        </p:attrNameLst>
                      </p:cBhvr>
                      <p:tavLst>
                        <p:tav tm="0">
                          <p:val>
                            <p:strVal val="#ppt_x"/>
                          </p:val>
                        </p:tav>
                        <p:tav tm="100000">
                          <p:val>
                            <p:strVal val="#ppt_x"/>
                          </p:val>
                        </p:tav>
                      </p:tavLst>
                    </p:anim>
                    <p:anim calcmode="lin" valueType="num">
                      <p:cBhvr>
                        <p:cTn dur="500" fill="hold"/>
                        <p:tgtEl>
                          <p:spTgt spid="3077"/>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837C144C-5A62-4B53-B939-FE9C4EDA708D}" type="slidenum">
              <a:rPr lang="en-US" altLang="zh-CN"/>
              <a:pPr/>
              <a:t>‹#›</a:t>
            </a:fld>
            <a:endParaRPr lang="zh-CN"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6F9D51D-9118-4800-B174-69EACE3FF5A3}" type="slidenum">
              <a:rPr lang="en-US" altLang="zh-CN"/>
              <a:pPr/>
              <a:t>‹#›</a:t>
            </a:fld>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25538"/>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25538"/>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67ED21AA-184C-4641-9370-082D8E62746A}" type="slidenum">
              <a:rPr lang="en-US" altLang="zh-CN"/>
              <a:pPr/>
              <a:t>‹#›</a:t>
            </a:fld>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E0F415CA-CD6A-40FF-A5CF-9E8E9B8FB1E1}" type="slidenum">
              <a:rPr lang="en-US" altLang="zh-CN"/>
              <a:pPr/>
              <a:t>‹#›</a:t>
            </a:fld>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316743F3-7996-4B80-B69B-C4065A2A9338}" type="slidenum">
              <a:rPr lang="en-US" altLang="zh-CN"/>
              <a:pPr/>
              <a:t>‹#›</a:t>
            </a:fld>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E48E8300-F0AA-4671-8397-F49141120FA8}" type="slidenum">
              <a:rPr lang="en-US" altLang="zh-CN"/>
              <a:pPr/>
              <a:t>‹#›</a:t>
            </a:fld>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8788E868-9910-4165-BD4C-637EC4D8665E}" type="slidenum">
              <a:rPr lang="en-US" altLang="zh-CN"/>
              <a:pPr/>
              <a:t>‹#›</a:t>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ED3A4B21-5C7B-4591-AE90-6381C065307E}" type="slidenum">
              <a:rPr lang="en-US" altLang="zh-CN"/>
              <a:pPr/>
              <a:t>‹#›</a:t>
            </a:fld>
            <a:endParaRPr lang="zh-CN"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485D422-BFCC-41E2-88E6-6D5664ED9BFC}" type="slidenum">
              <a:rPr lang="en-US" altLang="zh-CN"/>
              <a:pPr/>
              <a:t>‹#›</a:t>
            </a:fld>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211138"/>
            <a:ext cx="2152650" cy="59150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1438" y="211138"/>
            <a:ext cx="6310312" cy="59150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CD583125-6E9C-4AB4-ADB7-DE34C969AE71}" type="slidenum">
              <a:rPr lang="en-US" altLang="zh-CN"/>
              <a:pPr/>
              <a:t>‹#›</a:t>
            </a:fld>
            <a:endParaRPr lang="zh-CN" alt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50838" y="569913"/>
            <a:ext cx="8509000" cy="700087"/>
          </a:xfrm>
        </p:spPr>
        <p:txBody>
          <a:bodyPr/>
          <a:lstStyle/>
          <a:p>
            <a:r>
              <a:rPr lang="zh-CN" altLang="en-US"/>
              <a:t>单击此处编辑母版标题样式</a:t>
            </a:r>
          </a:p>
        </p:txBody>
      </p:sp>
      <p:sp>
        <p:nvSpPr>
          <p:cNvPr id="3" name="图表占位符 2"/>
          <p:cNvSpPr>
            <a:spLocks noGrp="1"/>
          </p:cNvSpPr>
          <p:nvPr>
            <p:ph type="chart" idx="1"/>
          </p:nvPr>
        </p:nvSpPr>
        <p:spPr>
          <a:xfrm>
            <a:off x="369888" y="1301750"/>
            <a:ext cx="8389937" cy="4921250"/>
          </a:xfrm>
        </p:spPr>
        <p:txBody>
          <a:bodyPr/>
          <a:lstStyle/>
          <a:p>
            <a:endParaRPr lang="zh-CN" altLang="en-US"/>
          </a:p>
        </p:txBody>
      </p:sp>
      <p:sp>
        <p:nvSpPr>
          <p:cNvPr id="4" name="灯片编号占位符 3"/>
          <p:cNvSpPr>
            <a:spLocks noGrp="1"/>
          </p:cNvSpPr>
          <p:nvPr>
            <p:ph type="sldNum" sz="quarter" idx="10"/>
          </p:nvPr>
        </p:nvSpPr>
        <p:spPr>
          <a:xfrm>
            <a:off x="5127625" y="6351588"/>
            <a:ext cx="3929063" cy="301625"/>
          </a:xfrm>
        </p:spPr>
        <p:txBody>
          <a:bodyPr/>
          <a:lstStyle>
            <a:lvl1pPr>
              <a:defRPr/>
            </a:lvl1pPr>
          </a:lstStyle>
          <a:p>
            <a:fld id="{86639F12-1EBD-4167-898B-19282B951FE0}" type="slidenum">
              <a:rPr lang="en-US" altLang="zh-CN"/>
              <a:pPr/>
              <a:t>‹#›</a:t>
            </a:fld>
            <a:endParaRPr lang="en-US" altLang="zh-CN"/>
          </a:p>
        </p:txBody>
      </p:sp>
    </p:spTree>
    <p:extLst>
      <p:ext uri="{BB962C8B-B14F-4D97-AF65-F5344CB8AC3E}">
        <p14:creationId xmlns:p14="http://schemas.microsoft.com/office/powerpoint/2010/main" val="375638129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p>
        </p:txBody>
      </p:sp>
      <p:sp>
        <p:nvSpPr>
          <p:cNvPr id="3" name="表格占位符 2"/>
          <p:cNvSpPr>
            <a:spLocks noGrp="1"/>
          </p:cNvSpPr>
          <p:nvPr>
            <p:ph type="tbl" idx="1"/>
          </p:nvPr>
        </p:nvSpPr>
        <p:spPr>
          <a:xfrm>
            <a:off x="566738" y="1752600"/>
            <a:ext cx="8001000" cy="4267200"/>
          </a:xfrm>
        </p:spPr>
        <p:txBody>
          <a:bodyPr/>
          <a:lstStyle/>
          <a:p>
            <a:pPr lvl="0"/>
            <a:endParaRPr lang="zh-CN" altLang="en-US" noProof="0"/>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51B07FF9-EDC0-4C5A-9291-34E233511EBA}" type="slidenum">
              <a:rPr lang="en-US" altLang="zh-CN"/>
              <a:pPr>
                <a:defRPr/>
              </a:pPr>
              <a:t>‹#›</a:t>
            </a:fld>
            <a:endParaRPr lang="en-US" altLang="zh-CN"/>
          </a:p>
        </p:txBody>
      </p:sp>
    </p:spTree>
    <p:extLst>
      <p:ext uri="{BB962C8B-B14F-4D97-AF65-F5344CB8AC3E}">
        <p14:creationId xmlns:p14="http://schemas.microsoft.com/office/powerpoint/2010/main" val="316843380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294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2" name="Picture 8" descr="technical-drawing"/>
          <p:cNvPicPr>
            <a:picLocks noChangeAspect="1" noChangeArrowheads="1"/>
          </p:cNvPicPr>
          <p:nvPr/>
        </p:nvPicPr>
        <p:blipFill>
          <a:blip r:embed="rId16" cstate="print"/>
          <a:srcRect/>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71438" y="211138"/>
            <a:ext cx="7170737" cy="49212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zh-CN" altLang="en-US" noProof="1"/>
              <a:t>单击此处编辑母版标题样式</a:t>
            </a:r>
            <a:endParaRPr lang="en-US" altLang="zh-CN" noProof="1"/>
          </a:p>
        </p:txBody>
      </p:sp>
      <p:sp>
        <p:nvSpPr>
          <p:cNvPr id="1027" name="Rectangle 3"/>
          <p:cNvSpPr>
            <a:spLocks noGrp="1" noChangeArrowheads="1"/>
          </p:cNvSpPr>
          <p:nvPr>
            <p:ph type="body" idx="1"/>
          </p:nvPr>
        </p:nvSpPr>
        <p:spPr bwMode="auto">
          <a:xfrm>
            <a:off x="457200" y="1125538"/>
            <a:ext cx="8229600" cy="50006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altLang="zh-CN" noProof="1"/>
          </a:p>
        </p:txBody>
      </p:sp>
      <p:sp>
        <p:nvSpPr>
          <p:cNvPr id="1028" name="Rectangle 4"/>
          <p:cNvSpPr>
            <a:spLocks noGrp="1" noChangeArrowheads="1"/>
          </p:cNvSpPr>
          <p:nvPr>
            <p:ph type="dt" sz="half" idx="2"/>
          </p:nvPr>
        </p:nvSpPr>
        <p:spPr bwMode="auto">
          <a:xfrm>
            <a:off x="457200" y="6408738"/>
            <a:ext cx="213360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noProof="1"/>
            </a:lvl1pPr>
          </a:lstStyle>
          <a:p>
            <a:endParaRPr lang="en-US" altLang="zh-CN"/>
          </a:p>
        </p:txBody>
      </p:sp>
      <p:sp>
        <p:nvSpPr>
          <p:cNvPr id="1029" name="Rectangle 5"/>
          <p:cNvSpPr>
            <a:spLocks noGrp="1" noChangeArrowheads="1"/>
          </p:cNvSpPr>
          <p:nvPr>
            <p:ph type="ftr" sz="quarter" idx="3"/>
          </p:nvPr>
        </p:nvSpPr>
        <p:spPr bwMode="auto">
          <a:xfrm>
            <a:off x="2663825" y="6408738"/>
            <a:ext cx="381635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noProof="1"/>
            </a:lvl1pPr>
          </a:lstStyle>
          <a:p>
            <a:endParaRPr lang="zh-CN" altLang="zh-CN"/>
          </a:p>
        </p:txBody>
      </p:sp>
      <p:sp>
        <p:nvSpPr>
          <p:cNvPr id="1030" name="Rectangle 6"/>
          <p:cNvSpPr>
            <a:spLocks noGrp="1" noChangeArrowheads="1"/>
          </p:cNvSpPr>
          <p:nvPr>
            <p:ph type="sldNum" sz="quarter" idx="4"/>
          </p:nvPr>
        </p:nvSpPr>
        <p:spPr bwMode="auto">
          <a:xfrm>
            <a:off x="6553200" y="6408738"/>
            <a:ext cx="213360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noProof="1"/>
            </a:lvl1pPr>
          </a:lstStyle>
          <a:p>
            <a:fld id="{82D62DC1-3E5B-4839-85A1-5781019FC661}" type="slidenum">
              <a:rPr altLang="zh-CN"/>
              <a:pPr/>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par>
                          <p:cTn id="10" fill="hold">
                            <p:stCondLst>
                              <p:cond delay="1020"/>
                            </p:stCondLst>
                            <p:childTnLst>
                              <p:par>
                                <p:cTn id="11" presetID="10" presetClass="entr" presetSubtype="0" fill="hold" grpId="0" nodeType="afterEffect">
                                  <p:stCondLst>
                                    <p:cond delay="0"/>
                                  </p:stCondLst>
                                  <p:childTnLst>
                                    <p:set>
                                      <p:cBhvr>
                                        <p:cTn id="12" dur="1" fill="hold">
                                          <p:stCondLst>
                                            <p:cond delay="0"/>
                                          </p:stCondLst>
                                        </p:cTn>
                                        <p:tgtEl>
                                          <p:spTgt spid="1027">
                                            <p:txEl>
                                              <p:pRg st="0" end="0"/>
                                            </p:txEl>
                                          </p:spTgt>
                                        </p:tgtEl>
                                        <p:attrNameLst>
                                          <p:attrName>style.visibility</p:attrName>
                                        </p:attrNameLst>
                                      </p:cBhvr>
                                      <p:to>
                                        <p:strVal val="visible"/>
                                      </p:to>
                                    </p:set>
                                    <p:animEffect transition="in" filter="fade">
                                      <p:cBhvr>
                                        <p:cTn id="13" dur="500"/>
                                        <p:tgtEl>
                                          <p:spTgt spid="1027">
                                            <p:txEl>
                                              <p:pRg st="0" end="0"/>
                                            </p:txEl>
                                          </p:spTgt>
                                        </p:tgtEl>
                                      </p:cBhvr>
                                    </p:animEffect>
                                  </p:childTnLst>
                                </p:cTn>
                              </p:par>
                            </p:childTnLst>
                          </p:cTn>
                        </p:par>
                        <p:par>
                          <p:cTn id="14" fill="hold">
                            <p:stCondLst>
                              <p:cond delay="1520"/>
                            </p:stCondLst>
                            <p:childTnLst>
                              <p:par>
                                <p:cTn id="15" presetID="10" presetClass="entr" presetSubtype="0" fill="hold" grpId="0" nodeType="afterEffect">
                                  <p:stCondLst>
                                    <p:cond delay="0"/>
                                  </p:stCondLst>
                                  <p:childTnLst>
                                    <p:set>
                                      <p:cBhvr>
                                        <p:cTn id="16" dur="1" fill="hold">
                                          <p:stCondLst>
                                            <p:cond delay="0"/>
                                          </p:stCondLst>
                                        </p:cTn>
                                        <p:tgtEl>
                                          <p:spTgt spid="1027">
                                            <p:txEl>
                                              <p:pRg st="1" end="1"/>
                                            </p:txEl>
                                          </p:spTgt>
                                        </p:tgtEl>
                                        <p:attrNameLst>
                                          <p:attrName>style.visibility</p:attrName>
                                        </p:attrNameLst>
                                      </p:cBhvr>
                                      <p:to>
                                        <p:strVal val="visible"/>
                                      </p:to>
                                    </p:set>
                                    <p:animEffect transition="in" filter="fade">
                                      <p:cBhvr>
                                        <p:cTn id="17" dur="500"/>
                                        <p:tgtEl>
                                          <p:spTgt spid="1027">
                                            <p:txEl>
                                              <p:pRg st="1" end="1"/>
                                            </p:txEl>
                                          </p:spTgt>
                                        </p:tgtEl>
                                      </p:cBhvr>
                                    </p:animEffect>
                                  </p:childTnLst>
                                </p:cTn>
                              </p:par>
                            </p:childTnLst>
                          </p:cTn>
                        </p:par>
                        <p:par>
                          <p:cTn id="18" fill="hold">
                            <p:stCondLst>
                              <p:cond delay="2020"/>
                            </p:stCondLst>
                            <p:childTnLst>
                              <p:par>
                                <p:cTn id="19" presetID="10" presetClass="entr" presetSubtype="0" fill="hold" grpId="0" nodeType="afterEffect">
                                  <p:stCondLst>
                                    <p:cond delay="0"/>
                                  </p:stCondLst>
                                  <p:childTnLst>
                                    <p:set>
                                      <p:cBhvr>
                                        <p:cTn id="20" dur="1" fill="hold">
                                          <p:stCondLst>
                                            <p:cond delay="0"/>
                                          </p:stCondLst>
                                        </p:cTn>
                                        <p:tgtEl>
                                          <p:spTgt spid="1027">
                                            <p:txEl>
                                              <p:pRg st="2" end="2"/>
                                            </p:txEl>
                                          </p:spTgt>
                                        </p:tgtEl>
                                        <p:attrNameLst>
                                          <p:attrName>style.visibility</p:attrName>
                                        </p:attrNameLst>
                                      </p:cBhvr>
                                      <p:to>
                                        <p:strVal val="visible"/>
                                      </p:to>
                                    </p:set>
                                    <p:animEffect transition="in" filter="fade">
                                      <p:cBhvr>
                                        <p:cTn id="21" dur="500"/>
                                        <p:tgtEl>
                                          <p:spTgt spid="1027">
                                            <p:txEl>
                                              <p:pRg st="2" end="2"/>
                                            </p:txEl>
                                          </p:spTgt>
                                        </p:tgtEl>
                                      </p:cBhvr>
                                    </p:animEffect>
                                  </p:childTnLst>
                                </p:cTn>
                              </p:par>
                            </p:childTnLst>
                          </p:cTn>
                        </p:par>
                        <p:par>
                          <p:cTn id="22" fill="hold">
                            <p:stCondLst>
                              <p:cond delay="2520"/>
                            </p:stCondLst>
                            <p:childTnLst>
                              <p:par>
                                <p:cTn id="23" presetID="10" presetClass="entr" presetSubtype="0" fill="hold" grpId="0" nodeType="afterEffect">
                                  <p:stCondLst>
                                    <p:cond delay="0"/>
                                  </p:stCondLst>
                                  <p:childTnLst>
                                    <p:set>
                                      <p:cBhvr>
                                        <p:cTn id="24" dur="1" fill="hold">
                                          <p:stCondLst>
                                            <p:cond delay="0"/>
                                          </p:stCondLst>
                                        </p:cTn>
                                        <p:tgtEl>
                                          <p:spTgt spid="1027">
                                            <p:txEl>
                                              <p:pRg st="3" end="3"/>
                                            </p:txEl>
                                          </p:spTgt>
                                        </p:tgtEl>
                                        <p:attrNameLst>
                                          <p:attrName>style.visibility</p:attrName>
                                        </p:attrNameLst>
                                      </p:cBhvr>
                                      <p:to>
                                        <p:strVal val="visible"/>
                                      </p:to>
                                    </p:set>
                                    <p:animEffect transition="in" filter="fade">
                                      <p:cBhvr>
                                        <p:cTn id="25" dur="500"/>
                                        <p:tgtEl>
                                          <p:spTgt spid="1027">
                                            <p:txEl>
                                              <p:pRg st="3" end="3"/>
                                            </p:txEl>
                                          </p:spTgt>
                                        </p:tgtEl>
                                      </p:cBhvr>
                                    </p:animEffect>
                                  </p:childTnLst>
                                </p:cTn>
                              </p:par>
                            </p:childTnLst>
                          </p:cTn>
                        </p:par>
                        <p:par>
                          <p:cTn id="26" fill="hold">
                            <p:stCondLst>
                              <p:cond delay="3020"/>
                            </p:stCondLst>
                            <p:childTnLst>
                              <p:par>
                                <p:cTn id="27" presetID="10" presetClass="entr" presetSubtype="0" fill="hold" grpId="0" nodeType="afterEffect">
                                  <p:stCondLst>
                                    <p:cond delay="0"/>
                                  </p:stCondLst>
                                  <p:childTnLst>
                                    <p:set>
                                      <p:cBhvr>
                                        <p:cTn id="28" dur="1" fill="hold">
                                          <p:stCondLst>
                                            <p:cond delay="0"/>
                                          </p:stCondLst>
                                        </p:cTn>
                                        <p:tgtEl>
                                          <p:spTgt spid="1027">
                                            <p:txEl>
                                              <p:pRg st="4" end="4"/>
                                            </p:txEl>
                                          </p:spTgt>
                                        </p:tgtEl>
                                        <p:attrNameLst>
                                          <p:attrName>style.visibility</p:attrName>
                                        </p:attrNameLst>
                                      </p:cBhvr>
                                      <p:to>
                                        <p:strVal val="visible"/>
                                      </p:to>
                                    </p:set>
                                    <p:animEffect transition="in" filter="fade">
                                      <p:cBhvr>
                                        <p:cTn id="29"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tmplLst>
          <p:tmpl lvl="1">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Lst>
      </p:bldP>
    </p:bldLst>
  </p:timing>
  <p:txStyles>
    <p:titleStyle>
      <a:lvl1pPr algn="l" rtl="0" eaLnBrk="1" fontAlgn="base" hangingPunct="1">
        <a:spcBef>
          <a:spcPct val="0"/>
        </a:spcBef>
        <a:spcAft>
          <a:spcPct val="0"/>
        </a:spcAft>
        <a:defRPr sz="2800">
          <a:solidFill>
            <a:schemeClr val="tx2"/>
          </a:solidFill>
          <a:latin typeface="+mj-lt"/>
          <a:ea typeface="+mj-ea"/>
          <a:cs typeface="+mj-cs"/>
        </a:defRPr>
      </a:lvl1pPr>
      <a:lvl2pPr algn="l" rtl="0" eaLnBrk="1" fontAlgn="base" hangingPunct="1">
        <a:spcBef>
          <a:spcPct val="0"/>
        </a:spcBef>
        <a:spcAft>
          <a:spcPct val="0"/>
        </a:spcAft>
        <a:defRPr sz="2800">
          <a:solidFill>
            <a:schemeClr val="tx2"/>
          </a:solidFill>
          <a:latin typeface="Arial" pitchFamily="34" charset="0"/>
        </a:defRPr>
      </a:lvl2pPr>
      <a:lvl3pPr algn="l" rtl="0" eaLnBrk="1" fontAlgn="base" hangingPunct="1">
        <a:spcBef>
          <a:spcPct val="0"/>
        </a:spcBef>
        <a:spcAft>
          <a:spcPct val="0"/>
        </a:spcAft>
        <a:defRPr sz="2800">
          <a:solidFill>
            <a:schemeClr val="tx2"/>
          </a:solidFill>
          <a:latin typeface="Arial" pitchFamily="34" charset="0"/>
        </a:defRPr>
      </a:lvl3pPr>
      <a:lvl4pPr algn="l" rtl="0" eaLnBrk="1" fontAlgn="base" hangingPunct="1">
        <a:spcBef>
          <a:spcPct val="0"/>
        </a:spcBef>
        <a:spcAft>
          <a:spcPct val="0"/>
        </a:spcAft>
        <a:defRPr sz="2800">
          <a:solidFill>
            <a:schemeClr val="tx2"/>
          </a:solidFill>
          <a:latin typeface="Arial" pitchFamily="34" charset="0"/>
        </a:defRPr>
      </a:lvl4pPr>
      <a:lvl5pPr algn="l" rtl="0" eaLnBrk="1" fontAlgn="base" hangingPunct="1">
        <a:spcBef>
          <a:spcPct val="0"/>
        </a:spcBef>
        <a:spcAft>
          <a:spcPct val="0"/>
        </a:spcAft>
        <a:defRPr sz="2800">
          <a:solidFill>
            <a:schemeClr val="tx2"/>
          </a:solidFill>
          <a:latin typeface="Arial" pitchFamily="34" charset="0"/>
        </a:defRPr>
      </a:lvl5pPr>
      <a:lvl6pPr marL="457200" algn="l" rtl="0" eaLnBrk="1" fontAlgn="base" hangingPunct="1">
        <a:spcBef>
          <a:spcPct val="0"/>
        </a:spcBef>
        <a:spcAft>
          <a:spcPct val="0"/>
        </a:spcAft>
        <a:defRPr sz="2800">
          <a:solidFill>
            <a:schemeClr val="tx2"/>
          </a:solidFill>
          <a:latin typeface="Arial" pitchFamily="34" charset="0"/>
        </a:defRPr>
      </a:lvl6pPr>
      <a:lvl7pPr marL="914400" algn="l" rtl="0" eaLnBrk="1" fontAlgn="base" hangingPunct="1">
        <a:spcBef>
          <a:spcPct val="0"/>
        </a:spcBef>
        <a:spcAft>
          <a:spcPct val="0"/>
        </a:spcAft>
        <a:defRPr sz="2800">
          <a:solidFill>
            <a:schemeClr val="tx2"/>
          </a:solidFill>
          <a:latin typeface="Arial" pitchFamily="34" charset="0"/>
        </a:defRPr>
      </a:lvl7pPr>
      <a:lvl8pPr marL="1371600" algn="l" rtl="0" eaLnBrk="1" fontAlgn="base" hangingPunct="1">
        <a:spcBef>
          <a:spcPct val="0"/>
        </a:spcBef>
        <a:spcAft>
          <a:spcPct val="0"/>
        </a:spcAft>
        <a:defRPr sz="2800">
          <a:solidFill>
            <a:schemeClr val="tx2"/>
          </a:solidFill>
          <a:latin typeface="Arial" pitchFamily="34" charset="0"/>
        </a:defRPr>
      </a:lvl8pPr>
      <a:lvl9pPr marL="1828800" algn="l" rtl="0" eaLnBrk="1" fontAlgn="base" hangingPunct="1">
        <a:spcBef>
          <a:spcPct val="0"/>
        </a:spcBef>
        <a:spcAft>
          <a:spcPct val="0"/>
        </a:spcAft>
        <a:defRPr sz="2800">
          <a:solidFill>
            <a:schemeClr val="tx2"/>
          </a:solidFill>
          <a:latin typeface="Arial" pitchFamily="34" charset="0"/>
        </a:defRPr>
      </a:lvl9pPr>
    </p:titleStyle>
    <p:body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400">
          <a:solidFill>
            <a:schemeClr val="tx1"/>
          </a:solidFill>
          <a:latin typeface="+mn-lt"/>
        </a:defRPr>
      </a:lvl4pPr>
      <a:lvl5pPr marL="2057400" indent="-228600" algn="l" rtl="0" eaLnBrk="1" fontAlgn="base" hangingPunct="1">
        <a:spcBef>
          <a:spcPct val="20000"/>
        </a:spcBef>
        <a:spcAft>
          <a:spcPct val="0"/>
        </a:spcAft>
        <a:buChar char="»"/>
        <a:defRPr sz="2400">
          <a:solidFill>
            <a:schemeClr val="tx1"/>
          </a:solidFill>
          <a:latin typeface="+mn-lt"/>
        </a:defRPr>
      </a:lvl5pPr>
      <a:lvl6pPr marL="2514600" indent="-228600" algn="l" rtl="0" eaLnBrk="1" fontAlgn="base" hangingPunct="1">
        <a:spcBef>
          <a:spcPct val="20000"/>
        </a:spcBef>
        <a:spcAft>
          <a:spcPct val="0"/>
        </a:spcAft>
        <a:buChar char="»"/>
        <a:defRPr sz="2400">
          <a:solidFill>
            <a:schemeClr val="tx1"/>
          </a:solidFill>
          <a:latin typeface="+mn-lt"/>
        </a:defRPr>
      </a:lvl6pPr>
      <a:lvl7pPr marL="2971800" indent="-228600" algn="l" rtl="0" eaLnBrk="1" fontAlgn="base" hangingPunct="1">
        <a:spcBef>
          <a:spcPct val="20000"/>
        </a:spcBef>
        <a:spcAft>
          <a:spcPct val="0"/>
        </a:spcAft>
        <a:buChar char="»"/>
        <a:defRPr sz="2400">
          <a:solidFill>
            <a:schemeClr val="tx1"/>
          </a:solidFill>
          <a:latin typeface="+mn-lt"/>
        </a:defRPr>
      </a:lvl7pPr>
      <a:lvl8pPr marL="3429000" indent="-228600" algn="l" rtl="0" eaLnBrk="1" fontAlgn="base" hangingPunct="1">
        <a:spcBef>
          <a:spcPct val="20000"/>
        </a:spcBef>
        <a:spcAft>
          <a:spcPct val="0"/>
        </a:spcAft>
        <a:buChar char="»"/>
        <a:defRPr sz="2400">
          <a:solidFill>
            <a:schemeClr val="tx1"/>
          </a:solidFill>
          <a:latin typeface="+mn-lt"/>
        </a:defRPr>
      </a:lvl8pPr>
      <a:lvl9pPr marL="3886200" indent="-228600" algn="l" rtl="0" eaLnBrk="1" fontAlgn="base" hangingPunct="1">
        <a:spcBef>
          <a:spcPct val="20000"/>
        </a:spcBef>
        <a:spcAft>
          <a:spcPct val="0"/>
        </a:spcAft>
        <a:buChar char="»"/>
        <a:defRPr sz="2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2.xml"/><Relationship Id="rId1" Type="http://schemas.openxmlformats.org/officeDocument/2006/relationships/vmlDrawing" Target="../drawings/vmlDrawing4.v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7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kumimoji="1" lang="zh-CN" altLang="en-US" sz="4400" dirty="0">
                <a:latin typeface="黑体"/>
                <a:ea typeface="黑体"/>
                <a:cs typeface="黑体"/>
              </a:rPr>
              <a:t>第七讲</a:t>
            </a:r>
            <a:r>
              <a:rPr kumimoji="1" lang="en-US" altLang="zh-CN" sz="4400" dirty="0">
                <a:latin typeface="黑体"/>
                <a:ea typeface="黑体"/>
                <a:cs typeface="黑体"/>
              </a:rPr>
              <a:t>  </a:t>
            </a:r>
            <a:r>
              <a:rPr kumimoji="1" lang="zh-CN" altLang="en-US" sz="4400" dirty="0">
                <a:latin typeface="黑体"/>
                <a:ea typeface="黑体"/>
                <a:cs typeface="黑体"/>
              </a:rPr>
              <a:t>犯罪心理</a:t>
            </a:r>
            <a:endParaRPr kumimoji="1" lang="zh-CN" altLang="en-US" sz="4400" dirty="0"/>
          </a:p>
        </p:txBody>
      </p:sp>
      <p:sp>
        <p:nvSpPr>
          <p:cNvPr id="5" name="内容占位符 4"/>
          <p:cNvSpPr>
            <a:spLocks noGrp="1"/>
          </p:cNvSpPr>
          <p:nvPr>
            <p:ph idx="1"/>
          </p:nvPr>
        </p:nvSpPr>
        <p:spPr>
          <a:xfrm>
            <a:off x="467544" y="980728"/>
            <a:ext cx="8229600" cy="5399806"/>
          </a:xfrm>
        </p:spPr>
        <p:txBody>
          <a:bodyPr/>
          <a:lstStyle/>
          <a:p>
            <a:r>
              <a:rPr lang="zh-CN" altLang="zh-CN" dirty="0">
                <a:latin typeface="宋体"/>
                <a:ea typeface="宋体"/>
                <a:cs typeface="宋体"/>
              </a:rPr>
              <a:t>犯罪行为模式的学习过程</a:t>
            </a:r>
          </a:p>
          <a:p>
            <a:r>
              <a:rPr lang="zh-CN" altLang="zh-CN" dirty="0">
                <a:latin typeface="宋体"/>
                <a:ea typeface="宋体"/>
                <a:cs typeface="宋体"/>
              </a:rPr>
              <a:t>犯罪人格。</a:t>
            </a:r>
            <a:r>
              <a:rPr lang="zh-CN" altLang="zh-CN" sz="2000" b="1" dirty="0"/>
              <a:t>如：被告人代</a:t>
            </a:r>
            <a:r>
              <a:rPr lang="zh-CN" altLang="en-US" sz="2000" b="1" dirty="0"/>
              <a:t>某</a:t>
            </a:r>
            <a:r>
              <a:rPr lang="zh-CN" altLang="zh-CN" sz="2000" b="1" dirty="0"/>
              <a:t>捂住一妇女的嘴强行脱下其裤子，并掀起衣服猛咬其左乳房，终因阴茎不能勃起而强奸未逞。为此，被告人代云北非常恼怒，将右手数次插入该妇女的阴道至腹腔，掏出肝、胃、肠、脾、胰腺等脏器，致该妇女当场死亡。</a:t>
            </a:r>
            <a:endParaRPr lang="zh-CN" altLang="zh-CN" sz="2000" dirty="0"/>
          </a:p>
          <a:p>
            <a:pPr lvl="0"/>
            <a:r>
              <a:rPr lang="zh-CN" altLang="zh-CN" dirty="0">
                <a:latin typeface="宋体"/>
                <a:ea typeface="宋体"/>
                <a:cs typeface="宋体"/>
              </a:rPr>
              <a:t>个体的道德发展过程与犯罪</a:t>
            </a:r>
          </a:p>
          <a:p>
            <a:pPr lvl="0"/>
            <a:r>
              <a:rPr lang="zh-CN" altLang="zh-CN" dirty="0">
                <a:latin typeface="宋体"/>
                <a:ea typeface="宋体"/>
                <a:cs typeface="宋体"/>
              </a:rPr>
              <a:t>家庭、就业、婚姻等因素对犯罪行为的影响</a:t>
            </a:r>
          </a:p>
          <a:p>
            <a:pPr lvl="0"/>
            <a:r>
              <a:rPr lang="zh-CN" altLang="zh-CN" dirty="0">
                <a:latin typeface="宋体"/>
                <a:ea typeface="宋体"/>
                <a:cs typeface="宋体"/>
              </a:rPr>
              <a:t>智力、认知、自控力、态度、价值观、人际关系</a:t>
            </a:r>
            <a:r>
              <a:rPr lang="zh-CN" altLang="en-US" dirty="0">
                <a:latin typeface="宋体"/>
                <a:ea typeface="宋体"/>
                <a:cs typeface="宋体"/>
              </a:rPr>
              <a:t>的影响</a:t>
            </a:r>
            <a:endParaRPr lang="zh-CN" altLang="zh-CN" dirty="0">
              <a:latin typeface="宋体"/>
              <a:ea typeface="宋体"/>
              <a:cs typeface="宋体"/>
            </a:endParaRPr>
          </a:p>
          <a:p>
            <a:pPr lvl="0"/>
            <a:r>
              <a:rPr lang="zh-CN" altLang="zh-CN" dirty="0">
                <a:latin typeface="宋体"/>
                <a:ea typeface="宋体"/>
                <a:cs typeface="宋体"/>
              </a:rPr>
              <a:t>暴力攻击的心理学解释</a:t>
            </a:r>
          </a:p>
          <a:p>
            <a:pPr lvl="0"/>
            <a:r>
              <a:rPr lang="zh-CN" altLang="zh-CN" dirty="0">
                <a:latin typeface="宋体"/>
                <a:ea typeface="宋体"/>
                <a:cs typeface="宋体"/>
              </a:rPr>
              <a:t>精神障碍对犯罪的影响</a:t>
            </a:r>
          </a:p>
          <a:p>
            <a:pPr lvl="0"/>
            <a:r>
              <a:rPr lang="zh-CN" altLang="zh-CN" dirty="0">
                <a:latin typeface="宋体"/>
                <a:ea typeface="宋体"/>
                <a:cs typeface="宋体"/>
              </a:rPr>
              <a:t>性变态与性犯罪的关系</a:t>
            </a:r>
          </a:p>
          <a:p>
            <a:pPr lvl="0"/>
            <a:r>
              <a:rPr lang="zh-CN" altLang="zh-CN" dirty="0">
                <a:latin typeface="宋体"/>
                <a:ea typeface="宋体"/>
                <a:cs typeface="宋体"/>
              </a:rPr>
              <a:t>犯罪心理的司法干预（杀人犯指认现场案）</a:t>
            </a:r>
          </a:p>
          <a:p>
            <a:pPr lvl="0"/>
            <a:r>
              <a:rPr lang="zh-CN" altLang="zh-CN" dirty="0">
                <a:latin typeface="宋体"/>
                <a:ea typeface="宋体"/>
                <a:cs typeface="宋体"/>
              </a:rPr>
              <a:t>犯罪人的矫正和治疗规律，等等。</a:t>
            </a:r>
          </a:p>
          <a:p>
            <a:endParaRPr kumimoji="1" lang="zh-CN" altLang="en-US" dirty="0"/>
          </a:p>
        </p:txBody>
      </p:sp>
    </p:spTree>
    <p:extLst>
      <p:ext uri="{BB962C8B-B14F-4D97-AF65-F5344CB8AC3E}">
        <p14:creationId xmlns:p14="http://schemas.microsoft.com/office/powerpoint/2010/main" val="140158059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母爱剥夺论</a:t>
            </a:r>
          </a:p>
        </p:txBody>
      </p:sp>
      <p:sp>
        <p:nvSpPr>
          <p:cNvPr id="3" name="内容占位符 2"/>
          <p:cNvSpPr>
            <a:spLocks noGrp="1"/>
          </p:cNvSpPr>
          <p:nvPr>
            <p:ph idx="1"/>
          </p:nvPr>
        </p:nvSpPr>
        <p:spPr/>
        <p:txBody>
          <a:bodyPr/>
          <a:lstStyle/>
          <a:p>
            <a:r>
              <a:rPr lang="en-US" altLang="zh-CN" sz="2800" b="1" dirty="0">
                <a:latin typeface="宋体"/>
                <a:ea typeface="宋体"/>
                <a:cs typeface="宋体"/>
              </a:rPr>
              <a:t>44</a:t>
            </a:r>
            <a:r>
              <a:rPr lang="zh-CN" altLang="zh-CN" sz="2800" b="1" dirty="0">
                <a:latin typeface="宋体"/>
                <a:ea typeface="宋体"/>
                <a:cs typeface="宋体"/>
              </a:rPr>
              <a:t>名小偷中的</a:t>
            </a:r>
            <a:r>
              <a:rPr lang="en-US" altLang="zh-CN" sz="2800" b="1" dirty="0">
                <a:latin typeface="宋体"/>
                <a:ea typeface="宋体"/>
                <a:cs typeface="宋体"/>
              </a:rPr>
              <a:t>17</a:t>
            </a:r>
            <a:r>
              <a:rPr lang="zh-CN" altLang="zh-CN" sz="2800" b="1" dirty="0">
                <a:latin typeface="宋体"/>
                <a:ea typeface="宋体"/>
                <a:cs typeface="宋体"/>
              </a:rPr>
              <a:t>名在出生后的头</a:t>
            </a:r>
            <a:r>
              <a:rPr lang="en-US" altLang="zh-CN" sz="2800" b="1" dirty="0">
                <a:latin typeface="宋体"/>
                <a:ea typeface="宋体"/>
                <a:cs typeface="宋体"/>
              </a:rPr>
              <a:t>5</a:t>
            </a:r>
            <a:r>
              <a:rPr lang="zh-CN" altLang="zh-CN" sz="2800" b="1" dirty="0">
                <a:latin typeface="宋体"/>
                <a:ea typeface="宋体"/>
                <a:cs typeface="宋体"/>
              </a:rPr>
              <a:t>年中与母亲分离长达</a:t>
            </a:r>
            <a:r>
              <a:rPr lang="en-US" altLang="zh-CN" sz="2800" b="1" dirty="0">
                <a:latin typeface="宋体"/>
                <a:ea typeface="宋体"/>
                <a:cs typeface="宋体"/>
              </a:rPr>
              <a:t>6</a:t>
            </a:r>
            <a:r>
              <a:rPr lang="zh-CN" altLang="zh-CN" sz="2800" b="1" dirty="0">
                <a:latin typeface="宋体"/>
                <a:ea typeface="宋体"/>
                <a:cs typeface="宋体"/>
              </a:rPr>
              <a:t>个月以上。而在对照组中（</a:t>
            </a:r>
            <a:r>
              <a:rPr lang="en-US" altLang="zh-CN" sz="2800" b="1" dirty="0">
                <a:latin typeface="宋体"/>
                <a:ea typeface="宋体"/>
                <a:cs typeface="宋体"/>
              </a:rPr>
              <a:t>44</a:t>
            </a:r>
            <a:r>
              <a:rPr lang="zh-CN" altLang="zh-CN" sz="2800" b="1" dirty="0">
                <a:latin typeface="宋体"/>
                <a:ea typeface="宋体"/>
                <a:cs typeface="宋体"/>
              </a:rPr>
              <a:t>名），只有</a:t>
            </a:r>
            <a:r>
              <a:rPr lang="en-US" altLang="zh-CN" sz="2800" b="1" dirty="0">
                <a:latin typeface="宋体"/>
                <a:ea typeface="宋体"/>
                <a:cs typeface="宋体"/>
              </a:rPr>
              <a:t>2</a:t>
            </a:r>
            <a:r>
              <a:rPr lang="zh-CN" altLang="zh-CN" sz="2800" b="1" dirty="0">
                <a:latin typeface="宋体"/>
                <a:ea typeface="宋体"/>
                <a:cs typeface="宋体"/>
              </a:rPr>
              <a:t>人具有这种母爱剥夺的经历。</a:t>
            </a:r>
            <a:endParaRPr lang="en-US" altLang="zh-CN" sz="2800" b="1" dirty="0">
              <a:latin typeface="宋体"/>
              <a:ea typeface="宋体"/>
              <a:cs typeface="宋体"/>
            </a:endParaRPr>
          </a:p>
          <a:p>
            <a:r>
              <a:rPr lang="zh-CN" altLang="zh-CN" sz="2800" b="1" dirty="0">
                <a:latin typeface="宋体"/>
                <a:ea typeface="宋体"/>
                <a:cs typeface="宋体"/>
              </a:rPr>
              <a:t>这</a:t>
            </a:r>
            <a:r>
              <a:rPr lang="en-US" altLang="zh-CN" sz="2800" b="1" dirty="0">
                <a:latin typeface="宋体"/>
                <a:ea typeface="宋体"/>
                <a:cs typeface="宋体"/>
              </a:rPr>
              <a:t>17</a:t>
            </a:r>
            <a:r>
              <a:rPr lang="zh-CN" altLang="zh-CN" sz="2800" b="1" dirty="0">
                <a:latin typeface="宋体"/>
                <a:ea typeface="宋体"/>
                <a:cs typeface="宋体"/>
              </a:rPr>
              <a:t>人中的</a:t>
            </a:r>
            <a:r>
              <a:rPr lang="en-US" altLang="zh-CN" sz="2800" b="1" dirty="0">
                <a:latin typeface="宋体"/>
                <a:ea typeface="宋体"/>
                <a:cs typeface="宋体"/>
              </a:rPr>
              <a:t>14</a:t>
            </a:r>
            <a:r>
              <a:rPr lang="zh-CN" altLang="zh-CN" sz="2800" b="1" dirty="0">
                <a:latin typeface="宋体"/>
                <a:ea typeface="宋体"/>
                <a:cs typeface="宋体"/>
              </a:rPr>
              <a:t>人，表现出严重的、特殊的人格倾向，缺乏与人建立亲密关系的能力。</a:t>
            </a:r>
            <a:endParaRPr lang="en-US" altLang="zh-CN" sz="2800" b="1" dirty="0">
              <a:latin typeface="宋体"/>
              <a:ea typeface="宋体"/>
              <a:cs typeface="宋体"/>
            </a:endParaRPr>
          </a:p>
          <a:p>
            <a:r>
              <a:rPr lang="zh-CN" altLang="zh-CN" sz="2800" b="1" dirty="0">
                <a:latin typeface="宋体"/>
                <a:ea typeface="宋体"/>
                <a:cs typeface="宋体"/>
              </a:rPr>
              <a:t>按照该项研究，个体在出生后的头几年中没有得到母亲或母亲般的爱，就会形成一种叫做“无感情性格”，这样的少年实施违法犯罪时手段特别恶劣。</a:t>
            </a:r>
          </a:p>
          <a:p>
            <a:endParaRPr kumimoji="1" lang="zh-CN" altLang="en-US" dirty="0"/>
          </a:p>
        </p:txBody>
      </p:sp>
    </p:spTree>
    <p:extLst>
      <p:ext uri="{BB962C8B-B14F-4D97-AF65-F5344CB8AC3E}">
        <p14:creationId xmlns:p14="http://schemas.microsoft.com/office/powerpoint/2010/main" val="209266910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弗洛伊德：精神分析</a:t>
            </a:r>
          </a:p>
        </p:txBody>
      </p:sp>
      <p:sp>
        <p:nvSpPr>
          <p:cNvPr id="3" name="内容占位符 2"/>
          <p:cNvSpPr>
            <a:spLocks noGrp="1"/>
          </p:cNvSpPr>
          <p:nvPr>
            <p:ph idx="1"/>
          </p:nvPr>
        </p:nvSpPr>
        <p:spPr/>
        <p:txBody>
          <a:bodyPr/>
          <a:lstStyle/>
          <a:p>
            <a:r>
              <a:rPr lang="zh-CN" altLang="zh-CN" sz="2800" dirty="0">
                <a:latin typeface="宋体"/>
                <a:ea typeface="宋体"/>
                <a:cs typeface="宋体"/>
              </a:rPr>
              <a:t>人格构成：本我（</a:t>
            </a:r>
            <a:r>
              <a:rPr lang="en-US" altLang="zh-CN" sz="2800" dirty="0">
                <a:latin typeface="宋体"/>
                <a:ea typeface="宋体"/>
                <a:cs typeface="宋体"/>
              </a:rPr>
              <a:t>id</a:t>
            </a:r>
            <a:r>
              <a:rPr lang="zh-CN" altLang="zh-CN" sz="2800" dirty="0">
                <a:latin typeface="宋体"/>
                <a:ea typeface="宋体"/>
                <a:cs typeface="宋体"/>
              </a:rPr>
              <a:t>），是人格中潜在、原始的本能部分。本我受快乐原则支配，要求立即满足肉体需要。</a:t>
            </a:r>
            <a:endParaRPr lang="en-US" altLang="zh-CN" sz="2800" dirty="0">
              <a:latin typeface="宋体"/>
              <a:ea typeface="宋体"/>
              <a:cs typeface="宋体"/>
            </a:endParaRPr>
          </a:p>
          <a:p>
            <a:r>
              <a:rPr lang="zh-CN" altLang="zh-CN" sz="2800" dirty="0">
                <a:latin typeface="宋体"/>
                <a:ea typeface="宋体"/>
                <a:cs typeface="宋体"/>
              </a:rPr>
              <a:t>自我（</a:t>
            </a:r>
            <a:r>
              <a:rPr lang="en-US" altLang="zh-CN" sz="2800" dirty="0">
                <a:latin typeface="宋体"/>
                <a:ea typeface="宋体"/>
                <a:cs typeface="宋体"/>
              </a:rPr>
              <a:t>ego</a:t>
            </a:r>
            <a:r>
              <a:rPr lang="zh-CN" altLang="zh-CN" sz="2800" dirty="0">
                <a:latin typeface="宋体"/>
                <a:ea typeface="宋体"/>
                <a:cs typeface="宋体"/>
              </a:rPr>
              <a:t>），是人格中现实化的自我，受现实原则的支配。</a:t>
            </a:r>
            <a:endParaRPr lang="en-US" altLang="zh-CN" sz="2800" dirty="0">
              <a:latin typeface="宋体"/>
              <a:ea typeface="宋体"/>
              <a:cs typeface="宋体"/>
            </a:endParaRPr>
          </a:p>
          <a:p>
            <a:r>
              <a:rPr lang="zh-CN" altLang="zh-CN" sz="2800" dirty="0">
                <a:latin typeface="宋体"/>
                <a:ea typeface="宋体"/>
                <a:cs typeface="宋体"/>
              </a:rPr>
              <a:t>最后是超我（</a:t>
            </a:r>
            <a:r>
              <a:rPr lang="en-US" altLang="zh-CN" sz="2800" dirty="0">
                <a:latin typeface="宋体"/>
                <a:ea typeface="宋体"/>
                <a:cs typeface="宋体"/>
              </a:rPr>
              <a:t>super-ego</a:t>
            </a:r>
            <a:r>
              <a:rPr lang="zh-CN" altLang="zh-CN" sz="2800" dirty="0">
                <a:latin typeface="宋体"/>
                <a:ea typeface="宋体"/>
                <a:cs typeface="宋体"/>
              </a:rPr>
              <a:t>），是人格中道德化的自我，受唯善原则的支配，类似于良心。其作用是指导自我，限制本我。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128121432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人格发展的阶段</a:t>
            </a:r>
          </a:p>
        </p:txBody>
      </p:sp>
      <p:sp>
        <p:nvSpPr>
          <p:cNvPr id="3" name="内容占位符 2"/>
          <p:cNvSpPr>
            <a:spLocks noGrp="1"/>
          </p:cNvSpPr>
          <p:nvPr>
            <p:ph idx="1"/>
          </p:nvPr>
        </p:nvSpPr>
        <p:spPr>
          <a:xfrm>
            <a:off x="467544" y="980728"/>
            <a:ext cx="8229600" cy="5000625"/>
          </a:xfrm>
        </p:spPr>
        <p:txBody>
          <a:bodyPr/>
          <a:lstStyle/>
          <a:p>
            <a:r>
              <a:rPr lang="zh-CN" altLang="zh-CN" sz="2800" dirty="0">
                <a:latin typeface="宋体"/>
                <a:ea typeface="宋体"/>
                <a:cs typeface="宋体"/>
              </a:rPr>
              <a:t>人格发展阶段：口唇期，肛门期，性器期。</a:t>
            </a:r>
            <a:endParaRPr lang="en-US" altLang="zh-CN" sz="2800" dirty="0">
              <a:latin typeface="宋体"/>
              <a:ea typeface="宋体"/>
              <a:cs typeface="宋体"/>
            </a:endParaRPr>
          </a:p>
          <a:p>
            <a:r>
              <a:rPr lang="zh-CN" altLang="zh-CN" sz="2800" dirty="0">
                <a:latin typeface="宋体"/>
                <a:ea typeface="宋体"/>
                <a:cs typeface="宋体"/>
              </a:rPr>
              <a:t>第三阶段，是形成超我的关键时期。如果在这三个阶段中发展受阻，就会出现固着或倒退现象，就会出现“恋母情结”（</a:t>
            </a:r>
            <a:r>
              <a:rPr lang="en-US" altLang="zh-CN" sz="2800" dirty="0" err="1">
                <a:latin typeface="宋体"/>
                <a:ea typeface="宋体"/>
                <a:cs typeface="宋体"/>
              </a:rPr>
              <a:t>oedipus</a:t>
            </a:r>
            <a:r>
              <a:rPr lang="en-US" altLang="zh-CN" sz="2800" dirty="0">
                <a:latin typeface="宋体"/>
                <a:ea typeface="宋体"/>
                <a:cs typeface="宋体"/>
              </a:rPr>
              <a:t> complex</a:t>
            </a:r>
            <a:r>
              <a:rPr lang="zh-CN" altLang="zh-CN" sz="2800" dirty="0">
                <a:latin typeface="宋体"/>
                <a:ea typeface="宋体"/>
                <a:cs typeface="宋体"/>
              </a:rPr>
              <a:t>）。</a:t>
            </a:r>
            <a:endParaRPr lang="en-US" altLang="zh-CN" sz="2800" dirty="0">
              <a:latin typeface="宋体"/>
              <a:ea typeface="宋体"/>
              <a:cs typeface="宋体"/>
            </a:endParaRPr>
          </a:p>
          <a:p>
            <a:r>
              <a:rPr lang="zh-CN" altLang="zh-CN" sz="2800" dirty="0">
                <a:latin typeface="宋体"/>
                <a:ea typeface="宋体"/>
                <a:cs typeface="宋体"/>
              </a:rPr>
              <a:t>恋母情结实际上是个体幼年时期潜意识中存在的亲近异性亲长排斥同性亲长的一种本能的心理倾向。这种心理倾向一方面驱使个体实施异常行为</a:t>
            </a:r>
            <a:r>
              <a:rPr lang="en-US" altLang="zh-CN" sz="2800" dirty="0">
                <a:latin typeface="宋体"/>
                <a:ea typeface="宋体"/>
                <a:cs typeface="宋体"/>
              </a:rPr>
              <a:t>(</a:t>
            </a:r>
            <a:r>
              <a:rPr lang="zh-CN" altLang="zh-CN" sz="2800" dirty="0">
                <a:latin typeface="宋体"/>
                <a:ea typeface="宋体"/>
                <a:cs typeface="宋体"/>
              </a:rPr>
              <a:t>弑父妻母</a:t>
            </a:r>
            <a:r>
              <a:rPr lang="en-US" altLang="zh-CN" sz="2800" dirty="0">
                <a:latin typeface="宋体"/>
                <a:ea typeface="宋体"/>
                <a:cs typeface="宋体"/>
              </a:rPr>
              <a:t>)</a:t>
            </a:r>
            <a:r>
              <a:rPr lang="zh-CN" altLang="zh-CN" sz="2800" dirty="0">
                <a:latin typeface="宋体"/>
                <a:ea typeface="宋体"/>
                <a:cs typeface="宋体"/>
              </a:rPr>
              <a:t>，另一方面又在超我的作用下使个体体验到深深的罪恶感。</a:t>
            </a:r>
            <a:endParaRPr lang="en-US" altLang="zh-CN" sz="2800" dirty="0">
              <a:latin typeface="宋体"/>
              <a:ea typeface="宋体"/>
              <a:cs typeface="宋体"/>
            </a:endParaRPr>
          </a:p>
          <a:p>
            <a:r>
              <a:rPr lang="zh-CN" altLang="zh-CN" sz="2800" dirty="0">
                <a:latin typeface="宋体"/>
                <a:ea typeface="宋体"/>
                <a:cs typeface="宋体"/>
              </a:rPr>
              <a:t>于是，或者是异常倾向外化为社会不予接受的行为，或者是罪恶感导致个体对受到惩罚的追求以消除罪恶感，结果导致犯罪的发生。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218461989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弗洛伊德的病例：</a:t>
            </a:r>
          </a:p>
        </p:txBody>
      </p:sp>
      <p:sp>
        <p:nvSpPr>
          <p:cNvPr id="3" name="内容占位符 2"/>
          <p:cNvSpPr>
            <a:spLocks noGrp="1"/>
          </p:cNvSpPr>
          <p:nvPr>
            <p:ph idx="1"/>
          </p:nvPr>
        </p:nvSpPr>
        <p:spPr/>
        <p:txBody>
          <a:bodyPr/>
          <a:lstStyle/>
          <a:p>
            <a:r>
              <a:rPr lang="zh-CN" altLang="zh-CN" sz="3200" b="1" dirty="0">
                <a:latin typeface="宋体"/>
                <a:ea typeface="宋体"/>
                <a:cs typeface="宋体"/>
              </a:rPr>
              <a:t>一男子，幼年时曾在梦境中希望父亲早点死去。</a:t>
            </a:r>
            <a:r>
              <a:rPr lang="en-US" altLang="zh-CN" sz="3200" b="1" dirty="0">
                <a:latin typeface="宋体"/>
                <a:ea typeface="宋体"/>
                <a:cs typeface="宋体"/>
              </a:rPr>
              <a:t>31</a:t>
            </a:r>
            <a:r>
              <a:rPr lang="zh-CN" altLang="zh-CN" sz="3200" b="1" dirty="0">
                <a:latin typeface="宋体"/>
                <a:ea typeface="宋体"/>
                <a:cs typeface="宋体"/>
              </a:rPr>
              <a:t>岁时，父亲死亡，他为诅咒过父亲而感到悔恨内疚，潜意识中未解决好的“恋母情结”转化为强迫症，把杀父的冲动转移到其他人身上，最后因为害怕自己这种难以克制的意念而不敢出门。</a:t>
            </a:r>
            <a:endParaRPr lang="en-US" altLang="zh-CN" sz="3200" b="1" dirty="0">
              <a:latin typeface="宋体"/>
              <a:ea typeface="宋体"/>
              <a:cs typeface="宋体"/>
            </a:endParaRPr>
          </a:p>
          <a:p>
            <a:r>
              <a:rPr lang="zh-CN" altLang="en-US" sz="3200" b="1" dirty="0">
                <a:latin typeface="宋体"/>
                <a:ea typeface="宋体"/>
                <a:cs typeface="宋体"/>
              </a:rPr>
              <a:t>按照</a:t>
            </a:r>
            <a:r>
              <a:rPr lang="zh-CN" altLang="zh-CN" sz="3200" b="1" dirty="0">
                <a:latin typeface="宋体"/>
                <a:ea typeface="宋体"/>
                <a:cs typeface="宋体"/>
              </a:rPr>
              <a:t>弗洛伊德学说，</a:t>
            </a:r>
            <a:r>
              <a:rPr lang="zh-CN" altLang="en-US" sz="3200" b="1" dirty="0">
                <a:latin typeface="宋体"/>
                <a:ea typeface="宋体"/>
                <a:cs typeface="宋体"/>
              </a:rPr>
              <a:t>许多犯罪</a:t>
            </a:r>
            <a:r>
              <a:rPr lang="zh-CN" altLang="zh-CN" sz="3200" b="1" dirty="0">
                <a:latin typeface="宋体"/>
                <a:ea typeface="宋体"/>
                <a:cs typeface="宋体"/>
              </a:rPr>
              <a:t>都根植于人性自身。个体成年后的变态或犯罪，都可以由这些人性中固有的</a:t>
            </a:r>
            <a:r>
              <a:rPr lang="zh-CN" altLang="en-US" sz="3200" b="1" dirty="0">
                <a:latin typeface="宋体"/>
                <a:ea typeface="宋体"/>
                <a:cs typeface="宋体"/>
              </a:rPr>
              <a:t>因素</a:t>
            </a:r>
            <a:r>
              <a:rPr lang="zh-CN" altLang="zh-CN" sz="3200" b="1" dirty="0">
                <a:latin typeface="宋体"/>
                <a:ea typeface="宋体"/>
                <a:cs typeface="宋体"/>
              </a:rPr>
              <a:t>进行解释。 </a:t>
            </a:r>
            <a:endParaRPr kumimoji="1" lang="zh-CN" altLang="en-US" sz="3200" b="1" dirty="0">
              <a:latin typeface="宋体"/>
              <a:ea typeface="宋体"/>
              <a:cs typeface="宋体"/>
            </a:endParaRPr>
          </a:p>
        </p:txBody>
      </p:sp>
    </p:spTree>
    <p:extLst>
      <p:ext uri="{BB962C8B-B14F-4D97-AF65-F5344CB8AC3E}">
        <p14:creationId xmlns:p14="http://schemas.microsoft.com/office/powerpoint/2010/main" val="365212793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67544" y="260648"/>
            <a:ext cx="7170737" cy="492125"/>
          </a:xfrm>
        </p:spPr>
        <p:txBody>
          <a:bodyPr/>
          <a:lstStyle/>
          <a:p>
            <a:pPr algn="ctr"/>
            <a:endParaRPr kumimoji="1" lang="zh-CN" altLang="en-US" sz="4400" dirty="0">
              <a:latin typeface="黑体"/>
              <a:ea typeface="黑体"/>
              <a:cs typeface="黑体"/>
            </a:endParaRPr>
          </a:p>
        </p:txBody>
      </p:sp>
      <p:graphicFrame>
        <p:nvGraphicFramePr>
          <p:cNvPr id="6" name="内容占位符 5"/>
          <p:cNvGraphicFramePr>
            <a:graphicFrameLocks noGrp="1"/>
          </p:cNvGraphicFramePr>
          <p:nvPr>
            <p:ph idx="1"/>
            <p:extLst>
              <p:ext uri="{D42A27DB-BD31-4B8C-83A1-F6EECF244321}">
                <p14:modId xmlns:p14="http://schemas.microsoft.com/office/powerpoint/2010/main" val="2447241223"/>
              </p:ext>
            </p:extLst>
          </p:nvPr>
        </p:nvGraphicFramePr>
        <p:xfrm>
          <a:off x="251520" y="-387424"/>
          <a:ext cx="8640960" cy="69847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370935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危险心结</a:t>
            </a:r>
          </a:p>
        </p:txBody>
      </p:sp>
      <p:sp>
        <p:nvSpPr>
          <p:cNvPr id="3" name="内容占位符 2"/>
          <p:cNvSpPr>
            <a:spLocks noGrp="1"/>
          </p:cNvSpPr>
          <p:nvPr>
            <p:ph idx="1"/>
          </p:nvPr>
        </p:nvSpPr>
        <p:spPr>
          <a:xfrm>
            <a:off x="457200" y="1196752"/>
            <a:ext cx="8229600" cy="4929411"/>
          </a:xfrm>
        </p:spPr>
        <p:txBody>
          <a:bodyPr/>
          <a:lstStyle/>
          <a:p>
            <a:r>
              <a:rPr kumimoji="1" lang="zh-CN" altLang="en-US" sz="3200" b="1" dirty="0">
                <a:latin typeface="黑体"/>
                <a:ea typeface="黑体"/>
                <a:cs typeface="黑体"/>
              </a:rPr>
              <a:t>危险意结：</a:t>
            </a:r>
            <a:endParaRPr kumimoji="1" lang="en-US" altLang="zh-CN" sz="3200" b="1" dirty="0">
              <a:latin typeface="黑体"/>
              <a:ea typeface="黑体"/>
              <a:cs typeface="黑体"/>
            </a:endParaRPr>
          </a:p>
          <a:p>
            <a:r>
              <a:rPr kumimoji="1" lang="zh-CN" altLang="zh-CN" sz="2800" b="1" dirty="0">
                <a:latin typeface="黑体"/>
                <a:ea typeface="黑体"/>
                <a:cs typeface="黑体"/>
              </a:rPr>
              <a:t> </a:t>
            </a:r>
            <a:r>
              <a:rPr kumimoji="1" lang="zh-CN" altLang="en-US" sz="2800" b="1" dirty="0">
                <a:latin typeface="黑体"/>
                <a:ea typeface="黑体"/>
                <a:cs typeface="黑体"/>
              </a:rPr>
              <a:t>   </a:t>
            </a:r>
            <a:r>
              <a:rPr kumimoji="1" lang="zh-CN" altLang="en-US" sz="2800" b="1" dirty="0">
                <a:latin typeface="宋体"/>
                <a:ea typeface="宋体"/>
                <a:cs typeface="宋体"/>
              </a:rPr>
              <a:t>山西阳泉案、马加爵案。</a:t>
            </a:r>
            <a:endParaRPr kumimoji="1" lang="en-US" altLang="zh-CN" sz="2800" b="1" dirty="0">
              <a:latin typeface="宋体"/>
              <a:ea typeface="宋体"/>
              <a:cs typeface="宋体"/>
            </a:endParaRPr>
          </a:p>
          <a:p>
            <a:r>
              <a:rPr kumimoji="1" lang="zh-CN" altLang="en-US" sz="3200" b="1" dirty="0">
                <a:latin typeface="黑体"/>
                <a:ea typeface="黑体"/>
                <a:cs typeface="黑体"/>
              </a:rPr>
              <a:t>危险知结：</a:t>
            </a:r>
            <a:endParaRPr kumimoji="1" lang="en-US" altLang="zh-CN" sz="3200" b="1" dirty="0">
              <a:latin typeface="黑体"/>
              <a:ea typeface="黑体"/>
              <a:cs typeface="黑体"/>
            </a:endParaRPr>
          </a:p>
          <a:p>
            <a:r>
              <a:rPr kumimoji="1" lang="zh-CN" altLang="zh-CN" sz="2800" b="1" dirty="0">
                <a:latin typeface="黑体"/>
                <a:ea typeface="黑体"/>
                <a:cs typeface="黑体"/>
              </a:rPr>
              <a:t> </a:t>
            </a:r>
            <a:r>
              <a:rPr kumimoji="1" lang="zh-CN" altLang="en-US" sz="2800" b="1" dirty="0">
                <a:latin typeface="黑体"/>
                <a:ea typeface="黑体"/>
                <a:cs typeface="黑体"/>
              </a:rPr>
              <a:t>   </a:t>
            </a:r>
            <a:r>
              <a:rPr kumimoji="1" lang="zh-CN" altLang="en-US" sz="2800" b="1" dirty="0">
                <a:latin typeface="宋体"/>
                <a:ea typeface="宋体"/>
                <a:cs typeface="宋体"/>
              </a:rPr>
              <a:t>道观血案、安徽杀妻女案（生男孩问题）。</a:t>
            </a:r>
            <a:endParaRPr kumimoji="1" lang="en-US" altLang="zh-CN" sz="2800" b="1" dirty="0">
              <a:latin typeface="宋体"/>
              <a:ea typeface="宋体"/>
              <a:cs typeface="宋体"/>
            </a:endParaRPr>
          </a:p>
          <a:p>
            <a:r>
              <a:rPr kumimoji="1" lang="zh-CN" altLang="en-US" sz="3200" b="1" dirty="0">
                <a:latin typeface="黑体"/>
                <a:ea typeface="黑体"/>
                <a:cs typeface="黑体"/>
              </a:rPr>
              <a:t>危险情结：</a:t>
            </a:r>
            <a:endParaRPr kumimoji="1" lang="en-US" altLang="zh-CN" sz="3200" b="1" dirty="0">
              <a:latin typeface="黑体"/>
              <a:ea typeface="黑体"/>
              <a:cs typeface="黑体"/>
            </a:endParaRPr>
          </a:p>
          <a:p>
            <a:r>
              <a:rPr kumimoji="1" lang="zh-CN" altLang="zh-CN" sz="2800" b="1" dirty="0">
                <a:latin typeface="黑体"/>
                <a:ea typeface="黑体"/>
                <a:cs typeface="黑体"/>
              </a:rPr>
              <a:t> </a:t>
            </a:r>
            <a:r>
              <a:rPr kumimoji="1" lang="zh-CN" altLang="en-US" sz="2800" b="1" dirty="0">
                <a:latin typeface="黑体"/>
                <a:ea typeface="黑体"/>
                <a:cs typeface="黑体"/>
              </a:rPr>
              <a:t>   </a:t>
            </a:r>
            <a:r>
              <a:rPr kumimoji="1" lang="zh-CN" altLang="en-US" sz="2800" b="1" dirty="0">
                <a:latin typeface="宋体"/>
                <a:ea typeface="宋体"/>
                <a:cs typeface="宋体"/>
              </a:rPr>
              <a:t>赵承熙、杨新海（与饭店女服务员）</a:t>
            </a:r>
            <a:endParaRPr kumimoji="1" lang="en-US" altLang="zh-CN" sz="2800" b="1" dirty="0">
              <a:latin typeface="宋体"/>
              <a:ea typeface="宋体"/>
              <a:cs typeface="宋体"/>
            </a:endParaRPr>
          </a:p>
        </p:txBody>
      </p:sp>
    </p:spTree>
    <p:extLst>
      <p:ext uri="{BB962C8B-B14F-4D97-AF65-F5344CB8AC3E}">
        <p14:creationId xmlns:p14="http://schemas.microsoft.com/office/powerpoint/2010/main" val="99014545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200" b="1" dirty="0">
                <a:latin typeface="黑体"/>
                <a:ea typeface="黑体"/>
                <a:cs typeface="黑体"/>
              </a:rPr>
              <a:t>罪人如何对付内疚</a:t>
            </a:r>
            <a:r>
              <a:rPr lang="zh-CN" altLang="zh-CN" sz="3200" dirty="0">
                <a:latin typeface="黑体"/>
                <a:ea typeface="黑体"/>
                <a:cs typeface="黑体"/>
              </a:rPr>
              <a:t> </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980728"/>
            <a:ext cx="8229600" cy="5472608"/>
          </a:xfrm>
        </p:spPr>
        <p:txBody>
          <a:bodyPr/>
          <a:lstStyle/>
          <a:p>
            <a:r>
              <a:rPr lang="zh-CN" altLang="zh-CN" dirty="0">
                <a:latin typeface="宋体"/>
                <a:ea typeface="宋体"/>
                <a:cs typeface="宋体"/>
              </a:rPr>
              <a:t>内疚、羞耻心、罪责感是阻碍个体实施犯罪行为的重要内部力量之一。 </a:t>
            </a:r>
            <a:endParaRPr lang="en-US" altLang="zh-CN" dirty="0">
              <a:latin typeface="宋体"/>
              <a:ea typeface="宋体"/>
              <a:cs typeface="宋体"/>
            </a:endParaRPr>
          </a:p>
          <a:p>
            <a:r>
              <a:rPr kumimoji="1" lang="zh-CN" altLang="en-US" b="1" dirty="0">
                <a:latin typeface="楷体"/>
                <a:ea typeface="楷体"/>
                <a:cs typeface="楷体"/>
              </a:rPr>
              <a:t>“合理化解释”</a:t>
            </a:r>
            <a:r>
              <a:rPr kumimoji="1" lang="zh-CN" altLang="en-US" dirty="0">
                <a:latin typeface="宋体"/>
                <a:ea typeface="宋体"/>
                <a:cs typeface="宋体"/>
              </a:rPr>
              <a:t>会阻碍罪责感的形成。</a:t>
            </a:r>
            <a:endParaRPr kumimoji="1" lang="en-US" altLang="zh-CN" dirty="0">
              <a:latin typeface="宋体"/>
              <a:ea typeface="宋体"/>
              <a:cs typeface="宋体"/>
            </a:endParaRPr>
          </a:p>
          <a:p>
            <a:r>
              <a:rPr lang="en-US" altLang="zh-CN" dirty="0">
                <a:latin typeface="宋体"/>
                <a:ea typeface="宋体"/>
                <a:cs typeface="宋体"/>
              </a:rPr>
              <a:t>1</a:t>
            </a:r>
            <a:r>
              <a:rPr lang="zh-CN" altLang="zh-CN" dirty="0">
                <a:latin typeface="宋体"/>
                <a:ea typeface="宋体"/>
                <a:cs typeface="宋体"/>
              </a:rPr>
              <a:t>、</a:t>
            </a:r>
            <a:r>
              <a:rPr lang="zh-CN" altLang="zh-CN" b="1" dirty="0">
                <a:latin typeface="宋体"/>
                <a:ea typeface="宋体"/>
                <a:cs typeface="宋体"/>
              </a:rPr>
              <a:t>将被害人异类化</a:t>
            </a:r>
            <a:r>
              <a:rPr lang="en-US" altLang="zh-CN" dirty="0">
                <a:latin typeface="宋体"/>
                <a:ea typeface="宋体"/>
                <a:cs typeface="宋体"/>
              </a:rPr>
              <a:t>——</a:t>
            </a:r>
            <a:r>
              <a:rPr lang="zh-CN" altLang="zh-CN" dirty="0">
                <a:latin typeface="宋体"/>
                <a:ea typeface="宋体"/>
                <a:cs typeface="宋体"/>
              </a:rPr>
              <a:t>杀人是错的；杀苍蝇或老鼠却是可以接受的。</a:t>
            </a:r>
            <a:endParaRPr lang="en-US" altLang="zh-CN" dirty="0">
              <a:latin typeface="宋体"/>
              <a:ea typeface="宋体"/>
              <a:cs typeface="宋体"/>
            </a:endParaRPr>
          </a:p>
          <a:p>
            <a:r>
              <a:rPr lang="en-US" altLang="zh-CN" dirty="0">
                <a:latin typeface="宋体"/>
                <a:ea typeface="宋体"/>
                <a:cs typeface="宋体"/>
              </a:rPr>
              <a:t>2</a:t>
            </a:r>
            <a:r>
              <a:rPr lang="zh-CN" altLang="zh-CN" dirty="0">
                <a:latin typeface="宋体"/>
                <a:ea typeface="宋体"/>
                <a:cs typeface="宋体"/>
              </a:rPr>
              <a:t>、</a:t>
            </a:r>
            <a:r>
              <a:rPr lang="zh-CN" altLang="zh-CN" b="1" dirty="0">
                <a:latin typeface="宋体"/>
                <a:ea typeface="宋体"/>
                <a:cs typeface="宋体"/>
              </a:rPr>
              <a:t>用语言美化恶行</a:t>
            </a:r>
            <a:r>
              <a:rPr lang="en-US" altLang="zh-CN" dirty="0">
                <a:latin typeface="宋体"/>
                <a:ea typeface="宋体"/>
                <a:cs typeface="宋体"/>
              </a:rPr>
              <a:t>——</a:t>
            </a:r>
            <a:r>
              <a:rPr lang="zh-CN" altLang="en-US" dirty="0">
                <a:latin typeface="宋体"/>
                <a:ea typeface="宋体"/>
                <a:cs typeface="宋体"/>
              </a:rPr>
              <a:t>在埃塞俄比亚，政府镇压了游行的学生。然后，下令</a:t>
            </a:r>
            <a:r>
              <a:rPr lang="zh-CN" altLang="zh-CN" dirty="0">
                <a:latin typeface="宋体"/>
                <a:ea typeface="宋体"/>
                <a:cs typeface="宋体"/>
              </a:rPr>
              <a:t>大学关闭一年，</a:t>
            </a:r>
            <a:r>
              <a:rPr lang="zh-CN" altLang="en-US" dirty="0">
                <a:latin typeface="宋体"/>
                <a:ea typeface="宋体"/>
                <a:cs typeface="宋体"/>
              </a:rPr>
              <a:t>“</a:t>
            </a:r>
            <a:r>
              <a:rPr lang="zh-CN" altLang="zh-CN" dirty="0">
                <a:latin typeface="宋体"/>
                <a:ea typeface="宋体"/>
                <a:cs typeface="宋体"/>
              </a:rPr>
              <a:t>以便挽救许多年轻人的生命 </a:t>
            </a:r>
            <a:r>
              <a:rPr lang="zh-CN" altLang="en-US" dirty="0">
                <a:latin typeface="宋体"/>
                <a:ea typeface="宋体"/>
                <a:cs typeface="宋体"/>
              </a:rPr>
              <a:t>”。</a:t>
            </a:r>
            <a:endParaRPr lang="en-US" altLang="zh-CN" dirty="0">
              <a:latin typeface="宋体"/>
              <a:ea typeface="宋体"/>
              <a:cs typeface="宋体"/>
            </a:endParaRPr>
          </a:p>
          <a:p>
            <a:r>
              <a:rPr lang="en-US" altLang="zh-CN" dirty="0">
                <a:latin typeface="宋体"/>
                <a:ea typeface="宋体"/>
                <a:cs typeface="宋体"/>
              </a:rPr>
              <a:t>3</a:t>
            </a:r>
            <a:r>
              <a:rPr lang="zh-CN" altLang="zh-CN" dirty="0">
                <a:latin typeface="宋体"/>
                <a:ea typeface="宋体"/>
                <a:cs typeface="宋体"/>
              </a:rPr>
              <a:t>、</a:t>
            </a:r>
            <a:r>
              <a:rPr lang="zh-CN" altLang="zh-CN" b="1" dirty="0">
                <a:latin typeface="宋体"/>
                <a:ea typeface="宋体"/>
                <a:cs typeface="宋体"/>
              </a:rPr>
              <a:t>“别无选择”</a:t>
            </a:r>
            <a:r>
              <a:rPr lang="en-US" altLang="zh-CN" dirty="0">
                <a:latin typeface="宋体"/>
                <a:ea typeface="宋体"/>
                <a:cs typeface="宋体"/>
              </a:rPr>
              <a:t>——</a:t>
            </a:r>
            <a:r>
              <a:rPr lang="zh-CN" altLang="en-US" dirty="0">
                <a:latin typeface="宋体"/>
                <a:ea typeface="宋体"/>
                <a:cs typeface="宋体"/>
              </a:rPr>
              <a:t>电击实验中，如果接到“别无选择”的指令，多数人都会下狠手。</a:t>
            </a:r>
            <a:endParaRPr lang="en-US" altLang="zh-CN" dirty="0">
              <a:latin typeface="宋体"/>
              <a:ea typeface="宋体"/>
              <a:cs typeface="宋体"/>
            </a:endParaRPr>
          </a:p>
          <a:p>
            <a:r>
              <a:rPr lang="en-US" altLang="zh-CN" dirty="0">
                <a:latin typeface="宋体"/>
                <a:ea typeface="宋体"/>
                <a:cs typeface="宋体"/>
              </a:rPr>
              <a:t>4</a:t>
            </a:r>
            <a:r>
              <a:rPr lang="zh-CN" altLang="zh-CN" dirty="0">
                <a:latin typeface="宋体"/>
                <a:ea typeface="宋体"/>
                <a:cs typeface="宋体"/>
              </a:rPr>
              <a:t>、</a:t>
            </a:r>
            <a:r>
              <a:rPr lang="zh-CN" altLang="zh-CN" b="1" dirty="0">
                <a:latin typeface="宋体"/>
                <a:ea typeface="宋体"/>
                <a:cs typeface="宋体"/>
              </a:rPr>
              <a:t>团体中的作恶者</a:t>
            </a:r>
            <a:r>
              <a:rPr lang="zh-CN" altLang="en-US" dirty="0">
                <a:latin typeface="宋体"/>
                <a:ea typeface="宋体"/>
                <a:cs typeface="宋体"/>
              </a:rPr>
              <a:t>——分散责任，“我只是开车，没有动手放毒气”。</a:t>
            </a:r>
            <a:endParaRPr lang="en-US" altLang="zh-CN" dirty="0">
              <a:latin typeface="宋体"/>
              <a:ea typeface="宋体"/>
              <a:cs typeface="宋体"/>
            </a:endParaRPr>
          </a:p>
          <a:p>
            <a:r>
              <a:rPr lang="en-US" altLang="zh-CN" dirty="0">
                <a:latin typeface="宋体"/>
                <a:ea typeface="宋体"/>
                <a:cs typeface="宋体"/>
              </a:rPr>
              <a:t>5</a:t>
            </a:r>
            <a:r>
              <a:rPr lang="zh-CN" altLang="zh-CN" dirty="0">
                <a:latin typeface="宋体"/>
                <a:ea typeface="宋体"/>
                <a:cs typeface="宋体"/>
              </a:rPr>
              <a:t>、</a:t>
            </a:r>
            <a:r>
              <a:rPr lang="zh-CN" altLang="zh-CN" b="1" dirty="0">
                <a:latin typeface="宋体"/>
                <a:ea typeface="宋体"/>
                <a:cs typeface="宋体"/>
              </a:rPr>
              <a:t>为受害人好</a:t>
            </a:r>
            <a:r>
              <a:rPr lang="en-US" altLang="zh-CN" dirty="0">
                <a:latin typeface="宋体"/>
                <a:ea typeface="宋体"/>
                <a:cs typeface="宋体"/>
              </a:rPr>
              <a:t>——</a:t>
            </a:r>
            <a:r>
              <a:rPr lang="zh-CN" altLang="en-US" dirty="0">
                <a:latin typeface="宋体"/>
                <a:ea typeface="宋体"/>
                <a:cs typeface="宋体"/>
              </a:rPr>
              <a:t>杀死孩子是因为反正他们都没了父母。</a:t>
            </a:r>
            <a:endParaRPr lang="zh-CN" altLang="zh-CN" dirty="0">
              <a:latin typeface="宋体"/>
              <a:ea typeface="宋体"/>
              <a:cs typeface="宋体"/>
            </a:endParaRPr>
          </a:p>
          <a:p>
            <a:endParaRPr lang="zh-CN" altLang="zh-CN" dirty="0"/>
          </a:p>
          <a:p>
            <a:endParaRPr lang="zh-CN" altLang="zh-CN" dirty="0"/>
          </a:p>
          <a:p>
            <a:endParaRPr lang="zh-CN" altLang="zh-CN" dirty="0"/>
          </a:p>
          <a:p>
            <a:endParaRPr lang="zh-CN" altLang="zh-CN" dirty="0"/>
          </a:p>
          <a:p>
            <a:endParaRPr kumimoji="1" lang="zh-CN" altLang="en-US" dirty="0"/>
          </a:p>
        </p:txBody>
      </p:sp>
    </p:spTree>
    <p:extLst>
      <p:ext uri="{BB962C8B-B14F-4D97-AF65-F5344CB8AC3E}">
        <p14:creationId xmlns:p14="http://schemas.microsoft.com/office/powerpoint/2010/main" val="311546507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小结</a:t>
            </a:r>
          </a:p>
        </p:txBody>
      </p:sp>
      <p:sp>
        <p:nvSpPr>
          <p:cNvPr id="3" name="内容占位符 2"/>
          <p:cNvSpPr>
            <a:spLocks noGrp="1"/>
          </p:cNvSpPr>
          <p:nvPr>
            <p:ph idx="1"/>
          </p:nvPr>
        </p:nvSpPr>
        <p:spPr/>
        <p:txBody>
          <a:bodyPr/>
          <a:lstStyle/>
          <a:p>
            <a:r>
              <a:rPr kumimoji="1" lang="zh-CN" altLang="en-US" sz="3200" b="1" dirty="0">
                <a:latin typeface="楷体"/>
                <a:ea typeface="楷体"/>
                <a:cs typeface="楷体"/>
              </a:rPr>
              <a:t>犯罪心理学观察提出的基本问题：</a:t>
            </a:r>
            <a:endParaRPr kumimoji="1" lang="en-US" altLang="zh-CN" sz="3200" b="1" dirty="0">
              <a:latin typeface="楷体"/>
              <a:ea typeface="楷体"/>
              <a:cs typeface="楷体"/>
            </a:endParaRPr>
          </a:p>
          <a:p>
            <a:r>
              <a:rPr kumimoji="1" lang="zh-CN" altLang="en-US" sz="3200" b="1" dirty="0">
                <a:latin typeface="宋体"/>
                <a:ea typeface="宋体"/>
                <a:cs typeface="宋体"/>
              </a:rPr>
              <a:t>人的内心世界是最自由的部分；</a:t>
            </a:r>
            <a:endParaRPr kumimoji="1" lang="en-US" altLang="zh-CN" sz="3200" b="1" dirty="0">
              <a:latin typeface="宋体"/>
              <a:ea typeface="宋体"/>
              <a:cs typeface="宋体"/>
            </a:endParaRPr>
          </a:p>
          <a:p>
            <a:r>
              <a:rPr kumimoji="1" lang="zh-CN" altLang="en-US" sz="3200" b="1" dirty="0">
                <a:latin typeface="宋体"/>
                <a:ea typeface="宋体"/>
                <a:cs typeface="宋体"/>
              </a:rPr>
              <a:t>然而，这里的自由是绝对的自由还是相对的自由？</a:t>
            </a:r>
            <a:endParaRPr kumimoji="1" lang="en-US" altLang="zh-CN" sz="3200" b="1" dirty="0">
              <a:latin typeface="宋体"/>
              <a:ea typeface="宋体"/>
              <a:cs typeface="宋体"/>
            </a:endParaRPr>
          </a:p>
          <a:p>
            <a:r>
              <a:rPr kumimoji="1" lang="zh-CN" altLang="zh-CN" sz="3200" b="1" dirty="0">
                <a:latin typeface="宋体"/>
                <a:ea typeface="宋体"/>
                <a:cs typeface="宋体"/>
              </a:rPr>
              <a:t>——</a:t>
            </a:r>
            <a:r>
              <a:rPr kumimoji="1" lang="zh-CN" altLang="en-US" sz="3200" b="1" dirty="0">
                <a:latin typeface="宋体"/>
                <a:ea typeface="宋体"/>
                <a:cs typeface="宋体"/>
              </a:rPr>
              <a:t>犯罪心理的形成、构造、发展变化，以及对行为决策的影响，有没有规律可循？</a:t>
            </a:r>
            <a:endParaRPr kumimoji="1" lang="en-US" altLang="zh-CN" sz="3200" b="1" dirty="0">
              <a:latin typeface="宋体"/>
              <a:ea typeface="宋体"/>
              <a:cs typeface="宋体"/>
            </a:endParaRPr>
          </a:p>
          <a:p>
            <a:r>
              <a:rPr kumimoji="1" lang="zh-CN" altLang="en-US" sz="3200" b="1" dirty="0">
                <a:latin typeface="宋体"/>
                <a:ea typeface="宋体"/>
                <a:cs typeface="宋体"/>
              </a:rPr>
              <a:t>由于个体差异，还可能预见、预防犯罪行为吗？</a:t>
            </a:r>
          </a:p>
          <a:p>
            <a:endParaRPr kumimoji="1" lang="zh-CN" altLang="en-US" dirty="0"/>
          </a:p>
        </p:txBody>
      </p:sp>
    </p:spTree>
    <p:extLst>
      <p:ext uri="{BB962C8B-B14F-4D97-AF65-F5344CB8AC3E}">
        <p14:creationId xmlns:p14="http://schemas.microsoft.com/office/powerpoint/2010/main" val="145180460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800" b="1" dirty="0">
                <a:latin typeface="黑体"/>
                <a:ea typeface="黑体"/>
                <a:cs typeface="黑体"/>
              </a:rPr>
              <a:t>第八讲</a:t>
            </a:r>
            <a:r>
              <a:rPr kumimoji="1" lang="en-US" altLang="zh-CN" sz="4800" b="1" dirty="0">
                <a:latin typeface="黑体"/>
                <a:ea typeface="黑体"/>
                <a:cs typeface="黑体"/>
              </a:rPr>
              <a:t>  </a:t>
            </a:r>
            <a:r>
              <a:rPr kumimoji="1" lang="zh-CN" altLang="en-US" sz="4800" b="1" dirty="0">
                <a:latin typeface="黑体"/>
                <a:ea typeface="黑体"/>
                <a:cs typeface="黑体"/>
              </a:rPr>
              <a:t>犯罪规律</a:t>
            </a:r>
          </a:p>
        </p:txBody>
      </p:sp>
      <p:sp>
        <p:nvSpPr>
          <p:cNvPr id="3" name="内容占位符 2"/>
          <p:cNvSpPr>
            <a:spLocks noGrp="1"/>
          </p:cNvSpPr>
          <p:nvPr>
            <p:ph idx="1"/>
          </p:nvPr>
        </p:nvSpPr>
        <p:spPr/>
        <p:txBody>
          <a:bodyPr/>
          <a:lstStyle/>
          <a:p>
            <a:r>
              <a:rPr lang="zh-CN" altLang="zh-CN" b="1" dirty="0">
                <a:latin typeface="宋体"/>
                <a:ea typeface="宋体"/>
                <a:cs typeface="宋体"/>
              </a:rPr>
              <a:t>犯罪学所以出现，人们</a:t>
            </a:r>
            <a:r>
              <a:rPr lang="zh-CN" altLang="en-US" b="1" dirty="0">
                <a:latin typeface="宋体"/>
                <a:ea typeface="宋体"/>
                <a:cs typeface="宋体"/>
              </a:rPr>
              <a:t>就开始探索</a:t>
            </a:r>
            <a:r>
              <a:rPr lang="zh-CN" altLang="zh-CN" b="1" dirty="0">
                <a:latin typeface="宋体"/>
                <a:ea typeface="宋体"/>
                <a:cs typeface="宋体"/>
              </a:rPr>
              <a:t>犯罪原因：</a:t>
            </a:r>
          </a:p>
          <a:p>
            <a:r>
              <a:rPr lang="zh-CN" altLang="zh-CN" b="1" dirty="0">
                <a:latin typeface="宋体"/>
                <a:ea typeface="宋体"/>
                <a:cs typeface="宋体"/>
              </a:rPr>
              <a:t>前犯罪学时期（</a:t>
            </a:r>
            <a:r>
              <a:rPr lang="en-US" altLang="zh-CN" b="1" dirty="0">
                <a:latin typeface="宋体"/>
                <a:ea typeface="宋体"/>
                <a:cs typeface="宋体"/>
              </a:rPr>
              <a:t>1764</a:t>
            </a:r>
            <a:r>
              <a:rPr lang="zh-CN" altLang="zh-CN" b="1" dirty="0">
                <a:latin typeface="宋体"/>
                <a:ea typeface="宋体"/>
                <a:cs typeface="宋体"/>
              </a:rPr>
              <a:t>以前）：鬼神决定论（原罪说）、自由意志论</a:t>
            </a:r>
          </a:p>
          <a:p>
            <a:r>
              <a:rPr lang="zh-CN" altLang="zh-CN" b="1" dirty="0">
                <a:latin typeface="宋体"/>
                <a:ea typeface="宋体"/>
                <a:cs typeface="宋体"/>
              </a:rPr>
              <a:t>犯罪学产生初期（</a:t>
            </a:r>
            <a:r>
              <a:rPr lang="en-US" altLang="zh-CN" b="1" dirty="0">
                <a:latin typeface="宋体"/>
                <a:ea typeface="宋体"/>
                <a:cs typeface="宋体"/>
              </a:rPr>
              <a:t>1764</a:t>
            </a:r>
            <a:r>
              <a:rPr lang="zh-CN" altLang="zh-CN" b="1" dirty="0">
                <a:latin typeface="宋体"/>
                <a:ea typeface="宋体"/>
                <a:cs typeface="宋体"/>
              </a:rPr>
              <a:t>——</a:t>
            </a:r>
            <a:r>
              <a:rPr lang="en-US" altLang="zh-CN" b="1" dirty="0">
                <a:latin typeface="宋体"/>
                <a:ea typeface="宋体"/>
                <a:cs typeface="宋体"/>
              </a:rPr>
              <a:t>1876</a:t>
            </a:r>
            <a:r>
              <a:rPr lang="zh-CN" altLang="zh-CN" b="1" dirty="0">
                <a:latin typeface="宋体"/>
                <a:ea typeface="宋体"/>
                <a:cs typeface="宋体"/>
              </a:rPr>
              <a:t>）：批判封建刑法的残酷性，“理性人”的犯罪解释论。刑法改革：轻刑化、人道主义、罪刑法定、平等、均衡</a:t>
            </a:r>
          </a:p>
          <a:p>
            <a:r>
              <a:rPr lang="zh-CN" altLang="zh-CN" b="1" dirty="0">
                <a:latin typeface="宋体"/>
                <a:ea typeface="宋体"/>
                <a:cs typeface="宋体"/>
              </a:rPr>
              <a:t>科学犯罪学时期（</a:t>
            </a:r>
            <a:r>
              <a:rPr lang="en-US" altLang="zh-CN" b="1" dirty="0">
                <a:latin typeface="宋体"/>
                <a:ea typeface="宋体"/>
                <a:cs typeface="宋体"/>
              </a:rPr>
              <a:t>1876</a:t>
            </a:r>
            <a:r>
              <a:rPr lang="zh-CN" altLang="zh-CN" b="1" dirty="0">
                <a:latin typeface="宋体"/>
                <a:ea typeface="宋体"/>
                <a:cs typeface="宋体"/>
              </a:rPr>
              <a:t>——）：轻刑化仍然没有成功控制犯罪率。于是，在达尔文主义、社会统计学，特别是孔德哲学的影响下，出现了实证犯罪学。</a:t>
            </a:r>
          </a:p>
          <a:p>
            <a:r>
              <a:rPr lang="zh-CN" altLang="zh-CN" b="1" dirty="0">
                <a:latin typeface="宋体"/>
                <a:ea typeface="宋体"/>
                <a:cs typeface="宋体"/>
              </a:rPr>
              <a:t>酷刑重法和轻刑人道似乎都不能有效制止犯罪，于是，到底该如何解释犯罪？人为什么会犯罪？社会为什么总会有人去犯罪？人们认为，犯罪学其实就是犯罪原因学，希望发现犯罪规律。</a:t>
            </a:r>
          </a:p>
          <a:p>
            <a:endParaRPr kumimoji="1" lang="zh-CN" altLang="en-US" dirty="0"/>
          </a:p>
        </p:txBody>
      </p:sp>
    </p:spTree>
    <p:extLst>
      <p:ext uri="{BB962C8B-B14F-4D97-AF65-F5344CB8AC3E}">
        <p14:creationId xmlns:p14="http://schemas.microsoft.com/office/powerpoint/2010/main" val="165680856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什么是规律？</a:t>
            </a:r>
          </a:p>
        </p:txBody>
      </p:sp>
      <p:sp>
        <p:nvSpPr>
          <p:cNvPr id="3" name="内容占位符 2"/>
          <p:cNvSpPr>
            <a:spLocks noGrp="1"/>
          </p:cNvSpPr>
          <p:nvPr>
            <p:ph idx="1"/>
          </p:nvPr>
        </p:nvSpPr>
        <p:spPr/>
        <p:txBody>
          <a:bodyPr/>
          <a:lstStyle/>
          <a:p>
            <a:r>
              <a:rPr lang="zh-CN" altLang="zh-CN" sz="2800" b="1" dirty="0">
                <a:latin typeface="宋体"/>
                <a:ea typeface="宋体"/>
                <a:cs typeface="宋体"/>
              </a:rPr>
              <a:t>鸡鸣与日出的相关性，是不是规律？ </a:t>
            </a:r>
            <a:endParaRPr lang="en-US" altLang="zh-CN" sz="2800" b="1" dirty="0">
              <a:latin typeface="宋体"/>
              <a:ea typeface="宋体"/>
              <a:cs typeface="宋体"/>
            </a:endParaRPr>
          </a:p>
          <a:p>
            <a:r>
              <a:rPr lang="en-US" altLang="zh-CN" sz="2800" b="1" dirty="0">
                <a:latin typeface="宋体"/>
                <a:ea typeface="宋体"/>
                <a:cs typeface="宋体"/>
              </a:rPr>
              <a:t>789</a:t>
            </a:r>
            <a:r>
              <a:rPr lang="zh-CN" altLang="zh-CN" sz="2800" b="1" dirty="0">
                <a:latin typeface="宋体"/>
                <a:ea typeface="宋体"/>
                <a:cs typeface="宋体"/>
              </a:rPr>
              <a:t>月风化犯罪率上升，是不是规律？</a:t>
            </a:r>
          </a:p>
          <a:p>
            <a:r>
              <a:rPr lang="zh-CN" altLang="zh-CN" sz="2800" b="1" dirty="0">
                <a:latin typeface="宋体"/>
                <a:ea typeface="宋体"/>
                <a:cs typeface="宋体"/>
              </a:rPr>
              <a:t>暴力、偷窃、欺诈与体型的关联，是不是规律？</a:t>
            </a:r>
          </a:p>
          <a:p>
            <a:r>
              <a:rPr lang="zh-CN" altLang="zh-CN" sz="2800" b="1" dirty="0">
                <a:latin typeface="宋体"/>
                <a:ea typeface="宋体"/>
                <a:cs typeface="宋体"/>
              </a:rPr>
              <a:t>染色体异常者的攻击性强，是不是规律？</a:t>
            </a:r>
          </a:p>
          <a:p>
            <a:r>
              <a:rPr lang="zh-CN" altLang="zh-CN" sz="2800" b="1" dirty="0">
                <a:latin typeface="宋体"/>
                <a:ea typeface="宋体"/>
                <a:cs typeface="宋体"/>
              </a:rPr>
              <a:t>多半贪官出身贫寒，是不是规律？</a:t>
            </a:r>
          </a:p>
          <a:p>
            <a:r>
              <a:rPr lang="zh-CN" altLang="zh-CN" sz="2800" b="1" dirty="0">
                <a:latin typeface="宋体"/>
                <a:ea typeface="宋体"/>
                <a:cs typeface="宋体"/>
              </a:rPr>
              <a:t>每个成功的贪官身边都有若干情妇，是不是规律？</a:t>
            </a:r>
          </a:p>
          <a:p>
            <a:r>
              <a:rPr lang="zh-CN" altLang="zh-CN" sz="2800" b="1" dirty="0">
                <a:latin typeface="宋体"/>
                <a:ea typeface="宋体"/>
                <a:cs typeface="宋体"/>
              </a:rPr>
              <a:t>……</a:t>
            </a:r>
            <a:endParaRPr lang="en-US" altLang="zh-CN" sz="2800" b="1" dirty="0">
              <a:latin typeface="宋体"/>
              <a:ea typeface="宋体"/>
              <a:cs typeface="宋体"/>
            </a:endParaRPr>
          </a:p>
          <a:p>
            <a:r>
              <a:rPr lang="zh-CN" altLang="en-US" sz="2800" b="1" dirty="0">
                <a:latin typeface="宋体"/>
                <a:ea typeface="宋体"/>
                <a:cs typeface="宋体"/>
              </a:rPr>
              <a:t>两种学说：</a:t>
            </a:r>
            <a:r>
              <a:rPr lang="zh-CN" altLang="en-US" sz="3600" b="1" dirty="0">
                <a:latin typeface="楷体"/>
                <a:ea typeface="楷体"/>
                <a:cs typeface="楷体"/>
              </a:rPr>
              <a:t>因果说；概率说。</a:t>
            </a:r>
            <a:endParaRPr lang="zh-CN" altLang="zh-CN" sz="3600" b="1" dirty="0">
              <a:latin typeface="楷体"/>
              <a:ea typeface="楷体"/>
              <a:cs typeface="楷体"/>
            </a:endParaRPr>
          </a:p>
          <a:p>
            <a:endParaRPr kumimoji="1" lang="zh-CN" altLang="en-US" dirty="0"/>
          </a:p>
        </p:txBody>
      </p:sp>
    </p:spTree>
    <p:extLst>
      <p:ext uri="{BB962C8B-B14F-4D97-AF65-F5344CB8AC3E}">
        <p14:creationId xmlns:p14="http://schemas.microsoft.com/office/powerpoint/2010/main" val="60853715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因果说：</a:t>
            </a:r>
            <a:r>
              <a:rPr kumimoji="1" lang="zh-CN" altLang="en-US" dirty="0">
                <a:latin typeface="黑体"/>
                <a:ea typeface="黑体"/>
                <a:cs typeface="黑体"/>
              </a:rPr>
              <a:t>犯罪学就是犯罪原因学</a:t>
            </a:r>
            <a:endParaRPr kumimoji="1" lang="zh-CN" altLang="en-US" sz="4400" dirty="0">
              <a:latin typeface="黑体"/>
              <a:ea typeface="黑体"/>
              <a:cs typeface="黑体"/>
            </a:endParaRPr>
          </a:p>
        </p:txBody>
      </p:sp>
      <p:sp>
        <p:nvSpPr>
          <p:cNvPr id="3" name="内容占位符 2"/>
          <p:cNvSpPr>
            <a:spLocks noGrp="1"/>
          </p:cNvSpPr>
          <p:nvPr>
            <p:ph idx="1"/>
          </p:nvPr>
        </p:nvSpPr>
        <p:spPr/>
        <p:txBody>
          <a:bodyPr/>
          <a:lstStyle/>
          <a:p>
            <a:r>
              <a:rPr lang="en-US" altLang="zh-CN" sz="2800" dirty="0"/>
              <a:t>1</a:t>
            </a:r>
            <a:r>
              <a:rPr lang="zh-CN" altLang="zh-CN" sz="2800" dirty="0"/>
              <a:t>、犯罪的因果关系的必然性、确定性——有因必有果，有果必有因。</a:t>
            </a:r>
            <a:endParaRPr lang="en-US" altLang="zh-CN" sz="2800" dirty="0"/>
          </a:p>
          <a:p>
            <a:pPr marL="0" indent="0">
              <a:buNone/>
            </a:pPr>
            <a:r>
              <a:rPr lang="en-US" altLang="zh-CN" sz="2800" dirty="0"/>
              <a:t>      </a:t>
            </a:r>
            <a:r>
              <a:rPr lang="zh-CN" altLang="en-US" sz="2800" dirty="0"/>
              <a:t>社会因素？自然因素？个体内因素？个体外因素？</a:t>
            </a:r>
            <a:r>
              <a:rPr lang="en-US" altLang="zh-CN" sz="2800" dirty="0"/>
              <a:t>……</a:t>
            </a:r>
            <a:endParaRPr lang="zh-CN" altLang="zh-CN" sz="2800" dirty="0"/>
          </a:p>
          <a:p>
            <a:r>
              <a:rPr lang="en-US" altLang="zh-CN" sz="2800" dirty="0"/>
              <a:t>2</a:t>
            </a:r>
            <a:r>
              <a:rPr lang="zh-CN" altLang="zh-CN" sz="2800" dirty="0"/>
              <a:t>、犯罪的因果关系的演绎性：犯罪原因应当是生活世界中诸多因果关系中的一种，因此，犯罪原因理论也往往是从众多公理中演绎出来的命题。 </a:t>
            </a:r>
            <a:endParaRPr lang="en-US" altLang="zh-CN" sz="2800" dirty="0"/>
          </a:p>
          <a:p>
            <a:pPr marL="0" indent="0">
              <a:buNone/>
            </a:pPr>
            <a:r>
              <a:rPr lang="en-US" altLang="zh-CN" sz="2800" dirty="0">
                <a:latin typeface="楷体"/>
                <a:ea typeface="楷体"/>
                <a:cs typeface="楷体"/>
              </a:rPr>
              <a:t>    </a:t>
            </a:r>
            <a:r>
              <a:rPr lang="zh-CN" altLang="zh-CN" sz="2800" dirty="0">
                <a:latin typeface="楷体"/>
                <a:ea typeface="楷体"/>
                <a:cs typeface="楷体"/>
              </a:rPr>
              <a:t>脑容量低的动物进化地位较低</a:t>
            </a:r>
          </a:p>
          <a:p>
            <a:pPr marL="0" indent="0">
              <a:buNone/>
            </a:pPr>
            <a:r>
              <a:rPr lang="en-US" altLang="zh-CN" sz="2800" dirty="0">
                <a:latin typeface="楷体"/>
                <a:ea typeface="楷体"/>
                <a:cs typeface="楷体"/>
              </a:rPr>
              <a:t>    </a:t>
            </a:r>
            <a:r>
              <a:rPr lang="zh-CN" altLang="zh-CN" sz="2800" dirty="0">
                <a:latin typeface="楷体"/>
                <a:ea typeface="楷体"/>
                <a:cs typeface="楷体"/>
              </a:rPr>
              <a:t>小头畸形的罪犯脑容量较低</a:t>
            </a:r>
          </a:p>
          <a:p>
            <a:pPr marL="0" indent="0">
              <a:buNone/>
            </a:pPr>
            <a:r>
              <a:rPr lang="en-US" altLang="zh-CN" sz="2800" dirty="0">
                <a:latin typeface="楷体"/>
                <a:ea typeface="楷体"/>
                <a:cs typeface="楷体"/>
              </a:rPr>
              <a:t>    </a:t>
            </a:r>
            <a:r>
              <a:rPr lang="zh-CN" altLang="zh-CN" sz="2800" dirty="0">
                <a:latin typeface="楷体"/>
                <a:ea typeface="楷体"/>
                <a:cs typeface="楷体"/>
              </a:rPr>
              <a:t>所以小头畸形的罪犯的进化地位较低 </a:t>
            </a:r>
            <a:endParaRPr lang="en-US" altLang="zh-CN" sz="2800" dirty="0">
              <a:latin typeface="楷体"/>
              <a:ea typeface="楷体"/>
              <a:cs typeface="楷体"/>
            </a:endParaRPr>
          </a:p>
          <a:p>
            <a:endParaRPr kumimoji="1" lang="zh-CN" altLang="en-US" dirty="0"/>
          </a:p>
        </p:txBody>
      </p:sp>
    </p:spTree>
    <p:extLst>
      <p:ext uri="{BB962C8B-B14F-4D97-AF65-F5344CB8AC3E}">
        <p14:creationId xmlns:p14="http://schemas.microsoft.com/office/powerpoint/2010/main" val="81919761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600" dirty="0">
                <a:latin typeface="黑体"/>
                <a:ea typeface="黑体"/>
                <a:cs typeface="黑体"/>
              </a:rPr>
              <a:t>3</a:t>
            </a:r>
            <a:r>
              <a:rPr lang="zh-CN" altLang="zh-CN" sz="3600" dirty="0">
                <a:latin typeface="黑体"/>
                <a:ea typeface="黑体"/>
                <a:cs typeface="黑体"/>
              </a:rPr>
              <a:t>、犯罪解释论的抽象性、思辨性。</a:t>
            </a:r>
            <a:endParaRPr kumimoji="1" lang="zh-CN" altLang="en-US" sz="3600" dirty="0">
              <a:latin typeface="黑体"/>
              <a:ea typeface="黑体"/>
              <a:cs typeface="黑体"/>
            </a:endParaRPr>
          </a:p>
        </p:txBody>
      </p:sp>
      <p:sp>
        <p:nvSpPr>
          <p:cNvPr id="3" name="内容占位符 2"/>
          <p:cNvSpPr>
            <a:spLocks noGrp="1"/>
          </p:cNvSpPr>
          <p:nvPr>
            <p:ph idx="1"/>
          </p:nvPr>
        </p:nvSpPr>
        <p:spPr>
          <a:xfrm>
            <a:off x="457200" y="980728"/>
            <a:ext cx="8229600" cy="5145435"/>
          </a:xfrm>
        </p:spPr>
        <p:txBody>
          <a:bodyPr/>
          <a:lstStyle/>
          <a:p>
            <a:r>
              <a:rPr lang="zh-CN" altLang="zh-CN" sz="2800" b="1" dirty="0">
                <a:latin typeface="宋体"/>
                <a:ea typeface="宋体"/>
                <a:cs typeface="宋体"/>
              </a:rPr>
              <a:t>贝卡里亚的功利主义犯罪解释论、经济人假设：犯罪是人们趋利避害、驱苦求乐、得失计算的必然结果。</a:t>
            </a:r>
          </a:p>
          <a:p>
            <a:r>
              <a:rPr lang="zh-CN" altLang="zh-CN" sz="2800" b="1" dirty="0">
                <a:latin typeface="宋体"/>
                <a:ea typeface="宋体"/>
                <a:cs typeface="宋体"/>
              </a:rPr>
              <a:t>美国学者贝克尔认为，人之所以犯罪，并不是因为他的基本动机与别人的不同，而是因为他从成本收益的分析中得出了与别人不同的结论。</a:t>
            </a:r>
            <a:endParaRPr lang="en-US" altLang="zh-CN" sz="2800" b="1" dirty="0">
              <a:latin typeface="宋体"/>
              <a:ea typeface="宋体"/>
              <a:cs typeface="宋体"/>
            </a:endParaRPr>
          </a:p>
          <a:p>
            <a:r>
              <a:rPr lang="zh-CN" altLang="zh-CN" sz="2800" b="1" dirty="0">
                <a:latin typeface="宋体"/>
                <a:ea typeface="宋体"/>
                <a:cs typeface="宋体"/>
              </a:rPr>
              <a:t>贝克尔</a:t>
            </a:r>
            <a:r>
              <a:rPr lang="zh-CN" altLang="en-US" sz="2800" b="1" dirty="0">
                <a:latin typeface="宋体"/>
                <a:ea typeface="宋体"/>
                <a:cs typeface="宋体"/>
              </a:rPr>
              <a:t>用</a:t>
            </a:r>
            <a:r>
              <a:rPr lang="zh-CN" altLang="zh-CN" sz="2800" b="1" dirty="0">
                <a:latin typeface="宋体"/>
                <a:ea typeface="宋体"/>
                <a:cs typeface="宋体"/>
              </a:rPr>
              <a:t>数学模型描述犯罪的产生规律——五个基本变量：①定罪的可能性；②判定有罪后的惩罚；③从事合法与其他非法活动可得到的收入；④逃避逮捕的机会；⑤违法意愿。</a:t>
            </a:r>
          </a:p>
          <a:p>
            <a:endParaRPr kumimoji="1" lang="zh-CN" altLang="en-US" dirty="0"/>
          </a:p>
        </p:txBody>
      </p:sp>
    </p:spTree>
    <p:extLst>
      <p:ext uri="{BB962C8B-B14F-4D97-AF65-F5344CB8AC3E}">
        <p14:creationId xmlns:p14="http://schemas.microsoft.com/office/powerpoint/2010/main" val="242525853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因果说的缺陷</a:t>
            </a:r>
          </a:p>
        </p:txBody>
      </p:sp>
      <p:sp>
        <p:nvSpPr>
          <p:cNvPr id="3" name="内容占位符 2"/>
          <p:cNvSpPr>
            <a:spLocks noGrp="1"/>
          </p:cNvSpPr>
          <p:nvPr>
            <p:ph idx="1"/>
          </p:nvPr>
        </p:nvSpPr>
        <p:spPr/>
        <p:txBody>
          <a:bodyPr/>
          <a:lstStyle/>
          <a:p>
            <a:r>
              <a:rPr lang="zh-CN" altLang="zh-CN" sz="3200" b="1" dirty="0">
                <a:latin typeface="宋体"/>
                <a:ea typeface="宋体"/>
                <a:cs typeface="宋体"/>
              </a:rPr>
              <a:t>首先，规律也可能以事物之间的或然性关系表现出来：如果下雪，盗窃会比较少，但不是绝对的。</a:t>
            </a:r>
          </a:p>
          <a:p>
            <a:r>
              <a:rPr lang="zh-CN" altLang="zh-CN" sz="3200" b="1" dirty="0">
                <a:latin typeface="宋体"/>
                <a:ea typeface="宋体"/>
                <a:cs typeface="宋体"/>
              </a:rPr>
              <a:t>第二，规律也可能来自大量的经验归纳：</a:t>
            </a:r>
            <a:r>
              <a:rPr lang="en-US" altLang="zh-CN" sz="3200" b="1" dirty="0">
                <a:latin typeface="宋体"/>
                <a:ea typeface="宋体"/>
                <a:cs typeface="宋体"/>
              </a:rPr>
              <a:t> </a:t>
            </a:r>
            <a:endParaRPr lang="zh-CN" altLang="zh-CN" sz="3200" b="1" dirty="0">
              <a:latin typeface="宋体"/>
              <a:ea typeface="宋体"/>
              <a:cs typeface="宋体"/>
            </a:endParaRPr>
          </a:p>
          <a:p>
            <a:r>
              <a:rPr lang="zh-CN" altLang="zh-CN" sz="3200" b="1" dirty="0">
                <a:latin typeface="宋体"/>
                <a:ea typeface="宋体"/>
                <a:cs typeface="宋体"/>
              </a:rPr>
              <a:t>第三，更重要的是，由演绎而来的确定的因果解释论都是无需检验的。而未经检验和证实的犯罪原因学说是危险的，如果直接转化为大规模的犯罪控制活动，后果可能是灾难性的。（</a:t>
            </a:r>
            <a:r>
              <a:rPr lang="zh-CN" altLang="en-US" sz="3200" b="1" dirty="0">
                <a:latin typeface="宋体"/>
                <a:ea typeface="宋体"/>
                <a:cs typeface="宋体"/>
              </a:rPr>
              <a:t>文革</a:t>
            </a:r>
            <a:r>
              <a:rPr lang="zh-CN" altLang="zh-CN" sz="3200" b="1" dirty="0">
                <a:latin typeface="宋体"/>
                <a:ea typeface="宋体"/>
                <a:cs typeface="宋体"/>
              </a:rPr>
              <a:t>）</a:t>
            </a:r>
          </a:p>
          <a:p>
            <a:endParaRPr kumimoji="1" lang="zh-CN" altLang="en-US" dirty="0"/>
          </a:p>
        </p:txBody>
      </p:sp>
    </p:spTree>
    <p:extLst>
      <p:ext uri="{BB962C8B-B14F-4D97-AF65-F5344CB8AC3E}">
        <p14:creationId xmlns:p14="http://schemas.microsoft.com/office/powerpoint/2010/main" val="227445607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800" b="1" dirty="0">
                <a:latin typeface="黑体"/>
                <a:ea typeface="黑体"/>
                <a:cs typeface="黑体"/>
              </a:rPr>
              <a:t>概率说：</a:t>
            </a:r>
            <a:r>
              <a:rPr kumimoji="1" lang="zh-CN" altLang="en-US" sz="3600" dirty="0">
                <a:latin typeface="黑体"/>
                <a:ea typeface="黑体"/>
                <a:cs typeface="黑体"/>
              </a:rPr>
              <a:t>随机性假定</a:t>
            </a:r>
          </a:p>
        </p:txBody>
      </p:sp>
      <p:sp>
        <p:nvSpPr>
          <p:cNvPr id="3" name="内容占位符 2"/>
          <p:cNvSpPr>
            <a:spLocks noGrp="1"/>
          </p:cNvSpPr>
          <p:nvPr>
            <p:ph idx="1"/>
          </p:nvPr>
        </p:nvSpPr>
        <p:spPr/>
        <p:txBody>
          <a:bodyPr/>
          <a:lstStyle/>
          <a:p>
            <a:r>
              <a:rPr lang="zh-CN" altLang="zh-CN" sz="2800" b="1" dirty="0">
                <a:latin typeface="宋体"/>
                <a:ea typeface="宋体"/>
                <a:cs typeface="宋体"/>
              </a:rPr>
              <a:t>虽然有犯罪原因便意味着会有犯罪出现，但具体到某人是否犯罪，具有明显犯罪倾向的人何时何地犯罪，具体犯罪由何种具体诱因所发动，某个时空的犯罪率、犯罪结构有何变化，都是不确定的、或然的。</a:t>
            </a:r>
          </a:p>
          <a:p>
            <a:r>
              <a:rPr lang="zh-CN" altLang="zh-CN" sz="2800" b="1" dirty="0">
                <a:latin typeface="宋体"/>
                <a:ea typeface="宋体"/>
                <a:cs typeface="宋体"/>
              </a:rPr>
              <a:t>从概率中心说的角度来看，犯罪规律的形式有：</a:t>
            </a:r>
          </a:p>
          <a:p>
            <a:r>
              <a:rPr lang="en-US" altLang="zh-CN" sz="2800" b="1" dirty="0">
                <a:latin typeface="宋体"/>
                <a:ea typeface="宋体"/>
                <a:cs typeface="宋体"/>
              </a:rPr>
              <a:t>1</a:t>
            </a:r>
            <a:r>
              <a:rPr lang="zh-CN" altLang="zh-CN" sz="2800" b="1" dirty="0">
                <a:latin typeface="宋体"/>
                <a:ea typeface="宋体"/>
                <a:cs typeface="宋体"/>
              </a:rPr>
              <a:t>、犯罪的出现机会分析</a:t>
            </a:r>
          </a:p>
          <a:p>
            <a:r>
              <a:rPr lang="zh-CN" altLang="zh-CN" dirty="0"/>
              <a:t>例如，</a:t>
            </a:r>
            <a:r>
              <a:rPr lang="zh-CN" altLang="zh-CN" b="1" dirty="0"/>
              <a:t>格卢克再犯预测法</a:t>
            </a:r>
            <a:r>
              <a:rPr lang="zh-CN" altLang="zh-CN" dirty="0"/>
              <a:t>，就是一种预测拟被假释者出狱后重新犯罪可能性大小的犯罪概率研究。</a:t>
            </a:r>
            <a:r>
              <a:rPr lang="zh-CN" altLang="en-US" dirty="0"/>
              <a:t>根据</a:t>
            </a:r>
            <a:r>
              <a:rPr lang="en-US" altLang="zh-CN" dirty="0"/>
              <a:t>510</a:t>
            </a:r>
            <a:r>
              <a:rPr lang="zh-CN" altLang="zh-CN" dirty="0"/>
              <a:t>名犯罪者入狱前、入狱中、假释中及假释后四阶段中各种资料，选出与</a:t>
            </a:r>
            <a:r>
              <a:rPr lang="zh-CN" altLang="en-US" dirty="0"/>
              <a:t>是否再犯</a:t>
            </a:r>
            <a:r>
              <a:rPr lang="zh-CN" altLang="zh-CN" dirty="0"/>
              <a:t>具有重大关联的因子，</a:t>
            </a:r>
            <a:r>
              <a:rPr lang="zh-CN" altLang="en-US" dirty="0"/>
              <a:t>进行</a:t>
            </a:r>
            <a:r>
              <a:rPr lang="zh-CN" altLang="zh-CN" dirty="0"/>
              <a:t>再犯预测。 </a:t>
            </a:r>
            <a:endParaRPr kumimoji="1" lang="zh-CN" altLang="en-US" dirty="0"/>
          </a:p>
        </p:txBody>
      </p:sp>
    </p:spTree>
    <p:extLst>
      <p:ext uri="{BB962C8B-B14F-4D97-AF65-F5344CB8AC3E}">
        <p14:creationId xmlns:p14="http://schemas.microsoft.com/office/powerpoint/2010/main" val="250323631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100962" cy="697582"/>
          </a:xfrm>
        </p:spPr>
        <p:txBody>
          <a:bodyPr/>
          <a:lstStyle/>
          <a:p>
            <a:pPr algn="ctr"/>
            <a:r>
              <a:rPr lang="zh-CN" altLang="zh-CN" sz="3600" dirty="0">
                <a:latin typeface="黑体"/>
                <a:ea typeface="黑体"/>
                <a:cs typeface="黑体"/>
              </a:rPr>
              <a:t>格卢克夫妇</a:t>
            </a:r>
            <a:r>
              <a:rPr lang="zh-CN" altLang="en-US" sz="3600" dirty="0">
                <a:latin typeface="黑体"/>
                <a:ea typeface="黑体"/>
                <a:cs typeface="黑体"/>
              </a:rPr>
              <a:t>的</a:t>
            </a:r>
            <a:r>
              <a:rPr lang="zh-CN" altLang="zh-CN" sz="3600" dirty="0">
                <a:latin typeface="黑体"/>
                <a:ea typeface="黑体"/>
                <a:cs typeface="黑体"/>
              </a:rPr>
              <a:t>《</a:t>
            </a:r>
            <a:r>
              <a:rPr lang="en-US" altLang="zh-CN" sz="3600" dirty="0">
                <a:latin typeface="黑体"/>
                <a:ea typeface="黑体"/>
                <a:cs typeface="黑体"/>
              </a:rPr>
              <a:t>500</a:t>
            </a:r>
            <a:r>
              <a:rPr lang="zh-CN" altLang="zh-CN" sz="3600" dirty="0">
                <a:latin typeface="黑体"/>
                <a:ea typeface="黑体"/>
                <a:cs typeface="黑体"/>
              </a:rPr>
              <a:t>名犯罪人之经历》 </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pPr lvl="0"/>
            <a:r>
              <a:rPr lang="zh-CN" altLang="zh-CN" sz="2800" b="1" dirty="0">
                <a:latin typeface="宋体"/>
                <a:ea typeface="宋体"/>
                <a:cs typeface="宋体"/>
              </a:rPr>
              <a:t>总分在</a:t>
            </a:r>
            <a:r>
              <a:rPr lang="en-US" altLang="zh-CN" sz="2800" b="1" dirty="0">
                <a:latin typeface="宋体"/>
                <a:ea typeface="宋体"/>
                <a:cs typeface="宋体"/>
              </a:rPr>
              <a:t>244</a:t>
            </a:r>
            <a:r>
              <a:rPr lang="zh-CN" altLang="zh-CN" sz="2800" b="1" dirty="0">
                <a:latin typeface="宋体"/>
                <a:ea typeface="宋体"/>
                <a:cs typeface="宋体"/>
              </a:rPr>
              <a:t>－</a:t>
            </a:r>
            <a:r>
              <a:rPr lang="en-US" altLang="zh-CN" sz="2800" b="1" dirty="0">
                <a:latin typeface="宋体"/>
                <a:ea typeface="宋体"/>
                <a:cs typeface="宋体"/>
              </a:rPr>
              <a:t>295</a:t>
            </a:r>
            <a:r>
              <a:rPr lang="zh-CN" altLang="zh-CN" sz="2800" b="1" dirty="0">
                <a:latin typeface="宋体"/>
                <a:ea typeface="宋体"/>
                <a:cs typeface="宋体"/>
              </a:rPr>
              <a:t>分之间的个体，假释成功率为</a:t>
            </a:r>
            <a:r>
              <a:rPr lang="en-US" altLang="zh-CN" sz="2800" b="1" dirty="0">
                <a:latin typeface="宋体"/>
                <a:ea typeface="宋体"/>
                <a:cs typeface="宋体"/>
              </a:rPr>
              <a:t>75.0</a:t>
            </a:r>
            <a:r>
              <a:rPr lang="zh-CN" altLang="zh-CN" sz="2800" b="1" dirty="0">
                <a:latin typeface="宋体"/>
                <a:ea typeface="宋体"/>
                <a:cs typeface="宋体"/>
              </a:rPr>
              <a:t>％，部分失败率为</a:t>
            </a:r>
            <a:r>
              <a:rPr lang="en-US" altLang="zh-CN" sz="2800" b="1" dirty="0">
                <a:latin typeface="宋体"/>
                <a:ea typeface="宋体"/>
                <a:cs typeface="宋体"/>
              </a:rPr>
              <a:t>20.0</a:t>
            </a:r>
            <a:r>
              <a:rPr lang="zh-CN" altLang="zh-CN" sz="2800" b="1" dirty="0">
                <a:latin typeface="宋体"/>
                <a:ea typeface="宋体"/>
                <a:cs typeface="宋体"/>
              </a:rPr>
              <a:t>％，失败率为</a:t>
            </a:r>
            <a:r>
              <a:rPr lang="en-US" altLang="zh-CN" sz="2800" b="1" dirty="0">
                <a:latin typeface="宋体"/>
                <a:ea typeface="宋体"/>
                <a:cs typeface="宋体"/>
              </a:rPr>
              <a:t>5.0</a:t>
            </a:r>
            <a:r>
              <a:rPr lang="zh-CN" altLang="zh-CN" sz="2800" b="1" dirty="0">
                <a:latin typeface="宋体"/>
                <a:ea typeface="宋体"/>
                <a:cs typeface="宋体"/>
              </a:rPr>
              <a:t>％。</a:t>
            </a:r>
          </a:p>
          <a:p>
            <a:pPr lvl="0"/>
            <a:r>
              <a:rPr lang="zh-CN" altLang="zh-CN" sz="2800" b="1" dirty="0">
                <a:latin typeface="宋体"/>
                <a:ea typeface="宋体"/>
                <a:cs typeface="宋体"/>
              </a:rPr>
              <a:t>总分在</a:t>
            </a:r>
            <a:r>
              <a:rPr lang="en-US" altLang="zh-CN" sz="2800" b="1" dirty="0">
                <a:latin typeface="宋体"/>
                <a:ea typeface="宋体"/>
                <a:cs typeface="宋体"/>
              </a:rPr>
              <a:t>346</a:t>
            </a:r>
            <a:r>
              <a:rPr lang="zh-CN" altLang="zh-CN" sz="2800" b="1" dirty="0">
                <a:latin typeface="宋体"/>
                <a:ea typeface="宋体"/>
                <a:cs typeface="宋体"/>
              </a:rPr>
              <a:t>－</a:t>
            </a:r>
            <a:r>
              <a:rPr lang="en-US" altLang="zh-CN" sz="2800" b="1" dirty="0">
                <a:latin typeface="宋体"/>
                <a:ea typeface="宋体"/>
                <a:cs typeface="宋体"/>
              </a:rPr>
              <a:t>395</a:t>
            </a:r>
            <a:r>
              <a:rPr lang="zh-CN" altLang="zh-CN" sz="2800" b="1" dirty="0">
                <a:latin typeface="宋体"/>
                <a:ea typeface="宋体"/>
                <a:cs typeface="宋体"/>
              </a:rPr>
              <a:t>分之间的个体，假释成功率则为</a:t>
            </a:r>
            <a:r>
              <a:rPr lang="en-US" altLang="zh-CN" sz="2800" b="1" dirty="0">
                <a:latin typeface="宋体"/>
                <a:ea typeface="宋体"/>
                <a:cs typeface="宋体"/>
              </a:rPr>
              <a:t>26.2</a:t>
            </a:r>
            <a:r>
              <a:rPr lang="zh-CN" altLang="zh-CN" sz="2800" b="1" dirty="0">
                <a:latin typeface="宋体"/>
                <a:ea typeface="宋体"/>
                <a:cs typeface="宋体"/>
              </a:rPr>
              <a:t>％，部分失败率为</a:t>
            </a:r>
            <a:r>
              <a:rPr lang="en-US" altLang="zh-CN" sz="2800" b="1" dirty="0">
                <a:latin typeface="宋体"/>
                <a:ea typeface="宋体"/>
                <a:cs typeface="宋体"/>
              </a:rPr>
              <a:t>19.1</a:t>
            </a:r>
            <a:r>
              <a:rPr lang="zh-CN" altLang="zh-CN" sz="2800" b="1" dirty="0">
                <a:latin typeface="宋体"/>
                <a:ea typeface="宋体"/>
                <a:cs typeface="宋体"/>
              </a:rPr>
              <a:t>％，失败率为</a:t>
            </a:r>
            <a:r>
              <a:rPr lang="en-US" altLang="zh-CN" sz="2800" b="1" dirty="0">
                <a:latin typeface="宋体"/>
                <a:ea typeface="宋体"/>
                <a:cs typeface="宋体"/>
              </a:rPr>
              <a:t>54.7</a:t>
            </a:r>
            <a:r>
              <a:rPr lang="zh-CN" altLang="zh-CN" sz="2800" b="1" dirty="0">
                <a:latin typeface="宋体"/>
                <a:ea typeface="宋体"/>
                <a:cs typeface="宋体"/>
              </a:rPr>
              <a:t>％。</a:t>
            </a:r>
          </a:p>
          <a:p>
            <a:pPr lvl="0"/>
            <a:r>
              <a:rPr lang="zh-CN" altLang="zh-CN" sz="2800" b="1" dirty="0">
                <a:latin typeface="宋体"/>
                <a:ea typeface="宋体"/>
                <a:cs typeface="宋体"/>
              </a:rPr>
              <a:t>总分在</a:t>
            </a:r>
            <a:r>
              <a:rPr lang="en-US" altLang="zh-CN" sz="2800" b="1" dirty="0">
                <a:latin typeface="宋体"/>
                <a:ea typeface="宋体"/>
                <a:cs typeface="宋体"/>
              </a:rPr>
              <a:t>396</a:t>
            </a:r>
            <a:r>
              <a:rPr lang="zh-CN" altLang="zh-CN" sz="2800" b="1" dirty="0">
                <a:latin typeface="宋体"/>
                <a:ea typeface="宋体"/>
                <a:cs typeface="宋体"/>
              </a:rPr>
              <a:t>分以上，其假释成功率则仅为</a:t>
            </a:r>
            <a:r>
              <a:rPr lang="en-US" altLang="zh-CN" sz="2800" b="1" dirty="0">
                <a:latin typeface="宋体"/>
                <a:ea typeface="宋体"/>
                <a:cs typeface="宋体"/>
              </a:rPr>
              <a:t>5.7</a:t>
            </a:r>
            <a:r>
              <a:rPr lang="zh-CN" altLang="zh-CN" sz="2800" b="1" dirty="0">
                <a:latin typeface="宋体"/>
                <a:ea typeface="宋体"/>
                <a:cs typeface="宋体"/>
              </a:rPr>
              <a:t>％，部分失败率为</a:t>
            </a:r>
            <a:r>
              <a:rPr lang="en-US" altLang="zh-CN" sz="2800" b="1" dirty="0">
                <a:latin typeface="宋体"/>
                <a:ea typeface="宋体"/>
                <a:cs typeface="宋体"/>
              </a:rPr>
              <a:t>13.7</a:t>
            </a:r>
            <a:r>
              <a:rPr lang="zh-CN" altLang="zh-CN" sz="2800" b="1" dirty="0">
                <a:latin typeface="宋体"/>
                <a:ea typeface="宋体"/>
                <a:cs typeface="宋体"/>
              </a:rPr>
              <a:t>％，失败率则高达</a:t>
            </a:r>
            <a:r>
              <a:rPr lang="en-US" altLang="zh-CN" sz="2800" b="1" dirty="0">
                <a:latin typeface="宋体"/>
                <a:ea typeface="宋体"/>
                <a:cs typeface="宋体"/>
              </a:rPr>
              <a:t>80.6</a:t>
            </a:r>
            <a:r>
              <a:rPr lang="zh-CN" altLang="zh-CN" sz="2800" b="1" dirty="0">
                <a:latin typeface="宋体"/>
                <a:ea typeface="宋体"/>
                <a:cs typeface="宋体"/>
              </a:rPr>
              <a:t>％。</a:t>
            </a:r>
            <a:endParaRPr lang="en-US" altLang="zh-CN" sz="2800" b="1" dirty="0">
              <a:latin typeface="宋体"/>
              <a:ea typeface="宋体"/>
              <a:cs typeface="宋体"/>
            </a:endParaRPr>
          </a:p>
          <a:p>
            <a:pPr lvl="0"/>
            <a:r>
              <a:rPr lang="zh-CN" altLang="zh-CN" sz="2800" b="1" dirty="0">
                <a:latin typeface="宋体"/>
                <a:ea typeface="宋体"/>
                <a:cs typeface="宋体"/>
              </a:rPr>
              <a:t>——</a:t>
            </a:r>
            <a:r>
              <a:rPr lang="zh-CN" altLang="en-US" sz="2800" b="1" dirty="0">
                <a:latin typeface="宋体"/>
                <a:ea typeface="宋体"/>
                <a:cs typeface="宋体"/>
              </a:rPr>
              <a:t>经过反复修订，就可以做出再犯率预测工具，用于假释工作。</a:t>
            </a:r>
            <a:endParaRPr lang="zh-CN" altLang="zh-CN" sz="2800" b="1" dirty="0">
              <a:latin typeface="宋体"/>
              <a:ea typeface="宋体"/>
              <a:cs typeface="宋体"/>
            </a:endParaRPr>
          </a:p>
          <a:p>
            <a:endParaRPr kumimoji="1" lang="zh-CN" altLang="en-US" dirty="0"/>
          </a:p>
        </p:txBody>
      </p:sp>
    </p:spTree>
    <p:extLst>
      <p:ext uri="{BB962C8B-B14F-4D97-AF65-F5344CB8AC3E}">
        <p14:creationId xmlns:p14="http://schemas.microsoft.com/office/powerpoint/2010/main" val="49482444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3600" dirty="0">
                <a:latin typeface="黑体"/>
                <a:ea typeface="黑体"/>
                <a:cs typeface="黑体"/>
              </a:rPr>
              <a:t>2</a:t>
            </a:r>
            <a:r>
              <a:rPr lang="zh-CN" altLang="zh-CN" sz="3600" dirty="0">
                <a:latin typeface="黑体"/>
                <a:ea typeface="黑体"/>
                <a:cs typeface="黑体"/>
              </a:rPr>
              <a:t>、犯罪属性特征的归纳</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pPr marL="0" indent="0">
              <a:buNone/>
            </a:pPr>
            <a:r>
              <a:rPr lang="en-US" altLang="zh-CN" sz="2800" b="1" dirty="0">
                <a:latin typeface="楷体"/>
                <a:ea typeface="楷体"/>
                <a:cs typeface="楷体"/>
              </a:rPr>
              <a:t>  </a:t>
            </a:r>
            <a:r>
              <a:rPr lang="zh-CN" altLang="zh-CN" sz="2800" b="1" dirty="0">
                <a:latin typeface="楷体"/>
                <a:ea typeface="楷体"/>
                <a:cs typeface="楷体"/>
              </a:rPr>
              <a:t>杀人案件</a:t>
            </a:r>
            <a:r>
              <a:rPr lang="en-US" altLang="zh-CN" sz="2800" b="1" dirty="0">
                <a:latin typeface="楷体"/>
                <a:ea typeface="楷体"/>
                <a:cs typeface="楷体"/>
              </a:rPr>
              <a:t>A</a:t>
            </a:r>
            <a:r>
              <a:rPr lang="zh-CN" altLang="zh-CN" sz="2800" b="1" dirty="0">
                <a:latin typeface="楷体"/>
                <a:ea typeface="楷体"/>
                <a:cs typeface="楷体"/>
              </a:rPr>
              <a:t>中可见破损家庭因素的影响</a:t>
            </a:r>
          </a:p>
          <a:p>
            <a:pPr marL="0" indent="0">
              <a:buNone/>
            </a:pPr>
            <a:r>
              <a:rPr lang="en-US" altLang="zh-CN" sz="2800" b="1" dirty="0">
                <a:latin typeface="楷体"/>
                <a:ea typeface="楷体"/>
                <a:cs typeface="楷体"/>
              </a:rPr>
              <a:t>        </a:t>
            </a:r>
            <a:r>
              <a:rPr lang="zh-CN" altLang="zh-CN" sz="2800" b="1" dirty="0">
                <a:latin typeface="楷体"/>
                <a:ea typeface="楷体"/>
                <a:cs typeface="楷体"/>
              </a:rPr>
              <a:t>抢劫案件</a:t>
            </a:r>
            <a:r>
              <a:rPr lang="en-US" altLang="zh-CN" sz="2800" b="1" dirty="0">
                <a:latin typeface="楷体"/>
                <a:ea typeface="楷体"/>
                <a:cs typeface="楷体"/>
              </a:rPr>
              <a:t>B</a:t>
            </a:r>
            <a:r>
              <a:rPr lang="zh-CN" altLang="zh-CN" sz="2800" b="1" dirty="0">
                <a:latin typeface="楷体"/>
                <a:ea typeface="楷体"/>
                <a:cs typeface="楷体"/>
              </a:rPr>
              <a:t>中可见破损家庭因素的影响</a:t>
            </a:r>
          </a:p>
          <a:p>
            <a:pPr marL="0" indent="0">
              <a:buNone/>
            </a:pPr>
            <a:r>
              <a:rPr lang="en-US" altLang="zh-CN" sz="2800" b="1" dirty="0">
                <a:latin typeface="楷体"/>
                <a:ea typeface="楷体"/>
                <a:cs typeface="楷体"/>
              </a:rPr>
              <a:t>        </a:t>
            </a:r>
            <a:r>
              <a:rPr lang="zh-CN" altLang="zh-CN" sz="2800" b="1" dirty="0">
                <a:latin typeface="楷体"/>
                <a:ea typeface="楷体"/>
                <a:cs typeface="楷体"/>
              </a:rPr>
              <a:t>强奸案件</a:t>
            </a:r>
            <a:r>
              <a:rPr lang="en-US" altLang="zh-CN" sz="2800" b="1" dirty="0">
                <a:latin typeface="楷体"/>
                <a:ea typeface="楷体"/>
                <a:cs typeface="楷体"/>
              </a:rPr>
              <a:t>C</a:t>
            </a:r>
            <a:r>
              <a:rPr lang="zh-CN" altLang="zh-CN" sz="2800" b="1" dirty="0">
                <a:latin typeface="楷体"/>
                <a:ea typeface="楷体"/>
                <a:cs typeface="楷体"/>
              </a:rPr>
              <a:t>中可见破损家庭因素的影响</a:t>
            </a:r>
          </a:p>
          <a:p>
            <a:pPr marL="0" indent="0">
              <a:buNone/>
            </a:pPr>
            <a:r>
              <a:rPr lang="en-US" altLang="zh-CN" sz="2800" b="1" dirty="0">
                <a:latin typeface="楷体"/>
                <a:ea typeface="楷体"/>
                <a:cs typeface="楷体"/>
              </a:rPr>
              <a:t>  </a:t>
            </a:r>
            <a:r>
              <a:rPr lang="zh-CN" altLang="zh-CN" sz="2800" b="1" dirty="0">
                <a:latin typeface="楷体"/>
                <a:ea typeface="楷体"/>
                <a:cs typeface="楷体"/>
              </a:rPr>
              <a:t>…………</a:t>
            </a:r>
          </a:p>
          <a:p>
            <a:pPr marL="0" indent="0">
              <a:buNone/>
            </a:pPr>
            <a:r>
              <a:rPr lang="en-US" altLang="zh-CN" sz="2800" b="1" dirty="0">
                <a:latin typeface="楷体"/>
                <a:ea typeface="楷体"/>
                <a:cs typeface="楷体"/>
              </a:rPr>
              <a:t>        </a:t>
            </a:r>
            <a:r>
              <a:rPr lang="zh-CN" altLang="zh-CN" sz="2800" b="1" dirty="0">
                <a:latin typeface="楷体"/>
                <a:ea typeface="楷体"/>
                <a:cs typeface="楷体"/>
              </a:rPr>
              <a:t>这些案件都是暴力犯罪。</a:t>
            </a:r>
          </a:p>
          <a:p>
            <a:pPr marL="0" indent="0">
              <a:buNone/>
            </a:pPr>
            <a:r>
              <a:rPr lang="en-US" altLang="zh-CN" sz="2800" b="1" dirty="0">
                <a:latin typeface="楷体"/>
                <a:ea typeface="楷体"/>
                <a:cs typeface="楷体"/>
              </a:rPr>
              <a:t>        </a:t>
            </a:r>
            <a:r>
              <a:rPr lang="zh-CN" altLang="zh-CN" sz="2800" b="1" dirty="0">
                <a:latin typeface="楷体"/>
                <a:ea typeface="楷体"/>
                <a:cs typeface="楷体"/>
              </a:rPr>
              <a:t>所以，暴力犯罪都与破损家庭因素的影响有关。</a:t>
            </a:r>
          </a:p>
          <a:p>
            <a:pPr marL="0" indent="0">
              <a:buNone/>
            </a:pPr>
            <a:endParaRPr kumimoji="1" lang="zh-CN" altLang="en-US" sz="2800" b="1" dirty="0">
              <a:latin typeface="楷体"/>
              <a:ea typeface="楷体"/>
              <a:cs typeface="楷体"/>
            </a:endParaRPr>
          </a:p>
        </p:txBody>
      </p:sp>
    </p:spTree>
    <p:extLst>
      <p:ext uri="{BB962C8B-B14F-4D97-AF65-F5344CB8AC3E}">
        <p14:creationId xmlns:p14="http://schemas.microsoft.com/office/powerpoint/2010/main" val="25413712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71438" y="211138"/>
            <a:ext cx="8533010" cy="2209750"/>
          </a:xfrm>
        </p:spPr>
        <p:txBody>
          <a:bodyPr/>
          <a:lstStyle/>
          <a:p>
            <a:r>
              <a:rPr lang="en-US" altLang="zh-CN" sz="3200" b="1" dirty="0">
                <a:latin typeface="黑体"/>
                <a:ea typeface="黑体"/>
                <a:cs typeface="黑体"/>
              </a:rPr>
              <a:t>         3</a:t>
            </a:r>
            <a:r>
              <a:rPr lang="zh-CN" altLang="zh-CN" sz="3200" b="1" dirty="0">
                <a:latin typeface="黑体"/>
                <a:ea typeface="黑体"/>
                <a:cs typeface="黑体"/>
              </a:rPr>
              <a:t>、犯罪相关性的观察</a:t>
            </a:r>
            <a:br>
              <a:rPr lang="en-US" altLang="zh-CN" sz="3200" b="1" dirty="0">
                <a:latin typeface="黑体"/>
                <a:ea typeface="黑体"/>
                <a:cs typeface="黑体"/>
              </a:rPr>
            </a:br>
            <a:r>
              <a:rPr lang="en-US" altLang="zh-CN" sz="3200" b="1" dirty="0">
                <a:latin typeface="黑体"/>
                <a:ea typeface="黑体"/>
                <a:cs typeface="黑体"/>
              </a:rPr>
              <a:t>   </a:t>
            </a:r>
            <a:r>
              <a:rPr lang="zh-CN" altLang="zh-CN" sz="2400" b="1" dirty="0">
                <a:latin typeface="宋体"/>
                <a:ea typeface="宋体"/>
                <a:cs typeface="宋体"/>
              </a:rPr>
              <a:t>身高与体重——正相关；</a:t>
            </a:r>
            <a:br>
              <a:rPr lang="zh-CN" altLang="zh-CN" sz="2400" b="1" dirty="0">
                <a:latin typeface="宋体"/>
                <a:ea typeface="宋体"/>
                <a:cs typeface="宋体"/>
              </a:rPr>
            </a:br>
            <a:r>
              <a:rPr lang="en-US" altLang="zh-CN" sz="2400" b="1" dirty="0">
                <a:latin typeface="宋体"/>
                <a:ea typeface="宋体"/>
                <a:cs typeface="宋体"/>
              </a:rPr>
              <a:t>    </a:t>
            </a:r>
            <a:r>
              <a:rPr lang="zh-CN" altLang="zh-CN" sz="2400" b="1" dirty="0">
                <a:latin typeface="宋体"/>
                <a:ea typeface="宋体"/>
                <a:cs typeface="宋体"/>
              </a:rPr>
              <a:t>知识与胆量——负相关；</a:t>
            </a:r>
            <a:br>
              <a:rPr lang="zh-CN" altLang="zh-CN" sz="2400" b="1" dirty="0">
                <a:latin typeface="宋体"/>
                <a:ea typeface="宋体"/>
                <a:cs typeface="宋体"/>
              </a:rPr>
            </a:br>
            <a:r>
              <a:rPr lang="en-US" altLang="zh-CN" sz="2400" b="1" dirty="0">
                <a:latin typeface="宋体"/>
                <a:ea typeface="宋体"/>
                <a:cs typeface="宋体"/>
              </a:rPr>
              <a:t>    </a:t>
            </a:r>
            <a:r>
              <a:rPr lang="zh-CN" altLang="zh-CN" sz="2400" b="1" dirty="0">
                <a:latin typeface="宋体"/>
                <a:ea typeface="宋体"/>
                <a:cs typeface="宋体"/>
              </a:rPr>
              <a:t>相貌与成绩——零相关；</a:t>
            </a:r>
            <a:br>
              <a:rPr lang="zh-CN" altLang="zh-CN" sz="2400" b="1" dirty="0">
                <a:latin typeface="宋体"/>
                <a:ea typeface="宋体"/>
                <a:cs typeface="宋体"/>
              </a:rPr>
            </a:br>
            <a:r>
              <a:rPr lang="en-US" altLang="zh-CN" sz="2400" b="1" dirty="0">
                <a:latin typeface="宋体"/>
                <a:ea typeface="宋体"/>
                <a:cs typeface="宋体"/>
              </a:rPr>
              <a:t>    </a:t>
            </a:r>
            <a:r>
              <a:rPr lang="zh-CN" altLang="zh-CN" sz="2400" b="1" dirty="0">
                <a:latin typeface="宋体"/>
                <a:ea typeface="宋体"/>
                <a:cs typeface="宋体"/>
              </a:rPr>
              <a:t>相关不等于因果；但因果一定相关</a:t>
            </a:r>
            <a:r>
              <a:rPr lang="zh-CN" altLang="zh-CN" dirty="0"/>
              <a:t>。</a:t>
            </a:r>
            <a:endParaRPr kumimoji="1" lang="zh-CN" altLang="en-US" dirty="0"/>
          </a:p>
        </p:txBody>
      </p:sp>
      <p:pic>
        <p:nvPicPr>
          <p:cNvPr id="7" name="内容占位符 6"/>
          <p:cNvPicPr>
            <a:picLocks noGrp="1" noChangeAspect="1"/>
          </p:cNvPicPr>
          <p:nvPr>
            <p:ph idx="1"/>
          </p:nvPr>
        </p:nvPicPr>
        <p:blipFill>
          <a:blip r:embed="rId2"/>
          <a:srcRect l="-28759" r="-28759"/>
          <a:stretch>
            <a:fillRect/>
          </a:stretch>
        </p:blipFill>
        <p:spPr>
          <a:xfrm>
            <a:off x="457200" y="2492375"/>
            <a:ext cx="7499350" cy="3633788"/>
          </a:xfrm>
        </p:spPr>
      </p:pic>
    </p:spTree>
    <p:extLst>
      <p:ext uri="{BB962C8B-B14F-4D97-AF65-F5344CB8AC3E}">
        <p14:creationId xmlns:p14="http://schemas.microsoft.com/office/powerpoint/2010/main" val="297621197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犯罪学实例：</a:t>
            </a:r>
          </a:p>
        </p:txBody>
      </p:sp>
      <p:sp>
        <p:nvSpPr>
          <p:cNvPr id="3" name="内容占位符 2"/>
          <p:cNvSpPr>
            <a:spLocks noGrp="1"/>
          </p:cNvSpPr>
          <p:nvPr>
            <p:ph idx="1"/>
          </p:nvPr>
        </p:nvSpPr>
        <p:spPr/>
        <p:txBody>
          <a:bodyPr/>
          <a:lstStyle/>
          <a:p>
            <a:r>
              <a:rPr lang="zh-CN" altLang="zh-CN" sz="2800" b="1" dirty="0">
                <a:latin typeface="宋体"/>
                <a:ea typeface="宋体"/>
                <a:cs typeface="宋体"/>
              </a:rPr>
              <a:t>物价与犯罪率的关系；</a:t>
            </a:r>
          </a:p>
          <a:p>
            <a:r>
              <a:rPr lang="zh-CN" altLang="zh-CN" sz="2800" b="1" dirty="0">
                <a:latin typeface="宋体"/>
                <a:ea typeface="宋体"/>
                <a:cs typeface="宋体"/>
              </a:rPr>
              <a:t>温度气候与犯罪类型的关系；</a:t>
            </a:r>
          </a:p>
          <a:p>
            <a:r>
              <a:rPr lang="zh-CN" altLang="zh-CN" sz="2800" b="1" dirty="0">
                <a:latin typeface="宋体"/>
                <a:ea typeface="宋体"/>
                <a:cs typeface="宋体"/>
              </a:rPr>
              <a:t>死刑执行与犯罪率的关系；</a:t>
            </a:r>
          </a:p>
          <a:p>
            <a:r>
              <a:rPr lang="zh-CN" altLang="zh-CN" sz="2800" b="1" dirty="0">
                <a:latin typeface="宋体"/>
                <a:ea typeface="宋体"/>
                <a:cs typeface="宋体"/>
              </a:rPr>
              <a:t>血型与交通肇事的关系；</a:t>
            </a:r>
          </a:p>
          <a:p>
            <a:r>
              <a:rPr lang="zh-CN" altLang="zh-CN" sz="2800" b="1" dirty="0">
                <a:latin typeface="宋体"/>
                <a:ea typeface="宋体"/>
                <a:cs typeface="宋体"/>
              </a:rPr>
              <a:t>外来人口与治安案件发案率的关系；</a:t>
            </a:r>
            <a:endParaRPr lang="en-US" altLang="zh-CN" sz="2800" b="1" dirty="0">
              <a:latin typeface="宋体"/>
              <a:ea typeface="宋体"/>
              <a:cs typeface="宋体"/>
            </a:endParaRPr>
          </a:p>
          <a:p>
            <a:r>
              <a:rPr lang="en-US" altLang="zh-CN" sz="2800" b="1" dirty="0">
                <a:latin typeface="宋体"/>
                <a:ea typeface="宋体"/>
                <a:cs typeface="宋体"/>
              </a:rPr>
              <a:t>……</a:t>
            </a:r>
            <a:endParaRPr lang="zh-CN" altLang="zh-CN" sz="2800" b="1" dirty="0">
              <a:latin typeface="宋体"/>
              <a:ea typeface="宋体"/>
              <a:cs typeface="宋体"/>
            </a:endParaRPr>
          </a:p>
          <a:p>
            <a:r>
              <a:rPr lang="zh-CN" altLang="en-US" sz="2800" b="1" dirty="0">
                <a:latin typeface="宋体"/>
                <a:ea typeface="宋体"/>
                <a:cs typeface="宋体"/>
              </a:rPr>
              <a:t>也有偏颇之处：</a:t>
            </a:r>
            <a:r>
              <a:rPr lang="zh-CN" altLang="zh-CN" sz="2800" b="1" dirty="0">
                <a:latin typeface="宋体"/>
                <a:ea typeface="宋体"/>
                <a:cs typeface="宋体"/>
              </a:rPr>
              <a:t>其危险在于，</a:t>
            </a:r>
            <a:r>
              <a:rPr lang="zh-CN" altLang="en-US" sz="2800" b="1" dirty="0">
                <a:latin typeface="宋体"/>
                <a:ea typeface="宋体"/>
                <a:cs typeface="宋体"/>
              </a:rPr>
              <a:t>如果缺乏深入的理论分析，会</a:t>
            </a:r>
            <a:r>
              <a:rPr lang="zh-CN" altLang="zh-CN" sz="2800" b="1" dirty="0">
                <a:latin typeface="宋体"/>
                <a:ea typeface="宋体"/>
                <a:cs typeface="宋体"/>
              </a:rPr>
              <a:t>误导犯罪控制实践。（订牛奶与死亡率）</a:t>
            </a:r>
          </a:p>
          <a:p>
            <a:endParaRPr lang="zh-CN" altLang="en-US" sz="2800" b="1" dirty="0">
              <a:latin typeface="宋体"/>
              <a:ea typeface="宋体"/>
              <a:cs typeface="宋体"/>
            </a:endParaRPr>
          </a:p>
        </p:txBody>
      </p:sp>
    </p:spTree>
    <p:extLst>
      <p:ext uri="{BB962C8B-B14F-4D97-AF65-F5344CB8AC3E}">
        <p14:creationId xmlns:p14="http://schemas.microsoft.com/office/powerpoint/2010/main" val="275881465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两种学说的比较</a:t>
            </a:r>
          </a:p>
        </p:txBody>
      </p:sp>
      <p:sp>
        <p:nvSpPr>
          <p:cNvPr id="3" name="内容占位符 2"/>
          <p:cNvSpPr>
            <a:spLocks noGrp="1"/>
          </p:cNvSpPr>
          <p:nvPr>
            <p:ph idx="1"/>
          </p:nvPr>
        </p:nvSpPr>
        <p:spPr/>
        <p:txBody>
          <a:bodyPr/>
          <a:lstStyle/>
          <a:p>
            <a:pPr lvl="0"/>
            <a:r>
              <a:rPr lang="zh-CN" altLang="zh-CN" sz="2800" dirty="0">
                <a:latin typeface="宋体"/>
                <a:ea typeface="宋体"/>
                <a:cs typeface="宋体"/>
              </a:rPr>
              <a:t>一个是确定的函数关系，另一个是不确定的概率关系；</a:t>
            </a:r>
          </a:p>
          <a:p>
            <a:pPr lvl="0"/>
            <a:r>
              <a:rPr lang="zh-CN" altLang="zh-CN" sz="2800" dirty="0">
                <a:latin typeface="宋体"/>
                <a:ea typeface="宋体"/>
                <a:cs typeface="宋体"/>
              </a:rPr>
              <a:t>一个自上而下地演绎，另一个自下而上地归纳；</a:t>
            </a:r>
          </a:p>
          <a:p>
            <a:pPr lvl="0"/>
            <a:r>
              <a:rPr lang="zh-CN" altLang="zh-CN" sz="2800" dirty="0">
                <a:latin typeface="宋体"/>
                <a:ea typeface="宋体"/>
                <a:cs typeface="宋体"/>
              </a:rPr>
              <a:t>一个是抽象的理论模型，另一个不仅强调建模，而且强调模型的实证检验。</a:t>
            </a:r>
          </a:p>
          <a:p>
            <a:r>
              <a:rPr lang="zh-CN" altLang="zh-CN" sz="2800" dirty="0">
                <a:latin typeface="宋体"/>
                <a:ea typeface="宋体"/>
                <a:cs typeface="宋体"/>
              </a:rPr>
              <a:t>基于此——</a:t>
            </a:r>
          </a:p>
          <a:p>
            <a:r>
              <a:rPr lang="zh-CN" altLang="zh-CN" sz="2800" dirty="0">
                <a:latin typeface="黑体"/>
                <a:ea typeface="黑体"/>
                <a:cs typeface="黑体"/>
              </a:rPr>
              <a:t>犯罪规律，就是犯罪现象中客观存在的本质联系，它的反复作用，使得犯罪现象中的相关联系重复出现，以至于人们可以据此预见、预防和控制犯罪。</a:t>
            </a:r>
          </a:p>
          <a:p>
            <a:endParaRPr kumimoji="1" lang="zh-CN" altLang="en-US" dirty="0"/>
          </a:p>
        </p:txBody>
      </p:sp>
    </p:spTree>
    <p:extLst>
      <p:ext uri="{BB962C8B-B14F-4D97-AF65-F5344CB8AC3E}">
        <p14:creationId xmlns:p14="http://schemas.microsoft.com/office/powerpoint/2010/main" val="14656147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犯罪社会学</a:t>
            </a:r>
          </a:p>
        </p:txBody>
      </p:sp>
      <p:sp>
        <p:nvSpPr>
          <p:cNvPr id="3" name="内容占位符 2"/>
          <p:cNvSpPr>
            <a:spLocks noGrp="1"/>
          </p:cNvSpPr>
          <p:nvPr>
            <p:ph idx="1"/>
          </p:nvPr>
        </p:nvSpPr>
        <p:spPr>
          <a:xfrm>
            <a:off x="467544" y="908720"/>
            <a:ext cx="8229600" cy="5000625"/>
          </a:xfrm>
        </p:spPr>
        <p:txBody>
          <a:bodyPr/>
          <a:lstStyle/>
          <a:p>
            <a:r>
              <a:rPr lang="zh-CN" altLang="zh-CN" b="1" dirty="0">
                <a:latin typeface="宋体"/>
                <a:ea typeface="宋体"/>
                <a:cs typeface="宋体"/>
              </a:rPr>
              <a:t>第一，犯罪行为是一种社会现象，是由一定社会条件造成的，其中不合理的社会制度、社会结构和社会过程所起的推动作用尤其明显。（贫富差距与犯罪率有关。西方与北欧或日本比较，中国建国初期与现在比较——：“最好的社会政策，就是最好的刑事政策”）</a:t>
            </a:r>
          </a:p>
          <a:p>
            <a:r>
              <a:rPr lang="zh-CN" altLang="zh-CN" b="1" dirty="0">
                <a:latin typeface="宋体"/>
                <a:ea typeface="宋体"/>
                <a:cs typeface="宋体"/>
              </a:rPr>
              <a:t>第二，犯罪行为模式与犯罪人的社会经济地位、种族、性别和年龄密切相关。（例：</a:t>
            </a:r>
            <a:r>
              <a:rPr lang="zh-CN" altLang="en-US" b="1" dirty="0">
                <a:latin typeface="宋体"/>
                <a:ea typeface="宋体"/>
                <a:cs typeface="宋体"/>
              </a:rPr>
              <a:t>芝加哥学派、</a:t>
            </a:r>
            <a:r>
              <a:rPr lang="zh-CN" altLang="zh-CN" b="1" dirty="0">
                <a:latin typeface="宋体"/>
                <a:ea typeface="宋体"/>
                <a:cs typeface="宋体"/>
              </a:rPr>
              <a:t>青少年犯罪）</a:t>
            </a:r>
          </a:p>
          <a:p>
            <a:r>
              <a:rPr lang="zh-CN" altLang="zh-CN" b="1" dirty="0">
                <a:latin typeface="宋体"/>
                <a:ea typeface="宋体"/>
                <a:cs typeface="宋体"/>
              </a:rPr>
              <a:t>第三，社会变迁与犯罪行为有关。（严景耀）</a:t>
            </a:r>
            <a:endParaRPr lang="en-US" altLang="zh-CN" b="1" dirty="0">
              <a:latin typeface="宋体"/>
              <a:ea typeface="宋体"/>
              <a:cs typeface="宋体"/>
            </a:endParaRPr>
          </a:p>
          <a:p>
            <a:r>
              <a:rPr lang="zh-CN" altLang="zh-CN" b="1" dirty="0">
                <a:latin typeface="宋体"/>
                <a:ea typeface="宋体"/>
                <a:cs typeface="宋体"/>
              </a:rPr>
              <a:t>第四，技术的发展及其对社会制度的影响，对犯罪的发生有重要的作用。（例：犯罪电子化、网络诈骗、虚拟财富）</a:t>
            </a:r>
          </a:p>
          <a:p>
            <a:r>
              <a:rPr lang="zh-CN" altLang="zh-CN" b="1" dirty="0">
                <a:latin typeface="宋体"/>
                <a:ea typeface="宋体"/>
                <a:cs typeface="宋体"/>
              </a:rPr>
              <a:t>第五，群体之间的相互作用对犯罪的发生有重要的影响。（</a:t>
            </a:r>
            <a:r>
              <a:rPr lang="en-US" altLang="zh-CN" b="1" dirty="0">
                <a:latin typeface="宋体"/>
                <a:ea typeface="宋体"/>
                <a:cs typeface="宋体"/>
              </a:rPr>
              <a:t>200</a:t>
            </a:r>
            <a:r>
              <a:rPr lang="zh-CN" altLang="zh-CN" b="1" dirty="0">
                <a:latin typeface="宋体"/>
                <a:ea typeface="宋体"/>
                <a:cs typeface="宋体"/>
              </a:rPr>
              <a:t>号） </a:t>
            </a:r>
            <a:endParaRPr kumimoji="1" lang="zh-CN" altLang="en-US" b="1" dirty="0">
              <a:latin typeface="宋体"/>
              <a:ea typeface="宋体"/>
              <a:cs typeface="宋体"/>
            </a:endParaRPr>
          </a:p>
        </p:txBody>
      </p:sp>
    </p:spTree>
    <p:extLst>
      <p:ext uri="{BB962C8B-B14F-4D97-AF65-F5344CB8AC3E}">
        <p14:creationId xmlns:p14="http://schemas.microsoft.com/office/powerpoint/2010/main" val="360991463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社会因素还是生物学因素？</a:t>
            </a:r>
          </a:p>
        </p:txBody>
      </p:sp>
      <p:sp>
        <p:nvSpPr>
          <p:cNvPr id="3" name="内容占位符 2"/>
          <p:cNvSpPr>
            <a:spLocks noGrp="1"/>
          </p:cNvSpPr>
          <p:nvPr>
            <p:ph idx="1"/>
          </p:nvPr>
        </p:nvSpPr>
        <p:spPr/>
        <p:txBody>
          <a:bodyPr/>
          <a:lstStyle/>
          <a:p>
            <a:r>
              <a:rPr lang="zh-CN" altLang="zh-CN" b="1" dirty="0">
                <a:latin typeface="宋体"/>
                <a:ea typeface="宋体"/>
                <a:cs typeface="宋体"/>
              </a:rPr>
              <a:t>研究人员对伊阿华的</a:t>
            </a:r>
            <a:r>
              <a:rPr lang="en-US" altLang="zh-CN" b="1" dirty="0">
                <a:latin typeface="宋体"/>
                <a:ea typeface="宋体"/>
                <a:cs typeface="宋体"/>
              </a:rPr>
              <a:t>41</a:t>
            </a:r>
            <a:r>
              <a:rPr lang="zh-CN" altLang="zh-CN" b="1" dirty="0">
                <a:latin typeface="宋体"/>
                <a:ea typeface="宋体"/>
                <a:cs typeface="宋体"/>
              </a:rPr>
              <a:t>名女性犯罪人（</a:t>
            </a:r>
            <a:r>
              <a:rPr lang="en-US" altLang="zh-CN" b="1" dirty="0">
                <a:latin typeface="宋体"/>
                <a:ea typeface="宋体"/>
                <a:cs typeface="宋体"/>
              </a:rPr>
              <a:t>90%</a:t>
            </a:r>
            <a:r>
              <a:rPr lang="zh-CN" altLang="zh-CN" b="1" dirty="0">
                <a:latin typeface="宋体"/>
                <a:ea typeface="宋体"/>
                <a:cs typeface="宋体"/>
              </a:rPr>
              <a:t>为重犯）的</a:t>
            </a:r>
            <a:r>
              <a:rPr lang="en-US" altLang="zh-CN" b="1" dirty="0">
                <a:latin typeface="宋体"/>
                <a:ea typeface="宋体"/>
                <a:cs typeface="宋体"/>
              </a:rPr>
              <a:t>52</a:t>
            </a:r>
            <a:r>
              <a:rPr lang="zh-CN" altLang="zh-CN" b="1" dirty="0">
                <a:latin typeface="宋体"/>
                <a:ea typeface="宋体"/>
                <a:cs typeface="宋体"/>
              </a:rPr>
              <a:t>名被人收养的子女进行了研究。结果发现，这些生母为罪犯的养子女中，有</a:t>
            </a:r>
            <a:r>
              <a:rPr lang="en-US" altLang="zh-CN" b="1" dirty="0">
                <a:latin typeface="宋体"/>
                <a:ea typeface="宋体"/>
                <a:cs typeface="宋体"/>
              </a:rPr>
              <a:t>37</a:t>
            </a:r>
            <a:r>
              <a:rPr lang="zh-CN" altLang="zh-CN" b="1" dirty="0">
                <a:latin typeface="宋体"/>
                <a:ea typeface="宋体"/>
                <a:cs typeface="宋体"/>
              </a:rPr>
              <a:t>人有过多次犯罪行为。而对照组，也就是生父母没有犯罪的养子女，却没有这些犯罪行为。</a:t>
            </a:r>
            <a:endParaRPr lang="en-US" altLang="zh-CN" b="1" dirty="0">
              <a:latin typeface="宋体"/>
              <a:ea typeface="宋体"/>
              <a:cs typeface="宋体"/>
            </a:endParaRPr>
          </a:p>
          <a:p>
            <a:r>
              <a:rPr lang="en-US" altLang="zh-CN" b="1" dirty="0">
                <a:latin typeface="宋体"/>
                <a:ea typeface="宋体"/>
                <a:cs typeface="宋体"/>
              </a:rPr>
              <a:t>1984</a:t>
            </a:r>
            <a:r>
              <a:rPr lang="zh-CN" altLang="zh-CN" b="1" dirty="0">
                <a:latin typeface="宋体"/>
                <a:ea typeface="宋体"/>
                <a:cs typeface="宋体"/>
              </a:rPr>
              <a:t>年，梅德尼克等人报告了类似的研究结果：他们对丹麦的</a:t>
            </a:r>
            <a:r>
              <a:rPr lang="en-US" altLang="zh-CN" b="1" dirty="0">
                <a:latin typeface="宋体"/>
                <a:ea typeface="宋体"/>
                <a:cs typeface="宋体"/>
              </a:rPr>
              <a:t>14427</a:t>
            </a:r>
            <a:r>
              <a:rPr lang="zh-CN" altLang="zh-CN" b="1" dirty="0">
                <a:latin typeface="宋体"/>
                <a:ea typeface="宋体"/>
                <a:cs typeface="宋体"/>
              </a:rPr>
              <a:t>名养子女进行了研究。结果是：当生父母和养父母都有犯罪记录时，</a:t>
            </a:r>
            <a:r>
              <a:rPr lang="en-US" altLang="zh-CN" b="1" dirty="0">
                <a:latin typeface="宋体"/>
                <a:ea typeface="宋体"/>
                <a:cs typeface="宋体"/>
              </a:rPr>
              <a:t>24.5%</a:t>
            </a:r>
            <a:r>
              <a:rPr lang="zh-CN" altLang="zh-CN" b="1" dirty="0">
                <a:latin typeface="宋体"/>
                <a:ea typeface="宋体"/>
                <a:cs typeface="宋体"/>
              </a:rPr>
              <a:t>的养子女实施了犯罪。当生父母是犯罪人而养父母不是犯罪人时，</a:t>
            </a:r>
            <a:r>
              <a:rPr lang="en-US" altLang="zh-CN" b="1" dirty="0">
                <a:latin typeface="宋体"/>
                <a:ea typeface="宋体"/>
                <a:cs typeface="宋体"/>
              </a:rPr>
              <a:t>20%</a:t>
            </a:r>
            <a:r>
              <a:rPr lang="zh-CN" altLang="zh-CN" b="1" dirty="0">
                <a:latin typeface="宋体"/>
                <a:ea typeface="宋体"/>
                <a:cs typeface="宋体"/>
              </a:rPr>
              <a:t>的养子女实施犯罪。如果养父母犯了罪，而生父母没有犯罪，其养子女中有</a:t>
            </a:r>
            <a:r>
              <a:rPr lang="en-US" altLang="zh-CN" b="1" dirty="0">
                <a:latin typeface="宋体"/>
                <a:ea typeface="宋体"/>
                <a:cs typeface="宋体"/>
              </a:rPr>
              <a:t>14.7%</a:t>
            </a:r>
            <a:r>
              <a:rPr lang="zh-CN" altLang="zh-CN" b="1" dirty="0">
                <a:latin typeface="宋体"/>
                <a:ea typeface="宋体"/>
                <a:cs typeface="宋体"/>
              </a:rPr>
              <a:t>的人实施犯罪。如果生父母和养父母都没有犯罪，子女中有</a:t>
            </a:r>
            <a:r>
              <a:rPr lang="en-US" altLang="zh-CN" b="1" dirty="0">
                <a:latin typeface="宋体"/>
                <a:ea typeface="宋体"/>
                <a:cs typeface="宋体"/>
              </a:rPr>
              <a:t>13.5%</a:t>
            </a:r>
            <a:r>
              <a:rPr lang="zh-CN" altLang="zh-CN" b="1" dirty="0">
                <a:latin typeface="宋体"/>
                <a:ea typeface="宋体"/>
                <a:cs typeface="宋体"/>
              </a:rPr>
              <a:t>的人实施犯罪 </a:t>
            </a:r>
            <a:endParaRPr lang="en-US" altLang="zh-CN" b="1" dirty="0">
              <a:latin typeface="宋体"/>
              <a:ea typeface="宋体"/>
              <a:cs typeface="宋体"/>
            </a:endParaRPr>
          </a:p>
          <a:p>
            <a:r>
              <a:rPr lang="zh-CN" altLang="zh-CN" dirty="0"/>
              <a:t>——环境和遗传都有作用，而且，生父母的作用大于养父母的作用。 </a:t>
            </a:r>
            <a:endParaRPr kumimoji="1" lang="zh-CN" altLang="en-US" b="1" dirty="0">
              <a:latin typeface="宋体"/>
              <a:ea typeface="宋体"/>
              <a:cs typeface="宋体"/>
            </a:endParaRPr>
          </a:p>
        </p:txBody>
      </p:sp>
    </p:spTree>
    <p:extLst>
      <p:ext uri="{BB962C8B-B14F-4D97-AF65-F5344CB8AC3E}">
        <p14:creationId xmlns:p14="http://schemas.microsoft.com/office/powerpoint/2010/main" val="15372861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algn="ctr"/>
            <a:r>
              <a:rPr lang="zh-CN" altLang="en-US" sz="4000" b="1" dirty="0">
                <a:latin typeface="微软雅黑" charset="0"/>
                <a:ea typeface="微软雅黑" charset="0"/>
                <a:cs typeface="微软雅黑" charset="0"/>
              </a:rPr>
              <a:t>研究犯罪规律有什么用？</a:t>
            </a:r>
          </a:p>
        </p:txBody>
      </p:sp>
      <p:sp>
        <p:nvSpPr>
          <p:cNvPr id="11267" name="内容占位符 2"/>
          <p:cNvSpPr>
            <a:spLocks noGrp="1"/>
          </p:cNvSpPr>
          <p:nvPr>
            <p:ph idx="1"/>
          </p:nvPr>
        </p:nvSpPr>
        <p:spPr/>
        <p:txBody>
          <a:bodyPr/>
          <a:lstStyle/>
          <a:p>
            <a:r>
              <a:rPr lang="zh-CN" sz="2800" dirty="0">
                <a:latin typeface="方正姚体" charset="0"/>
                <a:ea typeface="方正姚体" charset="0"/>
                <a:cs typeface="方正姚体" charset="0"/>
              </a:rPr>
              <a:t>一般认为，犯罪率持续上升，</a:t>
            </a:r>
            <a:r>
              <a:rPr lang="zh-CN" altLang="en-US" sz="2800" dirty="0">
                <a:latin typeface="方正姚体" charset="0"/>
                <a:ea typeface="方正姚体" charset="0"/>
                <a:cs typeface="方正姚体" charset="0"/>
              </a:rPr>
              <a:t>应该导致刑罚资源投入的增加。</a:t>
            </a:r>
            <a:endParaRPr lang="en-US" altLang="zh-CN" sz="2800" dirty="0">
              <a:latin typeface="方正姚体" charset="0"/>
              <a:ea typeface="方正姚体" charset="0"/>
              <a:cs typeface="方正姚体" charset="0"/>
            </a:endParaRPr>
          </a:p>
          <a:p>
            <a:r>
              <a:rPr lang="en-US" altLang="zh-CN" sz="2800" dirty="0">
                <a:latin typeface="方正姚体" charset="0"/>
                <a:ea typeface="方正姚体" charset="0"/>
                <a:cs typeface="方正姚体" charset="0"/>
              </a:rPr>
              <a:t>20</a:t>
            </a:r>
            <a:r>
              <a:rPr lang="zh-CN" sz="2800" dirty="0">
                <a:latin typeface="方正姚体" charset="0"/>
                <a:ea typeface="方正姚体" charset="0"/>
                <a:cs typeface="方正姚体" charset="0"/>
              </a:rPr>
              <a:t>年来，中国犯罪率平均每年增长</a:t>
            </a:r>
            <a:r>
              <a:rPr lang="en-US" altLang="zh-CN" sz="2800" dirty="0">
                <a:latin typeface="方正姚体" charset="0"/>
                <a:ea typeface="方正姚体" charset="0"/>
                <a:cs typeface="方正姚体" charset="0"/>
              </a:rPr>
              <a:t>10%</a:t>
            </a:r>
            <a:r>
              <a:rPr lang="zh-CN" sz="2800" dirty="0">
                <a:latin typeface="方正姚体" charset="0"/>
                <a:ea typeface="方正姚体" charset="0"/>
                <a:cs typeface="方正姚体" charset="0"/>
              </a:rPr>
              <a:t>以上，超过了不少时期全国</a:t>
            </a:r>
            <a:r>
              <a:rPr lang="en-US" altLang="zh-CN" sz="2800" dirty="0">
                <a:latin typeface="方正姚体" charset="0"/>
                <a:ea typeface="方正姚体" charset="0"/>
                <a:cs typeface="方正姚体" charset="0"/>
              </a:rPr>
              <a:t>GDP</a:t>
            </a:r>
            <a:r>
              <a:rPr lang="zh-CN" sz="2800" dirty="0">
                <a:latin typeface="方正姚体" charset="0"/>
                <a:ea typeface="方正姚体" charset="0"/>
                <a:cs typeface="方正姚体" charset="0"/>
              </a:rPr>
              <a:t>的增长。</a:t>
            </a:r>
            <a:endParaRPr lang="en-US" altLang="zh-CN" sz="2800" dirty="0">
              <a:latin typeface="方正姚体" charset="0"/>
              <a:ea typeface="方正姚体" charset="0"/>
              <a:cs typeface="方正姚体" charset="0"/>
            </a:endParaRPr>
          </a:p>
          <a:p>
            <a:r>
              <a:rPr lang="zh-CN" sz="2800" dirty="0">
                <a:latin typeface="方正姚体" charset="0"/>
                <a:ea typeface="方正姚体" charset="0"/>
                <a:cs typeface="方正姚体" charset="0"/>
              </a:rPr>
              <a:t>与之相应，也应该引发或将引发刑罚力度的提升。</a:t>
            </a:r>
            <a:endParaRPr lang="en-US" altLang="zh-CN" sz="2800" dirty="0">
              <a:latin typeface="方正姚体" charset="0"/>
              <a:ea typeface="方正姚体" charset="0"/>
              <a:cs typeface="方正姚体" charset="0"/>
            </a:endParaRPr>
          </a:p>
          <a:p>
            <a:r>
              <a:rPr lang="zh-CN" altLang="en-US" sz="2800" dirty="0">
                <a:latin typeface="方正姚体" charset="0"/>
                <a:ea typeface="方正姚体" charset="0"/>
                <a:cs typeface="方正姚体" charset="0"/>
              </a:rPr>
              <a:t>但许霆案的最终处理表明，未必如此。</a:t>
            </a:r>
            <a:endParaRPr lang="zh-CN" sz="2800" dirty="0">
              <a:latin typeface="方正姚体" charset="0"/>
              <a:ea typeface="方正姚体" charset="0"/>
              <a:cs typeface="方正姚体" charset="0"/>
            </a:endParaRPr>
          </a:p>
        </p:txBody>
      </p:sp>
    </p:spTree>
    <p:extLst>
      <p:ext uri="{BB962C8B-B14F-4D97-AF65-F5344CB8AC3E}">
        <p14:creationId xmlns:p14="http://schemas.microsoft.com/office/powerpoint/2010/main" val="116843740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pPr algn="ctr"/>
            <a:r>
              <a:rPr lang="zh-CN" altLang="en-US" sz="4000" dirty="0">
                <a:latin typeface="微软雅黑" charset="0"/>
                <a:ea typeface="微软雅黑" charset="0"/>
                <a:cs typeface="微软雅黑" charset="0"/>
              </a:rPr>
              <a:t>于是引发</a:t>
            </a:r>
            <a:r>
              <a:rPr lang="zh-CN" altLang="en-US" sz="4000" dirty="0">
                <a:latin typeface="华文琥珀" charset="0"/>
                <a:ea typeface="华文琥珀" charset="0"/>
                <a:cs typeface="华文琥珀" charset="0"/>
              </a:rPr>
              <a:t>假设：</a:t>
            </a:r>
          </a:p>
        </p:txBody>
      </p:sp>
      <p:sp>
        <p:nvSpPr>
          <p:cNvPr id="12291" name="内容占位符 2"/>
          <p:cNvSpPr>
            <a:spLocks noGrp="1"/>
          </p:cNvSpPr>
          <p:nvPr>
            <p:ph idx="1"/>
          </p:nvPr>
        </p:nvSpPr>
        <p:spPr/>
        <p:txBody>
          <a:bodyPr/>
          <a:lstStyle/>
          <a:p>
            <a:r>
              <a:rPr lang="zh-CN" sz="2800" dirty="0">
                <a:latin typeface="方正姚体" charset="0"/>
                <a:ea typeface="方正姚体" charset="0"/>
                <a:cs typeface="方正姚体" charset="0"/>
              </a:rPr>
              <a:t>如果犯罪数量的增长</a:t>
            </a:r>
            <a:r>
              <a:rPr lang="zh-CN" altLang="en-US" sz="2800" dirty="0">
                <a:latin typeface="方正姚体" charset="0"/>
                <a:ea typeface="方正姚体" charset="0"/>
                <a:cs typeface="方正姚体" charset="0"/>
              </a:rPr>
              <a:t>“罪出有因”</a:t>
            </a:r>
            <a:r>
              <a:rPr lang="zh-CN" sz="2800" dirty="0">
                <a:latin typeface="方正姚体" charset="0"/>
                <a:ea typeface="方正姚体" charset="0"/>
                <a:cs typeface="方正姚体" charset="0"/>
              </a:rPr>
              <a:t>，刑罚资源的投入不仅不会机械地相应增长，反而会受到严格控制。</a:t>
            </a:r>
            <a:endParaRPr lang="en-US" altLang="zh-CN" sz="2800" dirty="0">
              <a:latin typeface="方正姚体" charset="0"/>
              <a:ea typeface="方正姚体" charset="0"/>
              <a:cs typeface="方正姚体" charset="0"/>
            </a:endParaRPr>
          </a:p>
          <a:p>
            <a:r>
              <a:rPr lang="zh-CN" altLang="en-US" sz="2800" dirty="0">
                <a:latin typeface="方正姚体" charset="0"/>
                <a:ea typeface="方正姚体" charset="0"/>
                <a:cs typeface="方正姚体" charset="0"/>
              </a:rPr>
              <a:t>既要证实“罪出有因”</a:t>
            </a:r>
            <a:endParaRPr lang="en-US" altLang="zh-CN" sz="2800" dirty="0">
              <a:latin typeface="方正姚体" charset="0"/>
              <a:ea typeface="方正姚体" charset="0"/>
              <a:cs typeface="方正姚体" charset="0"/>
            </a:endParaRPr>
          </a:p>
          <a:p>
            <a:r>
              <a:rPr lang="zh-CN" altLang="en-US" sz="2800" dirty="0">
                <a:latin typeface="方正姚体" charset="0"/>
                <a:ea typeface="方正姚体" charset="0"/>
                <a:cs typeface="方正姚体" charset="0"/>
              </a:rPr>
              <a:t>又要证实刑罚投入的节制</a:t>
            </a:r>
            <a:endParaRPr lang="en-US" altLang="zh-CN" sz="2800" dirty="0">
              <a:latin typeface="方正姚体" charset="0"/>
              <a:ea typeface="方正姚体" charset="0"/>
              <a:cs typeface="方正姚体" charset="0"/>
            </a:endParaRPr>
          </a:p>
          <a:p>
            <a:r>
              <a:rPr lang="en-US" altLang="zh-CN" sz="2800" dirty="0">
                <a:latin typeface="方正姚体" charset="0"/>
                <a:ea typeface="方正姚体" charset="0"/>
                <a:cs typeface="方正姚体" charset="0"/>
              </a:rPr>
              <a:t>——</a:t>
            </a:r>
            <a:r>
              <a:rPr lang="zh-CN" altLang="en-US" sz="2800" dirty="0">
                <a:latin typeface="方正姚体" charset="0"/>
                <a:ea typeface="方正姚体" charset="0"/>
                <a:cs typeface="方正姚体" charset="0"/>
              </a:rPr>
              <a:t>大跨度时空大样本观察，也许能证实，也许什么也证实不了。</a:t>
            </a:r>
            <a:endParaRPr lang="en-US" altLang="zh-CN" sz="2800" dirty="0">
              <a:latin typeface="方正姚体" charset="0"/>
              <a:ea typeface="方正姚体" charset="0"/>
              <a:cs typeface="方正姚体" charset="0"/>
            </a:endParaRPr>
          </a:p>
          <a:p>
            <a:endParaRPr lang="zh-CN" altLang="en-US" dirty="0">
              <a:latin typeface="Arial" charset="0"/>
              <a:ea typeface="宋体" charset="0"/>
            </a:endParaRPr>
          </a:p>
        </p:txBody>
      </p:sp>
    </p:spTree>
    <p:extLst>
      <p:ext uri="{BB962C8B-B14F-4D97-AF65-F5344CB8AC3E}">
        <p14:creationId xmlns:p14="http://schemas.microsoft.com/office/powerpoint/2010/main" val="134627138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pPr algn="ctr"/>
            <a:r>
              <a:rPr lang="zh-CN" altLang="en-US" sz="4000" dirty="0">
                <a:latin typeface="黑体"/>
                <a:ea typeface="黑体"/>
                <a:cs typeface="黑体"/>
              </a:rPr>
              <a:t>数据来源</a:t>
            </a:r>
          </a:p>
        </p:txBody>
      </p:sp>
      <p:sp>
        <p:nvSpPr>
          <p:cNvPr id="3" name="内容占位符 2"/>
          <p:cNvSpPr>
            <a:spLocks noGrp="1"/>
          </p:cNvSpPr>
          <p:nvPr>
            <p:ph idx="1"/>
          </p:nvPr>
        </p:nvSpPr>
        <p:spPr/>
        <p:txBody>
          <a:bodyPr/>
          <a:lstStyle/>
          <a:p>
            <a:pPr marL="514350" indent="-514350">
              <a:buFont typeface="Arial" charset="0"/>
              <a:buAutoNum type="arabicPeriod"/>
            </a:pPr>
            <a:r>
              <a:rPr lang="zh-CN" sz="2400" dirty="0">
                <a:latin typeface="微软雅黑" charset="0"/>
                <a:ea typeface="微软雅黑" charset="0"/>
                <a:cs typeface="微软雅黑" charset="0"/>
              </a:rPr>
              <a:t>中华人民共和国国家统计局编、中国统计出版社出版的《中国统计年鉴》历年版本。</a:t>
            </a:r>
            <a:endParaRPr lang="en-US" altLang="zh-CN" sz="2400" dirty="0">
              <a:latin typeface="微软雅黑" charset="0"/>
              <a:ea typeface="微软雅黑" charset="0"/>
              <a:cs typeface="微软雅黑" charset="0"/>
            </a:endParaRPr>
          </a:p>
          <a:p>
            <a:pPr marL="514350" indent="-514350">
              <a:buFont typeface="Arial" charset="0"/>
              <a:buAutoNum type="arabicPeriod"/>
            </a:pPr>
            <a:r>
              <a:rPr lang="zh-CN" sz="2400" dirty="0">
                <a:latin typeface="微软雅黑" charset="0"/>
                <a:ea typeface="微软雅黑" charset="0"/>
                <a:cs typeface="微软雅黑" charset="0"/>
              </a:rPr>
              <a:t>全国</a:t>
            </a:r>
            <a:r>
              <a:rPr lang="en-US" altLang="zh-CN" sz="2400" dirty="0">
                <a:latin typeface="微软雅黑" charset="0"/>
                <a:ea typeface="微软雅黑" charset="0"/>
                <a:cs typeface="微软雅黑" charset="0"/>
              </a:rPr>
              <a:t>31</a:t>
            </a:r>
            <a:r>
              <a:rPr lang="zh-CN" sz="2400" dirty="0">
                <a:latin typeface="微软雅黑" charset="0"/>
                <a:ea typeface="微软雅黑" charset="0"/>
                <a:cs typeface="微软雅黑" charset="0"/>
              </a:rPr>
              <a:t>省市的“某某省统计年鉴”以及“某某省年鉴”，如《北京统计年鉴》或《北京年鉴》。</a:t>
            </a:r>
            <a:endParaRPr lang="en-US" altLang="zh-CN" sz="2400" dirty="0">
              <a:latin typeface="微软雅黑" charset="0"/>
              <a:ea typeface="微软雅黑" charset="0"/>
              <a:cs typeface="微软雅黑" charset="0"/>
            </a:endParaRPr>
          </a:p>
          <a:p>
            <a:pPr marL="514350" indent="-514350">
              <a:buFont typeface="Arial" charset="0"/>
              <a:buAutoNum type="arabicPeriod"/>
            </a:pPr>
            <a:r>
              <a:rPr lang="zh-CN" sz="2400" dirty="0">
                <a:latin typeface="微软雅黑" charset="0"/>
                <a:ea typeface="微软雅黑" charset="0"/>
                <a:cs typeface="微软雅黑" charset="0"/>
              </a:rPr>
              <a:t>中国法律年鉴社历年的《中国法律年鉴》。</a:t>
            </a:r>
            <a:endParaRPr lang="en-US" altLang="zh-CN" sz="2400" dirty="0">
              <a:latin typeface="微软雅黑" charset="0"/>
              <a:ea typeface="微软雅黑" charset="0"/>
              <a:cs typeface="微软雅黑" charset="0"/>
            </a:endParaRPr>
          </a:p>
          <a:p>
            <a:pPr marL="514350" indent="-514350">
              <a:buFont typeface="Arial" charset="0"/>
              <a:buAutoNum type="arabicPeriod"/>
            </a:pPr>
            <a:r>
              <a:rPr lang="zh-CN" altLang="en-US" sz="2400" dirty="0">
                <a:latin typeface="微软雅黑" charset="0"/>
                <a:ea typeface="微软雅黑" charset="0"/>
                <a:cs typeface="微软雅黑" charset="0"/>
              </a:rPr>
              <a:t>人民大学</a:t>
            </a:r>
            <a:r>
              <a:rPr lang="zh-CN" sz="2400" dirty="0">
                <a:latin typeface="微软雅黑" charset="0"/>
                <a:ea typeface="微软雅黑" charset="0"/>
                <a:cs typeface="微软雅黑" charset="0"/>
              </a:rPr>
              <a:t>朱景文主编：《中国法律发展报告——数据库和指标体系》，中国人民大学出版社，</a:t>
            </a:r>
            <a:r>
              <a:rPr lang="en-US" altLang="zh-CN" sz="2400" dirty="0">
                <a:latin typeface="微软雅黑" charset="0"/>
                <a:ea typeface="微软雅黑" charset="0"/>
                <a:cs typeface="微软雅黑" charset="0"/>
              </a:rPr>
              <a:t>2007</a:t>
            </a:r>
            <a:r>
              <a:rPr lang="zh-CN" sz="2400" dirty="0">
                <a:latin typeface="微软雅黑" charset="0"/>
                <a:ea typeface="微软雅黑" charset="0"/>
                <a:cs typeface="微软雅黑" charset="0"/>
              </a:rPr>
              <a:t>年</a:t>
            </a:r>
            <a:r>
              <a:rPr lang="zh-CN" altLang="en-US" sz="2400" dirty="0">
                <a:latin typeface="微软雅黑" charset="0"/>
                <a:ea typeface="微软雅黑" charset="0"/>
                <a:cs typeface="微软雅黑" charset="0"/>
              </a:rPr>
              <a:t>。</a:t>
            </a:r>
            <a:endParaRPr lang="en-US" altLang="zh-CN" sz="2400" dirty="0">
              <a:latin typeface="微软雅黑" charset="0"/>
              <a:ea typeface="微软雅黑" charset="0"/>
              <a:cs typeface="微软雅黑" charset="0"/>
            </a:endParaRPr>
          </a:p>
          <a:p>
            <a:pPr marL="514350" indent="-514350">
              <a:buFont typeface="Arial" charset="0"/>
              <a:buAutoNum type="arabicPeriod"/>
            </a:pPr>
            <a:r>
              <a:rPr lang="zh-CN" altLang="en-US" sz="2400" dirty="0">
                <a:latin typeface="微软雅黑" charset="0"/>
                <a:ea typeface="微软雅黑" charset="0"/>
                <a:cs typeface="微软雅黑" charset="0"/>
              </a:rPr>
              <a:t>最高法院示范性案例</a:t>
            </a:r>
            <a:r>
              <a:rPr lang="zh-CN" altLang="en-US" sz="2400" dirty="0">
                <a:latin typeface="微软雅黑" charset="0"/>
                <a:ea typeface="微软雅黑" charset="0"/>
                <a:cs typeface="微软雅黑" charset="0"/>
                <a:sym typeface="Wingdings" charset="0"/>
              </a:rPr>
              <a:t>：（</a:t>
            </a:r>
            <a:r>
              <a:rPr lang="zh-CN" sz="2400" b="1" dirty="0">
                <a:latin typeface="Arial" charset="0"/>
                <a:ea typeface="宋体" charset="0"/>
              </a:rPr>
              <a:t>《中国案例指导》</a:t>
            </a:r>
            <a:r>
              <a:rPr lang="zh-CN" altLang="en-US" sz="2400" b="1" dirty="0">
                <a:latin typeface="Arial" charset="0"/>
                <a:ea typeface="宋体" charset="0"/>
              </a:rPr>
              <a:t>、</a:t>
            </a:r>
            <a:r>
              <a:rPr lang="zh-CN" sz="2400" b="1" dirty="0">
                <a:latin typeface="Arial" charset="0"/>
                <a:ea typeface="宋体" charset="0"/>
              </a:rPr>
              <a:t>《最高人民法院公报》</a:t>
            </a:r>
            <a:r>
              <a:rPr lang="zh-CN" altLang="en-US" sz="2400" b="1" dirty="0">
                <a:latin typeface="Arial" charset="0"/>
                <a:ea typeface="宋体" charset="0"/>
              </a:rPr>
              <a:t>、</a:t>
            </a:r>
            <a:r>
              <a:rPr lang="zh-CN" sz="2400" b="1" dirty="0">
                <a:latin typeface="Arial" charset="0"/>
                <a:ea typeface="宋体" charset="0"/>
              </a:rPr>
              <a:t>《人民法院案例选》</a:t>
            </a:r>
            <a:r>
              <a:rPr lang="zh-CN" altLang="en-US" sz="2400" b="1" dirty="0">
                <a:latin typeface="Arial" charset="0"/>
                <a:ea typeface="宋体" charset="0"/>
              </a:rPr>
              <a:t>、</a:t>
            </a:r>
            <a:r>
              <a:rPr lang="zh-CN" sz="2400" b="1" dirty="0">
                <a:latin typeface="Arial" charset="0"/>
                <a:ea typeface="宋体" charset="0"/>
              </a:rPr>
              <a:t>《中国审判案例要览》</a:t>
            </a:r>
            <a:r>
              <a:rPr lang="zh-CN" altLang="en-US" sz="2400" b="1" dirty="0">
                <a:latin typeface="Arial" charset="0"/>
                <a:ea typeface="宋体" charset="0"/>
              </a:rPr>
              <a:t>、</a:t>
            </a:r>
            <a:r>
              <a:rPr lang="zh-CN" sz="2400" b="1" dirty="0">
                <a:latin typeface="Arial" charset="0"/>
                <a:ea typeface="宋体" charset="0"/>
              </a:rPr>
              <a:t>《人民法院裁判文书选》</a:t>
            </a:r>
            <a:r>
              <a:rPr lang="zh-CN" altLang="en-US" sz="2400" b="1" dirty="0">
                <a:latin typeface="Arial" charset="0"/>
                <a:ea typeface="宋体" charset="0"/>
              </a:rPr>
              <a:t>、最高法院网站、</a:t>
            </a:r>
            <a:r>
              <a:rPr lang="zh-CN" sz="2400" b="1" dirty="0">
                <a:latin typeface="Arial" charset="0"/>
                <a:ea typeface="宋体" charset="0"/>
              </a:rPr>
              <a:t>《刑事审判参考》</a:t>
            </a:r>
            <a:r>
              <a:rPr lang="zh-CN" altLang="en-US" sz="2400" b="1" dirty="0">
                <a:latin typeface="Arial" charset="0"/>
                <a:ea typeface="宋体" charset="0"/>
              </a:rPr>
              <a:t>等。</a:t>
            </a:r>
            <a:r>
              <a:rPr lang="zh-CN" altLang="en-US" sz="2400" dirty="0">
                <a:latin typeface="微软雅黑" charset="0"/>
                <a:ea typeface="微软雅黑" charset="0"/>
                <a:cs typeface="微软雅黑" charset="0"/>
                <a:sym typeface="Wingdings" charset="0"/>
              </a:rPr>
              <a:t>）</a:t>
            </a:r>
            <a:endParaRPr lang="zh-CN" sz="2400" dirty="0">
              <a:latin typeface="微软雅黑" charset="0"/>
              <a:ea typeface="微软雅黑" charset="0"/>
              <a:cs typeface="微软雅黑" charset="0"/>
            </a:endParaRPr>
          </a:p>
          <a:p>
            <a:pPr marL="514350" indent="-514350">
              <a:buFont typeface="Wingdings" charset="0"/>
              <a:buNone/>
            </a:pPr>
            <a:endParaRPr lang="zh-CN" altLang="en-US" dirty="0">
              <a:latin typeface="Arial" charset="0"/>
              <a:ea typeface="宋体" charset="0"/>
            </a:endParaRPr>
          </a:p>
        </p:txBody>
      </p:sp>
    </p:spTree>
    <p:extLst>
      <p:ext uri="{BB962C8B-B14F-4D97-AF65-F5344CB8AC3E}">
        <p14:creationId xmlns:p14="http://schemas.microsoft.com/office/powerpoint/2010/main" val="133459295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b="1">
                <a:latin typeface="Arial" charset="0"/>
                <a:ea typeface="宋体" charset="0"/>
              </a:rPr>
              <a:t>犯罪率</a:t>
            </a:r>
            <a:r>
              <a:rPr lang="zh-CN" altLang="en-US" b="1">
                <a:latin typeface="Arial" charset="0"/>
                <a:ea typeface="宋体" charset="0"/>
              </a:rPr>
              <a:t>的中国数据（十万分比）</a:t>
            </a:r>
            <a:endParaRPr lang="zh-CN" altLang="en-US">
              <a:latin typeface="Arial" charset="0"/>
              <a:ea typeface="宋体" charset="0"/>
            </a:endParaRPr>
          </a:p>
        </p:txBody>
      </p:sp>
      <p:graphicFrame>
        <p:nvGraphicFramePr>
          <p:cNvPr id="5" name="内容占位符 4"/>
          <p:cNvGraphicFramePr>
            <a:graphicFrameLocks noGrp="1"/>
          </p:cNvGraphicFramePr>
          <p:nvPr>
            <p:ph idx="1"/>
          </p:nvPr>
        </p:nvGraphicFramePr>
        <p:xfrm>
          <a:off x="214313" y="1571625"/>
          <a:ext cx="8715375" cy="5143500"/>
        </p:xfrm>
        <a:graphic>
          <a:graphicData uri="http://schemas.openxmlformats.org/drawingml/2006/table">
            <a:tbl>
              <a:tblPr/>
              <a:tblGrid>
                <a:gridCol w="1743075">
                  <a:extLst>
                    <a:ext uri="{9D8B030D-6E8A-4147-A177-3AD203B41FA5}">
                      <a16:colId xmlns:a16="http://schemas.microsoft.com/office/drawing/2014/main" val="20000"/>
                    </a:ext>
                  </a:extLst>
                </a:gridCol>
                <a:gridCol w="1743075">
                  <a:extLst>
                    <a:ext uri="{9D8B030D-6E8A-4147-A177-3AD203B41FA5}">
                      <a16:colId xmlns:a16="http://schemas.microsoft.com/office/drawing/2014/main" val="20001"/>
                    </a:ext>
                  </a:extLst>
                </a:gridCol>
                <a:gridCol w="1743075">
                  <a:extLst>
                    <a:ext uri="{9D8B030D-6E8A-4147-A177-3AD203B41FA5}">
                      <a16:colId xmlns:a16="http://schemas.microsoft.com/office/drawing/2014/main" val="20002"/>
                    </a:ext>
                  </a:extLst>
                </a:gridCol>
                <a:gridCol w="1743075">
                  <a:extLst>
                    <a:ext uri="{9D8B030D-6E8A-4147-A177-3AD203B41FA5}">
                      <a16:colId xmlns:a16="http://schemas.microsoft.com/office/drawing/2014/main" val="20003"/>
                    </a:ext>
                  </a:extLst>
                </a:gridCol>
                <a:gridCol w="1743075">
                  <a:extLst>
                    <a:ext uri="{9D8B030D-6E8A-4147-A177-3AD203B41FA5}">
                      <a16:colId xmlns:a16="http://schemas.microsoft.com/office/drawing/2014/main" val="20004"/>
                    </a:ext>
                  </a:extLst>
                </a:gridCol>
              </a:tblGrid>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000" b="1" i="0" u="none" strike="noStrike" cap="none" normalizeH="0" baseline="0">
                        <a:ln>
                          <a:noFill/>
                        </a:ln>
                        <a:solidFill>
                          <a:srgbClr val="000000"/>
                        </a:solidFill>
                        <a:effectLst/>
                        <a:latin typeface="Times New Roman"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altLang="en-US" sz="2000" b="1" i="0" u="none" strike="noStrike" cap="none" normalizeH="0" baseline="0">
                          <a:ln>
                            <a:noFill/>
                          </a:ln>
                          <a:solidFill>
                            <a:srgbClr val="000000"/>
                          </a:solidFill>
                          <a:effectLst/>
                          <a:latin typeface="Times New Roman" charset="0"/>
                          <a:ea typeface="宋体" charset="0"/>
                          <a:cs typeface="Arial" charset="0"/>
                        </a:rPr>
                        <a:t>年份</a:t>
                      </a:r>
                      <a:endParaRPr kumimoji="0" lang="zh-CN" altLang="en-US" sz="2000" b="1" i="0" u="none" strike="noStrike" cap="none" normalizeH="0" baseline="0">
                        <a:ln>
                          <a:noFill/>
                        </a:ln>
                        <a:solidFill>
                          <a:srgbClr val="FFFFFF"/>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000" b="1" i="0" u="none" strike="noStrike" cap="none" normalizeH="0" baseline="0">
                        <a:ln>
                          <a:noFill/>
                        </a:ln>
                        <a:solidFill>
                          <a:srgbClr val="000000"/>
                        </a:solidFill>
                        <a:effectLst/>
                        <a:latin typeface="Times New Roman"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altLang="en-US" sz="2000" b="1" i="0" u="none" strike="noStrike" cap="none" normalizeH="0" baseline="0">
                          <a:ln>
                            <a:noFill/>
                          </a:ln>
                          <a:solidFill>
                            <a:srgbClr val="000000"/>
                          </a:solidFill>
                          <a:effectLst/>
                          <a:latin typeface="Times New Roman" charset="0"/>
                          <a:ea typeface="宋体" charset="0"/>
                          <a:cs typeface="Arial" charset="0"/>
                        </a:rPr>
                        <a:t>毛被害率</a:t>
                      </a:r>
                      <a:endParaRPr kumimoji="0" lang="zh-CN" altLang="en-US" sz="2000" b="1" i="0" u="none" strike="noStrike" cap="none" normalizeH="0" baseline="0">
                        <a:ln>
                          <a:noFill/>
                        </a:ln>
                        <a:solidFill>
                          <a:srgbClr val="FFFFFF"/>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000" b="1" i="0" u="none" strike="noStrike" cap="none" normalizeH="0" baseline="0">
                        <a:ln>
                          <a:noFill/>
                        </a:ln>
                        <a:solidFill>
                          <a:srgbClr val="000000"/>
                        </a:solidFill>
                        <a:effectLst/>
                        <a:latin typeface="Times New Roman"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altLang="en-US" sz="2000" b="1" i="0" u="none" strike="noStrike" cap="none" normalizeH="0" baseline="0">
                          <a:ln>
                            <a:noFill/>
                          </a:ln>
                          <a:solidFill>
                            <a:srgbClr val="000000"/>
                          </a:solidFill>
                          <a:effectLst/>
                          <a:latin typeface="Times New Roman" charset="0"/>
                          <a:ea typeface="宋体" charset="0"/>
                          <a:cs typeface="Arial" charset="0"/>
                        </a:rPr>
                        <a:t>毛加害率</a:t>
                      </a:r>
                      <a:endParaRPr kumimoji="0" lang="zh-CN" altLang="en-US" sz="2000" b="1" i="0" u="none" strike="noStrike" cap="none" normalizeH="0" baseline="0">
                        <a:ln>
                          <a:noFill/>
                        </a:ln>
                        <a:solidFill>
                          <a:srgbClr val="FFFFFF"/>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000" b="1" i="0" u="none" strike="noStrike" cap="none" normalizeH="0" baseline="0">
                        <a:ln>
                          <a:noFill/>
                        </a:ln>
                        <a:solidFill>
                          <a:srgbClr val="000000"/>
                        </a:solidFill>
                        <a:effectLst/>
                        <a:latin typeface="Times New Roman"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altLang="en-US" sz="2000" b="1" i="0" u="none" strike="noStrike" cap="none" normalizeH="0" baseline="0">
                          <a:ln>
                            <a:noFill/>
                          </a:ln>
                          <a:solidFill>
                            <a:srgbClr val="000000"/>
                          </a:solidFill>
                          <a:effectLst/>
                          <a:latin typeface="Times New Roman" charset="0"/>
                          <a:ea typeface="宋体" charset="0"/>
                          <a:cs typeface="Arial" charset="0"/>
                        </a:rPr>
                        <a:t>重罪被害率</a:t>
                      </a:r>
                      <a:endParaRPr kumimoji="0" lang="zh-CN" altLang="en-US" sz="2000" b="1" i="0" u="none" strike="noStrike" cap="none" normalizeH="0" baseline="0">
                        <a:ln>
                          <a:noFill/>
                        </a:ln>
                        <a:solidFill>
                          <a:srgbClr val="FFFFFF"/>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000" b="1" i="0" u="none" strike="noStrike" cap="none" normalizeH="0" baseline="0">
                        <a:ln>
                          <a:noFill/>
                        </a:ln>
                        <a:solidFill>
                          <a:srgbClr val="000000"/>
                        </a:solidFill>
                        <a:effectLst/>
                        <a:latin typeface="Times New Roman"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altLang="en-US" sz="2000" b="1" i="0" u="none" strike="noStrike" cap="none" normalizeH="0" baseline="0">
                          <a:ln>
                            <a:noFill/>
                          </a:ln>
                          <a:solidFill>
                            <a:srgbClr val="000000"/>
                          </a:solidFill>
                          <a:effectLst/>
                          <a:latin typeface="Times New Roman" charset="0"/>
                          <a:ea typeface="宋体" charset="0"/>
                          <a:cs typeface="Arial" charset="0"/>
                        </a:rPr>
                        <a:t>重罪加害率</a:t>
                      </a:r>
                      <a:endParaRPr kumimoji="0" lang="zh-CN" altLang="en-US" sz="2000" b="1" i="0" u="none" strike="noStrike" cap="none" normalizeH="0" baseline="0">
                        <a:ln>
                          <a:noFill/>
                        </a:ln>
                        <a:solidFill>
                          <a:srgbClr val="FFFFFF"/>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Arial" charset="0"/>
                        </a:rPr>
                        <a:t>1988</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75.5</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105.8</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10.4</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14.5</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1"/>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Arial" charset="0"/>
                        </a:rPr>
                        <a:t>1989</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177.3</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244.3</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14.9</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20.5</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2"/>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Arial" charset="0"/>
                        </a:rPr>
                        <a:t>1990</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193.9</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271.2</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18.8</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26.3</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3"/>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4"/>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0" i="0" u="none" strike="noStrike" cap="none" normalizeH="0" baseline="0">
                          <a:ln>
                            <a:noFill/>
                          </a:ln>
                          <a:solidFill>
                            <a:srgbClr val="000000"/>
                          </a:solidFill>
                          <a:effectLst/>
                          <a:latin typeface="Times New Roman" charset="0"/>
                          <a:ea typeface="宋体" charset="0"/>
                          <a:cs typeface="Arial" charset="0"/>
                        </a:rPr>
                        <a:t>……</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5"/>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Arial" charset="0"/>
                        </a:rPr>
                        <a:t>2005</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355.5</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450.7</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11.5</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14.6</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6"/>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Arial" charset="0"/>
                        </a:rPr>
                        <a:t>2006</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354.0</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434.0</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11.7</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14.3</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7"/>
                  </a:ext>
                </a:extLst>
              </a:tr>
              <a:tr h="571500">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Arial" charset="0"/>
                        </a:rPr>
                        <a:t>2007</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363.9</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443.2</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11.5</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Arial" charset="0"/>
                        </a:rPr>
                        <a:t>14.0</a:t>
                      </a:r>
                      <a:endParaRPr kumimoji="0" lang="zh-CN" sz="1800" b="0" i="0" u="none" strike="noStrike" cap="none" normalizeH="0" baseline="0">
                        <a:ln>
                          <a:noFill/>
                        </a:ln>
                        <a:solidFill>
                          <a:srgbClr val="000000"/>
                        </a:solidFill>
                        <a:effectLst/>
                        <a:latin typeface="Times New Roman" charset="0"/>
                        <a:ea typeface="宋体" charset="0"/>
                        <a:cs typeface="宋体"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6082534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p:txBody>
          <a:bodyPr/>
          <a:lstStyle/>
          <a:p>
            <a:r>
              <a:rPr lang="zh-CN" b="1">
                <a:latin typeface="Arial" charset="0"/>
                <a:ea typeface="宋体" charset="0"/>
              </a:rPr>
              <a:t>犯罪率</a:t>
            </a:r>
            <a:r>
              <a:rPr lang="zh-CN" altLang="en-US" b="1">
                <a:latin typeface="Arial" charset="0"/>
                <a:ea typeface="宋体" charset="0"/>
              </a:rPr>
              <a:t>的中国数据（十万分比）</a:t>
            </a:r>
            <a:endParaRPr lang="zh-CN" altLang="en-US">
              <a:latin typeface="Arial" charset="0"/>
              <a:ea typeface="宋体" charset="0"/>
            </a:endParaRPr>
          </a:p>
        </p:txBody>
      </p:sp>
      <p:graphicFrame>
        <p:nvGraphicFramePr>
          <p:cNvPr id="1026" name="内容占位符 3"/>
          <p:cNvGraphicFramePr>
            <a:graphicFrameLocks noGrp="1" noChangeAspect="1"/>
          </p:cNvGraphicFramePr>
          <p:nvPr>
            <p:ph idx="1"/>
          </p:nvPr>
        </p:nvGraphicFramePr>
        <p:xfrm>
          <a:off x="571500" y="1285875"/>
          <a:ext cx="15263813" cy="5572125"/>
        </p:xfrm>
        <a:graphic>
          <a:graphicData uri="http://schemas.openxmlformats.org/presentationml/2006/ole">
            <mc:AlternateContent xmlns:mc="http://schemas.openxmlformats.org/markup-compatibility/2006">
              <mc:Choice xmlns:v="urn:schemas-microsoft-com:vml" Requires="v">
                <p:oleObj spid="_x0000_s11350" name="文档" r:id="rId3" imgW="5274753" imgH="2179518" progId="Word.Document.12">
                  <p:embed/>
                </p:oleObj>
              </mc:Choice>
              <mc:Fallback>
                <p:oleObj name="文档" r:id="rId3" imgW="5274753" imgH="2179518"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1285875"/>
                        <a:ext cx="15263813" cy="55721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81163057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pPr algn="ctr"/>
            <a:r>
              <a:rPr lang="zh-CN" altLang="en-US" sz="4000" b="1" dirty="0">
                <a:latin typeface="微软雅黑" charset="0"/>
                <a:ea typeface="微软雅黑" charset="0"/>
                <a:cs typeface="微软雅黑" charset="0"/>
              </a:rPr>
              <a:t>可见：</a:t>
            </a:r>
          </a:p>
        </p:txBody>
      </p:sp>
      <p:sp>
        <p:nvSpPr>
          <p:cNvPr id="19459" name="内容占位符 2"/>
          <p:cNvSpPr>
            <a:spLocks noGrp="1"/>
          </p:cNvSpPr>
          <p:nvPr>
            <p:ph idx="1"/>
          </p:nvPr>
        </p:nvSpPr>
        <p:spPr/>
        <p:txBody>
          <a:bodyPr/>
          <a:lstStyle/>
          <a:p>
            <a:r>
              <a:rPr lang="zh-CN" sz="2800" b="1" dirty="0">
                <a:latin typeface="华文楷体" charset="0"/>
                <a:ea typeface="华文楷体" charset="0"/>
                <a:cs typeface="华文楷体" charset="0"/>
              </a:rPr>
              <a:t>全国犯罪率</a:t>
            </a:r>
            <a:r>
              <a:rPr lang="zh-CN" altLang="en-US" sz="2800" b="1" dirty="0">
                <a:latin typeface="华文楷体" charset="0"/>
                <a:ea typeface="华文楷体" charset="0"/>
                <a:cs typeface="华文楷体" charset="0"/>
              </a:rPr>
              <a:t>呈</a:t>
            </a:r>
            <a:r>
              <a:rPr lang="zh-CN" sz="2800" b="1" dirty="0">
                <a:latin typeface="华文楷体" charset="0"/>
                <a:ea typeface="华文楷体" charset="0"/>
                <a:cs typeface="华文楷体" charset="0"/>
              </a:rPr>
              <a:t>上升趋势，</a:t>
            </a:r>
            <a:r>
              <a:rPr lang="en-US" altLang="zh-CN" sz="2800" b="1" dirty="0">
                <a:latin typeface="华文楷体" charset="0"/>
                <a:ea typeface="华文楷体" charset="0"/>
                <a:cs typeface="华文楷体" charset="0"/>
              </a:rPr>
              <a:t>20</a:t>
            </a:r>
            <a:r>
              <a:rPr lang="zh-CN" altLang="en-US" sz="2800" b="1" dirty="0">
                <a:latin typeface="华文楷体" charset="0"/>
                <a:ea typeface="华文楷体" charset="0"/>
                <a:cs typeface="华文楷体" charset="0"/>
              </a:rPr>
              <a:t>年翻了</a:t>
            </a:r>
            <a:r>
              <a:rPr lang="en-US" altLang="zh-CN" sz="2800" b="1" dirty="0">
                <a:latin typeface="华文楷体" charset="0"/>
                <a:ea typeface="华文楷体" charset="0"/>
                <a:cs typeface="华文楷体" charset="0"/>
              </a:rPr>
              <a:t>4.8</a:t>
            </a:r>
            <a:r>
              <a:rPr lang="zh-CN" sz="2800" b="1" dirty="0">
                <a:latin typeface="华文楷体" charset="0"/>
                <a:ea typeface="华文楷体" charset="0"/>
                <a:cs typeface="华文楷体" charset="0"/>
              </a:rPr>
              <a:t>倍。</a:t>
            </a:r>
            <a:endParaRPr lang="en-US" altLang="zh-CN" sz="2800" b="1" dirty="0">
              <a:latin typeface="华文楷体" charset="0"/>
              <a:ea typeface="华文楷体" charset="0"/>
              <a:cs typeface="华文楷体" charset="0"/>
            </a:endParaRPr>
          </a:p>
          <a:p>
            <a:r>
              <a:rPr lang="zh-CN" sz="2800" b="1" dirty="0">
                <a:latin typeface="华文楷体" charset="0"/>
                <a:ea typeface="华文楷体" charset="0"/>
                <a:cs typeface="华文楷体" charset="0"/>
              </a:rPr>
              <a:t>不应一般地说犯罪问题趋于严重或者轻缓，仅</a:t>
            </a:r>
            <a:r>
              <a:rPr lang="zh-CN" altLang="en-US" sz="2800" b="1" dirty="0">
                <a:latin typeface="华文楷体" charset="0"/>
                <a:ea typeface="华文楷体" charset="0"/>
                <a:cs typeface="华文楷体" charset="0"/>
              </a:rPr>
              <a:t>根据</a:t>
            </a:r>
            <a:r>
              <a:rPr lang="zh-CN" sz="2800" b="1" dirty="0">
                <a:latin typeface="华文楷体" charset="0"/>
                <a:ea typeface="华文楷体" charset="0"/>
                <a:cs typeface="华文楷体" charset="0"/>
              </a:rPr>
              <a:t>毛犯罪率上升便加大刑罚</a:t>
            </a:r>
            <a:r>
              <a:rPr lang="zh-CN" altLang="en-US" sz="2800" b="1" dirty="0">
                <a:latin typeface="华文楷体" charset="0"/>
                <a:ea typeface="华文楷体" charset="0"/>
                <a:cs typeface="华文楷体" charset="0"/>
              </a:rPr>
              <a:t>力度</a:t>
            </a:r>
            <a:r>
              <a:rPr lang="zh-CN" sz="2800" b="1" dirty="0">
                <a:latin typeface="华文楷体" charset="0"/>
                <a:ea typeface="华文楷体" charset="0"/>
                <a:cs typeface="华文楷体" charset="0"/>
              </a:rPr>
              <a:t>，或者仅根据重罪率下降便放松犯罪控制，都可能误导刑罚适用的宽严导向。</a:t>
            </a:r>
            <a:endParaRPr lang="en-US" altLang="zh-CN" sz="2800" b="1" dirty="0">
              <a:latin typeface="华文楷体" charset="0"/>
              <a:ea typeface="华文楷体" charset="0"/>
              <a:cs typeface="华文楷体" charset="0"/>
            </a:endParaRPr>
          </a:p>
          <a:p>
            <a:r>
              <a:rPr lang="zh-CN" altLang="en-US" sz="2800" b="1" dirty="0">
                <a:latin typeface="华文楷体" charset="0"/>
                <a:ea typeface="华文楷体" charset="0"/>
                <a:cs typeface="华文楷体" charset="0"/>
              </a:rPr>
              <a:t>还要进一步回答：中国犯罪率为什么会上升？</a:t>
            </a:r>
          </a:p>
        </p:txBody>
      </p:sp>
    </p:spTree>
    <p:extLst>
      <p:ext uri="{BB962C8B-B14F-4D97-AF65-F5344CB8AC3E}">
        <p14:creationId xmlns:p14="http://schemas.microsoft.com/office/powerpoint/2010/main" val="190173437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pPr algn="ctr"/>
            <a:r>
              <a:rPr lang="zh-CN" sz="4000" b="1" dirty="0">
                <a:latin typeface="微软雅黑" charset="0"/>
                <a:ea typeface="微软雅黑" charset="0"/>
                <a:cs typeface="微软雅黑" charset="0"/>
              </a:rPr>
              <a:t>犯罪的社会归因</a:t>
            </a:r>
            <a:endParaRPr lang="zh-CN" altLang="en-US" sz="4000" dirty="0">
              <a:latin typeface="微软雅黑" charset="0"/>
              <a:ea typeface="微软雅黑" charset="0"/>
              <a:cs typeface="微软雅黑" charset="0"/>
            </a:endParaRPr>
          </a:p>
        </p:txBody>
      </p:sp>
      <p:sp>
        <p:nvSpPr>
          <p:cNvPr id="20483" name="内容占位符 2"/>
          <p:cNvSpPr>
            <a:spLocks noGrp="1"/>
          </p:cNvSpPr>
          <p:nvPr>
            <p:ph idx="1"/>
          </p:nvPr>
        </p:nvSpPr>
        <p:spPr/>
        <p:txBody>
          <a:bodyPr/>
          <a:lstStyle/>
          <a:p>
            <a:r>
              <a:rPr lang="zh-CN" altLang="en-US" sz="3200" b="1" dirty="0">
                <a:latin typeface="华文楷体" charset="0"/>
                <a:ea typeface="华文楷体" charset="0"/>
                <a:cs typeface="华文楷体" charset="0"/>
              </a:rPr>
              <a:t>同步论、代价论、反比论、无关论</a:t>
            </a:r>
            <a:r>
              <a:rPr lang="en-US" altLang="zh-CN" sz="3200" b="1" dirty="0">
                <a:latin typeface="华文楷体" charset="0"/>
                <a:ea typeface="华文楷体" charset="0"/>
                <a:cs typeface="华文楷体" charset="0"/>
              </a:rPr>
              <a:t>……</a:t>
            </a:r>
          </a:p>
          <a:p>
            <a:r>
              <a:rPr lang="zh-CN" sz="3200" b="1" dirty="0">
                <a:latin typeface="华文楷体" charset="0"/>
                <a:ea typeface="华文楷体" charset="0"/>
                <a:cs typeface="华文楷体" charset="0"/>
              </a:rPr>
              <a:t>人们到底</a:t>
            </a:r>
            <a:r>
              <a:rPr lang="zh-CN" altLang="en-US" sz="3200" b="1" dirty="0">
                <a:latin typeface="华文楷体" charset="0"/>
                <a:ea typeface="华文楷体" charset="0"/>
                <a:cs typeface="华文楷体" charset="0"/>
              </a:rPr>
              <a:t>因为穷</a:t>
            </a:r>
            <a:r>
              <a:rPr lang="zh-CN" sz="3200" b="1" dirty="0">
                <a:latin typeface="华文楷体" charset="0"/>
                <a:ea typeface="华文楷体" charset="0"/>
                <a:cs typeface="华文楷体" charset="0"/>
              </a:rPr>
              <a:t>而犯罪，还是因</a:t>
            </a:r>
            <a:r>
              <a:rPr lang="zh-CN" altLang="en-US" sz="3200" b="1" dirty="0">
                <a:latin typeface="华文楷体" charset="0"/>
                <a:ea typeface="华文楷体" charset="0"/>
                <a:cs typeface="华文楷体" charset="0"/>
              </a:rPr>
              <a:t>为</a:t>
            </a:r>
            <a:r>
              <a:rPr lang="zh-CN" sz="3200" b="1" dirty="0">
                <a:latin typeface="华文楷体" charset="0"/>
                <a:ea typeface="华文楷体" charset="0"/>
                <a:cs typeface="华文楷体" charset="0"/>
              </a:rPr>
              <a:t>富而犯罪？</a:t>
            </a:r>
            <a:endParaRPr lang="en-US" altLang="zh-CN" sz="3200" b="1" dirty="0">
              <a:latin typeface="华文楷体" charset="0"/>
              <a:ea typeface="华文楷体" charset="0"/>
              <a:cs typeface="华文楷体" charset="0"/>
            </a:endParaRPr>
          </a:p>
          <a:p>
            <a:r>
              <a:rPr lang="zh-CN" sz="3200" b="1" dirty="0">
                <a:latin typeface="华文楷体" charset="0"/>
                <a:ea typeface="华文楷体" charset="0"/>
                <a:cs typeface="华文楷体" charset="0"/>
              </a:rPr>
              <a:t>如果</a:t>
            </a:r>
            <a:r>
              <a:rPr lang="zh-CN" altLang="en-US" sz="3200" b="1" dirty="0">
                <a:latin typeface="华文楷体" charset="0"/>
                <a:ea typeface="华文楷体" charset="0"/>
                <a:cs typeface="华文楷体" charset="0"/>
              </a:rPr>
              <a:t>盗贼生于贫困</a:t>
            </a:r>
            <a:r>
              <a:rPr lang="zh-CN" sz="3200" b="1" dirty="0">
                <a:latin typeface="华文楷体" charset="0"/>
                <a:ea typeface="华文楷体" charset="0"/>
                <a:cs typeface="华文楷体" charset="0"/>
              </a:rPr>
              <a:t>，</a:t>
            </a:r>
            <a:r>
              <a:rPr lang="zh-CN" altLang="en-US" sz="3200" b="1" dirty="0">
                <a:latin typeface="华文楷体" charset="0"/>
                <a:ea typeface="华文楷体" charset="0"/>
                <a:cs typeface="华文楷体" charset="0"/>
              </a:rPr>
              <a:t>则</a:t>
            </a:r>
            <a:r>
              <a:rPr lang="zh-CN" sz="3200" b="1" dirty="0">
                <a:latin typeface="华文楷体" charset="0"/>
                <a:ea typeface="华文楷体" charset="0"/>
                <a:cs typeface="华文楷体" charset="0"/>
              </a:rPr>
              <a:t>犯罪与经济发展之间就应当呈反比关系</a:t>
            </a:r>
            <a:r>
              <a:rPr lang="zh-CN" altLang="en-US" sz="3200" b="1" dirty="0">
                <a:latin typeface="华文楷体" charset="0"/>
                <a:ea typeface="华文楷体" charset="0"/>
                <a:cs typeface="华文楷体" charset="0"/>
              </a:rPr>
              <a:t>；</a:t>
            </a:r>
            <a:r>
              <a:rPr lang="zh-CN" sz="3200" b="1" dirty="0">
                <a:latin typeface="华文楷体" charset="0"/>
                <a:ea typeface="华文楷体" charset="0"/>
                <a:cs typeface="华文楷体" charset="0"/>
              </a:rPr>
              <a:t>反之，如果富可生贪，而贫却不能移志，</a:t>
            </a:r>
            <a:r>
              <a:rPr lang="zh-CN" altLang="en-US" sz="3200" b="1" dirty="0">
                <a:latin typeface="华文楷体" charset="0"/>
                <a:ea typeface="华文楷体" charset="0"/>
                <a:cs typeface="华文楷体" charset="0"/>
              </a:rPr>
              <a:t>则</a:t>
            </a:r>
            <a:r>
              <a:rPr lang="zh-CN" sz="3200" b="1" dirty="0">
                <a:latin typeface="华文楷体" charset="0"/>
                <a:ea typeface="华文楷体" charset="0"/>
                <a:cs typeface="华文楷体" charset="0"/>
              </a:rPr>
              <a:t>犯罪与经济发展之间就应当呈正比关系。</a:t>
            </a:r>
            <a:endParaRPr lang="en-US" altLang="zh-CN" sz="3200" b="1" dirty="0">
              <a:latin typeface="华文楷体" charset="0"/>
              <a:ea typeface="华文楷体" charset="0"/>
              <a:cs typeface="华文楷体" charset="0"/>
            </a:endParaRPr>
          </a:p>
          <a:p>
            <a:endParaRPr lang="zh-CN" dirty="0">
              <a:latin typeface="Arial" charset="0"/>
              <a:ea typeface="宋体" charset="0"/>
            </a:endParaRPr>
          </a:p>
          <a:p>
            <a:endParaRPr lang="zh-CN" altLang="en-US" dirty="0">
              <a:latin typeface="Arial" charset="0"/>
              <a:ea typeface="宋体" charset="0"/>
            </a:endParaRPr>
          </a:p>
        </p:txBody>
      </p:sp>
    </p:spTree>
    <p:extLst>
      <p:ext uri="{BB962C8B-B14F-4D97-AF65-F5344CB8AC3E}">
        <p14:creationId xmlns:p14="http://schemas.microsoft.com/office/powerpoint/2010/main" val="244343532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107504" y="188640"/>
            <a:ext cx="7170737" cy="492125"/>
          </a:xfrm>
        </p:spPr>
        <p:txBody>
          <a:bodyPr/>
          <a:lstStyle/>
          <a:p>
            <a:pPr algn="ctr"/>
            <a:r>
              <a:rPr lang="zh-CN" altLang="en-US" sz="4400" dirty="0">
                <a:latin typeface="华文琥珀" charset="0"/>
                <a:ea typeface="华文琥珀" charset="0"/>
                <a:cs typeface="华文琥珀" charset="0"/>
              </a:rPr>
              <a:t>检验策略</a:t>
            </a:r>
          </a:p>
        </p:txBody>
      </p:sp>
      <p:sp>
        <p:nvSpPr>
          <p:cNvPr id="3" name="内容占位符 2"/>
          <p:cNvSpPr>
            <a:spLocks noGrp="1"/>
          </p:cNvSpPr>
          <p:nvPr>
            <p:ph idx="1"/>
          </p:nvPr>
        </p:nvSpPr>
        <p:spPr/>
        <p:txBody>
          <a:bodyPr/>
          <a:lstStyle/>
          <a:p>
            <a:r>
              <a:rPr lang="zh-CN" altLang="en-US" sz="4000" b="1" dirty="0">
                <a:latin typeface="宋体" charset="0"/>
                <a:ea typeface="宋体" charset="0"/>
              </a:rPr>
              <a:t>时空数据相互验证：</a:t>
            </a:r>
            <a:r>
              <a:rPr lang="en-US" altLang="zh-CN" sz="2800" b="1" dirty="0">
                <a:latin typeface="宋体" charset="0"/>
                <a:ea typeface="宋体" charset="0"/>
              </a:rPr>
              <a:t>20</a:t>
            </a:r>
            <a:r>
              <a:rPr lang="zh-CN" altLang="en-US" sz="2800" b="1" dirty="0">
                <a:latin typeface="宋体" charset="0"/>
                <a:ea typeface="宋体" charset="0"/>
              </a:rPr>
              <a:t>年全国犯罪率与</a:t>
            </a:r>
            <a:r>
              <a:rPr lang="en-US" altLang="zh-CN" sz="2800" b="1" dirty="0">
                <a:latin typeface="宋体" charset="0"/>
                <a:ea typeface="宋体" charset="0"/>
              </a:rPr>
              <a:t>GDP</a:t>
            </a:r>
            <a:r>
              <a:rPr lang="zh-CN" altLang="en-US" sz="2800" b="1" dirty="0">
                <a:latin typeface="宋体" charset="0"/>
                <a:ea typeface="宋体" charset="0"/>
              </a:rPr>
              <a:t>等数据的相关与回归，同时，三个时点全国</a:t>
            </a:r>
            <a:r>
              <a:rPr lang="en-US" altLang="zh-CN" sz="2800" b="1" dirty="0">
                <a:latin typeface="宋体" charset="0"/>
                <a:ea typeface="宋体" charset="0"/>
              </a:rPr>
              <a:t>31</a:t>
            </a:r>
            <a:r>
              <a:rPr lang="zh-CN" altLang="en-US" sz="2800" b="1" dirty="0">
                <a:latin typeface="宋体" charset="0"/>
                <a:ea typeface="宋体" charset="0"/>
              </a:rPr>
              <a:t>省市犯罪率与</a:t>
            </a:r>
            <a:r>
              <a:rPr lang="en-US" altLang="zh-CN" sz="2800" b="1" dirty="0">
                <a:latin typeface="宋体" charset="0"/>
                <a:ea typeface="宋体" charset="0"/>
              </a:rPr>
              <a:t>GDP</a:t>
            </a:r>
            <a:r>
              <a:rPr lang="zh-CN" altLang="en-US" sz="2800" b="1" dirty="0">
                <a:latin typeface="宋体" charset="0"/>
                <a:ea typeface="宋体" charset="0"/>
              </a:rPr>
              <a:t>的相关与回归</a:t>
            </a:r>
            <a:r>
              <a:rPr lang="en-US" altLang="zh-CN" sz="2800" b="1" dirty="0">
                <a:latin typeface="宋体" charset="0"/>
                <a:ea typeface="宋体" charset="0"/>
              </a:rPr>
              <a:t>——</a:t>
            </a:r>
            <a:r>
              <a:rPr lang="zh-CN" altLang="en-US" sz="2800" b="1" dirty="0">
                <a:latin typeface="宋体" charset="0"/>
                <a:ea typeface="宋体" charset="0"/>
              </a:rPr>
              <a:t>只接受相互验证率较高的结论。</a:t>
            </a:r>
            <a:endParaRPr lang="en-US" altLang="zh-CN" sz="2800" b="1" dirty="0">
              <a:latin typeface="宋体" charset="0"/>
              <a:ea typeface="宋体" charset="0"/>
            </a:endParaRPr>
          </a:p>
          <a:p>
            <a:r>
              <a:rPr lang="zh-CN" altLang="en-US" sz="4000" b="1" dirty="0">
                <a:latin typeface="宋体" charset="0"/>
                <a:ea typeface="宋体" charset="0"/>
              </a:rPr>
              <a:t>多元分析：</a:t>
            </a:r>
            <a:r>
              <a:rPr lang="zh-CN" sz="2800" b="1" dirty="0">
                <a:latin typeface="宋体" charset="0"/>
                <a:ea typeface="宋体" charset="0"/>
              </a:rPr>
              <a:t>人均</a:t>
            </a:r>
            <a:r>
              <a:rPr lang="en-US" altLang="zh-CN" sz="2800" b="1" dirty="0">
                <a:latin typeface="宋体" charset="0"/>
                <a:ea typeface="宋体" charset="0"/>
              </a:rPr>
              <a:t>GDP</a:t>
            </a:r>
            <a:r>
              <a:rPr lang="zh-CN" sz="2800" b="1" dirty="0">
                <a:latin typeface="宋体" charset="0"/>
                <a:ea typeface="宋体" charset="0"/>
              </a:rPr>
              <a:t>，城镇人口率，人口密度，职工平均工资</a:t>
            </a:r>
            <a:r>
              <a:rPr lang="zh-CN" altLang="en-US" sz="2800" b="1" dirty="0">
                <a:latin typeface="宋体" charset="0"/>
                <a:ea typeface="宋体" charset="0"/>
              </a:rPr>
              <a:t>，</a:t>
            </a:r>
            <a:r>
              <a:rPr lang="zh-CN" sz="2800" b="1" dirty="0">
                <a:latin typeface="宋体" charset="0"/>
                <a:ea typeface="宋体" charset="0"/>
              </a:rPr>
              <a:t>城镇居民年人均收入</a:t>
            </a:r>
            <a:r>
              <a:rPr lang="zh-CN" altLang="en-US" sz="2800" b="1" dirty="0">
                <a:latin typeface="宋体" charset="0"/>
                <a:ea typeface="宋体" charset="0"/>
              </a:rPr>
              <a:t>，</a:t>
            </a:r>
            <a:r>
              <a:rPr lang="zh-CN" sz="2800" b="1" dirty="0">
                <a:latin typeface="宋体" charset="0"/>
                <a:ea typeface="宋体" charset="0"/>
              </a:rPr>
              <a:t>农村居民年人均收入</a:t>
            </a:r>
            <a:r>
              <a:rPr lang="zh-CN" altLang="en-US" sz="2800" b="1" dirty="0">
                <a:latin typeface="宋体" charset="0"/>
                <a:ea typeface="宋体" charset="0"/>
              </a:rPr>
              <a:t>，</a:t>
            </a:r>
            <a:r>
              <a:rPr lang="zh-CN" sz="2800" b="1" dirty="0">
                <a:latin typeface="宋体" charset="0"/>
                <a:ea typeface="宋体" charset="0"/>
              </a:rPr>
              <a:t>恩格尔系数</a:t>
            </a:r>
            <a:r>
              <a:rPr lang="zh-CN" altLang="en-US" sz="2800" b="1" dirty="0">
                <a:latin typeface="宋体" charset="0"/>
                <a:ea typeface="宋体" charset="0"/>
              </a:rPr>
              <a:t>，</a:t>
            </a:r>
            <a:r>
              <a:rPr lang="zh-CN" sz="2800" b="1" dirty="0">
                <a:latin typeface="宋体" charset="0"/>
                <a:ea typeface="宋体" charset="0"/>
              </a:rPr>
              <a:t>人口自然增长率，城乡消费水平比，</a:t>
            </a:r>
            <a:r>
              <a:rPr lang="zh-CN" altLang="en-US" sz="2800" b="1" dirty="0">
                <a:latin typeface="宋体" charset="0"/>
                <a:ea typeface="宋体" charset="0"/>
              </a:rPr>
              <a:t>人均卫生机构数，离婚率，刑法修订。</a:t>
            </a:r>
          </a:p>
        </p:txBody>
      </p:sp>
    </p:spTree>
    <p:extLst>
      <p:ext uri="{BB962C8B-B14F-4D97-AF65-F5344CB8AC3E}">
        <p14:creationId xmlns:p14="http://schemas.microsoft.com/office/powerpoint/2010/main" val="112821919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endParaRPr lang="zh-CN" altLang="en-US">
              <a:latin typeface="Arial" charset="0"/>
              <a:ea typeface="宋体" charset="0"/>
            </a:endParaRPr>
          </a:p>
        </p:txBody>
      </p:sp>
      <p:graphicFrame>
        <p:nvGraphicFramePr>
          <p:cNvPr id="4" name="内容占位符 3"/>
          <p:cNvGraphicFramePr>
            <a:graphicFrameLocks noGrp="1"/>
          </p:cNvGraphicFramePr>
          <p:nvPr>
            <p:ph idx="1"/>
          </p:nvPr>
        </p:nvGraphicFramePr>
        <p:xfrm>
          <a:off x="0" y="0"/>
          <a:ext cx="9144000" cy="6802755"/>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485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rgbClr val="FFFFFF"/>
                          </a:solidFill>
                          <a:effectLst/>
                          <a:latin typeface="黑体" charset="0"/>
                          <a:ea typeface="黑体" charset="0"/>
                          <a:cs typeface="Times New Roman" charset="0"/>
                        </a:rPr>
                        <a:t>与犯罪率相关的因素</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黑体" charset="0"/>
                          <a:ea typeface="黑体" charset="0"/>
                          <a:cs typeface="Times New Roman" charset="0"/>
                        </a:rPr>
                        <a:t>1988-2007</a:t>
                      </a:r>
                      <a:r>
                        <a:rPr kumimoji="0" lang="zh-CN" altLang="en-US" sz="1600" b="1" i="0" u="none" strike="noStrike" cap="none" normalizeH="0" baseline="0">
                          <a:ln>
                            <a:noFill/>
                          </a:ln>
                          <a:solidFill>
                            <a:srgbClr val="FFFFFF"/>
                          </a:solidFill>
                          <a:effectLst/>
                          <a:latin typeface="黑体" charset="0"/>
                          <a:ea typeface="黑体" charset="0"/>
                          <a:cs typeface="Times New Roman" charset="0"/>
                        </a:rPr>
                        <a:t>年全国</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黑体" charset="0"/>
                          <a:ea typeface="黑体" charset="0"/>
                          <a:cs typeface="Times New Roman" charset="0"/>
                        </a:rPr>
                        <a:t>1998</a:t>
                      </a:r>
                      <a:r>
                        <a:rPr kumimoji="0" lang="zh-CN" altLang="en-US" sz="1600" b="1" i="0" u="none" strike="noStrike" cap="none" normalizeH="0" baseline="0">
                          <a:ln>
                            <a:noFill/>
                          </a:ln>
                          <a:solidFill>
                            <a:srgbClr val="FFFFFF"/>
                          </a:solidFill>
                          <a:effectLst/>
                          <a:latin typeface="黑体" charset="0"/>
                          <a:ea typeface="黑体" charset="0"/>
                          <a:cs typeface="Times New Roman" charset="0"/>
                        </a:rPr>
                        <a:t>年各地区</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黑体" charset="0"/>
                          <a:ea typeface="黑体" charset="0"/>
                          <a:cs typeface="Times New Roman" charset="0"/>
                        </a:rPr>
                        <a:t>2003</a:t>
                      </a:r>
                      <a:r>
                        <a:rPr kumimoji="0" lang="zh-CN" altLang="en-US" sz="1600" b="1" i="0" u="none" strike="noStrike" cap="none" normalizeH="0" baseline="0">
                          <a:ln>
                            <a:noFill/>
                          </a:ln>
                          <a:solidFill>
                            <a:srgbClr val="FFFFFF"/>
                          </a:solidFill>
                          <a:effectLst/>
                          <a:latin typeface="黑体" charset="0"/>
                          <a:ea typeface="黑体" charset="0"/>
                          <a:cs typeface="Times New Roman" charset="0"/>
                        </a:rPr>
                        <a:t>年各地区</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FFFFFF"/>
                          </a:solidFill>
                          <a:effectLst/>
                          <a:latin typeface="黑体" charset="0"/>
                          <a:ea typeface="黑体" charset="0"/>
                          <a:cs typeface="Times New Roman" charset="0"/>
                        </a:rPr>
                        <a:t>2007</a:t>
                      </a:r>
                      <a:r>
                        <a:rPr kumimoji="0" lang="zh-CN" altLang="en-US" sz="1600" b="1" i="0" u="none" strike="noStrike" cap="none" normalizeH="0" baseline="0">
                          <a:ln>
                            <a:noFill/>
                          </a:ln>
                          <a:solidFill>
                            <a:srgbClr val="FFFFFF"/>
                          </a:solidFill>
                          <a:effectLst/>
                          <a:latin typeface="黑体" charset="0"/>
                          <a:ea typeface="黑体" charset="0"/>
                          <a:cs typeface="Times New Roman" charset="0"/>
                        </a:rPr>
                        <a:t>年各地区</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rgbClr val="FFFFFF"/>
                          </a:solidFill>
                          <a:effectLst/>
                          <a:latin typeface="黑体" charset="0"/>
                          <a:ea typeface="黑体" charset="0"/>
                          <a:cs typeface="Times New Roman" charset="0"/>
                        </a:rPr>
                        <a:t>归纳</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人均</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GDP</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0.825</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0.839</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0.708</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0.764</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1"/>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城镇人口率</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0.436</a:t>
                      </a:r>
                      <a:r>
                        <a:rPr kumimoji="0" lang="en-US" altLang="zh-CN" sz="1400" b="1" i="0" u="none" strike="noStrike" cap="none" normalizeH="0" baseline="0">
                          <a:ln>
                            <a:noFill/>
                          </a:ln>
                          <a:solidFill>
                            <a:srgbClr val="000000"/>
                          </a:solidFill>
                          <a:effectLst/>
                          <a:latin typeface="宋体" charset="0"/>
                          <a:ea typeface="宋体" charset="0"/>
                          <a:cs typeface="Times New Roman" charset="0"/>
                          <a:sym typeface="Symbol" charset="0"/>
                        </a:rPr>
                        <a:t></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0.721</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0.448</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0.713</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2"/>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人口密度</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0.794</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0.653</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0.476</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0.626</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3"/>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职工平均工资</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0.853</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0.763</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0.540</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0.551</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4"/>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城镇居民年人均收入</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0.831</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0.726</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0.767</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0.842</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5"/>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农村居民年人均收入</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0.790</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0.804</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0.758</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0.834</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6"/>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农村家庭恩格尔系数</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0.928</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0.554</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0.441</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0.363</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7"/>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城乡收入比</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0.807</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0.352</a:t>
                      </a:r>
                      <a:r>
                        <a:rPr kumimoji="0" lang="en-US" altLang="zh-CN" sz="1400" b="1" i="0" u="none" strike="noStrike" cap="none" normalizeH="0" baseline="0">
                          <a:ln>
                            <a:noFill/>
                          </a:ln>
                          <a:solidFill>
                            <a:srgbClr val="000000"/>
                          </a:solidFill>
                          <a:effectLst/>
                          <a:latin typeface="宋体" charset="0"/>
                          <a:ea typeface="宋体" charset="0"/>
                          <a:cs typeface="Times New Roman" charset="0"/>
                          <a:sym typeface="Symbol" charset="0"/>
                        </a:rPr>
                        <a:t></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0.448</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0.521</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8"/>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城乡消费水平比</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0.501</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0.346</a:t>
                      </a:r>
                      <a:r>
                        <a:rPr kumimoji="0" lang="en-US" altLang="zh-CN" sz="1400" b="1" i="0" u="none" strike="noStrike" cap="none" normalizeH="0" baseline="0">
                          <a:ln>
                            <a:noFill/>
                          </a:ln>
                          <a:solidFill>
                            <a:srgbClr val="000000"/>
                          </a:solidFill>
                          <a:effectLst/>
                          <a:latin typeface="宋体" charset="0"/>
                          <a:ea typeface="宋体" charset="0"/>
                          <a:cs typeface="Times New Roman" charset="0"/>
                          <a:sym typeface="Symbol" charset="0"/>
                        </a:rPr>
                        <a:t></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0.432</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0.506</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9"/>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人口自然增长率</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0.823</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0.630</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10"/>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城镇家庭恩格尔系数</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400" b="1" i="0" u="none" strike="noStrike" cap="none" normalizeH="0" baseline="0">
                          <a:ln>
                            <a:noFill/>
                          </a:ln>
                          <a:solidFill>
                            <a:srgbClr val="000000"/>
                          </a:solidFill>
                          <a:effectLst/>
                          <a:latin typeface="Times New Roman" charset="0"/>
                          <a:ea typeface="宋体" charset="0"/>
                          <a:cs typeface="Times New Roman" charset="0"/>
                        </a:rPr>
                        <a:t>0.867</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11"/>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卫生机构数</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0.596</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12"/>
                  </a:ext>
                </a:extLst>
              </a:tr>
              <a:tr h="4857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离婚数</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000000"/>
                          </a:solidFill>
                          <a:effectLst/>
                          <a:latin typeface="宋体" charset="0"/>
                          <a:ea typeface="宋体" charset="0"/>
                          <a:cs typeface="Times New Roman" charset="0"/>
                        </a:rPr>
                        <a:t>0.772</a:t>
                      </a:r>
                      <a:endParaRPr kumimoji="0" lang="zh-CN" sz="1400" b="1"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13755391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algn="ctr"/>
            <a:r>
              <a:rPr lang="zh-CN" altLang="en-US" sz="4000" dirty="0">
                <a:latin typeface="华文琥珀" charset="0"/>
                <a:ea typeface="华文琥珀" charset="0"/>
                <a:cs typeface="华文琥珀" charset="0"/>
              </a:rPr>
              <a:t>多元回归结果</a:t>
            </a:r>
          </a:p>
        </p:txBody>
      </p:sp>
      <p:graphicFrame>
        <p:nvGraphicFramePr>
          <p:cNvPr id="4" name="内容占位符 3"/>
          <p:cNvGraphicFramePr>
            <a:graphicFrameLocks noGrp="1"/>
          </p:cNvGraphicFramePr>
          <p:nvPr>
            <p:ph idx="1"/>
          </p:nvPr>
        </p:nvGraphicFramePr>
        <p:xfrm>
          <a:off x="0" y="1643063"/>
          <a:ext cx="9144000" cy="49580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81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FFFFFF"/>
                          </a:solidFill>
                          <a:effectLst/>
                          <a:latin typeface="Times New Roman" charset="0"/>
                          <a:ea typeface="宋体" charset="0"/>
                          <a:cs typeface="Times New Roman" charset="0"/>
                        </a:rPr>
                        <a:t>因变量</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FFFFFF"/>
                          </a:solidFill>
                          <a:effectLst/>
                          <a:latin typeface="Times New Roman" charset="0"/>
                          <a:ea typeface="宋体" charset="0"/>
                          <a:cs typeface="Times New Roman" charset="0"/>
                        </a:rPr>
                        <a:t>R</a:t>
                      </a:r>
                      <a:r>
                        <a:rPr kumimoji="0" lang="en-US" altLang="zh-CN" sz="2400" b="1" i="0" u="none" strike="noStrike" cap="none" normalizeH="0" baseline="30000">
                          <a:ln>
                            <a:noFill/>
                          </a:ln>
                          <a:solidFill>
                            <a:srgbClr val="FFFFFF"/>
                          </a:solidFill>
                          <a:effectLst/>
                          <a:latin typeface="Times New Roman" charset="0"/>
                          <a:ea typeface="宋体" charset="0"/>
                          <a:cs typeface="Times New Roman" charset="0"/>
                        </a:rPr>
                        <a:t>2</a:t>
                      </a:r>
                      <a:endParaRPr kumimoji="0" lang="zh-CN" sz="2400" b="1" i="0" u="none" strike="noStrike" cap="none" normalizeH="0" baseline="0">
                        <a:ln>
                          <a:noFill/>
                        </a:ln>
                        <a:solidFill>
                          <a:srgbClr val="FFFFFF"/>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FFFFFF"/>
                          </a:solidFill>
                          <a:effectLst/>
                          <a:latin typeface="Times New Roman" charset="0"/>
                          <a:ea typeface="宋体" charset="0"/>
                          <a:cs typeface="Times New Roman" charset="0"/>
                        </a:rPr>
                        <a:t>R</a:t>
                      </a:r>
                      <a:r>
                        <a:rPr kumimoji="0" lang="en-US" altLang="zh-CN" sz="2400" b="1" i="0" u="none" strike="noStrike" cap="none" normalizeH="0" baseline="30000">
                          <a:ln>
                            <a:noFill/>
                          </a:ln>
                          <a:solidFill>
                            <a:srgbClr val="FFFFFF"/>
                          </a:solidFill>
                          <a:effectLst/>
                          <a:latin typeface="Times New Roman" charset="0"/>
                          <a:ea typeface="宋体" charset="0"/>
                          <a:cs typeface="Times New Roman" charset="0"/>
                        </a:rPr>
                        <a:t>2</a:t>
                      </a:r>
                      <a:r>
                        <a:rPr kumimoji="0" lang="en-US" altLang="zh-CN" sz="2400" b="1" i="0" u="none" strike="noStrike" cap="none" normalizeH="0" baseline="-25000">
                          <a:ln>
                            <a:noFill/>
                          </a:ln>
                          <a:solidFill>
                            <a:srgbClr val="FFFFFF"/>
                          </a:solidFill>
                          <a:effectLst/>
                          <a:latin typeface="Times New Roman" charset="0"/>
                          <a:ea typeface="宋体" charset="0"/>
                          <a:cs typeface="Times New Roman" charset="0"/>
                        </a:rPr>
                        <a:t>adj</a:t>
                      </a:r>
                      <a:endParaRPr kumimoji="0" lang="zh-CN" sz="2400" b="1" i="0" u="none" strike="noStrike" cap="none" normalizeH="0" baseline="0">
                        <a:ln>
                          <a:noFill/>
                        </a:ln>
                        <a:solidFill>
                          <a:srgbClr val="FFFFFF"/>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FFFFFF"/>
                          </a:solidFill>
                          <a:effectLst/>
                          <a:latin typeface="Times New Roman" charset="0"/>
                          <a:ea typeface="宋体" charset="0"/>
                          <a:cs typeface="Times New Roman" charset="0"/>
                        </a:rPr>
                        <a:t>最终有效变量</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7810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Times New Roman" charset="0"/>
                        </a:rPr>
                        <a:t>1988-2007</a:t>
                      </a:r>
                      <a:r>
                        <a:rPr kumimoji="0" lang="zh-CN" altLang="en-US" sz="1800" b="1" i="0" u="none" strike="noStrike" cap="none" normalizeH="0" baseline="0">
                          <a:ln>
                            <a:noFill/>
                          </a:ln>
                          <a:solidFill>
                            <a:srgbClr val="000000"/>
                          </a:solidFill>
                          <a:effectLst/>
                          <a:latin typeface="Times New Roman" charset="0"/>
                          <a:ea typeface="宋体" charset="0"/>
                          <a:cs typeface="Times New Roman" charset="0"/>
                        </a:rPr>
                        <a:t>年全国毛被害率</a:t>
                      </a:r>
                      <a:endParaRPr kumimoji="0" lang="zh-CN" altLang="en-US"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0.862</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0.853</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农村家庭恩格尔系数（</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Beta</a:t>
                      </a:r>
                      <a:r>
                        <a:rPr kumimoji="0" lang="en-US" altLang="zh-CN" sz="1800" b="0" i="0" u="none" strike="noStrike" cap="none" normalizeH="0" baseline="0">
                          <a:ln>
                            <a:noFill/>
                          </a:ln>
                          <a:solidFill>
                            <a:srgbClr val="000000"/>
                          </a:solidFill>
                          <a:effectLst/>
                          <a:latin typeface="宋体" charset="0"/>
                          <a:ea typeface="宋体" charset="0"/>
                          <a:cs typeface="Times New Roman" charset="0"/>
                        </a:rPr>
                        <a:t>=</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0.928</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1"/>
                  </a:ext>
                </a:extLst>
              </a:tr>
              <a:tr h="7810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Times New Roman" charset="0"/>
                        </a:rPr>
                        <a:t>1988-2007</a:t>
                      </a:r>
                      <a:r>
                        <a:rPr kumimoji="0" lang="zh-CN" altLang="en-US" sz="1800" b="1" i="0" u="none" strike="noStrike" cap="none" normalizeH="0" baseline="0">
                          <a:ln>
                            <a:noFill/>
                          </a:ln>
                          <a:solidFill>
                            <a:srgbClr val="000000"/>
                          </a:solidFill>
                          <a:effectLst/>
                          <a:latin typeface="Times New Roman" charset="0"/>
                          <a:ea typeface="宋体" charset="0"/>
                          <a:cs typeface="Times New Roman" charset="0"/>
                        </a:rPr>
                        <a:t>年全国毛加害率</a:t>
                      </a:r>
                      <a:endParaRPr kumimoji="0" lang="zh-CN" altLang="en-US"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0.820</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0.809</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农村家庭恩格尔系数（</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Beta</a:t>
                      </a:r>
                      <a:r>
                        <a:rPr kumimoji="0" lang="en-US" altLang="zh-CN" sz="1800" b="0" i="0" u="none" strike="noStrike" cap="none" normalizeH="0" baseline="0">
                          <a:ln>
                            <a:noFill/>
                          </a:ln>
                          <a:solidFill>
                            <a:srgbClr val="000000"/>
                          </a:solidFill>
                          <a:effectLst/>
                          <a:latin typeface="宋体" charset="0"/>
                          <a:ea typeface="宋体" charset="0"/>
                          <a:cs typeface="Times New Roman" charset="0"/>
                        </a:rPr>
                        <a:t>=</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0.906</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2"/>
                  </a:ext>
                </a:extLst>
              </a:tr>
              <a:tr h="7810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Times New Roman" charset="0"/>
                        </a:rPr>
                        <a:t>1998</a:t>
                      </a:r>
                      <a:r>
                        <a:rPr kumimoji="0" lang="zh-CN" altLang="en-US" sz="1800" b="1" i="0" u="none" strike="noStrike" cap="none" normalizeH="0" baseline="0">
                          <a:ln>
                            <a:noFill/>
                          </a:ln>
                          <a:solidFill>
                            <a:srgbClr val="000000"/>
                          </a:solidFill>
                          <a:effectLst/>
                          <a:latin typeface="Times New Roman" charset="0"/>
                          <a:ea typeface="宋体" charset="0"/>
                          <a:cs typeface="Times New Roman" charset="0"/>
                        </a:rPr>
                        <a:t>年各地区毛被害率</a:t>
                      </a:r>
                      <a:endParaRPr kumimoji="0" lang="zh-CN" altLang="en-US"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0.705</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0.694</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人均</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GDP</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Beta</a:t>
                      </a:r>
                      <a:r>
                        <a:rPr kumimoji="0" lang="en-US" altLang="zh-CN" sz="1800" b="0" i="0" u="none" strike="noStrike" cap="none" normalizeH="0" baseline="0">
                          <a:ln>
                            <a:noFill/>
                          </a:ln>
                          <a:solidFill>
                            <a:srgbClr val="000000"/>
                          </a:solidFill>
                          <a:effectLst/>
                          <a:latin typeface="宋体" charset="0"/>
                          <a:ea typeface="宋体" charset="0"/>
                          <a:cs typeface="Times New Roman" charset="0"/>
                        </a:rPr>
                        <a:t>=</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0.839</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3"/>
                  </a:ext>
                </a:extLst>
              </a:tr>
              <a:tr h="7810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Times New Roman" charset="0"/>
                        </a:rPr>
                        <a:t>2003</a:t>
                      </a:r>
                      <a:r>
                        <a:rPr kumimoji="0" lang="zh-CN" altLang="en-US" sz="1800" b="1" i="0" u="none" strike="noStrike" cap="none" normalizeH="0" baseline="0">
                          <a:ln>
                            <a:noFill/>
                          </a:ln>
                          <a:solidFill>
                            <a:srgbClr val="000000"/>
                          </a:solidFill>
                          <a:effectLst/>
                          <a:latin typeface="Times New Roman" charset="0"/>
                          <a:ea typeface="宋体" charset="0"/>
                          <a:cs typeface="Times New Roman" charset="0"/>
                        </a:rPr>
                        <a:t>年各地区毛被害率</a:t>
                      </a:r>
                      <a:endParaRPr kumimoji="0" lang="zh-CN" altLang="en-US"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0.566</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0.535</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人均</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GDP</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Beta=1.093</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）、城市人口率（</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Beta=</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0.462</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9FDFF"/>
                    </a:solidFill>
                  </a:tcPr>
                </a:tc>
                <a:extLst>
                  <a:ext uri="{0D108BD9-81ED-4DB2-BD59-A6C34878D82A}">
                    <a16:rowId xmlns:a16="http://schemas.microsoft.com/office/drawing/2014/main" val="10004"/>
                  </a:ext>
                </a:extLst>
              </a:tr>
              <a:tr h="7366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宋体" charset="0"/>
                          <a:ea typeface="宋体" charset="0"/>
                          <a:cs typeface="Times New Roman" charset="0"/>
                        </a:rPr>
                        <a:t>2007</a:t>
                      </a:r>
                      <a:r>
                        <a:rPr kumimoji="0" lang="zh-CN" altLang="en-US" sz="1800" b="1" i="0" u="none" strike="noStrike" cap="none" normalizeH="0" baseline="0">
                          <a:ln>
                            <a:noFill/>
                          </a:ln>
                          <a:solidFill>
                            <a:srgbClr val="000000"/>
                          </a:solidFill>
                          <a:effectLst/>
                          <a:latin typeface="Times New Roman" charset="0"/>
                          <a:ea typeface="宋体" charset="0"/>
                          <a:cs typeface="Times New Roman" charset="0"/>
                        </a:rPr>
                        <a:t>年各地区毛被害率</a:t>
                      </a:r>
                      <a:endParaRPr kumimoji="0" lang="zh-CN" altLang="en-US"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0.584</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宋体" charset="0"/>
                          <a:ea typeface="宋体" charset="0"/>
                          <a:cs typeface="Times New Roman" charset="0"/>
                        </a:rPr>
                        <a:t>0.570</a:t>
                      </a:r>
                      <a:endParaRPr kumimoji="0" lang="zh-CN" sz="1800" b="0" i="0" u="none" strike="noStrike" cap="none" normalizeH="0" baseline="0">
                        <a:ln>
                          <a:noFill/>
                        </a:ln>
                        <a:solidFill>
                          <a:srgbClr val="000000"/>
                        </a:solidFill>
                        <a:effectLst/>
                        <a:latin typeface="Times New Roman" charset="0"/>
                        <a:ea typeface="宋体" charset="0"/>
                        <a:cs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人均</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GDP</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r>
                        <a:rPr kumimoji="0" lang="en-US" altLang="zh-CN" sz="1800" b="0" i="0" u="none" strike="noStrike" cap="none" normalizeH="0" baseline="0">
                          <a:ln>
                            <a:noFill/>
                          </a:ln>
                          <a:solidFill>
                            <a:srgbClr val="000000"/>
                          </a:solidFill>
                          <a:effectLst/>
                          <a:latin typeface="Times New Roman" charset="0"/>
                          <a:ea typeface="宋体" charset="0"/>
                          <a:cs typeface="Times New Roman" charset="0"/>
                        </a:rPr>
                        <a:t>Beta=0.764</a:t>
                      </a:r>
                      <a:r>
                        <a:rPr kumimoji="0" lang="zh-CN" altLang="en-US" sz="1800" b="0" i="0" u="none" strike="noStrike" cap="none" normalizeH="0" baseline="0">
                          <a:ln>
                            <a:noFill/>
                          </a:ln>
                          <a:solidFill>
                            <a:srgbClr val="000000"/>
                          </a:solidFill>
                          <a:effectLst/>
                          <a:latin typeface="Times New Roman" charset="0"/>
                          <a:ea typeface="宋体" charset="0"/>
                          <a:cs typeface="Times New Roman" charset="0"/>
                        </a:rPr>
                        <a: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4FB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1850277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pPr algn="ctr"/>
            <a:r>
              <a:rPr lang="zh-CN" altLang="en-US" sz="4400" dirty="0">
                <a:latin typeface="华文琥珀" charset="0"/>
                <a:ea typeface="华文琥珀" charset="0"/>
                <a:cs typeface="华文琥珀" charset="0"/>
              </a:rPr>
              <a:t>意味着：</a:t>
            </a:r>
          </a:p>
        </p:txBody>
      </p:sp>
      <p:sp>
        <p:nvSpPr>
          <p:cNvPr id="24579" name="内容占位符 2"/>
          <p:cNvSpPr>
            <a:spLocks noGrp="1"/>
          </p:cNvSpPr>
          <p:nvPr>
            <p:ph idx="1"/>
          </p:nvPr>
        </p:nvSpPr>
        <p:spPr/>
        <p:txBody>
          <a:bodyPr/>
          <a:lstStyle/>
          <a:p>
            <a:r>
              <a:rPr lang="zh-CN" sz="3200" dirty="0">
                <a:latin typeface="宋体"/>
                <a:ea typeface="宋体"/>
                <a:cs typeface="宋体"/>
              </a:rPr>
              <a:t>只有农村家庭恩格尔系数</a:t>
            </a:r>
            <a:r>
              <a:rPr lang="zh-CN" altLang="en-US" sz="3200" dirty="0">
                <a:latin typeface="宋体"/>
                <a:ea typeface="宋体"/>
                <a:cs typeface="宋体"/>
              </a:rPr>
              <a:t>的影响</a:t>
            </a:r>
            <a:r>
              <a:rPr lang="zh-CN" sz="3200" dirty="0">
                <a:latin typeface="宋体"/>
                <a:ea typeface="宋体"/>
                <a:cs typeface="宋体"/>
              </a:rPr>
              <a:t>显著，呈高度负相关</a:t>
            </a:r>
            <a:r>
              <a:rPr lang="en-US" altLang="zh-CN" sz="3200" dirty="0">
                <a:latin typeface="宋体"/>
                <a:ea typeface="宋体"/>
                <a:cs typeface="宋体"/>
              </a:rPr>
              <a:t>——</a:t>
            </a:r>
            <a:r>
              <a:rPr lang="zh-CN" sz="3200" dirty="0">
                <a:latin typeface="宋体"/>
                <a:ea typeface="宋体"/>
                <a:cs typeface="宋体"/>
              </a:rPr>
              <a:t>经济</a:t>
            </a:r>
            <a:r>
              <a:rPr lang="zh-CN" altLang="en-US" sz="3200" dirty="0">
                <a:latin typeface="宋体"/>
                <a:ea typeface="宋体"/>
                <a:cs typeface="宋体"/>
              </a:rPr>
              <a:t>越</a:t>
            </a:r>
            <a:r>
              <a:rPr lang="zh-CN" sz="3200" dirty="0">
                <a:latin typeface="宋体"/>
                <a:ea typeface="宋体"/>
                <a:cs typeface="宋体"/>
              </a:rPr>
              <a:t>发展，则恩格尔系数越低，则犯罪率随之越高；反之，则犯罪率越低。</a:t>
            </a:r>
          </a:p>
          <a:p>
            <a:r>
              <a:rPr lang="zh-CN" sz="3200" dirty="0">
                <a:latin typeface="宋体"/>
                <a:ea typeface="宋体"/>
                <a:cs typeface="宋体"/>
              </a:rPr>
              <a:t>人均</a:t>
            </a:r>
            <a:r>
              <a:rPr lang="en-US" altLang="zh-CN" sz="3200" dirty="0">
                <a:latin typeface="宋体"/>
                <a:ea typeface="宋体"/>
                <a:cs typeface="宋体"/>
              </a:rPr>
              <a:t>GDP</a:t>
            </a:r>
            <a:r>
              <a:rPr lang="zh-CN" sz="3200" dirty="0">
                <a:latin typeface="宋体"/>
                <a:ea typeface="宋体"/>
                <a:cs typeface="宋体"/>
              </a:rPr>
              <a:t>越高的地区，</a:t>
            </a:r>
            <a:r>
              <a:rPr lang="zh-CN" altLang="en-US" sz="3200" dirty="0">
                <a:latin typeface="宋体"/>
                <a:ea typeface="宋体"/>
                <a:cs typeface="宋体"/>
              </a:rPr>
              <a:t>犯罪率</a:t>
            </a:r>
            <a:r>
              <a:rPr lang="zh-CN" sz="3200" dirty="0">
                <a:latin typeface="宋体"/>
                <a:ea typeface="宋体"/>
                <a:cs typeface="宋体"/>
              </a:rPr>
              <a:t>越高；人均</a:t>
            </a:r>
            <a:r>
              <a:rPr lang="en-US" altLang="zh-CN" sz="3200" dirty="0">
                <a:latin typeface="宋体"/>
                <a:ea typeface="宋体"/>
                <a:cs typeface="宋体"/>
              </a:rPr>
              <a:t>GDP</a:t>
            </a:r>
            <a:r>
              <a:rPr lang="zh-CN" sz="3200" dirty="0">
                <a:latin typeface="宋体"/>
                <a:ea typeface="宋体"/>
                <a:cs typeface="宋体"/>
              </a:rPr>
              <a:t>越低的地区，犯罪率相应地越低。</a:t>
            </a:r>
            <a:endParaRPr lang="en-US" altLang="zh-CN" sz="3200" dirty="0">
              <a:latin typeface="宋体"/>
              <a:ea typeface="宋体"/>
              <a:cs typeface="宋体"/>
            </a:endParaRPr>
          </a:p>
          <a:p>
            <a:r>
              <a:rPr lang="zh-CN" altLang="en-US" sz="3200" b="1" dirty="0">
                <a:solidFill>
                  <a:srgbClr val="FF0000"/>
                </a:solidFill>
                <a:latin typeface="宋体"/>
                <a:ea typeface="宋体"/>
                <a:cs typeface="宋体"/>
              </a:rPr>
              <a:t>横纵呼应：</a:t>
            </a:r>
            <a:r>
              <a:rPr lang="zh-CN" sz="3200" dirty="0">
                <a:latin typeface="宋体"/>
                <a:ea typeface="宋体"/>
                <a:cs typeface="宋体"/>
              </a:rPr>
              <a:t>经济发展</a:t>
            </a:r>
            <a:r>
              <a:rPr lang="zh-CN" sz="4400" b="1" dirty="0">
                <a:latin typeface="黑体"/>
                <a:ea typeface="黑体"/>
                <a:cs typeface="黑体"/>
              </a:rPr>
              <a:t>“横竖”</a:t>
            </a:r>
            <a:r>
              <a:rPr lang="zh-CN" sz="3200" dirty="0">
                <a:latin typeface="宋体"/>
                <a:ea typeface="宋体"/>
                <a:cs typeface="宋体"/>
              </a:rPr>
              <a:t>都是犯罪率的最强解释。</a:t>
            </a:r>
            <a:endParaRPr lang="zh-CN" altLang="en-US" sz="3200" dirty="0">
              <a:latin typeface="宋体"/>
              <a:ea typeface="宋体"/>
              <a:cs typeface="宋体"/>
            </a:endParaRPr>
          </a:p>
        </p:txBody>
      </p:sp>
    </p:spTree>
    <p:extLst>
      <p:ext uri="{BB962C8B-B14F-4D97-AF65-F5344CB8AC3E}">
        <p14:creationId xmlns:p14="http://schemas.microsoft.com/office/powerpoint/2010/main" val="2644112"/>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algn="ctr"/>
            <a:r>
              <a:rPr lang="zh-CN" altLang="en-US" sz="4400" dirty="0">
                <a:latin typeface="黑体"/>
                <a:ea typeface="黑体"/>
                <a:cs typeface="黑体"/>
              </a:rPr>
              <a:t>理论解释</a:t>
            </a:r>
          </a:p>
        </p:txBody>
      </p:sp>
      <p:sp>
        <p:nvSpPr>
          <p:cNvPr id="25603" name="内容占位符 2"/>
          <p:cNvSpPr>
            <a:spLocks noGrp="1"/>
          </p:cNvSpPr>
          <p:nvPr>
            <p:ph idx="1"/>
          </p:nvPr>
        </p:nvSpPr>
        <p:spPr/>
        <p:txBody>
          <a:bodyPr/>
          <a:lstStyle/>
          <a:p>
            <a:r>
              <a:rPr lang="zh-CN" altLang="en-US" sz="2800" dirty="0">
                <a:latin typeface="微软雅黑" charset="0"/>
                <a:ea typeface="微软雅黑" charset="0"/>
                <a:cs typeface="微软雅黑" charset="0"/>
              </a:rPr>
              <a:t>因噎废食？还是，替犯罪人分担一定道德责任？</a:t>
            </a:r>
            <a:endParaRPr lang="en-US" altLang="zh-CN" sz="2800" dirty="0">
              <a:latin typeface="微软雅黑" charset="0"/>
              <a:ea typeface="微软雅黑" charset="0"/>
              <a:cs typeface="微软雅黑" charset="0"/>
            </a:endParaRPr>
          </a:p>
          <a:p>
            <a:r>
              <a:rPr lang="zh-CN" altLang="en-US" sz="2800" dirty="0">
                <a:latin typeface="微软雅黑" charset="0"/>
                <a:ea typeface="微软雅黑" charset="0"/>
                <a:cs typeface="微软雅黑" charset="0"/>
              </a:rPr>
              <a:t>社会解组</a:t>
            </a:r>
            <a:endParaRPr lang="en-US" altLang="zh-CN" sz="2800" dirty="0">
              <a:latin typeface="微软雅黑" charset="0"/>
              <a:ea typeface="微软雅黑" charset="0"/>
              <a:cs typeface="微软雅黑" charset="0"/>
            </a:endParaRPr>
          </a:p>
          <a:p>
            <a:r>
              <a:rPr lang="zh-CN" altLang="en-US" sz="2800" dirty="0">
                <a:latin typeface="微软雅黑" charset="0"/>
                <a:ea typeface="微软雅黑" charset="0"/>
                <a:cs typeface="微软雅黑" charset="0"/>
              </a:rPr>
              <a:t>社会异常</a:t>
            </a:r>
            <a:endParaRPr lang="en-US" altLang="zh-CN" sz="2800" dirty="0">
              <a:latin typeface="微软雅黑" charset="0"/>
              <a:ea typeface="微软雅黑" charset="0"/>
              <a:cs typeface="微软雅黑" charset="0"/>
            </a:endParaRPr>
          </a:p>
          <a:p>
            <a:r>
              <a:rPr lang="zh-CN" altLang="en-US" sz="4000" b="1" dirty="0">
                <a:solidFill>
                  <a:srgbClr val="FF0000"/>
                </a:solidFill>
                <a:latin typeface="黑体"/>
                <a:ea typeface="黑体"/>
                <a:cs typeface="黑体"/>
              </a:rPr>
              <a:t>相对剥夺</a:t>
            </a:r>
            <a:endParaRPr lang="en-US" altLang="zh-CN" sz="4000" b="1" dirty="0">
              <a:solidFill>
                <a:srgbClr val="FF0000"/>
              </a:solidFill>
              <a:latin typeface="黑体"/>
              <a:ea typeface="黑体"/>
              <a:cs typeface="黑体"/>
            </a:endParaRPr>
          </a:p>
          <a:p>
            <a:r>
              <a:rPr lang="zh-CN" altLang="en-US" sz="2800" dirty="0">
                <a:latin typeface="微软雅黑" charset="0"/>
                <a:ea typeface="微软雅黑" charset="0"/>
                <a:cs typeface="微软雅黑" charset="0"/>
              </a:rPr>
              <a:t>日本、瑞士等低犯罪率研究</a:t>
            </a:r>
            <a:endParaRPr lang="en-US" altLang="zh-CN" sz="2800" dirty="0">
              <a:latin typeface="微软雅黑" charset="0"/>
              <a:ea typeface="微软雅黑" charset="0"/>
              <a:cs typeface="微软雅黑" charset="0"/>
            </a:endParaRPr>
          </a:p>
          <a:p>
            <a:r>
              <a:rPr lang="zh-CN" altLang="en-US" sz="2800" dirty="0">
                <a:latin typeface="微软雅黑" charset="0"/>
                <a:ea typeface="微软雅黑" charset="0"/>
                <a:cs typeface="微软雅黑" charset="0"/>
              </a:rPr>
              <a:t>张小虎基尼系数研究：两极分化，社会责任。</a:t>
            </a:r>
            <a:endParaRPr lang="en-US" altLang="zh-CN" sz="2800" dirty="0">
              <a:latin typeface="微软雅黑" charset="0"/>
              <a:ea typeface="微软雅黑" charset="0"/>
              <a:cs typeface="微软雅黑" charset="0"/>
            </a:endParaRPr>
          </a:p>
          <a:p>
            <a:r>
              <a:rPr lang="zh-CN" altLang="en-US" sz="3200" dirty="0">
                <a:latin typeface="微软雅黑" charset="0"/>
                <a:ea typeface="微软雅黑" charset="0"/>
                <a:cs typeface="微软雅黑" charset="0"/>
              </a:rPr>
              <a:t>社会该怎样负责？</a:t>
            </a:r>
            <a:endParaRPr lang="en-US" altLang="zh-CN" sz="3200" dirty="0">
              <a:latin typeface="微软雅黑" charset="0"/>
              <a:ea typeface="微软雅黑" charset="0"/>
              <a:cs typeface="微软雅黑" charset="0"/>
            </a:endParaRPr>
          </a:p>
          <a:p>
            <a:endParaRPr lang="zh-CN" altLang="en-US" dirty="0">
              <a:latin typeface="Arial" charset="0"/>
              <a:ea typeface="宋体" charset="0"/>
            </a:endParaRPr>
          </a:p>
        </p:txBody>
      </p:sp>
    </p:spTree>
    <p:extLst>
      <p:ext uri="{BB962C8B-B14F-4D97-AF65-F5344CB8AC3E}">
        <p14:creationId xmlns:p14="http://schemas.microsoft.com/office/powerpoint/2010/main" val="225362266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algn="ctr"/>
            <a:r>
              <a:rPr lang="zh-CN" sz="4000" b="1" dirty="0">
                <a:latin typeface="Arial" charset="0"/>
                <a:ea typeface="宋体" charset="0"/>
              </a:rPr>
              <a:t>社会反应的非均衡性</a:t>
            </a:r>
            <a:endParaRPr lang="zh-CN" altLang="en-US" sz="4000" dirty="0">
              <a:latin typeface="Arial" charset="0"/>
              <a:ea typeface="宋体" charset="0"/>
            </a:endParaRPr>
          </a:p>
        </p:txBody>
      </p:sp>
      <p:sp>
        <p:nvSpPr>
          <p:cNvPr id="26627" name="内容占位符 2"/>
          <p:cNvSpPr>
            <a:spLocks noGrp="1"/>
          </p:cNvSpPr>
          <p:nvPr>
            <p:ph idx="1"/>
          </p:nvPr>
        </p:nvSpPr>
        <p:spPr/>
        <p:txBody>
          <a:bodyPr/>
          <a:lstStyle/>
          <a:p>
            <a:r>
              <a:rPr lang="zh-CN" sz="2800" b="1" dirty="0">
                <a:latin typeface="华文楷体" charset="0"/>
                <a:ea typeface="华文楷体" charset="0"/>
                <a:cs typeface="华文楷体" charset="0"/>
              </a:rPr>
              <a:t>既然犯罪在一定意义上也应归因于社会，那么，社会是如何对此“负责”的呢？</a:t>
            </a:r>
            <a:endParaRPr lang="en-US" altLang="zh-CN" sz="2800" b="1" dirty="0">
              <a:latin typeface="华文楷体" charset="0"/>
              <a:ea typeface="华文楷体" charset="0"/>
              <a:cs typeface="华文楷体" charset="0"/>
            </a:endParaRPr>
          </a:p>
          <a:p>
            <a:r>
              <a:rPr lang="zh-CN" sz="2800" b="1" dirty="0">
                <a:latin typeface="华文楷体" charset="0"/>
                <a:ea typeface="华文楷体" charset="0"/>
                <a:cs typeface="华文楷体" charset="0"/>
              </a:rPr>
              <a:t>重刑率</a:t>
            </a:r>
            <a:r>
              <a:rPr lang="zh-CN" altLang="en-US" sz="2800" b="1" dirty="0">
                <a:latin typeface="华文楷体" charset="0"/>
                <a:ea typeface="华文楷体" charset="0"/>
                <a:cs typeface="华文楷体" charset="0"/>
              </a:rPr>
              <a:t>：</a:t>
            </a:r>
            <a:r>
              <a:rPr lang="zh-CN" sz="2800" b="1" dirty="0">
                <a:latin typeface="华文楷体" charset="0"/>
                <a:ea typeface="华文楷体" charset="0"/>
                <a:cs typeface="华文楷体" charset="0"/>
              </a:rPr>
              <a:t>以一审审结刑事案件数为基数，以法院判决</a:t>
            </a:r>
            <a:r>
              <a:rPr lang="en-US" altLang="zh-CN" sz="2800" b="1" dirty="0">
                <a:latin typeface="华文楷体" charset="0"/>
                <a:ea typeface="华文楷体" charset="0"/>
                <a:cs typeface="华文楷体" charset="0"/>
              </a:rPr>
              <a:t>5</a:t>
            </a:r>
            <a:r>
              <a:rPr lang="zh-CN" sz="2800" b="1" dirty="0">
                <a:latin typeface="华文楷体" charset="0"/>
                <a:ea typeface="华文楷体" charset="0"/>
                <a:cs typeface="华文楷体" charset="0"/>
              </a:rPr>
              <a:t>年以上有期徒刑、无期徒刑、死刑的人数为犯罪数计算的犯罪率。</a:t>
            </a:r>
            <a:endParaRPr lang="en-US" altLang="zh-CN" sz="2800" b="1" dirty="0">
              <a:latin typeface="华文楷体" charset="0"/>
              <a:ea typeface="华文楷体" charset="0"/>
              <a:cs typeface="华文楷体" charset="0"/>
            </a:endParaRPr>
          </a:p>
          <a:p>
            <a:r>
              <a:rPr lang="zh-CN" altLang="en-US" sz="2800" b="1" dirty="0">
                <a:latin typeface="华文楷体" charset="0"/>
                <a:ea typeface="华文楷体" charset="0"/>
                <a:cs typeface="华文楷体" charset="0"/>
              </a:rPr>
              <a:t>结果：</a:t>
            </a:r>
            <a:r>
              <a:rPr lang="en-US" altLang="zh-CN" sz="2800" b="1" dirty="0">
                <a:latin typeface="华文楷体" charset="0"/>
                <a:ea typeface="华文楷体" charset="0"/>
                <a:cs typeface="华文楷体" charset="0"/>
              </a:rPr>
              <a:t>20</a:t>
            </a:r>
            <a:r>
              <a:rPr lang="zh-CN" sz="2800" b="1" dirty="0">
                <a:latin typeface="华文楷体" charset="0"/>
                <a:ea typeface="华文楷体" charset="0"/>
                <a:cs typeface="华文楷体" charset="0"/>
              </a:rPr>
              <a:t>年来中国重刑率的年平均增长率为－</a:t>
            </a:r>
            <a:r>
              <a:rPr lang="en-US" altLang="zh-CN" sz="2800" b="1" dirty="0">
                <a:latin typeface="华文楷体" charset="0"/>
                <a:ea typeface="华文楷体" charset="0"/>
                <a:cs typeface="华文楷体" charset="0"/>
              </a:rPr>
              <a:t>2.1%</a:t>
            </a:r>
            <a:r>
              <a:rPr lang="zh-CN" sz="2800" b="1" dirty="0">
                <a:latin typeface="华文楷体" charset="0"/>
                <a:ea typeface="华文楷体" charset="0"/>
                <a:cs typeface="华文楷体" charset="0"/>
              </a:rPr>
              <a:t>，毛被害率与重刑率之间的相关系数为－</a:t>
            </a:r>
            <a:r>
              <a:rPr lang="en-US" altLang="zh-CN" sz="2800" b="1" dirty="0">
                <a:latin typeface="华文楷体" charset="0"/>
                <a:ea typeface="华文楷体" charset="0"/>
                <a:cs typeface="华文楷体" charset="0"/>
              </a:rPr>
              <a:t>0.836</a:t>
            </a:r>
            <a:r>
              <a:rPr lang="zh-CN" sz="2800" b="1" dirty="0">
                <a:latin typeface="华文楷体" charset="0"/>
                <a:ea typeface="华文楷体" charset="0"/>
                <a:cs typeface="华文楷体" charset="0"/>
              </a:rPr>
              <a:t>（</a:t>
            </a:r>
            <a:r>
              <a:rPr lang="en-US" altLang="zh-CN" sz="2800" b="1" dirty="0">
                <a:latin typeface="华文楷体" charset="0"/>
                <a:ea typeface="华文楷体" charset="0"/>
                <a:cs typeface="华文楷体" charset="0"/>
              </a:rPr>
              <a:t>p=0.000</a:t>
            </a:r>
            <a:r>
              <a:rPr lang="zh-CN" sz="2800" b="1" dirty="0">
                <a:latin typeface="华文楷体" charset="0"/>
                <a:ea typeface="华文楷体" charset="0"/>
                <a:cs typeface="华文楷体" charset="0"/>
              </a:rPr>
              <a:t>）。</a:t>
            </a:r>
            <a:endParaRPr lang="zh-CN" altLang="en-US" sz="2800" b="1" dirty="0">
              <a:latin typeface="华文楷体" charset="0"/>
              <a:ea typeface="华文楷体" charset="0"/>
              <a:cs typeface="华文楷体" charset="0"/>
            </a:endParaRPr>
          </a:p>
        </p:txBody>
      </p:sp>
    </p:spTree>
    <p:extLst>
      <p:ext uri="{BB962C8B-B14F-4D97-AF65-F5344CB8AC3E}">
        <p14:creationId xmlns:p14="http://schemas.microsoft.com/office/powerpoint/2010/main" val="91759591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ph type="title"/>
          </p:nvPr>
        </p:nvSpPr>
        <p:spPr/>
        <p:txBody>
          <a:bodyPr/>
          <a:lstStyle/>
          <a:p>
            <a:pPr algn="ctr"/>
            <a:r>
              <a:rPr lang="zh-CN" altLang="en-US" sz="4400" b="1" dirty="0">
                <a:latin typeface="微软雅黑" charset="0"/>
                <a:ea typeface="微软雅黑" charset="0"/>
                <a:cs typeface="微软雅黑" charset="0"/>
              </a:rPr>
              <a:t>刑罚资源投入控制</a:t>
            </a:r>
          </a:p>
        </p:txBody>
      </p:sp>
      <p:graphicFrame>
        <p:nvGraphicFramePr>
          <p:cNvPr id="2050" name="内容占位符 3"/>
          <p:cNvGraphicFramePr>
            <a:graphicFrameLocks noGrp="1" noChangeAspect="1"/>
          </p:cNvGraphicFramePr>
          <p:nvPr>
            <p:ph idx="1"/>
          </p:nvPr>
        </p:nvGraphicFramePr>
        <p:xfrm>
          <a:off x="357188" y="1428750"/>
          <a:ext cx="19359562" cy="5286375"/>
        </p:xfrm>
        <a:graphic>
          <a:graphicData uri="http://schemas.openxmlformats.org/presentationml/2006/ole">
            <mc:AlternateContent xmlns:mc="http://schemas.openxmlformats.org/markup-compatibility/2006">
              <mc:Choice xmlns:v="urn:schemas-microsoft-com:vml" Requires="v">
                <p:oleObj spid="_x0000_s20566" name="文档" r:id="rId3" imgW="5293835" imgH="1386770" progId="Word.Document.12">
                  <p:embed/>
                </p:oleObj>
              </mc:Choice>
              <mc:Fallback>
                <p:oleObj name="文档" r:id="rId3" imgW="5293835" imgH="1386770" progId="Word.Document.1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8" y="1428750"/>
                        <a:ext cx="19359562" cy="52863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40021170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pPr algn="ctr"/>
            <a:r>
              <a:rPr lang="zh-CN" altLang="en-US" sz="4000" b="1" dirty="0">
                <a:latin typeface="微软雅黑" charset="0"/>
                <a:ea typeface="微软雅黑" charset="0"/>
                <a:cs typeface="微软雅黑" charset="0"/>
              </a:rPr>
              <a:t>假设证实</a:t>
            </a:r>
          </a:p>
        </p:txBody>
      </p:sp>
      <p:sp>
        <p:nvSpPr>
          <p:cNvPr id="30723" name="内容占位符 2"/>
          <p:cNvSpPr>
            <a:spLocks noGrp="1"/>
          </p:cNvSpPr>
          <p:nvPr>
            <p:ph idx="1"/>
          </p:nvPr>
        </p:nvSpPr>
        <p:spPr/>
        <p:txBody>
          <a:bodyPr/>
          <a:lstStyle/>
          <a:p>
            <a:r>
              <a:rPr lang="zh-CN" sz="2800" b="1" dirty="0">
                <a:latin typeface="隶书" charset="0"/>
                <a:ea typeface="隶书" charset="0"/>
                <a:cs typeface="隶书" charset="0"/>
              </a:rPr>
              <a:t>刑罚资源的投入不完全取决于犯罪数量的消长，而与宏观犯罪原因有关。</a:t>
            </a:r>
            <a:endParaRPr lang="en-US" altLang="zh-CN" sz="2800" b="1" dirty="0">
              <a:latin typeface="隶书" charset="0"/>
              <a:ea typeface="隶书" charset="0"/>
              <a:cs typeface="隶书" charset="0"/>
            </a:endParaRPr>
          </a:p>
          <a:p>
            <a:r>
              <a:rPr lang="zh-CN" sz="2800" b="1" dirty="0">
                <a:latin typeface="隶书" charset="0"/>
                <a:ea typeface="隶书" charset="0"/>
                <a:cs typeface="隶书" charset="0"/>
              </a:rPr>
              <a:t>如果犯罪数量的增长是社会因素的结果，刑罚资源的投入不仅不会机械地相应增长，反而会受到严格控制。</a:t>
            </a:r>
            <a:endParaRPr lang="en-US" altLang="zh-CN" sz="2800" b="1" dirty="0">
              <a:latin typeface="隶书" charset="0"/>
              <a:ea typeface="隶书" charset="0"/>
              <a:cs typeface="隶书" charset="0"/>
            </a:endParaRPr>
          </a:p>
          <a:p>
            <a:r>
              <a:rPr lang="en-US" altLang="zh-CN" sz="2800" b="1" dirty="0">
                <a:latin typeface="微软雅黑" charset="0"/>
                <a:ea typeface="微软雅黑" charset="0"/>
                <a:cs typeface="微软雅黑" charset="0"/>
              </a:rPr>
              <a:t>——</a:t>
            </a:r>
            <a:r>
              <a:rPr lang="zh-CN" altLang="en-US" sz="2800" b="1" dirty="0">
                <a:latin typeface="微软雅黑" charset="0"/>
                <a:ea typeface="微软雅黑" charset="0"/>
                <a:cs typeface="微软雅黑" charset="0"/>
              </a:rPr>
              <a:t>犯罪率上升了</a:t>
            </a:r>
            <a:endParaRPr lang="en-US" altLang="zh-CN" sz="2800" b="1" dirty="0">
              <a:latin typeface="微软雅黑" charset="0"/>
              <a:ea typeface="微软雅黑" charset="0"/>
              <a:cs typeface="微软雅黑" charset="0"/>
            </a:endParaRPr>
          </a:p>
          <a:p>
            <a:r>
              <a:rPr lang="en-US" altLang="zh-CN" sz="2800" b="1" dirty="0">
                <a:latin typeface="微软雅黑" charset="0"/>
                <a:ea typeface="微软雅黑" charset="0"/>
                <a:cs typeface="微软雅黑" charset="0"/>
              </a:rPr>
              <a:t>    ——</a:t>
            </a:r>
            <a:r>
              <a:rPr lang="zh-CN" altLang="en-US" sz="2800" b="1" dirty="0">
                <a:latin typeface="微软雅黑" charset="0"/>
                <a:ea typeface="微软雅黑" charset="0"/>
                <a:cs typeface="微软雅黑" charset="0"/>
              </a:rPr>
              <a:t>经济高速发展带来了相对剥夺</a:t>
            </a:r>
            <a:endParaRPr lang="en-US" altLang="zh-CN" sz="2800" b="1" dirty="0">
              <a:latin typeface="微软雅黑" charset="0"/>
              <a:ea typeface="微软雅黑" charset="0"/>
              <a:cs typeface="微软雅黑" charset="0"/>
            </a:endParaRPr>
          </a:p>
          <a:p>
            <a:r>
              <a:rPr lang="en-US" altLang="zh-CN" sz="2800" b="1" dirty="0">
                <a:latin typeface="微软雅黑" charset="0"/>
                <a:ea typeface="微软雅黑" charset="0"/>
                <a:cs typeface="微软雅黑" charset="0"/>
              </a:rPr>
              <a:t>        ——</a:t>
            </a:r>
            <a:r>
              <a:rPr lang="zh-CN" altLang="en-US" sz="2800" b="1" dirty="0">
                <a:latin typeface="微软雅黑" charset="0"/>
                <a:ea typeface="微软雅黑" charset="0"/>
                <a:cs typeface="微软雅黑" charset="0"/>
              </a:rPr>
              <a:t>重刑率不升反降</a:t>
            </a:r>
          </a:p>
        </p:txBody>
      </p:sp>
    </p:spTree>
    <p:extLst>
      <p:ext uri="{BB962C8B-B14F-4D97-AF65-F5344CB8AC3E}">
        <p14:creationId xmlns:p14="http://schemas.microsoft.com/office/powerpoint/2010/main" val="278540256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pPr algn="ctr"/>
            <a:r>
              <a:rPr lang="zh-CN" altLang="en-US" sz="4000" b="1" dirty="0">
                <a:latin typeface="微软雅黑" charset="0"/>
                <a:ea typeface="微软雅黑" charset="0"/>
                <a:cs typeface="微软雅黑" charset="0"/>
              </a:rPr>
              <a:t>回到理论</a:t>
            </a:r>
          </a:p>
        </p:txBody>
      </p:sp>
      <p:sp>
        <p:nvSpPr>
          <p:cNvPr id="3" name="内容占位符 2"/>
          <p:cNvSpPr>
            <a:spLocks noGrp="1"/>
          </p:cNvSpPr>
          <p:nvPr>
            <p:ph idx="1"/>
          </p:nvPr>
        </p:nvSpPr>
        <p:spPr/>
        <p:txBody>
          <a:bodyPr/>
          <a:lstStyle/>
          <a:p>
            <a:r>
              <a:rPr lang="zh-CN" altLang="en-US" sz="2800" dirty="0">
                <a:latin typeface="隶书" charset="0"/>
                <a:ea typeface="隶书" charset="0"/>
                <a:cs typeface="隶书" charset="0"/>
              </a:rPr>
              <a:t>“罪为因，刑为果”才是常理</a:t>
            </a:r>
            <a:endParaRPr lang="en-US" altLang="zh-CN" sz="2800" dirty="0">
              <a:latin typeface="隶书" charset="0"/>
              <a:ea typeface="隶书" charset="0"/>
              <a:cs typeface="隶书" charset="0"/>
            </a:endParaRPr>
          </a:p>
          <a:p>
            <a:r>
              <a:rPr lang="zh-CN" altLang="en-US" sz="2800" dirty="0">
                <a:latin typeface="隶书" charset="0"/>
                <a:ea typeface="隶书" charset="0"/>
                <a:cs typeface="隶书" charset="0"/>
              </a:rPr>
              <a:t>为何却被证否，“非均衡”假设被证实？</a:t>
            </a:r>
            <a:endParaRPr lang="en-US" altLang="zh-CN" sz="2800" dirty="0">
              <a:latin typeface="隶书" charset="0"/>
              <a:ea typeface="隶书" charset="0"/>
              <a:cs typeface="隶书" charset="0"/>
            </a:endParaRPr>
          </a:p>
          <a:p>
            <a:r>
              <a:rPr lang="zh-CN" altLang="zh-CN" sz="2800" dirty="0">
                <a:latin typeface="隶书" charset="0"/>
                <a:ea typeface="隶书" charset="0"/>
                <a:cs typeface="隶书" charset="0"/>
              </a:rPr>
              <a:t>宏观上积极能动地平衡犯罪与社会之间冲突，是刑法中立性的必然要求。</a:t>
            </a:r>
            <a:endParaRPr lang="en-US" altLang="zh-CN" sz="2800" dirty="0">
              <a:latin typeface="隶书" charset="0"/>
              <a:ea typeface="隶书" charset="0"/>
              <a:cs typeface="隶书" charset="0"/>
            </a:endParaRPr>
          </a:p>
          <a:p>
            <a:r>
              <a:rPr lang="zh-CN" altLang="zh-CN" sz="2800" dirty="0">
                <a:latin typeface="隶书" charset="0"/>
                <a:ea typeface="隶书" charset="0"/>
                <a:cs typeface="隶书" charset="0"/>
              </a:rPr>
              <a:t>仅仅根据犯罪率上升便加大刑罚力度，反而会加剧犯罪与社会之间的紧张关系。</a:t>
            </a:r>
            <a:endParaRPr lang="en-US" altLang="zh-CN" sz="2800" dirty="0">
              <a:latin typeface="隶书" charset="0"/>
              <a:ea typeface="隶书" charset="0"/>
              <a:cs typeface="隶书" charset="0"/>
            </a:endParaRPr>
          </a:p>
          <a:p>
            <a:r>
              <a:rPr lang="zh-CN" altLang="en-US" sz="2800" dirty="0">
                <a:latin typeface="隶书" charset="0"/>
                <a:ea typeface="隶书" charset="0"/>
                <a:cs typeface="隶书" charset="0"/>
              </a:rPr>
              <a:t>这里的</a:t>
            </a:r>
            <a:r>
              <a:rPr lang="zh-CN" altLang="zh-CN" sz="2800" dirty="0">
                <a:latin typeface="隶书" charset="0"/>
                <a:ea typeface="隶书" charset="0"/>
                <a:cs typeface="隶书" charset="0"/>
              </a:rPr>
              <a:t>不均衡彰显了法的中立性，意味着更深刻的均衡。</a:t>
            </a:r>
            <a:endParaRPr lang="en-US" altLang="zh-CN" sz="2800" dirty="0">
              <a:latin typeface="隶书" charset="0"/>
              <a:ea typeface="隶书" charset="0"/>
              <a:cs typeface="隶书" charset="0"/>
            </a:endParaRPr>
          </a:p>
          <a:p>
            <a:r>
              <a:rPr lang="zh-CN" altLang="zh-CN" sz="3200" b="1" dirty="0">
                <a:latin typeface="黑体"/>
                <a:ea typeface="黑体"/>
                <a:cs typeface="黑体"/>
              </a:rPr>
              <a:t>——</a:t>
            </a:r>
            <a:r>
              <a:rPr lang="zh-CN" altLang="en-US" sz="3200" b="1" dirty="0">
                <a:latin typeface="黑体"/>
                <a:ea typeface="黑体"/>
                <a:cs typeface="黑体"/>
              </a:rPr>
              <a:t>科学研究犯罪，才能理性对待犯罪。</a:t>
            </a:r>
            <a:endParaRPr lang="en-US" altLang="zh-CN" sz="3200" b="1" dirty="0">
              <a:latin typeface="黑体"/>
              <a:ea typeface="黑体"/>
              <a:cs typeface="黑体"/>
            </a:endParaRPr>
          </a:p>
        </p:txBody>
      </p:sp>
    </p:spTree>
    <p:extLst>
      <p:ext uri="{BB962C8B-B14F-4D97-AF65-F5344CB8AC3E}">
        <p14:creationId xmlns:p14="http://schemas.microsoft.com/office/powerpoint/2010/main" val="399100453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800" b="1" dirty="0"/>
              <a:t>第九讲</a:t>
            </a:r>
            <a:r>
              <a:rPr kumimoji="1" lang="en-US" altLang="zh-CN" sz="4800" b="1" dirty="0"/>
              <a:t>  </a:t>
            </a:r>
            <a:r>
              <a:rPr kumimoji="1" lang="zh-CN" altLang="en-US" sz="4800" b="1" dirty="0"/>
              <a:t>量刑</a:t>
            </a:r>
          </a:p>
        </p:txBody>
      </p:sp>
      <p:sp>
        <p:nvSpPr>
          <p:cNvPr id="3" name="内容占位符 2"/>
          <p:cNvSpPr>
            <a:spLocks noGrp="1"/>
          </p:cNvSpPr>
          <p:nvPr>
            <p:ph idx="1"/>
          </p:nvPr>
        </p:nvSpPr>
        <p:spPr/>
        <p:txBody>
          <a:bodyPr/>
          <a:lstStyle/>
          <a:p>
            <a:r>
              <a:rPr lang="zh-CN" altLang="en-US" sz="3200" b="1" dirty="0">
                <a:latin typeface="宋体"/>
                <a:ea typeface="宋体"/>
                <a:cs typeface="宋体"/>
              </a:rPr>
              <a:t>理性对待犯罪，除了依法定罪，还应合理量刑。</a:t>
            </a:r>
            <a:endParaRPr lang="en-US" altLang="zh-CN" sz="3200" b="1" dirty="0">
              <a:latin typeface="宋体"/>
              <a:ea typeface="宋体"/>
              <a:cs typeface="宋体"/>
            </a:endParaRPr>
          </a:p>
          <a:p>
            <a:r>
              <a:rPr lang="zh-CN" altLang="en-US" sz="3200" b="1" dirty="0">
                <a:latin typeface="宋体"/>
                <a:ea typeface="宋体"/>
                <a:cs typeface="宋体"/>
              </a:rPr>
              <a:t>基本原则是：</a:t>
            </a:r>
            <a:endParaRPr lang="en-US" altLang="zh-CN" sz="3200" b="1" dirty="0">
              <a:latin typeface="宋体"/>
              <a:ea typeface="宋体"/>
              <a:cs typeface="宋体"/>
            </a:endParaRPr>
          </a:p>
          <a:p>
            <a:r>
              <a:rPr lang="zh-CN" altLang="zh-CN" sz="3200" b="1" dirty="0">
                <a:latin typeface="宋体"/>
                <a:ea typeface="宋体"/>
                <a:cs typeface="宋体"/>
              </a:rPr>
              <a:t>有罪有罚：无罪无罚，有罪当罚</a:t>
            </a:r>
          </a:p>
          <a:p>
            <a:r>
              <a:rPr lang="zh-CN" altLang="zh-CN" sz="3200" b="1" dirty="0">
                <a:latin typeface="宋体"/>
                <a:ea typeface="宋体"/>
                <a:cs typeface="宋体"/>
              </a:rPr>
              <a:t>轻重其罚：轻罪轻罚，重罪重罚</a:t>
            </a:r>
          </a:p>
          <a:p>
            <a:r>
              <a:rPr lang="zh-CN" altLang="zh-CN" sz="3200" b="1" dirty="0">
                <a:latin typeface="宋体"/>
                <a:ea typeface="宋体"/>
                <a:cs typeface="宋体"/>
              </a:rPr>
              <a:t>罪刑同质：此罪此罚，彼罪彼罚</a:t>
            </a:r>
          </a:p>
          <a:p>
            <a:r>
              <a:rPr lang="zh-CN" altLang="zh-CN" sz="3200" b="1" dirty="0">
                <a:latin typeface="宋体"/>
                <a:ea typeface="宋体"/>
                <a:cs typeface="宋体"/>
              </a:rPr>
              <a:t>一罪一罚：单罪单罚，数罪数罚</a:t>
            </a:r>
          </a:p>
          <a:p>
            <a:r>
              <a:rPr kumimoji="1" lang="zh-CN" altLang="en-US" sz="3600" b="1" dirty="0">
                <a:latin typeface="黑体"/>
                <a:ea typeface="黑体"/>
                <a:cs typeface="黑体"/>
              </a:rPr>
              <a:t>——罪刑均衡原则。</a:t>
            </a:r>
          </a:p>
        </p:txBody>
      </p:sp>
    </p:spTree>
    <p:extLst>
      <p:ext uri="{BB962C8B-B14F-4D97-AF65-F5344CB8AC3E}">
        <p14:creationId xmlns:p14="http://schemas.microsoft.com/office/powerpoint/2010/main" val="354626430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案例</a:t>
            </a:r>
          </a:p>
        </p:txBody>
      </p:sp>
      <p:sp>
        <p:nvSpPr>
          <p:cNvPr id="3" name="内容占位符 2"/>
          <p:cNvSpPr>
            <a:spLocks noGrp="1"/>
          </p:cNvSpPr>
          <p:nvPr>
            <p:ph idx="1"/>
          </p:nvPr>
        </p:nvSpPr>
        <p:spPr/>
        <p:txBody>
          <a:bodyPr/>
          <a:lstStyle/>
          <a:p>
            <a:r>
              <a:rPr lang="zh-CN" altLang="zh-CN" sz="2800" b="1" dirty="0">
                <a:latin typeface="宋体"/>
                <a:ea typeface="宋体"/>
                <a:cs typeface="宋体"/>
              </a:rPr>
              <a:t>被告人汤定求在乘坐全封闭型直达长途汽车途中，窃得乘客方某放在公文包内的人民币</a:t>
            </a:r>
            <a:r>
              <a:rPr lang="en-US" altLang="zh-CN" sz="2800" b="1" dirty="0">
                <a:latin typeface="宋体"/>
                <a:ea typeface="宋体"/>
                <a:cs typeface="宋体"/>
              </a:rPr>
              <a:t>4</a:t>
            </a:r>
            <a:r>
              <a:rPr lang="zh-CN" altLang="zh-CN" sz="2800" b="1" dirty="0">
                <a:latin typeface="宋体"/>
                <a:ea typeface="宋体"/>
                <a:cs typeface="宋体"/>
              </a:rPr>
              <a:t>万元后交给被告人汤会昌，汤会昌将赃款放至行李架上。被害人方某在途中发现钱款被窃即向有关人员报失，车直达长途汽车站后，接警的公安人员根据乘客指认将两被告人抓获，并从行李架上缴获赃款人民币</a:t>
            </a:r>
            <a:r>
              <a:rPr lang="en-US" altLang="zh-CN" sz="2800" b="1" dirty="0">
                <a:latin typeface="宋体"/>
                <a:ea typeface="宋体"/>
                <a:cs typeface="宋体"/>
              </a:rPr>
              <a:t>4</a:t>
            </a:r>
            <a:r>
              <a:rPr lang="zh-CN" altLang="zh-CN" sz="2800" b="1" dirty="0">
                <a:latin typeface="宋体"/>
                <a:ea typeface="宋体"/>
                <a:cs typeface="宋体"/>
              </a:rPr>
              <a:t>万元。</a:t>
            </a:r>
          </a:p>
          <a:p>
            <a:r>
              <a:rPr lang="zh-CN" altLang="zh-CN" sz="2800" b="1" dirty="0">
                <a:latin typeface="宋体"/>
                <a:ea typeface="宋体"/>
                <a:cs typeface="宋体"/>
              </a:rPr>
              <a:t>问题：在长途汽车上窃取现金藏匿后因失主报案汽车被控制而被抓获的，是盗窃罪既遂还是未遂？</a:t>
            </a:r>
          </a:p>
          <a:p>
            <a:endParaRPr kumimoji="1" lang="zh-CN" altLang="en-US" sz="2800" b="1" dirty="0">
              <a:latin typeface="宋体"/>
              <a:ea typeface="宋体"/>
              <a:cs typeface="宋体"/>
            </a:endParaRPr>
          </a:p>
        </p:txBody>
      </p:sp>
    </p:spTree>
    <p:extLst>
      <p:ext uri="{BB962C8B-B14F-4D97-AF65-F5344CB8AC3E}">
        <p14:creationId xmlns:p14="http://schemas.microsoft.com/office/powerpoint/2010/main" val="18028794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600" b="1" dirty="0">
                <a:latin typeface="黑体"/>
                <a:ea typeface="黑体"/>
                <a:cs typeface="黑体"/>
              </a:rPr>
              <a:t>概念：未完成罪</a:t>
            </a:r>
            <a:r>
              <a:rPr lang="zh-CN" altLang="zh-CN" sz="3600" dirty="0">
                <a:latin typeface="黑体"/>
                <a:ea typeface="黑体"/>
                <a:cs typeface="黑体"/>
              </a:rPr>
              <a:t> </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980728"/>
            <a:ext cx="8229600" cy="5255790"/>
          </a:xfrm>
        </p:spPr>
        <p:txBody>
          <a:bodyPr/>
          <a:lstStyle/>
          <a:p>
            <a:r>
              <a:rPr lang="zh-CN" altLang="zh-CN" sz="2800" dirty="0">
                <a:latin typeface="宋体"/>
                <a:ea typeface="宋体"/>
                <a:cs typeface="宋体"/>
              </a:rPr>
              <a:t>犯罪是个过程。对故意犯罪而言，在不同的犯罪阶段里，都可能发生犯罪过程的停顿。</a:t>
            </a:r>
            <a:endParaRPr lang="en-US" altLang="zh-CN" sz="2800" dirty="0">
              <a:latin typeface="宋体"/>
              <a:ea typeface="宋体"/>
              <a:cs typeface="宋体"/>
            </a:endParaRPr>
          </a:p>
          <a:p>
            <a:r>
              <a:rPr lang="zh-CN" altLang="zh-CN" sz="2800" dirty="0">
                <a:latin typeface="宋体"/>
                <a:ea typeface="宋体"/>
                <a:cs typeface="宋体"/>
              </a:rPr>
              <a:t>结局发生的阶段不同，行为的刑法评价也将不同。</a:t>
            </a:r>
            <a:endParaRPr lang="en-US" altLang="zh-CN" sz="2800" dirty="0">
              <a:latin typeface="宋体"/>
              <a:ea typeface="宋体"/>
              <a:cs typeface="宋体"/>
            </a:endParaRPr>
          </a:p>
          <a:p>
            <a:r>
              <a:rPr lang="zh-CN" altLang="zh-CN" sz="2800" dirty="0">
                <a:latin typeface="宋体"/>
                <a:ea typeface="宋体"/>
                <a:cs typeface="宋体"/>
              </a:rPr>
              <a:t>越早结束犯罪，距离危害结果就越远，对被害而言的危险就越小，相应地，刑事责任也就越轻。</a:t>
            </a:r>
          </a:p>
          <a:p>
            <a:r>
              <a:rPr kumimoji="1" lang="zh-CN" altLang="en-US" sz="3200" b="1" dirty="0">
                <a:latin typeface="楷体"/>
                <a:ea typeface="楷体"/>
                <a:cs typeface="楷体"/>
              </a:rPr>
              <a:t>“犯罪预备”</a:t>
            </a:r>
            <a:endParaRPr kumimoji="1" lang="en-US" altLang="zh-CN" sz="3200" b="1" dirty="0">
              <a:latin typeface="楷体"/>
              <a:ea typeface="楷体"/>
              <a:cs typeface="楷体"/>
            </a:endParaRPr>
          </a:p>
          <a:p>
            <a:pPr marL="0" indent="0">
              <a:buNone/>
            </a:pPr>
            <a:r>
              <a:rPr lang="en-US" altLang="zh-CN" dirty="0">
                <a:latin typeface="黑体"/>
                <a:ea typeface="黑体"/>
                <a:cs typeface="黑体"/>
              </a:rPr>
              <a:t>    </a:t>
            </a:r>
            <a:r>
              <a:rPr lang="zh-CN" altLang="zh-CN" dirty="0">
                <a:latin typeface="黑体"/>
                <a:ea typeface="黑体"/>
                <a:cs typeface="黑体"/>
              </a:rPr>
              <a:t>第二十二条</a:t>
            </a:r>
            <a:r>
              <a:rPr lang="en-US" altLang="zh-CN" dirty="0">
                <a:latin typeface="黑体"/>
                <a:ea typeface="黑体"/>
                <a:cs typeface="黑体"/>
              </a:rPr>
              <a:t>  </a:t>
            </a:r>
            <a:r>
              <a:rPr lang="zh-CN" altLang="zh-CN" dirty="0">
                <a:latin typeface="黑体"/>
                <a:ea typeface="黑体"/>
                <a:cs typeface="黑体"/>
              </a:rPr>
              <a:t>为了犯罪，准备工具、制造条件的，是犯罪预备。</a:t>
            </a:r>
            <a:r>
              <a:rPr lang="en-US" altLang="zh-CN" dirty="0">
                <a:latin typeface="黑体"/>
                <a:ea typeface="黑体"/>
                <a:cs typeface="黑体"/>
              </a:rPr>
              <a:t>  </a:t>
            </a:r>
            <a:r>
              <a:rPr lang="zh-CN" altLang="zh-CN" dirty="0">
                <a:latin typeface="黑体"/>
                <a:ea typeface="黑体"/>
                <a:cs typeface="黑体"/>
              </a:rPr>
              <a:t>对于预备犯，可以比照既遂犯从轻、减轻处罚或者免除处罚。</a:t>
            </a:r>
            <a:endParaRPr kumimoji="1" lang="en-US" altLang="zh-CN" sz="2800" dirty="0">
              <a:latin typeface="宋体"/>
              <a:ea typeface="宋体"/>
              <a:cs typeface="宋体"/>
            </a:endParaRPr>
          </a:p>
          <a:p>
            <a:r>
              <a:rPr kumimoji="1" lang="zh-CN" altLang="en-US" sz="3200" b="1" dirty="0">
                <a:latin typeface="楷体"/>
                <a:ea typeface="楷体"/>
                <a:cs typeface="楷体"/>
              </a:rPr>
              <a:t>“犯罪未遂”</a:t>
            </a:r>
            <a:endParaRPr kumimoji="1" lang="en-US" altLang="zh-CN" sz="3200" b="1" dirty="0">
              <a:latin typeface="楷体"/>
              <a:ea typeface="楷体"/>
              <a:cs typeface="楷体"/>
            </a:endParaRPr>
          </a:p>
          <a:p>
            <a:r>
              <a:rPr kumimoji="1" lang="zh-CN" altLang="en-US" sz="3200" b="1" dirty="0">
                <a:latin typeface="楷体"/>
                <a:ea typeface="楷体"/>
                <a:cs typeface="楷体"/>
              </a:rPr>
              <a:t>“犯罪中止”</a:t>
            </a:r>
          </a:p>
        </p:txBody>
      </p:sp>
    </p:spTree>
    <p:extLst>
      <p:ext uri="{BB962C8B-B14F-4D97-AF65-F5344CB8AC3E}">
        <p14:creationId xmlns:p14="http://schemas.microsoft.com/office/powerpoint/2010/main" val="361362223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犯罪未遂</a:t>
            </a:r>
          </a:p>
        </p:txBody>
      </p:sp>
      <p:sp>
        <p:nvSpPr>
          <p:cNvPr id="3" name="内容占位符 2"/>
          <p:cNvSpPr>
            <a:spLocks noGrp="1"/>
          </p:cNvSpPr>
          <p:nvPr>
            <p:ph idx="1"/>
          </p:nvPr>
        </p:nvSpPr>
        <p:spPr>
          <a:xfrm>
            <a:off x="323528" y="1125538"/>
            <a:ext cx="8496944" cy="5000625"/>
          </a:xfrm>
        </p:spPr>
        <p:txBody>
          <a:bodyPr/>
          <a:lstStyle/>
          <a:p>
            <a:r>
              <a:rPr lang="zh-CN" altLang="zh-CN" dirty="0">
                <a:latin typeface="黑体"/>
                <a:ea typeface="黑体"/>
                <a:cs typeface="黑体"/>
              </a:rPr>
              <a:t>第二十三条</a:t>
            </a:r>
            <a:r>
              <a:rPr lang="en-US" altLang="zh-CN" dirty="0">
                <a:latin typeface="黑体"/>
                <a:ea typeface="黑体"/>
                <a:cs typeface="黑体"/>
              </a:rPr>
              <a:t>  </a:t>
            </a:r>
            <a:r>
              <a:rPr lang="zh-CN" altLang="zh-CN" dirty="0">
                <a:latin typeface="黑体"/>
                <a:ea typeface="黑体"/>
                <a:cs typeface="黑体"/>
              </a:rPr>
              <a:t>已经着手实行犯罪，由于犯罪分子意志以外的原因而未得逞的，是犯罪未遂。</a:t>
            </a:r>
            <a:br>
              <a:rPr lang="en-US" altLang="zh-CN" dirty="0">
                <a:latin typeface="黑体"/>
                <a:ea typeface="黑体"/>
                <a:cs typeface="黑体"/>
              </a:rPr>
            </a:br>
            <a:r>
              <a:rPr lang="zh-CN" altLang="zh-CN" dirty="0">
                <a:latin typeface="黑体"/>
                <a:ea typeface="黑体"/>
                <a:cs typeface="黑体"/>
              </a:rPr>
              <a:t>　　对于未遂犯，可以比照既遂犯从轻或者减轻处罚。</a:t>
            </a:r>
            <a:endParaRPr lang="en-US" altLang="zh-CN" b="1" dirty="0">
              <a:latin typeface="宋体"/>
              <a:ea typeface="宋体"/>
              <a:cs typeface="宋体"/>
            </a:endParaRPr>
          </a:p>
          <a:p>
            <a:r>
              <a:rPr lang="zh-CN" altLang="zh-CN" b="1" dirty="0">
                <a:latin typeface="宋体"/>
                <a:ea typeface="宋体"/>
                <a:cs typeface="宋体"/>
              </a:rPr>
              <a:t>构成犯罪未遂，须</a:t>
            </a:r>
            <a:r>
              <a:rPr lang="zh-CN" altLang="en-US" b="1" dirty="0">
                <a:latin typeface="宋体"/>
                <a:ea typeface="宋体"/>
                <a:cs typeface="宋体"/>
              </a:rPr>
              <a:t>同时</a:t>
            </a:r>
            <a:r>
              <a:rPr lang="zh-CN" altLang="zh-CN" b="1" dirty="0">
                <a:latin typeface="宋体"/>
                <a:ea typeface="宋体"/>
                <a:cs typeface="宋体"/>
              </a:rPr>
              <a:t>满足三个特征：</a:t>
            </a:r>
          </a:p>
          <a:p>
            <a:r>
              <a:rPr kumimoji="1" lang="zh-CN" altLang="en-US" b="1" dirty="0">
                <a:latin typeface="宋体"/>
                <a:ea typeface="宋体"/>
                <a:cs typeface="宋体"/>
              </a:rPr>
              <a:t>第一，</a:t>
            </a:r>
            <a:r>
              <a:rPr kumimoji="1" lang="zh-CN" altLang="en-US" b="1" dirty="0">
                <a:latin typeface="黑体"/>
                <a:ea typeface="黑体"/>
                <a:cs typeface="黑体"/>
              </a:rPr>
              <a:t>已着手</a:t>
            </a:r>
            <a:r>
              <a:rPr kumimoji="1" lang="en-US" altLang="zh-CN" b="1" dirty="0">
                <a:latin typeface="宋体"/>
                <a:ea typeface="宋体"/>
                <a:cs typeface="宋体"/>
              </a:rPr>
              <a:t>——</a:t>
            </a:r>
            <a:r>
              <a:rPr kumimoji="1" lang="zh-CN" altLang="en-US" b="1" dirty="0">
                <a:latin typeface="宋体"/>
                <a:ea typeface="宋体"/>
                <a:cs typeface="宋体"/>
              </a:rPr>
              <a:t>与预备的区别。</a:t>
            </a:r>
            <a:endParaRPr kumimoji="1" lang="en-US" altLang="zh-CN" b="1" dirty="0">
              <a:latin typeface="宋体"/>
              <a:ea typeface="宋体"/>
              <a:cs typeface="宋体"/>
            </a:endParaRPr>
          </a:p>
          <a:p>
            <a:r>
              <a:rPr lang="zh-CN" altLang="zh-CN" b="1" dirty="0">
                <a:latin typeface="宋体"/>
                <a:ea typeface="宋体"/>
                <a:cs typeface="宋体"/>
              </a:rPr>
              <a:t>第二，</a:t>
            </a:r>
            <a:r>
              <a:rPr kumimoji="1" lang="zh-CN" altLang="zh-CN" b="1" dirty="0">
                <a:latin typeface="黑体"/>
                <a:ea typeface="黑体"/>
                <a:cs typeface="黑体"/>
              </a:rPr>
              <a:t>未得逞</a:t>
            </a:r>
            <a:r>
              <a:rPr lang="en-US" altLang="zh-CN" b="1" dirty="0">
                <a:latin typeface="宋体"/>
                <a:ea typeface="宋体"/>
                <a:cs typeface="宋体"/>
              </a:rPr>
              <a:t>——</a:t>
            </a:r>
            <a:r>
              <a:rPr lang="zh-CN" altLang="zh-CN" b="1" dirty="0">
                <a:latin typeface="宋体"/>
                <a:ea typeface="宋体"/>
                <a:cs typeface="宋体"/>
              </a:rPr>
              <a:t>与既遂之间的区别。</a:t>
            </a:r>
            <a:endParaRPr lang="en-US" altLang="zh-CN" b="1" dirty="0">
              <a:latin typeface="宋体"/>
              <a:ea typeface="宋体"/>
              <a:cs typeface="宋体"/>
            </a:endParaRPr>
          </a:p>
          <a:p>
            <a:pPr marL="0" indent="0">
              <a:buNone/>
            </a:pPr>
            <a:r>
              <a:rPr lang="en-US" altLang="zh-CN" b="1" dirty="0">
                <a:latin typeface="宋体"/>
                <a:ea typeface="宋体"/>
                <a:cs typeface="宋体"/>
              </a:rPr>
              <a:t>    </a:t>
            </a:r>
            <a:r>
              <a:rPr lang="zh-CN" altLang="zh-CN" b="1" dirty="0">
                <a:latin typeface="宋体"/>
                <a:ea typeface="宋体"/>
                <a:cs typeface="宋体"/>
              </a:rPr>
              <a:t>对结果犯而言，就是没有出现具体犯罪结果。</a:t>
            </a:r>
            <a:endParaRPr lang="en-US" altLang="zh-CN" b="1" dirty="0">
              <a:latin typeface="宋体"/>
              <a:ea typeface="宋体"/>
              <a:cs typeface="宋体"/>
            </a:endParaRPr>
          </a:p>
          <a:p>
            <a:pPr marL="0" indent="0">
              <a:buNone/>
            </a:pPr>
            <a:r>
              <a:rPr lang="en-US" altLang="zh-CN" b="1" dirty="0">
                <a:latin typeface="宋体"/>
                <a:ea typeface="宋体"/>
                <a:cs typeface="宋体"/>
              </a:rPr>
              <a:t>    </a:t>
            </a:r>
            <a:r>
              <a:rPr lang="zh-CN" altLang="zh-CN" b="1" dirty="0">
                <a:latin typeface="宋体"/>
                <a:ea typeface="宋体"/>
                <a:cs typeface="宋体"/>
              </a:rPr>
              <a:t>对行为犯来说，未得逞就是法定行为是否完成。如强奸犯</a:t>
            </a:r>
            <a:r>
              <a:rPr lang="zh-CN" altLang="en-US" b="1" dirty="0">
                <a:latin typeface="宋体"/>
                <a:ea typeface="宋体"/>
                <a:cs typeface="宋体"/>
              </a:rPr>
              <a:t>。</a:t>
            </a:r>
            <a:endParaRPr lang="en-US" altLang="zh-CN" b="1" dirty="0">
              <a:latin typeface="宋体"/>
              <a:ea typeface="宋体"/>
              <a:cs typeface="宋体"/>
            </a:endParaRPr>
          </a:p>
          <a:p>
            <a:pPr marL="0" indent="0">
              <a:buNone/>
            </a:pPr>
            <a:r>
              <a:rPr lang="en-US" altLang="zh-CN" b="1" dirty="0">
                <a:latin typeface="宋体"/>
                <a:ea typeface="宋体"/>
                <a:cs typeface="宋体"/>
              </a:rPr>
              <a:t>    </a:t>
            </a:r>
            <a:r>
              <a:rPr lang="zh-CN" altLang="zh-CN" b="1" dirty="0">
                <a:latin typeface="宋体"/>
                <a:ea typeface="宋体"/>
                <a:cs typeface="宋体"/>
              </a:rPr>
              <a:t>对危险犯而言，未得逞就是行为尚未造成刑法要求的危险状态。</a:t>
            </a:r>
            <a:endParaRPr lang="en-US" altLang="zh-CN" b="1" dirty="0">
              <a:latin typeface="宋体"/>
              <a:ea typeface="宋体"/>
              <a:cs typeface="宋体"/>
            </a:endParaRPr>
          </a:p>
          <a:p>
            <a:r>
              <a:rPr lang="zh-CN" altLang="zh-CN" b="1" dirty="0">
                <a:latin typeface="宋体"/>
                <a:ea typeface="宋体"/>
                <a:cs typeface="宋体"/>
              </a:rPr>
              <a:t>第三，未得逞是行为人</a:t>
            </a:r>
            <a:r>
              <a:rPr kumimoji="1" lang="zh-CN" altLang="zh-CN" b="1" dirty="0">
                <a:latin typeface="黑体"/>
                <a:ea typeface="黑体"/>
                <a:cs typeface="黑体"/>
              </a:rPr>
              <a:t>意志以外的原因</a:t>
            </a:r>
            <a:r>
              <a:rPr lang="zh-CN" altLang="zh-CN" b="1" dirty="0">
                <a:latin typeface="宋体"/>
                <a:ea typeface="宋体"/>
                <a:cs typeface="宋体"/>
              </a:rPr>
              <a:t>所致</a:t>
            </a:r>
            <a:r>
              <a:rPr lang="en-US" altLang="zh-CN" b="1" dirty="0">
                <a:latin typeface="宋体"/>
                <a:ea typeface="宋体"/>
                <a:cs typeface="宋体"/>
              </a:rPr>
              <a:t>——</a:t>
            </a:r>
            <a:r>
              <a:rPr lang="zh-CN" altLang="zh-CN" b="1" dirty="0">
                <a:latin typeface="宋体"/>
                <a:ea typeface="宋体"/>
                <a:cs typeface="宋体"/>
              </a:rPr>
              <a:t>与中止的区别。 </a:t>
            </a:r>
          </a:p>
        </p:txBody>
      </p:sp>
    </p:spTree>
    <p:extLst>
      <p:ext uri="{BB962C8B-B14F-4D97-AF65-F5344CB8AC3E}">
        <p14:creationId xmlns:p14="http://schemas.microsoft.com/office/powerpoint/2010/main" val="346801111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400" dirty="0">
                <a:latin typeface="黑体"/>
                <a:ea typeface="黑体"/>
                <a:cs typeface="黑体"/>
              </a:rPr>
              <a:t>中止</a:t>
            </a:r>
          </a:p>
        </p:txBody>
      </p:sp>
      <p:sp>
        <p:nvSpPr>
          <p:cNvPr id="3" name="内容占位符 2"/>
          <p:cNvSpPr>
            <a:spLocks noGrp="1"/>
          </p:cNvSpPr>
          <p:nvPr>
            <p:ph idx="1"/>
          </p:nvPr>
        </p:nvSpPr>
        <p:spPr>
          <a:xfrm>
            <a:off x="251520" y="980728"/>
            <a:ext cx="8640960" cy="5000625"/>
          </a:xfrm>
        </p:spPr>
        <p:txBody>
          <a:bodyPr/>
          <a:lstStyle/>
          <a:p>
            <a:r>
              <a:rPr lang="zh-CN" altLang="zh-CN" dirty="0">
                <a:latin typeface="黑体"/>
                <a:ea typeface="黑体"/>
                <a:cs typeface="黑体"/>
              </a:rPr>
              <a:t>第二十四条</a:t>
            </a:r>
            <a:r>
              <a:rPr lang="en-US" altLang="zh-CN" dirty="0">
                <a:latin typeface="黑体"/>
                <a:ea typeface="黑体"/>
                <a:cs typeface="黑体"/>
              </a:rPr>
              <a:t>  </a:t>
            </a:r>
            <a:r>
              <a:rPr lang="zh-CN" altLang="zh-CN" dirty="0">
                <a:latin typeface="黑体"/>
                <a:ea typeface="黑体"/>
                <a:cs typeface="黑体"/>
              </a:rPr>
              <a:t>在犯罪过程中，自动放弃犯罪或者自动有效地防止犯罪结果发生的，是犯罪中止。</a:t>
            </a:r>
            <a:br>
              <a:rPr lang="en-US" altLang="zh-CN" dirty="0">
                <a:latin typeface="黑体"/>
                <a:ea typeface="黑体"/>
                <a:cs typeface="黑体"/>
              </a:rPr>
            </a:br>
            <a:r>
              <a:rPr lang="zh-CN" altLang="zh-CN" dirty="0">
                <a:latin typeface="黑体"/>
                <a:ea typeface="黑体"/>
                <a:cs typeface="黑体"/>
              </a:rPr>
              <a:t>　　对于中止犯，没有造成损害的，应当免除处罚；造成损害的，应当减轻处罚。</a:t>
            </a:r>
            <a:endParaRPr lang="en-US" altLang="zh-CN" b="1" dirty="0">
              <a:latin typeface="宋体"/>
              <a:ea typeface="宋体"/>
              <a:cs typeface="宋体"/>
            </a:endParaRPr>
          </a:p>
          <a:p>
            <a:r>
              <a:rPr lang="zh-CN" altLang="zh-CN" b="1" dirty="0">
                <a:latin typeface="宋体"/>
                <a:ea typeface="宋体"/>
                <a:cs typeface="宋体"/>
              </a:rPr>
              <a:t>其一，自动。与未遂的区别。是犯罪人</a:t>
            </a:r>
            <a:r>
              <a:rPr lang="zh-CN" altLang="zh-CN" b="1" dirty="0">
                <a:latin typeface="黑体"/>
                <a:ea typeface="黑体"/>
                <a:cs typeface="黑体"/>
              </a:rPr>
              <a:t>自认为</a:t>
            </a:r>
            <a:r>
              <a:rPr lang="zh-CN" altLang="zh-CN" b="1" dirty="0">
                <a:latin typeface="宋体"/>
                <a:ea typeface="宋体"/>
                <a:cs typeface="宋体"/>
              </a:rPr>
              <a:t>可以将犯罪实施完毕而出于本身的自主意愿而主动放弃了犯罪。 </a:t>
            </a:r>
            <a:endParaRPr lang="en-US" altLang="zh-CN" b="1" dirty="0">
              <a:latin typeface="宋体"/>
              <a:ea typeface="宋体"/>
              <a:cs typeface="宋体"/>
            </a:endParaRPr>
          </a:p>
          <a:p>
            <a:r>
              <a:rPr lang="zh-CN" altLang="zh-CN" b="1" dirty="0">
                <a:latin typeface="宋体"/>
                <a:ea typeface="宋体"/>
                <a:cs typeface="宋体"/>
              </a:rPr>
              <a:t>第二，及时。与既遂之间的区别。发生在预备阶段或者实行行为开始以后而既遂之前。</a:t>
            </a:r>
            <a:r>
              <a:rPr lang="zh-CN" altLang="en-US" b="1" dirty="0">
                <a:latin typeface="宋体"/>
                <a:ea typeface="宋体"/>
                <a:cs typeface="宋体"/>
              </a:rPr>
              <a:t>（</a:t>
            </a:r>
            <a:r>
              <a:rPr lang="zh-CN" altLang="zh-CN" b="1" dirty="0">
                <a:latin typeface="宋体"/>
                <a:ea typeface="宋体"/>
                <a:cs typeface="宋体"/>
              </a:rPr>
              <a:t>一个特殊问题，即连续性犯罪动作的中止判断标准问题</a:t>
            </a:r>
            <a:r>
              <a:rPr lang="zh-CN" altLang="en-US" b="1" dirty="0">
                <a:latin typeface="宋体"/>
                <a:ea typeface="宋体"/>
                <a:cs typeface="宋体"/>
              </a:rPr>
              <a:t>）</a:t>
            </a:r>
            <a:endParaRPr lang="en-US" altLang="zh-CN" b="1" dirty="0">
              <a:latin typeface="宋体"/>
              <a:ea typeface="宋体"/>
              <a:cs typeface="宋体"/>
            </a:endParaRPr>
          </a:p>
          <a:p>
            <a:r>
              <a:rPr lang="zh-CN" altLang="zh-CN" b="1" dirty="0">
                <a:latin typeface="宋体"/>
                <a:ea typeface="宋体"/>
                <a:cs typeface="宋体"/>
              </a:rPr>
              <a:t>第三，有效。危害后果尚未出现。对尚未实行终了的犯罪而言，只要中止了正在实行的犯罪行为</a:t>
            </a:r>
            <a:r>
              <a:rPr lang="zh-CN" altLang="en-US" b="1" dirty="0">
                <a:latin typeface="宋体"/>
                <a:ea typeface="宋体"/>
                <a:cs typeface="宋体"/>
              </a:rPr>
              <a:t>即可</a:t>
            </a:r>
            <a:r>
              <a:rPr lang="zh-CN" altLang="zh-CN" b="1" dirty="0">
                <a:latin typeface="宋体"/>
                <a:ea typeface="宋体"/>
                <a:cs typeface="宋体"/>
              </a:rPr>
              <a:t>。而对实行终了的犯罪，就要看危害结果是否出现。 </a:t>
            </a:r>
            <a:endParaRPr kumimoji="1" lang="zh-CN" altLang="en-US" b="1" dirty="0">
              <a:latin typeface="宋体"/>
              <a:ea typeface="宋体"/>
              <a:cs typeface="宋体"/>
            </a:endParaRPr>
          </a:p>
        </p:txBody>
      </p:sp>
    </p:spTree>
    <p:extLst>
      <p:ext uri="{BB962C8B-B14F-4D97-AF65-F5344CB8AC3E}">
        <p14:creationId xmlns:p14="http://schemas.microsoft.com/office/powerpoint/2010/main" val="2917058157"/>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盗窃的具体认定问题</a:t>
            </a:r>
          </a:p>
        </p:txBody>
      </p:sp>
      <p:sp>
        <p:nvSpPr>
          <p:cNvPr id="3" name="内容占位符 2"/>
          <p:cNvSpPr>
            <a:spLocks noGrp="1"/>
          </p:cNvSpPr>
          <p:nvPr>
            <p:ph idx="1"/>
          </p:nvPr>
        </p:nvSpPr>
        <p:spPr>
          <a:xfrm>
            <a:off x="395536" y="1125538"/>
            <a:ext cx="8424936" cy="5000625"/>
          </a:xfrm>
        </p:spPr>
        <p:txBody>
          <a:bodyPr/>
          <a:lstStyle/>
          <a:p>
            <a:r>
              <a:rPr lang="zh-CN" altLang="zh-CN" sz="2800" dirty="0">
                <a:latin typeface="宋体"/>
                <a:ea typeface="宋体"/>
                <a:cs typeface="宋体"/>
              </a:rPr>
              <a:t>控制说</a:t>
            </a:r>
            <a:r>
              <a:rPr lang="zh-CN" altLang="en-US" sz="2800" dirty="0">
                <a:latin typeface="宋体"/>
                <a:ea typeface="宋体"/>
                <a:cs typeface="宋体"/>
              </a:rPr>
              <a:t>：</a:t>
            </a:r>
            <a:r>
              <a:rPr lang="zh-CN" altLang="zh-CN" sz="2800" dirty="0">
                <a:latin typeface="宋体"/>
                <a:ea typeface="宋体"/>
                <a:cs typeface="宋体"/>
              </a:rPr>
              <a:t>认为应当以盗窃行为人是否已经实际控制被盗财物为标准</a:t>
            </a:r>
            <a:r>
              <a:rPr lang="zh-CN" altLang="en-US" sz="2800" dirty="0">
                <a:latin typeface="宋体"/>
                <a:ea typeface="宋体"/>
                <a:cs typeface="宋体"/>
              </a:rPr>
              <a:t>，</a:t>
            </a:r>
            <a:r>
              <a:rPr lang="zh-CN" altLang="zh-CN" sz="2800" dirty="0">
                <a:latin typeface="宋体"/>
                <a:ea typeface="宋体"/>
                <a:cs typeface="宋体"/>
              </a:rPr>
              <a:t>判断盗窃罪的既遂与未遂，行为人已经实际控制盗窃所得财物的是盗窃既遂，没有实际控制所窃得财物的是盗窃未遂。</a:t>
            </a:r>
            <a:endParaRPr lang="en-US" altLang="zh-CN" sz="2800" dirty="0">
              <a:latin typeface="宋体"/>
              <a:ea typeface="宋体"/>
              <a:cs typeface="宋体"/>
            </a:endParaRPr>
          </a:p>
          <a:p>
            <a:r>
              <a:rPr lang="zh-CN" altLang="zh-CN" sz="2800" dirty="0">
                <a:latin typeface="宋体"/>
                <a:ea typeface="宋体"/>
                <a:cs typeface="宋体"/>
              </a:rPr>
              <a:t>失控说</a:t>
            </a:r>
            <a:r>
              <a:rPr lang="zh-CN" altLang="en-US" sz="2800" dirty="0">
                <a:latin typeface="宋体"/>
                <a:ea typeface="宋体"/>
                <a:cs typeface="宋体"/>
              </a:rPr>
              <a:t>：</a:t>
            </a:r>
            <a:r>
              <a:rPr lang="zh-CN" altLang="zh-CN" sz="2800" dirty="0">
                <a:latin typeface="宋体"/>
                <a:ea typeface="宋体"/>
                <a:cs typeface="宋体"/>
              </a:rPr>
              <a:t>认为应当以盗窃行为人的盗窃行为是否使公私财物的权利人丧失了对被盗财物的实际有效控制作为划分盗窃既遂与未遂的标准。凡是未能使盗窃目的物脱离权利人实际有效控制的为盗窃未遂。</a:t>
            </a:r>
          </a:p>
          <a:p>
            <a:r>
              <a:rPr lang="zh-CN" altLang="zh-CN" sz="2800" dirty="0">
                <a:latin typeface="宋体"/>
                <a:ea typeface="宋体"/>
                <a:cs typeface="宋体"/>
              </a:rPr>
              <a:t>本案中，行为人虽然已经完成盗窃行为，但是，尚未对财物实现完全的控制，意志以外的原因未得逞，因而是未遂。</a:t>
            </a:r>
          </a:p>
          <a:p>
            <a:endParaRPr kumimoji="1" lang="zh-CN" altLang="en-US" dirty="0"/>
          </a:p>
        </p:txBody>
      </p:sp>
    </p:spTree>
    <p:extLst>
      <p:ext uri="{BB962C8B-B14F-4D97-AF65-F5344CB8AC3E}">
        <p14:creationId xmlns:p14="http://schemas.microsoft.com/office/powerpoint/2010/main" val="98377591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比较</a:t>
            </a:r>
          </a:p>
        </p:txBody>
      </p:sp>
      <p:sp>
        <p:nvSpPr>
          <p:cNvPr id="3" name="内容占位符 2"/>
          <p:cNvSpPr>
            <a:spLocks noGrp="1"/>
          </p:cNvSpPr>
          <p:nvPr>
            <p:ph idx="1"/>
          </p:nvPr>
        </p:nvSpPr>
        <p:spPr/>
        <p:txBody>
          <a:bodyPr/>
          <a:lstStyle/>
          <a:p>
            <a:r>
              <a:rPr lang="zh-CN" altLang="zh-CN" sz="2800" b="1" dirty="0">
                <a:latin typeface="楷体"/>
                <a:ea typeface="楷体"/>
                <a:cs typeface="楷体"/>
              </a:rPr>
              <a:t>案例１：某人正欲强奸时，听到外面有人喊“妈妈”，随即溜走，其实，是邻居家之女。</a:t>
            </a:r>
          </a:p>
          <a:p>
            <a:r>
              <a:rPr lang="zh-CN" altLang="zh-CN" sz="2800" b="1" dirty="0">
                <a:latin typeface="楷体"/>
                <a:ea typeface="楷体"/>
                <a:cs typeface="楷体"/>
              </a:rPr>
              <a:t>案例２：某甲得知某乙（女）的丈夫外出打工不在家，某晚来到某乙家，并对某乙着手实施强奸。其间，某乙说，只要我不死，你就甭想活！行为人听到此话，便立即停止插入，并将被子重新盖在被害人身上。正准备离开，有人敲门，此时某乙大喊有人强奸。来人踹门近来，正是被害人丈夫，随即将某甲扭住。</a:t>
            </a:r>
          </a:p>
          <a:p>
            <a:r>
              <a:rPr lang="zh-CN" altLang="zh-CN" sz="2800" b="1" dirty="0">
                <a:latin typeface="楷体"/>
                <a:ea typeface="楷体"/>
                <a:cs typeface="楷体"/>
              </a:rPr>
              <a:t>案例３：强奸中发现正在例假期间，认为此时行奸会染上疾病。于是说了些道歉的话，随即离开。</a:t>
            </a:r>
          </a:p>
          <a:p>
            <a:endParaRPr kumimoji="1" lang="zh-CN" altLang="en-US" dirty="0"/>
          </a:p>
        </p:txBody>
      </p:sp>
    </p:spTree>
    <p:extLst>
      <p:ext uri="{BB962C8B-B14F-4D97-AF65-F5344CB8AC3E}">
        <p14:creationId xmlns:p14="http://schemas.microsoft.com/office/powerpoint/2010/main" val="1622936739"/>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再比较两例：轻罪重罪的选择</a:t>
            </a:r>
          </a:p>
        </p:txBody>
      </p:sp>
      <p:sp>
        <p:nvSpPr>
          <p:cNvPr id="3" name="内容占位符 2"/>
          <p:cNvSpPr>
            <a:spLocks noGrp="1"/>
          </p:cNvSpPr>
          <p:nvPr>
            <p:ph idx="1"/>
          </p:nvPr>
        </p:nvSpPr>
        <p:spPr/>
        <p:txBody>
          <a:bodyPr/>
          <a:lstStyle/>
          <a:p>
            <a:r>
              <a:rPr kumimoji="1" lang="zh-CN" altLang="en-US" sz="3600" b="1" dirty="0">
                <a:latin typeface="宋体"/>
                <a:ea typeface="宋体"/>
                <a:cs typeface="宋体"/>
              </a:rPr>
              <a:t>例一：</a:t>
            </a:r>
            <a:r>
              <a:rPr lang="zh-CN" altLang="zh-CN" sz="3600" b="1" dirty="0">
                <a:latin typeface="宋体"/>
                <a:ea typeface="宋体"/>
                <a:cs typeface="宋体"/>
              </a:rPr>
              <a:t>某日凌晨</a:t>
            </a:r>
            <a:r>
              <a:rPr lang="en-US" altLang="zh-CN" sz="3600" b="1" dirty="0">
                <a:latin typeface="宋体"/>
                <a:ea typeface="宋体"/>
                <a:cs typeface="宋体"/>
              </a:rPr>
              <a:t>3</a:t>
            </a:r>
            <a:r>
              <a:rPr lang="zh-CN" altLang="zh-CN" sz="3600" b="1" dirty="0">
                <a:latin typeface="宋体"/>
                <a:ea typeface="宋体"/>
                <a:cs typeface="宋体"/>
              </a:rPr>
              <a:t>时许，钟某携带一把钢锯和三个尼龙袋，到海口市某工地路段，用钢锯割断约近百米长的正在使用的架空通讯电缆线，然后将电线装进尼龙袋内运离现场，用汽油烧掉电缆的外胶皮后，将铜线芯卖给过路收购废品的人，得赃款人民币</a:t>
            </a:r>
            <a:r>
              <a:rPr lang="en-US" altLang="zh-CN" sz="3600" b="1" dirty="0">
                <a:latin typeface="宋体"/>
                <a:ea typeface="宋体"/>
                <a:cs typeface="宋体"/>
              </a:rPr>
              <a:t>6390</a:t>
            </a:r>
            <a:r>
              <a:rPr lang="zh-CN" altLang="zh-CN" sz="3600" b="1" dirty="0">
                <a:latin typeface="宋体"/>
                <a:ea typeface="宋体"/>
                <a:cs typeface="宋体"/>
              </a:rPr>
              <a:t>元。 </a:t>
            </a:r>
            <a:endParaRPr kumimoji="1" lang="zh-CN" altLang="en-US" sz="3600" b="1" dirty="0">
              <a:latin typeface="宋体"/>
              <a:ea typeface="宋体"/>
              <a:cs typeface="宋体"/>
            </a:endParaRPr>
          </a:p>
        </p:txBody>
      </p:sp>
    </p:spTree>
    <p:extLst>
      <p:ext uri="{BB962C8B-B14F-4D97-AF65-F5344CB8AC3E}">
        <p14:creationId xmlns:p14="http://schemas.microsoft.com/office/powerpoint/2010/main" val="3560758927"/>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例二：</a:t>
            </a:r>
          </a:p>
        </p:txBody>
      </p:sp>
      <p:sp>
        <p:nvSpPr>
          <p:cNvPr id="3" name="内容占位符 2"/>
          <p:cNvSpPr>
            <a:spLocks noGrp="1"/>
          </p:cNvSpPr>
          <p:nvPr>
            <p:ph idx="1"/>
          </p:nvPr>
        </p:nvSpPr>
        <p:spPr/>
        <p:txBody>
          <a:bodyPr/>
          <a:lstStyle/>
          <a:p>
            <a:r>
              <a:rPr lang="zh-CN" altLang="zh-CN" sz="3200" b="1" dirty="0">
                <a:latin typeface="宋体"/>
                <a:ea typeface="宋体"/>
                <a:cs typeface="宋体"/>
              </a:rPr>
              <a:t>某储蓄所出纳员杨某获得百元面额假人民币</a:t>
            </a:r>
            <a:r>
              <a:rPr lang="en-US" altLang="zh-CN" sz="3200" b="1" dirty="0">
                <a:latin typeface="宋体"/>
                <a:ea typeface="宋体"/>
                <a:cs typeface="宋体"/>
              </a:rPr>
              <a:t>2200</a:t>
            </a:r>
            <a:r>
              <a:rPr lang="zh-CN" altLang="zh-CN" sz="3200" b="1" dirty="0">
                <a:latin typeface="宋体"/>
                <a:ea typeface="宋体"/>
                <a:cs typeface="宋体"/>
              </a:rPr>
              <a:t>元，利用工作之便从本储蓄所支取了人民币</a:t>
            </a:r>
            <a:r>
              <a:rPr lang="en-US" altLang="zh-CN" sz="3200" b="1" dirty="0">
                <a:latin typeface="宋体"/>
                <a:ea typeface="宋体"/>
                <a:cs typeface="宋体"/>
              </a:rPr>
              <a:t>2000</a:t>
            </a:r>
            <a:r>
              <a:rPr lang="zh-CN" altLang="zh-CN" sz="3200" b="1" dirty="0">
                <a:latin typeface="宋体"/>
                <a:ea typeface="宋体"/>
                <a:cs typeface="宋体"/>
              </a:rPr>
              <a:t>元（真币），将</a:t>
            </a:r>
            <a:r>
              <a:rPr lang="en-US" altLang="zh-CN" sz="3200" b="1" dirty="0">
                <a:latin typeface="宋体"/>
                <a:ea typeface="宋体"/>
                <a:cs typeface="宋体"/>
              </a:rPr>
              <a:t>2200</a:t>
            </a:r>
            <a:r>
              <a:rPr lang="zh-CN" altLang="zh-CN" sz="3200" b="1" dirty="0">
                <a:latin typeface="宋体"/>
                <a:ea typeface="宋体"/>
                <a:cs typeface="宋体"/>
              </a:rPr>
              <a:t>元假币夹放在库存款中。次日，该储蓄所储户刘某要求支取存款人民币</a:t>
            </a:r>
            <a:r>
              <a:rPr lang="en-US" altLang="zh-CN" sz="3200" b="1" dirty="0">
                <a:latin typeface="宋体"/>
                <a:ea typeface="宋体"/>
                <a:cs typeface="宋体"/>
              </a:rPr>
              <a:t>1000</a:t>
            </a:r>
            <a:r>
              <a:rPr lang="zh-CN" altLang="zh-CN" sz="3200" b="1" dirty="0">
                <a:latin typeface="宋体"/>
                <a:ea typeface="宋体"/>
                <a:cs typeface="宋体"/>
              </a:rPr>
              <a:t>元，杨某趁支付存款之机，将</a:t>
            </a:r>
            <a:r>
              <a:rPr lang="en-US" altLang="zh-CN" sz="3200" b="1" dirty="0">
                <a:latin typeface="宋体"/>
                <a:ea typeface="宋体"/>
                <a:cs typeface="宋体"/>
              </a:rPr>
              <a:t>300</a:t>
            </a:r>
            <a:r>
              <a:rPr lang="zh-CN" altLang="zh-CN" sz="3200" b="1" dirty="0">
                <a:latin typeface="宋体"/>
                <a:ea typeface="宋体"/>
                <a:cs typeface="宋体"/>
              </a:rPr>
              <a:t>元假币夹带在刘某支取的现金内。刘某于次日上午支付货款时发现所取存款中有假币</a:t>
            </a:r>
            <a:r>
              <a:rPr lang="en-US" altLang="zh-CN" sz="3200" b="1" dirty="0">
                <a:latin typeface="宋体"/>
                <a:ea typeface="宋体"/>
                <a:cs typeface="宋体"/>
              </a:rPr>
              <a:t>300</a:t>
            </a:r>
            <a:r>
              <a:rPr lang="zh-CN" altLang="zh-CN" sz="3200" b="1" dirty="0">
                <a:latin typeface="宋体"/>
                <a:ea typeface="宋体"/>
                <a:cs typeface="宋体"/>
              </a:rPr>
              <a:t>元。当日下午，刘某到该储蓄所找到被告人杨某，要求调换假币，杨拒绝。 </a:t>
            </a:r>
            <a:endParaRPr kumimoji="1" lang="zh-CN" altLang="en-US" sz="3200" b="1" dirty="0">
              <a:latin typeface="宋体"/>
              <a:ea typeface="宋体"/>
              <a:cs typeface="宋体"/>
            </a:endParaRPr>
          </a:p>
        </p:txBody>
      </p:sp>
    </p:spTree>
    <p:extLst>
      <p:ext uri="{BB962C8B-B14F-4D97-AF65-F5344CB8AC3E}">
        <p14:creationId xmlns:p14="http://schemas.microsoft.com/office/powerpoint/2010/main" val="170106296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问题</a:t>
            </a:r>
          </a:p>
        </p:txBody>
      </p:sp>
      <p:sp>
        <p:nvSpPr>
          <p:cNvPr id="3" name="内容占位符 2"/>
          <p:cNvSpPr>
            <a:spLocks noGrp="1"/>
          </p:cNvSpPr>
          <p:nvPr>
            <p:ph idx="1"/>
          </p:nvPr>
        </p:nvSpPr>
        <p:spPr/>
        <p:txBody>
          <a:bodyPr/>
          <a:lstStyle/>
          <a:p>
            <a:r>
              <a:rPr lang="zh-CN" altLang="zh-CN" sz="2800" dirty="0">
                <a:latin typeface="宋体"/>
                <a:ea typeface="宋体"/>
                <a:cs typeface="宋体"/>
              </a:rPr>
              <a:t>盗窃通讯电缆的行为与盗窃库款的行为有无法律上的不同？在处断原则上有何区别？</a:t>
            </a:r>
          </a:p>
          <a:p>
            <a:r>
              <a:rPr lang="zh-CN" altLang="zh-CN" sz="2800" dirty="0">
                <a:latin typeface="宋体"/>
                <a:ea typeface="宋体"/>
                <a:cs typeface="宋体"/>
              </a:rPr>
              <a:t>关于钟某盗窃电缆的案件，检察院认为，被告的行为构成破坏通讯设备罪。法院认定，被告的行为应以盗窃罪定罪量刑。</a:t>
            </a:r>
          </a:p>
          <a:p>
            <a:r>
              <a:rPr lang="zh-CN" altLang="zh-CN" sz="2800" dirty="0">
                <a:latin typeface="宋体"/>
                <a:ea typeface="宋体"/>
                <a:cs typeface="宋体"/>
              </a:rPr>
              <a:t>关于杨某用假币掉包的行为，检察院和法院一致认为，应定以伪造的货币换取货币罪。</a:t>
            </a:r>
          </a:p>
          <a:p>
            <a:r>
              <a:rPr lang="zh-CN" altLang="zh-CN" sz="2800" dirty="0">
                <a:latin typeface="宋体"/>
                <a:ea typeface="宋体"/>
                <a:cs typeface="宋体"/>
              </a:rPr>
              <a:t>——</a:t>
            </a:r>
            <a:r>
              <a:rPr lang="zh-CN" altLang="zh-CN" sz="3200" dirty="0">
                <a:latin typeface="黑体"/>
                <a:ea typeface="黑体"/>
                <a:cs typeface="黑体"/>
              </a:rPr>
              <a:t>这两个“偷”中，只有一个认定为盗窃罪，而且还有争议。为什么？</a:t>
            </a:r>
          </a:p>
          <a:p>
            <a:endParaRPr kumimoji="1" lang="zh-CN" altLang="en-US" dirty="0"/>
          </a:p>
        </p:txBody>
      </p:sp>
    </p:spTree>
    <p:extLst>
      <p:ext uri="{BB962C8B-B14F-4D97-AF65-F5344CB8AC3E}">
        <p14:creationId xmlns:p14="http://schemas.microsoft.com/office/powerpoint/2010/main" val="1858124292"/>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600" b="1" dirty="0">
                <a:latin typeface="黑体"/>
                <a:ea typeface="黑体"/>
                <a:cs typeface="黑体"/>
              </a:rPr>
              <a:t>基本概念：竞合</a:t>
            </a:r>
            <a:r>
              <a:rPr lang="zh-CN" altLang="zh-CN" sz="3600" dirty="0">
                <a:latin typeface="黑体"/>
                <a:ea typeface="黑体"/>
                <a:cs typeface="黑体"/>
              </a:rPr>
              <a:t> </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竞合就是一个行为同时触犯数个罪名的情形。 </a:t>
            </a:r>
            <a:endParaRPr lang="en-US" altLang="zh-CN" sz="2800" dirty="0">
              <a:latin typeface="宋体"/>
              <a:ea typeface="宋体"/>
              <a:cs typeface="宋体"/>
            </a:endParaRPr>
          </a:p>
          <a:p>
            <a:r>
              <a:rPr lang="zh-CN" altLang="zh-CN" sz="3600" b="1" dirty="0">
                <a:latin typeface="黑体"/>
                <a:ea typeface="黑体"/>
                <a:cs typeface="黑体"/>
              </a:rPr>
              <a:t>想象竞合，</a:t>
            </a:r>
            <a:r>
              <a:rPr lang="zh-CN" altLang="zh-CN" sz="2800" dirty="0">
                <a:latin typeface="宋体"/>
                <a:ea typeface="宋体"/>
                <a:cs typeface="宋体"/>
              </a:rPr>
              <a:t>又称想象的数罪，就是指一个行为同时触犯数个逻辑上没有内在关联的罪名的情形。例如，甲意图杀害乙，向乙开枪后，打死乙的同时，又打伤了丙。 </a:t>
            </a:r>
            <a:endParaRPr lang="en-US" altLang="zh-CN" sz="2800" dirty="0">
              <a:latin typeface="宋体"/>
              <a:ea typeface="宋体"/>
              <a:cs typeface="宋体"/>
            </a:endParaRPr>
          </a:p>
          <a:p>
            <a:r>
              <a:rPr kumimoji="1" lang="zh-CN" altLang="en-US" sz="2800" dirty="0">
                <a:latin typeface="宋体"/>
                <a:ea typeface="宋体"/>
                <a:cs typeface="宋体"/>
              </a:rPr>
              <a:t>这里，</a:t>
            </a:r>
            <a:r>
              <a:rPr lang="zh-CN" altLang="zh-CN" sz="2800" dirty="0">
                <a:latin typeface="宋体"/>
                <a:ea typeface="宋体"/>
                <a:cs typeface="宋体"/>
              </a:rPr>
              <a:t>故意杀人罪和故意伤害罪两个罪名之间，不存在逻辑上的从属或者交叉关系。 </a:t>
            </a:r>
            <a:endParaRPr lang="en-US" altLang="zh-CN" sz="2800" dirty="0">
              <a:latin typeface="宋体"/>
              <a:ea typeface="宋体"/>
              <a:cs typeface="宋体"/>
            </a:endParaRPr>
          </a:p>
          <a:p>
            <a:r>
              <a:rPr lang="zh-CN" altLang="zh-CN" sz="2800" dirty="0">
                <a:latin typeface="宋体"/>
                <a:ea typeface="宋体"/>
                <a:cs typeface="宋体"/>
              </a:rPr>
              <a:t>从一重处断。</a:t>
            </a:r>
            <a:endParaRPr lang="en-US" altLang="zh-CN" sz="2800" dirty="0">
              <a:latin typeface="宋体"/>
              <a:ea typeface="宋体"/>
              <a:cs typeface="宋体"/>
            </a:endParaRPr>
          </a:p>
          <a:p>
            <a:endParaRPr lang="en-US" altLang="zh-CN" dirty="0"/>
          </a:p>
          <a:p>
            <a:endParaRPr kumimoji="1" lang="zh-CN" altLang="en-US" dirty="0"/>
          </a:p>
        </p:txBody>
      </p:sp>
    </p:spTree>
    <p:extLst>
      <p:ext uri="{BB962C8B-B14F-4D97-AF65-F5344CB8AC3E}">
        <p14:creationId xmlns:p14="http://schemas.microsoft.com/office/powerpoint/2010/main" val="133363745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600" dirty="0">
                <a:latin typeface="黑体"/>
                <a:ea typeface="黑体"/>
                <a:cs typeface="黑体"/>
              </a:rPr>
              <a:t>法条竞合</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法条竞合，就是指同一种行为同时触犯的数个罪名之间，因法条本身的错综规定而存在逻辑上的从属或者交叉关系的情形。</a:t>
            </a:r>
            <a:endParaRPr lang="en-US" altLang="zh-CN" sz="2800" dirty="0">
              <a:latin typeface="宋体"/>
              <a:ea typeface="宋体"/>
              <a:cs typeface="宋体"/>
            </a:endParaRPr>
          </a:p>
          <a:p>
            <a:r>
              <a:rPr lang="zh-CN" altLang="zh-CN" sz="2800" dirty="0">
                <a:latin typeface="宋体"/>
                <a:ea typeface="宋体"/>
                <a:cs typeface="宋体"/>
              </a:rPr>
              <a:t>例如，刑法规定了诈骗罪的同时，还规定了贷款诈骗罪、集资诈骗罪、票据诈骗罪等等。 </a:t>
            </a:r>
            <a:endParaRPr lang="en-US" altLang="zh-CN" sz="2800" dirty="0">
              <a:latin typeface="宋体"/>
              <a:ea typeface="宋体"/>
              <a:cs typeface="宋体"/>
            </a:endParaRPr>
          </a:p>
          <a:p>
            <a:r>
              <a:rPr lang="zh-CN" altLang="zh-CN" sz="2800" dirty="0">
                <a:latin typeface="宋体"/>
                <a:ea typeface="宋体"/>
                <a:cs typeface="宋体"/>
              </a:rPr>
              <a:t>只有一个行为</a:t>
            </a:r>
            <a:endParaRPr lang="en-US" altLang="zh-CN" sz="2800" dirty="0">
              <a:latin typeface="宋体"/>
              <a:ea typeface="宋体"/>
              <a:cs typeface="宋体"/>
            </a:endParaRPr>
          </a:p>
          <a:p>
            <a:r>
              <a:rPr lang="zh-CN" altLang="zh-CN" sz="2800" dirty="0">
                <a:latin typeface="宋体"/>
                <a:ea typeface="宋体"/>
                <a:cs typeface="宋体"/>
              </a:rPr>
              <a:t>一般与特殊的关系</a:t>
            </a:r>
            <a:endParaRPr lang="en-US" altLang="zh-CN" sz="2800" dirty="0">
              <a:latin typeface="宋体"/>
              <a:ea typeface="宋体"/>
              <a:cs typeface="宋体"/>
            </a:endParaRPr>
          </a:p>
          <a:p>
            <a:r>
              <a:rPr lang="zh-CN" altLang="zh-CN" sz="2800" dirty="0">
                <a:latin typeface="宋体"/>
                <a:ea typeface="宋体"/>
                <a:cs typeface="宋体"/>
              </a:rPr>
              <a:t>法律适用遵循特别法优于普通法原则。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105891138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a:latin typeface="黑体"/>
                <a:ea typeface="黑体"/>
                <a:cs typeface="黑体"/>
              </a:rPr>
              <a:t>基本原理</a:t>
            </a:r>
          </a:p>
        </p:txBody>
      </p:sp>
      <p:sp>
        <p:nvSpPr>
          <p:cNvPr id="3" name="内容占位符 2"/>
          <p:cNvSpPr>
            <a:spLocks noGrp="1"/>
          </p:cNvSpPr>
          <p:nvPr>
            <p:ph idx="1"/>
          </p:nvPr>
        </p:nvSpPr>
        <p:spPr/>
        <p:txBody>
          <a:bodyPr/>
          <a:lstStyle/>
          <a:p>
            <a:r>
              <a:rPr lang="zh-CN" altLang="zh-CN" sz="2800" b="1" dirty="0">
                <a:latin typeface="宋体"/>
                <a:ea typeface="宋体"/>
                <a:cs typeface="宋体"/>
              </a:rPr>
              <a:t>一事不数罚</a:t>
            </a:r>
            <a:r>
              <a:rPr lang="zh-CN" altLang="zh-CN" sz="2800" dirty="0">
                <a:latin typeface="宋体"/>
                <a:ea typeface="宋体"/>
                <a:cs typeface="宋体"/>
              </a:rPr>
              <a:t>原则，或称不重复惩罚原则。</a:t>
            </a:r>
            <a:endParaRPr lang="en-US" altLang="zh-CN" sz="2800" dirty="0">
              <a:latin typeface="宋体"/>
              <a:ea typeface="宋体"/>
              <a:cs typeface="宋体"/>
            </a:endParaRPr>
          </a:p>
          <a:p>
            <a:r>
              <a:rPr lang="zh-CN" altLang="zh-CN" sz="2800" dirty="0">
                <a:latin typeface="宋体"/>
                <a:ea typeface="宋体"/>
                <a:cs typeface="宋体"/>
              </a:rPr>
              <a:t>既体现了罪刑均衡的精神，即一罪一罚，数罪数罚，罚当其罪，</a:t>
            </a:r>
            <a:endParaRPr lang="en-US" altLang="zh-CN" sz="2800" dirty="0">
              <a:latin typeface="宋体"/>
              <a:ea typeface="宋体"/>
              <a:cs typeface="宋体"/>
            </a:endParaRPr>
          </a:p>
          <a:p>
            <a:r>
              <a:rPr lang="zh-CN" altLang="zh-CN" sz="2800" dirty="0">
                <a:latin typeface="宋体"/>
                <a:ea typeface="宋体"/>
                <a:cs typeface="宋体"/>
              </a:rPr>
              <a:t>也体现了刑罚谦抑的刑法精神。</a:t>
            </a:r>
            <a:endParaRPr lang="en-US" altLang="zh-CN" sz="2800" dirty="0">
              <a:latin typeface="宋体"/>
              <a:ea typeface="宋体"/>
              <a:cs typeface="宋体"/>
            </a:endParaRPr>
          </a:p>
          <a:p>
            <a:r>
              <a:rPr lang="en-US" altLang="zh-CN" sz="2800" dirty="0">
                <a:latin typeface="宋体"/>
                <a:ea typeface="宋体"/>
                <a:cs typeface="宋体"/>
              </a:rPr>
              <a:t>    </a:t>
            </a:r>
            <a:r>
              <a:rPr lang="zh-CN" altLang="en-US" sz="2800" dirty="0">
                <a:latin typeface="宋体"/>
                <a:ea typeface="宋体"/>
                <a:cs typeface="宋体"/>
              </a:rPr>
              <a:t>刑罚人道主义</a:t>
            </a:r>
            <a:endParaRPr lang="en-US" altLang="zh-CN" sz="2800" dirty="0">
              <a:latin typeface="宋体"/>
              <a:ea typeface="宋体"/>
              <a:cs typeface="宋体"/>
            </a:endParaRPr>
          </a:p>
          <a:p>
            <a:r>
              <a:rPr lang="en-US" altLang="zh-CN" sz="2800" dirty="0">
                <a:latin typeface="宋体"/>
                <a:ea typeface="宋体"/>
                <a:cs typeface="宋体"/>
              </a:rPr>
              <a:t>    </a:t>
            </a:r>
            <a:r>
              <a:rPr lang="zh-CN" altLang="en-US" sz="2800" dirty="0">
                <a:latin typeface="宋体"/>
                <a:ea typeface="宋体"/>
                <a:cs typeface="宋体"/>
              </a:rPr>
              <a:t>制度成本</a:t>
            </a:r>
            <a:r>
              <a:rPr lang="en-US" altLang="zh-CN" sz="2800" dirty="0">
                <a:latin typeface="宋体"/>
                <a:ea typeface="宋体"/>
                <a:cs typeface="宋体"/>
              </a:rPr>
              <a:t>——</a:t>
            </a:r>
            <a:r>
              <a:rPr lang="zh-CN" altLang="en-US" sz="2800" dirty="0">
                <a:latin typeface="宋体"/>
                <a:ea typeface="宋体"/>
                <a:cs typeface="宋体"/>
              </a:rPr>
              <a:t>惩戒也是资源，资源的滥用也会导致相反的实效（孟德斯鸠、贝卡利亚）</a:t>
            </a:r>
            <a:endParaRPr lang="zh-CN" altLang="zh-CN" sz="2800" dirty="0">
              <a:latin typeface="宋体"/>
              <a:ea typeface="宋体"/>
              <a:cs typeface="宋体"/>
            </a:endParaRPr>
          </a:p>
          <a:p>
            <a:r>
              <a:rPr lang="zh-CN" altLang="en-US" sz="2800" b="1" dirty="0">
                <a:latin typeface="宋体"/>
                <a:ea typeface="宋体"/>
                <a:cs typeface="宋体"/>
              </a:rPr>
              <a:t>问题是</a:t>
            </a:r>
            <a:r>
              <a:rPr lang="zh-CN" altLang="zh-CN" sz="2800" b="1" dirty="0">
                <a:latin typeface="宋体"/>
                <a:ea typeface="宋体"/>
                <a:cs typeface="宋体"/>
              </a:rPr>
              <a:t>，上述两个案例中，哪个是想象竞合，哪个是法条竞合？</a:t>
            </a:r>
          </a:p>
        </p:txBody>
      </p:sp>
    </p:spTree>
    <p:extLst>
      <p:ext uri="{BB962C8B-B14F-4D97-AF65-F5344CB8AC3E}">
        <p14:creationId xmlns:p14="http://schemas.microsoft.com/office/powerpoint/2010/main" val="320705865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共性与差异</a:t>
            </a:r>
          </a:p>
        </p:txBody>
      </p:sp>
      <p:sp>
        <p:nvSpPr>
          <p:cNvPr id="3" name="内容占位符 2"/>
          <p:cNvSpPr>
            <a:spLocks noGrp="1"/>
          </p:cNvSpPr>
          <p:nvPr>
            <p:ph idx="1"/>
          </p:nvPr>
        </p:nvSpPr>
        <p:spPr/>
        <p:txBody>
          <a:bodyPr/>
          <a:lstStyle/>
          <a:p>
            <a:r>
              <a:rPr lang="zh-CN" altLang="zh-CN" sz="2800" b="1" dirty="0">
                <a:latin typeface="宋体"/>
                <a:ea typeface="宋体"/>
                <a:cs typeface="宋体"/>
              </a:rPr>
              <a:t>都有“偷”，一个偷电缆，另一个偷库款。</a:t>
            </a:r>
            <a:endParaRPr lang="en-US" altLang="zh-CN" sz="2800" b="1" dirty="0">
              <a:latin typeface="宋体"/>
              <a:ea typeface="宋体"/>
              <a:cs typeface="宋体"/>
            </a:endParaRPr>
          </a:p>
          <a:p>
            <a:r>
              <a:rPr lang="zh-CN" altLang="zh-CN" sz="2800" b="1" dirty="0">
                <a:latin typeface="宋体"/>
                <a:ea typeface="宋体"/>
                <a:cs typeface="宋体"/>
              </a:rPr>
              <a:t>都涉及数个罪名的选择</a:t>
            </a:r>
            <a:r>
              <a:rPr lang="zh-CN" altLang="en-US" sz="2800" b="1" dirty="0">
                <a:latin typeface="宋体"/>
                <a:ea typeface="宋体"/>
                <a:cs typeface="宋体"/>
              </a:rPr>
              <a:t>：</a:t>
            </a:r>
            <a:endParaRPr lang="en-US" altLang="zh-CN" sz="2800" b="1" dirty="0">
              <a:latin typeface="宋体"/>
              <a:ea typeface="宋体"/>
              <a:cs typeface="宋体"/>
            </a:endParaRPr>
          </a:p>
          <a:p>
            <a:r>
              <a:rPr lang="zh-CN" altLang="zh-CN" sz="2800" b="1" dirty="0">
                <a:latin typeface="宋体"/>
                <a:ea typeface="宋体"/>
                <a:cs typeface="宋体"/>
              </a:rPr>
              <a:t>一个涉及盗窃罪与破坏</a:t>
            </a:r>
            <a:r>
              <a:rPr lang="zh-CN" altLang="en-US" sz="2800" b="1" dirty="0">
                <a:latin typeface="宋体"/>
                <a:ea typeface="宋体"/>
                <a:cs typeface="宋体"/>
              </a:rPr>
              <a:t>公用电信设施</a:t>
            </a:r>
            <a:r>
              <a:rPr lang="zh-CN" altLang="zh-CN" sz="2800" b="1" dirty="0">
                <a:latin typeface="宋体"/>
                <a:ea typeface="宋体"/>
                <a:cs typeface="宋体"/>
              </a:rPr>
              <a:t>罪之间的选择</a:t>
            </a:r>
            <a:endParaRPr lang="en-US" altLang="zh-CN" sz="2800" b="1" dirty="0">
              <a:latin typeface="宋体"/>
              <a:ea typeface="宋体"/>
              <a:cs typeface="宋体"/>
            </a:endParaRPr>
          </a:p>
          <a:p>
            <a:pPr marL="0" indent="0">
              <a:buNone/>
            </a:pPr>
            <a:r>
              <a:rPr lang="en-US" altLang="zh-CN" sz="2800" b="1" dirty="0">
                <a:latin typeface="宋体"/>
                <a:ea typeface="宋体"/>
                <a:cs typeface="宋体"/>
              </a:rPr>
              <a:t>     ——</a:t>
            </a:r>
            <a:r>
              <a:rPr lang="zh-CN" altLang="en-US" sz="2800" b="1" dirty="0">
                <a:latin typeface="宋体"/>
                <a:ea typeface="宋体"/>
                <a:cs typeface="宋体"/>
              </a:rPr>
              <a:t>交叉从属关系？一般个别关系？</a:t>
            </a:r>
            <a:endParaRPr lang="en-US" altLang="zh-CN" sz="2800" b="1" dirty="0">
              <a:latin typeface="宋体"/>
              <a:ea typeface="宋体"/>
              <a:cs typeface="宋体"/>
            </a:endParaRPr>
          </a:p>
          <a:p>
            <a:r>
              <a:rPr lang="zh-CN" altLang="zh-CN" sz="2800" b="1" dirty="0">
                <a:latin typeface="宋体"/>
                <a:ea typeface="宋体"/>
                <a:cs typeface="宋体"/>
              </a:rPr>
              <a:t>另一个涉及盗窃罪与贪污罪以及以伪造的货币换取货币罪三个罪名之间的选择。</a:t>
            </a:r>
            <a:endParaRPr lang="en-US" altLang="zh-CN" sz="2800" b="1" dirty="0">
              <a:latin typeface="宋体"/>
              <a:ea typeface="宋体"/>
              <a:cs typeface="宋体"/>
            </a:endParaRPr>
          </a:p>
          <a:p>
            <a:pPr marL="0" indent="0">
              <a:buNone/>
            </a:pPr>
            <a:r>
              <a:rPr lang="en-US" altLang="zh-CN" sz="2800" b="1" dirty="0">
                <a:latin typeface="宋体"/>
                <a:ea typeface="宋体"/>
                <a:cs typeface="宋体"/>
              </a:rPr>
              <a:t>     ——</a:t>
            </a:r>
            <a:r>
              <a:rPr lang="zh-CN" altLang="en-US" sz="2800" b="1" dirty="0">
                <a:latin typeface="宋体"/>
                <a:ea typeface="宋体"/>
                <a:cs typeface="宋体"/>
              </a:rPr>
              <a:t>特殊中的特殊。</a:t>
            </a:r>
            <a:endParaRPr lang="en-US" altLang="zh-CN" sz="2800" b="1" dirty="0">
              <a:latin typeface="宋体"/>
              <a:ea typeface="宋体"/>
              <a:cs typeface="宋体"/>
            </a:endParaRPr>
          </a:p>
          <a:p>
            <a:r>
              <a:rPr lang="zh-CN" altLang="zh-CN" sz="2800" dirty="0">
                <a:latin typeface="黑体"/>
                <a:ea typeface="黑体"/>
                <a:cs typeface="黑体"/>
              </a:rPr>
              <a:t>除了犯罪阶段和一行为数罪问题，</a:t>
            </a:r>
            <a:r>
              <a:rPr lang="zh-CN" altLang="en-US" sz="2800" dirty="0">
                <a:latin typeface="黑体"/>
                <a:ea typeface="黑体"/>
                <a:cs typeface="黑体"/>
              </a:rPr>
              <a:t>轻重的判断</a:t>
            </a:r>
            <a:r>
              <a:rPr lang="zh-CN" altLang="zh-CN" sz="2800" dirty="0">
                <a:latin typeface="黑体"/>
                <a:ea typeface="黑体"/>
                <a:cs typeface="黑体"/>
              </a:rPr>
              <a:t>还要看行为人在犯罪中所起的作用大小。</a:t>
            </a:r>
            <a:endParaRPr lang="zh-CN" altLang="en-US" sz="2800" b="1" dirty="0">
              <a:latin typeface="黑体"/>
              <a:ea typeface="黑体"/>
              <a:cs typeface="黑体"/>
            </a:endParaRPr>
          </a:p>
        </p:txBody>
      </p:sp>
    </p:spTree>
    <p:extLst>
      <p:ext uri="{BB962C8B-B14F-4D97-AF65-F5344CB8AC3E}">
        <p14:creationId xmlns:p14="http://schemas.microsoft.com/office/powerpoint/2010/main" val="551575392"/>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案例</a:t>
            </a:r>
          </a:p>
        </p:txBody>
      </p:sp>
      <p:sp>
        <p:nvSpPr>
          <p:cNvPr id="3" name="内容占位符 2"/>
          <p:cNvSpPr>
            <a:spLocks noGrp="1"/>
          </p:cNvSpPr>
          <p:nvPr>
            <p:ph idx="1"/>
          </p:nvPr>
        </p:nvSpPr>
        <p:spPr/>
        <p:txBody>
          <a:bodyPr/>
          <a:lstStyle/>
          <a:p>
            <a:r>
              <a:rPr lang="zh-CN" altLang="zh-CN" sz="2800" dirty="0">
                <a:latin typeface="宋体"/>
                <a:ea typeface="宋体"/>
                <a:cs typeface="宋体"/>
              </a:rPr>
              <a:t>被告人黄云购得</a:t>
            </a:r>
            <a:r>
              <a:rPr lang="en-US" altLang="zh-CN" sz="2800" dirty="0">
                <a:latin typeface="宋体"/>
                <a:ea typeface="宋体"/>
                <a:cs typeface="宋体"/>
              </a:rPr>
              <a:t>10.2</a:t>
            </a:r>
            <a:r>
              <a:rPr lang="zh-CN" altLang="zh-CN" sz="2800" dirty="0">
                <a:latin typeface="宋体"/>
                <a:ea typeface="宋体"/>
                <a:cs typeface="宋体"/>
              </a:rPr>
              <a:t>克扑热息痛药粉后分成</a:t>
            </a:r>
            <a:r>
              <a:rPr lang="en-US" altLang="zh-CN" sz="2800" dirty="0">
                <a:latin typeface="宋体"/>
                <a:ea typeface="宋体"/>
                <a:cs typeface="宋体"/>
              </a:rPr>
              <a:t>24</a:t>
            </a:r>
            <a:r>
              <a:rPr lang="zh-CN" altLang="zh-CN" sz="2800" dirty="0">
                <a:latin typeface="宋体"/>
                <a:ea typeface="宋体"/>
                <a:cs typeface="宋体"/>
              </a:rPr>
              <a:t>小包，冒充成毒品海洛因，然后联系一买主约定在某宾馆前交易。此后，黄云又联系被告人潘落华、宋开树等人协助贩卖毒品，并告诉他们要贩卖的毒品是海洛因。在与买主交易时被公安人员抓获。</a:t>
            </a:r>
          </a:p>
          <a:p>
            <a:r>
              <a:rPr lang="zh-CN" altLang="zh-CN" sz="2800" dirty="0">
                <a:latin typeface="宋体"/>
                <a:ea typeface="宋体"/>
                <a:cs typeface="宋体"/>
              </a:rPr>
              <a:t>问题：</a:t>
            </a:r>
            <a:r>
              <a:rPr lang="en-US" altLang="zh-CN" sz="2800" dirty="0">
                <a:latin typeface="宋体"/>
                <a:ea typeface="宋体"/>
                <a:cs typeface="宋体"/>
              </a:rPr>
              <a:t>1</a:t>
            </a:r>
            <a:r>
              <a:rPr lang="zh-CN" altLang="zh-CN" sz="2800" dirty="0">
                <a:latin typeface="宋体"/>
                <a:ea typeface="宋体"/>
                <a:cs typeface="宋体"/>
              </a:rPr>
              <a:t>、行为人以头痛粉谎称毒品与人交易，是贩卖毒品罪还是诈骗罪？</a:t>
            </a:r>
            <a:r>
              <a:rPr lang="en-US" altLang="zh-CN" sz="2800" dirty="0">
                <a:latin typeface="宋体"/>
                <a:ea typeface="宋体"/>
                <a:cs typeface="宋体"/>
              </a:rPr>
              <a:t>2</a:t>
            </a:r>
            <a:r>
              <a:rPr lang="zh-CN" altLang="zh-CN" sz="2800" dirty="0">
                <a:latin typeface="宋体"/>
                <a:ea typeface="宋体"/>
                <a:cs typeface="宋体"/>
              </a:rPr>
              <a:t>、同案不同罪的情况下是否存在共同犯罪？</a:t>
            </a:r>
          </a:p>
          <a:p>
            <a:r>
              <a:rPr lang="zh-CN" altLang="zh-CN" sz="2800" dirty="0">
                <a:latin typeface="宋体"/>
                <a:ea typeface="宋体"/>
                <a:cs typeface="宋体"/>
              </a:rPr>
              <a:t>黄云</a:t>
            </a:r>
            <a:r>
              <a:rPr lang="zh-CN" altLang="en-US" sz="2800" dirty="0">
                <a:latin typeface="宋体"/>
                <a:ea typeface="宋体"/>
                <a:cs typeface="宋体"/>
              </a:rPr>
              <a:t>被判</a:t>
            </a:r>
            <a:r>
              <a:rPr lang="zh-CN" altLang="zh-CN" sz="2800" dirty="0">
                <a:latin typeface="宋体"/>
                <a:ea typeface="宋体"/>
                <a:cs typeface="宋体"/>
              </a:rPr>
              <a:t>诈骗罪，</a:t>
            </a:r>
            <a:r>
              <a:rPr lang="zh-CN" altLang="en-US" sz="2800" dirty="0">
                <a:latin typeface="宋体"/>
                <a:ea typeface="宋体"/>
                <a:cs typeface="宋体"/>
              </a:rPr>
              <a:t>而</a:t>
            </a:r>
            <a:r>
              <a:rPr lang="zh-CN" altLang="zh-CN" sz="2800" dirty="0">
                <a:latin typeface="宋体"/>
                <a:ea typeface="宋体"/>
                <a:cs typeface="宋体"/>
              </a:rPr>
              <a:t>潘落华、宋开树</a:t>
            </a:r>
            <a:r>
              <a:rPr lang="zh-CN" altLang="en-US" sz="2800" dirty="0">
                <a:latin typeface="宋体"/>
                <a:ea typeface="宋体"/>
                <a:cs typeface="宋体"/>
              </a:rPr>
              <a:t>被判</a:t>
            </a:r>
            <a:r>
              <a:rPr lang="zh-CN" altLang="zh-CN" sz="2800" dirty="0">
                <a:latin typeface="宋体"/>
                <a:ea typeface="宋体"/>
                <a:cs typeface="宋体"/>
              </a:rPr>
              <a:t>贩卖毒品罪，是从犯，且未遂。</a:t>
            </a:r>
          </a:p>
        </p:txBody>
      </p:sp>
    </p:spTree>
    <p:extLst>
      <p:ext uri="{BB962C8B-B14F-4D97-AF65-F5344CB8AC3E}">
        <p14:creationId xmlns:p14="http://schemas.microsoft.com/office/powerpoint/2010/main" val="326356815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600" b="1" dirty="0">
                <a:latin typeface="黑体"/>
                <a:ea typeface="黑体"/>
                <a:cs typeface="黑体"/>
              </a:rPr>
              <a:t>基本概念：共同犯罪</a:t>
            </a:r>
            <a:r>
              <a:rPr lang="zh-CN" altLang="zh-CN" sz="3600" dirty="0">
                <a:latin typeface="黑体"/>
                <a:ea typeface="黑体"/>
                <a:cs typeface="黑体"/>
              </a:rPr>
              <a:t> </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a:latin typeface="楷体"/>
                <a:ea typeface="楷体"/>
                <a:cs typeface="楷体"/>
              </a:rPr>
              <a:t>第二十五条</a:t>
            </a:r>
            <a:r>
              <a:rPr lang="en-US" altLang="zh-CN" sz="2800" b="1" dirty="0">
                <a:latin typeface="楷体"/>
                <a:ea typeface="楷体"/>
                <a:cs typeface="楷体"/>
              </a:rPr>
              <a:t>  </a:t>
            </a:r>
            <a:r>
              <a:rPr lang="zh-CN" altLang="zh-CN" sz="2800" b="1" dirty="0">
                <a:latin typeface="楷体"/>
                <a:ea typeface="楷体"/>
                <a:cs typeface="楷体"/>
              </a:rPr>
              <a:t>共同犯罪是指二人以上共同故意犯罪。 </a:t>
            </a:r>
            <a:endParaRPr lang="en-US" altLang="zh-CN" sz="2800" b="1" dirty="0">
              <a:latin typeface="楷体"/>
              <a:ea typeface="楷体"/>
              <a:cs typeface="楷体"/>
            </a:endParaRPr>
          </a:p>
          <a:p>
            <a:r>
              <a:rPr lang="zh-CN" altLang="zh-CN" sz="2800" b="1" dirty="0">
                <a:latin typeface="楷体"/>
                <a:ea typeface="楷体"/>
                <a:cs typeface="楷体"/>
              </a:rPr>
              <a:t>第二十六条</a:t>
            </a:r>
            <a:r>
              <a:rPr lang="en-US" altLang="zh-CN" sz="2800" b="1" dirty="0">
                <a:latin typeface="楷体"/>
                <a:ea typeface="楷体"/>
                <a:cs typeface="楷体"/>
              </a:rPr>
              <a:t>  </a:t>
            </a:r>
            <a:r>
              <a:rPr lang="zh-CN" altLang="zh-CN" sz="2800" b="1" dirty="0">
                <a:latin typeface="楷体"/>
                <a:ea typeface="楷体"/>
                <a:cs typeface="楷体"/>
              </a:rPr>
              <a:t>组织、领导犯罪集团进行犯罪活动的或者在共同犯罪中起主要作用的，是主犯。 </a:t>
            </a:r>
            <a:endParaRPr lang="en-US" altLang="zh-CN" sz="2800" b="1" dirty="0">
              <a:latin typeface="楷体"/>
              <a:ea typeface="楷体"/>
              <a:cs typeface="楷体"/>
            </a:endParaRPr>
          </a:p>
          <a:p>
            <a:r>
              <a:rPr lang="zh-CN" altLang="zh-CN" sz="2800" b="1" dirty="0">
                <a:latin typeface="楷体"/>
                <a:ea typeface="楷体"/>
                <a:cs typeface="楷体"/>
              </a:rPr>
              <a:t>对于主犯，应当按照其所参与的或者组织、指挥的全部犯罪处罚。</a:t>
            </a:r>
          </a:p>
          <a:p>
            <a:r>
              <a:rPr lang="zh-CN" altLang="zh-CN" sz="2800" b="1" dirty="0">
                <a:latin typeface="楷体"/>
                <a:ea typeface="楷体"/>
                <a:cs typeface="楷体"/>
              </a:rPr>
              <a:t>第二十七条</a:t>
            </a:r>
            <a:r>
              <a:rPr lang="en-US" altLang="zh-CN" sz="2800" b="1" dirty="0">
                <a:latin typeface="楷体"/>
                <a:ea typeface="楷体"/>
                <a:cs typeface="楷体"/>
              </a:rPr>
              <a:t>  </a:t>
            </a:r>
            <a:r>
              <a:rPr lang="zh-CN" altLang="zh-CN" sz="2800" b="1" dirty="0">
                <a:latin typeface="楷体"/>
                <a:ea typeface="楷体"/>
                <a:cs typeface="楷体"/>
              </a:rPr>
              <a:t>在共同犯罪中起次要或者辅助作用的，是从犯。</a:t>
            </a:r>
            <a:br>
              <a:rPr lang="en-US" altLang="zh-CN" sz="2800" b="1" dirty="0">
                <a:latin typeface="楷体"/>
                <a:ea typeface="楷体"/>
                <a:cs typeface="楷体"/>
              </a:rPr>
            </a:br>
            <a:r>
              <a:rPr lang="zh-CN" altLang="zh-CN" sz="2800" b="1" dirty="0">
                <a:latin typeface="楷体"/>
                <a:ea typeface="楷体"/>
                <a:cs typeface="楷体"/>
              </a:rPr>
              <a:t>　　对于从犯，应当从轻、减轻处罚或者免除处罚。</a:t>
            </a:r>
          </a:p>
          <a:p>
            <a:endParaRPr kumimoji="1" lang="zh-CN" altLang="en-US" sz="2800" b="1" dirty="0">
              <a:latin typeface="楷体"/>
              <a:ea typeface="楷体"/>
              <a:cs typeface="楷体"/>
            </a:endParaRPr>
          </a:p>
        </p:txBody>
      </p:sp>
    </p:spTree>
    <p:extLst>
      <p:ext uri="{BB962C8B-B14F-4D97-AF65-F5344CB8AC3E}">
        <p14:creationId xmlns:p14="http://schemas.microsoft.com/office/powerpoint/2010/main" val="121893009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共同犯罪</a:t>
            </a:r>
          </a:p>
        </p:txBody>
      </p:sp>
      <p:sp>
        <p:nvSpPr>
          <p:cNvPr id="3" name="内容占位符 2"/>
          <p:cNvSpPr>
            <a:spLocks noGrp="1"/>
          </p:cNvSpPr>
          <p:nvPr>
            <p:ph idx="1"/>
          </p:nvPr>
        </p:nvSpPr>
        <p:spPr/>
        <p:txBody>
          <a:bodyPr/>
          <a:lstStyle/>
          <a:p>
            <a:r>
              <a:rPr lang="en-US" altLang="zh-CN" sz="2800" b="1" dirty="0">
                <a:latin typeface="黑体"/>
                <a:ea typeface="黑体"/>
                <a:cs typeface="黑体"/>
              </a:rPr>
              <a:t>1</a:t>
            </a:r>
            <a:r>
              <a:rPr lang="zh-CN" altLang="zh-CN" sz="2800" b="1" dirty="0">
                <a:latin typeface="黑体"/>
                <a:ea typeface="黑体"/>
                <a:cs typeface="黑体"/>
              </a:rPr>
              <a:t>、主体条件：二人以上。</a:t>
            </a:r>
          </a:p>
          <a:p>
            <a:r>
              <a:rPr lang="zh-CN" altLang="zh-CN" sz="2800" dirty="0">
                <a:latin typeface="宋体"/>
                <a:ea typeface="宋体"/>
                <a:cs typeface="宋体"/>
              </a:rPr>
              <a:t>单位犯罪</a:t>
            </a:r>
            <a:r>
              <a:rPr lang="zh-CN" altLang="en-US" sz="2800" dirty="0">
                <a:latin typeface="宋体"/>
                <a:ea typeface="宋体"/>
                <a:cs typeface="宋体"/>
              </a:rPr>
              <a:t>？</a:t>
            </a:r>
            <a:r>
              <a:rPr lang="zh-CN" altLang="zh-CN" sz="2800" dirty="0">
                <a:latin typeface="宋体"/>
                <a:ea typeface="宋体"/>
                <a:cs typeface="宋体"/>
              </a:rPr>
              <a:t>虽然也是多人犯罪，但不是共同犯罪。</a:t>
            </a:r>
          </a:p>
          <a:p>
            <a:r>
              <a:rPr lang="zh-CN" altLang="zh-CN" sz="2800" dirty="0">
                <a:latin typeface="宋体"/>
                <a:ea typeface="宋体"/>
                <a:cs typeface="宋体"/>
              </a:rPr>
              <a:t>间接正犯？如果成年人利用未成年人犯罪，是间接正犯，不是共同犯罪。</a:t>
            </a:r>
          </a:p>
          <a:p>
            <a:r>
              <a:rPr lang="zh-CN" altLang="zh-CN" sz="2800" dirty="0">
                <a:latin typeface="宋体"/>
                <a:ea typeface="宋体"/>
                <a:cs typeface="宋体"/>
              </a:rPr>
              <a:t>特殊主体？特殊主体才能构成的犯罪中，特殊主体与其他主体共同实施的，也是共同犯罪：男女共同强奸、国家工作人员与外人共同贪污。</a:t>
            </a:r>
          </a:p>
          <a:p>
            <a:r>
              <a:rPr lang="zh-CN" altLang="zh-CN" sz="2800" dirty="0">
                <a:latin typeface="宋体"/>
                <a:ea typeface="宋体"/>
                <a:cs typeface="宋体"/>
              </a:rPr>
              <a:t>单位与单位、单位与自然人之间，都可能构成共同犯罪。</a:t>
            </a: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930844275"/>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a:latin typeface="黑体"/>
                <a:ea typeface="黑体"/>
                <a:cs typeface="黑体"/>
              </a:rPr>
              <a:t>共同犯罪</a:t>
            </a:r>
            <a:endParaRPr kumimoji="1" lang="zh-CN" altLang="en-US" sz="3200" dirty="0"/>
          </a:p>
        </p:txBody>
      </p:sp>
      <p:sp>
        <p:nvSpPr>
          <p:cNvPr id="3" name="内容占位符 2"/>
          <p:cNvSpPr>
            <a:spLocks noGrp="1"/>
          </p:cNvSpPr>
          <p:nvPr>
            <p:ph idx="1"/>
          </p:nvPr>
        </p:nvSpPr>
        <p:spPr>
          <a:xfrm>
            <a:off x="467544" y="908720"/>
            <a:ext cx="8229600" cy="5000625"/>
          </a:xfrm>
        </p:spPr>
        <p:txBody>
          <a:bodyPr/>
          <a:lstStyle/>
          <a:p>
            <a:r>
              <a:rPr lang="en-US" altLang="zh-CN" sz="2800" dirty="0">
                <a:latin typeface="黑体"/>
                <a:ea typeface="黑体"/>
                <a:cs typeface="黑体"/>
              </a:rPr>
              <a:t>2</a:t>
            </a:r>
            <a:r>
              <a:rPr lang="zh-CN" altLang="zh-CN" sz="2800" dirty="0">
                <a:latin typeface="黑体"/>
                <a:ea typeface="黑体"/>
                <a:cs typeface="黑体"/>
              </a:rPr>
              <a:t>、客观条件：有共同行为。</a:t>
            </a:r>
          </a:p>
          <a:p>
            <a:r>
              <a:rPr lang="zh-CN" altLang="zh-CN" sz="2800" dirty="0">
                <a:latin typeface="宋体"/>
                <a:ea typeface="宋体"/>
                <a:cs typeface="宋体"/>
              </a:rPr>
              <a:t>共同作为、共同不作为（家人共同遗弃）、作为与不作为相结合（甲乙共谋，甲盗窃，乙不制止）。</a:t>
            </a:r>
          </a:p>
          <a:p>
            <a:r>
              <a:rPr lang="en-US" altLang="zh-CN" sz="2800" dirty="0">
                <a:latin typeface="黑体"/>
                <a:ea typeface="黑体"/>
                <a:cs typeface="黑体"/>
              </a:rPr>
              <a:t>3</a:t>
            </a:r>
            <a:r>
              <a:rPr lang="zh-CN" altLang="zh-CN" sz="2800" dirty="0">
                <a:latin typeface="黑体"/>
                <a:ea typeface="黑体"/>
                <a:cs typeface="黑体"/>
              </a:rPr>
              <a:t>、主观条件：共同的故意</a:t>
            </a:r>
          </a:p>
          <a:p>
            <a:r>
              <a:rPr lang="zh-CN" altLang="zh-CN" sz="2800" dirty="0">
                <a:latin typeface="宋体"/>
                <a:ea typeface="宋体"/>
                <a:cs typeface="宋体"/>
              </a:rPr>
              <a:t>共同过失不是共同犯罪；</a:t>
            </a:r>
            <a:endParaRPr lang="en-US" altLang="zh-CN" sz="2800" dirty="0">
              <a:latin typeface="宋体"/>
              <a:ea typeface="宋体"/>
              <a:cs typeface="宋体"/>
            </a:endParaRPr>
          </a:p>
          <a:p>
            <a:r>
              <a:rPr lang="zh-CN" altLang="zh-CN" sz="2800" dirty="0">
                <a:latin typeface="宋体"/>
                <a:ea typeface="宋体"/>
                <a:cs typeface="宋体"/>
              </a:rPr>
              <a:t>有人故意而有人过失，也不是共同犯罪；</a:t>
            </a:r>
            <a:endParaRPr lang="en-US" altLang="zh-CN" sz="2800" dirty="0">
              <a:latin typeface="宋体"/>
              <a:ea typeface="宋体"/>
              <a:cs typeface="宋体"/>
            </a:endParaRPr>
          </a:p>
          <a:p>
            <a:r>
              <a:rPr lang="zh-CN" altLang="zh-CN" sz="2800" dirty="0">
                <a:latin typeface="宋体"/>
                <a:ea typeface="宋体"/>
                <a:cs typeface="宋体"/>
              </a:rPr>
              <a:t>数人同时故意犯罪，但互不知情，也不是。</a:t>
            </a:r>
          </a:p>
          <a:p>
            <a:r>
              <a:rPr lang="zh-CN" altLang="zh-CN" sz="2800" dirty="0">
                <a:latin typeface="宋体"/>
                <a:ea typeface="宋体"/>
                <a:cs typeface="宋体"/>
              </a:rPr>
              <a:t>片面共犯：甲强奸乙，丙暗中协助。</a:t>
            </a:r>
          </a:p>
        </p:txBody>
      </p:sp>
    </p:spTree>
    <p:extLst>
      <p:ext uri="{BB962C8B-B14F-4D97-AF65-F5344CB8AC3E}">
        <p14:creationId xmlns:p14="http://schemas.microsoft.com/office/powerpoint/2010/main" val="177990194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a:latin typeface="黑体"/>
                <a:ea typeface="黑体"/>
                <a:cs typeface="黑体"/>
              </a:rPr>
              <a:t>共同故意的特例</a:t>
            </a:r>
          </a:p>
        </p:txBody>
      </p:sp>
      <p:sp>
        <p:nvSpPr>
          <p:cNvPr id="3" name="内容占位符 2"/>
          <p:cNvSpPr>
            <a:spLocks noGrp="1"/>
          </p:cNvSpPr>
          <p:nvPr>
            <p:ph idx="1"/>
          </p:nvPr>
        </p:nvSpPr>
        <p:spPr>
          <a:xfrm>
            <a:off x="467544" y="836712"/>
            <a:ext cx="8229600" cy="5000625"/>
          </a:xfrm>
        </p:spPr>
        <p:txBody>
          <a:bodyPr/>
          <a:lstStyle/>
          <a:p>
            <a:r>
              <a:rPr lang="zh-CN" altLang="zh-CN" sz="2800" dirty="0">
                <a:latin typeface="宋体"/>
                <a:ea typeface="宋体"/>
                <a:cs typeface="宋体"/>
              </a:rPr>
              <a:t>甲乙共谋盗窃丙，乙望风，甲入室。但甲入室后忘了盗窃，而强奸了丙</a:t>
            </a:r>
            <a:r>
              <a:rPr lang="en-US" altLang="zh-CN" sz="2800" dirty="0">
                <a:latin typeface="宋体"/>
                <a:ea typeface="宋体"/>
                <a:cs typeface="宋体"/>
              </a:rPr>
              <a:t>——</a:t>
            </a:r>
            <a:r>
              <a:rPr lang="zh-CN" altLang="zh-CN" sz="2800" dirty="0">
                <a:latin typeface="宋体"/>
                <a:ea typeface="宋体"/>
                <a:cs typeface="宋体"/>
              </a:rPr>
              <a:t>二人共同盗窃成立，甲为中止，乙为未遂。但甲单独构成强奸。</a:t>
            </a:r>
          </a:p>
          <a:p>
            <a:r>
              <a:rPr lang="zh-CN" altLang="en-US" sz="2800" dirty="0">
                <a:latin typeface="宋体"/>
                <a:ea typeface="宋体"/>
                <a:cs typeface="宋体"/>
              </a:rPr>
              <a:t>如</a:t>
            </a:r>
            <a:r>
              <a:rPr lang="zh-CN" altLang="zh-CN" sz="2800" dirty="0">
                <a:latin typeface="宋体"/>
                <a:ea typeface="宋体"/>
                <a:cs typeface="宋体"/>
              </a:rPr>
              <a:t>甲入室后被发现，为抗拒抓捕而使用暴力</a:t>
            </a:r>
            <a:r>
              <a:rPr lang="en-US" altLang="zh-CN" sz="2800" dirty="0">
                <a:latin typeface="宋体"/>
                <a:ea typeface="宋体"/>
                <a:cs typeface="宋体"/>
              </a:rPr>
              <a:t>——</a:t>
            </a:r>
            <a:r>
              <a:rPr lang="zh-CN" altLang="zh-CN" sz="2800" dirty="0">
                <a:latin typeface="宋体"/>
                <a:ea typeface="宋体"/>
                <a:cs typeface="宋体"/>
              </a:rPr>
              <a:t>二人构成共同盗窃，但乙不对甲的抢劫行为承担共犯责任。</a:t>
            </a:r>
          </a:p>
          <a:p>
            <a:r>
              <a:rPr lang="zh-CN" altLang="en-US" sz="2800" dirty="0">
                <a:latin typeface="宋体"/>
                <a:ea typeface="宋体"/>
                <a:cs typeface="宋体"/>
              </a:rPr>
              <a:t>前</a:t>
            </a:r>
            <a:r>
              <a:rPr lang="zh-CN" altLang="zh-CN" sz="2800" dirty="0">
                <a:latin typeface="宋体"/>
                <a:ea typeface="宋体"/>
                <a:cs typeface="宋体"/>
              </a:rPr>
              <a:t>案中，由于潘、宋两人与黄没有共同的故意，分别触犯了不同的罪名，不构成共同犯罪。</a:t>
            </a:r>
            <a:r>
              <a:rPr lang="zh-CN" altLang="zh-CN" sz="2800" b="1" dirty="0">
                <a:latin typeface="宋体"/>
                <a:ea typeface="宋体"/>
                <a:cs typeface="宋体"/>
              </a:rPr>
              <a:t>但</a:t>
            </a:r>
            <a:r>
              <a:rPr lang="zh-CN" altLang="zh-CN" sz="2800" dirty="0">
                <a:latin typeface="宋体"/>
                <a:ea typeface="宋体"/>
                <a:cs typeface="宋体"/>
              </a:rPr>
              <a:t>潘、宋两人在贩卖毒品过程中确实起着帮助、配合等次要作用，根据罪刑相适应原则，应实事求是地以贩卖毒品罪的从犯认定，并结合未遂情节，对他们给予减轻处罚。</a:t>
            </a:r>
          </a:p>
        </p:txBody>
      </p:sp>
    </p:spTree>
    <p:extLst>
      <p:ext uri="{BB962C8B-B14F-4D97-AF65-F5344CB8AC3E}">
        <p14:creationId xmlns:p14="http://schemas.microsoft.com/office/powerpoint/2010/main" val="1897884932"/>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案例</a:t>
            </a:r>
          </a:p>
        </p:txBody>
      </p:sp>
      <p:sp>
        <p:nvSpPr>
          <p:cNvPr id="3" name="内容占位符 2"/>
          <p:cNvSpPr>
            <a:spLocks noGrp="1"/>
          </p:cNvSpPr>
          <p:nvPr>
            <p:ph idx="1"/>
          </p:nvPr>
        </p:nvSpPr>
        <p:spPr/>
        <p:txBody>
          <a:bodyPr/>
          <a:lstStyle/>
          <a:p>
            <a:r>
              <a:rPr kumimoji="1" lang="zh-CN" altLang="en-US" sz="2800" dirty="0">
                <a:latin typeface="宋体"/>
                <a:ea typeface="宋体"/>
                <a:cs typeface="宋体"/>
              </a:rPr>
              <a:t>吴某雇请胡某重伤李某，并指认了路线、地点。当晚，被害人途径此处，被胡某等人持凶器打翻在地。胡某还从被害人身上劫走</a:t>
            </a:r>
            <a:r>
              <a:rPr kumimoji="1" lang="en-US" altLang="zh-CN" sz="2800" dirty="0">
                <a:latin typeface="宋体"/>
                <a:ea typeface="宋体"/>
                <a:cs typeface="宋体"/>
              </a:rPr>
              <a:t>580</a:t>
            </a:r>
            <a:r>
              <a:rPr kumimoji="1" lang="zh-CN" altLang="en-US" sz="2800" dirty="0">
                <a:latin typeface="宋体"/>
                <a:ea typeface="宋体"/>
                <a:cs typeface="宋体"/>
              </a:rPr>
              <a:t>元钱。经法医鉴定，李某的伤情为轻微伤甲级。</a:t>
            </a:r>
            <a:endParaRPr kumimoji="1" lang="en-US" altLang="zh-CN" sz="2800" dirty="0">
              <a:latin typeface="宋体"/>
              <a:ea typeface="宋体"/>
              <a:cs typeface="宋体"/>
            </a:endParaRPr>
          </a:p>
          <a:p>
            <a:r>
              <a:rPr kumimoji="1" lang="zh-CN" altLang="en-US" sz="2800" dirty="0">
                <a:latin typeface="宋体"/>
                <a:ea typeface="宋体"/>
                <a:cs typeface="宋体"/>
              </a:rPr>
              <a:t>问题一：如何评价吴某意图重伤他人的行为？</a:t>
            </a:r>
            <a:endParaRPr kumimoji="1" lang="en-US" altLang="zh-CN" sz="2800" dirty="0">
              <a:latin typeface="宋体"/>
              <a:ea typeface="宋体"/>
              <a:cs typeface="宋体"/>
            </a:endParaRPr>
          </a:p>
          <a:p>
            <a:r>
              <a:rPr kumimoji="1" lang="zh-CN" altLang="en-US" sz="2800" dirty="0">
                <a:latin typeface="宋体"/>
                <a:ea typeface="宋体"/>
                <a:cs typeface="宋体"/>
              </a:rPr>
              <a:t>问题二：吴某是否应对胡某的抢劫行为负责？</a:t>
            </a:r>
            <a:endParaRPr kumimoji="1" lang="en-US" altLang="zh-CN" sz="2800" dirty="0">
              <a:latin typeface="宋体"/>
              <a:ea typeface="宋体"/>
              <a:cs typeface="宋体"/>
            </a:endParaRPr>
          </a:p>
          <a:p>
            <a:r>
              <a:rPr lang="zh-CN" altLang="zh-CN" sz="2800" dirty="0">
                <a:latin typeface="黑体"/>
                <a:ea typeface="黑体"/>
                <a:cs typeface="黑体"/>
              </a:rPr>
              <a:t>第二十九条</a:t>
            </a:r>
            <a:r>
              <a:rPr lang="en-US" altLang="zh-CN" sz="2800" dirty="0">
                <a:latin typeface="黑体"/>
                <a:ea typeface="黑体"/>
                <a:cs typeface="黑体"/>
              </a:rPr>
              <a:t>  </a:t>
            </a:r>
            <a:r>
              <a:rPr lang="zh-CN" altLang="zh-CN" sz="2800" dirty="0">
                <a:latin typeface="黑体"/>
                <a:ea typeface="黑体"/>
                <a:cs typeface="黑体"/>
              </a:rPr>
              <a:t>教唆他人犯罪的，应当按照他在共同犯罪中所起的作用处罚。教唆不满十八周岁的人犯罪的，应当从重处罚。</a:t>
            </a:r>
            <a:br>
              <a:rPr lang="en-US" altLang="zh-CN" sz="2800" dirty="0">
                <a:latin typeface="黑体"/>
                <a:ea typeface="黑体"/>
                <a:cs typeface="黑体"/>
              </a:rPr>
            </a:br>
            <a:r>
              <a:rPr lang="zh-CN" altLang="zh-CN" sz="2800" dirty="0">
                <a:latin typeface="黑体"/>
                <a:ea typeface="黑体"/>
                <a:cs typeface="黑体"/>
              </a:rPr>
              <a:t>　　如果被教唆的人没有犯被教唆的罪，对于教唆犯，可以从轻或者减轻处罚。</a:t>
            </a: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379086809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a:latin typeface="黑体"/>
                <a:ea typeface="黑体"/>
                <a:cs typeface="黑体"/>
              </a:rPr>
              <a:t>比较两例</a:t>
            </a:r>
          </a:p>
        </p:txBody>
      </p:sp>
      <p:sp>
        <p:nvSpPr>
          <p:cNvPr id="3" name="内容占位符 2"/>
          <p:cNvSpPr>
            <a:spLocks noGrp="1"/>
          </p:cNvSpPr>
          <p:nvPr>
            <p:ph idx="1"/>
          </p:nvPr>
        </p:nvSpPr>
        <p:spPr>
          <a:xfrm>
            <a:off x="467544" y="908720"/>
            <a:ext cx="8229600" cy="5000625"/>
          </a:xfrm>
        </p:spPr>
        <p:txBody>
          <a:bodyPr/>
          <a:lstStyle/>
          <a:p>
            <a:r>
              <a:rPr kumimoji="1" lang="zh-CN" altLang="en-US" sz="2800" b="1" dirty="0">
                <a:latin typeface="宋体"/>
                <a:ea typeface="宋体"/>
                <a:cs typeface="宋体"/>
              </a:rPr>
              <a:t>赵某酒后偶遇他人发生争执，随手用菜刀将被害人砍死。作案后四处躲藏。期间，赵某妻子韩某在警方说服下同意合作，并在亲属家规劝赵某。赵某同意投案，随后，韩某通知警方，警方派员到其家中将赵某抓获。</a:t>
            </a:r>
            <a:endParaRPr kumimoji="1" lang="en-US" altLang="zh-CN" sz="2800" b="1" dirty="0">
              <a:latin typeface="宋体"/>
              <a:ea typeface="宋体"/>
              <a:cs typeface="宋体"/>
            </a:endParaRPr>
          </a:p>
          <a:p>
            <a:r>
              <a:rPr kumimoji="1" lang="zh-CN" altLang="en-US" sz="2800" b="1" dirty="0">
                <a:latin typeface="宋体"/>
                <a:ea typeface="宋体"/>
                <a:cs typeface="宋体"/>
              </a:rPr>
              <a:t>张某到妻子住处取小孩衣物时，见到开门的是妻子的前夫，随发生冲突。过程中，张某用菜刀猛砍妻子的左颈部。发现流血过多，被告张某用毛巾堵住伤口，并叫了救护车，但抢救无效死亡。当民警到达现场时问谁干的，张某承认是自己干的。并说，“先救人，然后我投案自首”。但投案后否认杀人，辩称自己的行为是正当防卫。后经在场证人证实，事实并非如此。</a:t>
            </a:r>
            <a:endParaRPr kumimoji="1" lang="en-US" altLang="zh-CN" sz="2800" b="1" dirty="0">
              <a:latin typeface="宋体"/>
              <a:ea typeface="宋体"/>
              <a:cs typeface="宋体"/>
            </a:endParaRPr>
          </a:p>
        </p:txBody>
      </p:sp>
    </p:spTree>
    <p:extLst>
      <p:ext uri="{BB962C8B-B14F-4D97-AF65-F5344CB8AC3E}">
        <p14:creationId xmlns:p14="http://schemas.microsoft.com/office/powerpoint/2010/main" val="388256321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概念：自首</a:t>
            </a:r>
          </a:p>
        </p:txBody>
      </p:sp>
      <p:sp>
        <p:nvSpPr>
          <p:cNvPr id="3" name="内容占位符 2"/>
          <p:cNvSpPr>
            <a:spLocks noGrp="1"/>
          </p:cNvSpPr>
          <p:nvPr>
            <p:ph idx="1"/>
          </p:nvPr>
        </p:nvSpPr>
        <p:spPr/>
        <p:txBody>
          <a:bodyPr/>
          <a:lstStyle/>
          <a:p>
            <a:r>
              <a:rPr lang="zh-CN" altLang="zh-CN" sz="2800" b="1" dirty="0">
                <a:latin typeface="宋体"/>
                <a:ea typeface="宋体"/>
                <a:cs typeface="宋体"/>
              </a:rPr>
              <a:t>第六十七条</a:t>
            </a:r>
            <a:r>
              <a:rPr lang="en-US" altLang="zh-CN" sz="2800" b="1" dirty="0">
                <a:latin typeface="宋体"/>
                <a:ea typeface="宋体"/>
                <a:cs typeface="宋体"/>
              </a:rPr>
              <a:t>  </a:t>
            </a:r>
            <a:r>
              <a:rPr lang="zh-CN" altLang="zh-CN" sz="2800" b="1" dirty="0">
                <a:latin typeface="宋体"/>
                <a:ea typeface="宋体"/>
                <a:cs typeface="宋体"/>
              </a:rPr>
              <a:t>犯罪以后自动投案，如实供述自己的罪行的，是自首。对于自首的犯罪分子，可以从轻或者减轻处罚。其中，犯罪较轻的，可以免除处罚。</a:t>
            </a:r>
            <a:br>
              <a:rPr lang="en-US" altLang="zh-CN" sz="2800" b="1" dirty="0">
                <a:latin typeface="宋体"/>
                <a:ea typeface="宋体"/>
                <a:cs typeface="宋体"/>
              </a:rPr>
            </a:br>
            <a:r>
              <a:rPr lang="zh-CN" altLang="zh-CN" sz="2800" b="1" dirty="0">
                <a:latin typeface="宋体"/>
                <a:ea typeface="宋体"/>
                <a:cs typeface="宋体"/>
              </a:rPr>
              <a:t>　　被采取强制措施的犯罪嫌疑人、被告人和正在服刑的罪犯，如实供述司法机关还未掌握的本人其他罪行的，以自首论。</a:t>
            </a:r>
            <a:br>
              <a:rPr lang="en-US" altLang="zh-CN" sz="2800" b="1" dirty="0">
                <a:latin typeface="宋体"/>
                <a:ea typeface="宋体"/>
                <a:cs typeface="宋体"/>
              </a:rPr>
            </a:br>
            <a:r>
              <a:rPr lang="zh-CN" altLang="zh-CN" sz="2800" b="1" dirty="0">
                <a:latin typeface="宋体"/>
                <a:ea typeface="宋体"/>
                <a:cs typeface="宋体"/>
              </a:rPr>
              <a:t>　　犯罪嫌疑人虽不具有前两款规定的自首情节，但是如实供述自己罪行的，可以从轻处罚；因其如实供述自己罪行，避免特别严重后果发生的，可以减轻处罚。 </a:t>
            </a:r>
            <a:endParaRPr kumimoji="1" lang="zh-CN" altLang="en-US" sz="2800" b="1" dirty="0">
              <a:latin typeface="宋体"/>
              <a:ea typeface="宋体"/>
              <a:cs typeface="宋体"/>
            </a:endParaRPr>
          </a:p>
        </p:txBody>
      </p:sp>
    </p:spTree>
    <p:extLst>
      <p:ext uri="{BB962C8B-B14F-4D97-AF65-F5344CB8AC3E}">
        <p14:creationId xmlns:p14="http://schemas.microsoft.com/office/powerpoint/2010/main" val="2618047626"/>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11560" y="332656"/>
            <a:ext cx="8001000" cy="646336"/>
          </a:xfrm>
        </p:spPr>
        <p:txBody>
          <a:bodyPr/>
          <a:lstStyle/>
          <a:p>
            <a:pPr algn="ctr" eaLnBrk="1" hangingPunct="1"/>
            <a:r>
              <a:rPr lang="zh-CN" altLang="en-US" sz="3600" b="1" dirty="0">
                <a:ea typeface="方正新舒体简体" pitchFamily="2" charset="-122"/>
              </a:rPr>
              <a:t>法定量刑情节</a:t>
            </a:r>
          </a:p>
        </p:txBody>
      </p:sp>
      <p:graphicFrame>
        <p:nvGraphicFramePr>
          <p:cNvPr id="142387" name="Group 51"/>
          <p:cNvGraphicFramePr>
            <a:graphicFrameLocks noGrp="1"/>
          </p:cNvGraphicFramePr>
          <p:nvPr>
            <p:ph type="tbl" idx="1"/>
            <p:extLst>
              <p:ext uri="{D42A27DB-BD31-4B8C-83A1-F6EECF244321}">
                <p14:modId xmlns:p14="http://schemas.microsoft.com/office/powerpoint/2010/main" val="3783004265"/>
              </p:ext>
            </p:extLst>
          </p:nvPr>
        </p:nvGraphicFramePr>
        <p:xfrm>
          <a:off x="683568" y="1027586"/>
          <a:ext cx="7344816" cy="5439855"/>
        </p:xfrm>
        <a:graphic>
          <a:graphicData uri="http://schemas.openxmlformats.org/drawingml/2006/table">
            <a:tbl>
              <a:tblPr/>
              <a:tblGrid>
                <a:gridCol w="4464496">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tblGrid>
              <a:tr h="50405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dirty="0">
                          <a:ln>
                            <a:noFill/>
                          </a:ln>
                          <a:solidFill>
                            <a:schemeClr val="tx1"/>
                          </a:solidFill>
                          <a:effectLst/>
                          <a:latin typeface="黑体"/>
                          <a:ea typeface="黑体"/>
                          <a:cs typeface="黑体"/>
                        </a:rPr>
                        <a:t>从轻情节</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800" b="1" i="0" u="none" strike="noStrike" cap="none" normalizeH="0" baseline="0" dirty="0">
                          <a:ln>
                            <a:noFill/>
                          </a:ln>
                          <a:solidFill>
                            <a:schemeClr val="tx1"/>
                          </a:solidFill>
                          <a:effectLst/>
                          <a:latin typeface="黑体"/>
                          <a:ea typeface="黑体"/>
                          <a:cs typeface="黑体"/>
                        </a:rPr>
                        <a:t>从重情节</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204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未成年</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教唆犯</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89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2400" b="1" i="0" u="none" strike="noStrike" cap="none" normalizeH="0" baseline="0" dirty="0">
                          <a:ln>
                            <a:noFill/>
                          </a:ln>
                          <a:solidFill>
                            <a:schemeClr val="tx1"/>
                          </a:solidFill>
                          <a:effectLst/>
                          <a:latin typeface="宋体"/>
                          <a:ea typeface="宋体"/>
                          <a:cs typeface="宋体"/>
                        </a:rPr>
                        <a:t>75</a:t>
                      </a:r>
                      <a:r>
                        <a:rPr kumimoji="0" lang="zh-CN" altLang="en-US" sz="2400" b="1" i="0" u="none" strike="noStrike" cap="none" normalizeH="0" baseline="0" dirty="0">
                          <a:ln>
                            <a:noFill/>
                          </a:ln>
                          <a:solidFill>
                            <a:schemeClr val="tx1"/>
                          </a:solidFill>
                          <a:effectLst/>
                          <a:latin typeface="宋体"/>
                          <a:ea typeface="宋体"/>
                          <a:cs typeface="宋体"/>
                        </a:rPr>
                        <a:t>岁以上</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累犯</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有一定控制力的精神病人</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聋哑盲人</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防卫避险过当</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预备、未遂、中止</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从犯、胁从犯</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zh-CN" altLang="zh-CN" sz="2400" b="1" kern="1200" dirty="0">
                          <a:solidFill>
                            <a:schemeClr val="tx1"/>
                          </a:solidFill>
                          <a:effectLst/>
                          <a:latin typeface="宋体"/>
                          <a:ea typeface="宋体"/>
                          <a:cs typeface="宋体"/>
                        </a:rPr>
                        <a:t>被教唆的人没有犯被教唆的罪</a:t>
                      </a:r>
                      <a:r>
                        <a:rPr lang="zh-CN" altLang="zh-CN" sz="2400" b="1" dirty="0">
                          <a:effectLst/>
                          <a:latin typeface="宋体"/>
                          <a:ea typeface="宋体"/>
                          <a:cs typeface="宋体"/>
                        </a:rPr>
                        <a:t> </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0405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自首</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3204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2400" b="1" i="0" u="none" strike="noStrike" cap="none" normalizeH="0" baseline="0" dirty="0">
                          <a:ln>
                            <a:noFill/>
                          </a:ln>
                          <a:solidFill>
                            <a:schemeClr val="tx1"/>
                          </a:solidFill>
                          <a:effectLst/>
                          <a:latin typeface="宋体"/>
                          <a:ea typeface="宋体"/>
                          <a:cs typeface="宋体"/>
                        </a:rPr>
                        <a:t>立功</a:t>
                      </a: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0" lang="en-US" altLang="zh-CN" sz="2400" b="1" i="0" u="none" strike="noStrike" cap="none" normalizeH="0" baseline="0" dirty="0">
                        <a:ln>
                          <a:noFill/>
                        </a:ln>
                        <a:solidFill>
                          <a:schemeClr val="tx1"/>
                        </a:solidFill>
                        <a:effectLst/>
                        <a:latin typeface="宋体"/>
                        <a:ea typeface="宋体"/>
                        <a:cs typeface="宋体"/>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823618606"/>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275" y="100013"/>
            <a:ext cx="8229600" cy="880715"/>
          </a:xfrm>
        </p:spPr>
        <p:txBody>
          <a:bodyPr/>
          <a:lstStyle/>
          <a:p>
            <a:pPr algn="ctr"/>
            <a:r>
              <a:rPr lang="zh-CN" altLang="en-US" sz="4000" b="1" dirty="0">
                <a:latin typeface="黑体" pitchFamily="49" charset="-122"/>
                <a:ea typeface="黑体" pitchFamily="49" charset="-122"/>
              </a:rPr>
              <a:t>怎样量刑？</a:t>
            </a:r>
          </a:p>
        </p:txBody>
      </p:sp>
      <p:sp>
        <p:nvSpPr>
          <p:cNvPr id="3" name="内容占位符 2"/>
          <p:cNvSpPr>
            <a:spLocks noGrp="1"/>
          </p:cNvSpPr>
          <p:nvPr>
            <p:ph idx="1"/>
          </p:nvPr>
        </p:nvSpPr>
        <p:spPr>
          <a:xfrm>
            <a:off x="457200" y="1340768"/>
            <a:ext cx="8229600" cy="4536504"/>
          </a:xfrm>
        </p:spPr>
        <p:txBody>
          <a:bodyPr/>
          <a:lstStyle/>
          <a:p>
            <a:pPr>
              <a:buFont typeface="Arial" pitchFamily="34" charset="0"/>
              <a:buChar char="•"/>
            </a:pPr>
            <a:r>
              <a:rPr lang="zh-CN" altLang="zh-CN" sz="2800" b="1" dirty="0">
                <a:latin typeface="宋体"/>
                <a:ea typeface="宋体"/>
                <a:cs typeface="宋体"/>
              </a:rPr>
              <a:t>第六十二条</a:t>
            </a:r>
            <a:r>
              <a:rPr lang="en-US" altLang="zh-CN" sz="2800" b="1" dirty="0">
                <a:latin typeface="宋体"/>
                <a:ea typeface="宋体"/>
                <a:cs typeface="宋体"/>
              </a:rPr>
              <a:t>  </a:t>
            </a:r>
            <a:r>
              <a:rPr lang="zh-CN" altLang="zh-CN" sz="2800" b="1" dirty="0">
                <a:latin typeface="宋体"/>
                <a:ea typeface="宋体"/>
                <a:cs typeface="宋体"/>
              </a:rPr>
              <a:t>犯罪分子具有本法规定的从重处罚、从轻处罚情节的，应当在法定刑的限度以内判处刑罚。 </a:t>
            </a:r>
            <a:endParaRPr lang="en-US" altLang="zh-CN" sz="2800" b="1" dirty="0">
              <a:latin typeface="宋体"/>
              <a:ea typeface="宋体"/>
              <a:cs typeface="宋体"/>
            </a:endParaRPr>
          </a:p>
          <a:p>
            <a:pPr>
              <a:buFont typeface="Arial" pitchFamily="34" charset="0"/>
              <a:buChar char="•"/>
            </a:pPr>
            <a:r>
              <a:rPr lang="zh-CN" altLang="en-US" sz="3200" b="1" dirty="0">
                <a:latin typeface="楷体" pitchFamily="49" charset="-122"/>
                <a:ea typeface="楷体" pitchFamily="49" charset="-122"/>
              </a:rPr>
              <a:t>“从轻”、“从重”到底从哪里开始？</a:t>
            </a:r>
            <a:endParaRPr lang="en-US" altLang="zh-CN" sz="3200" b="1" dirty="0">
              <a:latin typeface="楷体" pitchFamily="49" charset="-122"/>
              <a:ea typeface="楷体" pitchFamily="49" charset="-122"/>
            </a:endParaRPr>
          </a:p>
          <a:p>
            <a:pPr>
              <a:buFont typeface="Arial" pitchFamily="34" charset="0"/>
              <a:buChar char="•"/>
            </a:pPr>
            <a:r>
              <a:rPr lang="zh-CN" altLang="en-US" sz="3200" b="1" dirty="0">
                <a:latin typeface="楷体" pitchFamily="49" charset="-122"/>
                <a:ea typeface="楷体" pitchFamily="49" charset="-122"/>
              </a:rPr>
              <a:t>法定刑中线？</a:t>
            </a:r>
            <a:endParaRPr lang="en-US" altLang="zh-CN" sz="3200" b="1" dirty="0">
              <a:latin typeface="楷体" pitchFamily="49" charset="-122"/>
              <a:ea typeface="楷体" pitchFamily="49" charset="-122"/>
            </a:endParaRPr>
          </a:p>
          <a:p>
            <a:pPr>
              <a:buFont typeface="Arial" pitchFamily="34" charset="0"/>
              <a:buChar char="•"/>
            </a:pPr>
            <a:r>
              <a:rPr lang="zh-CN" altLang="en-US" sz="3200" b="1" dirty="0">
                <a:latin typeface="楷体" pitchFamily="49" charset="-122"/>
                <a:ea typeface="楷体" pitchFamily="49" charset="-122"/>
              </a:rPr>
              <a:t>法定刑幅度底线？</a:t>
            </a:r>
            <a:endParaRPr lang="en-US" altLang="zh-CN" sz="3200" b="1" dirty="0">
              <a:latin typeface="楷体" pitchFamily="49" charset="-122"/>
              <a:ea typeface="楷体" pitchFamily="49" charset="-122"/>
            </a:endParaRPr>
          </a:p>
          <a:p>
            <a:pPr>
              <a:buFont typeface="Arial" pitchFamily="34" charset="0"/>
              <a:buChar char="•"/>
            </a:pPr>
            <a:r>
              <a:rPr lang="zh-CN" altLang="en-US" sz="3200" b="1" dirty="0">
                <a:latin typeface="楷体" pitchFamily="49" charset="-122"/>
                <a:ea typeface="楷体" pitchFamily="49" charset="-122"/>
              </a:rPr>
              <a:t>法定刑幅度上线？</a:t>
            </a:r>
            <a:endParaRPr lang="en-US" altLang="zh-CN" sz="3200" b="1" dirty="0">
              <a:latin typeface="楷体" pitchFamily="49" charset="-122"/>
              <a:ea typeface="楷体" pitchFamily="49" charset="-122"/>
            </a:endParaRPr>
          </a:p>
        </p:txBody>
      </p:sp>
    </p:spTree>
    <p:extLst>
      <p:ext uri="{BB962C8B-B14F-4D97-AF65-F5344CB8AC3E}">
        <p14:creationId xmlns:p14="http://schemas.microsoft.com/office/powerpoint/2010/main" val="53814339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a:r>
              <a:rPr lang="zh-CN" altLang="en-US" sz="4800" b="1" dirty="0"/>
              <a:t>样本</a:t>
            </a:r>
            <a:endParaRPr lang="zh-CN" altLang="zh-CN" sz="4800" b="1" dirty="0"/>
          </a:p>
        </p:txBody>
      </p:sp>
      <p:sp>
        <p:nvSpPr>
          <p:cNvPr id="31747" name="Rectangle 3"/>
          <p:cNvSpPr>
            <a:spLocks noGrp="1" noChangeArrowheads="1"/>
          </p:cNvSpPr>
          <p:nvPr>
            <p:ph type="body" idx="1"/>
          </p:nvPr>
        </p:nvSpPr>
        <p:spPr/>
        <p:txBody>
          <a:bodyPr/>
          <a:lstStyle/>
          <a:p>
            <a:r>
              <a:rPr lang="en-US" altLang="zh-CN" sz="2800" b="1" dirty="0">
                <a:solidFill>
                  <a:schemeClr val="tx1"/>
                </a:solidFill>
                <a:latin typeface="+mn-lt"/>
                <a:ea typeface="+mn-ea"/>
                <a:cs typeface="+mn-cs"/>
              </a:rPr>
              <a:t>21</a:t>
            </a:r>
            <a:r>
              <a:rPr lang="zh-CN" altLang="zh-CN" sz="2800" b="1" dirty="0">
                <a:solidFill>
                  <a:schemeClr val="tx1"/>
                </a:solidFill>
                <a:latin typeface="+mn-lt"/>
                <a:ea typeface="+mn-ea"/>
                <a:cs typeface="+mn-cs"/>
              </a:rPr>
              <a:t>个省市的</a:t>
            </a:r>
            <a:r>
              <a:rPr lang="en-US" altLang="zh-CN" sz="2800" b="1" dirty="0">
                <a:solidFill>
                  <a:schemeClr val="tx1"/>
                </a:solidFill>
                <a:latin typeface="+mn-lt"/>
                <a:ea typeface="+mn-ea"/>
                <a:cs typeface="+mn-cs"/>
              </a:rPr>
              <a:t>77</a:t>
            </a:r>
            <a:r>
              <a:rPr lang="zh-CN" altLang="zh-CN" sz="2800" b="1" dirty="0">
                <a:solidFill>
                  <a:schemeClr val="tx1"/>
                </a:solidFill>
                <a:latin typeface="+mn-lt"/>
                <a:ea typeface="+mn-ea"/>
                <a:cs typeface="+mn-cs"/>
              </a:rPr>
              <a:t>家法院提供的</a:t>
            </a:r>
            <a:r>
              <a:rPr lang="en-US" altLang="zh-CN" sz="2800" b="1" dirty="0">
                <a:solidFill>
                  <a:schemeClr val="tx1"/>
                </a:solidFill>
                <a:latin typeface="+mn-lt"/>
                <a:ea typeface="+mn-ea"/>
                <a:cs typeface="+mn-cs"/>
              </a:rPr>
              <a:t>39143</a:t>
            </a:r>
            <a:r>
              <a:rPr lang="zh-CN" altLang="zh-CN" sz="2800" b="1" dirty="0">
                <a:solidFill>
                  <a:schemeClr val="tx1"/>
                </a:solidFill>
                <a:latin typeface="+mn-lt"/>
                <a:ea typeface="+mn-ea"/>
                <a:cs typeface="+mn-cs"/>
              </a:rPr>
              <a:t>份刑事判决书。</a:t>
            </a:r>
            <a:endParaRPr lang="en-US" altLang="zh-CN" sz="2800" b="1" dirty="0">
              <a:solidFill>
                <a:schemeClr val="tx1"/>
              </a:solidFill>
              <a:latin typeface="+mn-lt"/>
              <a:ea typeface="+mn-ea"/>
              <a:cs typeface="+mn-cs"/>
            </a:endParaRPr>
          </a:p>
          <a:p>
            <a:r>
              <a:rPr lang="zh-CN" altLang="zh-CN" sz="2800" b="1" dirty="0">
                <a:solidFill>
                  <a:schemeClr val="tx1"/>
                </a:solidFill>
                <a:latin typeface="+mn-lt"/>
                <a:ea typeface="+mn-ea"/>
                <a:cs typeface="+mn-cs"/>
              </a:rPr>
              <a:t>占同期全国刑事案件总数的</a:t>
            </a:r>
            <a:r>
              <a:rPr lang="en-US" altLang="zh-CN" sz="2800" b="1" dirty="0">
                <a:solidFill>
                  <a:schemeClr val="tx1"/>
                </a:solidFill>
                <a:latin typeface="+mn-lt"/>
                <a:ea typeface="+mn-ea"/>
                <a:cs typeface="+mn-cs"/>
              </a:rPr>
              <a:t>1.4%</a:t>
            </a:r>
            <a:r>
              <a:rPr lang="zh-CN" altLang="zh-CN" sz="2800" b="1" dirty="0">
                <a:solidFill>
                  <a:schemeClr val="tx1"/>
                </a:solidFill>
                <a:latin typeface="+mn-lt"/>
                <a:ea typeface="+mn-ea"/>
                <a:cs typeface="+mn-cs"/>
              </a:rPr>
              <a:t>—</a:t>
            </a:r>
            <a:r>
              <a:rPr lang="en-US" altLang="zh-CN" sz="2800" b="1" dirty="0">
                <a:solidFill>
                  <a:schemeClr val="tx1"/>
                </a:solidFill>
                <a:latin typeface="+mn-lt"/>
                <a:ea typeface="+mn-ea"/>
                <a:cs typeface="+mn-cs"/>
              </a:rPr>
              <a:t>1.6%</a:t>
            </a:r>
            <a:r>
              <a:rPr lang="zh-CN" altLang="zh-CN" sz="2800" b="1" dirty="0">
                <a:solidFill>
                  <a:schemeClr val="tx1"/>
                </a:solidFill>
                <a:latin typeface="+mn-lt"/>
                <a:ea typeface="+mn-ea"/>
                <a:cs typeface="+mn-cs"/>
              </a:rPr>
              <a:t>之间。</a:t>
            </a:r>
            <a:endParaRPr lang="en-US" altLang="zh-CN" sz="2800" b="1" dirty="0">
              <a:solidFill>
                <a:schemeClr val="tx1"/>
              </a:solidFill>
              <a:latin typeface="+mn-lt"/>
              <a:ea typeface="+mn-ea"/>
              <a:cs typeface="+mn-cs"/>
            </a:endParaRPr>
          </a:p>
          <a:p>
            <a:r>
              <a:rPr lang="zh-CN" altLang="zh-CN" sz="2800" b="1" dirty="0">
                <a:solidFill>
                  <a:schemeClr val="tx1"/>
                </a:solidFill>
                <a:latin typeface="+mn-lt"/>
                <a:ea typeface="+mn-ea"/>
                <a:cs typeface="+mn-cs"/>
              </a:rPr>
              <a:t>每份判决书中包含案、人、罪三个层次的信息。</a:t>
            </a:r>
            <a:endParaRPr lang="en-US" altLang="zh-CN" sz="2800" b="1" dirty="0">
              <a:solidFill>
                <a:schemeClr val="tx1"/>
              </a:solidFill>
              <a:latin typeface="+mn-lt"/>
              <a:ea typeface="+mn-ea"/>
              <a:cs typeface="+mn-cs"/>
            </a:endParaRPr>
          </a:p>
          <a:p>
            <a:r>
              <a:rPr lang="zh-CN" altLang="zh-CN" sz="2800" b="1" dirty="0">
                <a:solidFill>
                  <a:schemeClr val="tx1"/>
                </a:solidFill>
                <a:latin typeface="+mn-lt"/>
                <a:ea typeface="+mn-ea"/>
                <a:cs typeface="+mn-cs"/>
              </a:rPr>
              <a:t>而研究量刑问题，</a:t>
            </a:r>
            <a:r>
              <a:rPr lang="zh-CN" altLang="zh-CN" sz="4000" b="1" dirty="0">
                <a:solidFill>
                  <a:schemeClr val="tx1"/>
                </a:solidFill>
                <a:latin typeface="黑体" pitchFamily="49" charset="-122"/>
                <a:ea typeface="黑体" pitchFamily="49" charset="-122"/>
              </a:rPr>
              <a:t>分析单位</a:t>
            </a:r>
            <a:r>
              <a:rPr lang="zh-CN" altLang="en-US" sz="2800" b="1" dirty="0">
                <a:solidFill>
                  <a:schemeClr val="tx1"/>
                </a:solidFill>
                <a:latin typeface="+mn-lt"/>
                <a:ea typeface="+mn-ea"/>
                <a:cs typeface="+mn-cs"/>
              </a:rPr>
              <a:t>应</a:t>
            </a:r>
            <a:r>
              <a:rPr lang="zh-CN" altLang="zh-CN" sz="2800" b="1" dirty="0">
                <a:solidFill>
                  <a:schemeClr val="tx1"/>
                </a:solidFill>
                <a:latin typeface="+mn-lt"/>
                <a:ea typeface="+mn-ea"/>
                <a:cs typeface="+mn-cs"/>
              </a:rPr>
              <a:t>确定为</a:t>
            </a:r>
            <a:r>
              <a:rPr lang="zh-CN" altLang="en-US" sz="2800" b="1" dirty="0">
                <a:solidFill>
                  <a:schemeClr val="tx1"/>
                </a:solidFill>
                <a:latin typeface="+mn-lt"/>
                <a:ea typeface="+mn-ea"/>
                <a:cs typeface="+mn-cs"/>
              </a:rPr>
              <a:t>罪刑关系的最小单位。</a:t>
            </a:r>
            <a:endParaRPr lang="en-US" altLang="zh-CN" sz="2800" b="1" dirty="0">
              <a:solidFill>
                <a:schemeClr val="tx1"/>
              </a:solidFill>
              <a:latin typeface="+mn-lt"/>
              <a:ea typeface="+mn-ea"/>
              <a:cs typeface="+mn-cs"/>
            </a:endParaRPr>
          </a:p>
          <a:p>
            <a:r>
              <a:rPr lang="zh-CN" altLang="zh-CN" sz="2800" b="1" dirty="0">
                <a:solidFill>
                  <a:schemeClr val="tx1"/>
                </a:solidFill>
                <a:latin typeface="+mn-lt"/>
                <a:ea typeface="+mn-ea"/>
                <a:cs typeface="+mn-cs"/>
              </a:rPr>
              <a:t>从</a:t>
            </a:r>
            <a:r>
              <a:rPr lang="en-US" altLang="zh-CN" sz="2800" b="1" dirty="0">
                <a:solidFill>
                  <a:schemeClr val="tx1"/>
                </a:solidFill>
                <a:latin typeface="+mn-lt"/>
                <a:ea typeface="+mn-ea"/>
                <a:cs typeface="+mn-cs"/>
              </a:rPr>
              <a:t>39143</a:t>
            </a:r>
            <a:r>
              <a:rPr lang="zh-CN" altLang="zh-CN" sz="2800" b="1" dirty="0">
                <a:solidFill>
                  <a:schemeClr val="tx1"/>
                </a:solidFill>
                <a:latin typeface="+mn-lt"/>
                <a:ea typeface="+mn-ea"/>
                <a:cs typeface="+mn-cs"/>
              </a:rPr>
              <a:t>份判决书中提取出全部被告人共</a:t>
            </a:r>
            <a:r>
              <a:rPr lang="en-US" altLang="zh-CN" sz="2800" b="1" dirty="0">
                <a:solidFill>
                  <a:schemeClr val="tx1"/>
                </a:solidFill>
                <a:latin typeface="+mn-lt"/>
                <a:ea typeface="+mn-ea"/>
                <a:cs typeface="+mn-cs"/>
              </a:rPr>
              <a:t>66245</a:t>
            </a:r>
            <a:r>
              <a:rPr lang="zh-CN" altLang="zh-CN" sz="2800" b="1" dirty="0">
                <a:solidFill>
                  <a:schemeClr val="tx1"/>
                </a:solidFill>
                <a:latin typeface="+mn-lt"/>
                <a:ea typeface="+mn-ea"/>
                <a:cs typeface="+mn-cs"/>
              </a:rPr>
              <a:t>个，</a:t>
            </a:r>
            <a:endParaRPr lang="en-US" altLang="zh-CN" sz="2800" b="1" dirty="0">
              <a:solidFill>
                <a:schemeClr val="tx1"/>
              </a:solidFill>
              <a:latin typeface="+mn-lt"/>
              <a:ea typeface="+mn-ea"/>
              <a:cs typeface="+mn-cs"/>
            </a:endParaRPr>
          </a:p>
          <a:p>
            <a:r>
              <a:rPr lang="zh-CN" altLang="zh-CN" sz="2800" b="1" dirty="0">
                <a:solidFill>
                  <a:schemeClr val="tx1"/>
                </a:solidFill>
                <a:latin typeface="+mn-lt"/>
                <a:ea typeface="+mn-ea"/>
                <a:cs typeface="+mn-cs"/>
              </a:rPr>
              <a:t>再从这些被告人信息中提取出全部最小罪刑关系共</a:t>
            </a:r>
            <a:r>
              <a:rPr lang="en-US" altLang="zh-CN" sz="4000" b="1" dirty="0">
                <a:latin typeface="黑体" pitchFamily="49" charset="-122"/>
                <a:ea typeface="黑体" pitchFamily="49" charset="-122"/>
              </a:rPr>
              <a:t>71653</a:t>
            </a:r>
            <a:r>
              <a:rPr lang="zh-CN" altLang="zh-CN" sz="2800" b="1" dirty="0">
                <a:solidFill>
                  <a:schemeClr val="tx1"/>
                </a:solidFill>
                <a:latin typeface="+mn-lt"/>
                <a:ea typeface="+mn-ea"/>
                <a:cs typeface="+mn-cs"/>
              </a:rPr>
              <a:t>个，构成本研究样本的基本分析单位。</a:t>
            </a:r>
          </a:p>
          <a:p>
            <a:endParaRPr lang="zh-CN" altLang="zh-CN" dirty="0"/>
          </a:p>
        </p:txBody>
      </p:sp>
    </p:spTree>
    <p:extLst>
      <p:ext uri="{BB962C8B-B14F-4D97-AF65-F5344CB8AC3E}">
        <p14:creationId xmlns:p14="http://schemas.microsoft.com/office/powerpoint/2010/main" val="10073832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iterate type="lt">
                                    <p:tmPct val="5000"/>
                                  </p:iterate>
                                  <p:childTnLst>
                                    <p:set>
                                      <p:cBhvr>
                                        <p:cTn id="6" dur="1" fill="hold">
                                          <p:stCondLst>
                                            <p:cond delay="0"/>
                                          </p:stCondLst>
                                        </p:cTn>
                                        <p:tgtEl>
                                          <p:spTgt spid="31746"/>
                                        </p:tgtEl>
                                        <p:attrNameLst>
                                          <p:attrName>style.visibility</p:attrName>
                                        </p:attrNameLst>
                                      </p:cBhvr>
                                      <p:to>
                                        <p:strVal val="visible"/>
                                      </p:to>
                                    </p:set>
                                    <p:anim calcmode="lin" valueType="num">
                                      <p:cBhvr>
                                        <p:cTn id="7" dur="500" fill="hold"/>
                                        <p:tgtEl>
                                          <p:spTgt spid="31746"/>
                                        </p:tgtEl>
                                        <p:attrNameLst>
                                          <p:attrName>ppt_w</p:attrName>
                                        </p:attrNameLst>
                                      </p:cBhvr>
                                      <p:tavLst>
                                        <p:tav tm="0">
                                          <p:val>
                                            <p:strVal val="#ppt_w+.3"/>
                                          </p:val>
                                        </p:tav>
                                        <p:tav tm="100000">
                                          <p:val>
                                            <p:strVal val="#ppt_w"/>
                                          </p:val>
                                        </p:tav>
                                      </p:tavLst>
                                    </p:anim>
                                    <p:anim calcmode="lin" valueType="num">
                                      <p:cBhvr>
                                        <p:cTn id="8" dur="500" fill="hold"/>
                                        <p:tgtEl>
                                          <p:spTgt spid="31746"/>
                                        </p:tgtEl>
                                        <p:attrNameLst>
                                          <p:attrName>ppt_h</p:attrName>
                                        </p:attrNameLst>
                                      </p:cBhvr>
                                      <p:tavLst>
                                        <p:tav tm="0">
                                          <p:val>
                                            <p:strVal val="#ppt_h"/>
                                          </p:val>
                                        </p:tav>
                                        <p:tav tm="100000">
                                          <p:val>
                                            <p:strVal val="#ppt_h"/>
                                          </p:val>
                                        </p:tav>
                                      </p:tavLst>
                                    </p:anim>
                                    <p:animEffect transition="in" filter="fade">
                                      <p:cBhvr>
                                        <p:cTn id="9" dur="500"/>
                                        <p:tgtEl>
                                          <p:spTgt spid="31746"/>
                                        </p:tgtEl>
                                      </p:cBhvr>
                                    </p:animEffect>
                                  </p:childTnLst>
                                </p:cTn>
                              </p:par>
                            </p:childTnLst>
                          </p:cTn>
                        </p:par>
                        <p:par>
                          <p:cTn id="10" fill="hold">
                            <p:stCondLst>
                              <p:cond delay="525"/>
                            </p:stCondLst>
                            <p:childTnLst>
                              <p:par>
                                <p:cTn id="11" presetID="22" presetClass="entr" presetSubtype="8" fill="hold" grpId="0" nodeType="afterEffect">
                                  <p:stCondLst>
                                    <p:cond delay="0"/>
                                  </p:stCondLst>
                                  <p:childTnLst>
                                    <p:set>
                                      <p:cBhvr>
                                        <p:cTn id="12" dur="1" fill="hold">
                                          <p:stCondLst>
                                            <p:cond delay="0"/>
                                          </p:stCondLst>
                                        </p:cTn>
                                        <p:tgtEl>
                                          <p:spTgt spid="31747">
                                            <p:txEl>
                                              <p:pRg st="0" end="0"/>
                                            </p:txEl>
                                          </p:spTgt>
                                        </p:tgtEl>
                                        <p:attrNameLst>
                                          <p:attrName>style.visibility</p:attrName>
                                        </p:attrNameLst>
                                      </p:cBhvr>
                                      <p:to>
                                        <p:strVal val="visible"/>
                                      </p:to>
                                    </p:set>
                                    <p:animEffect transition="in" filter="wipe(left)">
                                      <p:cBhvr>
                                        <p:cTn id="13" dur="500"/>
                                        <p:tgtEl>
                                          <p:spTgt spid="31747">
                                            <p:txEl>
                                              <p:pRg st="0" end="0"/>
                                            </p:txEl>
                                          </p:spTgt>
                                        </p:tgtEl>
                                      </p:cBhvr>
                                    </p:animEffect>
                                  </p:childTnLst>
                                </p:cTn>
                              </p:par>
                            </p:childTnLst>
                          </p:cTn>
                        </p:par>
                        <p:par>
                          <p:cTn id="14" fill="hold">
                            <p:stCondLst>
                              <p:cond delay="1025"/>
                            </p:stCondLst>
                            <p:childTnLst>
                              <p:par>
                                <p:cTn id="15" presetID="22" presetClass="entr" presetSubtype="8" fill="hold" grpId="0" nodeType="afterEffect">
                                  <p:stCondLst>
                                    <p:cond delay="0"/>
                                  </p:stCondLst>
                                  <p:childTnLst>
                                    <p:set>
                                      <p:cBhvr>
                                        <p:cTn id="16" dur="1" fill="hold">
                                          <p:stCondLst>
                                            <p:cond delay="0"/>
                                          </p:stCondLst>
                                        </p:cTn>
                                        <p:tgtEl>
                                          <p:spTgt spid="31747">
                                            <p:txEl>
                                              <p:pRg st="1" end="1"/>
                                            </p:txEl>
                                          </p:spTgt>
                                        </p:tgtEl>
                                        <p:attrNameLst>
                                          <p:attrName>style.visibility</p:attrName>
                                        </p:attrNameLst>
                                      </p:cBhvr>
                                      <p:to>
                                        <p:strVal val="visible"/>
                                      </p:to>
                                    </p:set>
                                    <p:animEffect transition="in" filter="wipe(left)">
                                      <p:cBhvr>
                                        <p:cTn id="17" dur="500"/>
                                        <p:tgtEl>
                                          <p:spTgt spid="31747">
                                            <p:txEl>
                                              <p:pRg st="1" end="1"/>
                                            </p:txEl>
                                          </p:spTgt>
                                        </p:tgtEl>
                                      </p:cBhvr>
                                    </p:animEffect>
                                  </p:childTnLst>
                                </p:cTn>
                              </p:par>
                            </p:childTnLst>
                          </p:cTn>
                        </p:par>
                        <p:par>
                          <p:cTn id="18" fill="hold">
                            <p:stCondLst>
                              <p:cond delay="1525"/>
                            </p:stCondLst>
                            <p:childTnLst>
                              <p:par>
                                <p:cTn id="19" presetID="22" presetClass="entr" presetSubtype="8" fill="hold" grpId="0" nodeType="afterEffect">
                                  <p:stCondLst>
                                    <p:cond delay="0"/>
                                  </p:stCondLst>
                                  <p:childTnLst>
                                    <p:set>
                                      <p:cBhvr>
                                        <p:cTn id="20" dur="1" fill="hold">
                                          <p:stCondLst>
                                            <p:cond delay="0"/>
                                          </p:stCondLst>
                                        </p:cTn>
                                        <p:tgtEl>
                                          <p:spTgt spid="31747">
                                            <p:txEl>
                                              <p:pRg st="2" end="2"/>
                                            </p:txEl>
                                          </p:spTgt>
                                        </p:tgtEl>
                                        <p:attrNameLst>
                                          <p:attrName>style.visibility</p:attrName>
                                        </p:attrNameLst>
                                      </p:cBhvr>
                                      <p:to>
                                        <p:strVal val="visible"/>
                                      </p:to>
                                    </p:set>
                                    <p:animEffect transition="in" filter="wipe(left)">
                                      <p:cBhvr>
                                        <p:cTn id="21" dur="500"/>
                                        <p:tgtEl>
                                          <p:spTgt spid="31747">
                                            <p:txEl>
                                              <p:pRg st="2" end="2"/>
                                            </p:txEl>
                                          </p:spTgt>
                                        </p:tgtEl>
                                      </p:cBhvr>
                                    </p:animEffect>
                                  </p:childTnLst>
                                </p:cTn>
                              </p:par>
                            </p:childTnLst>
                          </p:cTn>
                        </p:par>
                        <p:par>
                          <p:cTn id="22" fill="hold">
                            <p:stCondLst>
                              <p:cond delay="2025"/>
                            </p:stCondLst>
                            <p:childTnLst>
                              <p:par>
                                <p:cTn id="23" presetID="22" presetClass="entr" presetSubtype="8" fill="hold" grpId="0" nodeType="afterEffect">
                                  <p:stCondLst>
                                    <p:cond delay="0"/>
                                  </p:stCondLst>
                                  <p:childTnLst>
                                    <p:set>
                                      <p:cBhvr>
                                        <p:cTn id="24" dur="1" fill="hold">
                                          <p:stCondLst>
                                            <p:cond delay="0"/>
                                          </p:stCondLst>
                                        </p:cTn>
                                        <p:tgtEl>
                                          <p:spTgt spid="31747">
                                            <p:txEl>
                                              <p:pRg st="3" end="3"/>
                                            </p:txEl>
                                          </p:spTgt>
                                        </p:tgtEl>
                                        <p:attrNameLst>
                                          <p:attrName>style.visibility</p:attrName>
                                        </p:attrNameLst>
                                      </p:cBhvr>
                                      <p:to>
                                        <p:strVal val="visible"/>
                                      </p:to>
                                    </p:set>
                                    <p:animEffect transition="in" filter="wipe(left)">
                                      <p:cBhvr>
                                        <p:cTn id="25" dur="500"/>
                                        <p:tgtEl>
                                          <p:spTgt spid="31747">
                                            <p:txEl>
                                              <p:pRg st="3" end="3"/>
                                            </p:txEl>
                                          </p:spTgt>
                                        </p:tgtEl>
                                      </p:cBhvr>
                                    </p:animEffect>
                                  </p:childTnLst>
                                </p:cTn>
                              </p:par>
                            </p:childTnLst>
                          </p:cTn>
                        </p:par>
                        <p:par>
                          <p:cTn id="26" fill="hold">
                            <p:stCondLst>
                              <p:cond delay="2525"/>
                            </p:stCondLst>
                            <p:childTnLst>
                              <p:par>
                                <p:cTn id="27" presetID="22" presetClass="entr" presetSubtype="8" fill="hold" grpId="0" nodeType="afterEffect">
                                  <p:stCondLst>
                                    <p:cond delay="0"/>
                                  </p:stCondLst>
                                  <p:childTnLst>
                                    <p:set>
                                      <p:cBhvr>
                                        <p:cTn id="28" dur="1" fill="hold">
                                          <p:stCondLst>
                                            <p:cond delay="0"/>
                                          </p:stCondLst>
                                        </p:cTn>
                                        <p:tgtEl>
                                          <p:spTgt spid="31747">
                                            <p:txEl>
                                              <p:pRg st="4" end="4"/>
                                            </p:txEl>
                                          </p:spTgt>
                                        </p:tgtEl>
                                        <p:attrNameLst>
                                          <p:attrName>style.visibility</p:attrName>
                                        </p:attrNameLst>
                                      </p:cBhvr>
                                      <p:to>
                                        <p:strVal val="visible"/>
                                      </p:to>
                                    </p:set>
                                    <p:animEffect transition="in" filter="wipe(left)">
                                      <p:cBhvr>
                                        <p:cTn id="29" dur="500"/>
                                        <p:tgtEl>
                                          <p:spTgt spid="31747">
                                            <p:txEl>
                                              <p:pRg st="4" end="4"/>
                                            </p:txEl>
                                          </p:spTgt>
                                        </p:tgtEl>
                                      </p:cBhvr>
                                    </p:animEffect>
                                  </p:childTnLst>
                                </p:cTn>
                              </p:par>
                            </p:childTnLst>
                          </p:cTn>
                        </p:par>
                        <p:par>
                          <p:cTn id="30" fill="hold">
                            <p:stCondLst>
                              <p:cond delay="3025"/>
                            </p:stCondLst>
                            <p:childTnLst>
                              <p:par>
                                <p:cTn id="31" presetID="22" presetClass="entr" presetSubtype="8" fill="hold" grpId="0" nodeType="afterEffect">
                                  <p:stCondLst>
                                    <p:cond delay="0"/>
                                  </p:stCondLst>
                                  <p:childTnLst>
                                    <p:set>
                                      <p:cBhvr>
                                        <p:cTn id="32" dur="1" fill="hold">
                                          <p:stCondLst>
                                            <p:cond delay="0"/>
                                          </p:stCondLst>
                                        </p:cTn>
                                        <p:tgtEl>
                                          <p:spTgt spid="31747">
                                            <p:txEl>
                                              <p:pRg st="5" end="5"/>
                                            </p:txEl>
                                          </p:spTgt>
                                        </p:tgtEl>
                                        <p:attrNameLst>
                                          <p:attrName>style.visibility</p:attrName>
                                        </p:attrNameLst>
                                      </p:cBhvr>
                                      <p:to>
                                        <p:strVal val="visible"/>
                                      </p:to>
                                    </p:set>
                                    <p:animEffect transition="in" filter="wipe(left)">
                                      <p:cBhvr>
                                        <p:cTn id="33" dur="500"/>
                                        <p:tgtEl>
                                          <p:spTgt spid="317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683568" y="620688"/>
            <a:ext cx="7170737" cy="492125"/>
          </a:xfrm>
        </p:spPr>
        <p:txBody>
          <a:bodyPr/>
          <a:lstStyle/>
          <a:p>
            <a:r>
              <a:rPr lang="zh-CN" altLang="en-US" sz="4000" b="1" dirty="0">
                <a:latin typeface="微软雅黑" pitchFamily="34" charset="-122"/>
                <a:ea typeface="微软雅黑" pitchFamily="34" charset="-122"/>
              </a:rPr>
              <a:t>结果</a:t>
            </a:r>
            <a:r>
              <a:rPr lang="en-US" altLang="zh-CN" sz="4000" b="1" dirty="0">
                <a:latin typeface="微软雅黑" pitchFamily="34" charset="-122"/>
                <a:ea typeface="微软雅黑" pitchFamily="34" charset="-122"/>
              </a:rPr>
              <a:t>1</a:t>
            </a:r>
            <a:r>
              <a:rPr lang="zh-CN" altLang="en-US" sz="4000" b="1" dirty="0">
                <a:latin typeface="微软雅黑" pitchFamily="34" charset="-122"/>
                <a:ea typeface="微软雅黑" pitchFamily="34" charset="-122"/>
              </a:rPr>
              <a:t>、盗窃罪量刑</a:t>
            </a:r>
          </a:p>
        </p:txBody>
      </p:sp>
      <p:graphicFrame>
        <p:nvGraphicFramePr>
          <p:cNvPr id="4" name="内容占位符 3"/>
          <p:cNvGraphicFramePr>
            <a:graphicFrameLocks noGrp="1"/>
          </p:cNvGraphicFramePr>
          <p:nvPr>
            <p:ph idx="1"/>
          </p:nvPr>
        </p:nvGraphicFramePr>
        <p:xfrm>
          <a:off x="0" y="1500188"/>
          <a:ext cx="9144001" cy="4857788"/>
        </p:xfrm>
        <a:graphic>
          <a:graphicData uri="http://schemas.openxmlformats.org/drawingml/2006/table">
            <a:tbl>
              <a:tblPr firstRow="1" bandRow="1">
                <a:tableStyleId>{5C22544A-7EE6-4342-B048-85BDC9FD1C3A}</a:tableStyleId>
              </a:tblPr>
              <a:tblGrid>
                <a:gridCol w="1785500">
                  <a:extLst>
                    <a:ext uri="{9D8B030D-6E8A-4147-A177-3AD203B41FA5}">
                      <a16:colId xmlns:a16="http://schemas.microsoft.com/office/drawing/2014/main" val="20000"/>
                    </a:ext>
                  </a:extLst>
                </a:gridCol>
                <a:gridCol w="1922404">
                  <a:extLst>
                    <a:ext uri="{9D8B030D-6E8A-4147-A177-3AD203B41FA5}">
                      <a16:colId xmlns:a16="http://schemas.microsoft.com/office/drawing/2014/main" val="20001"/>
                    </a:ext>
                  </a:extLst>
                </a:gridCol>
                <a:gridCol w="1594538">
                  <a:extLst>
                    <a:ext uri="{9D8B030D-6E8A-4147-A177-3AD203B41FA5}">
                      <a16:colId xmlns:a16="http://schemas.microsoft.com/office/drawing/2014/main" val="20002"/>
                    </a:ext>
                  </a:extLst>
                </a:gridCol>
                <a:gridCol w="2077870">
                  <a:extLst>
                    <a:ext uri="{9D8B030D-6E8A-4147-A177-3AD203B41FA5}">
                      <a16:colId xmlns:a16="http://schemas.microsoft.com/office/drawing/2014/main" val="20003"/>
                    </a:ext>
                  </a:extLst>
                </a:gridCol>
                <a:gridCol w="1763689">
                  <a:extLst>
                    <a:ext uri="{9D8B030D-6E8A-4147-A177-3AD203B41FA5}">
                      <a16:colId xmlns:a16="http://schemas.microsoft.com/office/drawing/2014/main" val="20004"/>
                    </a:ext>
                  </a:extLst>
                </a:gridCol>
              </a:tblGrid>
              <a:tr h="1214447">
                <a:tc>
                  <a:txBody>
                    <a:bodyPr/>
                    <a:lstStyle/>
                    <a:p>
                      <a:pPr algn="ctr">
                        <a:lnSpc>
                          <a:spcPts val="1600"/>
                        </a:lnSpc>
                        <a:spcAft>
                          <a:spcPts val="0"/>
                        </a:spcAft>
                      </a:pPr>
                      <a:r>
                        <a:rPr lang="zh-CN" sz="2800" b="1" kern="0" dirty="0">
                          <a:solidFill>
                            <a:srgbClr val="000000"/>
                          </a:solidFill>
                          <a:latin typeface="黑体" pitchFamily="49" charset="-122"/>
                          <a:ea typeface="黑体" pitchFamily="49" charset="-122"/>
                          <a:cs typeface="Arial"/>
                        </a:rPr>
                        <a:t>裸罪数额</a:t>
                      </a:r>
                      <a:endParaRPr lang="zh-CN" sz="2800" kern="100" dirty="0">
                        <a:latin typeface="黑体" pitchFamily="49" charset="-122"/>
                        <a:ea typeface="黑体" pitchFamily="49" charset="-122"/>
                        <a:cs typeface="Times New Roman"/>
                      </a:endParaRP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裸刑</a:t>
                      </a:r>
                      <a:r>
                        <a:rPr lang="zh-CN" sz="2800" b="1" kern="0" dirty="0">
                          <a:solidFill>
                            <a:srgbClr val="000000"/>
                          </a:solidFill>
                          <a:latin typeface="黑体" pitchFamily="49" charset="-122"/>
                          <a:ea typeface="黑体" pitchFamily="49" charset="-122"/>
                          <a:cs typeface="Arial"/>
                        </a:rPr>
                        <a:t>均值</a:t>
                      </a:r>
                      <a:endParaRPr lang="zh-CN" sz="2800" kern="100" dirty="0">
                        <a:latin typeface="黑体" pitchFamily="49" charset="-122"/>
                        <a:ea typeface="黑体" pitchFamily="49" charset="-122"/>
                        <a:cs typeface="Times New Roman"/>
                      </a:endParaRP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样本数</a:t>
                      </a: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法定刑中线</a:t>
                      </a:r>
                    </a:p>
                  </a:txBody>
                  <a:tcPr marL="19050" marR="19050" marT="19050" marB="19050" anchor="b"/>
                </a:tc>
                <a:tc>
                  <a:txBody>
                    <a:bodyPr/>
                    <a:lstStyle/>
                    <a:p>
                      <a:pPr algn="ctr">
                        <a:lnSpc>
                          <a:spcPts val="1600"/>
                        </a:lnSpc>
                        <a:spcAft>
                          <a:spcPts val="0"/>
                        </a:spcAft>
                      </a:pPr>
                      <a:r>
                        <a:rPr lang="en-US" altLang="zh-CN" sz="2800" b="1" kern="0" dirty="0">
                          <a:solidFill>
                            <a:srgbClr val="000000"/>
                          </a:solidFill>
                          <a:latin typeface="黑体" pitchFamily="49" charset="-122"/>
                          <a:ea typeface="黑体" pitchFamily="49" charset="-122"/>
                          <a:cs typeface="Arial"/>
                        </a:rPr>
                        <a:t>《</a:t>
                      </a:r>
                      <a:r>
                        <a:rPr lang="zh-CN" altLang="en-US" sz="2800" b="1" kern="0" dirty="0">
                          <a:solidFill>
                            <a:srgbClr val="000000"/>
                          </a:solidFill>
                          <a:latin typeface="黑体" pitchFamily="49" charset="-122"/>
                          <a:ea typeface="黑体" pitchFamily="49" charset="-122"/>
                          <a:cs typeface="Arial"/>
                        </a:rPr>
                        <a:t>意见</a:t>
                      </a:r>
                      <a:r>
                        <a:rPr lang="en-US" altLang="zh-CN" sz="2800" b="1" kern="0" dirty="0">
                          <a:solidFill>
                            <a:srgbClr val="000000"/>
                          </a:solidFill>
                          <a:latin typeface="黑体" pitchFamily="49" charset="-122"/>
                          <a:ea typeface="黑体" pitchFamily="49" charset="-122"/>
                          <a:cs typeface="Arial"/>
                        </a:rPr>
                        <a:t>》</a:t>
                      </a:r>
                      <a:endParaRPr lang="zh-CN" altLang="en-US" sz="2800" b="1" kern="0" dirty="0">
                        <a:solidFill>
                          <a:srgbClr val="000000"/>
                        </a:solidFill>
                        <a:latin typeface="黑体" pitchFamily="49" charset="-122"/>
                        <a:ea typeface="黑体" pitchFamily="49" charset="-122"/>
                        <a:cs typeface="Arial"/>
                      </a:endParaRPr>
                    </a:p>
                  </a:txBody>
                  <a:tcPr marL="19050" marR="19050" marT="19050" marB="19050" anchor="b"/>
                </a:tc>
                <a:extLst>
                  <a:ext uri="{0D108BD9-81ED-4DB2-BD59-A6C34878D82A}">
                    <a16:rowId xmlns:a16="http://schemas.microsoft.com/office/drawing/2014/main" val="10000"/>
                  </a:ext>
                </a:extLst>
              </a:tr>
              <a:tr h="1214447">
                <a:tc>
                  <a:txBody>
                    <a:bodyPr/>
                    <a:lstStyle/>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r>
                        <a:rPr lang="zh-CN" sz="2800" b="1" kern="0" dirty="0">
                          <a:solidFill>
                            <a:srgbClr val="000000"/>
                          </a:solidFill>
                          <a:latin typeface="楷体" pitchFamily="49" charset="-122"/>
                          <a:ea typeface="楷体" pitchFamily="49" charset="-122"/>
                          <a:cs typeface="Arial"/>
                        </a:rPr>
                        <a:t>较大</a:t>
                      </a:r>
                      <a:endParaRPr lang="zh-CN" sz="2800" b="1" kern="100" dirty="0">
                        <a:latin typeface="楷体" pitchFamily="49" charset="-122"/>
                        <a:ea typeface="楷体" pitchFamily="49" charset="-122"/>
                        <a:cs typeface="Times New Roman"/>
                      </a:endParaRPr>
                    </a:p>
                  </a:txBody>
                  <a:tcPr marL="19050" marR="19050" marT="19050" marB="19050"/>
                </a:tc>
                <a:tc>
                  <a:txBody>
                    <a:bodyPr/>
                    <a:lstStyle/>
                    <a:p>
                      <a:pPr algn="ctr">
                        <a:lnSpc>
                          <a:spcPts val="1600"/>
                        </a:lnSpc>
                        <a:spcAft>
                          <a:spcPts val="0"/>
                        </a:spcAft>
                      </a:pPr>
                      <a:r>
                        <a:rPr lang="en-US" sz="2800" b="1" kern="0" dirty="0">
                          <a:solidFill>
                            <a:srgbClr val="000000"/>
                          </a:solidFill>
                          <a:latin typeface="黑体" pitchFamily="49" charset="-122"/>
                          <a:ea typeface="黑体" pitchFamily="49" charset="-122"/>
                          <a:cs typeface="Times New Roman"/>
                        </a:rPr>
                        <a:t>9.36</a:t>
                      </a:r>
                      <a:endParaRPr lang="zh-CN" sz="2800" b="1" kern="100" dirty="0">
                        <a:latin typeface="黑体" pitchFamily="49" charset="-122"/>
                        <a:ea typeface="黑体" pitchFamily="49" charset="-122"/>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7476</a:t>
                      </a:r>
                      <a:endParaRPr lang="zh-CN" altLang="zh-CN" sz="2800" b="1" kern="0" dirty="0">
                        <a:solidFill>
                          <a:srgbClr val="000000"/>
                        </a:solidFill>
                        <a:latin typeface="+mn-ea"/>
                        <a:ea typeface="+mn-ea"/>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21</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6-36</a:t>
                      </a:r>
                      <a:r>
                        <a:rPr lang="zh-CN" altLang="en-US" sz="2000" b="1" kern="0" dirty="0">
                          <a:solidFill>
                            <a:srgbClr val="000000"/>
                          </a:solidFill>
                          <a:latin typeface="+mn-ea"/>
                          <a:ea typeface="+mn-ea"/>
                          <a:cs typeface="Times New Roman"/>
                        </a:rPr>
                        <a:t>）</a:t>
                      </a:r>
                      <a:endParaRPr lang="zh-CN" sz="2000" b="1" kern="100" dirty="0">
                        <a:latin typeface="+mn-ea"/>
                        <a:ea typeface="+mn-ea"/>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12</a:t>
                      </a:r>
                      <a:endParaRPr lang="zh-CN" sz="2800" b="1" kern="100" dirty="0">
                        <a:latin typeface="+mn-ea"/>
                        <a:ea typeface="+mn-ea"/>
                        <a:cs typeface="Times New Roman"/>
                      </a:endParaRPr>
                    </a:p>
                  </a:txBody>
                  <a:tcPr marL="19050" marR="19050" marT="19050" marB="19050" anchor="ctr">
                    <a:solidFill>
                      <a:srgbClr val="FFFF00"/>
                    </a:solidFill>
                  </a:tcPr>
                </a:tc>
                <a:extLst>
                  <a:ext uri="{0D108BD9-81ED-4DB2-BD59-A6C34878D82A}">
                    <a16:rowId xmlns:a16="http://schemas.microsoft.com/office/drawing/2014/main" val="10001"/>
                  </a:ext>
                </a:extLst>
              </a:tr>
              <a:tr h="1214447">
                <a:tc>
                  <a:txBody>
                    <a:bodyPr/>
                    <a:lstStyle/>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r>
                        <a:rPr lang="zh-CN" sz="2800" b="1" kern="0" dirty="0">
                          <a:solidFill>
                            <a:srgbClr val="000000"/>
                          </a:solidFill>
                          <a:latin typeface="楷体" pitchFamily="49" charset="-122"/>
                          <a:ea typeface="楷体" pitchFamily="49" charset="-122"/>
                          <a:cs typeface="Arial"/>
                        </a:rPr>
                        <a:t>巨大</a:t>
                      </a:r>
                      <a:endParaRPr lang="zh-CN" sz="2800" b="1" kern="100" dirty="0">
                        <a:latin typeface="楷体" pitchFamily="49" charset="-122"/>
                        <a:ea typeface="楷体" pitchFamily="49" charset="-122"/>
                        <a:cs typeface="Times New Roman"/>
                      </a:endParaRPr>
                    </a:p>
                  </a:txBody>
                  <a:tcPr marL="19050" marR="19050" marT="19050" marB="19050"/>
                </a:tc>
                <a:tc>
                  <a:txBody>
                    <a:bodyPr/>
                    <a:lstStyle/>
                    <a:p>
                      <a:pPr algn="ctr">
                        <a:lnSpc>
                          <a:spcPts val="1600"/>
                        </a:lnSpc>
                        <a:spcAft>
                          <a:spcPts val="0"/>
                        </a:spcAft>
                      </a:pPr>
                      <a:r>
                        <a:rPr lang="en-US" sz="2800" b="1" kern="0" dirty="0">
                          <a:solidFill>
                            <a:srgbClr val="000000"/>
                          </a:solidFill>
                          <a:latin typeface="黑体" pitchFamily="49" charset="-122"/>
                          <a:ea typeface="黑体" pitchFamily="49" charset="-122"/>
                          <a:cs typeface="Times New Roman"/>
                        </a:rPr>
                        <a:t>51.58</a:t>
                      </a:r>
                      <a:endParaRPr lang="zh-CN" sz="2800" b="1" kern="100" dirty="0">
                        <a:latin typeface="黑体" pitchFamily="49" charset="-122"/>
                        <a:ea typeface="黑体" pitchFamily="49" charset="-122"/>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1975</a:t>
                      </a:r>
                      <a:endParaRPr lang="zh-CN" altLang="zh-CN" sz="2800" b="1" kern="0" dirty="0">
                        <a:solidFill>
                          <a:srgbClr val="000000"/>
                        </a:solidFill>
                        <a:latin typeface="+mn-ea"/>
                        <a:ea typeface="+mn-ea"/>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78</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36-120</a:t>
                      </a:r>
                      <a:r>
                        <a:rPr lang="zh-CN" altLang="en-US" sz="2000" b="1" kern="0" dirty="0">
                          <a:solidFill>
                            <a:srgbClr val="000000"/>
                          </a:solidFill>
                          <a:latin typeface="+mn-ea"/>
                          <a:ea typeface="+mn-ea"/>
                          <a:cs typeface="Times New Roman"/>
                        </a:rPr>
                        <a:t>）</a:t>
                      </a:r>
                      <a:endParaRPr lang="zh-CN" altLang="zh-CN" sz="2000" b="1" kern="0" dirty="0">
                        <a:solidFill>
                          <a:srgbClr val="000000"/>
                        </a:solidFill>
                        <a:latin typeface="+mn-ea"/>
                        <a:ea typeface="+mn-ea"/>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36</a:t>
                      </a:r>
                      <a:endParaRPr lang="zh-CN" sz="2800" b="1" kern="100" dirty="0">
                        <a:latin typeface="+mn-ea"/>
                        <a:ea typeface="+mn-ea"/>
                        <a:cs typeface="Times New Roman"/>
                      </a:endParaRPr>
                    </a:p>
                  </a:txBody>
                  <a:tcPr marL="19050" marR="19050" marT="19050" marB="19050" anchor="ctr">
                    <a:solidFill>
                      <a:srgbClr val="00B0F0"/>
                    </a:solidFill>
                  </a:tcPr>
                </a:tc>
                <a:extLst>
                  <a:ext uri="{0D108BD9-81ED-4DB2-BD59-A6C34878D82A}">
                    <a16:rowId xmlns:a16="http://schemas.microsoft.com/office/drawing/2014/main" val="10002"/>
                  </a:ext>
                </a:extLst>
              </a:tr>
              <a:tr h="1214447">
                <a:tc>
                  <a:txBody>
                    <a:bodyPr/>
                    <a:lstStyle/>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r>
                        <a:rPr lang="zh-CN" sz="2800" b="1" kern="0" dirty="0">
                          <a:solidFill>
                            <a:srgbClr val="000000"/>
                          </a:solidFill>
                          <a:latin typeface="楷体" pitchFamily="49" charset="-122"/>
                          <a:ea typeface="楷体" pitchFamily="49" charset="-122"/>
                          <a:cs typeface="Arial"/>
                        </a:rPr>
                        <a:t>特别巨大</a:t>
                      </a:r>
                      <a:endParaRPr lang="zh-CN" sz="2800" b="1" kern="100" dirty="0">
                        <a:latin typeface="楷体" pitchFamily="49" charset="-122"/>
                        <a:ea typeface="楷体" pitchFamily="49" charset="-122"/>
                        <a:cs typeface="Times New Roman"/>
                      </a:endParaRPr>
                    </a:p>
                  </a:txBody>
                  <a:tcPr marL="19050" marR="19050" marT="19050" marB="19050"/>
                </a:tc>
                <a:tc>
                  <a:txBody>
                    <a:bodyPr/>
                    <a:lstStyle/>
                    <a:p>
                      <a:pPr algn="ctr">
                        <a:lnSpc>
                          <a:spcPts val="1600"/>
                        </a:lnSpc>
                        <a:spcAft>
                          <a:spcPts val="0"/>
                        </a:spcAft>
                      </a:pPr>
                      <a:r>
                        <a:rPr lang="en-US" sz="2800" b="1" kern="0" dirty="0">
                          <a:solidFill>
                            <a:srgbClr val="000000"/>
                          </a:solidFill>
                          <a:latin typeface="黑体" pitchFamily="49" charset="-122"/>
                          <a:ea typeface="黑体" pitchFamily="49" charset="-122"/>
                          <a:cs typeface="Times New Roman"/>
                        </a:rPr>
                        <a:t>134.09</a:t>
                      </a:r>
                      <a:endParaRPr lang="zh-CN" sz="2800" b="1" kern="100" dirty="0">
                        <a:latin typeface="黑体" pitchFamily="49" charset="-122"/>
                        <a:ea typeface="黑体" pitchFamily="49" charset="-122"/>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976</a:t>
                      </a:r>
                      <a:endParaRPr lang="zh-CN" altLang="zh-CN" sz="2800" b="1" kern="0" dirty="0">
                        <a:solidFill>
                          <a:srgbClr val="000000"/>
                        </a:solidFill>
                        <a:latin typeface="+mn-ea"/>
                        <a:ea typeface="+mn-ea"/>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150</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120-180</a:t>
                      </a:r>
                      <a:r>
                        <a:rPr lang="zh-CN" altLang="en-US" sz="2000" b="1" kern="0" dirty="0">
                          <a:solidFill>
                            <a:srgbClr val="000000"/>
                          </a:solidFill>
                          <a:latin typeface="+mn-ea"/>
                          <a:ea typeface="+mn-ea"/>
                          <a:cs typeface="Times New Roman"/>
                        </a:rPr>
                        <a:t>）</a:t>
                      </a:r>
                      <a:endParaRPr lang="zh-CN" altLang="zh-CN" sz="2000" b="1" kern="0" dirty="0">
                        <a:solidFill>
                          <a:srgbClr val="000000"/>
                        </a:solidFill>
                        <a:latin typeface="+mn-ea"/>
                        <a:ea typeface="+mn-ea"/>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120</a:t>
                      </a:r>
                      <a:endParaRPr lang="zh-CN" sz="2800" b="1" kern="100" dirty="0">
                        <a:latin typeface="+mn-ea"/>
                        <a:ea typeface="+mn-ea"/>
                        <a:cs typeface="Times New Roman"/>
                      </a:endParaRPr>
                    </a:p>
                  </a:txBody>
                  <a:tcPr marL="19050" marR="19050" marT="19050" marB="19050" anchor="ctr">
                    <a:solidFill>
                      <a:srgbClr val="92D05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95905476"/>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899592" y="404664"/>
            <a:ext cx="7170737" cy="492125"/>
          </a:xfrm>
        </p:spPr>
        <p:txBody>
          <a:bodyPr/>
          <a:lstStyle/>
          <a:p>
            <a:r>
              <a:rPr lang="zh-CN" altLang="en-US" sz="3200" b="1" dirty="0">
                <a:latin typeface="微软雅黑" pitchFamily="34" charset="-122"/>
                <a:ea typeface="微软雅黑" pitchFamily="34" charset="-122"/>
              </a:rPr>
              <a:t>结果</a:t>
            </a:r>
            <a:r>
              <a:rPr lang="en-US" altLang="zh-CN" sz="3200" b="1" dirty="0">
                <a:latin typeface="微软雅黑" pitchFamily="34" charset="-122"/>
                <a:ea typeface="微软雅黑" pitchFamily="34" charset="-122"/>
              </a:rPr>
              <a:t>2</a:t>
            </a:r>
            <a:r>
              <a:rPr lang="zh-CN" altLang="en-US" sz="3200" b="1" dirty="0">
                <a:latin typeface="微软雅黑" pitchFamily="34" charset="-122"/>
                <a:ea typeface="微软雅黑" pitchFamily="34" charset="-122"/>
              </a:rPr>
              <a:t>、故意伤害罪量刑</a:t>
            </a:r>
          </a:p>
        </p:txBody>
      </p:sp>
      <p:graphicFrame>
        <p:nvGraphicFramePr>
          <p:cNvPr id="4" name="内容占位符 3"/>
          <p:cNvGraphicFramePr>
            <a:graphicFrameLocks noGrp="1"/>
          </p:cNvGraphicFramePr>
          <p:nvPr>
            <p:ph idx="1"/>
          </p:nvPr>
        </p:nvGraphicFramePr>
        <p:xfrm>
          <a:off x="0" y="1500188"/>
          <a:ext cx="9144002" cy="4857788"/>
        </p:xfrm>
        <a:graphic>
          <a:graphicData uri="http://schemas.openxmlformats.org/drawingml/2006/table">
            <a:tbl>
              <a:tblPr firstRow="1" bandRow="1">
                <a:tableStyleId>{5C22544A-7EE6-4342-B048-85BDC9FD1C3A}</a:tableStyleId>
              </a:tblPr>
              <a:tblGrid>
                <a:gridCol w="1728424">
                  <a:extLst>
                    <a:ext uri="{9D8B030D-6E8A-4147-A177-3AD203B41FA5}">
                      <a16:colId xmlns:a16="http://schemas.microsoft.com/office/drawing/2014/main" val="20000"/>
                    </a:ext>
                  </a:extLst>
                </a:gridCol>
                <a:gridCol w="1835464">
                  <a:extLst>
                    <a:ext uri="{9D8B030D-6E8A-4147-A177-3AD203B41FA5}">
                      <a16:colId xmlns:a16="http://schemas.microsoft.com/office/drawing/2014/main" val="20001"/>
                    </a:ext>
                  </a:extLst>
                </a:gridCol>
                <a:gridCol w="1621433">
                  <a:extLst>
                    <a:ext uri="{9D8B030D-6E8A-4147-A177-3AD203B41FA5}">
                      <a16:colId xmlns:a16="http://schemas.microsoft.com/office/drawing/2014/main" val="20002"/>
                    </a:ext>
                  </a:extLst>
                </a:gridCol>
                <a:gridCol w="2007231">
                  <a:extLst>
                    <a:ext uri="{9D8B030D-6E8A-4147-A177-3AD203B41FA5}">
                      <a16:colId xmlns:a16="http://schemas.microsoft.com/office/drawing/2014/main" val="20003"/>
                    </a:ext>
                  </a:extLst>
                </a:gridCol>
                <a:gridCol w="1951450">
                  <a:extLst>
                    <a:ext uri="{9D8B030D-6E8A-4147-A177-3AD203B41FA5}">
                      <a16:colId xmlns:a16="http://schemas.microsoft.com/office/drawing/2014/main" val="20004"/>
                    </a:ext>
                  </a:extLst>
                </a:gridCol>
              </a:tblGrid>
              <a:tr h="1214447">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罪行</a:t>
                      </a: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裸刑</a:t>
                      </a:r>
                      <a:r>
                        <a:rPr lang="zh-CN" sz="2800" b="1" kern="0" dirty="0">
                          <a:solidFill>
                            <a:srgbClr val="000000"/>
                          </a:solidFill>
                          <a:latin typeface="黑体" pitchFamily="49" charset="-122"/>
                          <a:ea typeface="黑体" pitchFamily="49" charset="-122"/>
                          <a:cs typeface="Arial"/>
                        </a:rPr>
                        <a:t>均值</a:t>
                      </a:r>
                      <a:endParaRPr lang="zh-CN" sz="2800" kern="100" dirty="0">
                        <a:latin typeface="黑体" pitchFamily="49" charset="-122"/>
                        <a:ea typeface="黑体" pitchFamily="49" charset="-122"/>
                        <a:cs typeface="Times New Roman"/>
                      </a:endParaRP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样本数</a:t>
                      </a: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法定刑中线</a:t>
                      </a:r>
                    </a:p>
                  </a:txBody>
                  <a:tcPr marL="19050" marR="19050" marT="19050" marB="19050" anchor="b"/>
                </a:tc>
                <a:tc>
                  <a:txBody>
                    <a:bodyPr/>
                    <a:lstStyle/>
                    <a:p>
                      <a:pPr algn="ctr">
                        <a:lnSpc>
                          <a:spcPts val="1600"/>
                        </a:lnSpc>
                        <a:spcAft>
                          <a:spcPts val="0"/>
                        </a:spcAft>
                      </a:pPr>
                      <a:r>
                        <a:rPr lang="en-US" altLang="zh-CN" sz="2800" b="1" kern="0" dirty="0">
                          <a:solidFill>
                            <a:srgbClr val="000000"/>
                          </a:solidFill>
                          <a:latin typeface="黑体" pitchFamily="49" charset="-122"/>
                          <a:ea typeface="黑体" pitchFamily="49" charset="-122"/>
                          <a:cs typeface="Arial"/>
                        </a:rPr>
                        <a:t>《</a:t>
                      </a:r>
                      <a:r>
                        <a:rPr lang="zh-CN" altLang="en-US" sz="2800" b="1" kern="0" dirty="0">
                          <a:solidFill>
                            <a:srgbClr val="000000"/>
                          </a:solidFill>
                          <a:latin typeface="黑体" pitchFamily="49" charset="-122"/>
                          <a:ea typeface="黑体" pitchFamily="49" charset="-122"/>
                          <a:cs typeface="Arial"/>
                        </a:rPr>
                        <a:t>意见</a:t>
                      </a:r>
                      <a:r>
                        <a:rPr lang="en-US" altLang="zh-CN" sz="2800" b="1" kern="0" dirty="0">
                          <a:solidFill>
                            <a:srgbClr val="000000"/>
                          </a:solidFill>
                          <a:latin typeface="黑体" pitchFamily="49" charset="-122"/>
                          <a:ea typeface="黑体" pitchFamily="49" charset="-122"/>
                          <a:cs typeface="Arial"/>
                        </a:rPr>
                        <a:t>》</a:t>
                      </a:r>
                      <a:endParaRPr lang="zh-CN" altLang="en-US" sz="2800" b="1" kern="0" dirty="0">
                        <a:solidFill>
                          <a:srgbClr val="000000"/>
                        </a:solidFill>
                        <a:latin typeface="黑体" pitchFamily="49" charset="-122"/>
                        <a:ea typeface="黑体" pitchFamily="49" charset="-122"/>
                        <a:cs typeface="Arial"/>
                      </a:endParaRPr>
                    </a:p>
                  </a:txBody>
                  <a:tcPr marL="19050" marR="19050" marT="19050" marB="19050" anchor="b"/>
                </a:tc>
                <a:extLst>
                  <a:ext uri="{0D108BD9-81ED-4DB2-BD59-A6C34878D82A}">
                    <a16:rowId xmlns:a16="http://schemas.microsoft.com/office/drawing/2014/main" val="10000"/>
                  </a:ext>
                </a:extLst>
              </a:tr>
              <a:tr h="1214447">
                <a:tc>
                  <a:txBody>
                    <a:bodyPr/>
                    <a:lstStyle/>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100" dirty="0">
                        <a:latin typeface="楷体" pitchFamily="49" charset="-122"/>
                        <a:ea typeface="楷体" pitchFamily="49" charset="-122"/>
                        <a:cs typeface="Times New Roman"/>
                      </a:endParaRPr>
                    </a:p>
                    <a:p>
                      <a:pPr algn="ctr">
                        <a:lnSpc>
                          <a:spcPts val="1600"/>
                        </a:lnSpc>
                        <a:spcAft>
                          <a:spcPts val="0"/>
                        </a:spcAft>
                      </a:pPr>
                      <a:r>
                        <a:rPr lang="zh-CN" altLang="en-US" sz="2800" b="1" kern="100" dirty="0">
                          <a:latin typeface="楷体" pitchFamily="49" charset="-122"/>
                          <a:ea typeface="楷体" pitchFamily="49" charset="-122"/>
                          <a:cs typeface="Times New Roman"/>
                        </a:rPr>
                        <a:t>一人轻伤</a:t>
                      </a:r>
                      <a:endParaRPr lang="zh-CN" sz="2800" b="1" kern="100" dirty="0">
                        <a:latin typeface="楷体" pitchFamily="49" charset="-122"/>
                        <a:ea typeface="楷体" pitchFamily="49" charset="-122"/>
                        <a:cs typeface="Times New Roman"/>
                      </a:endParaRPr>
                    </a:p>
                  </a:txBody>
                  <a:tcPr marL="19050" marR="19050" marT="19050" marB="19050"/>
                </a:tc>
                <a:tc>
                  <a:txBody>
                    <a:bodyPr/>
                    <a:lstStyle/>
                    <a:p>
                      <a:pPr algn="ctr">
                        <a:lnSpc>
                          <a:spcPts val="1600"/>
                        </a:lnSpc>
                        <a:spcAft>
                          <a:spcPts val="0"/>
                        </a:spcAft>
                      </a:pPr>
                      <a:r>
                        <a:rPr lang="en-US" sz="2800" b="1" kern="0" dirty="0">
                          <a:solidFill>
                            <a:srgbClr val="000000"/>
                          </a:solidFill>
                          <a:latin typeface="黑体" pitchFamily="49" charset="-122"/>
                          <a:ea typeface="黑体" pitchFamily="49" charset="-122"/>
                          <a:cs typeface="Times New Roman"/>
                        </a:rPr>
                        <a:t>12.12</a:t>
                      </a:r>
                      <a:endParaRPr lang="zh-CN" sz="2800" b="1" kern="100" dirty="0">
                        <a:latin typeface="黑体" pitchFamily="49" charset="-122"/>
                        <a:ea typeface="黑体" pitchFamily="49" charset="-122"/>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1579</a:t>
                      </a:r>
                      <a:endParaRPr lang="zh-CN" altLang="zh-CN" sz="2800" b="1" kern="0" dirty="0">
                        <a:solidFill>
                          <a:srgbClr val="000000"/>
                        </a:solidFill>
                        <a:latin typeface="+mn-ea"/>
                        <a:ea typeface="+mn-ea"/>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21</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6-36</a:t>
                      </a:r>
                      <a:r>
                        <a:rPr lang="zh-CN" altLang="en-US" sz="2000" b="1" kern="0" dirty="0">
                          <a:solidFill>
                            <a:srgbClr val="000000"/>
                          </a:solidFill>
                          <a:latin typeface="+mn-ea"/>
                          <a:ea typeface="+mn-ea"/>
                          <a:cs typeface="Times New Roman"/>
                        </a:rPr>
                        <a:t>）</a:t>
                      </a:r>
                      <a:endParaRPr lang="zh-CN" sz="2000" b="1" kern="100" dirty="0">
                        <a:latin typeface="+mn-ea"/>
                        <a:ea typeface="+mn-ea"/>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12</a:t>
                      </a:r>
                      <a:endParaRPr lang="zh-CN" sz="2800" b="1" kern="100" dirty="0">
                        <a:latin typeface="+mn-ea"/>
                        <a:ea typeface="+mn-ea"/>
                        <a:cs typeface="Times New Roman"/>
                      </a:endParaRPr>
                    </a:p>
                  </a:txBody>
                  <a:tcPr marL="19050" marR="19050" marT="19050" marB="19050" anchor="ctr">
                    <a:solidFill>
                      <a:srgbClr val="FFFF00"/>
                    </a:solidFill>
                  </a:tcPr>
                </a:tc>
                <a:extLst>
                  <a:ext uri="{0D108BD9-81ED-4DB2-BD59-A6C34878D82A}">
                    <a16:rowId xmlns:a16="http://schemas.microsoft.com/office/drawing/2014/main" val="10001"/>
                  </a:ext>
                </a:extLst>
              </a:tr>
              <a:tr h="1214447">
                <a:tc>
                  <a:txBody>
                    <a:bodyPr/>
                    <a:lstStyle/>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100" dirty="0">
                        <a:latin typeface="楷体" pitchFamily="49" charset="-122"/>
                        <a:ea typeface="楷体" pitchFamily="49" charset="-122"/>
                        <a:cs typeface="Times New Roman"/>
                      </a:endParaRPr>
                    </a:p>
                    <a:p>
                      <a:pPr algn="ctr">
                        <a:lnSpc>
                          <a:spcPts val="1600"/>
                        </a:lnSpc>
                        <a:spcAft>
                          <a:spcPts val="0"/>
                        </a:spcAft>
                      </a:pPr>
                      <a:endParaRPr lang="en-US" altLang="zh-CN" sz="2800" b="1" kern="100" dirty="0">
                        <a:latin typeface="楷体" pitchFamily="49" charset="-122"/>
                        <a:ea typeface="楷体" pitchFamily="49" charset="-122"/>
                        <a:cs typeface="Times New Roman"/>
                      </a:endParaRPr>
                    </a:p>
                    <a:p>
                      <a:pPr algn="ctr">
                        <a:lnSpc>
                          <a:spcPts val="1600"/>
                        </a:lnSpc>
                        <a:spcAft>
                          <a:spcPts val="0"/>
                        </a:spcAft>
                      </a:pPr>
                      <a:r>
                        <a:rPr lang="zh-CN" altLang="en-US" sz="2800" b="1" kern="100" dirty="0">
                          <a:latin typeface="楷体" pitchFamily="49" charset="-122"/>
                          <a:ea typeface="楷体" pitchFamily="49" charset="-122"/>
                          <a:cs typeface="Times New Roman"/>
                        </a:rPr>
                        <a:t>一人重伤</a:t>
                      </a:r>
                      <a:endParaRPr lang="zh-CN" sz="2800" b="1" kern="100" dirty="0">
                        <a:latin typeface="楷体" pitchFamily="49" charset="-122"/>
                        <a:ea typeface="楷体" pitchFamily="49" charset="-122"/>
                        <a:cs typeface="Times New Roman"/>
                      </a:endParaRPr>
                    </a:p>
                  </a:txBody>
                  <a:tcPr marL="19050" marR="19050" marT="19050" marB="19050"/>
                </a:tc>
                <a:tc>
                  <a:txBody>
                    <a:bodyPr/>
                    <a:lstStyle/>
                    <a:p>
                      <a:pPr algn="ctr">
                        <a:lnSpc>
                          <a:spcPts val="1600"/>
                        </a:lnSpc>
                        <a:spcAft>
                          <a:spcPts val="0"/>
                        </a:spcAft>
                      </a:pPr>
                      <a:r>
                        <a:rPr lang="en-US" sz="2800" b="1" kern="0" dirty="0">
                          <a:solidFill>
                            <a:srgbClr val="000000"/>
                          </a:solidFill>
                          <a:latin typeface="黑体" pitchFamily="49" charset="-122"/>
                          <a:ea typeface="黑体" pitchFamily="49" charset="-122"/>
                          <a:cs typeface="Times New Roman"/>
                        </a:rPr>
                        <a:t>54.90</a:t>
                      </a:r>
                      <a:endParaRPr lang="zh-CN" sz="2800" b="1" kern="100" dirty="0">
                        <a:latin typeface="黑体" pitchFamily="49" charset="-122"/>
                        <a:ea typeface="黑体" pitchFamily="49" charset="-122"/>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770</a:t>
                      </a:r>
                      <a:endParaRPr lang="zh-CN" altLang="zh-CN" sz="2800" b="1" kern="0" dirty="0">
                        <a:solidFill>
                          <a:srgbClr val="000000"/>
                        </a:solidFill>
                        <a:latin typeface="+mn-ea"/>
                        <a:ea typeface="+mn-ea"/>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78</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36-120</a:t>
                      </a:r>
                      <a:r>
                        <a:rPr lang="zh-CN" altLang="en-US" sz="2000" b="1" kern="0" dirty="0">
                          <a:solidFill>
                            <a:srgbClr val="000000"/>
                          </a:solidFill>
                          <a:latin typeface="+mn-ea"/>
                          <a:ea typeface="+mn-ea"/>
                          <a:cs typeface="Times New Roman"/>
                        </a:rPr>
                        <a:t>）</a:t>
                      </a:r>
                      <a:endParaRPr lang="zh-CN" altLang="zh-CN" sz="2000" b="1" kern="0" dirty="0">
                        <a:solidFill>
                          <a:srgbClr val="000000"/>
                        </a:solidFill>
                        <a:latin typeface="+mn-ea"/>
                        <a:ea typeface="+mn-ea"/>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42</a:t>
                      </a:r>
                      <a:endParaRPr lang="zh-CN" sz="2800" b="1" kern="100" dirty="0">
                        <a:latin typeface="+mn-ea"/>
                        <a:ea typeface="+mn-ea"/>
                        <a:cs typeface="Times New Roman"/>
                      </a:endParaRPr>
                    </a:p>
                  </a:txBody>
                  <a:tcPr marL="19050" marR="19050" marT="19050" marB="19050" anchor="ctr">
                    <a:solidFill>
                      <a:srgbClr val="00B0F0"/>
                    </a:solidFill>
                  </a:tcPr>
                </a:tc>
                <a:extLst>
                  <a:ext uri="{0D108BD9-81ED-4DB2-BD59-A6C34878D82A}">
                    <a16:rowId xmlns:a16="http://schemas.microsoft.com/office/drawing/2014/main" val="10002"/>
                  </a:ext>
                </a:extLst>
              </a:tr>
              <a:tr h="1214447">
                <a:tc>
                  <a:txBody>
                    <a:bodyPr/>
                    <a:lstStyle/>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0" dirty="0">
                        <a:solidFill>
                          <a:srgbClr val="000000"/>
                        </a:solidFill>
                        <a:latin typeface="楷体" pitchFamily="49" charset="-122"/>
                        <a:ea typeface="楷体" pitchFamily="49" charset="-122"/>
                        <a:cs typeface="Arial"/>
                      </a:endParaRPr>
                    </a:p>
                    <a:p>
                      <a:pPr algn="ctr">
                        <a:lnSpc>
                          <a:spcPts val="1600"/>
                        </a:lnSpc>
                        <a:spcAft>
                          <a:spcPts val="0"/>
                        </a:spcAft>
                      </a:pPr>
                      <a:endParaRPr lang="en-US" altLang="zh-CN" sz="2800" b="1" kern="100" dirty="0">
                        <a:latin typeface="楷体" pitchFamily="49" charset="-122"/>
                        <a:ea typeface="楷体" pitchFamily="49" charset="-122"/>
                        <a:cs typeface="Times New Roman"/>
                      </a:endParaRPr>
                    </a:p>
                    <a:p>
                      <a:pPr algn="ctr">
                        <a:lnSpc>
                          <a:spcPts val="1600"/>
                        </a:lnSpc>
                        <a:spcAft>
                          <a:spcPts val="0"/>
                        </a:spcAft>
                      </a:pPr>
                      <a:r>
                        <a:rPr lang="zh-CN" altLang="en-US" sz="2800" b="1" kern="100" dirty="0">
                          <a:latin typeface="楷体" pitchFamily="49" charset="-122"/>
                          <a:ea typeface="楷体" pitchFamily="49" charset="-122"/>
                          <a:cs typeface="Times New Roman"/>
                        </a:rPr>
                        <a:t>一人死亡</a:t>
                      </a:r>
                      <a:endParaRPr lang="zh-CN" sz="2800" b="1" kern="100" dirty="0">
                        <a:latin typeface="楷体" pitchFamily="49" charset="-122"/>
                        <a:ea typeface="楷体" pitchFamily="49" charset="-122"/>
                        <a:cs typeface="Times New Roman"/>
                      </a:endParaRPr>
                    </a:p>
                  </a:txBody>
                  <a:tcPr marL="19050" marR="19050" marT="19050" marB="19050"/>
                </a:tc>
                <a:tc>
                  <a:txBody>
                    <a:bodyPr/>
                    <a:lstStyle/>
                    <a:p>
                      <a:pPr algn="ctr">
                        <a:lnSpc>
                          <a:spcPts val="1600"/>
                        </a:lnSpc>
                        <a:spcAft>
                          <a:spcPts val="0"/>
                        </a:spcAft>
                      </a:pPr>
                      <a:r>
                        <a:rPr lang="en-US" sz="2800" b="1" kern="0" dirty="0">
                          <a:solidFill>
                            <a:srgbClr val="000000"/>
                          </a:solidFill>
                          <a:latin typeface="黑体" pitchFamily="49" charset="-122"/>
                          <a:ea typeface="黑体" pitchFamily="49" charset="-122"/>
                          <a:cs typeface="Times New Roman"/>
                        </a:rPr>
                        <a:t>138.05</a:t>
                      </a:r>
                      <a:endParaRPr lang="zh-CN" sz="2800" b="1" kern="100" dirty="0">
                        <a:latin typeface="黑体" pitchFamily="49" charset="-122"/>
                        <a:ea typeface="黑体" pitchFamily="49" charset="-122"/>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333</a:t>
                      </a:r>
                      <a:endParaRPr lang="zh-CN" altLang="zh-CN" sz="2800" b="1" kern="0" dirty="0">
                        <a:solidFill>
                          <a:srgbClr val="000000"/>
                        </a:solidFill>
                        <a:latin typeface="+mn-ea"/>
                        <a:ea typeface="+mn-ea"/>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150</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120-180</a:t>
                      </a:r>
                      <a:r>
                        <a:rPr lang="zh-CN" altLang="en-US" sz="2000" b="1" kern="0" dirty="0">
                          <a:solidFill>
                            <a:srgbClr val="000000"/>
                          </a:solidFill>
                          <a:latin typeface="+mn-ea"/>
                          <a:ea typeface="+mn-ea"/>
                          <a:cs typeface="Times New Roman"/>
                        </a:rPr>
                        <a:t>）</a:t>
                      </a:r>
                      <a:endParaRPr lang="zh-CN" altLang="zh-CN" sz="2000" b="1" kern="0" dirty="0">
                        <a:solidFill>
                          <a:srgbClr val="000000"/>
                        </a:solidFill>
                        <a:latin typeface="+mn-ea"/>
                        <a:ea typeface="+mn-ea"/>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132</a:t>
                      </a:r>
                      <a:endParaRPr lang="zh-CN" sz="2800" b="1" kern="100" dirty="0">
                        <a:latin typeface="+mn-ea"/>
                        <a:ea typeface="+mn-ea"/>
                        <a:cs typeface="Times New Roman"/>
                      </a:endParaRPr>
                    </a:p>
                  </a:txBody>
                  <a:tcPr marL="19050" marR="19050" marT="19050" marB="19050" anchor="ctr">
                    <a:solidFill>
                      <a:srgbClr val="92D05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92467265"/>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755576" y="476672"/>
            <a:ext cx="7170737" cy="492125"/>
          </a:xfrm>
        </p:spPr>
        <p:txBody>
          <a:bodyPr/>
          <a:lstStyle/>
          <a:p>
            <a:r>
              <a:rPr lang="zh-CN" altLang="en-US" sz="3200" b="1" dirty="0">
                <a:latin typeface="微软雅黑" pitchFamily="34" charset="-122"/>
                <a:ea typeface="微软雅黑" pitchFamily="34" charset="-122"/>
              </a:rPr>
              <a:t>结果</a:t>
            </a:r>
            <a:r>
              <a:rPr lang="en-US" altLang="zh-CN" sz="3200" b="1" dirty="0">
                <a:latin typeface="微软雅黑" pitchFamily="34" charset="-122"/>
                <a:ea typeface="微软雅黑" pitchFamily="34" charset="-122"/>
              </a:rPr>
              <a:t>3</a:t>
            </a:r>
            <a:r>
              <a:rPr lang="zh-CN" altLang="en-US" sz="3200" b="1" dirty="0">
                <a:latin typeface="微软雅黑" pitchFamily="34" charset="-122"/>
                <a:ea typeface="微软雅黑" pitchFamily="34" charset="-122"/>
              </a:rPr>
              <a:t>、交通肇事罪量刑</a:t>
            </a:r>
          </a:p>
        </p:txBody>
      </p:sp>
      <p:graphicFrame>
        <p:nvGraphicFramePr>
          <p:cNvPr id="4" name="内容占位符 3"/>
          <p:cNvGraphicFramePr>
            <a:graphicFrameLocks noGrp="1"/>
          </p:cNvGraphicFramePr>
          <p:nvPr>
            <p:ph idx="1"/>
          </p:nvPr>
        </p:nvGraphicFramePr>
        <p:xfrm>
          <a:off x="0" y="1500188"/>
          <a:ext cx="9144002" cy="4857788"/>
        </p:xfrm>
        <a:graphic>
          <a:graphicData uri="http://schemas.openxmlformats.org/drawingml/2006/table">
            <a:tbl>
              <a:tblPr firstRow="1" bandRow="1">
                <a:tableStyleId>{5C22544A-7EE6-4342-B048-85BDC9FD1C3A}</a:tableStyleId>
              </a:tblPr>
              <a:tblGrid>
                <a:gridCol w="1728424">
                  <a:extLst>
                    <a:ext uri="{9D8B030D-6E8A-4147-A177-3AD203B41FA5}">
                      <a16:colId xmlns:a16="http://schemas.microsoft.com/office/drawing/2014/main" val="20000"/>
                    </a:ext>
                  </a:extLst>
                </a:gridCol>
                <a:gridCol w="1907472">
                  <a:extLst>
                    <a:ext uri="{9D8B030D-6E8A-4147-A177-3AD203B41FA5}">
                      <a16:colId xmlns:a16="http://schemas.microsoft.com/office/drawing/2014/main" val="20001"/>
                    </a:ext>
                  </a:extLst>
                </a:gridCol>
                <a:gridCol w="1549425">
                  <a:extLst>
                    <a:ext uri="{9D8B030D-6E8A-4147-A177-3AD203B41FA5}">
                      <a16:colId xmlns:a16="http://schemas.microsoft.com/office/drawing/2014/main" val="20002"/>
                    </a:ext>
                  </a:extLst>
                </a:gridCol>
                <a:gridCol w="2007231">
                  <a:extLst>
                    <a:ext uri="{9D8B030D-6E8A-4147-A177-3AD203B41FA5}">
                      <a16:colId xmlns:a16="http://schemas.microsoft.com/office/drawing/2014/main" val="20003"/>
                    </a:ext>
                  </a:extLst>
                </a:gridCol>
                <a:gridCol w="1951450">
                  <a:extLst>
                    <a:ext uri="{9D8B030D-6E8A-4147-A177-3AD203B41FA5}">
                      <a16:colId xmlns:a16="http://schemas.microsoft.com/office/drawing/2014/main" val="20004"/>
                    </a:ext>
                  </a:extLst>
                </a:gridCol>
              </a:tblGrid>
              <a:tr h="1214447">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罪行</a:t>
                      </a: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裸刑</a:t>
                      </a:r>
                      <a:r>
                        <a:rPr lang="zh-CN" sz="2800" b="1" kern="0" dirty="0">
                          <a:solidFill>
                            <a:srgbClr val="000000"/>
                          </a:solidFill>
                          <a:latin typeface="黑体" pitchFamily="49" charset="-122"/>
                          <a:ea typeface="黑体" pitchFamily="49" charset="-122"/>
                          <a:cs typeface="Arial"/>
                        </a:rPr>
                        <a:t>均值</a:t>
                      </a:r>
                      <a:endParaRPr lang="zh-CN" sz="2800" kern="100" dirty="0">
                        <a:latin typeface="黑体" pitchFamily="49" charset="-122"/>
                        <a:ea typeface="黑体" pitchFamily="49" charset="-122"/>
                        <a:cs typeface="Times New Roman"/>
                      </a:endParaRP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样本数</a:t>
                      </a:r>
                    </a:p>
                  </a:txBody>
                  <a:tcPr marL="19050" marR="19050" marT="19050" marB="19050" anchor="b"/>
                </a:tc>
                <a:tc>
                  <a:txBody>
                    <a:bodyPr/>
                    <a:lstStyle/>
                    <a:p>
                      <a:pPr algn="ctr">
                        <a:lnSpc>
                          <a:spcPts val="1600"/>
                        </a:lnSpc>
                        <a:spcAft>
                          <a:spcPts val="0"/>
                        </a:spcAft>
                      </a:pPr>
                      <a:r>
                        <a:rPr lang="zh-CN" altLang="en-US" sz="2800" b="1" kern="0" dirty="0">
                          <a:solidFill>
                            <a:srgbClr val="000000"/>
                          </a:solidFill>
                          <a:latin typeface="黑体" pitchFamily="49" charset="-122"/>
                          <a:ea typeface="黑体" pitchFamily="49" charset="-122"/>
                          <a:cs typeface="Arial"/>
                        </a:rPr>
                        <a:t>法定刑中线</a:t>
                      </a:r>
                    </a:p>
                  </a:txBody>
                  <a:tcPr marL="19050" marR="19050" marT="19050" marB="19050" anchor="b"/>
                </a:tc>
                <a:tc>
                  <a:txBody>
                    <a:bodyPr/>
                    <a:lstStyle/>
                    <a:p>
                      <a:pPr algn="ctr">
                        <a:lnSpc>
                          <a:spcPts val="1600"/>
                        </a:lnSpc>
                        <a:spcAft>
                          <a:spcPts val="0"/>
                        </a:spcAft>
                      </a:pPr>
                      <a:r>
                        <a:rPr lang="en-US" altLang="zh-CN" sz="2800" b="1" kern="0" dirty="0">
                          <a:solidFill>
                            <a:srgbClr val="000000"/>
                          </a:solidFill>
                          <a:latin typeface="黑体" pitchFamily="49" charset="-122"/>
                          <a:ea typeface="黑体" pitchFamily="49" charset="-122"/>
                          <a:cs typeface="Arial"/>
                        </a:rPr>
                        <a:t>《</a:t>
                      </a:r>
                      <a:r>
                        <a:rPr lang="zh-CN" altLang="en-US" sz="2800" b="1" kern="0" dirty="0">
                          <a:solidFill>
                            <a:srgbClr val="000000"/>
                          </a:solidFill>
                          <a:latin typeface="黑体" pitchFamily="49" charset="-122"/>
                          <a:ea typeface="黑体" pitchFamily="49" charset="-122"/>
                          <a:cs typeface="Arial"/>
                        </a:rPr>
                        <a:t>意见</a:t>
                      </a:r>
                      <a:r>
                        <a:rPr lang="en-US" altLang="zh-CN" sz="2800" b="1" kern="0" dirty="0">
                          <a:solidFill>
                            <a:srgbClr val="000000"/>
                          </a:solidFill>
                          <a:latin typeface="黑体" pitchFamily="49" charset="-122"/>
                          <a:ea typeface="黑体" pitchFamily="49" charset="-122"/>
                          <a:cs typeface="Arial"/>
                        </a:rPr>
                        <a:t>》</a:t>
                      </a:r>
                      <a:endParaRPr lang="zh-CN" altLang="en-US" sz="2800" b="1" kern="0" dirty="0">
                        <a:solidFill>
                          <a:srgbClr val="000000"/>
                        </a:solidFill>
                        <a:latin typeface="黑体" pitchFamily="49" charset="-122"/>
                        <a:ea typeface="黑体" pitchFamily="49" charset="-122"/>
                        <a:cs typeface="Arial"/>
                      </a:endParaRPr>
                    </a:p>
                  </a:txBody>
                  <a:tcPr marL="19050" marR="19050" marT="19050" marB="19050" anchor="b"/>
                </a:tc>
                <a:extLst>
                  <a:ext uri="{0D108BD9-81ED-4DB2-BD59-A6C34878D82A}">
                    <a16:rowId xmlns:a16="http://schemas.microsoft.com/office/drawing/2014/main" val="10000"/>
                  </a:ext>
                </a:extLst>
              </a:tr>
              <a:tr h="1214447">
                <a:tc>
                  <a:txBody>
                    <a:bodyPr/>
                    <a:lstStyle/>
                    <a:p>
                      <a:pPr algn="l">
                        <a:lnSpc>
                          <a:spcPts val="1600"/>
                        </a:lnSpc>
                        <a:spcAft>
                          <a:spcPts val="0"/>
                        </a:spcAft>
                      </a:pPr>
                      <a:endParaRPr lang="en-US" altLang="zh-CN" sz="2800" b="1" kern="0" dirty="0">
                        <a:solidFill>
                          <a:srgbClr val="000000"/>
                        </a:solidFill>
                        <a:latin typeface="+mn-ea"/>
                        <a:ea typeface="+mn-ea"/>
                        <a:cs typeface="Times New Roman"/>
                      </a:endParaRPr>
                    </a:p>
                    <a:p>
                      <a:pPr algn="l">
                        <a:lnSpc>
                          <a:spcPts val="1600"/>
                        </a:lnSpc>
                        <a:spcAft>
                          <a:spcPts val="0"/>
                        </a:spcAft>
                      </a:pPr>
                      <a:endParaRPr lang="en-US" altLang="zh-CN" sz="2800" b="1" kern="0" dirty="0">
                        <a:solidFill>
                          <a:srgbClr val="000000"/>
                        </a:solidFill>
                        <a:latin typeface="+mn-ea"/>
                        <a:ea typeface="+mn-ea"/>
                        <a:cs typeface="Times New Roman"/>
                      </a:endParaRPr>
                    </a:p>
                    <a:p>
                      <a:pPr algn="l">
                        <a:lnSpc>
                          <a:spcPts val="1600"/>
                        </a:lnSpc>
                        <a:spcAft>
                          <a:spcPts val="0"/>
                        </a:spcAft>
                      </a:pPr>
                      <a:r>
                        <a:rPr lang="zh-CN" altLang="zh-CN" sz="2800" b="1" kern="0" dirty="0">
                          <a:solidFill>
                            <a:srgbClr val="000000"/>
                          </a:solidFill>
                          <a:latin typeface="+mn-ea"/>
                          <a:ea typeface="+mn-ea"/>
                          <a:cs typeface="Times New Roman"/>
                        </a:rPr>
                        <a:t>基本构成</a:t>
                      </a:r>
                    </a:p>
                  </a:txBody>
                  <a:tcPr marL="19050" marR="19050" marT="19050" marB="19050"/>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17.29</a:t>
                      </a:r>
                      <a:endParaRPr lang="zh-CN" altLang="zh-CN" sz="2800" b="1" kern="0" dirty="0">
                        <a:solidFill>
                          <a:srgbClr val="000000"/>
                        </a:solidFill>
                        <a:latin typeface="+mn-ea"/>
                        <a:ea typeface="+mn-ea"/>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122</a:t>
                      </a:r>
                      <a:endParaRPr lang="zh-CN" altLang="zh-CN" sz="2800" b="1" kern="0" dirty="0">
                        <a:solidFill>
                          <a:srgbClr val="000000"/>
                        </a:solidFill>
                        <a:latin typeface="+mn-ea"/>
                        <a:ea typeface="+mn-ea"/>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21</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6-36</a:t>
                      </a:r>
                      <a:r>
                        <a:rPr lang="zh-CN" altLang="en-US" sz="2000" b="1" kern="0" dirty="0">
                          <a:solidFill>
                            <a:srgbClr val="000000"/>
                          </a:solidFill>
                          <a:latin typeface="+mn-ea"/>
                          <a:ea typeface="+mn-ea"/>
                          <a:cs typeface="Times New Roman"/>
                        </a:rPr>
                        <a:t>）</a:t>
                      </a:r>
                      <a:endParaRPr lang="zh-CN" sz="2000" b="1" kern="100" dirty="0">
                        <a:latin typeface="+mn-ea"/>
                        <a:ea typeface="+mn-ea"/>
                        <a:cs typeface="Times New Roman"/>
                      </a:endParaRPr>
                    </a:p>
                  </a:txBody>
                  <a:tcPr marL="19050" marR="19050" marT="19050" marB="19050" anchor="ctr">
                    <a:solidFill>
                      <a:srgbClr val="FFFF00"/>
                    </a:solidFill>
                  </a:tcPr>
                </a:tc>
                <a:tc>
                  <a:txBody>
                    <a:bodyPr/>
                    <a:lstStyle/>
                    <a:p>
                      <a:pPr algn="ctr">
                        <a:lnSpc>
                          <a:spcPts val="1600"/>
                        </a:lnSpc>
                        <a:spcAft>
                          <a:spcPts val="0"/>
                        </a:spcAft>
                      </a:pPr>
                      <a:r>
                        <a:rPr lang="en-US" altLang="zh-CN" sz="2800" b="1" kern="100" dirty="0">
                          <a:latin typeface="+mn-ea"/>
                          <a:ea typeface="+mn-ea"/>
                          <a:cs typeface="Times New Roman"/>
                        </a:rPr>
                        <a:t>……</a:t>
                      </a:r>
                      <a:endParaRPr lang="zh-CN" sz="2800" b="1" kern="100" dirty="0">
                        <a:latin typeface="+mn-ea"/>
                        <a:ea typeface="+mn-ea"/>
                        <a:cs typeface="Times New Roman"/>
                      </a:endParaRPr>
                    </a:p>
                  </a:txBody>
                  <a:tcPr marL="19050" marR="19050" marT="19050" marB="19050" anchor="ctr">
                    <a:solidFill>
                      <a:srgbClr val="FFFF00"/>
                    </a:solidFill>
                  </a:tcPr>
                </a:tc>
                <a:extLst>
                  <a:ext uri="{0D108BD9-81ED-4DB2-BD59-A6C34878D82A}">
                    <a16:rowId xmlns:a16="http://schemas.microsoft.com/office/drawing/2014/main" val="10001"/>
                  </a:ext>
                </a:extLst>
              </a:tr>
              <a:tr h="1214447">
                <a:tc>
                  <a:txBody>
                    <a:bodyPr/>
                    <a:lstStyle/>
                    <a:p>
                      <a:pPr algn="l">
                        <a:lnSpc>
                          <a:spcPts val="1600"/>
                        </a:lnSpc>
                        <a:spcAft>
                          <a:spcPts val="0"/>
                        </a:spcAft>
                      </a:pPr>
                      <a:endParaRPr lang="en-US" altLang="zh-CN" sz="2800" b="1" kern="0" dirty="0">
                        <a:solidFill>
                          <a:srgbClr val="000000"/>
                        </a:solidFill>
                        <a:latin typeface="+mn-ea"/>
                        <a:ea typeface="+mn-ea"/>
                        <a:cs typeface="Times New Roman"/>
                      </a:endParaRPr>
                    </a:p>
                    <a:p>
                      <a:pPr algn="l">
                        <a:lnSpc>
                          <a:spcPts val="1600"/>
                        </a:lnSpc>
                        <a:spcAft>
                          <a:spcPts val="0"/>
                        </a:spcAft>
                      </a:pPr>
                      <a:endParaRPr lang="en-US" altLang="zh-CN" sz="2800" b="1" kern="0" dirty="0">
                        <a:solidFill>
                          <a:srgbClr val="000000"/>
                        </a:solidFill>
                        <a:latin typeface="+mn-ea"/>
                        <a:ea typeface="+mn-ea"/>
                        <a:cs typeface="Times New Roman"/>
                      </a:endParaRPr>
                    </a:p>
                    <a:p>
                      <a:pPr algn="l">
                        <a:lnSpc>
                          <a:spcPts val="1600"/>
                        </a:lnSpc>
                        <a:spcAft>
                          <a:spcPts val="0"/>
                        </a:spcAft>
                      </a:pPr>
                      <a:r>
                        <a:rPr lang="zh-CN" altLang="zh-CN" sz="2800" b="1" kern="0" dirty="0">
                          <a:solidFill>
                            <a:srgbClr val="000000"/>
                          </a:solidFill>
                          <a:latin typeface="+mn-ea"/>
                          <a:ea typeface="+mn-ea"/>
                          <a:cs typeface="Times New Roman"/>
                        </a:rPr>
                        <a:t>加重构成</a:t>
                      </a:r>
                    </a:p>
                  </a:txBody>
                  <a:tcPr marL="19050" marR="19050" marT="19050" marB="19050"/>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43.54</a:t>
                      </a:r>
                      <a:endParaRPr lang="zh-CN" altLang="zh-CN" sz="2800" b="1" kern="0" dirty="0">
                        <a:solidFill>
                          <a:srgbClr val="000000"/>
                        </a:solidFill>
                        <a:latin typeface="+mn-ea"/>
                        <a:ea typeface="+mn-ea"/>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166</a:t>
                      </a:r>
                      <a:endParaRPr lang="zh-CN" altLang="zh-CN" sz="2800" b="1" kern="0" dirty="0">
                        <a:solidFill>
                          <a:srgbClr val="000000"/>
                        </a:solidFill>
                        <a:latin typeface="+mn-ea"/>
                        <a:ea typeface="+mn-ea"/>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60</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36-84</a:t>
                      </a:r>
                      <a:r>
                        <a:rPr lang="zh-CN" altLang="en-US" sz="2000" b="1" kern="0" dirty="0">
                          <a:solidFill>
                            <a:srgbClr val="000000"/>
                          </a:solidFill>
                          <a:latin typeface="+mn-ea"/>
                          <a:ea typeface="+mn-ea"/>
                          <a:cs typeface="Times New Roman"/>
                        </a:rPr>
                        <a:t>）</a:t>
                      </a:r>
                      <a:endParaRPr lang="zh-CN" altLang="zh-CN" sz="2000" b="1" kern="0" dirty="0">
                        <a:solidFill>
                          <a:srgbClr val="000000"/>
                        </a:solidFill>
                        <a:latin typeface="+mn-ea"/>
                        <a:ea typeface="+mn-ea"/>
                        <a:cs typeface="Times New Roman"/>
                      </a:endParaRPr>
                    </a:p>
                  </a:txBody>
                  <a:tcPr marL="19050" marR="19050" marT="19050" marB="19050" anchor="ctr">
                    <a:solidFill>
                      <a:srgbClr val="00B0F0"/>
                    </a:solidFill>
                  </a:tcPr>
                </a:tc>
                <a:tc>
                  <a:txBody>
                    <a:bodyPr/>
                    <a:lstStyle/>
                    <a:p>
                      <a:pPr algn="ctr">
                        <a:lnSpc>
                          <a:spcPts val="1600"/>
                        </a:lnSpc>
                        <a:spcAft>
                          <a:spcPts val="0"/>
                        </a:spcAft>
                      </a:pPr>
                      <a:r>
                        <a:rPr lang="en-US" altLang="zh-CN" sz="2800" b="1" kern="100" dirty="0">
                          <a:latin typeface="+mn-ea"/>
                          <a:ea typeface="+mn-ea"/>
                          <a:cs typeface="Times New Roman"/>
                        </a:rPr>
                        <a:t>……</a:t>
                      </a:r>
                      <a:endParaRPr lang="zh-CN" sz="2800" b="1" kern="100" dirty="0">
                        <a:latin typeface="+mn-ea"/>
                        <a:ea typeface="+mn-ea"/>
                        <a:cs typeface="Times New Roman"/>
                      </a:endParaRPr>
                    </a:p>
                  </a:txBody>
                  <a:tcPr marL="19050" marR="19050" marT="19050" marB="19050" anchor="ctr">
                    <a:solidFill>
                      <a:srgbClr val="00B0F0"/>
                    </a:solidFill>
                  </a:tcPr>
                </a:tc>
                <a:extLst>
                  <a:ext uri="{0D108BD9-81ED-4DB2-BD59-A6C34878D82A}">
                    <a16:rowId xmlns:a16="http://schemas.microsoft.com/office/drawing/2014/main" val="10002"/>
                  </a:ext>
                </a:extLst>
              </a:tr>
              <a:tr h="1214447">
                <a:tc>
                  <a:txBody>
                    <a:bodyPr/>
                    <a:lstStyle/>
                    <a:p>
                      <a:pPr algn="l">
                        <a:lnSpc>
                          <a:spcPts val="1600"/>
                        </a:lnSpc>
                        <a:spcAft>
                          <a:spcPts val="0"/>
                        </a:spcAft>
                      </a:pPr>
                      <a:endParaRPr lang="en-US" altLang="zh-CN" sz="2800" b="1" kern="0" dirty="0">
                        <a:solidFill>
                          <a:srgbClr val="000000"/>
                        </a:solidFill>
                        <a:latin typeface="+mn-ea"/>
                        <a:ea typeface="+mn-ea"/>
                        <a:cs typeface="Times New Roman"/>
                      </a:endParaRPr>
                    </a:p>
                    <a:p>
                      <a:pPr algn="l">
                        <a:lnSpc>
                          <a:spcPts val="1600"/>
                        </a:lnSpc>
                        <a:spcAft>
                          <a:spcPts val="0"/>
                        </a:spcAft>
                      </a:pPr>
                      <a:endParaRPr lang="en-US" altLang="zh-CN" sz="2800" b="1" kern="0" dirty="0">
                        <a:solidFill>
                          <a:srgbClr val="000000"/>
                        </a:solidFill>
                        <a:latin typeface="+mn-ea"/>
                        <a:ea typeface="+mn-ea"/>
                        <a:cs typeface="Times New Roman"/>
                      </a:endParaRPr>
                    </a:p>
                    <a:p>
                      <a:pPr algn="l">
                        <a:lnSpc>
                          <a:spcPts val="1600"/>
                        </a:lnSpc>
                        <a:spcAft>
                          <a:spcPts val="0"/>
                        </a:spcAft>
                      </a:pPr>
                      <a:r>
                        <a:rPr lang="zh-CN" altLang="zh-CN" sz="2800" b="1" kern="0" dirty="0">
                          <a:solidFill>
                            <a:srgbClr val="000000"/>
                          </a:solidFill>
                          <a:latin typeface="+mn-ea"/>
                          <a:ea typeface="+mn-ea"/>
                          <a:cs typeface="Times New Roman"/>
                        </a:rPr>
                        <a:t>再加重</a:t>
                      </a:r>
                      <a:endParaRPr lang="en-US" altLang="zh-CN" sz="2800" b="1" kern="0" dirty="0">
                        <a:solidFill>
                          <a:srgbClr val="000000"/>
                        </a:solidFill>
                        <a:latin typeface="+mn-ea"/>
                        <a:ea typeface="+mn-ea"/>
                        <a:cs typeface="Times New Roman"/>
                      </a:endParaRPr>
                    </a:p>
                    <a:p>
                      <a:pPr algn="l">
                        <a:lnSpc>
                          <a:spcPts val="1600"/>
                        </a:lnSpc>
                        <a:spcAft>
                          <a:spcPts val="0"/>
                        </a:spcAft>
                      </a:pPr>
                      <a:endParaRPr lang="en-US" altLang="zh-CN" sz="2800" b="1" kern="0" dirty="0">
                        <a:solidFill>
                          <a:srgbClr val="000000"/>
                        </a:solidFill>
                        <a:latin typeface="+mn-ea"/>
                        <a:ea typeface="+mn-ea"/>
                        <a:cs typeface="Times New Roman"/>
                      </a:endParaRPr>
                    </a:p>
                    <a:p>
                      <a:pPr algn="l">
                        <a:lnSpc>
                          <a:spcPts val="1600"/>
                        </a:lnSpc>
                        <a:spcAft>
                          <a:spcPts val="0"/>
                        </a:spcAft>
                      </a:pPr>
                      <a:r>
                        <a:rPr lang="zh-CN" altLang="zh-CN" sz="2800" b="1" kern="0" dirty="0">
                          <a:solidFill>
                            <a:srgbClr val="000000"/>
                          </a:solidFill>
                          <a:latin typeface="+mn-ea"/>
                          <a:ea typeface="+mn-ea"/>
                          <a:cs typeface="Times New Roman"/>
                        </a:rPr>
                        <a:t>构成</a:t>
                      </a:r>
                    </a:p>
                  </a:txBody>
                  <a:tcPr marL="19050" marR="19050" marT="19050" marB="19050"/>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94.29</a:t>
                      </a:r>
                      <a:endParaRPr lang="zh-CN" altLang="zh-CN" sz="2800" b="1" kern="0" dirty="0">
                        <a:solidFill>
                          <a:srgbClr val="000000"/>
                        </a:solidFill>
                        <a:latin typeface="+mn-ea"/>
                        <a:ea typeface="+mn-ea"/>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altLang="zh-CN" sz="2800" b="1" kern="0" dirty="0">
                          <a:solidFill>
                            <a:srgbClr val="000000"/>
                          </a:solidFill>
                          <a:latin typeface="+mn-ea"/>
                          <a:ea typeface="+mn-ea"/>
                          <a:cs typeface="Times New Roman"/>
                        </a:rPr>
                        <a:t>7</a:t>
                      </a:r>
                      <a:endParaRPr lang="zh-CN" altLang="zh-CN" sz="2800" b="1" kern="0" dirty="0">
                        <a:solidFill>
                          <a:srgbClr val="000000"/>
                        </a:solidFill>
                        <a:latin typeface="+mn-ea"/>
                        <a:ea typeface="+mn-ea"/>
                        <a:cs typeface="Times New Roman"/>
                      </a:endParaRPr>
                    </a:p>
                  </a:txBody>
                  <a:tcPr marL="19050" marR="19050" marT="19050" marB="19050" anchor="ctr">
                    <a:solidFill>
                      <a:srgbClr val="92D050"/>
                    </a:solidFill>
                  </a:tcPr>
                </a:tc>
                <a:tc>
                  <a:txBody>
                    <a:bodyPr/>
                    <a:lstStyle/>
                    <a:p>
                      <a:pPr algn="ctr">
                        <a:lnSpc>
                          <a:spcPts val="1600"/>
                        </a:lnSpc>
                        <a:spcAft>
                          <a:spcPts val="0"/>
                        </a:spcAft>
                      </a:pPr>
                      <a:r>
                        <a:rPr lang="en-US" sz="2800" b="1" kern="0" dirty="0">
                          <a:solidFill>
                            <a:srgbClr val="000000"/>
                          </a:solidFill>
                          <a:latin typeface="+mn-ea"/>
                          <a:ea typeface="+mn-ea"/>
                          <a:cs typeface="Times New Roman"/>
                        </a:rPr>
                        <a:t>132</a:t>
                      </a:r>
                      <a:r>
                        <a:rPr lang="zh-CN" altLang="en-US" sz="2000" b="1" kern="0" dirty="0">
                          <a:solidFill>
                            <a:srgbClr val="000000"/>
                          </a:solidFill>
                          <a:latin typeface="+mn-ea"/>
                          <a:ea typeface="+mn-ea"/>
                          <a:cs typeface="Times New Roman"/>
                        </a:rPr>
                        <a:t>（</a:t>
                      </a:r>
                      <a:r>
                        <a:rPr lang="en-US" altLang="zh-CN" sz="2000" b="1" kern="0" dirty="0">
                          <a:solidFill>
                            <a:srgbClr val="000000"/>
                          </a:solidFill>
                          <a:latin typeface="+mn-ea"/>
                          <a:ea typeface="+mn-ea"/>
                          <a:cs typeface="Times New Roman"/>
                        </a:rPr>
                        <a:t>84-180</a:t>
                      </a:r>
                      <a:r>
                        <a:rPr lang="zh-CN" altLang="en-US" sz="2000" b="1" kern="0" dirty="0">
                          <a:solidFill>
                            <a:srgbClr val="000000"/>
                          </a:solidFill>
                          <a:latin typeface="+mn-ea"/>
                          <a:ea typeface="+mn-ea"/>
                          <a:cs typeface="Times New Roman"/>
                        </a:rPr>
                        <a:t>）</a:t>
                      </a:r>
                      <a:endParaRPr lang="zh-CN" altLang="zh-CN" sz="2000" b="1" kern="0" dirty="0">
                        <a:solidFill>
                          <a:srgbClr val="000000"/>
                        </a:solidFill>
                        <a:latin typeface="+mn-ea"/>
                        <a:ea typeface="+mn-ea"/>
                        <a:cs typeface="Times New Roman"/>
                      </a:endParaRPr>
                    </a:p>
                  </a:txBody>
                  <a:tcPr marL="19050" marR="19050" marT="19050" marB="19050" anchor="ctr">
                    <a:solidFill>
                      <a:srgbClr val="92D050"/>
                    </a:solidFill>
                  </a:tcPr>
                </a:tc>
                <a:tc>
                  <a:txBody>
                    <a:bodyPr/>
                    <a:lstStyle/>
                    <a:p>
                      <a:pPr algn="ctr">
                        <a:lnSpc>
                          <a:spcPts val="1600"/>
                        </a:lnSpc>
                        <a:spcAft>
                          <a:spcPts val="0"/>
                        </a:spcAft>
                      </a:pPr>
                      <a:endParaRPr lang="zh-CN" sz="2800" b="1" kern="100" dirty="0">
                        <a:latin typeface="+mn-ea"/>
                        <a:ea typeface="+mn-ea"/>
                        <a:cs typeface="Times New Roman"/>
                      </a:endParaRPr>
                    </a:p>
                  </a:txBody>
                  <a:tcPr marL="19050" marR="19050" marT="19050" marB="19050" anchor="ctr">
                    <a:solidFill>
                      <a:srgbClr val="92D05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71469562"/>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548680"/>
            <a:ext cx="7170737" cy="492125"/>
          </a:xfrm>
        </p:spPr>
        <p:txBody>
          <a:bodyPr/>
          <a:lstStyle/>
          <a:p>
            <a:r>
              <a:rPr lang="zh-CN" altLang="en-US" sz="3200" b="1" dirty="0">
                <a:latin typeface="微软雅黑" pitchFamily="34" charset="-122"/>
                <a:ea typeface="微软雅黑" pitchFamily="34" charset="-122"/>
              </a:rPr>
              <a:t>结果</a:t>
            </a:r>
            <a:r>
              <a:rPr lang="en-US" altLang="zh-CN" sz="3200" b="1" dirty="0">
                <a:latin typeface="微软雅黑" pitchFamily="34" charset="-122"/>
                <a:ea typeface="微软雅黑" pitchFamily="34" charset="-122"/>
              </a:rPr>
              <a:t>4</a:t>
            </a:r>
            <a:r>
              <a:rPr lang="zh-CN" altLang="en-US" sz="3200" b="1" dirty="0">
                <a:latin typeface="微软雅黑" pitchFamily="34" charset="-122"/>
                <a:ea typeface="微软雅黑" pitchFamily="34" charset="-122"/>
              </a:rPr>
              <a:t>、诈骗罪量刑</a:t>
            </a:r>
            <a:endParaRPr lang="zh-CN" altLang="en-US" sz="3200" b="1" dirty="0"/>
          </a:p>
        </p:txBody>
      </p:sp>
      <p:graphicFrame>
        <p:nvGraphicFramePr>
          <p:cNvPr id="4" name="内容占位符 3"/>
          <p:cNvGraphicFramePr>
            <a:graphicFrameLocks noGrp="1"/>
          </p:cNvGraphicFramePr>
          <p:nvPr>
            <p:ph idx="1"/>
          </p:nvPr>
        </p:nvGraphicFramePr>
        <p:xfrm>
          <a:off x="179512" y="1600200"/>
          <a:ext cx="8856984" cy="3917032"/>
        </p:xfrm>
        <a:graphic>
          <a:graphicData uri="http://schemas.openxmlformats.org/drawingml/2006/table">
            <a:tbl>
              <a:tblPr firstRow="1" bandRow="1">
                <a:tableStyleId>{5C22544A-7EE6-4342-B048-85BDC9FD1C3A}</a:tableStyleId>
              </a:tblPr>
              <a:tblGrid>
                <a:gridCol w="2214246">
                  <a:extLst>
                    <a:ext uri="{9D8B030D-6E8A-4147-A177-3AD203B41FA5}">
                      <a16:colId xmlns:a16="http://schemas.microsoft.com/office/drawing/2014/main" val="20000"/>
                    </a:ext>
                  </a:extLst>
                </a:gridCol>
                <a:gridCol w="2214246">
                  <a:extLst>
                    <a:ext uri="{9D8B030D-6E8A-4147-A177-3AD203B41FA5}">
                      <a16:colId xmlns:a16="http://schemas.microsoft.com/office/drawing/2014/main" val="20001"/>
                    </a:ext>
                  </a:extLst>
                </a:gridCol>
                <a:gridCol w="2214246">
                  <a:extLst>
                    <a:ext uri="{9D8B030D-6E8A-4147-A177-3AD203B41FA5}">
                      <a16:colId xmlns:a16="http://schemas.microsoft.com/office/drawing/2014/main" val="20002"/>
                    </a:ext>
                  </a:extLst>
                </a:gridCol>
                <a:gridCol w="2214246">
                  <a:extLst>
                    <a:ext uri="{9D8B030D-6E8A-4147-A177-3AD203B41FA5}">
                      <a16:colId xmlns:a16="http://schemas.microsoft.com/office/drawing/2014/main" val="20003"/>
                    </a:ext>
                  </a:extLst>
                </a:gridCol>
              </a:tblGrid>
              <a:tr h="867123">
                <a:tc>
                  <a:txBody>
                    <a:bodyPr/>
                    <a:lstStyle/>
                    <a:p>
                      <a:pPr algn="ctr"/>
                      <a:endParaRPr lang="zh-CN" altLang="en-US" dirty="0"/>
                    </a:p>
                  </a:txBody>
                  <a:tcPr/>
                </a:tc>
                <a:tc>
                  <a:txBody>
                    <a:bodyPr/>
                    <a:lstStyle/>
                    <a:p>
                      <a:pPr algn="ctr"/>
                      <a:r>
                        <a:rPr lang="zh-CN" altLang="en-US" sz="2800" b="1" kern="0" dirty="0">
                          <a:solidFill>
                            <a:srgbClr val="000000"/>
                          </a:solidFill>
                          <a:latin typeface="黑体" pitchFamily="49" charset="-122"/>
                          <a:ea typeface="黑体" pitchFamily="49" charset="-122"/>
                          <a:cs typeface="Arial"/>
                        </a:rPr>
                        <a:t>裸刑均值</a:t>
                      </a:r>
                    </a:p>
                  </a:txBody>
                  <a:tcPr/>
                </a:tc>
                <a:tc>
                  <a:txBody>
                    <a:bodyPr/>
                    <a:lstStyle/>
                    <a:p>
                      <a:pPr algn="ctr"/>
                      <a:r>
                        <a:rPr lang="zh-CN" altLang="en-US" sz="2800" b="1" kern="0" dirty="0">
                          <a:solidFill>
                            <a:srgbClr val="000000"/>
                          </a:solidFill>
                          <a:latin typeface="黑体" pitchFamily="49" charset="-122"/>
                          <a:ea typeface="黑体" pitchFamily="49" charset="-122"/>
                          <a:cs typeface="Arial"/>
                        </a:rPr>
                        <a:t>样本数</a:t>
                      </a:r>
                    </a:p>
                  </a:txBody>
                  <a:tcPr/>
                </a:tc>
                <a:tc>
                  <a:txBody>
                    <a:bodyPr/>
                    <a:lstStyle/>
                    <a:p>
                      <a:pPr algn="ctr"/>
                      <a:r>
                        <a:rPr lang="zh-CN" altLang="en-US" sz="2800" b="1" kern="0" dirty="0">
                          <a:solidFill>
                            <a:srgbClr val="000000"/>
                          </a:solidFill>
                          <a:latin typeface="黑体" pitchFamily="49" charset="-122"/>
                          <a:ea typeface="黑体" pitchFamily="49" charset="-122"/>
                          <a:cs typeface="Arial"/>
                        </a:rPr>
                        <a:t>法定刑中线</a:t>
                      </a:r>
                    </a:p>
                  </a:txBody>
                  <a:tcPr/>
                </a:tc>
                <a:extLst>
                  <a:ext uri="{0D108BD9-81ED-4DB2-BD59-A6C34878D82A}">
                    <a16:rowId xmlns:a16="http://schemas.microsoft.com/office/drawing/2014/main" val="10000"/>
                  </a:ext>
                </a:extLst>
              </a:tr>
              <a:tr h="867123">
                <a:tc>
                  <a:txBody>
                    <a:bodyPr/>
                    <a:lstStyle/>
                    <a:p>
                      <a:pPr algn="ctr"/>
                      <a:r>
                        <a:rPr lang="zh-CN" altLang="en-US" sz="2800" b="1" kern="0" dirty="0">
                          <a:solidFill>
                            <a:srgbClr val="000000"/>
                          </a:solidFill>
                          <a:latin typeface="+mn-ea"/>
                          <a:ea typeface="+mn-ea"/>
                          <a:cs typeface="Times New Roman"/>
                        </a:rPr>
                        <a:t>基本构成</a:t>
                      </a:r>
                    </a:p>
                  </a:txBody>
                  <a:tcPr/>
                </a:tc>
                <a:tc>
                  <a:txBody>
                    <a:bodyPr/>
                    <a:lstStyle/>
                    <a:p>
                      <a:pPr algn="ctr"/>
                      <a:r>
                        <a:rPr lang="en-US" altLang="zh-CN" sz="2800" b="1" kern="0" dirty="0">
                          <a:solidFill>
                            <a:srgbClr val="000000"/>
                          </a:solidFill>
                          <a:latin typeface="+mn-ea"/>
                          <a:ea typeface="+mn-ea"/>
                          <a:cs typeface="Times New Roman"/>
                        </a:rPr>
                        <a:t>14.7</a:t>
                      </a:r>
                      <a:endParaRPr lang="zh-CN" altLang="en-US" sz="2800" b="1" kern="0" dirty="0">
                        <a:solidFill>
                          <a:srgbClr val="000000"/>
                        </a:solidFill>
                        <a:latin typeface="+mn-ea"/>
                        <a:ea typeface="+mn-ea"/>
                        <a:cs typeface="Times New Roman"/>
                      </a:endParaRPr>
                    </a:p>
                  </a:txBody>
                  <a:tcPr>
                    <a:solidFill>
                      <a:srgbClr val="FFFF00"/>
                    </a:solidFill>
                  </a:tcPr>
                </a:tc>
                <a:tc>
                  <a:txBody>
                    <a:bodyPr/>
                    <a:lstStyle/>
                    <a:p>
                      <a:pPr algn="ctr"/>
                      <a:r>
                        <a:rPr lang="en-US" altLang="zh-CN" sz="2800" b="1" kern="0" dirty="0">
                          <a:solidFill>
                            <a:srgbClr val="000000"/>
                          </a:solidFill>
                          <a:latin typeface="+mn-ea"/>
                          <a:ea typeface="+mn-ea"/>
                          <a:cs typeface="Times New Roman"/>
                        </a:rPr>
                        <a:t>714</a:t>
                      </a:r>
                      <a:endParaRPr lang="zh-CN" altLang="en-US" sz="2800" b="1" kern="0" dirty="0">
                        <a:solidFill>
                          <a:srgbClr val="000000"/>
                        </a:solidFill>
                        <a:latin typeface="+mn-ea"/>
                        <a:ea typeface="+mn-ea"/>
                        <a:cs typeface="Times New Roman"/>
                      </a:endParaRPr>
                    </a:p>
                  </a:txBody>
                  <a:tcPr>
                    <a:noFill/>
                  </a:tcPr>
                </a:tc>
                <a:tc>
                  <a:txBody>
                    <a:bodyPr/>
                    <a:lstStyle/>
                    <a:p>
                      <a:pPr algn="ctr"/>
                      <a:r>
                        <a:rPr lang="en-US" altLang="zh-CN" sz="2800" b="1" kern="0" dirty="0">
                          <a:solidFill>
                            <a:srgbClr val="000000"/>
                          </a:solidFill>
                          <a:latin typeface="+mn-ea"/>
                          <a:ea typeface="+mn-ea"/>
                          <a:cs typeface="Times New Roman"/>
                        </a:rPr>
                        <a:t>21</a:t>
                      </a:r>
                      <a:r>
                        <a:rPr lang="zh-CN" altLang="en-US" sz="2800" b="1" kern="0" dirty="0">
                          <a:solidFill>
                            <a:srgbClr val="000000"/>
                          </a:solidFill>
                          <a:latin typeface="+mn-ea"/>
                          <a:ea typeface="+mn-ea"/>
                          <a:cs typeface="Times New Roman"/>
                        </a:rPr>
                        <a:t>个月</a:t>
                      </a:r>
                    </a:p>
                  </a:txBody>
                  <a:tcPr>
                    <a:solidFill>
                      <a:srgbClr val="FFFF00"/>
                    </a:solidFill>
                  </a:tcPr>
                </a:tc>
                <a:extLst>
                  <a:ext uri="{0D108BD9-81ED-4DB2-BD59-A6C34878D82A}">
                    <a16:rowId xmlns:a16="http://schemas.microsoft.com/office/drawing/2014/main" val="10001"/>
                  </a:ext>
                </a:extLst>
              </a:tr>
              <a:tr h="867123">
                <a:tc>
                  <a:txBody>
                    <a:bodyPr/>
                    <a:lstStyle/>
                    <a:p>
                      <a:pPr algn="ctr"/>
                      <a:r>
                        <a:rPr lang="zh-CN" altLang="en-US" sz="2800" b="1" kern="0" dirty="0">
                          <a:solidFill>
                            <a:srgbClr val="000000"/>
                          </a:solidFill>
                          <a:latin typeface="+mn-ea"/>
                          <a:ea typeface="+mn-ea"/>
                          <a:cs typeface="Times New Roman"/>
                        </a:rPr>
                        <a:t>加重构成</a:t>
                      </a:r>
                    </a:p>
                  </a:txBody>
                  <a:tcPr/>
                </a:tc>
                <a:tc>
                  <a:txBody>
                    <a:bodyPr/>
                    <a:lstStyle/>
                    <a:p>
                      <a:pPr algn="ctr"/>
                      <a:r>
                        <a:rPr lang="en-US" altLang="zh-CN" sz="2800" b="1" kern="0" dirty="0">
                          <a:solidFill>
                            <a:srgbClr val="000000"/>
                          </a:solidFill>
                          <a:latin typeface="+mn-ea"/>
                          <a:ea typeface="+mn-ea"/>
                          <a:cs typeface="Times New Roman"/>
                        </a:rPr>
                        <a:t>57.6</a:t>
                      </a:r>
                      <a:endParaRPr lang="zh-CN" altLang="en-US" sz="2800" b="1" kern="0" dirty="0">
                        <a:solidFill>
                          <a:srgbClr val="000000"/>
                        </a:solidFill>
                        <a:latin typeface="+mn-ea"/>
                        <a:ea typeface="+mn-ea"/>
                        <a:cs typeface="Times New Roman"/>
                      </a:endParaRPr>
                    </a:p>
                  </a:txBody>
                  <a:tcPr>
                    <a:solidFill>
                      <a:srgbClr val="00B0F0"/>
                    </a:solidFill>
                  </a:tcPr>
                </a:tc>
                <a:tc>
                  <a:txBody>
                    <a:bodyPr/>
                    <a:lstStyle/>
                    <a:p>
                      <a:pPr algn="ctr"/>
                      <a:r>
                        <a:rPr lang="en-US" altLang="zh-CN" sz="2800" b="1" kern="0" dirty="0">
                          <a:solidFill>
                            <a:srgbClr val="000000"/>
                          </a:solidFill>
                          <a:latin typeface="+mn-ea"/>
                          <a:ea typeface="+mn-ea"/>
                          <a:cs typeface="Times New Roman"/>
                        </a:rPr>
                        <a:t>476</a:t>
                      </a:r>
                      <a:endParaRPr lang="zh-CN" altLang="en-US" sz="2800" b="1" kern="0" dirty="0">
                        <a:solidFill>
                          <a:srgbClr val="000000"/>
                        </a:solidFill>
                        <a:latin typeface="+mn-ea"/>
                        <a:ea typeface="+mn-ea"/>
                        <a:cs typeface="Times New Roman"/>
                      </a:endParaRPr>
                    </a:p>
                  </a:txBody>
                  <a:tcPr>
                    <a:noFill/>
                  </a:tcPr>
                </a:tc>
                <a:tc>
                  <a:txBody>
                    <a:bodyPr/>
                    <a:lstStyle/>
                    <a:p>
                      <a:pPr algn="ctr"/>
                      <a:r>
                        <a:rPr lang="en-US" altLang="zh-CN" sz="2800" b="1" kern="0" dirty="0">
                          <a:solidFill>
                            <a:srgbClr val="000000"/>
                          </a:solidFill>
                          <a:latin typeface="+mn-ea"/>
                          <a:ea typeface="+mn-ea"/>
                          <a:cs typeface="Times New Roman"/>
                        </a:rPr>
                        <a:t>78</a:t>
                      </a:r>
                      <a:r>
                        <a:rPr lang="zh-CN" altLang="en-US" sz="2800" b="1" kern="0" dirty="0">
                          <a:solidFill>
                            <a:srgbClr val="000000"/>
                          </a:solidFill>
                          <a:latin typeface="+mn-ea"/>
                          <a:ea typeface="+mn-ea"/>
                          <a:cs typeface="Times New Roman"/>
                        </a:rPr>
                        <a:t>个月</a:t>
                      </a:r>
                    </a:p>
                  </a:txBody>
                  <a:tcPr>
                    <a:solidFill>
                      <a:srgbClr val="00B0F0"/>
                    </a:solidFill>
                  </a:tcPr>
                </a:tc>
                <a:extLst>
                  <a:ext uri="{0D108BD9-81ED-4DB2-BD59-A6C34878D82A}">
                    <a16:rowId xmlns:a16="http://schemas.microsoft.com/office/drawing/2014/main" val="10002"/>
                  </a:ext>
                </a:extLst>
              </a:tr>
              <a:tr h="1315663">
                <a:tc>
                  <a:txBody>
                    <a:bodyPr/>
                    <a:lstStyle/>
                    <a:p>
                      <a:pPr algn="ctr"/>
                      <a:r>
                        <a:rPr lang="zh-CN" altLang="en-US" sz="2800" b="1" kern="0" dirty="0">
                          <a:solidFill>
                            <a:srgbClr val="000000"/>
                          </a:solidFill>
                          <a:latin typeface="+mn-ea"/>
                          <a:ea typeface="+mn-ea"/>
                          <a:cs typeface="Times New Roman"/>
                        </a:rPr>
                        <a:t>再加重构成</a:t>
                      </a:r>
                    </a:p>
                  </a:txBody>
                  <a:tcPr/>
                </a:tc>
                <a:tc>
                  <a:txBody>
                    <a:bodyPr/>
                    <a:lstStyle/>
                    <a:p>
                      <a:pPr algn="ctr"/>
                      <a:r>
                        <a:rPr lang="en-US" altLang="zh-CN" sz="2800" b="1" kern="0" dirty="0">
                          <a:solidFill>
                            <a:srgbClr val="000000"/>
                          </a:solidFill>
                          <a:latin typeface="+mn-ea"/>
                          <a:ea typeface="+mn-ea"/>
                          <a:cs typeface="Times New Roman"/>
                        </a:rPr>
                        <a:t>141.1</a:t>
                      </a:r>
                      <a:endParaRPr lang="zh-CN" altLang="en-US" sz="2800" b="1" kern="0" dirty="0">
                        <a:solidFill>
                          <a:srgbClr val="000000"/>
                        </a:solidFill>
                        <a:latin typeface="+mn-ea"/>
                        <a:ea typeface="+mn-ea"/>
                        <a:cs typeface="Times New Roman"/>
                      </a:endParaRPr>
                    </a:p>
                  </a:txBody>
                  <a:tcPr>
                    <a:solidFill>
                      <a:srgbClr val="92D050"/>
                    </a:solidFill>
                  </a:tcPr>
                </a:tc>
                <a:tc>
                  <a:txBody>
                    <a:bodyPr/>
                    <a:lstStyle/>
                    <a:p>
                      <a:pPr algn="ctr"/>
                      <a:r>
                        <a:rPr lang="en-US" altLang="zh-CN" sz="2800" b="1" kern="0" dirty="0">
                          <a:solidFill>
                            <a:srgbClr val="000000"/>
                          </a:solidFill>
                          <a:latin typeface="+mn-ea"/>
                          <a:ea typeface="+mn-ea"/>
                          <a:cs typeface="Times New Roman"/>
                        </a:rPr>
                        <a:t>492</a:t>
                      </a:r>
                      <a:endParaRPr lang="zh-CN" altLang="en-US" sz="2800" b="1" kern="0" dirty="0">
                        <a:solidFill>
                          <a:srgbClr val="000000"/>
                        </a:solidFill>
                        <a:latin typeface="+mn-ea"/>
                        <a:ea typeface="+mn-ea"/>
                        <a:cs typeface="Times New Roman"/>
                      </a:endParaRPr>
                    </a:p>
                  </a:txBody>
                  <a:tcPr>
                    <a:noFill/>
                  </a:tcPr>
                </a:tc>
                <a:tc>
                  <a:txBody>
                    <a:bodyPr/>
                    <a:lstStyle/>
                    <a:p>
                      <a:pPr algn="ctr"/>
                      <a:r>
                        <a:rPr lang="en-US" altLang="zh-CN" sz="2800" b="1" kern="0" dirty="0">
                          <a:solidFill>
                            <a:srgbClr val="000000"/>
                          </a:solidFill>
                          <a:latin typeface="+mn-ea"/>
                          <a:ea typeface="+mn-ea"/>
                          <a:cs typeface="Times New Roman"/>
                        </a:rPr>
                        <a:t>150</a:t>
                      </a:r>
                      <a:r>
                        <a:rPr lang="zh-CN" altLang="en-US" sz="2800" b="1" kern="0" dirty="0">
                          <a:solidFill>
                            <a:srgbClr val="000000"/>
                          </a:solidFill>
                          <a:latin typeface="+mn-ea"/>
                          <a:ea typeface="+mn-ea"/>
                          <a:cs typeface="Times New Roman"/>
                        </a:rPr>
                        <a:t>个月</a:t>
                      </a:r>
                    </a:p>
                  </a:txBody>
                  <a:tcPr>
                    <a:solidFill>
                      <a:srgbClr val="92D05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3252224"/>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692696"/>
            <a:ext cx="7170737" cy="492125"/>
          </a:xfrm>
        </p:spPr>
        <p:txBody>
          <a:bodyPr/>
          <a:lstStyle/>
          <a:p>
            <a:r>
              <a:rPr lang="zh-CN" altLang="en-US" sz="3200" b="1" dirty="0">
                <a:latin typeface="微软雅黑" pitchFamily="34" charset="-122"/>
                <a:ea typeface="微软雅黑" pitchFamily="34" charset="-122"/>
              </a:rPr>
              <a:t>结果</a:t>
            </a:r>
            <a:r>
              <a:rPr lang="en-US" altLang="zh-CN" sz="3200" b="1" dirty="0">
                <a:latin typeface="微软雅黑" pitchFamily="34" charset="-122"/>
                <a:ea typeface="微软雅黑" pitchFamily="34" charset="-122"/>
              </a:rPr>
              <a:t>5</a:t>
            </a:r>
            <a:r>
              <a:rPr lang="zh-CN" altLang="en-US" sz="3200" b="1" dirty="0">
                <a:latin typeface="微软雅黑" pitchFamily="34" charset="-122"/>
                <a:ea typeface="微软雅黑" pitchFamily="34" charset="-122"/>
              </a:rPr>
              <a:t>、强奸罪量刑</a:t>
            </a:r>
            <a:endParaRPr lang="zh-CN" altLang="en-US" sz="3200" b="1" dirty="0"/>
          </a:p>
        </p:txBody>
      </p:sp>
      <p:graphicFrame>
        <p:nvGraphicFramePr>
          <p:cNvPr id="4" name="内容占位符 3"/>
          <p:cNvGraphicFramePr>
            <a:graphicFrameLocks noGrp="1"/>
          </p:cNvGraphicFramePr>
          <p:nvPr>
            <p:ph idx="1"/>
          </p:nvPr>
        </p:nvGraphicFramePr>
        <p:xfrm>
          <a:off x="179512" y="1600200"/>
          <a:ext cx="8856984" cy="3052935"/>
        </p:xfrm>
        <a:graphic>
          <a:graphicData uri="http://schemas.openxmlformats.org/drawingml/2006/table">
            <a:tbl>
              <a:tblPr firstRow="1" bandRow="1">
                <a:tableStyleId>{5C22544A-7EE6-4342-B048-85BDC9FD1C3A}</a:tableStyleId>
              </a:tblPr>
              <a:tblGrid>
                <a:gridCol w="2214246">
                  <a:extLst>
                    <a:ext uri="{9D8B030D-6E8A-4147-A177-3AD203B41FA5}">
                      <a16:colId xmlns:a16="http://schemas.microsoft.com/office/drawing/2014/main" val="20000"/>
                    </a:ext>
                  </a:extLst>
                </a:gridCol>
                <a:gridCol w="2214246">
                  <a:extLst>
                    <a:ext uri="{9D8B030D-6E8A-4147-A177-3AD203B41FA5}">
                      <a16:colId xmlns:a16="http://schemas.microsoft.com/office/drawing/2014/main" val="20001"/>
                    </a:ext>
                  </a:extLst>
                </a:gridCol>
                <a:gridCol w="2214246">
                  <a:extLst>
                    <a:ext uri="{9D8B030D-6E8A-4147-A177-3AD203B41FA5}">
                      <a16:colId xmlns:a16="http://schemas.microsoft.com/office/drawing/2014/main" val="20002"/>
                    </a:ext>
                  </a:extLst>
                </a:gridCol>
                <a:gridCol w="2214246">
                  <a:extLst>
                    <a:ext uri="{9D8B030D-6E8A-4147-A177-3AD203B41FA5}">
                      <a16:colId xmlns:a16="http://schemas.microsoft.com/office/drawing/2014/main" val="20003"/>
                    </a:ext>
                  </a:extLst>
                </a:gridCol>
              </a:tblGrid>
              <a:tr h="1017645">
                <a:tc>
                  <a:txBody>
                    <a:bodyPr/>
                    <a:lstStyle/>
                    <a:p>
                      <a:pPr algn="ctr"/>
                      <a:endParaRPr lang="zh-CN" altLang="en-US" dirty="0"/>
                    </a:p>
                  </a:txBody>
                  <a:tcPr/>
                </a:tc>
                <a:tc>
                  <a:txBody>
                    <a:bodyPr/>
                    <a:lstStyle/>
                    <a:p>
                      <a:pPr algn="ctr"/>
                      <a:r>
                        <a:rPr lang="zh-CN" altLang="en-US" sz="2800" b="1" kern="0" dirty="0">
                          <a:solidFill>
                            <a:srgbClr val="000000"/>
                          </a:solidFill>
                          <a:latin typeface="黑体" pitchFamily="49" charset="-122"/>
                          <a:ea typeface="黑体" pitchFamily="49" charset="-122"/>
                          <a:cs typeface="Arial"/>
                        </a:rPr>
                        <a:t>裸刑均值</a:t>
                      </a:r>
                    </a:p>
                  </a:txBody>
                  <a:tcPr/>
                </a:tc>
                <a:tc>
                  <a:txBody>
                    <a:bodyPr/>
                    <a:lstStyle/>
                    <a:p>
                      <a:pPr algn="ctr"/>
                      <a:r>
                        <a:rPr lang="zh-CN" altLang="en-US" sz="2800" b="1" kern="0" dirty="0">
                          <a:solidFill>
                            <a:srgbClr val="000000"/>
                          </a:solidFill>
                          <a:latin typeface="黑体" pitchFamily="49" charset="-122"/>
                          <a:ea typeface="黑体" pitchFamily="49" charset="-122"/>
                          <a:cs typeface="Arial"/>
                        </a:rPr>
                        <a:t>样本数</a:t>
                      </a:r>
                    </a:p>
                  </a:txBody>
                  <a:tcPr/>
                </a:tc>
                <a:tc>
                  <a:txBody>
                    <a:bodyPr/>
                    <a:lstStyle/>
                    <a:p>
                      <a:pPr algn="ctr"/>
                      <a:r>
                        <a:rPr lang="zh-CN" altLang="en-US" sz="2800" b="1" kern="0" dirty="0">
                          <a:solidFill>
                            <a:srgbClr val="000000"/>
                          </a:solidFill>
                          <a:latin typeface="黑体" pitchFamily="49" charset="-122"/>
                          <a:ea typeface="黑体" pitchFamily="49" charset="-122"/>
                          <a:cs typeface="Arial"/>
                        </a:rPr>
                        <a:t>法定刑中线</a:t>
                      </a:r>
                    </a:p>
                  </a:txBody>
                  <a:tcPr/>
                </a:tc>
                <a:extLst>
                  <a:ext uri="{0D108BD9-81ED-4DB2-BD59-A6C34878D82A}">
                    <a16:rowId xmlns:a16="http://schemas.microsoft.com/office/drawing/2014/main" val="10000"/>
                  </a:ext>
                </a:extLst>
              </a:tr>
              <a:tr h="1017645">
                <a:tc>
                  <a:txBody>
                    <a:bodyPr/>
                    <a:lstStyle/>
                    <a:p>
                      <a:pPr algn="ctr"/>
                      <a:r>
                        <a:rPr lang="zh-CN" altLang="en-US" sz="2800" b="1" kern="0" dirty="0">
                          <a:solidFill>
                            <a:srgbClr val="000000"/>
                          </a:solidFill>
                          <a:latin typeface="+mn-ea"/>
                          <a:ea typeface="+mn-ea"/>
                          <a:cs typeface="Times New Roman"/>
                        </a:rPr>
                        <a:t>基本构成</a:t>
                      </a:r>
                    </a:p>
                  </a:txBody>
                  <a:tcPr/>
                </a:tc>
                <a:tc>
                  <a:txBody>
                    <a:bodyPr/>
                    <a:lstStyle/>
                    <a:p>
                      <a:pPr algn="ctr"/>
                      <a:r>
                        <a:rPr lang="en-US" altLang="zh-CN" sz="2800" b="1" kern="0" dirty="0">
                          <a:solidFill>
                            <a:srgbClr val="000000"/>
                          </a:solidFill>
                          <a:latin typeface="+mn-ea"/>
                          <a:ea typeface="+mn-ea"/>
                          <a:cs typeface="Times New Roman"/>
                        </a:rPr>
                        <a:t>58.8</a:t>
                      </a:r>
                      <a:endParaRPr lang="zh-CN" altLang="en-US" sz="2800" b="1" kern="0" dirty="0">
                        <a:solidFill>
                          <a:srgbClr val="000000"/>
                        </a:solidFill>
                        <a:latin typeface="+mn-ea"/>
                        <a:ea typeface="+mn-ea"/>
                        <a:cs typeface="Times New Roman"/>
                      </a:endParaRPr>
                    </a:p>
                  </a:txBody>
                  <a:tcPr>
                    <a:solidFill>
                      <a:srgbClr val="FFFF00"/>
                    </a:solidFill>
                  </a:tcPr>
                </a:tc>
                <a:tc>
                  <a:txBody>
                    <a:bodyPr/>
                    <a:lstStyle/>
                    <a:p>
                      <a:pPr algn="ctr"/>
                      <a:r>
                        <a:rPr lang="en-US" altLang="zh-CN" sz="2800" b="1" kern="0" dirty="0">
                          <a:solidFill>
                            <a:srgbClr val="000000"/>
                          </a:solidFill>
                          <a:latin typeface="+mn-ea"/>
                          <a:ea typeface="+mn-ea"/>
                          <a:cs typeface="Times New Roman"/>
                        </a:rPr>
                        <a:t>645</a:t>
                      </a:r>
                      <a:endParaRPr lang="zh-CN" altLang="en-US" sz="2800" b="1" kern="0" dirty="0">
                        <a:solidFill>
                          <a:srgbClr val="000000"/>
                        </a:solidFill>
                        <a:latin typeface="+mn-ea"/>
                        <a:ea typeface="+mn-ea"/>
                        <a:cs typeface="Times New Roman"/>
                      </a:endParaRPr>
                    </a:p>
                  </a:txBody>
                  <a:tcPr>
                    <a:noFill/>
                  </a:tcPr>
                </a:tc>
                <a:tc>
                  <a:txBody>
                    <a:bodyPr/>
                    <a:lstStyle/>
                    <a:p>
                      <a:pPr algn="ctr"/>
                      <a:r>
                        <a:rPr lang="en-US" altLang="zh-CN" sz="2800" b="1" kern="0" dirty="0">
                          <a:solidFill>
                            <a:srgbClr val="000000"/>
                          </a:solidFill>
                          <a:latin typeface="+mn-ea"/>
                          <a:ea typeface="+mn-ea"/>
                          <a:cs typeface="Times New Roman"/>
                        </a:rPr>
                        <a:t>78</a:t>
                      </a:r>
                      <a:endParaRPr lang="zh-CN" altLang="en-US" sz="2800" b="1" kern="0" dirty="0">
                        <a:solidFill>
                          <a:srgbClr val="000000"/>
                        </a:solidFill>
                        <a:latin typeface="+mn-ea"/>
                        <a:ea typeface="+mn-ea"/>
                        <a:cs typeface="Times New Roman"/>
                      </a:endParaRPr>
                    </a:p>
                  </a:txBody>
                  <a:tcPr>
                    <a:solidFill>
                      <a:srgbClr val="FFFF00"/>
                    </a:solidFill>
                  </a:tcPr>
                </a:tc>
                <a:extLst>
                  <a:ext uri="{0D108BD9-81ED-4DB2-BD59-A6C34878D82A}">
                    <a16:rowId xmlns:a16="http://schemas.microsoft.com/office/drawing/2014/main" val="10001"/>
                  </a:ext>
                </a:extLst>
              </a:tr>
              <a:tr h="1017645">
                <a:tc>
                  <a:txBody>
                    <a:bodyPr/>
                    <a:lstStyle/>
                    <a:p>
                      <a:pPr algn="ctr"/>
                      <a:r>
                        <a:rPr lang="zh-CN" altLang="en-US" sz="2800" b="1" kern="0" dirty="0">
                          <a:solidFill>
                            <a:srgbClr val="000000"/>
                          </a:solidFill>
                          <a:latin typeface="+mn-ea"/>
                          <a:ea typeface="+mn-ea"/>
                          <a:cs typeface="Times New Roman"/>
                        </a:rPr>
                        <a:t>加重构成</a:t>
                      </a:r>
                    </a:p>
                  </a:txBody>
                  <a:tcPr/>
                </a:tc>
                <a:tc>
                  <a:txBody>
                    <a:bodyPr/>
                    <a:lstStyle/>
                    <a:p>
                      <a:pPr algn="ctr"/>
                      <a:r>
                        <a:rPr lang="en-US" altLang="zh-CN" sz="2800" b="1" kern="0" dirty="0">
                          <a:solidFill>
                            <a:srgbClr val="000000"/>
                          </a:solidFill>
                          <a:latin typeface="+mn-ea"/>
                          <a:ea typeface="+mn-ea"/>
                          <a:cs typeface="Times New Roman"/>
                        </a:rPr>
                        <a:t>137.9</a:t>
                      </a:r>
                      <a:endParaRPr lang="zh-CN" altLang="en-US" sz="2800" b="1" kern="0" dirty="0">
                        <a:solidFill>
                          <a:srgbClr val="000000"/>
                        </a:solidFill>
                        <a:latin typeface="+mn-ea"/>
                        <a:ea typeface="+mn-ea"/>
                        <a:cs typeface="Times New Roman"/>
                      </a:endParaRPr>
                    </a:p>
                  </a:txBody>
                  <a:tcPr>
                    <a:solidFill>
                      <a:srgbClr val="00B0F0"/>
                    </a:solidFill>
                  </a:tcPr>
                </a:tc>
                <a:tc>
                  <a:txBody>
                    <a:bodyPr/>
                    <a:lstStyle/>
                    <a:p>
                      <a:pPr algn="ctr"/>
                      <a:r>
                        <a:rPr lang="en-US" altLang="zh-CN" sz="2800" b="1" kern="0" dirty="0">
                          <a:solidFill>
                            <a:srgbClr val="000000"/>
                          </a:solidFill>
                          <a:latin typeface="+mn-ea"/>
                          <a:ea typeface="+mn-ea"/>
                          <a:cs typeface="Times New Roman"/>
                        </a:rPr>
                        <a:t>172</a:t>
                      </a:r>
                      <a:endParaRPr lang="zh-CN" altLang="en-US" sz="2800" b="1" kern="0" dirty="0">
                        <a:solidFill>
                          <a:srgbClr val="000000"/>
                        </a:solidFill>
                        <a:latin typeface="+mn-ea"/>
                        <a:ea typeface="+mn-ea"/>
                        <a:cs typeface="Times New Roman"/>
                      </a:endParaRPr>
                    </a:p>
                  </a:txBody>
                  <a:tcPr>
                    <a:noFill/>
                  </a:tcPr>
                </a:tc>
                <a:tc>
                  <a:txBody>
                    <a:bodyPr/>
                    <a:lstStyle/>
                    <a:p>
                      <a:pPr algn="ctr"/>
                      <a:r>
                        <a:rPr lang="en-US" altLang="zh-CN" sz="2800" b="1" kern="0" dirty="0">
                          <a:solidFill>
                            <a:srgbClr val="000000"/>
                          </a:solidFill>
                          <a:latin typeface="+mn-ea"/>
                          <a:ea typeface="+mn-ea"/>
                          <a:cs typeface="Times New Roman"/>
                        </a:rPr>
                        <a:t>150</a:t>
                      </a:r>
                      <a:endParaRPr lang="zh-CN" altLang="en-US" sz="2800" b="1" kern="0" dirty="0">
                        <a:solidFill>
                          <a:srgbClr val="000000"/>
                        </a:solidFill>
                        <a:latin typeface="+mn-ea"/>
                        <a:ea typeface="+mn-ea"/>
                        <a:cs typeface="Times New Roman"/>
                      </a:endParaRPr>
                    </a:p>
                  </a:txBody>
                  <a:tcPr>
                    <a:solidFill>
                      <a:srgbClr val="00B0F0"/>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10245417"/>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41275" y="100013"/>
            <a:ext cx="8229600" cy="1096739"/>
          </a:xfrm>
        </p:spPr>
        <p:txBody>
          <a:bodyPr/>
          <a:lstStyle/>
          <a:p>
            <a:pPr algn="ctr"/>
            <a:r>
              <a:rPr lang="zh-CN" altLang="en-US" sz="4800" dirty="0">
                <a:latin typeface="隶书" pitchFamily="49" charset="-122"/>
                <a:ea typeface="隶书" pitchFamily="49" charset="-122"/>
              </a:rPr>
              <a:t>裸刑均值的合理性</a:t>
            </a:r>
          </a:p>
        </p:txBody>
      </p:sp>
      <p:sp>
        <p:nvSpPr>
          <p:cNvPr id="39939" name="内容占位符 2"/>
          <p:cNvSpPr>
            <a:spLocks noGrp="1"/>
          </p:cNvSpPr>
          <p:nvPr>
            <p:ph idx="1"/>
          </p:nvPr>
        </p:nvSpPr>
        <p:spPr>
          <a:xfrm>
            <a:off x="428625" y="1600200"/>
            <a:ext cx="8334375" cy="4498975"/>
          </a:xfrm>
        </p:spPr>
        <p:txBody>
          <a:bodyPr/>
          <a:lstStyle/>
          <a:p>
            <a:r>
              <a:rPr lang="zh-CN" altLang="en-US" sz="2800" b="1" dirty="0">
                <a:latin typeface="华文楷体" pitchFamily="2" charset="-122"/>
                <a:ea typeface="华文楷体" pitchFamily="2" charset="-122"/>
              </a:rPr>
              <a:t>如果以法定刑中线为基准，必然造成刑量大幅提升，导致刑罚资源的巨大浪费。</a:t>
            </a:r>
            <a:endParaRPr lang="en-US" altLang="zh-CN" sz="2800" b="1" dirty="0">
              <a:latin typeface="华文楷体" pitchFamily="2" charset="-122"/>
              <a:ea typeface="华文楷体" pitchFamily="2" charset="-122"/>
            </a:endParaRPr>
          </a:p>
          <a:p>
            <a:r>
              <a:rPr lang="zh-CN" altLang="en-US" sz="2800" b="1" dirty="0">
                <a:latin typeface="华文楷体" pitchFamily="2" charset="-122"/>
                <a:ea typeface="华文楷体" pitchFamily="2" charset="-122"/>
              </a:rPr>
              <a:t>如果以裸刑均值为基础对</a:t>
            </a:r>
            <a:r>
              <a:rPr lang="en-US" altLang="zh-CN" sz="2800" b="1" dirty="0">
                <a:latin typeface="华文楷体" pitchFamily="2" charset="-122"/>
                <a:ea typeface="华文楷体" pitchFamily="2" charset="-122"/>
              </a:rPr>
              <a:t>《</a:t>
            </a:r>
            <a:r>
              <a:rPr lang="zh-CN" altLang="en-US" sz="2800" b="1" dirty="0">
                <a:latin typeface="华文楷体" pitchFamily="2" charset="-122"/>
                <a:ea typeface="华文楷体" pitchFamily="2" charset="-122"/>
              </a:rPr>
              <a:t>意见</a:t>
            </a:r>
            <a:r>
              <a:rPr lang="en-US" altLang="zh-CN" sz="2800" b="1" dirty="0">
                <a:latin typeface="华文楷体" pitchFamily="2" charset="-122"/>
                <a:ea typeface="华文楷体" pitchFamily="2" charset="-122"/>
              </a:rPr>
              <a:t>》</a:t>
            </a:r>
            <a:r>
              <a:rPr lang="zh-CN" altLang="en-US" sz="2800" b="1" dirty="0">
                <a:latin typeface="华文楷体" pitchFamily="2" charset="-122"/>
                <a:ea typeface="华文楷体" pitchFamily="2" charset="-122"/>
              </a:rPr>
              <a:t>略加调整，可体现</a:t>
            </a:r>
            <a:r>
              <a:rPr lang="zh-CN" altLang="en-US" sz="2800" b="1" dirty="0">
                <a:latin typeface="微软雅黑" pitchFamily="34" charset="-122"/>
                <a:ea typeface="微软雅黑" pitchFamily="34" charset="-122"/>
              </a:rPr>
              <a:t>“轻轻”、“重重”</a:t>
            </a:r>
            <a:r>
              <a:rPr lang="zh-CN" altLang="en-US" sz="2800" b="1" dirty="0">
                <a:latin typeface="华文楷体" pitchFamily="2" charset="-122"/>
                <a:ea typeface="华文楷体" pitchFamily="2" charset="-122"/>
              </a:rPr>
              <a:t>的司法艺术。</a:t>
            </a:r>
            <a:endParaRPr lang="en-US" altLang="zh-CN" sz="2800" b="1" dirty="0">
              <a:latin typeface="华文楷体" pitchFamily="2" charset="-122"/>
              <a:ea typeface="华文楷体" pitchFamily="2" charset="-122"/>
            </a:endParaRPr>
          </a:p>
          <a:p>
            <a:r>
              <a:rPr lang="zh-CN" altLang="zh-CN" sz="2800" b="1" dirty="0">
                <a:latin typeface="华文楷体" pitchFamily="2" charset="-122"/>
                <a:ea typeface="华文楷体" pitchFamily="2" charset="-122"/>
              </a:rPr>
              <a:t>除非假定法定刑中线是</a:t>
            </a:r>
            <a:r>
              <a:rPr lang="zh-CN" altLang="en-US" sz="2800" b="1" dirty="0">
                <a:latin typeface="华文楷体" pitchFamily="2" charset="-122"/>
                <a:ea typeface="华文楷体" pitchFamily="2" charset="-122"/>
              </a:rPr>
              <a:t>法定</a:t>
            </a:r>
            <a:r>
              <a:rPr lang="zh-CN" altLang="zh-CN" sz="2800" b="1" dirty="0">
                <a:latin typeface="华文楷体" pitchFamily="2" charset="-122"/>
                <a:ea typeface="华文楷体" pitchFamily="2" charset="-122"/>
              </a:rPr>
              <a:t>轴心，且</a:t>
            </a:r>
            <a:r>
              <a:rPr lang="en-US" altLang="zh-CN" sz="2800" b="1" dirty="0">
                <a:latin typeface="华文楷体" pitchFamily="2" charset="-122"/>
                <a:ea typeface="华文楷体" pitchFamily="2" charset="-122"/>
              </a:rPr>
              <a:t>77</a:t>
            </a:r>
            <a:r>
              <a:rPr lang="zh-CN" altLang="zh-CN" sz="2800" b="1" dirty="0">
                <a:latin typeface="华文楷体" pitchFamily="2" charset="-122"/>
                <a:ea typeface="华文楷体" pitchFamily="2" charset="-122"/>
              </a:rPr>
              <a:t>家法院的刑事法官普遍接受被告人贿赂，那么，裸刑均值低于法定刑中线的合理性才值得怀疑。</a:t>
            </a:r>
            <a:endParaRPr lang="en-US" altLang="zh-CN" sz="2800" b="1" dirty="0">
              <a:latin typeface="华文楷体" pitchFamily="2" charset="-122"/>
              <a:ea typeface="华文楷体" pitchFamily="2" charset="-122"/>
            </a:endParaRPr>
          </a:p>
          <a:p>
            <a:r>
              <a:rPr lang="zh-CN" altLang="en-US" sz="2800" b="1" dirty="0">
                <a:latin typeface="华文楷体" pitchFamily="2" charset="-122"/>
                <a:ea typeface="华文楷体" pitchFamily="2" charset="-122"/>
              </a:rPr>
              <a:t>还有，犯罪耗费问题。</a:t>
            </a:r>
          </a:p>
        </p:txBody>
      </p:sp>
    </p:spTree>
    <p:extLst>
      <p:ext uri="{BB962C8B-B14F-4D97-AF65-F5344CB8AC3E}">
        <p14:creationId xmlns:p14="http://schemas.microsoft.com/office/powerpoint/2010/main" val="515135080"/>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4400" b="1" dirty="0">
                <a:latin typeface="黑体" pitchFamily="49" charset="-122"/>
                <a:ea typeface="黑体" pitchFamily="49" charset="-122"/>
              </a:rPr>
              <a:t>一个悖论</a:t>
            </a:r>
          </a:p>
        </p:txBody>
      </p:sp>
      <p:sp>
        <p:nvSpPr>
          <p:cNvPr id="3" name="内容占位符 2"/>
          <p:cNvSpPr>
            <a:spLocks noGrp="1"/>
          </p:cNvSpPr>
          <p:nvPr>
            <p:ph idx="1"/>
          </p:nvPr>
        </p:nvSpPr>
        <p:spPr/>
        <p:txBody>
          <a:bodyPr/>
          <a:lstStyle/>
          <a:p>
            <a:pPr>
              <a:buFont typeface="Arial" pitchFamily="34" charset="0"/>
              <a:buChar char="•"/>
            </a:pPr>
            <a:r>
              <a:rPr lang="zh-CN" altLang="en-US" sz="2800" b="1" dirty="0"/>
              <a:t>质疑改革的必要性</a:t>
            </a:r>
            <a:endParaRPr lang="en-US" altLang="zh-CN" sz="2800" b="1" dirty="0"/>
          </a:p>
          <a:p>
            <a:pPr>
              <a:buFont typeface="Arial" pitchFamily="34" charset="0"/>
              <a:buChar char="•"/>
            </a:pPr>
            <a:r>
              <a:rPr lang="zh-CN" altLang="zh-CN" sz="2800" b="1" dirty="0"/>
              <a:t>一组裸刑均值为</a:t>
            </a:r>
            <a:r>
              <a:rPr lang="en-US" altLang="zh-CN" sz="2800" b="1" dirty="0"/>
              <a:t>5</a:t>
            </a:r>
            <a:r>
              <a:rPr lang="zh-CN" altLang="zh-CN" sz="2800" b="1" dirty="0"/>
              <a:t>年有期徒刑的案件是由宣告刑分别为</a:t>
            </a:r>
            <a:r>
              <a:rPr lang="en-US" altLang="zh-CN" sz="2800" b="1" dirty="0"/>
              <a:t>1</a:t>
            </a:r>
            <a:r>
              <a:rPr lang="zh-CN" altLang="zh-CN" sz="2800" b="1" dirty="0"/>
              <a:t>、</a:t>
            </a:r>
            <a:r>
              <a:rPr lang="en-US" altLang="zh-CN" sz="2800" b="1" dirty="0"/>
              <a:t>2</a:t>
            </a:r>
            <a:r>
              <a:rPr lang="zh-CN" altLang="zh-CN" sz="2800" b="1" dirty="0"/>
              <a:t>、</a:t>
            </a:r>
            <a:r>
              <a:rPr lang="en-US" altLang="zh-CN" sz="2800" b="1" dirty="0"/>
              <a:t>3</a:t>
            </a:r>
            <a:r>
              <a:rPr lang="zh-CN" altLang="zh-CN" sz="2800" b="1" dirty="0"/>
              <a:t>、</a:t>
            </a:r>
            <a:r>
              <a:rPr lang="en-US" altLang="zh-CN" sz="2800" b="1" dirty="0"/>
              <a:t>4</a:t>
            </a:r>
            <a:r>
              <a:rPr lang="zh-CN" altLang="zh-CN" sz="2800" b="1" dirty="0"/>
              <a:t>、</a:t>
            </a:r>
            <a:r>
              <a:rPr lang="en-US" altLang="zh-CN" sz="2800" b="1" dirty="0"/>
              <a:t>5</a:t>
            </a:r>
            <a:r>
              <a:rPr lang="zh-CN" altLang="zh-CN" sz="2800" b="1" dirty="0"/>
              <a:t>、</a:t>
            </a:r>
            <a:r>
              <a:rPr lang="en-US" altLang="zh-CN" sz="2800" b="1" dirty="0"/>
              <a:t>6</a:t>
            </a:r>
            <a:r>
              <a:rPr lang="zh-CN" altLang="zh-CN" sz="2800" b="1" dirty="0"/>
              <a:t>、</a:t>
            </a:r>
            <a:r>
              <a:rPr lang="en-US" altLang="zh-CN" sz="2800" b="1" dirty="0"/>
              <a:t>7</a:t>
            </a:r>
            <a:r>
              <a:rPr lang="zh-CN" altLang="zh-CN" sz="2800" b="1" dirty="0"/>
              <a:t>、</a:t>
            </a:r>
            <a:r>
              <a:rPr lang="en-US" altLang="zh-CN" sz="2800" b="1" dirty="0"/>
              <a:t>8</a:t>
            </a:r>
            <a:r>
              <a:rPr lang="zh-CN" altLang="zh-CN" sz="2800" b="1" dirty="0"/>
              <a:t>、</a:t>
            </a:r>
            <a:r>
              <a:rPr lang="en-US" altLang="zh-CN" sz="2800" b="1" dirty="0"/>
              <a:t>9</a:t>
            </a:r>
            <a:r>
              <a:rPr lang="zh-CN" altLang="zh-CN" sz="2800" b="1" dirty="0"/>
              <a:t>年共</a:t>
            </a:r>
            <a:r>
              <a:rPr lang="en-US" altLang="zh-CN" sz="2800" b="1" dirty="0"/>
              <a:t>9</a:t>
            </a:r>
            <a:r>
              <a:rPr lang="zh-CN" altLang="zh-CN" sz="2800" b="1" dirty="0"/>
              <a:t>个案件组成，另一组裸刑均值同样为</a:t>
            </a:r>
            <a:r>
              <a:rPr lang="en-US" altLang="zh-CN" sz="2800" b="1" dirty="0"/>
              <a:t>5</a:t>
            </a:r>
            <a:r>
              <a:rPr lang="zh-CN" altLang="zh-CN" sz="2800" b="1" dirty="0"/>
              <a:t>年有期徒刑的案件是由宣告刑分别为</a:t>
            </a:r>
            <a:r>
              <a:rPr lang="en-US" altLang="zh-CN" sz="2800" b="1" dirty="0"/>
              <a:t>4</a:t>
            </a:r>
            <a:r>
              <a:rPr lang="zh-CN" altLang="zh-CN" sz="2800" b="1" dirty="0"/>
              <a:t>、</a:t>
            </a:r>
            <a:r>
              <a:rPr lang="en-US" altLang="zh-CN" sz="2800" b="1" dirty="0"/>
              <a:t>4</a:t>
            </a:r>
            <a:r>
              <a:rPr lang="zh-CN" altLang="zh-CN" sz="2800" b="1" dirty="0"/>
              <a:t>、</a:t>
            </a:r>
            <a:r>
              <a:rPr lang="en-US" altLang="zh-CN" sz="2800" b="1" dirty="0"/>
              <a:t>4</a:t>
            </a:r>
            <a:r>
              <a:rPr lang="zh-CN" altLang="zh-CN" sz="2800" b="1" dirty="0"/>
              <a:t>、</a:t>
            </a:r>
            <a:r>
              <a:rPr lang="en-US" altLang="zh-CN" sz="2800" b="1" dirty="0"/>
              <a:t>5</a:t>
            </a:r>
            <a:r>
              <a:rPr lang="zh-CN" altLang="zh-CN" sz="2800" b="1" dirty="0"/>
              <a:t>、</a:t>
            </a:r>
            <a:r>
              <a:rPr lang="en-US" altLang="zh-CN" sz="2800" b="1" dirty="0"/>
              <a:t>5</a:t>
            </a:r>
            <a:r>
              <a:rPr lang="zh-CN" altLang="zh-CN" sz="2800" b="1" dirty="0"/>
              <a:t>、</a:t>
            </a:r>
            <a:r>
              <a:rPr lang="en-US" altLang="zh-CN" sz="2800" b="1" dirty="0"/>
              <a:t>5</a:t>
            </a:r>
            <a:r>
              <a:rPr lang="zh-CN" altLang="zh-CN" sz="2800" b="1" dirty="0"/>
              <a:t>、</a:t>
            </a:r>
            <a:r>
              <a:rPr lang="en-US" altLang="zh-CN" sz="2800" b="1" dirty="0"/>
              <a:t>6</a:t>
            </a:r>
            <a:r>
              <a:rPr lang="zh-CN" altLang="zh-CN" sz="2800" b="1" dirty="0"/>
              <a:t>、</a:t>
            </a:r>
            <a:r>
              <a:rPr lang="en-US" altLang="zh-CN" sz="2800" b="1" dirty="0"/>
              <a:t>6</a:t>
            </a:r>
            <a:r>
              <a:rPr lang="zh-CN" altLang="zh-CN" sz="2800" b="1" dirty="0"/>
              <a:t>、</a:t>
            </a:r>
            <a:r>
              <a:rPr lang="en-US" altLang="zh-CN" sz="2800" b="1" dirty="0"/>
              <a:t>6</a:t>
            </a:r>
            <a:r>
              <a:rPr lang="zh-CN" altLang="zh-CN" sz="2800" b="1" dirty="0"/>
              <a:t>年共</a:t>
            </a:r>
            <a:r>
              <a:rPr lang="en-US" altLang="zh-CN" sz="2800" b="1" dirty="0"/>
              <a:t>9</a:t>
            </a:r>
            <a:r>
              <a:rPr lang="zh-CN" altLang="zh-CN" sz="2800" b="1" dirty="0"/>
              <a:t>个案件组成。</a:t>
            </a:r>
            <a:endParaRPr lang="en-US" altLang="zh-CN" sz="2800" b="1" dirty="0"/>
          </a:p>
          <a:p>
            <a:pPr>
              <a:buFont typeface="Arial" pitchFamily="34" charset="0"/>
              <a:buChar char="•"/>
            </a:pPr>
            <a:r>
              <a:rPr lang="zh-CN" altLang="zh-CN" sz="2800" b="1" dirty="0"/>
              <a:t>两组案件的均值相等，但前组方差高达</a:t>
            </a:r>
            <a:r>
              <a:rPr lang="en-US" altLang="zh-CN" sz="2800" b="1" dirty="0"/>
              <a:t>7.5</a:t>
            </a:r>
            <a:r>
              <a:rPr lang="zh-CN" altLang="zh-CN" sz="2800" b="1" dirty="0"/>
              <a:t>，而后组方差仅为</a:t>
            </a:r>
            <a:r>
              <a:rPr lang="en-US" altLang="zh-CN" sz="2800" b="1" dirty="0"/>
              <a:t>0.75</a:t>
            </a:r>
            <a:r>
              <a:rPr lang="zh-CN" altLang="zh-CN" sz="2800" b="1" dirty="0"/>
              <a:t>。</a:t>
            </a:r>
            <a:endParaRPr lang="en-US" altLang="zh-CN" sz="2800" b="1" dirty="0"/>
          </a:p>
          <a:p>
            <a:pPr>
              <a:buFont typeface="Arial" pitchFamily="34" charset="0"/>
              <a:buChar char="•"/>
            </a:pPr>
            <a:r>
              <a:rPr lang="zh-CN" altLang="en-US" sz="2800" b="1" dirty="0"/>
              <a:t>改革是要坚持现有的集中趋势，缩小离散水平。</a:t>
            </a:r>
          </a:p>
        </p:txBody>
      </p:sp>
    </p:spTree>
    <p:extLst>
      <p:ext uri="{BB962C8B-B14F-4D97-AF65-F5344CB8AC3E}">
        <p14:creationId xmlns:p14="http://schemas.microsoft.com/office/powerpoint/2010/main" val="3779819079"/>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755576" y="548680"/>
            <a:ext cx="8088312" cy="949325"/>
          </a:xfrm>
        </p:spPr>
        <p:txBody>
          <a:bodyPr>
            <a:normAutofit/>
          </a:bodyPr>
          <a:lstStyle/>
          <a:p>
            <a:pPr algn="ctr" eaLnBrk="1" hangingPunct="1"/>
            <a:r>
              <a:rPr lang="zh-CN" altLang="en-US" sz="4000" b="1" dirty="0">
                <a:latin typeface="黑体"/>
                <a:ea typeface="黑体"/>
                <a:cs typeface="黑体"/>
              </a:rPr>
              <a:t>犯罪“报价单”</a:t>
            </a:r>
          </a:p>
        </p:txBody>
      </p:sp>
      <p:sp>
        <p:nvSpPr>
          <p:cNvPr id="40963" name="Rectangle 3"/>
          <p:cNvSpPr>
            <a:spLocks noGrp="1" noChangeArrowheads="1"/>
          </p:cNvSpPr>
          <p:nvPr>
            <p:ph type="body" idx="1"/>
          </p:nvPr>
        </p:nvSpPr>
        <p:spPr>
          <a:xfrm>
            <a:off x="899592" y="1484784"/>
            <a:ext cx="8110537" cy="4711824"/>
          </a:xfrm>
        </p:spPr>
        <p:txBody>
          <a:bodyPr/>
          <a:lstStyle/>
          <a:p>
            <a:pPr algn="just" eaLnBrk="1" hangingPunct="1">
              <a:lnSpc>
                <a:spcPct val="90000"/>
              </a:lnSpc>
            </a:pPr>
            <a:r>
              <a:rPr lang="zh-CN" altLang="en-US" sz="2800" b="1" dirty="0">
                <a:latin typeface="宋体"/>
                <a:ea typeface="宋体"/>
                <a:cs typeface="宋体"/>
              </a:rPr>
              <a:t>诱骗幼女卖淫＝煽动分裂国家？</a:t>
            </a:r>
            <a:endParaRPr lang="en-US" altLang="zh-CN" sz="2800" b="1" dirty="0">
              <a:latin typeface="宋体"/>
              <a:ea typeface="宋体"/>
              <a:cs typeface="宋体"/>
            </a:endParaRPr>
          </a:p>
          <a:p>
            <a:pPr algn="just" eaLnBrk="1" hangingPunct="1">
              <a:lnSpc>
                <a:spcPct val="90000"/>
              </a:lnSpc>
            </a:pPr>
            <a:r>
              <a:rPr lang="zh-CN" altLang="en-US" sz="2800" b="1" dirty="0">
                <a:latin typeface="宋体"/>
                <a:ea typeface="宋体"/>
                <a:cs typeface="宋体"/>
              </a:rPr>
              <a:t>故意泄露军事秘密罪＝过失泄露军事秘密罪？</a:t>
            </a:r>
          </a:p>
          <a:p>
            <a:pPr algn="just" eaLnBrk="1" hangingPunct="1">
              <a:lnSpc>
                <a:spcPct val="90000"/>
              </a:lnSpc>
            </a:pPr>
            <a:r>
              <a:rPr lang="zh-CN" altLang="en-US" sz="2800" b="1" dirty="0">
                <a:latin typeface="宋体"/>
                <a:ea typeface="宋体"/>
                <a:cs typeface="宋体"/>
              </a:rPr>
              <a:t>贷款诈骗罪＝骗购外汇罪？</a:t>
            </a:r>
            <a:endParaRPr lang="en-US" altLang="zh-CN" sz="2800" b="1" dirty="0">
              <a:latin typeface="宋体"/>
              <a:ea typeface="宋体"/>
              <a:cs typeface="宋体"/>
            </a:endParaRPr>
          </a:p>
          <a:p>
            <a:pPr algn="just">
              <a:lnSpc>
                <a:spcPct val="90000"/>
              </a:lnSpc>
            </a:pPr>
            <a:r>
              <a:rPr lang="zh-CN" altLang="en-US" sz="2800" b="1" dirty="0">
                <a:latin typeface="宋体"/>
                <a:ea typeface="宋体"/>
                <a:cs typeface="宋体"/>
              </a:rPr>
              <a:t>暴力危及飞行安全罪、组织越狱罪＝非法经营罪？</a:t>
            </a:r>
            <a:endParaRPr lang="en-US" altLang="zh-CN" sz="2800" b="1" dirty="0">
              <a:latin typeface="宋体"/>
              <a:ea typeface="宋体"/>
              <a:cs typeface="宋体"/>
            </a:endParaRPr>
          </a:p>
          <a:p>
            <a:pPr algn="just">
              <a:lnSpc>
                <a:spcPct val="90000"/>
              </a:lnSpc>
            </a:pPr>
            <a:r>
              <a:rPr lang="zh-CN" altLang="en-US" sz="2800" b="1" dirty="0">
                <a:latin typeface="宋体"/>
                <a:ea typeface="宋体"/>
                <a:cs typeface="宋体"/>
              </a:rPr>
              <a:t>组织、领导、参加黑社会性质组织罪＝聚众哄抢罪？</a:t>
            </a:r>
          </a:p>
          <a:p>
            <a:pPr algn="just">
              <a:lnSpc>
                <a:spcPct val="90000"/>
              </a:lnSpc>
            </a:pPr>
            <a:r>
              <a:rPr lang="zh-CN" altLang="en-US" sz="2800" b="1" dirty="0">
                <a:latin typeface="宋体"/>
                <a:ea typeface="宋体"/>
                <a:cs typeface="宋体"/>
              </a:rPr>
              <a:t>敲诈勒索罪＝招摇撞骗罪？</a:t>
            </a:r>
          </a:p>
          <a:p>
            <a:pPr>
              <a:lnSpc>
                <a:spcPct val="90000"/>
              </a:lnSpc>
            </a:pPr>
            <a:r>
              <a:rPr lang="zh-CN" altLang="en-US" sz="2800" b="1" dirty="0">
                <a:latin typeface="宋体"/>
                <a:ea typeface="宋体"/>
                <a:cs typeface="宋体"/>
              </a:rPr>
              <a:t>战时造谣扰乱军心罪＝组织淫秽表演罪？</a:t>
            </a:r>
            <a:endParaRPr lang="en-US" altLang="zh-CN" sz="2800" b="1" dirty="0">
              <a:latin typeface="宋体"/>
              <a:ea typeface="宋体"/>
              <a:cs typeface="宋体"/>
            </a:endParaRPr>
          </a:p>
          <a:p>
            <a:pPr algn="just"/>
            <a:r>
              <a:rPr lang="zh-CN" altLang="en-US" sz="2800" b="1" dirty="0">
                <a:latin typeface="宋体"/>
                <a:ea typeface="宋体"/>
                <a:cs typeface="宋体"/>
              </a:rPr>
              <a:t>侮辱罪 ＝ 盗窃、侮辱尸体罪？</a:t>
            </a:r>
          </a:p>
          <a:p>
            <a:r>
              <a:rPr lang="zh-CN" altLang="en-US" sz="2800" b="1" dirty="0">
                <a:latin typeface="宋体"/>
                <a:ea typeface="宋体"/>
                <a:cs typeface="宋体"/>
              </a:rPr>
              <a:t>侮辱罪 ＝ 诽谤罪？ </a:t>
            </a:r>
          </a:p>
          <a:p>
            <a:pPr>
              <a:lnSpc>
                <a:spcPct val="90000"/>
              </a:lnSpc>
            </a:pPr>
            <a:endParaRPr lang="zh-CN" altLang="en-US" sz="2800" dirty="0">
              <a:ea typeface="隶书" pitchFamily="49" charset="-122"/>
            </a:endParaRPr>
          </a:p>
          <a:p>
            <a:pPr algn="just">
              <a:lnSpc>
                <a:spcPct val="90000"/>
              </a:lnSpc>
            </a:pPr>
            <a:endParaRPr lang="zh-CN" altLang="en-US" sz="2800" dirty="0">
              <a:latin typeface="方正姚体" pitchFamily="2" charset="-122"/>
              <a:ea typeface="方正姚体" pitchFamily="2" charset="-122"/>
            </a:endParaRPr>
          </a:p>
          <a:p>
            <a:pPr algn="just" eaLnBrk="1" hangingPunct="1">
              <a:lnSpc>
                <a:spcPct val="90000"/>
              </a:lnSpc>
            </a:pPr>
            <a:endParaRPr lang="zh-CN" altLang="en-US" sz="2800" dirty="0">
              <a:latin typeface="微软雅黑" pitchFamily="34" charset="-122"/>
              <a:ea typeface="微软雅黑" pitchFamily="34" charset="-122"/>
            </a:endParaRPr>
          </a:p>
        </p:txBody>
      </p:sp>
    </p:spTree>
    <p:extLst>
      <p:ext uri="{BB962C8B-B14F-4D97-AF65-F5344CB8AC3E}">
        <p14:creationId xmlns:p14="http://schemas.microsoft.com/office/powerpoint/2010/main" val="127985394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403648" y="548680"/>
            <a:ext cx="7378700" cy="876300"/>
          </a:xfrm>
        </p:spPr>
        <p:txBody>
          <a:bodyPr>
            <a:normAutofit/>
          </a:bodyPr>
          <a:lstStyle/>
          <a:p>
            <a:pPr eaLnBrk="1" hangingPunct="1"/>
            <a:r>
              <a:rPr lang="zh-CN" altLang="en-US" sz="4000" dirty="0">
                <a:ea typeface="华文琥珀" pitchFamily="2" charset="-122"/>
              </a:rPr>
              <a:t>实然</a:t>
            </a:r>
            <a:r>
              <a:rPr lang="en-US" altLang="zh-CN" sz="4000" dirty="0">
                <a:ea typeface="华文琥珀" pitchFamily="2" charset="-122"/>
              </a:rPr>
              <a:t>——</a:t>
            </a:r>
            <a:r>
              <a:rPr lang="zh-CN" altLang="en-US" sz="4000" dirty="0">
                <a:ea typeface="华文琥珀" pitchFamily="2" charset="-122"/>
              </a:rPr>
              <a:t>罪刑未必均衡</a:t>
            </a:r>
          </a:p>
        </p:txBody>
      </p:sp>
      <p:sp>
        <p:nvSpPr>
          <p:cNvPr id="46083" name="Rectangle 3"/>
          <p:cNvSpPr>
            <a:spLocks noGrp="1" noChangeArrowheads="1"/>
          </p:cNvSpPr>
          <p:nvPr>
            <p:ph type="body" idx="1"/>
          </p:nvPr>
        </p:nvSpPr>
        <p:spPr>
          <a:xfrm>
            <a:off x="683568" y="1628800"/>
            <a:ext cx="8353425" cy="4824536"/>
          </a:xfrm>
        </p:spPr>
        <p:txBody>
          <a:bodyPr/>
          <a:lstStyle/>
          <a:p>
            <a:pPr eaLnBrk="1" hangingPunct="1">
              <a:lnSpc>
                <a:spcPct val="90000"/>
              </a:lnSpc>
              <a:buFont typeface="Wingdings" pitchFamily="2" charset="2"/>
              <a:buNone/>
            </a:pPr>
            <a:r>
              <a:rPr lang="zh-CN" altLang="en-US" sz="2800" b="1" dirty="0">
                <a:latin typeface="宋体"/>
                <a:ea typeface="宋体"/>
                <a:cs typeface="宋体"/>
              </a:rPr>
              <a:t>为什么？</a:t>
            </a:r>
          </a:p>
          <a:p>
            <a:pPr eaLnBrk="1" hangingPunct="1">
              <a:lnSpc>
                <a:spcPct val="90000"/>
              </a:lnSpc>
              <a:buFont typeface="Wingdings" pitchFamily="2" charset="2"/>
              <a:buNone/>
            </a:pPr>
            <a:r>
              <a:rPr lang="zh-CN" altLang="en-US" sz="2800" b="1" dirty="0">
                <a:latin typeface="宋体"/>
                <a:ea typeface="宋体"/>
                <a:cs typeface="宋体"/>
              </a:rPr>
              <a:t>     前提：什么是一样的犯罪？</a:t>
            </a:r>
            <a:endParaRPr lang="en-US" altLang="zh-CN" sz="2800" b="1" dirty="0">
              <a:latin typeface="宋体"/>
              <a:ea typeface="宋体"/>
              <a:cs typeface="宋体"/>
            </a:endParaRPr>
          </a:p>
          <a:p>
            <a:pPr eaLnBrk="1" hangingPunct="1">
              <a:lnSpc>
                <a:spcPct val="90000"/>
              </a:lnSpc>
              <a:buFont typeface="Wingdings" pitchFamily="2" charset="2"/>
              <a:buNone/>
            </a:pPr>
            <a:r>
              <a:rPr lang="en-US" altLang="zh-CN" sz="2800" b="1" dirty="0">
                <a:latin typeface="宋体"/>
                <a:ea typeface="宋体"/>
                <a:cs typeface="宋体"/>
              </a:rPr>
              <a:t>     ——</a:t>
            </a:r>
            <a:r>
              <a:rPr lang="zh-CN" altLang="en-US" sz="2800" b="1" dirty="0">
                <a:latin typeface="宋体"/>
                <a:ea typeface="宋体"/>
                <a:cs typeface="宋体"/>
              </a:rPr>
              <a:t>犯罪观问题。</a:t>
            </a:r>
            <a:endParaRPr lang="en-US" altLang="zh-CN" sz="2800" b="1" dirty="0">
              <a:latin typeface="宋体"/>
              <a:ea typeface="宋体"/>
              <a:cs typeface="宋体"/>
            </a:endParaRPr>
          </a:p>
          <a:p>
            <a:pPr eaLnBrk="1" hangingPunct="1">
              <a:lnSpc>
                <a:spcPct val="90000"/>
              </a:lnSpc>
              <a:buFont typeface="Wingdings" pitchFamily="2" charset="2"/>
              <a:buNone/>
            </a:pPr>
            <a:r>
              <a:rPr lang="zh-CN" altLang="en-US" sz="2800" b="1" dirty="0">
                <a:latin typeface="宋体"/>
                <a:ea typeface="宋体"/>
                <a:cs typeface="宋体"/>
              </a:rPr>
              <a:t>理论建构：</a:t>
            </a:r>
            <a:endParaRPr lang="en-US" altLang="zh-CN" sz="2800" b="1" dirty="0">
              <a:latin typeface="宋体"/>
              <a:ea typeface="宋体"/>
              <a:cs typeface="宋体"/>
            </a:endParaRPr>
          </a:p>
          <a:p>
            <a:pPr eaLnBrk="1" hangingPunct="1">
              <a:lnSpc>
                <a:spcPct val="90000"/>
              </a:lnSpc>
              <a:buFont typeface="Wingdings" pitchFamily="2" charset="2"/>
              <a:buNone/>
            </a:pPr>
            <a:r>
              <a:rPr lang="zh-CN" altLang="en-US" sz="2800" b="1" dirty="0">
                <a:latin typeface="宋体"/>
                <a:ea typeface="宋体"/>
                <a:cs typeface="宋体"/>
              </a:rPr>
              <a:t>报应还是预防？</a:t>
            </a:r>
            <a:endParaRPr lang="en-US" altLang="zh-CN" sz="2800" b="1" dirty="0">
              <a:latin typeface="宋体"/>
              <a:ea typeface="宋体"/>
              <a:cs typeface="宋体"/>
            </a:endParaRPr>
          </a:p>
          <a:p>
            <a:pPr eaLnBrk="1" hangingPunct="1">
              <a:lnSpc>
                <a:spcPct val="90000"/>
              </a:lnSpc>
              <a:buFont typeface="Wingdings" pitchFamily="2" charset="2"/>
              <a:buNone/>
            </a:pPr>
            <a:r>
              <a:rPr lang="zh-CN" altLang="en-US" sz="2800" b="1" dirty="0">
                <a:latin typeface="宋体"/>
                <a:ea typeface="宋体"/>
                <a:cs typeface="宋体"/>
              </a:rPr>
              <a:t>按劳还是按需</a:t>
            </a:r>
            <a:endParaRPr lang="en-US" altLang="zh-CN" sz="2800" b="1" dirty="0">
              <a:latin typeface="宋体"/>
              <a:ea typeface="宋体"/>
              <a:cs typeface="宋体"/>
            </a:endParaRPr>
          </a:p>
          <a:p>
            <a:pPr eaLnBrk="1" hangingPunct="1">
              <a:lnSpc>
                <a:spcPct val="90000"/>
              </a:lnSpc>
              <a:buFont typeface="Wingdings" pitchFamily="2" charset="2"/>
              <a:buNone/>
            </a:pPr>
            <a:r>
              <a:rPr lang="zh-CN" altLang="en-US" sz="2800" b="1" dirty="0">
                <a:latin typeface="宋体"/>
                <a:ea typeface="宋体"/>
                <a:cs typeface="宋体"/>
              </a:rPr>
              <a:t>一体之罪：报应为主（实害），预防为辅（人身危险性）</a:t>
            </a:r>
            <a:endParaRPr lang="en-US" altLang="zh-CN" sz="2800" b="1" dirty="0">
              <a:latin typeface="宋体"/>
              <a:ea typeface="宋体"/>
              <a:cs typeface="宋体"/>
            </a:endParaRPr>
          </a:p>
          <a:p>
            <a:pPr eaLnBrk="1" hangingPunct="1">
              <a:lnSpc>
                <a:spcPct val="90000"/>
              </a:lnSpc>
              <a:buFont typeface="Wingdings" pitchFamily="2" charset="2"/>
              <a:buNone/>
            </a:pPr>
            <a:r>
              <a:rPr lang="zh-CN" altLang="en-US" sz="2800" b="1" dirty="0">
                <a:latin typeface="宋体"/>
                <a:ea typeface="宋体"/>
                <a:cs typeface="宋体"/>
              </a:rPr>
              <a:t>操作化：</a:t>
            </a:r>
            <a:endParaRPr lang="en-US" altLang="zh-CN" sz="2800" b="1" dirty="0">
              <a:latin typeface="宋体"/>
              <a:ea typeface="宋体"/>
              <a:cs typeface="宋体"/>
            </a:endParaRPr>
          </a:p>
          <a:p>
            <a:pPr eaLnBrk="1" hangingPunct="1">
              <a:lnSpc>
                <a:spcPct val="90000"/>
              </a:lnSpc>
              <a:buFont typeface="Wingdings" pitchFamily="2" charset="2"/>
              <a:buNone/>
            </a:pPr>
            <a:r>
              <a:rPr lang="en-US" altLang="zh-CN" sz="2800" b="1" dirty="0">
                <a:latin typeface="宋体"/>
                <a:ea typeface="宋体"/>
                <a:cs typeface="宋体"/>
              </a:rPr>
              <a:t>    </a:t>
            </a:r>
            <a:r>
              <a:rPr lang="zh-CN" altLang="en-US" sz="2800" b="1" dirty="0">
                <a:latin typeface="宋体"/>
                <a:ea typeface="宋体"/>
                <a:cs typeface="宋体"/>
              </a:rPr>
              <a:t>罪量（罪的严重性）；刑量（刑的严厉性）。</a:t>
            </a:r>
            <a:endParaRPr lang="en-US" altLang="zh-CN" sz="2800" b="1" dirty="0">
              <a:latin typeface="宋体"/>
              <a:ea typeface="宋体"/>
              <a:cs typeface="宋体"/>
            </a:endParaRPr>
          </a:p>
          <a:p>
            <a:pPr eaLnBrk="1" hangingPunct="1">
              <a:lnSpc>
                <a:spcPct val="90000"/>
              </a:lnSpc>
              <a:buFont typeface="Wingdings" pitchFamily="2" charset="2"/>
              <a:buNone/>
            </a:pPr>
            <a:endParaRPr lang="zh-CN" altLang="en-US" sz="2800" dirty="0">
              <a:latin typeface="微软雅黑" pitchFamily="34" charset="-122"/>
              <a:ea typeface="微软雅黑" pitchFamily="34" charset="-122"/>
            </a:endParaRPr>
          </a:p>
        </p:txBody>
      </p:sp>
    </p:spTree>
    <p:extLst>
      <p:ext uri="{BB962C8B-B14F-4D97-AF65-F5344CB8AC3E}">
        <p14:creationId xmlns:p14="http://schemas.microsoft.com/office/powerpoint/2010/main" val="1456938158"/>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endParaRPr lang="zh-CN" altLang="zh-CN"/>
          </a:p>
        </p:txBody>
      </p:sp>
      <p:sp>
        <p:nvSpPr>
          <p:cNvPr id="5124" name="Rectangle 3"/>
          <p:cNvSpPr>
            <a:spLocks noGrp="1" noChangeArrowheads="1" noTextEdit="1"/>
          </p:cNvSpPr>
          <p:nvPr>
            <p:ph type="chart" idx="1"/>
          </p:nvPr>
        </p:nvSpPr>
        <p:spPr/>
      </p:sp>
      <p:sp>
        <p:nvSpPr>
          <p:cNvPr id="5125" name="Rectangle 5"/>
          <p:cNvSpPr>
            <a:spLocks noChangeArrowheads="1"/>
          </p:cNvSpPr>
          <p:nvPr/>
        </p:nvSpPr>
        <p:spPr bwMode="auto">
          <a:xfrm>
            <a:off x="-28575" y="900113"/>
            <a:ext cx="9144000" cy="0"/>
          </a:xfrm>
          <a:prstGeom prst="rect">
            <a:avLst/>
          </a:prstGeom>
          <a:noFill/>
          <a:ln w="9525">
            <a:noFill/>
            <a:miter lim="800000"/>
            <a:headEnd/>
            <a:tailEnd/>
          </a:ln>
        </p:spPr>
        <p:txBody>
          <a:bodyPr>
            <a:spAutoFit/>
          </a:bodyPr>
          <a:lstStyle/>
          <a:p>
            <a:endParaRPr lang="zh-CN" altLang="en-US"/>
          </a:p>
        </p:txBody>
      </p:sp>
      <p:graphicFrame>
        <p:nvGraphicFramePr>
          <p:cNvPr id="101380" name="Object 4"/>
          <p:cNvGraphicFramePr>
            <a:graphicFrameLocks/>
          </p:cNvGraphicFramePr>
          <p:nvPr/>
        </p:nvGraphicFramePr>
        <p:xfrm>
          <a:off x="-28575" y="0"/>
          <a:ext cx="9201150" cy="6858000"/>
        </p:xfrm>
        <a:graphic>
          <a:graphicData uri="http://schemas.openxmlformats.org/presentationml/2006/ole">
            <mc:AlternateContent xmlns:mc="http://schemas.openxmlformats.org/markup-compatibility/2006">
              <mc:Choice xmlns:v="urn:schemas-microsoft-com:vml" Requires="v">
                <p:oleObj spid="_x0000_s21558" r:id="rId4" imgW="11766632" imgH="5362631" progId="">
                  <p:embed/>
                </p:oleObj>
              </mc:Choice>
              <mc:Fallback>
                <p:oleObj r:id="rId4" imgW="11766632" imgH="5362631"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0"/>
                        <a:ext cx="9201150" cy="68580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368829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01380"/>
                                        </p:tgtEl>
                                        <p:attrNameLst>
                                          <p:attrName>style.visibility</p:attrName>
                                        </p:attrNameLst>
                                      </p:cBhvr>
                                      <p:to>
                                        <p:strVal val="visible"/>
                                      </p:to>
                                    </p:set>
                                    <p:animEffect transition="in" filter="box(out)">
                                      <p:cBhvr>
                                        <p:cTn id="7" dur="500"/>
                                        <p:tgtEl>
                                          <p:spTgt spid="10138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3568" y="404664"/>
            <a:ext cx="7921625" cy="659160"/>
          </a:xfrm>
        </p:spPr>
        <p:txBody>
          <a:bodyPr/>
          <a:lstStyle/>
          <a:p>
            <a:pPr algn="ctr"/>
            <a:r>
              <a:rPr kumimoji="1" lang="zh-CN" altLang="en-US" sz="3600" dirty="0">
                <a:latin typeface="黑体"/>
                <a:ea typeface="黑体"/>
                <a:cs typeface="黑体"/>
              </a:rPr>
              <a:t>量化处理</a:t>
            </a:r>
            <a:endParaRPr lang="zh-CN" altLang="en-US" sz="3600" dirty="0">
              <a:ea typeface="华文行楷" pitchFamily="2" charset="-122"/>
            </a:endParaRPr>
          </a:p>
        </p:txBody>
      </p:sp>
      <p:sp>
        <p:nvSpPr>
          <p:cNvPr id="51203" name="Rectangle 3"/>
          <p:cNvSpPr>
            <a:spLocks noGrp="1" noChangeArrowheads="1"/>
          </p:cNvSpPr>
          <p:nvPr>
            <p:ph type="body" idx="1"/>
          </p:nvPr>
        </p:nvSpPr>
        <p:spPr>
          <a:xfrm>
            <a:off x="457200" y="1340768"/>
            <a:ext cx="8229600" cy="4785395"/>
          </a:xfrm>
        </p:spPr>
        <p:txBody>
          <a:bodyPr/>
          <a:lstStyle/>
          <a:p>
            <a:pPr eaLnBrk="1" hangingPunct="1"/>
            <a:r>
              <a:rPr lang="zh-CN" altLang="en-US" sz="2800" dirty="0">
                <a:latin typeface="方正综艺简体" pitchFamily="2" charset="-122"/>
                <a:ea typeface="方正综艺简体" pitchFamily="2" charset="-122"/>
              </a:rPr>
              <a:t>赋权</a:t>
            </a:r>
            <a:r>
              <a:rPr lang="zh-CN" altLang="zh-CN" sz="2800" dirty="0">
                <a:latin typeface="方正综艺简体" pitchFamily="2" charset="-122"/>
                <a:ea typeface="方正综艺简体" pitchFamily="2" charset="-122"/>
              </a:rPr>
              <a:t>、</a:t>
            </a:r>
            <a:r>
              <a:rPr lang="zh-CN" altLang="en-US" sz="2800" dirty="0">
                <a:latin typeface="方正综艺简体" pitchFamily="2" charset="-122"/>
                <a:ea typeface="方正综艺简体" pitchFamily="2" charset="-122"/>
              </a:rPr>
              <a:t>调整算法模型</a:t>
            </a:r>
            <a:endParaRPr lang="en-US" altLang="zh-CN" sz="2800" dirty="0">
              <a:latin typeface="方正综艺简体" pitchFamily="2" charset="-122"/>
              <a:ea typeface="方正综艺简体" pitchFamily="2" charset="-122"/>
            </a:endParaRPr>
          </a:p>
          <a:p>
            <a:pPr eaLnBrk="1" hangingPunct="1"/>
            <a:r>
              <a:rPr lang="zh-CN" altLang="en-US" sz="2800" dirty="0">
                <a:latin typeface="方正综艺简体" pitchFamily="2" charset="-122"/>
                <a:ea typeface="方正综艺简体" pitchFamily="2" charset="-122"/>
              </a:rPr>
              <a:t>结果：</a:t>
            </a:r>
            <a:endParaRPr lang="en-US" altLang="zh-CN" sz="2800" dirty="0">
              <a:latin typeface="方正综艺简体" pitchFamily="2" charset="-122"/>
              <a:ea typeface="方正综艺简体" pitchFamily="2" charset="-122"/>
            </a:endParaRPr>
          </a:p>
          <a:p>
            <a:pPr>
              <a:lnSpc>
                <a:spcPct val="90000"/>
              </a:lnSpc>
            </a:pPr>
            <a:r>
              <a:rPr lang="zh-CN" altLang="en-US" sz="2800" dirty="0">
                <a:ea typeface="黑体" pitchFamily="49" charset="-122"/>
              </a:rPr>
              <a:t>任何罪的轻重都是系统所认为的罪量</a:t>
            </a:r>
          </a:p>
          <a:p>
            <a:pPr>
              <a:lnSpc>
                <a:spcPct val="90000"/>
              </a:lnSpc>
            </a:pPr>
            <a:r>
              <a:rPr lang="zh-CN" altLang="en-US" sz="2800" dirty="0">
                <a:ea typeface="黑体" pitchFamily="49" charset="-122"/>
              </a:rPr>
              <a:t>要改变某个罪的罪量，必先改变它在某个变量中的取值</a:t>
            </a:r>
          </a:p>
          <a:p>
            <a:pPr>
              <a:lnSpc>
                <a:spcPct val="90000"/>
              </a:lnSpc>
            </a:pPr>
            <a:r>
              <a:rPr lang="en-US" altLang="zh-CN" sz="2800" dirty="0">
                <a:ea typeface="黑体" pitchFamily="49" charset="-122"/>
              </a:rPr>
              <a:t>——</a:t>
            </a:r>
            <a:r>
              <a:rPr lang="zh-CN" altLang="en-US" sz="2800" dirty="0">
                <a:ea typeface="黑体" pitchFamily="49" charset="-122"/>
              </a:rPr>
              <a:t>罪量评价过程的标准化、可操作性，尽可能减少人为非理性影响</a:t>
            </a:r>
            <a:endParaRPr lang="en-US" altLang="zh-CN" sz="2800" dirty="0">
              <a:ea typeface="黑体" pitchFamily="49" charset="-122"/>
            </a:endParaRPr>
          </a:p>
          <a:p>
            <a:pPr>
              <a:lnSpc>
                <a:spcPct val="90000"/>
              </a:lnSpc>
            </a:pPr>
            <a:r>
              <a:rPr lang="zh-CN" altLang="en-US" sz="2800" dirty="0">
                <a:ea typeface="黑体" pitchFamily="49" charset="-122"/>
              </a:rPr>
              <a:t>实现了罪与刑的对应：十级罪、十级刑</a:t>
            </a:r>
            <a:endParaRPr lang="en-US" altLang="zh-CN" sz="2800" dirty="0">
              <a:ea typeface="黑体" pitchFamily="49" charset="-122"/>
            </a:endParaRPr>
          </a:p>
          <a:p>
            <a:pPr>
              <a:lnSpc>
                <a:spcPct val="90000"/>
              </a:lnSpc>
            </a:pPr>
            <a:r>
              <a:rPr lang="zh-CN" altLang="en-US" sz="2800" dirty="0">
                <a:ea typeface="黑体" pitchFamily="49" charset="-122"/>
              </a:rPr>
              <a:t>级差意味着？</a:t>
            </a:r>
            <a:endParaRPr lang="en-US" altLang="zh-CN" sz="2800" dirty="0">
              <a:ea typeface="黑体" pitchFamily="49" charset="-122"/>
            </a:endParaRPr>
          </a:p>
          <a:p>
            <a:pPr marL="0" indent="0">
              <a:lnSpc>
                <a:spcPct val="90000"/>
              </a:lnSpc>
              <a:buNone/>
            </a:pPr>
            <a:r>
              <a:rPr lang="en-US" altLang="zh-CN" sz="2800" dirty="0">
                <a:ea typeface="黑体" pitchFamily="49" charset="-122"/>
              </a:rPr>
              <a:t>    ——</a:t>
            </a:r>
            <a:r>
              <a:rPr lang="zh-CN" altLang="en-US" sz="2800" dirty="0">
                <a:ea typeface="黑体" pitchFamily="49" charset="-122"/>
              </a:rPr>
              <a:t>罪刑阶梯；犯罪报价单</a:t>
            </a:r>
            <a:endParaRPr lang="en-US" altLang="zh-CN" sz="2800" dirty="0">
              <a:ea typeface="黑体" pitchFamily="49" charset="-122"/>
            </a:endParaRPr>
          </a:p>
          <a:p>
            <a:pPr eaLnBrk="1" hangingPunct="1"/>
            <a:endParaRPr lang="en-US" altLang="zh-CN" sz="2800" dirty="0">
              <a:ea typeface="黑体" pitchFamily="49" charset="-122"/>
            </a:endParaRPr>
          </a:p>
          <a:p>
            <a:pPr eaLnBrk="1" hangingPunct="1"/>
            <a:endParaRPr lang="en-US" altLang="zh-CN" sz="2800" dirty="0">
              <a:latin typeface="方正综艺简体" pitchFamily="2" charset="-122"/>
              <a:ea typeface="方正综艺简体" pitchFamily="2" charset="-122"/>
            </a:endParaRPr>
          </a:p>
          <a:p>
            <a:pPr eaLnBrk="1" hangingPunct="1"/>
            <a:endParaRPr lang="zh-CN" altLang="en-US" sz="2800" dirty="0">
              <a:latin typeface="方正综艺简体" pitchFamily="2" charset="-122"/>
              <a:ea typeface="方正综艺简体" pitchFamily="2" charset="-122"/>
            </a:endParaRPr>
          </a:p>
        </p:txBody>
      </p:sp>
    </p:spTree>
    <p:extLst>
      <p:ext uri="{BB962C8B-B14F-4D97-AF65-F5344CB8AC3E}">
        <p14:creationId xmlns:p14="http://schemas.microsoft.com/office/powerpoint/2010/main" val="3218161984"/>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74675" y="406400"/>
            <a:ext cx="8001000" cy="1114425"/>
          </a:xfrm>
        </p:spPr>
        <p:txBody>
          <a:bodyPr/>
          <a:lstStyle/>
          <a:p>
            <a:pPr algn="ctr" eaLnBrk="1" hangingPunct="1"/>
            <a:r>
              <a:rPr lang="zh-CN" altLang="en-US" sz="4800" b="1" dirty="0">
                <a:ea typeface="方正新舒体简体" pitchFamily="2" charset="-122"/>
              </a:rPr>
              <a:t>犯罪报价单</a:t>
            </a:r>
          </a:p>
        </p:txBody>
      </p:sp>
      <p:graphicFrame>
        <p:nvGraphicFramePr>
          <p:cNvPr id="142387" name="Group 51"/>
          <p:cNvGraphicFramePr>
            <a:graphicFrameLocks noGrp="1"/>
          </p:cNvGraphicFramePr>
          <p:nvPr>
            <p:ph type="tbl" idx="1"/>
            <p:extLst>
              <p:ext uri="{D42A27DB-BD31-4B8C-83A1-F6EECF244321}">
                <p14:modId xmlns:p14="http://schemas.microsoft.com/office/powerpoint/2010/main" val="661723787"/>
              </p:ext>
            </p:extLst>
          </p:nvPr>
        </p:nvGraphicFramePr>
        <p:xfrm>
          <a:off x="683568" y="1628800"/>
          <a:ext cx="8110537" cy="4752526"/>
        </p:xfrm>
        <a:graphic>
          <a:graphicData uri="http://schemas.openxmlformats.org/drawingml/2006/table">
            <a:tbl>
              <a:tblPr/>
              <a:tblGrid>
                <a:gridCol w="2703512">
                  <a:extLst>
                    <a:ext uri="{9D8B030D-6E8A-4147-A177-3AD203B41FA5}">
                      <a16:colId xmlns:a16="http://schemas.microsoft.com/office/drawing/2014/main" val="20000"/>
                    </a:ext>
                  </a:extLst>
                </a:gridCol>
                <a:gridCol w="2703513">
                  <a:extLst>
                    <a:ext uri="{9D8B030D-6E8A-4147-A177-3AD203B41FA5}">
                      <a16:colId xmlns:a16="http://schemas.microsoft.com/office/drawing/2014/main" val="20001"/>
                    </a:ext>
                  </a:extLst>
                </a:gridCol>
                <a:gridCol w="2703512">
                  <a:extLst>
                    <a:ext uri="{9D8B030D-6E8A-4147-A177-3AD203B41FA5}">
                      <a16:colId xmlns:a16="http://schemas.microsoft.com/office/drawing/2014/main" val="20002"/>
                    </a:ext>
                  </a:extLst>
                </a:gridCol>
              </a:tblGrid>
              <a:tr h="66503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500" b="0" i="0" u="none" strike="noStrike" cap="none" normalizeH="0" baseline="0">
                          <a:ln>
                            <a:noFill/>
                          </a:ln>
                          <a:solidFill>
                            <a:schemeClr val="tx1"/>
                          </a:solidFill>
                          <a:effectLst/>
                          <a:latin typeface="华文琥珀" pitchFamily="2" charset="-122"/>
                          <a:ea typeface="华文琥珀" pitchFamily="2" charset="-122"/>
                        </a:rPr>
                        <a:t>罪名</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500" b="0" i="0" u="none" strike="noStrike" cap="none" normalizeH="0" baseline="0" dirty="0">
                          <a:ln>
                            <a:noFill/>
                          </a:ln>
                          <a:solidFill>
                            <a:schemeClr val="tx1"/>
                          </a:solidFill>
                          <a:effectLst/>
                          <a:latin typeface="华文琥珀" pitchFamily="2" charset="-122"/>
                          <a:ea typeface="华文琥珀" pitchFamily="2" charset="-122"/>
                        </a:rPr>
                        <a:t>罪级</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500" b="0" i="0" u="none" strike="noStrike" cap="none" normalizeH="0" baseline="0">
                          <a:ln>
                            <a:noFill/>
                          </a:ln>
                          <a:solidFill>
                            <a:schemeClr val="tx1"/>
                          </a:solidFill>
                          <a:effectLst/>
                          <a:latin typeface="华文琥珀" pitchFamily="2" charset="-122"/>
                          <a:ea typeface="华文琥珀" pitchFamily="2" charset="-122"/>
                        </a:rPr>
                        <a:t>刑级</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39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000" b="0" i="0" u="none" strike="noStrike" cap="none" normalizeH="0" baseline="0">
                          <a:ln>
                            <a:noFill/>
                          </a:ln>
                          <a:solidFill>
                            <a:schemeClr val="tx1"/>
                          </a:solidFill>
                          <a:effectLst/>
                          <a:latin typeface="方正粗圆简体" pitchFamily="2" charset="-122"/>
                          <a:ea typeface="方正粗圆简体" pitchFamily="2" charset="-122"/>
                        </a:rPr>
                        <a:t>罪名</a:t>
                      </a: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39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000" b="0" i="0" u="none" strike="noStrike" cap="none" normalizeH="0" baseline="0">
                          <a:ln>
                            <a:noFill/>
                          </a:ln>
                          <a:solidFill>
                            <a:schemeClr val="tx1"/>
                          </a:solidFill>
                          <a:effectLst/>
                          <a:latin typeface="方正粗圆简体" pitchFamily="2" charset="-122"/>
                          <a:ea typeface="方正粗圆简体" pitchFamily="2" charset="-122"/>
                        </a:rPr>
                        <a:t>罪名</a:t>
                      </a: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B</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39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000" b="0" i="0" u="none" strike="noStrike" cap="none" normalizeH="0" baseline="0">
                          <a:ln>
                            <a:noFill/>
                          </a:ln>
                          <a:solidFill>
                            <a:schemeClr val="tx1"/>
                          </a:solidFill>
                          <a:effectLst/>
                          <a:latin typeface="方正粗圆简体" pitchFamily="2" charset="-122"/>
                          <a:ea typeface="方正粗圆简体" pitchFamily="2" charset="-122"/>
                        </a:rPr>
                        <a:t>罪名</a:t>
                      </a: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9</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39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000" b="0" i="0" u="none" strike="noStrike" cap="none" normalizeH="0" baseline="0">
                          <a:ln>
                            <a:noFill/>
                          </a:ln>
                          <a:solidFill>
                            <a:schemeClr val="tx1"/>
                          </a:solidFill>
                          <a:effectLst/>
                          <a:latin typeface="方正粗圆简体" pitchFamily="2" charset="-122"/>
                          <a:ea typeface="方正粗圆简体" pitchFamily="2" charset="-122"/>
                        </a:rPr>
                        <a:t>罪名</a:t>
                      </a: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39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000" b="0" i="0" u="none" strike="noStrike" cap="none" normalizeH="0" baseline="0">
                          <a:ln>
                            <a:noFill/>
                          </a:ln>
                          <a:solidFill>
                            <a:schemeClr val="tx1"/>
                          </a:solidFill>
                          <a:effectLst/>
                          <a:latin typeface="方正粗圆简体" pitchFamily="2" charset="-122"/>
                          <a:ea typeface="方正粗圆简体" pitchFamily="2" charset="-122"/>
                        </a:rPr>
                        <a:t>罪名</a:t>
                      </a: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8</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39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zh-CN" altLang="en-US" sz="3000" b="0" i="0" u="none" strike="noStrike" cap="none" normalizeH="0" baseline="0">
                          <a:ln>
                            <a:noFill/>
                          </a:ln>
                          <a:solidFill>
                            <a:schemeClr val="tx1"/>
                          </a:solidFill>
                          <a:effectLst/>
                          <a:latin typeface="方正粗圆简体" pitchFamily="2" charset="-122"/>
                          <a:ea typeface="方正粗圆简体" pitchFamily="2" charset="-122"/>
                        </a:rPr>
                        <a:t>罪名</a:t>
                      </a: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F</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rPr>
                        <a:t>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839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Arial"/>
                          <a:ea typeface="方正粗圆简体" pitchFamily="2" charset="-122"/>
                        </a:rPr>
                        <a:t>……</a:t>
                      </a:r>
                      <a:endPar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a:ln>
                            <a:noFill/>
                          </a:ln>
                          <a:solidFill>
                            <a:schemeClr val="tx1"/>
                          </a:solidFill>
                          <a:effectLst/>
                          <a:latin typeface="Arial"/>
                          <a:ea typeface="方正粗圆简体" pitchFamily="2" charset="-122"/>
                        </a:rPr>
                        <a:t>……</a:t>
                      </a:r>
                      <a:endParaRPr kumimoji="0" lang="en-US" altLang="zh-CN" sz="3000" b="0" i="0" u="none" strike="noStrike" cap="none" normalizeH="0" baseline="0">
                        <a:ln>
                          <a:noFill/>
                        </a:ln>
                        <a:solidFill>
                          <a:schemeClr val="tx1"/>
                        </a:solidFill>
                        <a:effectLst/>
                        <a:latin typeface="方正粗圆简体" pitchFamily="2" charset="-122"/>
                        <a:ea typeface="方正粗圆简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altLang="zh-CN" sz="3000" b="0" i="0" u="none" strike="noStrike" cap="none" normalizeH="0" baseline="0" dirty="0">
                          <a:ln>
                            <a:noFill/>
                          </a:ln>
                          <a:solidFill>
                            <a:schemeClr val="tx1"/>
                          </a:solidFill>
                          <a:effectLst/>
                          <a:latin typeface="Arial"/>
                          <a:ea typeface="方正粗圆简体" pitchFamily="2" charset="-122"/>
                        </a:rPr>
                        <a:t>……</a:t>
                      </a:r>
                      <a:endParaRPr kumimoji="0" lang="en-US" altLang="zh-CN" sz="3000" b="0" i="0" u="none" strike="noStrike" cap="none" normalizeH="0" baseline="0" dirty="0">
                        <a:ln>
                          <a:noFill/>
                        </a:ln>
                        <a:solidFill>
                          <a:schemeClr val="tx1"/>
                        </a:solidFill>
                        <a:effectLst/>
                        <a:latin typeface="方正粗圆简体" pitchFamily="2" charset="-122"/>
                        <a:ea typeface="方正粗圆简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69337761"/>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371600" y="876300"/>
            <a:ext cx="7378700" cy="876300"/>
          </a:xfrm>
        </p:spPr>
        <p:txBody>
          <a:bodyPr>
            <a:normAutofit fontScale="90000"/>
          </a:bodyPr>
          <a:lstStyle/>
          <a:p>
            <a:pPr eaLnBrk="1" hangingPunct="1"/>
            <a:r>
              <a:rPr lang="zh-CN" altLang="en-US" sz="6600">
                <a:ea typeface="华文行楷" pitchFamily="2" charset="-122"/>
              </a:rPr>
              <a:t>观察离散情况</a:t>
            </a:r>
          </a:p>
        </p:txBody>
      </p:sp>
      <p:sp>
        <p:nvSpPr>
          <p:cNvPr id="57347" name="Rectangle 3"/>
          <p:cNvSpPr>
            <a:spLocks noGrp="1" noChangeArrowheads="1" noTextEdit="1"/>
          </p:cNvSpPr>
          <p:nvPr>
            <p:ph type="chart" idx="1"/>
          </p:nvPr>
        </p:nvSpPr>
        <p:spPr/>
      </p:sp>
      <p:sp>
        <p:nvSpPr>
          <p:cNvPr id="57348" name="Rectangle 4"/>
          <p:cNvSpPr>
            <a:spLocks noChangeArrowheads="1"/>
          </p:cNvSpPr>
          <p:nvPr/>
        </p:nvSpPr>
        <p:spPr bwMode="auto">
          <a:xfrm>
            <a:off x="2024063" y="1643063"/>
            <a:ext cx="9144000" cy="0"/>
          </a:xfrm>
          <a:prstGeom prst="rect">
            <a:avLst/>
          </a:prstGeom>
          <a:noFill/>
          <a:ln w="9525">
            <a:noFill/>
            <a:miter lim="800000"/>
            <a:headEnd/>
            <a:tailEnd/>
          </a:ln>
        </p:spPr>
        <p:txBody>
          <a:bodyPr>
            <a:spAutoFit/>
          </a:bodyPr>
          <a:lstStyle/>
          <a:p>
            <a:endParaRPr lang="zh-CN" altLang="en-US"/>
          </a:p>
        </p:txBody>
      </p:sp>
      <p:pic>
        <p:nvPicPr>
          <p:cNvPr id="77829" name="Picture 5"/>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Tree>
    <p:extLst>
      <p:ext uri="{BB962C8B-B14F-4D97-AF65-F5344CB8AC3E}">
        <p14:creationId xmlns:p14="http://schemas.microsoft.com/office/powerpoint/2010/main" val="1241278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7829"/>
                                        </p:tgtEl>
                                        <p:attrNameLst>
                                          <p:attrName>style.visibility</p:attrName>
                                        </p:attrNameLst>
                                      </p:cBhvr>
                                      <p:to>
                                        <p:strVal val="visible"/>
                                      </p:to>
                                    </p:set>
                                    <p:animEffect transition="in" filter="box(out)">
                                      <p:cBhvr>
                                        <p:cTn id="7" dur="500"/>
                                        <p:tgtEl>
                                          <p:spTgt spid="77829"/>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043608" y="260648"/>
            <a:ext cx="7086600" cy="648072"/>
          </a:xfrm>
        </p:spPr>
        <p:txBody>
          <a:bodyPr/>
          <a:lstStyle/>
          <a:p>
            <a:pPr algn="ctr" eaLnBrk="1" hangingPunct="1"/>
            <a:r>
              <a:rPr lang="zh-CN" altLang="en-US" sz="3600" dirty="0">
                <a:latin typeface="黑体"/>
                <a:ea typeface="黑体"/>
                <a:cs typeface="黑体"/>
              </a:rPr>
              <a:t>意义</a:t>
            </a:r>
          </a:p>
        </p:txBody>
      </p:sp>
      <p:sp>
        <p:nvSpPr>
          <p:cNvPr id="58371" name="Rectangle 3"/>
          <p:cNvSpPr>
            <a:spLocks noGrp="1" noChangeArrowheads="1"/>
          </p:cNvSpPr>
          <p:nvPr>
            <p:ph type="body" idx="1"/>
          </p:nvPr>
        </p:nvSpPr>
        <p:spPr>
          <a:xfrm>
            <a:off x="395536" y="1124744"/>
            <a:ext cx="8458200" cy="5400600"/>
          </a:xfrm>
        </p:spPr>
        <p:txBody>
          <a:bodyPr/>
          <a:lstStyle/>
          <a:p>
            <a:r>
              <a:rPr lang="zh-CN" altLang="en-US" sz="2800" b="1" dirty="0">
                <a:latin typeface="宋体"/>
                <a:ea typeface="宋体"/>
                <a:cs typeface="宋体"/>
              </a:rPr>
              <a:t>罪量应当是刑量的理由，如果理由的理由缺乏透明性、可操作性、规格性，何来配刑过程的理性化程度？</a:t>
            </a:r>
            <a:r>
              <a:rPr lang="en-US" altLang="zh-CN" sz="2800" b="1" dirty="0">
                <a:latin typeface="宋体"/>
                <a:ea typeface="宋体"/>
                <a:cs typeface="宋体"/>
              </a:rPr>
              <a:t>——</a:t>
            </a:r>
            <a:r>
              <a:rPr lang="zh-CN" altLang="en-US" sz="2800" b="1" dirty="0">
                <a:latin typeface="宋体"/>
                <a:ea typeface="宋体"/>
                <a:cs typeface="宋体"/>
              </a:rPr>
              <a:t>对配刑活动主体性的限制</a:t>
            </a:r>
            <a:endParaRPr lang="en-US" altLang="zh-CN" sz="2800" b="1" dirty="0">
              <a:latin typeface="宋体"/>
              <a:ea typeface="宋体"/>
              <a:cs typeface="宋体"/>
            </a:endParaRPr>
          </a:p>
          <a:p>
            <a:r>
              <a:rPr lang="zh-CN" altLang="en-US" sz="2800" b="1" dirty="0">
                <a:latin typeface="宋体"/>
                <a:ea typeface="宋体"/>
                <a:cs typeface="宋体"/>
              </a:rPr>
              <a:t>可以直观到犯罪的“刻度”使犯罪之间获得可比性</a:t>
            </a:r>
          </a:p>
          <a:p>
            <a:r>
              <a:rPr lang="zh-CN" altLang="en-US" sz="2800" b="1" dirty="0">
                <a:latin typeface="宋体"/>
                <a:ea typeface="宋体"/>
                <a:cs typeface="宋体"/>
              </a:rPr>
              <a:t>“报价单”实现了犯罪与国家之间交易的明码实价 </a:t>
            </a:r>
            <a:endParaRPr lang="en-US" altLang="zh-CN" sz="2800" b="1" dirty="0">
              <a:latin typeface="宋体"/>
              <a:ea typeface="宋体"/>
              <a:cs typeface="宋体"/>
            </a:endParaRPr>
          </a:p>
          <a:p>
            <a:r>
              <a:rPr lang="zh-CN" altLang="en-US" sz="2800" b="1" dirty="0">
                <a:latin typeface="宋体"/>
                <a:ea typeface="宋体"/>
                <a:cs typeface="宋体"/>
              </a:rPr>
              <a:t>罪刑关系的量化使得罪刑之间到底在多大程度上相关的实证检验成为可能</a:t>
            </a:r>
            <a:endParaRPr lang="en-US" altLang="zh-CN" sz="2800" b="1" dirty="0">
              <a:latin typeface="宋体"/>
              <a:ea typeface="宋体"/>
              <a:cs typeface="宋体"/>
            </a:endParaRPr>
          </a:p>
          <a:p>
            <a:r>
              <a:rPr lang="en-US" altLang="zh-CN" sz="2800" b="1" dirty="0">
                <a:latin typeface="宋体"/>
                <a:ea typeface="宋体"/>
                <a:cs typeface="宋体"/>
              </a:rPr>
              <a:t>R2</a:t>
            </a:r>
            <a:r>
              <a:rPr lang="zh-CN" altLang="en-US" sz="2800" b="1" dirty="0">
                <a:latin typeface="宋体"/>
                <a:ea typeface="宋体"/>
                <a:cs typeface="宋体"/>
              </a:rPr>
              <a:t>＝ </a:t>
            </a:r>
            <a:r>
              <a:rPr lang="en-US" altLang="zh-CN" sz="2800" b="1" dirty="0">
                <a:latin typeface="宋体"/>
                <a:ea typeface="宋体"/>
                <a:cs typeface="宋体"/>
              </a:rPr>
              <a:t>0.28</a:t>
            </a:r>
            <a:r>
              <a:rPr lang="zh-CN" altLang="en-US" sz="2800" b="1" dirty="0">
                <a:latin typeface="宋体"/>
                <a:ea typeface="宋体"/>
                <a:cs typeface="宋体"/>
              </a:rPr>
              <a:t>：罪量大小对刑量轻重只有大约</a:t>
            </a:r>
            <a:r>
              <a:rPr lang="en-US" altLang="zh-CN" sz="2800" b="1" dirty="0">
                <a:latin typeface="宋体"/>
                <a:ea typeface="宋体"/>
                <a:cs typeface="宋体"/>
              </a:rPr>
              <a:t>28</a:t>
            </a:r>
            <a:r>
              <a:rPr lang="zh-CN" altLang="en-US" sz="2800" b="1" dirty="0">
                <a:latin typeface="宋体"/>
                <a:ea typeface="宋体"/>
                <a:cs typeface="宋体"/>
              </a:rPr>
              <a:t>％的解释力。</a:t>
            </a:r>
            <a:r>
              <a:rPr lang="en-US" altLang="zh-CN" sz="2800" b="1" dirty="0">
                <a:latin typeface="宋体"/>
                <a:ea typeface="宋体"/>
                <a:cs typeface="宋体"/>
              </a:rPr>
              <a:t>——</a:t>
            </a:r>
            <a:r>
              <a:rPr lang="zh-CN" altLang="en-US" sz="2800" b="1" dirty="0">
                <a:latin typeface="宋体"/>
                <a:ea typeface="宋体"/>
                <a:cs typeface="宋体"/>
              </a:rPr>
              <a:t>罪刑均衡只是部分地贯彻。</a:t>
            </a:r>
          </a:p>
          <a:p>
            <a:r>
              <a:rPr lang="zh-CN" altLang="en-US" sz="2800" b="1" dirty="0">
                <a:latin typeface="宋体"/>
                <a:ea typeface="宋体"/>
                <a:cs typeface="宋体"/>
              </a:rPr>
              <a:t>依法微调</a:t>
            </a:r>
          </a:p>
          <a:p>
            <a:endParaRPr lang="zh-CN" altLang="en-US" sz="1800" dirty="0">
              <a:latin typeface="华文新魏" pitchFamily="2" charset="-122"/>
              <a:ea typeface="华文新魏" pitchFamily="2" charset="-122"/>
            </a:endParaRPr>
          </a:p>
          <a:p>
            <a:endParaRPr lang="en-US" altLang="zh-CN" sz="2800" b="1" dirty="0">
              <a:latin typeface="宋体"/>
              <a:ea typeface="宋体"/>
              <a:cs typeface="宋体"/>
            </a:endParaRPr>
          </a:p>
          <a:p>
            <a:endParaRPr lang="zh-CN" altLang="en-US" sz="2800" b="1" dirty="0">
              <a:latin typeface="宋体"/>
              <a:ea typeface="宋体"/>
              <a:cs typeface="宋体"/>
            </a:endParaRPr>
          </a:p>
          <a:p>
            <a:pPr marL="0" indent="0" eaLnBrk="1" hangingPunct="1">
              <a:lnSpc>
                <a:spcPct val="90000"/>
              </a:lnSpc>
              <a:buNone/>
            </a:pPr>
            <a:endParaRPr lang="zh-CN" altLang="en-US" sz="4400" b="1" dirty="0">
              <a:latin typeface="黑体" pitchFamily="49" charset="-122"/>
              <a:ea typeface="黑体" pitchFamily="49" charset="-122"/>
            </a:endParaRPr>
          </a:p>
        </p:txBody>
      </p:sp>
    </p:spTree>
    <p:extLst>
      <p:ext uri="{BB962C8B-B14F-4D97-AF65-F5344CB8AC3E}">
        <p14:creationId xmlns:p14="http://schemas.microsoft.com/office/powerpoint/2010/main" val="2272999176"/>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endParaRPr lang="zh-CN" altLang="zh-CN"/>
          </a:p>
        </p:txBody>
      </p:sp>
      <p:sp>
        <p:nvSpPr>
          <p:cNvPr id="6148" name="Rectangle 3"/>
          <p:cNvSpPr>
            <a:spLocks noGrp="1" noChangeArrowheads="1" noTextEdit="1"/>
          </p:cNvSpPr>
          <p:nvPr>
            <p:ph type="chart" idx="1"/>
          </p:nvPr>
        </p:nvSpPr>
        <p:spPr/>
      </p:sp>
      <p:sp>
        <p:nvSpPr>
          <p:cNvPr id="6149" name="Rectangle 5"/>
          <p:cNvSpPr>
            <a:spLocks noChangeArrowheads="1"/>
          </p:cNvSpPr>
          <p:nvPr/>
        </p:nvSpPr>
        <p:spPr bwMode="auto">
          <a:xfrm>
            <a:off x="-195263" y="952500"/>
            <a:ext cx="9144001" cy="0"/>
          </a:xfrm>
          <a:prstGeom prst="rect">
            <a:avLst/>
          </a:prstGeom>
          <a:noFill/>
          <a:ln w="9525">
            <a:noFill/>
            <a:miter lim="800000"/>
            <a:headEnd/>
            <a:tailEnd/>
          </a:ln>
        </p:spPr>
        <p:txBody>
          <a:bodyPr>
            <a:spAutoFit/>
          </a:bodyPr>
          <a:lstStyle/>
          <a:p>
            <a:endParaRPr lang="zh-CN" altLang="en-US"/>
          </a:p>
        </p:txBody>
      </p:sp>
      <p:graphicFrame>
        <p:nvGraphicFramePr>
          <p:cNvPr id="252928" name="Object 0"/>
          <p:cNvGraphicFramePr>
            <a:graphicFrameLocks/>
          </p:cNvGraphicFramePr>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22582" r:id="rId4" imgW="11770849" imgH="4922545" progId="">
                  <p:embed/>
                </p:oleObj>
              </mc:Choice>
              <mc:Fallback>
                <p:oleObj r:id="rId4" imgW="11770849" imgH="4922545" progId="">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207509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52928"/>
                                        </p:tgtEl>
                                        <p:attrNameLst>
                                          <p:attrName>style.visibility</p:attrName>
                                        </p:attrNameLst>
                                      </p:cBhvr>
                                      <p:to>
                                        <p:strVal val="visible"/>
                                      </p:to>
                                    </p:set>
                                    <p:animEffect transition="in" filter="box(out)">
                                      <p:cBhvr>
                                        <p:cTn id="7" dur="500"/>
                                        <p:tgtEl>
                                          <p:spTgt spid="25292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371600" y="876300"/>
            <a:ext cx="7378700" cy="876300"/>
          </a:xfrm>
        </p:spPr>
        <p:txBody>
          <a:bodyPr>
            <a:normAutofit fontScale="90000"/>
          </a:bodyPr>
          <a:lstStyle/>
          <a:p>
            <a:pPr eaLnBrk="1" hangingPunct="1"/>
            <a:r>
              <a:rPr lang="zh-CN" altLang="en-US" sz="6600">
                <a:ea typeface="华文琥珀" pitchFamily="2" charset="-122"/>
              </a:rPr>
              <a:t>轻重均衡与同案同判</a:t>
            </a:r>
          </a:p>
        </p:txBody>
      </p:sp>
      <p:pic>
        <p:nvPicPr>
          <p:cNvPr id="216067" name="Picture 3"/>
          <p:cNvPicPr>
            <a:picLocks noGrp="1" noChangeAspect="1" noChangeArrowheads="1"/>
          </p:cNvPicPr>
          <p:nvPr>
            <p:ph type="chart" idx="1"/>
          </p:nvPr>
        </p:nvPicPr>
        <p:blipFill>
          <a:blip r:embed="rId3" cstate="print"/>
          <a:srcRect/>
          <a:stretch>
            <a:fillRect/>
          </a:stretch>
        </p:blipFill>
        <p:spPr>
          <a:xfrm>
            <a:off x="0" y="0"/>
            <a:ext cx="9144000" cy="6858000"/>
          </a:xfrm>
          <a:noFill/>
        </p:spPr>
      </p:pic>
    </p:spTree>
    <p:extLst>
      <p:ext uri="{BB962C8B-B14F-4D97-AF65-F5344CB8AC3E}">
        <p14:creationId xmlns:p14="http://schemas.microsoft.com/office/powerpoint/2010/main" val="15861615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16067"/>
                                        </p:tgtEl>
                                        <p:attrNameLst>
                                          <p:attrName>style.visibility</p:attrName>
                                        </p:attrNameLst>
                                      </p:cBhvr>
                                      <p:to>
                                        <p:strVal val="visible"/>
                                      </p:to>
                                    </p:set>
                                    <p:animEffect transition="in" filter="box(out)">
                                      <p:cBhvr>
                                        <p:cTn id="7" dur="500"/>
                                        <p:tgtEl>
                                          <p:spTgt spid="21606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867" name="Picture 3"/>
          <p:cNvPicPr>
            <a:picLocks noGrp="1" noChangeAspect="1" noChangeArrowheads="1"/>
          </p:cNvPicPr>
          <p:nvPr>
            <p:ph type="chart" idx="1"/>
          </p:nvPr>
        </p:nvPicPr>
        <p:blipFill>
          <a:blip r:embed="rId3" cstate="print"/>
          <a:srcRect/>
          <a:stretch>
            <a:fillRect/>
          </a:stretch>
        </p:blipFill>
        <p:spPr>
          <a:xfrm>
            <a:off x="179388" y="908720"/>
            <a:ext cx="8785225" cy="5760640"/>
          </a:xfrm>
          <a:noFill/>
          <a:ln/>
        </p:spPr>
      </p:pic>
      <p:sp>
        <p:nvSpPr>
          <p:cNvPr id="292868" name="Rectangle 4"/>
          <p:cNvSpPr>
            <a:spLocks noGrp="1" noChangeArrowheads="1"/>
          </p:cNvSpPr>
          <p:nvPr>
            <p:ph type="title"/>
          </p:nvPr>
        </p:nvSpPr>
        <p:spPr>
          <a:xfrm>
            <a:off x="395536" y="260648"/>
            <a:ext cx="8509000" cy="700087"/>
          </a:xfrm>
        </p:spPr>
        <p:txBody>
          <a:bodyPr/>
          <a:lstStyle/>
          <a:p>
            <a:pPr algn="ctr"/>
            <a:r>
              <a:rPr lang="zh-CN" altLang="en-US" sz="4400" b="1" dirty="0"/>
              <a:t>轻重均衡与同案同判</a:t>
            </a:r>
          </a:p>
        </p:txBody>
      </p:sp>
    </p:spTree>
    <p:extLst>
      <p:ext uri="{BB962C8B-B14F-4D97-AF65-F5344CB8AC3E}">
        <p14:creationId xmlns:p14="http://schemas.microsoft.com/office/powerpoint/2010/main" val="184705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92867"/>
                                        </p:tgtEl>
                                        <p:attrNameLst>
                                          <p:attrName>style.visibility</p:attrName>
                                        </p:attrNameLst>
                                      </p:cBhvr>
                                      <p:to>
                                        <p:strVal val="visible"/>
                                      </p:to>
                                    </p:set>
                                    <p:animEffect transition="in" filter="box(out)">
                                      <p:cBhvr>
                                        <p:cTn id="7" dur="500"/>
                                        <p:tgtEl>
                                          <p:spTgt spid="29286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5067459"/>
            <a:ext cx="9144000" cy="1790543"/>
          </a:xfrm>
          <a:prstGeom prst="rect">
            <a:avLst/>
          </a:prstGeom>
          <a:solidFill>
            <a:srgbClr val="855C0C">
              <a:alpha val="70000"/>
            </a:srgbClr>
          </a:solidFill>
          <a:ln>
            <a:solidFill>
              <a:srgbClr val="855C0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295636" y="1553189"/>
            <a:ext cx="6984775" cy="1323439"/>
          </a:xfrm>
          <a:prstGeom prst="rect">
            <a:avLst/>
          </a:prstGeom>
        </p:spPr>
        <p:txBody>
          <a:bodyPr wrap="square">
            <a:spAutoFit/>
          </a:bodyPr>
          <a:lstStyle/>
          <a:p>
            <a:pPr>
              <a:lnSpc>
                <a:spcPct val="200000"/>
              </a:lnSpc>
            </a:pPr>
            <a:r>
              <a:rPr lang="zh-CN" altLang="en-US" sz="4000" b="0" dirty="0">
                <a:latin typeface="Lantinghei SC Demibold" charset="-122"/>
                <a:ea typeface="Lantinghei SC Demibold" charset="-122"/>
                <a:cs typeface="Lantinghei SC Demibold" charset="-122"/>
              </a:rPr>
              <a:t>基于法官</a:t>
            </a:r>
            <a:r>
              <a:rPr lang="zh-CN" altLang="en-US" sz="4000" b="0">
                <a:latin typeface="Lantinghei SC Demibold" charset="-122"/>
                <a:ea typeface="Lantinghei SC Demibold" charset="-122"/>
                <a:cs typeface="Lantinghei SC Demibold" charset="-122"/>
              </a:rPr>
              <a:t>集体经验的量刑</a:t>
            </a:r>
            <a:r>
              <a:rPr lang="zh-CN" altLang="en-US" sz="4000" b="0" dirty="0">
                <a:latin typeface="Lantinghei SC Demibold" charset="-122"/>
                <a:ea typeface="Lantinghei SC Demibold" charset="-122"/>
                <a:cs typeface="Lantinghei SC Demibold" charset="-122"/>
              </a:rPr>
              <a:t>预测</a:t>
            </a:r>
            <a:endParaRPr lang="en-US" altLang="zh-CN" sz="4000" b="1" dirty="0">
              <a:latin typeface="Lantinghei SC Demibold" charset="-122"/>
              <a:ea typeface="Lantinghei SC Demibold" charset="-122"/>
              <a:cs typeface="Lantinghei SC Demibold" charset="-122"/>
            </a:endParaRPr>
          </a:p>
        </p:txBody>
      </p:sp>
      <p:sp>
        <p:nvSpPr>
          <p:cNvPr id="8" name="矩形 7"/>
          <p:cNvSpPr/>
          <p:nvPr/>
        </p:nvSpPr>
        <p:spPr>
          <a:xfrm>
            <a:off x="4788024" y="5445224"/>
            <a:ext cx="4196982" cy="1097736"/>
          </a:xfrm>
          <a:prstGeom prst="rect">
            <a:avLst/>
          </a:prstGeom>
        </p:spPr>
        <p:txBody>
          <a:bodyPr wrap="none">
            <a:spAutoFit/>
          </a:bodyPr>
          <a:lstStyle/>
          <a:p>
            <a:pPr>
              <a:lnSpc>
                <a:spcPct val="150000"/>
              </a:lnSpc>
            </a:pPr>
            <a:r>
              <a:rPr lang="zh-CN" altLang="en-US" sz="1600" dirty="0">
                <a:solidFill>
                  <a:schemeClr val="bg1">
                    <a:lumMod val="50000"/>
                  </a:schemeClr>
                </a:solidFill>
                <a:latin typeface="+mn-ea"/>
              </a:rPr>
              <a:t> </a:t>
            </a:r>
            <a:r>
              <a:rPr lang="zh-CN" altLang="en-US" sz="2800" dirty="0">
                <a:solidFill>
                  <a:srgbClr val="302C24"/>
                </a:solidFill>
                <a:latin typeface="楷体"/>
                <a:ea typeface="楷体"/>
                <a:cs typeface="楷体"/>
              </a:rPr>
              <a:t>北京大学法学院  白建军</a:t>
            </a:r>
            <a:endParaRPr lang="en-US" altLang="zh-CN" sz="2800" dirty="0">
              <a:solidFill>
                <a:srgbClr val="302C24"/>
              </a:solidFill>
              <a:latin typeface="楷体"/>
              <a:ea typeface="楷体"/>
              <a:cs typeface="楷体"/>
            </a:endParaRPr>
          </a:p>
          <a:p>
            <a:pPr>
              <a:lnSpc>
                <a:spcPct val="120000"/>
              </a:lnSpc>
            </a:pPr>
            <a:endParaRPr lang="zh-CN" altLang="en-US" sz="2000" b="0" dirty="0">
              <a:solidFill>
                <a:schemeClr val="bg1">
                  <a:lumMod val="50000"/>
                </a:schemeClr>
              </a:solidFill>
              <a:latin typeface="+mn-ea"/>
            </a:endParaRPr>
          </a:p>
        </p:txBody>
      </p:sp>
      <p:sp>
        <p:nvSpPr>
          <p:cNvPr id="9" name="矩形 8"/>
          <p:cNvSpPr/>
          <p:nvPr/>
        </p:nvSpPr>
        <p:spPr>
          <a:xfrm>
            <a:off x="1076160" y="0"/>
            <a:ext cx="1007269" cy="685800"/>
          </a:xfrm>
          <a:prstGeom prst="rect">
            <a:avLst/>
          </a:prstGeom>
          <a:solidFill>
            <a:srgbClr val="855C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0" y="685800"/>
            <a:ext cx="9144000" cy="0"/>
          </a:xfrm>
          <a:prstGeom prst="line">
            <a:avLst/>
          </a:prstGeom>
          <a:ln>
            <a:solidFill>
              <a:schemeClr val="bg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4095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88640"/>
            <a:ext cx="7170737" cy="492125"/>
          </a:xfrm>
        </p:spPr>
        <p:txBody>
          <a:bodyPr/>
          <a:lstStyle/>
          <a:p>
            <a:pPr algn="ctr"/>
            <a:r>
              <a:rPr kumimoji="1" lang="zh-CN" altLang="en-US" sz="3200" dirty="0">
                <a:latin typeface="Heiti SC Light" charset="-122"/>
                <a:ea typeface="Heiti SC Light" charset="-122"/>
                <a:cs typeface="Heiti SC Light" charset="-122"/>
              </a:rPr>
              <a:t>量刑依据的一个真空地带</a:t>
            </a:r>
          </a:p>
        </p:txBody>
      </p:sp>
      <p:sp>
        <p:nvSpPr>
          <p:cNvPr id="3" name="内容占位符 2"/>
          <p:cNvSpPr>
            <a:spLocks noGrp="1"/>
          </p:cNvSpPr>
          <p:nvPr>
            <p:ph idx="1"/>
          </p:nvPr>
        </p:nvSpPr>
        <p:spPr>
          <a:xfrm>
            <a:off x="457200" y="824782"/>
            <a:ext cx="8229600" cy="5628554"/>
          </a:xfrm>
        </p:spPr>
        <p:txBody>
          <a:bodyPr/>
          <a:lstStyle/>
          <a:p>
            <a:r>
              <a:rPr lang="zh-CN" altLang="en-US" dirty="0"/>
              <a:t>法律和</a:t>
            </a:r>
            <a:r>
              <a:rPr lang="en-US" altLang="zh-CN" dirty="0"/>
              <a:t>《</a:t>
            </a:r>
            <a:r>
              <a:rPr lang="zh-CN" altLang="en-US" dirty="0"/>
              <a:t>指导意见</a:t>
            </a:r>
            <a:r>
              <a:rPr lang="en-US" altLang="zh-CN" dirty="0"/>
              <a:t>》</a:t>
            </a:r>
            <a:r>
              <a:rPr lang="zh-CN" altLang="en-US" dirty="0"/>
              <a:t>不可能对每种情节组合如何量刑作出具体规定。以交通肇事罪为例：</a:t>
            </a:r>
          </a:p>
          <a:p>
            <a:r>
              <a:rPr lang="zh-CN" altLang="en-US" dirty="0"/>
              <a:t>有：致死人数、重伤人数、负事故全部责任、主要责任还是同等责任、财产损失大小、行为人是否逃逸</a:t>
            </a:r>
            <a:r>
              <a:rPr lang="en-US" altLang="zh-CN" dirty="0"/>
              <a:t>……</a:t>
            </a:r>
            <a:endParaRPr lang="zh-CN" altLang="en-US" dirty="0"/>
          </a:p>
          <a:p>
            <a:r>
              <a:rPr lang="zh-CN" altLang="en-US" dirty="0"/>
              <a:t>便有：全部责任＋致死一人＋自首，</a:t>
            </a:r>
          </a:p>
          <a:p>
            <a:r>
              <a:rPr lang="zh-CN" altLang="en-US" dirty="0"/>
              <a:t>           主要责任＋重伤二人＋逃逸，</a:t>
            </a:r>
          </a:p>
          <a:p>
            <a:r>
              <a:rPr lang="zh-CN" altLang="en-US" dirty="0"/>
              <a:t>           同等责任＋重伤一人＋无证驾驶＋严重超</a:t>
            </a:r>
            <a:r>
              <a:rPr lang="en-US" altLang="zh-CN" dirty="0"/>
              <a:t>…………</a:t>
            </a:r>
          </a:p>
          <a:p>
            <a:r>
              <a:rPr lang="zh-CN" altLang="en-US" dirty="0"/>
              <a:t>理论上有二十多万种可能的排列组合。１４万样本中，实际发生的情节组合有八千多种</a:t>
            </a:r>
          </a:p>
          <a:p>
            <a:r>
              <a:rPr kumimoji="1" lang="zh-CN" altLang="en-US" dirty="0"/>
              <a:t>法官怎么办？</a:t>
            </a:r>
            <a:r>
              <a:rPr kumimoji="1" lang="en-US" altLang="zh-CN" dirty="0"/>
              <a:t>——</a:t>
            </a:r>
            <a:r>
              <a:rPr kumimoji="1" lang="zh-CN" altLang="en-US" dirty="0"/>
              <a:t>打包处理。难免不确定性。</a:t>
            </a:r>
            <a:endParaRPr kumimoji="1" lang="en-US" altLang="zh-CN" dirty="0"/>
          </a:p>
          <a:p>
            <a:r>
              <a:rPr kumimoji="1" lang="zh-CN" altLang="en-US" dirty="0"/>
              <a:t>注意：用计算机找到“最相似案例”并不可靠。</a:t>
            </a:r>
            <a:r>
              <a:rPr lang="zh-CN" altLang="en-US" dirty="0"/>
              <a:t>“别人是怎么判的” 和“依法应该怎么判” 毕竟是两回事。</a:t>
            </a:r>
          </a:p>
          <a:p>
            <a:r>
              <a:rPr kumimoji="1" lang="zh-CN" altLang="en-US" dirty="0"/>
              <a:t>小样本危险：万一，检索到的判决是暗箱操作的结果呢？</a:t>
            </a:r>
          </a:p>
          <a:p>
            <a:endParaRPr kumimoji="1" lang="zh-CN" altLang="en-US" dirty="0"/>
          </a:p>
          <a:p>
            <a:endParaRPr lang="zh-CN" altLang="en-US" dirty="0"/>
          </a:p>
          <a:p>
            <a:endParaRPr kumimoji="1" lang="zh-CN" altLang="en-US" dirty="0"/>
          </a:p>
        </p:txBody>
      </p:sp>
    </p:spTree>
    <p:extLst>
      <p:ext uri="{BB962C8B-B14F-4D97-AF65-F5344CB8AC3E}">
        <p14:creationId xmlns:p14="http://schemas.microsoft.com/office/powerpoint/2010/main" val="2107336152"/>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a:latin typeface="Lantinghei SC Demibold" charset="-122"/>
                <a:ea typeface="Lantinghei SC Demibold" charset="-122"/>
                <a:cs typeface="Lantinghei SC Demibold" charset="-122"/>
              </a:rPr>
              <a:t>样本与假设检验逻辑</a:t>
            </a:r>
          </a:p>
        </p:txBody>
      </p:sp>
      <p:sp>
        <p:nvSpPr>
          <p:cNvPr id="3" name="内容占位符 2"/>
          <p:cNvSpPr>
            <a:spLocks noGrp="1"/>
          </p:cNvSpPr>
          <p:nvPr>
            <p:ph idx="1"/>
          </p:nvPr>
        </p:nvSpPr>
        <p:spPr>
          <a:xfrm>
            <a:off x="457200" y="980728"/>
            <a:ext cx="8229600" cy="5616624"/>
          </a:xfrm>
        </p:spPr>
        <p:txBody>
          <a:bodyPr/>
          <a:lstStyle/>
          <a:p>
            <a:r>
              <a:rPr kumimoji="1" lang="zh-CN" altLang="en-US" sz="2800" dirty="0">
                <a:latin typeface="Lantinghei SC Demibold" charset="-122"/>
                <a:ea typeface="Lantinghei SC Demibold" charset="-122"/>
                <a:cs typeface="Lantinghei SC Demibold" charset="-122"/>
              </a:rPr>
              <a:t>罪名样本：</a:t>
            </a:r>
            <a:r>
              <a:rPr kumimoji="1" lang="zh-CN" altLang="en-US" dirty="0"/>
              <a:t>交通肇事罪</a:t>
            </a:r>
            <a:r>
              <a:rPr kumimoji="1" lang="en-US" altLang="zh-CN" dirty="0"/>
              <a:t>——</a:t>
            </a:r>
            <a:r>
              <a:rPr kumimoji="1" lang="zh-CN" altLang="en-US" dirty="0"/>
              <a:t>不可能是唯一的多情节犯罪。</a:t>
            </a:r>
          </a:p>
          <a:p>
            <a:r>
              <a:rPr kumimoji="1" lang="zh-CN" altLang="en-US" sz="2800" dirty="0">
                <a:latin typeface="Lantinghei SC Demibold" charset="-122"/>
                <a:ea typeface="Lantinghei SC Demibold" charset="-122"/>
                <a:cs typeface="Lantinghei SC Demibold" charset="-122"/>
              </a:rPr>
              <a:t>案例样本：</a:t>
            </a:r>
            <a:r>
              <a:rPr kumimoji="1" lang="zh-CN" altLang="en-US" dirty="0"/>
              <a:t>裁判文书网的全部</a:t>
            </a:r>
            <a:r>
              <a:rPr kumimoji="1" lang="en-US" altLang="zh-CN" dirty="0"/>
              <a:t>14</a:t>
            </a:r>
            <a:r>
              <a:rPr kumimoji="1" lang="zh-CN" altLang="en-US" dirty="0"/>
              <a:t>万案例。</a:t>
            </a:r>
          </a:p>
          <a:p>
            <a:r>
              <a:rPr kumimoji="1" lang="zh-CN" altLang="en-US" sz="2800" dirty="0">
                <a:latin typeface="Lantinghei SC Demibold" charset="-122"/>
                <a:ea typeface="Lantinghei SC Demibold" charset="-122"/>
                <a:cs typeface="Lantinghei SC Demibold" charset="-122"/>
              </a:rPr>
              <a:t>理论假设：</a:t>
            </a:r>
            <a:r>
              <a:rPr lang="zh-CN" altLang="en-US" dirty="0"/>
              <a:t>交通肇事罪的法定量刑情节应该是其量刑结果的主要解释因素。</a:t>
            </a:r>
          </a:p>
          <a:p>
            <a:r>
              <a:rPr kumimoji="1" lang="zh-CN" altLang="en-US" sz="2800" dirty="0">
                <a:latin typeface="Lantinghei SC Demibold" charset="-122"/>
                <a:ea typeface="Lantinghei SC Demibold" charset="-122"/>
                <a:cs typeface="Lantinghei SC Demibold" charset="-122"/>
              </a:rPr>
              <a:t>检验逻辑：</a:t>
            </a:r>
            <a:r>
              <a:rPr kumimoji="1" lang="zh-CN" altLang="en-US" dirty="0"/>
              <a:t>并不否认酌定情节、非法律因素、舆论民意、法官个性等因素等影响。</a:t>
            </a:r>
            <a:r>
              <a:rPr kumimoji="1" lang="zh-CN" altLang="en-US" b="1" dirty="0">
                <a:latin typeface="Lantinghei SC Demibold" charset="-122"/>
                <a:ea typeface="Lantinghei SC Demibold" charset="-122"/>
                <a:cs typeface="Lantinghei SC Demibold" charset="-122"/>
              </a:rPr>
              <a:t>但是，</a:t>
            </a:r>
            <a:r>
              <a:rPr kumimoji="1" lang="zh-CN" altLang="en-US" dirty="0"/>
              <a:t>如果法定因素的影响力连统计显著性的基本要求都无法满足，谈何“以法律为依据”、“稳定预期”、“确定性”？</a:t>
            </a:r>
            <a:r>
              <a:rPr kumimoji="1" lang="en-US" altLang="zh-CN" b="1" dirty="0"/>
              <a:t>——</a:t>
            </a:r>
            <a:r>
              <a:rPr kumimoji="1" lang="zh-CN" altLang="en-US" b="1" dirty="0"/>
              <a:t>本文的“扣儿”</a:t>
            </a:r>
          </a:p>
          <a:p>
            <a:r>
              <a:rPr kumimoji="1" lang="zh-CN" altLang="en-US" sz="2800" dirty="0">
                <a:latin typeface="Lantinghei SC Demibold" charset="-122"/>
                <a:ea typeface="Lantinghei SC Demibold" charset="-122"/>
                <a:cs typeface="Lantinghei SC Demibold" charset="-122"/>
              </a:rPr>
              <a:t>因变量：</a:t>
            </a:r>
            <a:r>
              <a:rPr kumimoji="1" lang="zh-CN" altLang="en-US" dirty="0"/>
              <a:t>刑期。</a:t>
            </a:r>
          </a:p>
          <a:p>
            <a:r>
              <a:rPr kumimoji="1" lang="zh-CN" altLang="en-US" sz="2800" dirty="0">
                <a:latin typeface="Lantinghei SC Demibold" charset="-122"/>
                <a:ea typeface="Lantinghei SC Demibold" charset="-122"/>
                <a:cs typeface="Lantinghei SC Demibold" charset="-122"/>
              </a:rPr>
              <a:t>自变量：</a:t>
            </a:r>
            <a:r>
              <a:rPr lang="zh-CN" altLang="en-US" dirty="0"/>
              <a:t>死亡人数、重伤人数、事故责任、财产损失、酒驾、毒驾、无证驾驶、安全装置不全、无牌证驾驶、严重超载、肇事逃逸等法定情节。</a:t>
            </a:r>
          </a:p>
          <a:p>
            <a:endParaRPr kumimoji="1" lang="zh-CN" altLang="en-US" dirty="0"/>
          </a:p>
        </p:txBody>
      </p:sp>
    </p:spTree>
    <p:extLst>
      <p:ext uri="{BB962C8B-B14F-4D97-AF65-F5344CB8AC3E}">
        <p14:creationId xmlns:p14="http://schemas.microsoft.com/office/powerpoint/2010/main" val="3076248758"/>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260648"/>
            <a:ext cx="7170737" cy="492125"/>
          </a:xfrm>
        </p:spPr>
        <p:txBody>
          <a:bodyPr/>
          <a:lstStyle/>
          <a:p>
            <a:pPr algn="ctr"/>
            <a:r>
              <a:rPr kumimoji="1" lang="zh-CN" altLang="en-US" sz="3600" dirty="0">
                <a:latin typeface="Lantinghei SC Demibold" charset="-122"/>
                <a:ea typeface="Lantinghei SC Demibold" charset="-122"/>
                <a:cs typeface="Lantinghei SC Demibold" charset="-122"/>
              </a:rPr>
              <a:t>发现</a:t>
            </a:r>
          </a:p>
        </p:txBody>
      </p:sp>
      <p:sp>
        <p:nvSpPr>
          <p:cNvPr id="3" name="内容占位符 2"/>
          <p:cNvSpPr>
            <a:spLocks noGrp="1"/>
          </p:cNvSpPr>
          <p:nvPr>
            <p:ph idx="1"/>
          </p:nvPr>
        </p:nvSpPr>
        <p:spPr>
          <a:xfrm>
            <a:off x="457200" y="980728"/>
            <a:ext cx="8229600" cy="5328592"/>
          </a:xfrm>
        </p:spPr>
        <p:txBody>
          <a:bodyPr/>
          <a:lstStyle/>
          <a:p>
            <a:r>
              <a:rPr lang="zh-CN" altLang="en-US" b="1" dirty="0"/>
              <a:t>（一） </a:t>
            </a:r>
            <a:r>
              <a:rPr lang="en-US" altLang="zh-CN" b="1" dirty="0"/>
              <a:t>《</a:t>
            </a:r>
            <a:r>
              <a:rPr lang="zh-CN" altLang="en-US" b="1" dirty="0"/>
              <a:t>量刑指导意见</a:t>
            </a:r>
            <a:r>
              <a:rPr lang="en-US" altLang="zh-CN" b="1" dirty="0"/>
              <a:t>》</a:t>
            </a:r>
            <a:r>
              <a:rPr lang="zh-CN" altLang="en-US" b="1" dirty="0"/>
              <a:t>的实施效果显著</a:t>
            </a:r>
          </a:p>
          <a:p>
            <a:r>
              <a:rPr kumimoji="1" lang="en-US" altLang="zh-CN" sz="2200" dirty="0"/>
              <a:t>2000</a:t>
            </a:r>
            <a:r>
              <a:rPr kumimoji="1" lang="zh-CN" altLang="en-US" sz="2200" dirty="0"/>
              <a:t>年</a:t>
            </a:r>
            <a:r>
              <a:rPr kumimoji="1" lang="en-US" altLang="zh-CN" sz="2200" dirty="0"/>
              <a:t>——2016</a:t>
            </a:r>
            <a:r>
              <a:rPr kumimoji="1" lang="zh-CN" altLang="en-US" sz="2200" dirty="0"/>
              <a:t>年样本的</a:t>
            </a:r>
            <a:r>
              <a:rPr lang="zh-CN" altLang="en-US" sz="2200" dirty="0"/>
              <a:t>回归确定系数Ｒ</a:t>
            </a:r>
            <a:r>
              <a:rPr lang="zh-CN" altLang="en-US" sz="2200" baseline="30000" dirty="0"/>
              <a:t>２</a:t>
            </a:r>
            <a:r>
              <a:rPr lang="zh-CN" altLang="en-US" sz="2200" dirty="0"/>
              <a:t> 为</a:t>
            </a:r>
            <a:r>
              <a:rPr lang="en-US" altLang="zh-CN" sz="2200" dirty="0"/>
              <a:t>0.305</a:t>
            </a:r>
            <a:endParaRPr lang="zh-CN" altLang="en-US" sz="2200" dirty="0"/>
          </a:p>
          <a:p>
            <a:r>
              <a:rPr lang="zh-CN" altLang="en-US" sz="2200" dirty="0"/>
              <a:t>自</a:t>
            </a:r>
            <a:r>
              <a:rPr lang="en-US" altLang="zh-CN" sz="2200" dirty="0"/>
              <a:t>2014</a:t>
            </a:r>
            <a:r>
              <a:rPr lang="zh-CN" altLang="en-US" sz="2200" dirty="0"/>
              <a:t>年</a:t>
            </a:r>
            <a:r>
              <a:rPr lang="en-US" altLang="zh-CN" sz="2200" dirty="0"/>
              <a:t>1</a:t>
            </a:r>
            <a:r>
              <a:rPr lang="zh-CN" altLang="en-US" sz="2200" dirty="0"/>
              <a:t>月</a:t>
            </a:r>
            <a:r>
              <a:rPr lang="en-US" altLang="zh-CN" sz="2200" dirty="0"/>
              <a:t>1</a:t>
            </a:r>
            <a:r>
              <a:rPr lang="zh-CN" altLang="en-US" sz="2200" dirty="0"/>
              <a:t>日起实施</a:t>
            </a:r>
            <a:r>
              <a:rPr lang="en-US" altLang="zh-CN" sz="2200" dirty="0"/>
              <a:t>《</a:t>
            </a:r>
            <a:r>
              <a:rPr lang="zh-CN" altLang="en-US" sz="2200" dirty="0"/>
              <a:t>量刑指导意见</a:t>
            </a:r>
            <a:r>
              <a:rPr lang="en-US" altLang="zh-CN" sz="2200" dirty="0"/>
              <a:t>》</a:t>
            </a:r>
            <a:r>
              <a:rPr lang="zh-CN" altLang="en-US" sz="2200" dirty="0"/>
              <a:t>以来，</a:t>
            </a:r>
            <a:r>
              <a:rPr kumimoji="1" lang="zh-CN" altLang="en-US" sz="2200" dirty="0"/>
              <a:t>样本的</a:t>
            </a:r>
            <a:r>
              <a:rPr lang="zh-CN" altLang="en-US" sz="2200" dirty="0"/>
              <a:t>Ｒ</a:t>
            </a:r>
            <a:r>
              <a:rPr lang="zh-CN" altLang="en-US" sz="2200" baseline="30000" dirty="0"/>
              <a:t>２</a:t>
            </a:r>
            <a:r>
              <a:rPr lang="zh-CN" altLang="en-US" sz="2200" dirty="0"/>
              <a:t> 为</a:t>
            </a:r>
            <a:r>
              <a:rPr lang="en-US" altLang="zh-CN" sz="2200" dirty="0"/>
              <a:t>0.511</a:t>
            </a:r>
            <a:endParaRPr lang="zh-CN" altLang="en-US" sz="2200" dirty="0"/>
          </a:p>
          <a:p>
            <a:r>
              <a:rPr lang="zh-CN" altLang="en-US" b="1" dirty="0"/>
              <a:t>（二） 绝大多数法定情节对实际刑期的影响都满足统计显著性要求，但各个情节的作用有所不同</a:t>
            </a:r>
          </a:p>
          <a:p>
            <a:r>
              <a:rPr lang="zh-CN" altLang="en-US" sz="2200" dirty="0"/>
              <a:t>影响力大小由大到小依次为“是否逃逸”、“法定致死人数”、“法定重伤人数”、“被害过错”</a:t>
            </a:r>
            <a:r>
              <a:rPr lang="en-US" altLang="zh-CN" sz="2200" dirty="0"/>
              <a:t> </a:t>
            </a:r>
            <a:r>
              <a:rPr lang="zh-CN" altLang="en-US" sz="2200" dirty="0"/>
              <a:t>、“自首”、“醉驾”、“无证驾驶”、“涉案损失”、“累犯”、</a:t>
            </a:r>
            <a:r>
              <a:rPr lang="en-US" altLang="zh-CN" sz="2200" dirty="0"/>
              <a:t> </a:t>
            </a:r>
            <a:r>
              <a:rPr lang="zh-CN" altLang="en-US" sz="2200" dirty="0"/>
              <a:t>“超载”、“毒驾”、“驾驶报废车辆”、“驾驶无牌号车辆”、“驾驶与准驾车型不符车辆”。</a:t>
            </a:r>
          </a:p>
          <a:p>
            <a:r>
              <a:rPr lang="zh-CN" altLang="en-US" sz="2200" dirty="0"/>
              <a:t>例如：逃逸情节的标准化回归系数高达</a:t>
            </a:r>
            <a:r>
              <a:rPr lang="en-US" altLang="zh-CN" sz="2200" dirty="0"/>
              <a:t>0.627</a:t>
            </a:r>
            <a:r>
              <a:rPr lang="zh-CN" altLang="en-US" sz="2200" dirty="0"/>
              <a:t>，而醉驾的该系数仅为</a:t>
            </a:r>
            <a:r>
              <a:rPr lang="en-US" altLang="zh-CN" sz="2200" dirty="0"/>
              <a:t>0.064</a:t>
            </a:r>
            <a:r>
              <a:rPr lang="zh-CN" altLang="en-US" sz="2200" dirty="0"/>
              <a:t>。</a:t>
            </a:r>
          </a:p>
          <a:p>
            <a:r>
              <a:rPr lang="zh-CN" altLang="en-US" sz="2200" dirty="0"/>
              <a:t>前者是后者的</a:t>
            </a:r>
            <a:r>
              <a:rPr lang="en-US" altLang="zh-CN" sz="2200" dirty="0"/>
              <a:t>9.8</a:t>
            </a:r>
            <a:r>
              <a:rPr lang="zh-CN" altLang="en-US" sz="2200" dirty="0"/>
              <a:t>倍</a:t>
            </a:r>
            <a:r>
              <a:rPr lang="en-US" altLang="zh-CN" sz="2200" dirty="0"/>
              <a:t>——</a:t>
            </a:r>
            <a:r>
              <a:rPr lang="zh-CN" altLang="en-US" sz="2200" dirty="0"/>
              <a:t>逃逸对量刑的影响是醉驾的</a:t>
            </a:r>
            <a:r>
              <a:rPr lang="en-US" altLang="zh-CN" sz="2200" dirty="0"/>
              <a:t>9.8</a:t>
            </a:r>
            <a:r>
              <a:rPr lang="zh-CN" altLang="en-US" sz="2200" dirty="0"/>
              <a:t>倍。（标准差的单位是</a:t>
            </a:r>
            <a:r>
              <a:rPr lang="en-US" altLang="zh-CN" sz="2200" dirty="0"/>
              <a:t>0—1</a:t>
            </a:r>
            <a:r>
              <a:rPr lang="zh-CN" altLang="en-US" sz="2200" dirty="0"/>
              <a:t>，不是年）</a:t>
            </a:r>
          </a:p>
          <a:p>
            <a:endParaRPr kumimoji="1" lang="zh-CN" altLang="en-US" dirty="0"/>
          </a:p>
        </p:txBody>
      </p:sp>
    </p:spTree>
    <p:extLst>
      <p:ext uri="{BB962C8B-B14F-4D97-AF65-F5344CB8AC3E}">
        <p14:creationId xmlns:p14="http://schemas.microsoft.com/office/powerpoint/2010/main" val="135316377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graphicFrame>
        <p:nvGraphicFramePr>
          <p:cNvPr id="4" name="内容占位符 3"/>
          <p:cNvGraphicFramePr>
            <a:graphicFrameLocks noGrp="1"/>
          </p:cNvGraphicFramePr>
          <p:nvPr>
            <p:ph idx="1"/>
            <p:extLst/>
          </p:nvPr>
        </p:nvGraphicFramePr>
        <p:xfrm>
          <a:off x="71441" y="-2"/>
          <a:ext cx="9072558" cy="6810711"/>
        </p:xfrm>
        <a:graphic>
          <a:graphicData uri="http://schemas.openxmlformats.org/drawingml/2006/table">
            <a:tbl>
              <a:tblPr firstRow="1" bandRow="1">
                <a:tableStyleId>{5C22544A-7EE6-4342-B048-85BDC9FD1C3A}</a:tableStyleId>
              </a:tblPr>
              <a:tblGrid>
                <a:gridCol w="252087">
                  <a:extLst>
                    <a:ext uri="{9D8B030D-6E8A-4147-A177-3AD203B41FA5}">
                      <a16:colId xmlns:a16="http://schemas.microsoft.com/office/drawing/2014/main" val="20000"/>
                    </a:ext>
                  </a:extLst>
                </a:gridCol>
                <a:gridCol w="1764037">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08062">
                  <a:extLst>
                    <a:ext uri="{9D8B030D-6E8A-4147-A177-3AD203B41FA5}">
                      <a16:colId xmlns:a16="http://schemas.microsoft.com/office/drawing/2014/main" val="20003"/>
                    </a:ext>
                  </a:extLst>
                </a:gridCol>
                <a:gridCol w="1008062">
                  <a:extLst>
                    <a:ext uri="{9D8B030D-6E8A-4147-A177-3AD203B41FA5}">
                      <a16:colId xmlns:a16="http://schemas.microsoft.com/office/drawing/2014/main" val="20004"/>
                    </a:ext>
                  </a:extLst>
                </a:gridCol>
                <a:gridCol w="1008062">
                  <a:extLst>
                    <a:ext uri="{9D8B030D-6E8A-4147-A177-3AD203B41FA5}">
                      <a16:colId xmlns:a16="http://schemas.microsoft.com/office/drawing/2014/main" val="20005"/>
                    </a:ext>
                  </a:extLst>
                </a:gridCol>
                <a:gridCol w="1008062">
                  <a:extLst>
                    <a:ext uri="{9D8B030D-6E8A-4147-A177-3AD203B41FA5}">
                      <a16:colId xmlns:a16="http://schemas.microsoft.com/office/drawing/2014/main" val="20006"/>
                    </a:ext>
                  </a:extLst>
                </a:gridCol>
                <a:gridCol w="1008062">
                  <a:extLst>
                    <a:ext uri="{9D8B030D-6E8A-4147-A177-3AD203B41FA5}">
                      <a16:colId xmlns:a16="http://schemas.microsoft.com/office/drawing/2014/main" val="20007"/>
                    </a:ext>
                  </a:extLst>
                </a:gridCol>
                <a:gridCol w="1008062">
                  <a:extLst>
                    <a:ext uri="{9D8B030D-6E8A-4147-A177-3AD203B41FA5}">
                      <a16:colId xmlns:a16="http://schemas.microsoft.com/office/drawing/2014/main" val="20008"/>
                    </a:ext>
                  </a:extLst>
                </a:gridCol>
              </a:tblGrid>
              <a:tr h="337069">
                <a:tc gridSpan="9">
                  <a:txBody>
                    <a:bodyPr/>
                    <a:lstStyle/>
                    <a:p>
                      <a:pPr marL="38100" marR="38100" algn="ctr">
                        <a:lnSpc>
                          <a:spcPts val="1600"/>
                        </a:lnSpc>
                        <a:spcAft>
                          <a:spcPts val="0"/>
                        </a:spcAft>
                      </a:pPr>
                      <a:r>
                        <a:rPr lang="zh-CN" sz="1600" b="1" kern="0" dirty="0">
                          <a:solidFill>
                            <a:srgbClr val="000000"/>
                          </a:solidFill>
                          <a:effectLst/>
                          <a:latin typeface="Lantinghei SC Demibold" charset="-122"/>
                          <a:ea typeface="Lantinghei SC Demibold" charset="-122"/>
                          <a:cs typeface="Lantinghei SC Demibold" charset="-122"/>
                        </a:rPr>
                        <a:t>表</a:t>
                      </a:r>
                      <a:r>
                        <a:rPr lang="en-US" sz="1600" b="1" kern="0" dirty="0">
                          <a:solidFill>
                            <a:srgbClr val="000000"/>
                          </a:solidFill>
                          <a:effectLst/>
                          <a:latin typeface="Lantinghei SC Demibold" charset="-122"/>
                          <a:ea typeface="Lantinghei SC Demibold" charset="-122"/>
                          <a:cs typeface="Lantinghei SC Demibold" charset="-122"/>
                        </a:rPr>
                        <a:t>3</a:t>
                      </a:r>
                      <a:r>
                        <a:rPr lang="zh-CN" sz="1600" b="1" kern="0" dirty="0">
                          <a:solidFill>
                            <a:srgbClr val="000000"/>
                          </a:solidFill>
                          <a:effectLst/>
                          <a:latin typeface="Lantinghei SC Demibold" charset="-122"/>
                          <a:ea typeface="Lantinghei SC Demibold" charset="-122"/>
                          <a:cs typeface="Lantinghei SC Demibold" charset="-122"/>
                        </a:rPr>
                        <a:t>：交通肇事罪各法定情节的作用</a:t>
                      </a:r>
                      <a:r>
                        <a:rPr lang="en-US" sz="1400" b="1" kern="0" baseline="30000" dirty="0">
                          <a:solidFill>
                            <a:srgbClr val="000000"/>
                          </a:solidFill>
                          <a:effectLst/>
                          <a:latin typeface="Lantinghei SC Demibold" charset="-122"/>
                          <a:ea typeface="Lantinghei SC Demibold" charset="-122"/>
                          <a:cs typeface="Lantinghei SC Demibold" charset="-122"/>
                        </a:rPr>
                        <a:t>a</a:t>
                      </a:r>
                      <a:endParaRPr lang="zh-CN" sz="1400" kern="100" dirty="0">
                        <a:effectLst/>
                        <a:latin typeface="Lantinghei SC Demibold" charset="-122"/>
                        <a:ea typeface="Lantinghei SC Demibold" charset="-122"/>
                        <a:cs typeface="Lantinghei SC Demibold" charset="-122"/>
                      </a:endParaRPr>
                    </a:p>
                  </a:txBody>
                  <a:tcPr marL="0" marR="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37069">
                <a:tc rowSpan="2" gridSpan="2">
                  <a:txBody>
                    <a:bodyPr/>
                    <a:lstStyle/>
                    <a:p>
                      <a:pPr marL="38100" marR="38100" algn="ctr">
                        <a:lnSpc>
                          <a:spcPts val="1600"/>
                        </a:lnSpc>
                        <a:spcAft>
                          <a:spcPts val="0"/>
                        </a:spcAft>
                      </a:pPr>
                      <a:r>
                        <a:rPr lang="zh-CN" sz="1400" kern="0" dirty="0">
                          <a:solidFill>
                            <a:srgbClr val="000000"/>
                          </a:solidFill>
                          <a:effectLst/>
                          <a:latin typeface="Lantinghei SC Demibold" charset="-122"/>
                          <a:ea typeface="Lantinghei SC Demibold" charset="-122"/>
                          <a:cs typeface="Lantinghei SC Demibold" charset="-122"/>
                        </a:rPr>
                        <a:t>模型</a:t>
                      </a:r>
                      <a:endParaRPr lang="zh-CN" sz="1400" kern="100" dirty="0">
                        <a:effectLst/>
                        <a:latin typeface="Lantinghei SC Demibold" charset="-122"/>
                        <a:ea typeface="Lantinghei SC Demibold" charset="-122"/>
                        <a:cs typeface="Lantinghei SC Demibold" charset="-122"/>
                      </a:endParaRPr>
                    </a:p>
                  </a:txBody>
                  <a:tcPr marL="0" marR="0" marT="0" marB="0"/>
                </a:tc>
                <a:tc rowSpan="2" hMerge="1">
                  <a:txBody>
                    <a:bodyPr/>
                    <a:lstStyle/>
                    <a:p>
                      <a:endParaRPr lang="zh-CN" altLang="en-US"/>
                    </a:p>
                  </a:txBody>
                  <a:tcPr/>
                </a:tc>
                <a:tc gridSpan="2">
                  <a:txBody>
                    <a:bodyPr/>
                    <a:lstStyle/>
                    <a:p>
                      <a:pPr marL="38100"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非标准化系数</a:t>
                      </a:r>
                      <a:endParaRPr lang="zh-CN" sz="1400" kern="100">
                        <a:effectLst/>
                        <a:latin typeface="Lantinghei SC Demibold" charset="-122"/>
                        <a:ea typeface="Lantinghei SC Demibold" charset="-122"/>
                        <a:cs typeface="Lantinghei SC Demibold" charset="-122"/>
                      </a:endParaRPr>
                    </a:p>
                  </a:txBody>
                  <a:tcPr marL="0" marR="0" marT="0" marB="0"/>
                </a:tc>
                <a:tc hMerge="1">
                  <a:txBody>
                    <a:bodyPr/>
                    <a:lstStyle/>
                    <a:p>
                      <a:endParaRPr lang="zh-CN" altLang="en-US"/>
                    </a:p>
                  </a:txBody>
                  <a:tcPr/>
                </a:tc>
                <a:tc rowSpan="2">
                  <a:txBody>
                    <a:bodyPr/>
                    <a:lstStyle/>
                    <a:p>
                      <a:pPr marL="38100"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标准化</a:t>
                      </a:r>
                      <a:endParaRPr lang="zh-CN" sz="1400" kern="100">
                        <a:effectLst/>
                        <a:latin typeface="Lantinghei SC Demibold" charset="-122"/>
                        <a:ea typeface="Lantinghei SC Demibold" charset="-122"/>
                        <a:cs typeface="Lantinghei SC Demibold" charset="-122"/>
                      </a:endParaRPr>
                    </a:p>
                    <a:p>
                      <a:pPr marL="38100"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回归系数</a:t>
                      </a:r>
                      <a:endParaRPr lang="zh-CN" sz="1400" kern="100">
                        <a:effectLst/>
                        <a:latin typeface="Lantinghei SC Demibold" charset="-122"/>
                        <a:ea typeface="Lantinghei SC Demibold" charset="-122"/>
                        <a:cs typeface="Lantinghei SC Demibold" charset="-122"/>
                      </a:endParaRPr>
                    </a:p>
                  </a:txBody>
                  <a:tcPr marL="0" marR="0" marT="0" marB="0"/>
                </a:tc>
                <a:tc rowSpan="2">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t</a:t>
                      </a:r>
                      <a:endParaRPr lang="zh-CN" sz="1400" kern="100">
                        <a:effectLst/>
                        <a:latin typeface="Lantinghei SC Demibold" charset="-122"/>
                        <a:ea typeface="Lantinghei SC Demibold" charset="-122"/>
                        <a:cs typeface="Lantinghei SC Demibold" charset="-122"/>
                      </a:endParaRPr>
                    </a:p>
                  </a:txBody>
                  <a:tcPr marL="0" marR="0" marT="0" marB="0"/>
                </a:tc>
                <a:tc rowSpan="2">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Sig.</a:t>
                      </a:r>
                      <a:endParaRPr lang="zh-CN" sz="1400" kern="100">
                        <a:effectLst/>
                        <a:latin typeface="Lantinghei SC Demibold" charset="-122"/>
                        <a:ea typeface="Lantinghei SC Demibold" charset="-122"/>
                        <a:cs typeface="Lantinghei SC Demibold" charset="-122"/>
                      </a:endParaRPr>
                    </a:p>
                  </a:txBody>
                  <a:tcPr marL="0" marR="0" marT="0" marB="0"/>
                </a:tc>
                <a:tc gridSpan="2">
                  <a:txBody>
                    <a:bodyPr/>
                    <a:lstStyle/>
                    <a:p>
                      <a:pPr marL="38100" marR="38100" algn="ctr">
                        <a:lnSpc>
                          <a:spcPts val="1600"/>
                        </a:lnSpc>
                        <a:spcAft>
                          <a:spcPts val="0"/>
                        </a:spcAft>
                      </a:pPr>
                      <a:r>
                        <a:rPr lang="zh-CN" sz="1400" kern="0" dirty="0">
                          <a:solidFill>
                            <a:srgbClr val="000000"/>
                          </a:solidFill>
                          <a:effectLst/>
                          <a:latin typeface="Lantinghei SC Demibold" charset="-122"/>
                          <a:ea typeface="Lantinghei SC Demibold" charset="-122"/>
                          <a:cs typeface="Lantinghei SC Demibold" charset="-122"/>
                        </a:rPr>
                        <a:t>共线性统计量</a:t>
                      </a:r>
                      <a:endParaRPr lang="zh-CN" sz="1400" kern="100" dirty="0">
                        <a:effectLst/>
                        <a:latin typeface="Lantinghei SC Demibold" charset="-122"/>
                        <a:ea typeface="Lantinghei SC Demibold" charset="-122"/>
                        <a:cs typeface="Lantinghei SC Demibold" charset="-122"/>
                      </a:endParaRPr>
                    </a:p>
                  </a:txBody>
                  <a:tcPr marL="0" marR="0" marT="0" marB="0"/>
                </a:tc>
                <a:tc hMerge="1">
                  <a:txBody>
                    <a:bodyPr/>
                    <a:lstStyle/>
                    <a:p>
                      <a:endParaRPr lang="zh-CN" altLang="en-US"/>
                    </a:p>
                  </a:txBody>
                  <a:tcPr/>
                </a:tc>
                <a:extLst>
                  <a:ext uri="{0D108BD9-81ED-4DB2-BD59-A6C34878D82A}">
                    <a16:rowId xmlns:a16="http://schemas.microsoft.com/office/drawing/2014/main" val="10001"/>
                  </a:ext>
                </a:extLst>
              </a:tr>
              <a:tr h="337069">
                <a:tc gridSpan="2" vMerge="1">
                  <a:txBody>
                    <a:bodyPr/>
                    <a:lstStyle/>
                    <a:p>
                      <a:endParaRPr lang="zh-CN" altLang="en-US"/>
                    </a:p>
                  </a:txBody>
                  <a:tcPr/>
                </a:tc>
                <a:tc hMerge="1" vMerge="1">
                  <a:txBody>
                    <a:bodyPr/>
                    <a:lstStyle/>
                    <a:p>
                      <a:endParaRPr lang="zh-CN" altLang="en-US"/>
                    </a:p>
                  </a:txBody>
                  <a:tcP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B</a:t>
                      </a:r>
                      <a:endParaRPr lang="zh-CN" sz="1400" kern="100">
                        <a:effectLst/>
                        <a:latin typeface="Lantinghei SC Demibold" charset="-122"/>
                        <a:ea typeface="Lantinghei SC Demibold" charset="-122"/>
                        <a:cs typeface="Lantinghei SC Demibold" charset="-122"/>
                      </a:endParaRPr>
                    </a:p>
                  </a:txBody>
                  <a:tcPr marL="0" marR="0" marT="0" marB="0"/>
                </a:tc>
                <a:tc>
                  <a:txBody>
                    <a:bodyPr/>
                    <a:lstStyle/>
                    <a:p>
                      <a:pPr marL="38100"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标准 误差</a:t>
                      </a:r>
                      <a:endParaRPr lang="zh-CN" sz="1400" kern="100">
                        <a:effectLst/>
                        <a:latin typeface="Lantinghei SC Demibold" charset="-122"/>
                        <a:ea typeface="Lantinghei SC Demibold" charset="-122"/>
                        <a:cs typeface="Lantinghei SC Demibold" charset="-122"/>
                      </a:endParaRPr>
                    </a:p>
                  </a:txBody>
                  <a:tcPr marL="0" marR="0" marT="0" marB="0"/>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38100"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容差</a:t>
                      </a:r>
                      <a:endParaRPr lang="zh-CN" sz="1400" kern="100">
                        <a:effectLst/>
                        <a:latin typeface="Lantinghei SC Demibold" charset="-122"/>
                        <a:ea typeface="Lantinghei SC Demibold" charset="-122"/>
                        <a:cs typeface="Lantinghei SC Demibold" charset="-122"/>
                      </a:endParaRPr>
                    </a:p>
                  </a:txBody>
                  <a:tcPr marL="0" marR="0" marT="0" marB="0"/>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VIF</a:t>
                      </a:r>
                      <a:endParaRPr lang="zh-CN" sz="1400" kern="100" dirty="0">
                        <a:effectLst/>
                        <a:latin typeface="Lantinghei SC Demibold" charset="-122"/>
                        <a:ea typeface="Lantinghei SC Demibold" charset="-122"/>
                        <a:cs typeface="Lantinghei SC Demibold" charset="-122"/>
                      </a:endParaRPr>
                    </a:p>
                  </a:txBody>
                  <a:tcPr marL="0" marR="0" marT="0" marB="0"/>
                </a:tc>
                <a:extLst>
                  <a:ext uri="{0D108BD9-81ED-4DB2-BD59-A6C34878D82A}">
                    <a16:rowId xmlns:a16="http://schemas.microsoft.com/office/drawing/2014/main" val="10002"/>
                  </a:ext>
                </a:extLst>
              </a:tr>
              <a:tr h="337069">
                <a:tc rowSpan="16">
                  <a:txBody>
                    <a:bodyPr/>
                    <a:lstStyle/>
                    <a:p>
                      <a:pPr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 </a:t>
                      </a:r>
                      <a:endParaRPr lang="zh-CN" sz="1400" kern="100" dirty="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a:t>
                      </a:r>
                      <a:r>
                        <a:rPr lang="zh-CN" sz="1400" kern="0">
                          <a:solidFill>
                            <a:srgbClr val="000000"/>
                          </a:solidFill>
                          <a:effectLst/>
                          <a:latin typeface="Lantinghei SC Demibold" charset="-122"/>
                          <a:ea typeface="Lantinghei SC Demibold" charset="-122"/>
                          <a:cs typeface="Lantinghei SC Demibold" charset="-122"/>
                        </a:rPr>
                        <a:t>常量</a:t>
                      </a:r>
                      <a:r>
                        <a:rPr lang="en-US" sz="1400" kern="0">
                          <a:solidFill>
                            <a:srgbClr val="000000"/>
                          </a:solidFill>
                          <a:effectLst/>
                          <a:latin typeface="Lantinghei SC Demibold" charset="-122"/>
                          <a:ea typeface="Lantinghei SC Demibold" charset="-122"/>
                          <a:cs typeface="Lantinghei SC Demibold" charset="-122"/>
                        </a:rPr>
                        <a:t>)</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162.059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3.190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algn="ctr">
                        <a:spcAft>
                          <a:spcPts val="0"/>
                        </a:spcAft>
                      </a:pPr>
                      <a:r>
                        <a:rPr lang="en-US" sz="1400" kern="0">
                          <a:effectLst/>
                          <a:latin typeface="Lantinghei SC Demibold" charset="-122"/>
                          <a:ea typeface="Lantinghei SC Demibold" charset="-122"/>
                          <a:cs typeface="Lantinghei SC Demibold" charset="-122"/>
                        </a:rPr>
                        <a:t> </a:t>
                      </a:r>
                      <a:endParaRPr lang="zh-CN" sz="1400" kern="100">
                        <a:effectLst/>
                        <a:latin typeface="Lantinghei SC Demibold" charset="-122"/>
                        <a:ea typeface="Lantinghei SC Demibold" charset="-122"/>
                        <a:cs typeface="Lantinghei SC Demibold" charset="-122"/>
                      </a:endParaRPr>
                    </a:p>
                  </a:txBody>
                  <a:tcPr marL="0" marR="0" marT="0" marB="0"/>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50.801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algn="ctr">
                        <a:spcAft>
                          <a:spcPts val="0"/>
                        </a:spcAft>
                      </a:pPr>
                      <a:r>
                        <a:rPr lang="en-US" sz="1400" kern="0">
                          <a:effectLst/>
                          <a:latin typeface="Lantinghei SC Demibold" charset="-122"/>
                          <a:ea typeface="Lantinghei SC Demibold" charset="-122"/>
                          <a:cs typeface="Lantinghei SC Demibold" charset="-122"/>
                        </a:rPr>
                        <a:t> </a:t>
                      </a:r>
                      <a:endParaRPr lang="zh-CN" sz="1400" kern="100">
                        <a:effectLst/>
                        <a:latin typeface="Lantinghei SC Demibold" charset="-122"/>
                        <a:ea typeface="Lantinghei SC Demibold" charset="-122"/>
                        <a:cs typeface="Lantinghei SC Demibold" charset="-122"/>
                      </a:endParaRPr>
                    </a:p>
                  </a:txBody>
                  <a:tcPr marL="0" marR="0" marT="0" marB="0"/>
                </a:tc>
                <a:tc>
                  <a:txBody>
                    <a:bodyPr/>
                    <a:lstStyle/>
                    <a:p>
                      <a:pPr algn="ctr">
                        <a:spcAft>
                          <a:spcPts val="0"/>
                        </a:spcAft>
                      </a:pPr>
                      <a:r>
                        <a:rPr lang="en-US" sz="1400" kern="0" dirty="0">
                          <a:effectLst/>
                          <a:latin typeface="Lantinghei SC Demibold" charset="-122"/>
                          <a:ea typeface="Lantinghei SC Demibold" charset="-122"/>
                          <a:cs typeface="Lantinghei SC Demibold" charset="-122"/>
                        </a:rPr>
                        <a:t> </a:t>
                      </a:r>
                      <a:endParaRPr lang="zh-CN" sz="1400" kern="100" dirty="0">
                        <a:effectLst/>
                        <a:latin typeface="Lantinghei SC Demibold" charset="-122"/>
                        <a:ea typeface="Lantinghei SC Demibold" charset="-122"/>
                        <a:cs typeface="Lantinghei SC Demibold" charset="-122"/>
                      </a:endParaRPr>
                    </a:p>
                  </a:txBody>
                  <a:tcPr marL="0" marR="0" marT="0" marB="0"/>
                </a:tc>
                <a:extLst>
                  <a:ext uri="{0D108BD9-81ED-4DB2-BD59-A6C34878D82A}">
                    <a16:rowId xmlns:a16="http://schemas.microsoft.com/office/drawing/2014/main" val="10003"/>
                  </a:ext>
                </a:extLst>
              </a:tr>
              <a:tr h="337069">
                <a:tc vMerge="1">
                  <a:txBody>
                    <a:bodyPr/>
                    <a:lstStyle/>
                    <a:p>
                      <a:endParaRPr lang="zh-CN" altLang="en-US"/>
                    </a:p>
                  </a:txBody>
                  <a:tcPr/>
                </a:tc>
                <a:tc>
                  <a:txBody>
                    <a:bodyPr/>
                    <a:lstStyle/>
                    <a:p>
                      <a:pPr marR="38100" algn="ctr">
                        <a:lnSpc>
                          <a:spcPts val="1600"/>
                        </a:lnSpc>
                        <a:spcAft>
                          <a:spcPts val="0"/>
                        </a:spcAft>
                      </a:pPr>
                      <a:r>
                        <a:rPr lang="zh-CN" sz="1400" kern="0" dirty="0">
                          <a:solidFill>
                            <a:srgbClr val="000000"/>
                          </a:solidFill>
                          <a:effectLst/>
                          <a:latin typeface="Lantinghei SC Demibold" charset="-122"/>
                          <a:ea typeface="Lantinghei SC Demibold" charset="-122"/>
                          <a:cs typeface="Lantinghei SC Demibold" charset="-122"/>
                        </a:rPr>
                        <a:t>法定致死人数</a:t>
                      </a:r>
                      <a:endParaRPr lang="zh-CN" sz="1400" kern="100" dirty="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327.779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2.595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.372</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126.295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.633</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1.580</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04"/>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法定重伤人数</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136.314</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3.064</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.132</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44.491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.628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1.593</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05"/>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被害过错</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-74.009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1.632</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-.109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-45.348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.956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1.046</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06"/>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涉案损失</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5.815E-005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.028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12.081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.999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1.001</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07"/>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醉驾</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65.249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2.433</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.064</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26.821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.966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1.035</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08"/>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毒驾</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92.229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15.008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.014</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6.145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.991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1.009</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09"/>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无证</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39.820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2.328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.042</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17.108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.922</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1.084</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0"/>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安全装置不全</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24.569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18.101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.003</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1.357</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.175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.999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1.001</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1"/>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无号牌</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7.316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2.611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.007</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2.802</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.954</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1.048</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2"/>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报废</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50.209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11.215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.011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4.477</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.996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1.004</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3"/>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超载</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53.550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8.833</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.014</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6.063</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.997</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1.003</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4"/>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与准驾车型不符</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26.319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10.706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2.458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.014</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.997</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1.003</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5"/>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逃逸</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534.141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2.055</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.627</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259.880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.943</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1.061</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6"/>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自首</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-76.076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1.698</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-.107</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-44.801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.961</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1.040</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7"/>
                  </a:ext>
                </a:extLst>
              </a:tr>
              <a:tr h="337069">
                <a:tc vMerge="1">
                  <a:txBody>
                    <a:bodyPr/>
                    <a:lstStyle/>
                    <a:p>
                      <a:endParaRPr lang="zh-CN" altLang="en-US"/>
                    </a:p>
                  </a:txBody>
                  <a:tcPr/>
                </a:tc>
                <a:tc>
                  <a:txBody>
                    <a:bodyPr/>
                    <a:lstStyle/>
                    <a:p>
                      <a:pPr marR="38100" algn="ctr">
                        <a:lnSpc>
                          <a:spcPts val="1600"/>
                        </a:lnSpc>
                        <a:spcAft>
                          <a:spcPts val="0"/>
                        </a:spcAft>
                      </a:pPr>
                      <a:r>
                        <a:rPr lang="zh-CN" sz="1400" kern="0">
                          <a:solidFill>
                            <a:srgbClr val="000000"/>
                          </a:solidFill>
                          <a:effectLst/>
                          <a:latin typeface="Lantinghei SC Demibold" charset="-122"/>
                          <a:ea typeface="Lantinghei SC Demibold" charset="-122"/>
                          <a:cs typeface="Lantinghei SC Demibold" charset="-122"/>
                        </a:rPr>
                        <a:t>累犯</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298.209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30.379</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.023</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9.816</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.000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a:solidFill>
                            <a:srgbClr val="000000"/>
                          </a:solidFill>
                          <a:effectLst/>
                          <a:latin typeface="Lantinghei SC Demibold" charset="-122"/>
                          <a:ea typeface="Lantinghei SC Demibold" charset="-122"/>
                          <a:cs typeface="Lantinghei SC Demibold" charset="-122"/>
                        </a:rPr>
                        <a:t>.990</a:t>
                      </a:r>
                      <a:endParaRPr lang="zh-CN" sz="1400" kern="100">
                        <a:effectLst/>
                        <a:latin typeface="Lantinghei SC Demibold" charset="-122"/>
                        <a:ea typeface="Lantinghei SC Demibold" charset="-122"/>
                        <a:cs typeface="Lantinghei SC Demibold" charset="-122"/>
                      </a:endParaRPr>
                    </a:p>
                  </a:txBody>
                  <a:tcPr marL="0" marR="0" marT="0" marB="0" anchor="ctr"/>
                </a:tc>
                <a:tc>
                  <a:txBody>
                    <a:bodyPr/>
                    <a:lstStyle/>
                    <a:p>
                      <a:pPr marL="38100" marR="38100" algn="ctr">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1.010</a:t>
                      </a:r>
                      <a:endParaRPr lang="zh-CN" sz="1400" kern="100" dirty="0">
                        <a:effectLst/>
                        <a:latin typeface="Lantinghei SC Demibold" charset="-122"/>
                        <a:ea typeface="Lantinghei SC Demibold" charset="-122"/>
                        <a:cs typeface="Lantinghei SC Demibold" charset="-122"/>
                      </a:endParaRPr>
                    </a:p>
                  </a:txBody>
                  <a:tcPr marL="0" marR="0" marT="0" marB="0" anchor="ctr"/>
                </a:tc>
                <a:extLst>
                  <a:ext uri="{0D108BD9-81ED-4DB2-BD59-A6C34878D82A}">
                    <a16:rowId xmlns:a16="http://schemas.microsoft.com/office/drawing/2014/main" val="10018"/>
                  </a:ext>
                </a:extLst>
              </a:tr>
              <a:tr h="337069">
                <a:tc gridSpan="9">
                  <a:txBody>
                    <a:bodyPr/>
                    <a:lstStyle/>
                    <a:p>
                      <a:pPr marL="38100" marR="38100" algn="l">
                        <a:lnSpc>
                          <a:spcPts val="1600"/>
                        </a:lnSpc>
                        <a:spcAft>
                          <a:spcPts val="0"/>
                        </a:spcAft>
                      </a:pPr>
                      <a:r>
                        <a:rPr lang="en-US" sz="1400" kern="0" dirty="0">
                          <a:solidFill>
                            <a:srgbClr val="000000"/>
                          </a:solidFill>
                          <a:effectLst/>
                          <a:latin typeface="Lantinghei SC Demibold" charset="-122"/>
                          <a:ea typeface="Lantinghei SC Demibold" charset="-122"/>
                          <a:cs typeface="Lantinghei SC Demibold" charset="-122"/>
                        </a:rPr>
                        <a:t>a. </a:t>
                      </a:r>
                      <a:r>
                        <a:rPr lang="zh-CN" sz="1400" kern="0" dirty="0">
                          <a:solidFill>
                            <a:srgbClr val="000000"/>
                          </a:solidFill>
                          <a:effectLst/>
                          <a:latin typeface="Lantinghei SC Demibold" charset="-122"/>
                          <a:ea typeface="Lantinghei SC Demibold" charset="-122"/>
                          <a:cs typeface="Lantinghei SC Demibold" charset="-122"/>
                        </a:rPr>
                        <a:t>因变量</a:t>
                      </a:r>
                      <a:r>
                        <a:rPr lang="en-US" sz="1400" kern="0" dirty="0">
                          <a:solidFill>
                            <a:srgbClr val="000000"/>
                          </a:solidFill>
                          <a:effectLst/>
                          <a:latin typeface="Lantinghei SC Demibold" charset="-122"/>
                          <a:ea typeface="Lantinghei SC Demibold" charset="-122"/>
                          <a:cs typeface="Lantinghei SC Demibold" charset="-122"/>
                        </a:rPr>
                        <a:t>: </a:t>
                      </a:r>
                      <a:r>
                        <a:rPr lang="zh-CN" sz="1400" kern="0" dirty="0">
                          <a:solidFill>
                            <a:srgbClr val="000000"/>
                          </a:solidFill>
                          <a:effectLst/>
                          <a:latin typeface="Lantinghei SC Demibold" charset="-122"/>
                          <a:ea typeface="Lantinghei SC Demibold" charset="-122"/>
                          <a:cs typeface="Lantinghei SC Demibold" charset="-122"/>
                        </a:rPr>
                        <a:t>有期徒刑刑期</a:t>
                      </a:r>
                      <a:endParaRPr lang="zh-CN" sz="1400" kern="100" dirty="0">
                        <a:effectLst/>
                        <a:latin typeface="Lantinghei SC Demibold" charset="-122"/>
                        <a:ea typeface="Lantinghei SC Demibold" charset="-122"/>
                        <a:cs typeface="Lantinghei SC Demibold" charset="-122"/>
                      </a:endParaRPr>
                    </a:p>
                  </a:txBody>
                  <a:tcPr marL="0" marR="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4119893793"/>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a:latin typeface="Lantinghei SC Demibold" charset="-122"/>
                <a:ea typeface="Lantinghei SC Demibold" charset="-122"/>
                <a:cs typeface="Lantinghei SC Demibold" charset="-122"/>
              </a:rPr>
              <a:t>发现</a:t>
            </a:r>
            <a:endParaRPr kumimoji="1" lang="zh-CN" altLang="en-US" dirty="0"/>
          </a:p>
        </p:txBody>
      </p:sp>
      <p:sp>
        <p:nvSpPr>
          <p:cNvPr id="3" name="内容占位符 2"/>
          <p:cNvSpPr>
            <a:spLocks noGrp="1"/>
          </p:cNvSpPr>
          <p:nvPr>
            <p:ph idx="1"/>
          </p:nvPr>
        </p:nvSpPr>
        <p:spPr/>
        <p:txBody>
          <a:bodyPr/>
          <a:lstStyle/>
          <a:p>
            <a:r>
              <a:rPr lang="zh-CN" altLang="en-US" b="1" dirty="0"/>
              <a:t>（三） 部分案件远离平均量刑水平，实际刑期与预测刑期之间的残差较大，拉低了整体的量刑确定性程度。</a:t>
            </a:r>
          </a:p>
          <a:p>
            <a:r>
              <a:rPr kumimoji="1" lang="zh-CN" altLang="en-US" dirty="0"/>
              <a:t>离散程度较大的原因复杂，需要控制。</a:t>
            </a:r>
          </a:p>
          <a:p>
            <a:r>
              <a:rPr kumimoji="1" lang="zh-CN" altLang="en-US" dirty="0"/>
              <a:t>运行回归分析中的“个案诊断”过程，将</a:t>
            </a:r>
            <a:r>
              <a:rPr lang="zh-CN" altLang="en-US" dirty="0"/>
              <a:t>标准化残差的范围为从－</a:t>
            </a:r>
            <a:r>
              <a:rPr lang="en-US" altLang="zh-CN" dirty="0"/>
              <a:t>6.3</a:t>
            </a:r>
            <a:r>
              <a:rPr lang="zh-CN" altLang="en-US" dirty="0"/>
              <a:t>到</a:t>
            </a:r>
            <a:r>
              <a:rPr lang="en-US" altLang="zh-CN" dirty="0"/>
              <a:t>14.5</a:t>
            </a:r>
            <a:r>
              <a:rPr lang="zh-CN" altLang="en-US" dirty="0"/>
              <a:t>之间，限缩为－２到２之间。</a:t>
            </a:r>
          </a:p>
          <a:p>
            <a:r>
              <a:rPr lang="zh-CN" altLang="en-US" dirty="0"/>
              <a:t>结果，约</a:t>
            </a:r>
            <a:r>
              <a:rPr lang="en-US" altLang="zh-CN" dirty="0"/>
              <a:t>10</a:t>
            </a:r>
            <a:r>
              <a:rPr lang="zh-CN" altLang="en-US" dirty="0"/>
              <a:t>％的个案被裁剪掉，样本得到了净化。</a:t>
            </a:r>
          </a:p>
          <a:p>
            <a:r>
              <a:rPr lang="zh-CN" altLang="en-US" dirty="0"/>
              <a:t>重新运行回归过程，其回归确定系数Ｒ</a:t>
            </a:r>
            <a:r>
              <a:rPr lang="zh-CN" altLang="en-US" baseline="30000" dirty="0"/>
              <a:t>２</a:t>
            </a:r>
            <a:r>
              <a:rPr lang="zh-CN" altLang="en-US" dirty="0"/>
              <a:t> 从原来的</a:t>
            </a:r>
            <a:r>
              <a:rPr lang="en-US" altLang="zh-CN" dirty="0"/>
              <a:t>0.511</a:t>
            </a:r>
            <a:r>
              <a:rPr lang="zh-CN" altLang="en-US" dirty="0"/>
              <a:t>提高到</a:t>
            </a:r>
            <a:r>
              <a:rPr lang="en-US" altLang="zh-CN" dirty="0"/>
              <a:t>0.734</a:t>
            </a:r>
            <a:endParaRPr lang="zh-CN" altLang="en-US" dirty="0"/>
          </a:p>
          <a:p>
            <a:r>
              <a:rPr lang="zh-CN" altLang="en-US" dirty="0"/>
              <a:t>控制了样本离散程度以后，罪刑关系模型得到了优化</a:t>
            </a:r>
            <a:endParaRPr lang="en-US" altLang="zh-CN" dirty="0"/>
          </a:p>
          <a:p>
            <a:r>
              <a:rPr lang="zh-CN" altLang="en-US" b="1" dirty="0">
                <a:latin typeface="Lantinghei SC Demibold" charset="-122"/>
                <a:ea typeface="Lantinghei SC Demibold" charset="-122"/>
                <a:cs typeface="Lantinghei SC Demibold" charset="-122"/>
              </a:rPr>
              <a:t>和交通肇事罪相似，其他许多犯罪都存在多情节并存的情况。</a:t>
            </a:r>
          </a:p>
          <a:p>
            <a:r>
              <a:rPr lang="zh-CN" altLang="en-US" b="1" dirty="0">
                <a:latin typeface="Lantinghei SC Demibold" charset="-122"/>
                <a:ea typeface="Lantinghei SC Demibold" charset="-122"/>
                <a:cs typeface="Lantinghei SC Demibold" charset="-122"/>
              </a:rPr>
              <a:t>因此，此法很可能适用于其他若干常见犯罪。</a:t>
            </a:r>
            <a:endParaRPr kumimoji="1" lang="zh-CN" altLang="en-US" b="1" dirty="0">
              <a:latin typeface="Lantinghei SC Demibold" charset="-122"/>
              <a:ea typeface="Lantinghei SC Demibold" charset="-122"/>
              <a:cs typeface="Lantinghei SC Demibold" charset="-122"/>
            </a:endParaRPr>
          </a:p>
          <a:p>
            <a:endParaRPr lang="zh-CN" altLang="en-US" dirty="0"/>
          </a:p>
        </p:txBody>
      </p:sp>
    </p:spTree>
    <p:extLst>
      <p:ext uri="{BB962C8B-B14F-4D97-AF65-F5344CB8AC3E}">
        <p14:creationId xmlns:p14="http://schemas.microsoft.com/office/powerpoint/2010/main" val="1700324698"/>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a:latin typeface="Lantinghei SC Demibold" charset="-122"/>
                <a:ea typeface="Lantinghei SC Demibold" charset="-122"/>
                <a:cs typeface="Lantinghei SC Demibold" charset="-122"/>
              </a:rPr>
              <a:t>意义一：</a:t>
            </a:r>
            <a:r>
              <a:rPr lang="zh-CN" altLang="en-US" dirty="0">
                <a:latin typeface="Lantinghei SC Demibold" charset="-122"/>
                <a:ea typeface="Lantinghei SC Demibold" charset="-122"/>
                <a:cs typeface="Lantinghei SC Demibold" charset="-122"/>
              </a:rPr>
              <a:t>个案预测，促进司法公正</a:t>
            </a:r>
            <a:endParaRPr kumimoji="1" lang="zh-CN" altLang="en-US"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p:txBody>
          <a:bodyPr/>
          <a:lstStyle/>
          <a:p>
            <a:r>
              <a:rPr lang="zh-CN" altLang="en-US" dirty="0"/>
              <a:t>运行模型后，每个样本都可以看到实际刑期、预测刑期和两者的残差（有正有负）这三个值。</a:t>
            </a:r>
          </a:p>
          <a:p>
            <a:r>
              <a:rPr lang="zh-CN" altLang="en-US" dirty="0"/>
              <a:t>某已决案件的情节包括无证驾驶、负事故全部责任、逃逸、重伤一人，实际量刑为有期徒刑</a:t>
            </a:r>
            <a:r>
              <a:rPr lang="en-US" altLang="zh-CN" dirty="0"/>
              <a:t>1260</a:t>
            </a:r>
            <a:r>
              <a:rPr lang="zh-CN" altLang="en-US" dirty="0"/>
              <a:t>天（三年半），优化预测值为有期徒刑</a:t>
            </a:r>
            <a:r>
              <a:rPr lang="en-US" altLang="zh-CN" dirty="0"/>
              <a:t>837</a:t>
            </a:r>
            <a:r>
              <a:rPr lang="zh-CN" altLang="en-US" dirty="0"/>
              <a:t>（</a:t>
            </a:r>
            <a:r>
              <a:rPr lang="en-US" altLang="zh-CN" dirty="0"/>
              <a:t>2.3</a:t>
            </a:r>
            <a:r>
              <a:rPr lang="zh-CN" altLang="en-US" dirty="0"/>
              <a:t>年），低于法定的起刑点３年。</a:t>
            </a:r>
          </a:p>
          <a:p>
            <a:r>
              <a:rPr lang="zh-CN" altLang="en-US" dirty="0"/>
              <a:t>可见，量刑预测的结果只是提高法律适用确定性的参考信息，而不可以拿来直接替代刑罚裁量。</a:t>
            </a:r>
          </a:p>
          <a:p>
            <a:r>
              <a:rPr lang="zh-CN" altLang="en-US" dirty="0"/>
              <a:t>这其实是在利用大样本经验</a:t>
            </a:r>
            <a:r>
              <a:rPr lang="zh-CN" altLang="en-US" b="1" dirty="0">
                <a:latin typeface="Lantinghei SC Demibold" charset="-122"/>
                <a:ea typeface="Lantinghei SC Demibold" charset="-122"/>
                <a:cs typeface="Lantinghei SC Demibold" charset="-122"/>
              </a:rPr>
              <a:t>挤压</a:t>
            </a:r>
            <a:r>
              <a:rPr lang="zh-CN" altLang="en-US" dirty="0"/>
              <a:t>法定条件以外其他因素的介入和影响</a:t>
            </a:r>
            <a:r>
              <a:rPr lang="en-US" altLang="zh-CN" dirty="0"/>
              <a:t>———</a:t>
            </a:r>
            <a:r>
              <a:rPr lang="zh-CN" altLang="en-US" dirty="0"/>
              <a:t>除非具</a:t>
            </a:r>
            <a:r>
              <a:rPr lang="zh-CN" altLang="en-US" dirty="0">
                <a:latin typeface="Lantinghei SC Demibold" charset="-122"/>
                <a:ea typeface="Lantinghei SC Demibold" charset="-122"/>
                <a:cs typeface="Lantinghei SC Demibold" charset="-122"/>
              </a:rPr>
              <a:t>有拿得上台面</a:t>
            </a:r>
            <a:r>
              <a:rPr lang="zh-CN" altLang="en-US" dirty="0"/>
              <a:t>的理由</a:t>
            </a:r>
          </a:p>
          <a:p>
            <a:r>
              <a:rPr lang="zh-CN" altLang="en-US" dirty="0"/>
              <a:t>坚持较大的残差并不违法，但需要为此负担更多的</a:t>
            </a:r>
            <a:r>
              <a:rPr lang="zh-CN" altLang="en-US" dirty="0">
                <a:latin typeface="Lantinghei SC Demibold" charset="-122"/>
                <a:ea typeface="Lantinghei SC Demibold" charset="-122"/>
                <a:cs typeface="Lantinghei SC Demibold" charset="-122"/>
              </a:rPr>
              <a:t>论证成本</a:t>
            </a:r>
            <a:r>
              <a:rPr lang="zh-CN" altLang="en-US" dirty="0"/>
              <a:t>。</a:t>
            </a:r>
            <a:endParaRPr kumimoji="1" lang="zh-CN" altLang="en-US" dirty="0"/>
          </a:p>
        </p:txBody>
      </p:sp>
    </p:spTree>
    <p:extLst>
      <p:ext uri="{BB962C8B-B14F-4D97-AF65-F5344CB8AC3E}">
        <p14:creationId xmlns:p14="http://schemas.microsoft.com/office/powerpoint/2010/main" val="337734311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a:latin typeface="Lantinghei SC Demibold" charset="-122"/>
                <a:ea typeface="Lantinghei SC Demibold" charset="-122"/>
                <a:cs typeface="Lantinghei SC Demibold" charset="-122"/>
              </a:rPr>
              <a:t>意义二：</a:t>
            </a:r>
            <a:r>
              <a:rPr lang="zh-CN" altLang="en-US" dirty="0">
                <a:latin typeface="Lantinghei SC Demibold" charset="-122"/>
                <a:ea typeface="Lantinghei SC Demibold" charset="-122"/>
                <a:cs typeface="Lantinghei SC Demibold" charset="-122"/>
              </a:rPr>
              <a:t>群案测量，加强审判管理</a:t>
            </a:r>
            <a:endParaRPr kumimoji="1" lang="zh-CN" altLang="en-US" dirty="0">
              <a:latin typeface="Lantinghei SC Demibold" charset="-122"/>
              <a:ea typeface="Lantinghei SC Demibold" charset="-122"/>
              <a:cs typeface="Lantinghei SC Demibold" charset="-122"/>
            </a:endParaRPr>
          </a:p>
        </p:txBody>
      </p:sp>
      <p:graphicFrame>
        <p:nvGraphicFramePr>
          <p:cNvPr id="5" name="内容占位符 4"/>
          <p:cNvGraphicFramePr>
            <a:graphicFrameLocks noGrp="1"/>
          </p:cNvGraphicFramePr>
          <p:nvPr>
            <p:ph idx="1"/>
            <p:extLst/>
          </p:nvPr>
        </p:nvGraphicFramePr>
        <p:xfrm>
          <a:off x="179510" y="1052736"/>
          <a:ext cx="8784980" cy="5677461"/>
        </p:xfrm>
        <a:graphic>
          <a:graphicData uri="http://schemas.openxmlformats.org/drawingml/2006/table">
            <a:tbl>
              <a:tblPr firstRow="1" bandRow="1">
                <a:tableStyleId>{5C22544A-7EE6-4342-B048-85BDC9FD1C3A}</a:tableStyleId>
              </a:tblPr>
              <a:tblGrid>
                <a:gridCol w="720082">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1224136">
                  <a:extLst>
                    <a:ext uri="{9D8B030D-6E8A-4147-A177-3AD203B41FA5}">
                      <a16:colId xmlns:a16="http://schemas.microsoft.com/office/drawing/2014/main" val="20005"/>
                    </a:ext>
                  </a:extLst>
                </a:gridCol>
                <a:gridCol w="864096">
                  <a:extLst>
                    <a:ext uri="{9D8B030D-6E8A-4147-A177-3AD203B41FA5}">
                      <a16:colId xmlns:a16="http://schemas.microsoft.com/office/drawing/2014/main" val="20006"/>
                    </a:ext>
                  </a:extLst>
                </a:gridCol>
                <a:gridCol w="936104">
                  <a:extLst>
                    <a:ext uri="{9D8B030D-6E8A-4147-A177-3AD203B41FA5}">
                      <a16:colId xmlns:a16="http://schemas.microsoft.com/office/drawing/2014/main" val="20007"/>
                    </a:ext>
                  </a:extLst>
                </a:gridCol>
                <a:gridCol w="1368154">
                  <a:extLst>
                    <a:ext uri="{9D8B030D-6E8A-4147-A177-3AD203B41FA5}">
                      <a16:colId xmlns:a16="http://schemas.microsoft.com/office/drawing/2014/main" val="20008"/>
                    </a:ext>
                  </a:extLst>
                </a:gridCol>
              </a:tblGrid>
              <a:tr h="494486">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省市</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均值</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极大值</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分组中值</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标准差</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合计</a:t>
                      </a:r>
                      <a:r>
                        <a:rPr lang="en-US" sz="1600" kern="0" dirty="0">
                          <a:solidFill>
                            <a:schemeClr val="tx1"/>
                          </a:solidFill>
                          <a:effectLst/>
                          <a:latin typeface="Lantinghei SC Demibold" charset="-122"/>
                          <a:ea typeface="Lantinghei SC Demibold" charset="-122"/>
                          <a:cs typeface="Lantinghei SC Demibold" charset="-122"/>
                        </a:rPr>
                        <a:t>N</a:t>
                      </a:r>
                      <a:r>
                        <a:rPr lang="zh-CN" sz="1600" kern="0" dirty="0">
                          <a:solidFill>
                            <a:schemeClr val="tx1"/>
                          </a:solidFill>
                          <a:effectLst/>
                          <a:latin typeface="Lantinghei SC Demibold" charset="-122"/>
                          <a:ea typeface="Lantinghei SC Demibold" charset="-122"/>
                          <a:cs typeface="Lantinghei SC Demibold" charset="-122"/>
                        </a:rPr>
                        <a:t>的</a:t>
                      </a:r>
                      <a:r>
                        <a:rPr lang="en-US" sz="1600" kern="0" dirty="0">
                          <a:solidFill>
                            <a:schemeClr val="tx1"/>
                          </a:solidFill>
                          <a:effectLst/>
                          <a:latin typeface="Lantinghei SC Demibold" charset="-122"/>
                          <a:ea typeface="Lantinghei SC Demibold" charset="-122"/>
                          <a:cs typeface="Lantinghei SC Demibold" charset="-122"/>
                        </a:rPr>
                        <a:t> %</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缓刑率</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解释率</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tc>
                  <a:txBody>
                    <a:bodyPr/>
                    <a:lstStyle/>
                    <a:p>
                      <a:pPr algn="ctr">
                        <a:spcAft>
                          <a:spcPts val="0"/>
                        </a:spcAft>
                      </a:pPr>
                      <a:r>
                        <a:rPr lang="zh-CN" sz="1600" kern="0" dirty="0">
                          <a:solidFill>
                            <a:schemeClr val="tx1"/>
                          </a:solidFill>
                          <a:effectLst/>
                          <a:latin typeface="Lantinghei SC Demibold" charset="-122"/>
                          <a:ea typeface="Lantinghei SC Demibold" charset="-122"/>
                          <a:cs typeface="Lantinghei SC Demibold" charset="-122"/>
                        </a:rPr>
                        <a:t>解释率排序</a:t>
                      </a:r>
                      <a:endParaRPr lang="zh-CN" sz="1600" kern="100" dirty="0">
                        <a:solidFill>
                          <a:schemeClr val="tx1"/>
                        </a:solidFill>
                        <a:effectLst/>
                        <a:latin typeface="Lantinghei SC Demibold" charset="-122"/>
                        <a:ea typeface="Lantinghei SC Demibold" charset="-122"/>
                        <a:cs typeface="Lantinghei SC Demibold" charset="-122"/>
                      </a:endParaRPr>
                    </a:p>
                  </a:txBody>
                  <a:tcPr marL="68580" marR="68580" marT="0" marB="0" anchor="b"/>
                </a:tc>
                <a:extLst>
                  <a:ext uri="{0D108BD9-81ED-4DB2-BD59-A6C34878D82A}">
                    <a16:rowId xmlns:a16="http://schemas.microsoft.com/office/drawing/2014/main" val="10000"/>
                  </a:ext>
                </a:extLst>
              </a:tr>
              <a:tr h="426845">
                <a:tc>
                  <a:txBody>
                    <a:bodyPr/>
                    <a:lstStyle/>
                    <a:p>
                      <a:pPr algn="l">
                        <a:spcAft>
                          <a:spcPts val="0"/>
                        </a:spcAft>
                      </a:pPr>
                      <a:r>
                        <a:rPr lang="zh-CN" sz="1600" kern="0" dirty="0">
                          <a:effectLst/>
                          <a:latin typeface="Calibri" charset="0"/>
                          <a:ea typeface="宋体" charset="0"/>
                          <a:cs typeface="Lantinghei TC Heavy" charset="-120"/>
                        </a:rPr>
                        <a:t>新疆</a:t>
                      </a:r>
                      <a:endParaRPr lang="zh-CN" sz="1600" kern="100" dirty="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505.2</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1080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373.64</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313.649</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84.00%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0.78</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1</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1"/>
                  </a:ext>
                </a:extLst>
              </a:tr>
              <a:tr h="426845">
                <a:tc>
                  <a:txBody>
                    <a:bodyPr/>
                    <a:lstStyle/>
                    <a:p>
                      <a:pPr algn="l">
                        <a:spcAft>
                          <a:spcPts val="0"/>
                        </a:spcAft>
                      </a:pPr>
                      <a:r>
                        <a:rPr lang="zh-CN" sz="1600" kern="0">
                          <a:effectLst/>
                          <a:latin typeface="Calibri" charset="0"/>
                          <a:ea typeface="宋体" charset="0"/>
                          <a:cs typeface="Lantinghei TC Heavy" charset="-120"/>
                        </a:rPr>
                        <a:t>山东</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562.64</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3180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384.58</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333.974</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12.60%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92.50%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0.595</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2</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2"/>
                  </a:ext>
                </a:extLst>
              </a:tr>
              <a:tr h="426845">
                <a:tc>
                  <a:txBody>
                    <a:bodyPr/>
                    <a:lstStyle/>
                    <a:p>
                      <a:pPr algn="l">
                        <a:spcAft>
                          <a:spcPts val="0"/>
                        </a:spcAft>
                      </a:pPr>
                      <a:r>
                        <a:rPr lang="zh-CN" sz="1600" kern="0">
                          <a:effectLst/>
                          <a:latin typeface="Calibri" charset="0"/>
                          <a:ea typeface="宋体" charset="0"/>
                          <a:cs typeface="Lantinghei TC Heavy" charset="-120"/>
                        </a:rPr>
                        <a:t>青海</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479.12</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1590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359.84</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307.05</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0.60%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92.00%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0.592</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3</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3"/>
                  </a:ext>
                </a:extLst>
              </a:tr>
              <a:tr h="426845">
                <a:tc>
                  <a:txBody>
                    <a:bodyPr/>
                    <a:lstStyle/>
                    <a:p>
                      <a:pPr algn="l">
                        <a:spcAft>
                          <a:spcPts val="0"/>
                        </a:spcAft>
                      </a:pPr>
                      <a:r>
                        <a:rPr lang="zh-CN" sz="1600" kern="0">
                          <a:effectLst/>
                          <a:latin typeface="Calibri" charset="0"/>
                          <a:ea typeface="宋体" charset="0"/>
                          <a:cs typeface="Libian SC Regular" charset="-122"/>
                        </a:rPr>
                        <a:t>辽</a:t>
                      </a:r>
                      <a:r>
                        <a:rPr lang="zh-CN" sz="1600" kern="0">
                          <a:effectLst/>
                          <a:latin typeface="Calibri" charset="0"/>
                          <a:ea typeface="宋体" charset="0"/>
                          <a:cs typeface="Lantinghei TC Heavy" charset="-120"/>
                        </a:rPr>
                        <a:t>宁</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518.68</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1980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374.19</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318.08</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3.20%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90.70%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0.579</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4</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4"/>
                  </a:ext>
                </a:extLst>
              </a:tr>
              <a:tr h="426845">
                <a:tc>
                  <a:txBody>
                    <a:bodyPr/>
                    <a:lstStyle/>
                    <a:p>
                      <a:pPr algn="l">
                        <a:spcAft>
                          <a:spcPts val="0"/>
                        </a:spcAft>
                      </a:pPr>
                      <a:r>
                        <a:rPr lang="zh-CN" sz="1600" kern="0">
                          <a:effectLst/>
                          <a:latin typeface="Calibri" charset="0"/>
                          <a:ea typeface="宋体" charset="0"/>
                          <a:cs typeface="Lantinghei TC Heavy" charset="-120"/>
                        </a:rPr>
                        <a:t>河北</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561.84</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3420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381.45</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345.52</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6.60%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90.00%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0.565</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5</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5"/>
                  </a:ext>
                </a:extLst>
              </a:tr>
              <a:tr h="426845">
                <a:tc>
                  <a:txBody>
                    <a:bodyPr/>
                    <a:lstStyle/>
                    <a:p>
                      <a:pPr algn="l">
                        <a:spcAft>
                          <a:spcPts val="0"/>
                        </a:spcAft>
                      </a:pPr>
                      <a:r>
                        <a:rPr lang="en-US" sz="1600" kern="0">
                          <a:effectLst/>
                          <a:latin typeface="宋体" charset="0"/>
                          <a:ea typeface="宋体" charset="0"/>
                          <a:cs typeface="Lantinghei TC Heavy" charset="-120"/>
                        </a:rPr>
                        <a:t>……</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6"/>
                  </a:ext>
                </a:extLst>
              </a:tr>
              <a:tr h="426845">
                <a:tc>
                  <a:txBody>
                    <a:bodyPr/>
                    <a:lstStyle/>
                    <a:p>
                      <a:pPr algn="l">
                        <a:spcAft>
                          <a:spcPts val="0"/>
                        </a:spcAft>
                      </a:pPr>
                      <a:r>
                        <a:rPr lang="zh-CN" sz="1600" kern="0">
                          <a:effectLst/>
                          <a:latin typeface="Calibri" charset="0"/>
                          <a:ea typeface="宋体" charset="0"/>
                          <a:cs typeface="Lantinghei TC Heavy" charset="-120"/>
                        </a:rPr>
                        <a:t>浙江</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476.54</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2610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369.87</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301.389</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5.90%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62.50%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0.441</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22</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7"/>
                  </a:ext>
                </a:extLst>
              </a:tr>
              <a:tr h="426845">
                <a:tc>
                  <a:txBody>
                    <a:bodyPr/>
                    <a:lstStyle/>
                    <a:p>
                      <a:pPr algn="l">
                        <a:spcAft>
                          <a:spcPts val="0"/>
                        </a:spcAft>
                      </a:pPr>
                      <a:r>
                        <a:rPr lang="zh-CN" sz="1600" kern="0">
                          <a:effectLst/>
                          <a:latin typeface="Calibri" charset="0"/>
                          <a:ea typeface="宋体" charset="0"/>
                          <a:cs typeface="Lantinghei TC Heavy" charset="-120"/>
                        </a:rPr>
                        <a:t>北京</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507.45</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2160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369.08</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361.315</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1.20%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53.00%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0.439</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23</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8"/>
                  </a:ext>
                </a:extLst>
              </a:tr>
              <a:tr h="426845">
                <a:tc>
                  <a:txBody>
                    <a:bodyPr/>
                    <a:lstStyle/>
                    <a:p>
                      <a:pPr algn="l">
                        <a:spcAft>
                          <a:spcPts val="0"/>
                        </a:spcAft>
                      </a:pPr>
                      <a:r>
                        <a:rPr lang="zh-CN" sz="1600" kern="0">
                          <a:effectLst/>
                          <a:latin typeface="Calibri" charset="0"/>
                          <a:ea typeface="宋体" charset="0"/>
                          <a:cs typeface="Lantinghei TC Heavy" charset="-120"/>
                        </a:rPr>
                        <a:t>上海</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459.37</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2460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364.97</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295.475</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73.80%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0.436</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24</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09"/>
                  </a:ext>
                </a:extLst>
              </a:tr>
              <a:tr h="426845">
                <a:tc>
                  <a:txBody>
                    <a:bodyPr/>
                    <a:lstStyle/>
                    <a:p>
                      <a:pPr algn="l">
                        <a:spcAft>
                          <a:spcPts val="0"/>
                        </a:spcAft>
                      </a:pPr>
                      <a:r>
                        <a:rPr lang="zh-CN" sz="1600" kern="0">
                          <a:effectLst/>
                          <a:latin typeface="Calibri" charset="0"/>
                          <a:ea typeface="宋体" charset="0"/>
                          <a:cs typeface="Lantinghei TC Heavy" charset="-120"/>
                        </a:rPr>
                        <a:t>黑龙江</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499.5</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3180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368.52</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324.758</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91.50%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dirty="0">
                          <a:effectLst/>
                          <a:latin typeface="宋体" charset="0"/>
                          <a:ea typeface="宋体" charset="0"/>
                          <a:cs typeface="Arial" charset="0"/>
                        </a:rPr>
                        <a:t>0.367</a:t>
                      </a:r>
                      <a:endParaRPr lang="zh-CN" sz="1600" kern="100" dirty="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25</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10"/>
                  </a:ext>
                </a:extLst>
              </a:tr>
              <a:tr h="426845">
                <a:tc>
                  <a:txBody>
                    <a:bodyPr/>
                    <a:lstStyle/>
                    <a:p>
                      <a:pPr algn="l">
                        <a:spcAft>
                          <a:spcPts val="0"/>
                        </a:spcAft>
                      </a:pPr>
                      <a:r>
                        <a:rPr lang="zh-CN" sz="1600" kern="0">
                          <a:effectLst/>
                          <a:latin typeface="Calibri" charset="0"/>
                          <a:ea typeface="宋体" charset="0"/>
                          <a:cs typeface="Lantinghei TC Heavy" charset="-120"/>
                        </a:rPr>
                        <a:t>江西</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454.56</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3780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355.38</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307.483</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2.00%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84.00%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0.354</a:t>
                      </a:r>
                      <a:endParaRPr lang="zh-CN" sz="1600" kern="100">
                        <a:effectLst/>
                        <a:latin typeface="Calibri" charset="0"/>
                        <a:ea typeface="宋体" charset="0"/>
                        <a:cs typeface="Times New Roman" charset="0"/>
                      </a:endParaRPr>
                    </a:p>
                  </a:txBody>
                  <a:tcPr marL="68580" marR="68580" marT="0" marB="0" anchor="b"/>
                </a:tc>
                <a:tc>
                  <a:txBody>
                    <a:bodyPr/>
                    <a:lstStyle/>
                    <a:p>
                      <a:pPr algn="ctr">
                        <a:spcAft>
                          <a:spcPts val="0"/>
                        </a:spcAft>
                      </a:pPr>
                      <a:r>
                        <a:rPr lang="en-US" sz="1600" kern="0" dirty="0">
                          <a:effectLst/>
                          <a:latin typeface="宋体" charset="0"/>
                          <a:ea typeface="宋体" charset="0"/>
                          <a:cs typeface="Arial" charset="0"/>
                        </a:rPr>
                        <a:t>26</a:t>
                      </a:r>
                      <a:endParaRPr lang="zh-CN" sz="1600" kern="100" dirty="0">
                        <a:effectLst/>
                        <a:latin typeface="Calibri" charset="0"/>
                        <a:ea typeface="宋体" charset="0"/>
                        <a:cs typeface="Times New Roman" charset="0"/>
                      </a:endParaRPr>
                    </a:p>
                  </a:txBody>
                  <a:tcPr marL="68580" marR="68580" marT="0" marB="0" anchor="b"/>
                </a:tc>
                <a:extLst>
                  <a:ext uri="{0D108BD9-81ED-4DB2-BD59-A6C34878D82A}">
                    <a16:rowId xmlns:a16="http://schemas.microsoft.com/office/drawing/2014/main" val="10011"/>
                  </a:ext>
                </a:extLst>
              </a:tr>
              <a:tr h="426845">
                <a:tc>
                  <a:txBody>
                    <a:bodyPr/>
                    <a:lstStyle/>
                    <a:p>
                      <a:pPr algn="l">
                        <a:spcAft>
                          <a:spcPts val="0"/>
                        </a:spcAft>
                      </a:pPr>
                      <a:r>
                        <a:rPr lang="zh-CN" sz="1600" kern="0">
                          <a:effectLst/>
                          <a:latin typeface="Calibri" charset="0"/>
                          <a:ea typeface="宋体" charset="0"/>
                          <a:cs typeface="Lantinghei TC Heavy" charset="-120"/>
                        </a:rPr>
                        <a:t>总</a:t>
                      </a:r>
                      <a:r>
                        <a:rPr lang="zh-CN" sz="1600" kern="0">
                          <a:effectLst/>
                          <a:latin typeface="Calibri" charset="0"/>
                          <a:ea typeface="宋体" charset="0"/>
                          <a:cs typeface="Libian SC Regular" charset="-122"/>
                        </a:rPr>
                        <a:t>计</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525.62</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3780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375.92</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331.997</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100.00%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a:effectLst/>
                          <a:latin typeface="宋体" charset="0"/>
                          <a:ea typeface="宋体" charset="0"/>
                          <a:cs typeface="Arial" charset="0"/>
                        </a:rPr>
                        <a:t>82.90%</a:t>
                      </a:r>
                      <a:endParaRPr lang="zh-CN" sz="1600" kern="100">
                        <a:effectLst/>
                        <a:latin typeface="Calibri" charset="0"/>
                        <a:ea typeface="宋体" charset="0"/>
                        <a:cs typeface="Times New Roman" charset="0"/>
                      </a:endParaRPr>
                    </a:p>
                  </a:txBody>
                  <a:tcPr marL="68580" marR="68580" marT="0" marB="0" anchor="b"/>
                </a:tc>
                <a:tc>
                  <a:txBody>
                    <a:bodyPr/>
                    <a:lstStyle/>
                    <a:p>
                      <a:pPr algn="r">
                        <a:spcAft>
                          <a:spcPts val="0"/>
                        </a:spcAft>
                      </a:pPr>
                      <a:r>
                        <a:rPr lang="en-US" sz="1600" kern="0" dirty="0">
                          <a:effectLst/>
                          <a:latin typeface="宋体" charset="0"/>
                          <a:ea typeface="宋体" charset="0"/>
                          <a:cs typeface="Arial" charset="0"/>
                        </a:rPr>
                        <a:t>0.511</a:t>
                      </a:r>
                      <a:endParaRPr lang="zh-CN" sz="1600" kern="100" dirty="0">
                        <a:effectLst/>
                        <a:latin typeface="Calibri" charset="0"/>
                        <a:ea typeface="宋体" charset="0"/>
                        <a:cs typeface="Times New Roman" charset="0"/>
                      </a:endParaRPr>
                    </a:p>
                  </a:txBody>
                  <a:tcPr marL="68580" marR="68580" marT="0" marB="0" anchor="b"/>
                </a:tc>
                <a:tc>
                  <a:txBody>
                    <a:bodyPr/>
                    <a:lstStyle/>
                    <a:p>
                      <a:endParaRPr lang="zh-CN" sz="1600" kern="100" dirty="0">
                        <a:effectLst/>
                        <a:latin typeface="Calibri" charset="0"/>
                      </a:endParaRPr>
                    </a:p>
                  </a:txBody>
                  <a:tcPr marL="68580" marR="68580" marT="0" marB="0" anchor="b"/>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610408202"/>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a:latin typeface="Lantinghei SC Demibold" charset="-122"/>
                <a:ea typeface="Lantinghei SC Demibold" charset="-122"/>
                <a:cs typeface="Lantinghei SC Demibold" charset="-122"/>
              </a:rPr>
              <a:t>审判管理的新思路</a:t>
            </a:r>
          </a:p>
        </p:txBody>
      </p:sp>
      <p:sp>
        <p:nvSpPr>
          <p:cNvPr id="3" name="内容占位符 2"/>
          <p:cNvSpPr>
            <a:spLocks noGrp="1"/>
          </p:cNvSpPr>
          <p:nvPr>
            <p:ph idx="1"/>
          </p:nvPr>
        </p:nvSpPr>
        <p:spPr/>
        <p:txBody>
          <a:bodyPr/>
          <a:lstStyle/>
          <a:p>
            <a:r>
              <a:rPr lang="zh-CN" altLang="en-US" sz="2800" dirty="0"/>
              <a:t>这种呈现方式比单变量描述更接近真实世界；</a:t>
            </a:r>
          </a:p>
          <a:p>
            <a:r>
              <a:rPr lang="zh-CN" altLang="en-US" sz="2800" dirty="0"/>
              <a:t>也不大可能通过人为操作进行修饰美化。</a:t>
            </a:r>
          </a:p>
          <a:p>
            <a:r>
              <a:rPr lang="zh-CN" altLang="en-US" sz="2800" dirty="0"/>
              <a:t>建议最高法院建立并持续公开相应的审判管理信息系统</a:t>
            </a:r>
          </a:p>
          <a:p>
            <a:r>
              <a:rPr lang="zh-CN" altLang="en-US" sz="2800" dirty="0"/>
              <a:t>人们可能据此要求有关方面解释为什么某些案件的量刑偏轻偏重，或者Ｒ</a:t>
            </a:r>
            <a:r>
              <a:rPr lang="zh-CN" altLang="en-US" sz="2800" baseline="30000" dirty="0"/>
              <a:t>２</a:t>
            </a:r>
            <a:r>
              <a:rPr lang="zh-CN" altLang="en-US" sz="2800" dirty="0"/>
              <a:t> 值偏低，过于偏离总体集中趋势。</a:t>
            </a:r>
          </a:p>
          <a:p>
            <a:r>
              <a:rPr lang="zh-CN" altLang="en-US" sz="2800" dirty="0"/>
              <a:t>观察、研究司法实践的地方性差异。</a:t>
            </a:r>
          </a:p>
          <a:p>
            <a:r>
              <a:rPr lang="zh-CN" altLang="en-US" sz="2800" dirty="0"/>
              <a:t>形成审判质量管理的创新机制</a:t>
            </a:r>
            <a:endParaRPr kumimoji="1" lang="zh-CN" altLang="en-US" sz="2800" dirty="0"/>
          </a:p>
        </p:txBody>
      </p:sp>
    </p:spTree>
    <p:extLst>
      <p:ext uri="{BB962C8B-B14F-4D97-AF65-F5344CB8AC3E}">
        <p14:creationId xmlns:p14="http://schemas.microsoft.com/office/powerpoint/2010/main" val="1647727927"/>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260648"/>
            <a:ext cx="7170737" cy="492125"/>
          </a:xfrm>
        </p:spPr>
        <p:txBody>
          <a:bodyPr/>
          <a:lstStyle/>
          <a:p>
            <a:pPr algn="ctr"/>
            <a:r>
              <a:rPr kumimoji="1" lang="zh-CN" altLang="en-US" sz="3200" dirty="0">
                <a:latin typeface="Lantinghei SC Demibold" charset="-122"/>
                <a:ea typeface="Lantinghei SC Demibold" charset="-122"/>
                <a:cs typeface="Lantinghei SC Demibold" charset="-122"/>
              </a:rPr>
              <a:t>理论：</a:t>
            </a:r>
            <a:r>
              <a:rPr lang="zh-CN" altLang="en-US" sz="3200" dirty="0">
                <a:latin typeface="Lantinghei SC Demibold" charset="-122"/>
                <a:ea typeface="Lantinghei SC Demibold" charset="-122"/>
                <a:cs typeface="Lantinghei SC Demibold" charset="-122"/>
              </a:rPr>
              <a:t>集体经验为什么重要</a:t>
            </a:r>
            <a:endParaRPr kumimoji="1" lang="zh-CN" altLang="en-US" sz="3200"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a:xfrm>
            <a:off x="457200" y="1125538"/>
            <a:ext cx="8229600" cy="5255790"/>
          </a:xfrm>
        </p:spPr>
        <p:txBody>
          <a:bodyPr/>
          <a:lstStyle/>
          <a:p>
            <a:r>
              <a:rPr lang="zh-CN" altLang="en-US" sz="2800" b="1" dirty="0"/>
              <a:t>集体经验是司法案件大样本中实际法律问题与法律实践之间实然联系的科学综合与归纳。</a:t>
            </a:r>
          </a:p>
          <a:p>
            <a:r>
              <a:rPr lang="zh-CN" altLang="en-US" dirty="0"/>
              <a:t>量刑预测是“自动售货机”？</a:t>
            </a:r>
            <a:endParaRPr lang="en-US" altLang="zh-CN" dirty="0"/>
          </a:p>
          <a:p>
            <a:r>
              <a:rPr lang="zh-CN" altLang="en-US" dirty="0"/>
              <a:t>凝结了巨量案件中具体适用法律的经验归纳。</a:t>
            </a:r>
            <a:endParaRPr lang="en-US" altLang="zh-CN" dirty="0"/>
          </a:p>
          <a:p>
            <a:r>
              <a:rPr lang="zh-CN" altLang="en-US" dirty="0"/>
              <a:t>“阿尔法狗”也是学习大量实战的产物。</a:t>
            </a:r>
          </a:p>
          <a:p>
            <a:r>
              <a:rPr lang="zh-CN" altLang="en-US" dirty="0"/>
              <a:t>“机器” 中，法官不是可有可无，而是必不可少。</a:t>
            </a:r>
          </a:p>
          <a:p>
            <a:r>
              <a:rPr lang="zh-CN" altLang="en-US" dirty="0"/>
              <a:t>预测结果意味着司法人员的彼此认同和信赖，</a:t>
            </a:r>
          </a:p>
          <a:p>
            <a:r>
              <a:rPr lang="en-US" altLang="zh-CN" dirty="0"/>
              <a:t>——</a:t>
            </a:r>
            <a:r>
              <a:rPr lang="zh-CN" altLang="en-US" dirty="0"/>
              <a:t>法官不是“倒逼”的对象！</a:t>
            </a:r>
            <a:endParaRPr lang="en-US" altLang="zh-CN" dirty="0"/>
          </a:p>
          <a:p>
            <a:r>
              <a:rPr lang="zh-CN" altLang="en-US" dirty="0"/>
              <a:t>会不会集体出错？会的。</a:t>
            </a:r>
            <a:endParaRPr lang="en-US" altLang="zh-CN" dirty="0"/>
          </a:p>
          <a:p>
            <a:r>
              <a:rPr lang="zh-CN" altLang="en-US" dirty="0"/>
              <a:t>但是否出错，也需要大样本实证研究来发现、证实。</a:t>
            </a:r>
            <a:endParaRPr lang="en-US" altLang="zh-CN" dirty="0"/>
          </a:p>
        </p:txBody>
      </p:sp>
    </p:spTree>
    <p:extLst>
      <p:ext uri="{BB962C8B-B14F-4D97-AF65-F5344CB8AC3E}">
        <p14:creationId xmlns:p14="http://schemas.microsoft.com/office/powerpoint/2010/main" val="1166953725"/>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小结</a:t>
            </a:r>
          </a:p>
        </p:txBody>
      </p:sp>
      <p:sp>
        <p:nvSpPr>
          <p:cNvPr id="4" name="内容占位符 3"/>
          <p:cNvSpPr>
            <a:spLocks noGrp="1"/>
          </p:cNvSpPr>
          <p:nvPr>
            <p:ph idx="1"/>
          </p:nvPr>
        </p:nvSpPr>
        <p:spPr/>
        <p:txBody>
          <a:bodyPr/>
          <a:lstStyle/>
          <a:p>
            <a:r>
              <a:rPr kumimoji="1" lang="zh-CN" altLang="en-US" sz="2800" dirty="0">
                <a:latin typeface="楷体"/>
                <a:ea typeface="楷体"/>
                <a:cs typeface="楷体"/>
              </a:rPr>
              <a:t>犯罪行为源于犯罪心理，是犯罪心理支配的结果；</a:t>
            </a:r>
            <a:endParaRPr kumimoji="1" lang="en-US" altLang="zh-CN" sz="2800" dirty="0">
              <a:latin typeface="楷体"/>
              <a:ea typeface="楷体"/>
              <a:cs typeface="楷体"/>
            </a:endParaRPr>
          </a:p>
          <a:p>
            <a:r>
              <a:rPr kumimoji="1" lang="zh-CN" altLang="en-US" sz="2800" dirty="0">
                <a:latin typeface="楷体"/>
                <a:ea typeface="楷体"/>
                <a:cs typeface="楷体"/>
              </a:rPr>
              <a:t>犯罪心理不是绝对自由的，而受制于各种规律的作用；</a:t>
            </a:r>
            <a:endParaRPr kumimoji="1" lang="en-US" altLang="zh-CN" sz="2800" dirty="0">
              <a:latin typeface="楷体"/>
              <a:ea typeface="楷体"/>
              <a:cs typeface="楷体"/>
            </a:endParaRPr>
          </a:p>
          <a:p>
            <a:r>
              <a:rPr kumimoji="1" lang="zh-CN" altLang="en-US" sz="2800" dirty="0">
                <a:latin typeface="楷体"/>
                <a:ea typeface="楷体"/>
                <a:cs typeface="楷体"/>
              </a:rPr>
              <a:t>尊重犯罪规律才能科学、合理的对犯罪进行刑罚裁量</a:t>
            </a:r>
            <a:endParaRPr kumimoji="1" lang="en-US" altLang="zh-CN" sz="2800" dirty="0">
              <a:latin typeface="楷体"/>
              <a:ea typeface="楷体"/>
              <a:cs typeface="楷体"/>
            </a:endParaRPr>
          </a:p>
          <a:p>
            <a:r>
              <a:rPr kumimoji="1" lang="zh-CN" altLang="en-US" sz="2800" dirty="0">
                <a:latin typeface="楷体"/>
                <a:ea typeface="楷体"/>
                <a:cs typeface="楷体"/>
              </a:rPr>
              <a:t>问题是：刑罚适用的唯一根据全部来自于犯罪人一方吗？</a:t>
            </a:r>
            <a:endParaRPr kumimoji="1" lang="en-US" altLang="zh-CN" sz="2800" dirty="0">
              <a:latin typeface="楷体"/>
              <a:ea typeface="楷体"/>
              <a:cs typeface="楷体"/>
            </a:endParaRPr>
          </a:p>
          <a:p>
            <a:r>
              <a:rPr kumimoji="1" lang="zh-CN" altLang="zh-CN" sz="2800" dirty="0">
                <a:latin typeface="楷体"/>
                <a:ea typeface="楷体"/>
                <a:cs typeface="楷体"/>
              </a:rPr>
              <a:t>——</a:t>
            </a:r>
            <a:r>
              <a:rPr kumimoji="1" lang="zh-CN" altLang="en-US" sz="2800" dirty="0">
                <a:latin typeface="楷体"/>
                <a:ea typeface="楷体"/>
                <a:cs typeface="楷体"/>
              </a:rPr>
              <a:t>未必。为什么？</a:t>
            </a:r>
          </a:p>
        </p:txBody>
      </p:sp>
    </p:spTree>
    <p:extLst>
      <p:ext uri="{BB962C8B-B14F-4D97-AF65-F5344CB8AC3E}">
        <p14:creationId xmlns:p14="http://schemas.microsoft.com/office/powerpoint/2010/main" val="3066324956"/>
      </p:ext>
    </p:extLst>
  </p:cSld>
  <p:clrMapOvr>
    <a:masterClrMapping/>
  </p:clrMapOvr>
  <p:transition>
    <p:fade/>
  </p:transition>
</p:sld>
</file>

<file path=ppt/theme/theme1.xml><?xml version="1.0" encoding="utf-8"?>
<a:theme xmlns:a="http://schemas.openxmlformats.org/drawingml/2006/main" name="technical-drawing">
  <a:themeElements>
    <a:clrScheme name="Office 主题 13">
      <a:dk1>
        <a:srgbClr val="000000"/>
      </a:dk1>
      <a:lt1>
        <a:srgbClr val="FFFFFF"/>
      </a:lt1>
      <a:dk2>
        <a:srgbClr val="000000"/>
      </a:dk2>
      <a:lt2>
        <a:srgbClr val="C6C6C6"/>
      </a:lt2>
      <a:accent1>
        <a:srgbClr val="C1F1FF"/>
      </a:accent1>
      <a:accent2>
        <a:srgbClr val="FFC1CE"/>
      </a:accent2>
      <a:accent3>
        <a:srgbClr val="FFFFFF"/>
      </a:accent3>
      <a:accent4>
        <a:srgbClr val="000000"/>
      </a:accent4>
      <a:accent5>
        <a:srgbClr val="DDF7FF"/>
      </a:accent5>
      <a:accent6>
        <a:srgbClr val="E7AFBA"/>
      </a:accent6>
      <a:hlink>
        <a:srgbClr val="CDFFC1"/>
      </a:hlink>
      <a:folHlink>
        <a:srgbClr val="FFE1C1"/>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pitchFamily="34" charset="0"/>
          </a:defRPr>
        </a:defPPr>
      </a:lstStyle>
    </a:lnDef>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ffice 主题 13">
        <a:dk1>
          <a:srgbClr val="000000"/>
        </a:dk1>
        <a:lt1>
          <a:srgbClr val="FFFFFF"/>
        </a:lt1>
        <a:dk2>
          <a:srgbClr val="000000"/>
        </a:dk2>
        <a:lt2>
          <a:srgbClr val="C6C6C6"/>
        </a:lt2>
        <a:accent1>
          <a:srgbClr val="C1F1FF"/>
        </a:accent1>
        <a:accent2>
          <a:srgbClr val="FFC1CE"/>
        </a:accent2>
        <a:accent3>
          <a:srgbClr val="FFFFFF"/>
        </a:accent3>
        <a:accent4>
          <a:srgbClr val="000000"/>
        </a:accent4>
        <a:accent5>
          <a:srgbClr val="DDF7FF"/>
        </a:accent5>
        <a:accent6>
          <a:srgbClr val="E7AFBA"/>
        </a:accent6>
        <a:hlink>
          <a:srgbClr val="CDFFC1"/>
        </a:hlink>
        <a:folHlink>
          <a:srgbClr val="FFE1C1"/>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technical-drawing</Template>
  <TotalTime>4902</TotalTime>
  <Words>8260</Words>
  <Application>Microsoft Macintosh PowerPoint</Application>
  <PresentationFormat>全屏显示(4:3)</PresentationFormat>
  <Paragraphs>1010</Paragraphs>
  <Slides>91</Slides>
  <Notes>0</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1</vt:i4>
      </vt:variant>
      <vt:variant>
        <vt:lpstr>幻灯片标题</vt:lpstr>
      </vt:variant>
      <vt:variant>
        <vt:i4>91</vt:i4>
      </vt:variant>
    </vt:vector>
  </HeadingPairs>
  <TitlesOfParts>
    <vt:vector size="115" baseType="lpstr">
      <vt:lpstr>方正粗圆简体</vt:lpstr>
      <vt:lpstr>方正新舒体简体</vt:lpstr>
      <vt:lpstr>方正姚体</vt:lpstr>
      <vt:lpstr>方正综艺简体</vt:lpstr>
      <vt:lpstr>黑体</vt:lpstr>
      <vt:lpstr>华文琥珀</vt:lpstr>
      <vt:lpstr>华文楷体</vt:lpstr>
      <vt:lpstr>华文新魏</vt:lpstr>
      <vt:lpstr>华文行楷</vt:lpstr>
      <vt:lpstr>楷体</vt:lpstr>
      <vt:lpstr>隶书</vt:lpstr>
      <vt:lpstr>宋体</vt:lpstr>
      <vt:lpstr>微软雅黑</vt:lpstr>
      <vt:lpstr>Heiti SC Light</vt:lpstr>
      <vt:lpstr>Lantinghei SC Demibold</vt:lpstr>
      <vt:lpstr>Lantinghei TC Heavy</vt:lpstr>
      <vt:lpstr>Libian SC Regular</vt:lpstr>
      <vt:lpstr>Arial</vt:lpstr>
      <vt:lpstr>Calibri</vt:lpstr>
      <vt:lpstr>Symbol</vt:lpstr>
      <vt:lpstr>Times New Roman</vt:lpstr>
      <vt:lpstr>Wingdings</vt:lpstr>
      <vt:lpstr>technical-drawing</vt:lpstr>
      <vt:lpstr>文档</vt:lpstr>
      <vt:lpstr>第七讲  犯罪心理</vt:lpstr>
      <vt:lpstr>母爱剥夺论</vt:lpstr>
      <vt:lpstr>弗洛伊德：精神分析</vt:lpstr>
      <vt:lpstr>人格发展的阶段</vt:lpstr>
      <vt:lpstr>弗洛伊德的病例：</vt:lpstr>
      <vt:lpstr>PowerPoint 演示文稿</vt:lpstr>
      <vt:lpstr>危险心结</vt:lpstr>
      <vt:lpstr>罪人如何对付内疚 </vt:lpstr>
      <vt:lpstr>小结</vt:lpstr>
      <vt:lpstr>第八讲  犯罪规律</vt:lpstr>
      <vt:lpstr>什么是规律？</vt:lpstr>
      <vt:lpstr>因果说：犯罪学就是犯罪原因学</vt:lpstr>
      <vt:lpstr>3、犯罪解释论的抽象性、思辨性。</vt:lpstr>
      <vt:lpstr>因果说的缺陷</vt:lpstr>
      <vt:lpstr>概率说：随机性假定</vt:lpstr>
      <vt:lpstr>格卢克夫妇的《500名犯罪人之经历》 </vt:lpstr>
      <vt:lpstr>2、犯罪属性特征的归纳</vt:lpstr>
      <vt:lpstr>         3、犯罪相关性的观察    身高与体重——正相关；     知识与胆量——负相关；     相貌与成绩——零相关；     相关不等于因果；但因果一定相关。</vt:lpstr>
      <vt:lpstr>犯罪学实例：</vt:lpstr>
      <vt:lpstr>两种学说的比较</vt:lpstr>
      <vt:lpstr>犯罪社会学</vt:lpstr>
      <vt:lpstr>社会因素还是生物学因素？</vt:lpstr>
      <vt:lpstr>研究犯罪规律有什么用？</vt:lpstr>
      <vt:lpstr>于是引发假设：</vt:lpstr>
      <vt:lpstr>数据来源</vt:lpstr>
      <vt:lpstr>犯罪率的中国数据（十万分比）</vt:lpstr>
      <vt:lpstr>犯罪率的中国数据（十万分比）</vt:lpstr>
      <vt:lpstr>可见：</vt:lpstr>
      <vt:lpstr>犯罪的社会归因</vt:lpstr>
      <vt:lpstr>检验策略</vt:lpstr>
      <vt:lpstr>PowerPoint 演示文稿</vt:lpstr>
      <vt:lpstr>多元回归结果</vt:lpstr>
      <vt:lpstr>意味着：</vt:lpstr>
      <vt:lpstr>理论解释</vt:lpstr>
      <vt:lpstr>社会反应的非均衡性</vt:lpstr>
      <vt:lpstr>刑罚资源投入控制</vt:lpstr>
      <vt:lpstr>假设证实</vt:lpstr>
      <vt:lpstr>回到理论</vt:lpstr>
      <vt:lpstr>第九讲  量刑</vt:lpstr>
      <vt:lpstr>案例</vt:lpstr>
      <vt:lpstr>概念：未完成罪 </vt:lpstr>
      <vt:lpstr>犯罪未遂</vt:lpstr>
      <vt:lpstr>中止</vt:lpstr>
      <vt:lpstr>盗窃的具体认定问题</vt:lpstr>
      <vt:lpstr>比较</vt:lpstr>
      <vt:lpstr>再比较两例：轻罪重罪的选择</vt:lpstr>
      <vt:lpstr>例二：</vt:lpstr>
      <vt:lpstr>问题</vt:lpstr>
      <vt:lpstr>基本概念：竞合 </vt:lpstr>
      <vt:lpstr>法条竞合</vt:lpstr>
      <vt:lpstr>基本原理</vt:lpstr>
      <vt:lpstr>共性与差异</vt:lpstr>
      <vt:lpstr>案例</vt:lpstr>
      <vt:lpstr>基本概念：共同犯罪 </vt:lpstr>
      <vt:lpstr>共同犯罪</vt:lpstr>
      <vt:lpstr>共同犯罪</vt:lpstr>
      <vt:lpstr>共同故意的特例</vt:lpstr>
      <vt:lpstr>案例</vt:lpstr>
      <vt:lpstr>比较两例</vt:lpstr>
      <vt:lpstr>概念：自首</vt:lpstr>
      <vt:lpstr>法定量刑情节</vt:lpstr>
      <vt:lpstr>怎样量刑？</vt:lpstr>
      <vt:lpstr>样本</vt:lpstr>
      <vt:lpstr>结果1、盗窃罪量刑</vt:lpstr>
      <vt:lpstr>结果2、故意伤害罪量刑</vt:lpstr>
      <vt:lpstr>结果3、交通肇事罪量刑</vt:lpstr>
      <vt:lpstr>结果4、诈骗罪量刑</vt:lpstr>
      <vt:lpstr>结果5、强奸罪量刑</vt:lpstr>
      <vt:lpstr>裸刑均值的合理性</vt:lpstr>
      <vt:lpstr>一个悖论</vt:lpstr>
      <vt:lpstr>犯罪“报价单”</vt:lpstr>
      <vt:lpstr>实然——罪刑未必均衡</vt:lpstr>
      <vt:lpstr>PowerPoint 演示文稿</vt:lpstr>
      <vt:lpstr>量化处理</vt:lpstr>
      <vt:lpstr>犯罪报价单</vt:lpstr>
      <vt:lpstr>观察离散情况</vt:lpstr>
      <vt:lpstr>意义</vt:lpstr>
      <vt:lpstr>PowerPoint 演示文稿</vt:lpstr>
      <vt:lpstr>轻重均衡与同案同判</vt:lpstr>
      <vt:lpstr>轻重均衡与同案同判</vt:lpstr>
      <vt:lpstr>PowerPoint 演示文稿</vt:lpstr>
      <vt:lpstr>量刑依据的一个真空地带</vt:lpstr>
      <vt:lpstr>样本与假设检验逻辑</vt:lpstr>
      <vt:lpstr>发现</vt:lpstr>
      <vt:lpstr>PowerPoint 演示文稿</vt:lpstr>
      <vt:lpstr>发现</vt:lpstr>
      <vt:lpstr>意义一：个案预测，促进司法公正</vt:lpstr>
      <vt:lpstr>意义二：群案测量，加强审判管理</vt:lpstr>
      <vt:lpstr>审判管理的新思路</vt:lpstr>
      <vt:lpstr>理论：集体经验为什么重要</vt:lpstr>
      <vt:lpstr>小结</vt:lpstr>
    </vt:vector>
  </TitlesOfParts>
  <LinksUpToDate>false</LinksUpToDate>
  <SharedDoc>false</SharedDoc>
  <HyperlinksChanged>false</HyperlinksChanged>
  <AppVersion>16.0008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bjj</dc:creator>
  <cp:lastModifiedBy>Microsoft Office 用户</cp:lastModifiedBy>
  <cp:revision>260</cp:revision>
  <dcterms:created xsi:type="dcterms:W3CDTF">2010-09-20T08:14:22Z</dcterms:created>
  <dcterms:modified xsi:type="dcterms:W3CDTF">2017-12-06T13:43:17Z</dcterms:modified>
</cp:coreProperties>
</file>