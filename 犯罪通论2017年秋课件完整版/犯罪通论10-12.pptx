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509" r:id="rId2"/>
    <p:sldId id="412" r:id="rId3"/>
    <p:sldId id="413" r:id="rId4"/>
    <p:sldId id="414" r:id="rId5"/>
    <p:sldId id="415" r:id="rId6"/>
    <p:sldId id="416" r:id="rId7"/>
    <p:sldId id="417" r:id="rId8"/>
    <p:sldId id="418" r:id="rId9"/>
    <p:sldId id="419" r:id="rId10"/>
    <p:sldId id="428" r:id="rId11"/>
    <p:sldId id="421" r:id="rId12"/>
    <p:sldId id="422" r:id="rId13"/>
    <p:sldId id="423" r:id="rId14"/>
    <p:sldId id="424" r:id="rId15"/>
    <p:sldId id="516" r:id="rId16"/>
    <p:sldId id="517" r:id="rId17"/>
    <p:sldId id="518" r:id="rId18"/>
    <p:sldId id="519" r:id="rId19"/>
    <p:sldId id="520" r:id="rId20"/>
    <p:sldId id="521" r:id="rId21"/>
    <p:sldId id="498" r:id="rId22"/>
    <p:sldId id="425" r:id="rId23"/>
    <p:sldId id="426" r:id="rId24"/>
    <p:sldId id="427" r:id="rId25"/>
    <p:sldId id="429" r:id="rId26"/>
    <p:sldId id="431" r:id="rId27"/>
    <p:sldId id="432" r:id="rId28"/>
    <p:sldId id="430" r:id="rId29"/>
    <p:sldId id="433" r:id="rId30"/>
    <p:sldId id="434" r:id="rId31"/>
    <p:sldId id="435" r:id="rId32"/>
    <p:sldId id="436" r:id="rId33"/>
    <p:sldId id="437" r:id="rId34"/>
    <p:sldId id="438" r:id="rId35"/>
    <p:sldId id="439" r:id="rId36"/>
    <p:sldId id="440" r:id="rId37"/>
    <p:sldId id="441" r:id="rId38"/>
    <p:sldId id="442" r:id="rId39"/>
    <p:sldId id="443" r:id="rId40"/>
    <p:sldId id="444" r:id="rId41"/>
    <p:sldId id="522" r:id="rId42"/>
    <p:sldId id="445" r:id="rId43"/>
    <p:sldId id="446" r:id="rId44"/>
    <p:sldId id="447" r:id="rId45"/>
    <p:sldId id="449" r:id="rId46"/>
    <p:sldId id="450" r:id="rId47"/>
    <p:sldId id="452" r:id="rId48"/>
    <p:sldId id="453" r:id="rId49"/>
    <p:sldId id="514" r:id="rId50"/>
    <p:sldId id="473" r:id="rId51"/>
    <p:sldId id="481" r:id="rId52"/>
    <p:sldId id="474" r:id="rId53"/>
    <p:sldId id="480" r:id="rId54"/>
    <p:sldId id="513" r:id="rId55"/>
    <p:sldId id="482" r:id="rId56"/>
    <p:sldId id="483" r:id="rId57"/>
    <p:sldId id="484" r:id="rId58"/>
    <p:sldId id="485" r:id="rId59"/>
    <p:sldId id="486" r:id="rId60"/>
    <p:sldId id="487" r:id="rId61"/>
    <p:sldId id="511" r:id="rId62"/>
    <p:sldId id="515" r:id="rId63"/>
    <p:sldId id="497" r:id="rId64"/>
  </p:sldIdLst>
  <p:sldSz cx="9144000" cy="6858000" type="screen4x3"/>
  <p:notesSz cx="6858000" cy="9144000"/>
  <p:defaultTextStyle>
    <a:defPPr>
      <a:defRPr lang="zh-CN"/>
    </a:defPPr>
    <a:lvl1pPr algn="l" rtl="0" fontAlgn="base">
      <a:spcBef>
        <a:spcPct val="0"/>
      </a:spcBef>
      <a:spcAft>
        <a:spcPct val="0"/>
      </a:spcAft>
      <a:defRPr b="1" kern="1200">
        <a:solidFill>
          <a:schemeClr val="tx1"/>
        </a:solidFill>
        <a:latin typeface="Arial" pitchFamily="34" charset="0"/>
        <a:ea typeface="+mn-ea"/>
        <a:cs typeface="+mn-cs"/>
      </a:defRPr>
    </a:lvl1pPr>
    <a:lvl2pPr marL="457200" algn="l" rtl="0" fontAlgn="base">
      <a:spcBef>
        <a:spcPct val="0"/>
      </a:spcBef>
      <a:spcAft>
        <a:spcPct val="0"/>
      </a:spcAft>
      <a:defRPr b="1" kern="1200">
        <a:solidFill>
          <a:schemeClr val="tx1"/>
        </a:solidFill>
        <a:latin typeface="Arial" pitchFamily="34" charset="0"/>
        <a:ea typeface="+mn-ea"/>
        <a:cs typeface="+mn-cs"/>
      </a:defRPr>
    </a:lvl2pPr>
    <a:lvl3pPr marL="914400" algn="l" rtl="0" fontAlgn="base">
      <a:spcBef>
        <a:spcPct val="0"/>
      </a:spcBef>
      <a:spcAft>
        <a:spcPct val="0"/>
      </a:spcAft>
      <a:defRPr b="1" kern="1200">
        <a:solidFill>
          <a:schemeClr val="tx1"/>
        </a:solidFill>
        <a:latin typeface="Arial" pitchFamily="34" charset="0"/>
        <a:ea typeface="+mn-ea"/>
        <a:cs typeface="+mn-cs"/>
      </a:defRPr>
    </a:lvl3pPr>
    <a:lvl4pPr marL="1371600" algn="l" rtl="0" fontAlgn="base">
      <a:spcBef>
        <a:spcPct val="0"/>
      </a:spcBef>
      <a:spcAft>
        <a:spcPct val="0"/>
      </a:spcAft>
      <a:defRPr b="1" kern="1200">
        <a:solidFill>
          <a:schemeClr val="tx1"/>
        </a:solidFill>
        <a:latin typeface="Arial" pitchFamily="34" charset="0"/>
        <a:ea typeface="+mn-ea"/>
        <a:cs typeface="+mn-cs"/>
      </a:defRPr>
    </a:lvl4pPr>
    <a:lvl5pPr marL="1828800" algn="l" rtl="0" fontAlgn="base">
      <a:spcBef>
        <a:spcPct val="0"/>
      </a:spcBef>
      <a:spcAft>
        <a:spcPct val="0"/>
      </a:spcAft>
      <a:defRPr b="1" kern="1200">
        <a:solidFill>
          <a:schemeClr val="tx1"/>
        </a:solidFill>
        <a:latin typeface="Arial" pitchFamily="34" charset="0"/>
        <a:ea typeface="+mn-ea"/>
        <a:cs typeface="+mn-cs"/>
      </a:defRPr>
    </a:lvl5pPr>
    <a:lvl6pPr marL="2286000" algn="l" defTabSz="914400" rtl="0" eaLnBrk="1" latinLnBrk="0" hangingPunct="1">
      <a:defRPr b="1" kern="1200">
        <a:solidFill>
          <a:schemeClr val="tx1"/>
        </a:solidFill>
        <a:latin typeface="Arial" pitchFamily="34" charset="0"/>
        <a:ea typeface="+mn-ea"/>
        <a:cs typeface="+mn-cs"/>
      </a:defRPr>
    </a:lvl6pPr>
    <a:lvl7pPr marL="2743200" algn="l" defTabSz="914400" rtl="0" eaLnBrk="1" latinLnBrk="0" hangingPunct="1">
      <a:defRPr b="1" kern="1200">
        <a:solidFill>
          <a:schemeClr val="tx1"/>
        </a:solidFill>
        <a:latin typeface="Arial" pitchFamily="34" charset="0"/>
        <a:ea typeface="+mn-ea"/>
        <a:cs typeface="+mn-cs"/>
      </a:defRPr>
    </a:lvl7pPr>
    <a:lvl8pPr marL="3200400" algn="l" defTabSz="914400" rtl="0" eaLnBrk="1" latinLnBrk="0" hangingPunct="1">
      <a:defRPr b="1" kern="1200">
        <a:solidFill>
          <a:schemeClr val="tx1"/>
        </a:solidFill>
        <a:latin typeface="Arial" pitchFamily="34" charset="0"/>
        <a:ea typeface="+mn-ea"/>
        <a:cs typeface="+mn-cs"/>
      </a:defRPr>
    </a:lvl8pPr>
    <a:lvl9pPr marL="3657600" algn="l" defTabSz="914400" rtl="0" eaLnBrk="1" latinLnBrk="0" hangingPunct="1">
      <a:defRPr b="1"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85" autoAdjust="0"/>
    <p:restoredTop sz="92747" autoAdjust="0"/>
  </p:normalViewPr>
  <p:slideViewPr>
    <p:cSldViewPr>
      <p:cViewPr varScale="1">
        <p:scale>
          <a:sx n="104" d="100"/>
          <a:sy n="104" d="100"/>
        </p:scale>
        <p:origin x="1320" y="192"/>
      </p:cViewPr>
      <p:guideLst>
        <p:guide orient="horz" pos="2160"/>
        <p:guide pos="2880"/>
      </p:guideLst>
    </p:cSldViewPr>
  </p:slideViewPr>
  <p:outlineViewPr>
    <p:cViewPr>
      <p:scale>
        <a:sx n="33" d="100"/>
        <a:sy n="33" d="100"/>
      </p:scale>
      <p:origin x="56"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3074" name="Picture 2" descr="technical-drawin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076" name="Rectangle 4"/>
          <p:cNvSpPr>
            <a:spLocks noGrp="1" noChangeArrowheads="1"/>
          </p:cNvSpPr>
          <p:nvPr>
            <p:ph type="ctrTitle"/>
          </p:nvPr>
        </p:nvSpPr>
        <p:spPr>
          <a:xfrm>
            <a:off x="323850" y="1916113"/>
            <a:ext cx="7772400" cy="663575"/>
          </a:xfrm>
        </p:spPr>
        <p:txBody>
          <a:bodyPr/>
          <a:lstStyle>
            <a:lvl1pPr>
              <a:defRPr sz="3600" noProof="1"/>
            </a:lvl1pPr>
          </a:lstStyle>
          <a:p>
            <a:r>
              <a:rPr lang="zh-CN" altLang="en-US" noProof="1"/>
              <a:t>单击此处编辑母版标题样式</a:t>
            </a:r>
            <a:endParaRPr lang="en-US" altLang="zh-CN" noProof="1"/>
          </a:p>
        </p:txBody>
      </p:sp>
      <p:sp>
        <p:nvSpPr>
          <p:cNvPr id="3077" name="Rectangle 5"/>
          <p:cNvSpPr>
            <a:spLocks noGrp="1" noChangeArrowheads="1"/>
          </p:cNvSpPr>
          <p:nvPr>
            <p:ph type="subTitle" idx="1"/>
          </p:nvPr>
        </p:nvSpPr>
        <p:spPr>
          <a:xfrm>
            <a:off x="323850" y="2816225"/>
            <a:ext cx="6400800" cy="1620838"/>
          </a:xfrm>
        </p:spPr>
        <p:txBody>
          <a:bodyPr/>
          <a:lstStyle>
            <a:lvl1pPr marL="0" indent="0">
              <a:buFontTx/>
              <a:buNone/>
              <a:defRPr noProof="1"/>
            </a:lvl1pPr>
          </a:lstStyle>
          <a:p>
            <a:r>
              <a:rPr lang="zh-CN" altLang="en-US" noProof="1"/>
              <a:t>单击此处编辑母版副标题样式</a:t>
            </a:r>
            <a:endParaRPr lang="en-US" altLang="zh-CN" noProof="1"/>
          </a:p>
        </p:txBody>
      </p:sp>
      <p:sp>
        <p:nvSpPr>
          <p:cNvPr id="3081" name="Rectangle 9"/>
          <p:cNvSpPr>
            <a:spLocks noGrp="1" noChangeArrowheads="1"/>
          </p:cNvSpPr>
          <p:nvPr>
            <p:ph type="dt" sz="half" idx="2"/>
          </p:nvPr>
        </p:nvSpPr>
        <p:spPr/>
        <p:txBody>
          <a:bodyPr/>
          <a:lstStyle>
            <a:lvl1pPr>
              <a:defRPr/>
            </a:lvl1pPr>
          </a:lstStyle>
          <a:p>
            <a:endParaRPr lang="en-US" altLang="zh-CN"/>
          </a:p>
        </p:txBody>
      </p:sp>
      <p:sp>
        <p:nvSpPr>
          <p:cNvPr id="3082" name="Rectangle 10"/>
          <p:cNvSpPr>
            <a:spLocks noGrp="1" noChangeArrowheads="1"/>
          </p:cNvSpPr>
          <p:nvPr>
            <p:ph type="ftr" sz="quarter" idx="3"/>
          </p:nvPr>
        </p:nvSpPr>
        <p:spPr/>
        <p:txBody>
          <a:bodyPr/>
          <a:lstStyle>
            <a:lvl1pPr>
              <a:defRPr/>
            </a:lvl1pPr>
          </a:lstStyle>
          <a:p>
            <a:endParaRPr lang="zh-CN" altLang="zh-CN"/>
          </a:p>
        </p:txBody>
      </p:sp>
      <p:sp>
        <p:nvSpPr>
          <p:cNvPr id="3083" name="Rectangle 11"/>
          <p:cNvSpPr>
            <a:spLocks noGrp="1" noChangeArrowheads="1"/>
          </p:cNvSpPr>
          <p:nvPr>
            <p:ph type="sldNum" sz="quarter" idx="4"/>
          </p:nvPr>
        </p:nvSpPr>
        <p:spPr/>
        <p:txBody>
          <a:bodyPr/>
          <a:lstStyle>
            <a:lvl1pPr>
              <a:defRPr/>
            </a:lvl1pPr>
          </a:lstStyle>
          <a:p>
            <a:fld id="{6B072979-0336-418D-B7D9-C99A80321136}" type="slidenum">
              <a:rPr altLang="zh-CN"/>
              <a:pPr/>
              <a:t>‹#›</a:t>
            </a:fld>
            <a:endParaRPr lang="zh-CN"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3076"/>
                                        </p:tgtEl>
                                        <p:attrNameLst>
                                          <p:attrName>style.visibility</p:attrName>
                                        </p:attrNameLst>
                                      </p:cBhvr>
                                      <p:to>
                                        <p:strVal val="visible"/>
                                      </p:to>
                                    </p:set>
                                    <p:anim calcmode="lin" valueType="num">
                                      <p:cBhvr>
                                        <p:cTn id="7" dur="500" fill="hold"/>
                                        <p:tgtEl>
                                          <p:spTgt spid="3076"/>
                                        </p:tgtEl>
                                        <p:attrNameLst>
                                          <p:attrName>ppt_w</p:attrName>
                                        </p:attrNameLst>
                                      </p:cBhvr>
                                      <p:tavLst>
                                        <p:tav tm="0">
                                          <p:val>
                                            <p:fltVal val="0"/>
                                          </p:val>
                                        </p:tav>
                                        <p:tav tm="100000">
                                          <p:val>
                                            <p:strVal val="#ppt_w"/>
                                          </p:val>
                                        </p:tav>
                                      </p:tavLst>
                                    </p:anim>
                                    <p:anim calcmode="lin" valueType="num">
                                      <p:cBhvr>
                                        <p:cTn id="8" dur="500" fill="hold"/>
                                        <p:tgtEl>
                                          <p:spTgt spid="3076"/>
                                        </p:tgtEl>
                                        <p:attrNameLst>
                                          <p:attrName>ppt_h</p:attrName>
                                        </p:attrNameLst>
                                      </p:cBhvr>
                                      <p:tavLst>
                                        <p:tav tm="0">
                                          <p:val>
                                            <p:fltVal val="0"/>
                                          </p:val>
                                        </p:tav>
                                        <p:tav tm="100000">
                                          <p:val>
                                            <p:strVal val="#ppt_h"/>
                                          </p:val>
                                        </p:tav>
                                      </p:tavLst>
                                    </p:anim>
                                    <p:animEffect transition="in" filter="fade">
                                      <p:cBhvr>
                                        <p:cTn id="9" dur="500"/>
                                        <p:tgtEl>
                                          <p:spTgt spid="3076"/>
                                        </p:tgtEl>
                                      </p:cBhvr>
                                    </p:animEffect>
                                  </p:childTnLst>
                                </p:cTn>
                              </p:par>
                            </p:childTnLst>
                          </p:cTn>
                        </p:par>
                        <p:par>
                          <p:cTn id="10" fill="hold">
                            <p:stCondLst>
                              <p:cond delay="1020"/>
                            </p:stCondLst>
                            <p:childTnLst>
                              <p:par>
                                <p:cTn id="11" presetID="42" presetClass="entr" presetSubtype="0" fill="hold" grpId="0" nodeType="afterEffect">
                                  <p:stCondLst>
                                    <p:cond delay="0"/>
                                  </p:stCondLst>
                                  <p:childTnLst>
                                    <p:set>
                                      <p:cBhvr>
                                        <p:cTn id="12" dur="1" fill="hold">
                                          <p:stCondLst>
                                            <p:cond delay="0"/>
                                          </p:stCondLst>
                                        </p:cTn>
                                        <p:tgtEl>
                                          <p:spTgt spid="3077">
                                            <p:txEl>
                                              <p:pRg st="0" end="0"/>
                                            </p:txEl>
                                          </p:spTgt>
                                        </p:tgtEl>
                                        <p:attrNameLst>
                                          <p:attrName>style.visibility</p:attrName>
                                        </p:attrNameLst>
                                      </p:cBhvr>
                                      <p:to>
                                        <p:strVal val="visible"/>
                                      </p:to>
                                    </p:set>
                                    <p:animEffect transition="in" filter="fade">
                                      <p:cBhvr>
                                        <p:cTn id="13" dur="500"/>
                                        <p:tgtEl>
                                          <p:spTgt spid="3077">
                                            <p:txEl>
                                              <p:pRg st="0" end="0"/>
                                            </p:txEl>
                                          </p:spTgt>
                                        </p:tgtEl>
                                      </p:cBhvr>
                                    </p:animEffect>
                                    <p:anim calcmode="lin" valueType="num">
                                      <p:cBhvr>
                                        <p:cTn id="14" dur="500" fill="hold"/>
                                        <p:tgtEl>
                                          <p:spTgt spid="3077">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307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p:bldP spid="3077" grpId="0" build="p">
        <p:tmplLst>
          <p:tmpl lvl="1">
            <p:tnLst>
              <p:par>
                <p:cTn presetID="42" presetClass="entr" presetSubtype="0" fill="hold" nodeType="afterEffect">
                  <p:stCondLst>
                    <p:cond delay="0"/>
                  </p:stCondLst>
                  <p:childTnLst>
                    <p:set>
                      <p:cBhvr>
                        <p:cTn dur="1" fill="hold">
                          <p:stCondLst>
                            <p:cond delay="0"/>
                          </p:stCondLst>
                        </p:cTn>
                        <p:tgtEl>
                          <p:spTgt spid="3077"/>
                        </p:tgtEl>
                        <p:attrNameLst>
                          <p:attrName>style.visibility</p:attrName>
                        </p:attrNameLst>
                      </p:cBhvr>
                      <p:to>
                        <p:strVal val="visible"/>
                      </p:to>
                    </p:set>
                    <p:animEffect transition="in" filter="fade">
                      <p:cBhvr>
                        <p:cTn dur="500"/>
                        <p:tgtEl>
                          <p:spTgt spid="3077"/>
                        </p:tgtEl>
                      </p:cBhvr>
                    </p:animEffect>
                    <p:anim calcmode="lin" valueType="num">
                      <p:cBhvr>
                        <p:cTn dur="500" fill="hold"/>
                        <p:tgtEl>
                          <p:spTgt spid="3077"/>
                        </p:tgtEl>
                        <p:attrNameLst>
                          <p:attrName>ppt_x</p:attrName>
                        </p:attrNameLst>
                      </p:cBhvr>
                      <p:tavLst>
                        <p:tav tm="0">
                          <p:val>
                            <p:strVal val="#ppt_x"/>
                          </p:val>
                        </p:tav>
                        <p:tav tm="100000">
                          <p:val>
                            <p:strVal val="#ppt_x"/>
                          </p:val>
                        </p:tav>
                      </p:tavLst>
                    </p:anim>
                    <p:anim calcmode="lin" valueType="num">
                      <p:cBhvr>
                        <p:cTn dur="500" fill="hold"/>
                        <p:tgtEl>
                          <p:spTgt spid="3077"/>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837C144C-5A62-4B53-B939-FE9C4EDA708D}" type="slidenum">
              <a:rPr lang="en-US" altLang="zh-CN"/>
              <a:pPr/>
              <a:t>‹#›</a:t>
            </a:fld>
            <a:endParaRPr lang="zh-CN" alt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6F9D51D-9118-4800-B174-69EACE3FF5A3}" type="slidenum">
              <a:rPr lang="en-US" altLang="zh-CN"/>
              <a:pPr/>
              <a:t>‹#›</a:t>
            </a:fld>
            <a:endParaRPr lang="zh-CN" alt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25538"/>
            <a:ext cx="40386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25538"/>
            <a:ext cx="40386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67ED21AA-184C-4641-9370-082D8E62746A}" type="slidenum">
              <a:rPr lang="en-US" altLang="zh-CN"/>
              <a:pPr/>
              <a:t>‹#›</a:t>
            </a:fld>
            <a:endParaRPr lang="zh-CN" alt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E0F415CA-CD6A-40FF-A5CF-9E8E9B8FB1E1}" type="slidenum">
              <a:rPr lang="en-US" altLang="zh-CN"/>
              <a:pPr/>
              <a:t>‹#›</a:t>
            </a:fld>
            <a:endParaRPr lang="zh-CN" alt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316743F3-7996-4B80-B69B-C4065A2A9338}" type="slidenum">
              <a:rPr lang="en-US" altLang="zh-CN"/>
              <a:pPr/>
              <a:t>‹#›</a:t>
            </a:fld>
            <a:endParaRPr lang="zh-CN"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E48E8300-F0AA-4671-8397-F49141120FA8}" type="slidenum">
              <a:rPr lang="en-US" altLang="zh-CN"/>
              <a:pPr/>
              <a:t>‹#›</a:t>
            </a:fld>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8788E868-9910-4165-BD4C-637EC4D8665E}" type="slidenum">
              <a:rPr lang="en-US" altLang="zh-CN"/>
              <a:pPr/>
              <a:t>‹#›</a:t>
            </a:fld>
            <a:endParaRPr lang="zh-CN"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ED3A4B21-5C7B-4591-AE90-6381C065307E}" type="slidenum">
              <a:rPr lang="en-US" altLang="zh-CN"/>
              <a:pPr/>
              <a:t>‹#›</a:t>
            </a:fld>
            <a:endParaRPr lang="zh-CN" alt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485D422-BFCC-41E2-88E6-6D5664ED9BFC}" type="slidenum">
              <a:rPr lang="en-US" altLang="zh-CN"/>
              <a:pPr/>
              <a:t>‹#›</a:t>
            </a:fld>
            <a:endParaRPr lang="zh-CN" alt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34150" y="211138"/>
            <a:ext cx="2152650" cy="59150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1438" y="211138"/>
            <a:ext cx="6310312" cy="59150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CD583125-6E9C-4AB4-ADB7-DE34C969AE71}" type="slidenum">
              <a:rPr lang="en-US" altLang="zh-CN"/>
              <a:pPr/>
              <a:t>‹#›</a:t>
            </a:fld>
            <a:endParaRPr lang="zh-CN" alt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图表占位符 2"/>
          <p:cNvSpPr>
            <a:spLocks noGrp="1"/>
          </p:cNvSpPr>
          <p:nvPr>
            <p:ph type="chart" idx="1"/>
          </p:nvPr>
        </p:nvSpPr>
        <p:spPr>
          <a:xfrm>
            <a:off x="1182688" y="2017713"/>
            <a:ext cx="7772400" cy="4114800"/>
          </a:xfrm>
        </p:spPr>
        <p:txBody>
          <a:bodyPr/>
          <a:lstStyle/>
          <a:p>
            <a:pPr lvl="0"/>
            <a:endParaRPr lang="zh-CN" altLang="en-US" noProof="0"/>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9740EA3F-36C8-4252-AF8D-4DA537505AEE}" type="slidenum">
              <a:rPr lang="en-US" altLang="zh-CN"/>
              <a:pPr>
                <a:defRPr/>
              </a:pPr>
              <a:t>‹#›</a:t>
            </a:fld>
            <a:endParaRPr lang="en-US" altLang="zh-CN"/>
          </a:p>
        </p:txBody>
      </p:sp>
    </p:spTree>
    <p:extLst>
      <p:ext uri="{BB962C8B-B14F-4D97-AF65-F5344CB8AC3E}">
        <p14:creationId xmlns:p14="http://schemas.microsoft.com/office/powerpoint/2010/main" val="396766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2" name="Picture 8" descr="technical-drawing"/>
          <p:cNvPicPr>
            <a:picLocks noChangeAspect="1" noChangeArrowheads="1"/>
          </p:cNvPicPr>
          <p:nvPr/>
        </p:nvPicPr>
        <p:blipFill>
          <a:blip r:embed="rId14" cstate="print"/>
          <a:srcRect/>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71438" y="211138"/>
            <a:ext cx="7170737" cy="492125"/>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zh-CN" altLang="en-US" noProof="1"/>
              <a:t>单击此处编辑母版标题样式</a:t>
            </a:r>
            <a:endParaRPr lang="en-US" altLang="zh-CN" noProof="1"/>
          </a:p>
        </p:txBody>
      </p:sp>
      <p:sp>
        <p:nvSpPr>
          <p:cNvPr id="1027" name="Rectangle 3"/>
          <p:cNvSpPr>
            <a:spLocks noGrp="1" noChangeArrowheads="1"/>
          </p:cNvSpPr>
          <p:nvPr>
            <p:ph type="body" idx="1"/>
          </p:nvPr>
        </p:nvSpPr>
        <p:spPr bwMode="auto">
          <a:xfrm>
            <a:off x="457200" y="1125538"/>
            <a:ext cx="8229600" cy="50006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altLang="zh-CN" noProof="1"/>
          </a:p>
        </p:txBody>
      </p:sp>
      <p:sp>
        <p:nvSpPr>
          <p:cNvPr id="1028" name="Rectangle 4"/>
          <p:cNvSpPr>
            <a:spLocks noGrp="1" noChangeArrowheads="1"/>
          </p:cNvSpPr>
          <p:nvPr>
            <p:ph type="dt" sz="half" idx="2"/>
          </p:nvPr>
        </p:nvSpPr>
        <p:spPr bwMode="auto">
          <a:xfrm>
            <a:off x="457200" y="6408738"/>
            <a:ext cx="2133600"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noProof="1"/>
            </a:lvl1pPr>
          </a:lstStyle>
          <a:p>
            <a:endParaRPr lang="en-US" altLang="zh-CN"/>
          </a:p>
        </p:txBody>
      </p:sp>
      <p:sp>
        <p:nvSpPr>
          <p:cNvPr id="1029" name="Rectangle 5"/>
          <p:cNvSpPr>
            <a:spLocks noGrp="1" noChangeArrowheads="1"/>
          </p:cNvSpPr>
          <p:nvPr>
            <p:ph type="ftr" sz="quarter" idx="3"/>
          </p:nvPr>
        </p:nvSpPr>
        <p:spPr bwMode="auto">
          <a:xfrm>
            <a:off x="2663825" y="6408738"/>
            <a:ext cx="3816350"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noProof="1"/>
            </a:lvl1pPr>
          </a:lstStyle>
          <a:p>
            <a:endParaRPr lang="zh-CN" altLang="zh-CN"/>
          </a:p>
        </p:txBody>
      </p:sp>
      <p:sp>
        <p:nvSpPr>
          <p:cNvPr id="1030" name="Rectangle 6"/>
          <p:cNvSpPr>
            <a:spLocks noGrp="1" noChangeArrowheads="1"/>
          </p:cNvSpPr>
          <p:nvPr>
            <p:ph type="sldNum" sz="quarter" idx="4"/>
          </p:nvPr>
        </p:nvSpPr>
        <p:spPr bwMode="auto">
          <a:xfrm>
            <a:off x="6553200" y="6408738"/>
            <a:ext cx="2133600"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noProof="1"/>
            </a:lvl1pPr>
          </a:lstStyle>
          <a:p>
            <a:fld id="{82D62DC1-3E5B-4839-85A1-5781019FC661}" type="slidenum">
              <a:rPr altLang="zh-CN"/>
              <a:pPr/>
              <a:t>‹#›</a:t>
            </a:fld>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childTnLst>
                          </p:cTn>
                        </p:par>
                        <p:par>
                          <p:cTn id="10" fill="hold">
                            <p:stCondLst>
                              <p:cond delay="1020"/>
                            </p:stCondLst>
                            <p:childTnLst>
                              <p:par>
                                <p:cTn id="11" presetID="10" presetClass="entr" presetSubtype="0" fill="hold" grpId="0" nodeType="afterEffect">
                                  <p:stCondLst>
                                    <p:cond delay="0"/>
                                  </p:stCondLst>
                                  <p:childTnLst>
                                    <p:set>
                                      <p:cBhvr>
                                        <p:cTn id="12" dur="1" fill="hold">
                                          <p:stCondLst>
                                            <p:cond delay="0"/>
                                          </p:stCondLst>
                                        </p:cTn>
                                        <p:tgtEl>
                                          <p:spTgt spid="1027">
                                            <p:txEl>
                                              <p:pRg st="0" end="0"/>
                                            </p:txEl>
                                          </p:spTgt>
                                        </p:tgtEl>
                                        <p:attrNameLst>
                                          <p:attrName>style.visibility</p:attrName>
                                        </p:attrNameLst>
                                      </p:cBhvr>
                                      <p:to>
                                        <p:strVal val="visible"/>
                                      </p:to>
                                    </p:set>
                                    <p:animEffect transition="in" filter="fade">
                                      <p:cBhvr>
                                        <p:cTn id="13" dur="500"/>
                                        <p:tgtEl>
                                          <p:spTgt spid="1027">
                                            <p:txEl>
                                              <p:pRg st="0" end="0"/>
                                            </p:txEl>
                                          </p:spTgt>
                                        </p:tgtEl>
                                      </p:cBhvr>
                                    </p:animEffect>
                                  </p:childTnLst>
                                </p:cTn>
                              </p:par>
                            </p:childTnLst>
                          </p:cTn>
                        </p:par>
                        <p:par>
                          <p:cTn id="14" fill="hold">
                            <p:stCondLst>
                              <p:cond delay="1520"/>
                            </p:stCondLst>
                            <p:childTnLst>
                              <p:par>
                                <p:cTn id="15" presetID="10" presetClass="entr" presetSubtype="0" fill="hold" grpId="0" nodeType="afterEffect">
                                  <p:stCondLst>
                                    <p:cond delay="0"/>
                                  </p:stCondLst>
                                  <p:childTnLst>
                                    <p:set>
                                      <p:cBhvr>
                                        <p:cTn id="16" dur="1" fill="hold">
                                          <p:stCondLst>
                                            <p:cond delay="0"/>
                                          </p:stCondLst>
                                        </p:cTn>
                                        <p:tgtEl>
                                          <p:spTgt spid="1027">
                                            <p:txEl>
                                              <p:pRg st="1" end="1"/>
                                            </p:txEl>
                                          </p:spTgt>
                                        </p:tgtEl>
                                        <p:attrNameLst>
                                          <p:attrName>style.visibility</p:attrName>
                                        </p:attrNameLst>
                                      </p:cBhvr>
                                      <p:to>
                                        <p:strVal val="visible"/>
                                      </p:to>
                                    </p:set>
                                    <p:animEffect transition="in" filter="fade">
                                      <p:cBhvr>
                                        <p:cTn id="17" dur="500"/>
                                        <p:tgtEl>
                                          <p:spTgt spid="1027">
                                            <p:txEl>
                                              <p:pRg st="1" end="1"/>
                                            </p:txEl>
                                          </p:spTgt>
                                        </p:tgtEl>
                                      </p:cBhvr>
                                    </p:animEffect>
                                  </p:childTnLst>
                                </p:cTn>
                              </p:par>
                            </p:childTnLst>
                          </p:cTn>
                        </p:par>
                        <p:par>
                          <p:cTn id="18" fill="hold">
                            <p:stCondLst>
                              <p:cond delay="2020"/>
                            </p:stCondLst>
                            <p:childTnLst>
                              <p:par>
                                <p:cTn id="19" presetID="10" presetClass="entr" presetSubtype="0" fill="hold" grpId="0" nodeType="afterEffect">
                                  <p:stCondLst>
                                    <p:cond delay="0"/>
                                  </p:stCondLst>
                                  <p:childTnLst>
                                    <p:set>
                                      <p:cBhvr>
                                        <p:cTn id="20" dur="1" fill="hold">
                                          <p:stCondLst>
                                            <p:cond delay="0"/>
                                          </p:stCondLst>
                                        </p:cTn>
                                        <p:tgtEl>
                                          <p:spTgt spid="1027">
                                            <p:txEl>
                                              <p:pRg st="2" end="2"/>
                                            </p:txEl>
                                          </p:spTgt>
                                        </p:tgtEl>
                                        <p:attrNameLst>
                                          <p:attrName>style.visibility</p:attrName>
                                        </p:attrNameLst>
                                      </p:cBhvr>
                                      <p:to>
                                        <p:strVal val="visible"/>
                                      </p:to>
                                    </p:set>
                                    <p:animEffect transition="in" filter="fade">
                                      <p:cBhvr>
                                        <p:cTn id="21" dur="500"/>
                                        <p:tgtEl>
                                          <p:spTgt spid="1027">
                                            <p:txEl>
                                              <p:pRg st="2" end="2"/>
                                            </p:txEl>
                                          </p:spTgt>
                                        </p:tgtEl>
                                      </p:cBhvr>
                                    </p:animEffect>
                                  </p:childTnLst>
                                </p:cTn>
                              </p:par>
                            </p:childTnLst>
                          </p:cTn>
                        </p:par>
                        <p:par>
                          <p:cTn id="22" fill="hold">
                            <p:stCondLst>
                              <p:cond delay="2520"/>
                            </p:stCondLst>
                            <p:childTnLst>
                              <p:par>
                                <p:cTn id="23" presetID="10" presetClass="entr" presetSubtype="0" fill="hold" grpId="0" nodeType="afterEffect">
                                  <p:stCondLst>
                                    <p:cond delay="0"/>
                                  </p:stCondLst>
                                  <p:childTnLst>
                                    <p:set>
                                      <p:cBhvr>
                                        <p:cTn id="24" dur="1" fill="hold">
                                          <p:stCondLst>
                                            <p:cond delay="0"/>
                                          </p:stCondLst>
                                        </p:cTn>
                                        <p:tgtEl>
                                          <p:spTgt spid="1027">
                                            <p:txEl>
                                              <p:pRg st="3" end="3"/>
                                            </p:txEl>
                                          </p:spTgt>
                                        </p:tgtEl>
                                        <p:attrNameLst>
                                          <p:attrName>style.visibility</p:attrName>
                                        </p:attrNameLst>
                                      </p:cBhvr>
                                      <p:to>
                                        <p:strVal val="visible"/>
                                      </p:to>
                                    </p:set>
                                    <p:animEffect transition="in" filter="fade">
                                      <p:cBhvr>
                                        <p:cTn id="25" dur="500"/>
                                        <p:tgtEl>
                                          <p:spTgt spid="1027">
                                            <p:txEl>
                                              <p:pRg st="3" end="3"/>
                                            </p:txEl>
                                          </p:spTgt>
                                        </p:tgtEl>
                                      </p:cBhvr>
                                    </p:animEffect>
                                  </p:childTnLst>
                                </p:cTn>
                              </p:par>
                            </p:childTnLst>
                          </p:cTn>
                        </p:par>
                        <p:par>
                          <p:cTn id="26" fill="hold">
                            <p:stCondLst>
                              <p:cond delay="3020"/>
                            </p:stCondLst>
                            <p:childTnLst>
                              <p:par>
                                <p:cTn id="27" presetID="10" presetClass="entr" presetSubtype="0" fill="hold" grpId="0" nodeType="afterEffect">
                                  <p:stCondLst>
                                    <p:cond delay="0"/>
                                  </p:stCondLst>
                                  <p:childTnLst>
                                    <p:set>
                                      <p:cBhvr>
                                        <p:cTn id="28" dur="1" fill="hold">
                                          <p:stCondLst>
                                            <p:cond delay="0"/>
                                          </p:stCondLst>
                                        </p:cTn>
                                        <p:tgtEl>
                                          <p:spTgt spid="1027">
                                            <p:txEl>
                                              <p:pRg st="4" end="4"/>
                                            </p:txEl>
                                          </p:spTgt>
                                        </p:tgtEl>
                                        <p:attrNameLst>
                                          <p:attrName>style.visibility</p:attrName>
                                        </p:attrNameLst>
                                      </p:cBhvr>
                                      <p:to>
                                        <p:strVal val="visible"/>
                                      </p:to>
                                    </p:set>
                                    <p:animEffect transition="in" filter="fade">
                                      <p:cBhvr>
                                        <p:cTn id="29"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tmplLst>
          <p:tmpl lvl="1">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Lst>
      </p:bldP>
    </p:bldLst>
  </p:timing>
  <p:txStyles>
    <p:titleStyle>
      <a:lvl1pPr algn="l" rtl="0" eaLnBrk="1" fontAlgn="base" hangingPunct="1">
        <a:spcBef>
          <a:spcPct val="0"/>
        </a:spcBef>
        <a:spcAft>
          <a:spcPct val="0"/>
        </a:spcAft>
        <a:defRPr sz="2800">
          <a:solidFill>
            <a:schemeClr val="tx2"/>
          </a:solidFill>
          <a:latin typeface="+mj-lt"/>
          <a:ea typeface="+mj-ea"/>
          <a:cs typeface="+mj-cs"/>
        </a:defRPr>
      </a:lvl1pPr>
      <a:lvl2pPr algn="l" rtl="0" eaLnBrk="1" fontAlgn="base" hangingPunct="1">
        <a:spcBef>
          <a:spcPct val="0"/>
        </a:spcBef>
        <a:spcAft>
          <a:spcPct val="0"/>
        </a:spcAft>
        <a:defRPr sz="2800">
          <a:solidFill>
            <a:schemeClr val="tx2"/>
          </a:solidFill>
          <a:latin typeface="Arial" pitchFamily="34" charset="0"/>
        </a:defRPr>
      </a:lvl2pPr>
      <a:lvl3pPr algn="l" rtl="0" eaLnBrk="1" fontAlgn="base" hangingPunct="1">
        <a:spcBef>
          <a:spcPct val="0"/>
        </a:spcBef>
        <a:spcAft>
          <a:spcPct val="0"/>
        </a:spcAft>
        <a:defRPr sz="2800">
          <a:solidFill>
            <a:schemeClr val="tx2"/>
          </a:solidFill>
          <a:latin typeface="Arial" pitchFamily="34" charset="0"/>
        </a:defRPr>
      </a:lvl3pPr>
      <a:lvl4pPr algn="l" rtl="0" eaLnBrk="1" fontAlgn="base" hangingPunct="1">
        <a:spcBef>
          <a:spcPct val="0"/>
        </a:spcBef>
        <a:spcAft>
          <a:spcPct val="0"/>
        </a:spcAft>
        <a:defRPr sz="2800">
          <a:solidFill>
            <a:schemeClr val="tx2"/>
          </a:solidFill>
          <a:latin typeface="Arial" pitchFamily="34" charset="0"/>
        </a:defRPr>
      </a:lvl4pPr>
      <a:lvl5pPr algn="l" rtl="0" eaLnBrk="1" fontAlgn="base" hangingPunct="1">
        <a:spcBef>
          <a:spcPct val="0"/>
        </a:spcBef>
        <a:spcAft>
          <a:spcPct val="0"/>
        </a:spcAft>
        <a:defRPr sz="2800">
          <a:solidFill>
            <a:schemeClr val="tx2"/>
          </a:solidFill>
          <a:latin typeface="Arial" pitchFamily="34" charset="0"/>
        </a:defRPr>
      </a:lvl5pPr>
      <a:lvl6pPr marL="457200" algn="l" rtl="0" eaLnBrk="1" fontAlgn="base" hangingPunct="1">
        <a:spcBef>
          <a:spcPct val="0"/>
        </a:spcBef>
        <a:spcAft>
          <a:spcPct val="0"/>
        </a:spcAft>
        <a:defRPr sz="2800">
          <a:solidFill>
            <a:schemeClr val="tx2"/>
          </a:solidFill>
          <a:latin typeface="Arial" pitchFamily="34" charset="0"/>
        </a:defRPr>
      </a:lvl6pPr>
      <a:lvl7pPr marL="914400" algn="l" rtl="0" eaLnBrk="1" fontAlgn="base" hangingPunct="1">
        <a:spcBef>
          <a:spcPct val="0"/>
        </a:spcBef>
        <a:spcAft>
          <a:spcPct val="0"/>
        </a:spcAft>
        <a:defRPr sz="2800">
          <a:solidFill>
            <a:schemeClr val="tx2"/>
          </a:solidFill>
          <a:latin typeface="Arial" pitchFamily="34" charset="0"/>
        </a:defRPr>
      </a:lvl7pPr>
      <a:lvl8pPr marL="1371600" algn="l" rtl="0" eaLnBrk="1" fontAlgn="base" hangingPunct="1">
        <a:spcBef>
          <a:spcPct val="0"/>
        </a:spcBef>
        <a:spcAft>
          <a:spcPct val="0"/>
        </a:spcAft>
        <a:defRPr sz="2800">
          <a:solidFill>
            <a:schemeClr val="tx2"/>
          </a:solidFill>
          <a:latin typeface="Arial" pitchFamily="34" charset="0"/>
        </a:defRPr>
      </a:lvl8pPr>
      <a:lvl9pPr marL="1828800" algn="l" rtl="0" eaLnBrk="1" fontAlgn="base" hangingPunct="1">
        <a:spcBef>
          <a:spcPct val="0"/>
        </a:spcBef>
        <a:spcAft>
          <a:spcPct val="0"/>
        </a:spcAft>
        <a:defRPr sz="2800">
          <a:solidFill>
            <a:schemeClr val="tx2"/>
          </a:solidFill>
          <a:latin typeface="Arial" pitchFamily="34" charset="0"/>
        </a:defRPr>
      </a:lvl9pPr>
    </p:titleStyle>
    <p:bodyStyle>
      <a:lvl1pPr marL="342900" indent="-342900" algn="l" rtl="0" eaLnBrk="1" fontAlgn="base" hangingPunct="1">
        <a:spcBef>
          <a:spcPct val="20000"/>
        </a:spcBef>
        <a:spcAft>
          <a:spcPct val="0"/>
        </a:spcAft>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400">
          <a:solidFill>
            <a:schemeClr val="tx1"/>
          </a:solidFill>
          <a:latin typeface="+mn-lt"/>
        </a:defRPr>
      </a:lvl4pPr>
      <a:lvl5pPr marL="2057400" indent="-228600" algn="l" rtl="0" eaLnBrk="1" fontAlgn="base" hangingPunct="1">
        <a:spcBef>
          <a:spcPct val="20000"/>
        </a:spcBef>
        <a:spcAft>
          <a:spcPct val="0"/>
        </a:spcAft>
        <a:buChar char="»"/>
        <a:defRPr sz="2400">
          <a:solidFill>
            <a:schemeClr val="tx1"/>
          </a:solidFill>
          <a:latin typeface="+mn-lt"/>
        </a:defRPr>
      </a:lvl5pPr>
      <a:lvl6pPr marL="2514600" indent="-228600" algn="l" rtl="0" eaLnBrk="1" fontAlgn="base" hangingPunct="1">
        <a:spcBef>
          <a:spcPct val="20000"/>
        </a:spcBef>
        <a:spcAft>
          <a:spcPct val="0"/>
        </a:spcAft>
        <a:buChar char="»"/>
        <a:defRPr sz="2400">
          <a:solidFill>
            <a:schemeClr val="tx1"/>
          </a:solidFill>
          <a:latin typeface="+mn-lt"/>
        </a:defRPr>
      </a:lvl6pPr>
      <a:lvl7pPr marL="2971800" indent="-228600" algn="l" rtl="0" eaLnBrk="1" fontAlgn="base" hangingPunct="1">
        <a:spcBef>
          <a:spcPct val="20000"/>
        </a:spcBef>
        <a:spcAft>
          <a:spcPct val="0"/>
        </a:spcAft>
        <a:buChar char="»"/>
        <a:defRPr sz="2400">
          <a:solidFill>
            <a:schemeClr val="tx1"/>
          </a:solidFill>
          <a:latin typeface="+mn-lt"/>
        </a:defRPr>
      </a:lvl7pPr>
      <a:lvl8pPr marL="3429000" indent="-228600" algn="l" rtl="0" eaLnBrk="1" fontAlgn="base" hangingPunct="1">
        <a:spcBef>
          <a:spcPct val="20000"/>
        </a:spcBef>
        <a:spcAft>
          <a:spcPct val="0"/>
        </a:spcAft>
        <a:buChar char="»"/>
        <a:defRPr sz="2400">
          <a:solidFill>
            <a:schemeClr val="tx1"/>
          </a:solidFill>
          <a:latin typeface="+mn-lt"/>
        </a:defRPr>
      </a:lvl8pPr>
      <a:lvl9pPr marL="3886200" indent="-228600" algn="l" rtl="0" eaLnBrk="1" fontAlgn="base" hangingPunct="1">
        <a:spcBef>
          <a:spcPct val="20000"/>
        </a:spcBef>
        <a:spcAft>
          <a:spcPct val="0"/>
        </a:spcAft>
        <a:buChar char="»"/>
        <a:defRPr sz="2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4.emf"/><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332656"/>
            <a:ext cx="7170737" cy="492125"/>
          </a:xfrm>
        </p:spPr>
        <p:txBody>
          <a:bodyPr/>
          <a:lstStyle/>
          <a:p>
            <a:pPr algn="ctr"/>
            <a:r>
              <a:rPr kumimoji="1" lang="zh-CN" altLang="en-US" sz="4400" b="1" dirty="0">
                <a:latin typeface="黑体"/>
                <a:ea typeface="黑体"/>
                <a:cs typeface="黑体"/>
              </a:rPr>
              <a:t>第十讲</a:t>
            </a:r>
            <a:r>
              <a:rPr kumimoji="1" lang="en-US" altLang="zh-CN" sz="4400" b="1" dirty="0">
                <a:latin typeface="黑体"/>
                <a:ea typeface="黑体"/>
                <a:cs typeface="黑体"/>
              </a:rPr>
              <a:t>  </a:t>
            </a:r>
            <a:r>
              <a:rPr kumimoji="1" lang="zh-CN" altLang="en-US" sz="4400" b="1" dirty="0">
                <a:latin typeface="黑体"/>
                <a:ea typeface="黑体"/>
                <a:cs typeface="黑体"/>
              </a:rPr>
              <a:t>被害人</a:t>
            </a:r>
            <a:endParaRPr kumimoji="1" lang="zh-CN" altLang="en-US" sz="4400" dirty="0"/>
          </a:p>
        </p:txBody>
      </p:sp>
      <p:sp>
        <p:nvSpPr>
          <p:cNvPr id="3" name="内容占位符 2"/>
          <p:cNvSpPr>
            <a:spLocks noGrp="1"/>
          </p:cNvSpPr>
          <p:nvPr>
            <p:ph idx="1"/>
          </p:nvPr>
        </p:nvSpPr>
        <p:spPr>
          <a:xfrm>
            <a:off x="539552" y="1268760"/>
            <a:ext cx="8229600" cy="5000625"/>
          </a:xfrm>
        </p:spPr>
        <p:txBody>
          <a:bodyPr/>
          <a:lstStyle/>
          <a:p>
            <a:r>
              <a:rPr lang="zh-CN" altLang="zh-CN" sz="2800" b="1" dirty="0">
                <a:latin typeface="楷体"/>
                <a:ea typeface="楷体"/>
                <a:cs typeface="楷体"/>
              </a:rPr>
              <a:t>只要尊重犯罪的客观规律，就能有效控制犯罪，实现社会公正吗？</a:t>
            </a:r>
            <a:endParaRPr lang="en-US" altLang="zh-CN" sz="2800" b="1" dirty="0">
              <a:latin typeface="楷体"/>
              <a:ea typeface="楷体"/>
              <a:cs typeface="楷体"/>
            </a:endParaRPr>
          </a:p>
          <a:p>
            <a:r>
              <a:rPr lang="zh-CN" altLang="en-US" sz="2800" b="1" dirty="0">
                <a:latin typeface="楷体"/>
                <a:ea typeface="楷体"/>
                <a:cs typeface="楷体"/>
              </a:rPr>
              <a:t>只要依法保护被告权益，就是刑法的全部目的吗？</a:t>
            </a:r>
            <a:endParaRPr lang="en-US" altLang="zh-CN" sz="2800" b="1" dirty="0">
              <a:latin typeface="楷体"/>
              <a:ea typeface="楷体"/>
              <a:cs typeface="楷体"/>
            </a:endParaRPr>
          </a:p>
          <a:p>
            <a:r>
              <a:rPr lang="zh-CN" altLang="en-US" sz="2800" b="1" dirty="0">
                <a:latin typeface="楷体"/>
                <a:ea typeface="楷体"/>
                <a:cs typeface="楷体"/>
              </a:rPr>
              <a:t>未必。</a:t>
            </a:r>
            <a:r>
              <a:rPr lang="zh-CN" altLang="zh-CN" sz="2800" b="1" dirty="0">
                <a:latin typeface="楷体"/>
                <a:ea typeface="楷体"/>
                <a:cs typeface="楷体"/>
              </a:rPr>
              <a:t>因为犯罪问题不仅是个真理问题，更重要的还是个价值问题。</a:t>
            </a:r>
            <a:endParaRPr lang="en-US" altLang="zh-CN" sz="2800" b="1" dirty="0">
              <a:latin typeface="楷体"/>
              <a:ea typeface="楷体"/>
              <a:cs typeface="楷体"/>
            </a:endParaRPr>
          </a:p>
          <a:p>
            <a:r>
              <a:rPr lang="zh-CN" altLang="zh-CN" sz="2800" b="1" dirty="0">
                <a:latin typeface="楷体"/>
                <a:ea typeface="楷体"/>
                <a:cs typeface="楷体"/>
              </a:rPr>
              <a:t>既要</a:t>
            </a:r>
            <a:r>
              <a:rPr lang="zh-CN" altLang="en-US" sz="2800" b="1" dirty="0">
                <a:latin typeface="楷体"/>
                <a:ea typeface="楷体"/>
                <a:cs typeface="楷体"/>
              </a:rPr>
              <a:t>保护被告不被滥刑</a:t>
            </a:r>
            <a:r>
              <a:rPr lang="zh-CN" altLang="zh-CN" sz="2800" b="1" dirty="0">
                <a:latin typeface="楷体"/>
                <a:ea typeface="楷体"/>
                <a:cs typeface="楷体"/>
              </a:rPr>
              <a:t>，又要</a:t>
            </a:r>
            <a:r>
              <a:rPr lang="zh-CN" altLang="en-US" sz="2800" b="1" dirty="0">
                <a:latin typeface="楷体"/>
                <a:ea typeface="楷体"/>
                <a:cs typeface="楷体"/>
              </a:rPr>
              <a:t>为被害恢复正义</a:t>
            </a:r>
            <a:r>
              <a:rPr lang="zh-CN" altLang="zh-CN" sz="2800" b="1" dirty="0">
                <a:latin typeface="楷体"/>
                <a:ea typeface="楷体"/>
                <a:cs typeface="楷体"/>
              </a:rPr>
              <a:t>。</a:t>
            </a:r>
          </a:p>
          <a:p>
            <a:r>
              <a:rPr lang="zh-CN" altLang="zh-CN" sz="2800" b="1" dirty="0">
                <a:latin typeface="楷体"/>
                <a:ea typeface="楷体"/>
                <a:cs typeface="楷体"/>
              </a:rPr>
              <a:t>各种价值</a:t>
            </a:r>
            <a:r>
              <a:rPr lang="zh-CN" altLang="en-US" sz="2800" b="1" dirty="0">
                <a:latin typeface="楷体"/>
                <a:ea typeface="楷体"/>
                <a:cs typeface="楷体"/>
              </a:rPr>
              <a:t>原则</a:t>
            </a:r>
            <a:r>
              <a:rPr lang="zh-CN" altLang="zh-CN" sz="2800" b="1" dirty="0">
                <a:latin typeface="楷体"/>
                <a:ea typeface="楷体"/>
                <a:cs typeface="楷体"/>
              </a:rPr>
              <a:t>中，公正，与犯罪问题关系最为密切。</a:t>
            </a:r>
          </a:p>
          <a:p>
            <a:r>
              <a:rPr lang="zh-CN" altLang="zh-CN" sz="2800" b="1" dirty="0">
                <a:latin typeface="楷体"/>
                <a:ea typeface="楷体"/>
                <a:cs typeface="楷体"/>
              </a:rPr>
              <a:t>然而，</a:t>
            </a:r>
            <a:r>
              <a:rPr lang="zh-CN" altLang="en-US" sz="2800" b="1" dirty="0">
                <a:latin typeface="楷体"/>
                <a:ea typeface="楷体"/>
                <a:cs typeface="楷体"/>
              </a:rPr>
              <a:t>到底什么是公正？</a:t>
            </a:r>
            <a:endParaRPr lang="en-US" altLang="zh-CN" sz="2800" b="1" dirty="0">
              <a:latin typeface="楷体"/>
              <a:ea typeface="楷体"/>
              <a:cs typeface="楷体"/>
            </a:endParaRPr>
          </a:p>
          <a:p>
            <a:r>
              <a:rPr lang="zh-CN" altLang="en-US" sz="2800" b="1" dirty="0">
                <a:latin typeface="楷体"/>
                <a:ea typeface="楷体"/>
                <a:cs typeface="楷体"/>
              </a:rPr>
              <a:t>公正是绝对的吗？</a:t>
            </a:r>
            <a:endParaRPr lang="zh-CN" altLang="zh-CN" sz="2800" b="1" dirty="0">
              <a:latin typeface="楷体"/>
              <a:ea typeface="楷体"/>
              <a:cs typeface="楷体"/>
            </a:endParaRPr>
          </a:p>
          <a:p>
            <a:endParaRPr kumimoji="1" lang="zh-CN" altLang="en-US" dirty="0"/>
          </a:p>
        </p:txBody>
      </p:sp>
    </p:spTree>
    <p:extLst>
      <p:ext uri="{BB962C8B-B14F-4D97-AF65-F5344CB8AC3E}">
        <p14:creationId xmlns:p14="http://schemas.microsoft.com/office/powerpoint/2010/main" val="237885331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400" dirty="0">
                <a:latin typeface="黑体"/>
                <a:ea typeface="黑体"/>
                <a:cs typeface="黑体"/>
              </a:rPr>
              <a:t>为什么研究被害人？</a:t>
            </a:r>
          </a:p>
        </p:txBody>
      </p:sp>
      <p:sp>
        <p:nvSpPr>
          <p:cNvPr id="3" name="内容占位符 2"/>
          <p:cNvSpPr>
            <a:spLocks noGrp="1"/>
          </p:cNvSpPr>
          <p:nvPr>
            <p:ph idx="1"/>
          </p:nvPr>
        </p:nvSpPr>
        <p:spPr>
          <a:xfrm>
            <a:off x="457200" y="1125538"/>
            <a:ext cx="8229600" cy="5255790"/>
          </a:xfrm>
        </p:spPr>
        <p:txBody>
          <a:bodyPr/>
          <a:lstStyle/>
          <a:p>
            <a:r>
              <a:rPr lang="en-US" altLang="zh-CN" sz="2800" dirty="0">
                <a:latin typeface="宋体"/>
                <a:ea typeface="宋体"/>
                <a:cs typeface="宋体"/>
              </a:rPr>
              <a:t>1941</a:t>
            </a:r>
            <a:r>
              <a:rPr lang="zh-CN" altLang="zh-CN" sz="2800" dirty="0">
                <a:latin typeface="宋体"/>
                <a:ea typeface="宋体"/>
                <a:cs typeface="宋体"/>
              </a:rPr>
              <a:t>年，德国的亨蒂希在《论犯罪人与被害人的相互关系》一文中首次提出了被害者学的概念和基本理论，用</a:t>
            </a:r>
            <a:r>
              <a:rPr lang="zh-CN" altLang="zh-CN" sz="2800" b="1" dirty="0">
                <a:latin typeface="宋体"/>
                <a:ea typeface="宋体"/>
                <a:cs typeface="宋体"/>
              </a:rPr>
              <a:t>被害要因</a:t>
            </a:r>
            <a:r>
              <a:rPr lang="zh-CN" altLang="zh-CN" sz="2800" dirty="0">
                <a:latin typeface="宋体"/>
                <a:ea typeface="宋体"/>
                <a:cs typeface="宋体"/>
              </a:rPr>
              <a:t>解释犯罪。</a:t>
            </a:r>
            <a:endParaRPr lang="en-US" altLang="zh-CN" sz="2800" dirty="0">
              <a:latin typeface="宋体"/>
              <a:ea typeface="宋体"/>
              <a:cs typeface="宋体"/>
            </a:endParaRPr>
          </a:p>
          <a:p>
            <a:r>
              <a:rPr lang="zh-CN" altLang="zh-CN" sz="2800" dirty="0">
                <a:latin typeface="宋体"/>
                <a:ea typeface="宋体"/>
                <a:cs typeface="宋体"/>
              </a:rPr>
              <a:t>认为被害人塑造和造就了犯罪人，贫穷而无知的移民造就了骗子。 </a:t>
            </a:r>
            <a:endParaRPr lang="en-US" altLang="zh-CN" sz="2800" dirty="0">
              <a:latin typeface="宋体"/>
              <a:ea typeface="宋体"/>
              <a:cs typeface="宋体"/>
            </a:endParaRPr>
          </a:p>
          <a:p>
            <a:r>
              <a:rPr lang="zh-CN" altLang="zh-CN" b="1" dirty="0">
                <a:latin typeface="楷体"/>
                <a:ea typeface="楷体"/>
                <a:cs typeface="楷体"/>
              </a:rPr>
              <a:t>一项调查结果显示，在杀人犯罪中，</a:t>
            </a:r>
            <a:r>
              <a:rPr lang="en-US" altLang="zh-CN" b="1" dirty="0">
                <a:latin typeface="楷体"/>
                <a:ea typeface="楷体"/>
                <a:cs typeface="楷体"/>
              </a:rPr>
              <a:t>76.2%</a:t>
            </a:r>
            <a:r>
              <a:rPr lang="zh-CN" altLang="zh-CN" b="1" dirty="0">
                <a:latin typeface="楷体"/>
                <a:ea typeface="楷体"/>
                <a:cs typeface="楷体"/>
              </a:rPr>
              <a:t>的被害人在被害前与加害人相识。在伤害犯罪中，这一比例为</a:t>
            </a:r>
            <a:r>
              <a:rPr lang="en-US" altLang="zh-CN" b="1" dirty="0">
                <a:latin typeface="楷体"/>
                <a:ea typeface="楷体"/>
                <a:cs typeface="楷体"/>
              </a:rPr>
              <a:t>75.2%</a:t>
            </a:r>
            <a:r>
              <a:rPr lang="zh-CN" altLang="zh-CN" b="1" dirty="0">
                <a:latin typeface="楷体"/>
                <a:ea typeface="楷体"/>
                <a:cs typeface="楷体"/>
              </a:rPr>
              <a:t>。在这两种犯罪中，分别有</a:t>
            </a:r>
            <a:r>
              <a:rPr lang="en-US" altLang="zh-CN" b="1" dirty="0">
                <a:latin typeface="楷体"/>
                <a:ea typeface="楷体"/>
                <a:cs typeface="楷体"/>
              </a:rPr>
              <a:t>61.7%</a:t>
            </a:r>
            <a:r>
              <a:rPr lang="zh-CN" altLang="zh-CN" b="1" dirty="0">
                <a:latin typeface="楷体"/>
                <a:ea typeface="楷体"/>
                <a:cs typeface="楷体"/>
              </a:rPr>
              <a:t>和</a:t>
            </a:r>
            <a:r>
              <a:rPr lang="en-US" altLang="zh-CN" b="1" dirty="0">
                <a:latin typeface="楷体"/>
                <a:ea typeface="楷体"/>
                <a:cs typeface="楷体"/>
              </a:rPr>
              <a:t>74.5%</a:t>
            </a:r>
            <a:r>
              <a:rPr lang="zh-CN" altLang="zh-CN" b="1" dirty="0">
                <a:latin typeface="楷体"/>
                <a:ea typeface="楷体"/>
                <a:cs typeface="楷体"/>
              </a:rPr>
              <a:t>的案件中可以看到被害人自身的责任。类似的关系也存在于强奸犯罪中，大约</a:t>
            </a:r>
            <a:r>
              <a:rPr lang="en-US" altLang="zh-CN" b="1" dirty="0">
                <a:latin typeface="楷体"/>
                <a:ea typeface="楷体"/>
                <a:cs typeface="楷体"/>
              </a:rPr>
              <a:t>6</a:t>
            </a:r>
            <a:r>
              <a:rPr lang="zh-CN" altLang="zh-CN" b="1" dirty="0">
                <a:latin typeface="楷体"/>
                <a:ea typeface="楷体"/>
                <a:cs typeface="楷体"/>
              </a:rPr>
              <a:t>成以上（</a:t>
            </a:r>
            <a:r>
              <a:rPr lang="en-US" altLang="zh-CN" b="1" dirty="0">
                <a:latin typeface="楷体"/>
                <a:ea typeface="楷体"/>
                <a:cs typeface="楷体"/>
              </a:rPr>
              <a:t>62.9%</a:t>
            </a:r>
            <a:r>
              <a:rPr lang="zh-CN" altLang="zh-CN" b="1" dirty="0">
                <a:latin typeface="楷体"/>
                <a:ea typeface="楷体"/>
                <a:cs typeface="楷体"/>
              </a:rPr>
              <a:t>）的强奸发生在相识者之间。在诈骗犯罪中，这一关系更为明显，大约</a:t>
            </a:r>
            <a:r>
              <a:rPr lang="en-US" altLang="zh-CN" b="1" dirty="0">
                <a:latin typeface="楷体"/>
                <a:ea typeface="楷体"/>
                <a:cs typeface="楷体"/>
              </a:rPr>
              <a:t>89.4%</a:t>
            </a:r>
            <a:r>
              <a:rPr lang="zh-CN" altLang="zh-CN" b="1" dirty="0">
                <a:latin typeface="楷体"/>
                <a:ea typeface="楷体"/>
                <a:cs typeface="楷体"/>
              </a:rPr>
              <a:t>的诈骗犯罪被害人由于贪利等原因而对自己的被害负有责任。</a:t>
            </a:r>
          </a:p>
          <a:p>
            <a:endParaRPr kumimoji="1" lang="zh-CN" altLang="en-US" dirty="0">
              <a:latin typeface="宋体"/>
              <a:ea typeface="宋体"/>
              <a:cs typeface="宋体"/>
            </a:endParaRPr>
          </a:p>
        </p:txBody>
      </p:sp>
    </p:spTree>
    <p:extLst>
      <p:ext uri="{BB962C8B-B14F-4D97-AF65-F5344CB8AC3E}">
        <p14:creationId xmlns:p14="http://schemas.microsoft.com/office/powerpoint/2010/main" val="359041592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b="1" dirty="0">
                <a:latin typeface="黑体"/>
                <a:ea typeface="黑体"/>
                <a:cs typeface="黑体"/>
              </a:rPr>
              <a:t>被害人分类</a:t>
            </a:r>
          </a:p>
        </p:txBody>
      </p:sp>
      <p:sp>
        <p:nvSpPr>
          <p:cNvPr id="3" name="内容占位符 2"/>
          <p:cNvSpPr>
            <a:spLocks noGrp="1"/>
          </p:cNvSpPr>
          <p:nvPr>
            <p:ph idx="1"/>
          </p:nvPr>
        </p:nvSpPr>
        <p:spPr/>
        <p:txBody>
          <a:bodyPr/>
          <a:lstStyle/>
          <a:p>
            <a:pPr lvl="0"/>
            <a:r>
              <a:rPr lang="zh-CN" altLang="zh-CN" sz="2800" b="1" dirty="0">
                <a:latin typeface="宋体"/>
                <a:ea typeface="宋体"/>
                <a:cs typeface="宋体"/>
              </a:rPr>
              <a:t>状态性被害人，如银行、女性、巨额遗产；</a:t>
            </a:r>
          </a:p>
          <a:p>
            <a:pPr lvl="0"/>
            <a:r>
              <a:rPr lang="zh-CN" altLang="zh-CN" sz="2800" b="1" dirty="0">
                <a:latin typeface="宋体"/>
                <a:ea typeface="宋体"/>
                <a:cs typeface="宋体"/>
              </a:rPr>
              <a:t>机会性被害人（许霆案），如制度漏洞</a:t>
            </a:r>
            <a:r>
              <a:rPr lang="en-US" altLang="zh-CN" sz="2800" b="1" dirty="0">
                <a:latin typeface="宋体"/>
                <a:ea typeface="宋体"/>
                <a:cs typeface="宋体"/>
              </a:rPr>
              <a:t>(</a:t>
            </a:r>
            <a:r>
              <a:rPr lang="zh-CN" altLang="zh-CN" sz="2800" b="1" dirty="0">
                <a:latin typeface="宋体"/>
                <a:ea typeface="宋体"/>
                <a:cs typeface="宋体"/>
              </a:rPr>
              <a:t>信用卡部</a:t>
            </a:r>
            <a:r>
              <a:rPr lang="en-US" altLang="zh-CN" sz="2800" b="1" dirty="0">
                <a:latin typeface="宋体"/>
                <a:ea typeface="宋体"/>
                <a:cs typeface="宋体"/>
              </a:rPr>
              <a:t>)</a:t>
            </a:r>
            <a:r>
              <a:rPr lang="zh-CN" altLang="zh-CN" sz="2800" b="1" dirty="0">
                <a:latin typeface="宋体"/>
                <a:ea typeface="宋体"/>
                <a:cs typeface="宋体"/>
              </a:rPr>
              <a:t>、激惹（马加爵）、轻信、贪占小便宜、轻率；</a:t>
            </a:r>
          </a:p>
          <a:p>
            <a:r>
              <a:rPr lang="zh-CN" altLang="zh-CN" sz="2800" b="1" dirty="0">
                <a:latin typeface="宋体"/>
                <a:ea typeface="宋体"/>
                <a:cs typeface="宋体"/>
              </a:rPr>
              <a:t>参与型被害人（贷款诈骗、票据诈骗、操纵市场等）</a:t>
            </a:r>
            <a:endParaRPr lang="en-US" altLang="zh-CN" sz="2800" b="1" dirty="0">
              <a:latin typeface="宋体"/>
              <a:ea typeface="宋体"/>
              <a:cs typeface="宋体"/>
            </a:endParaRPr>
          </a:p>
          <a:p>
            <a:r>
              <a:rPr lang="zh-CN" altLang="zh-CN" sz="2800" b="1" dirty="0">
                <a:latin typeface="宋体"/>
                <a:ea typeface="宋体"/>
                <a:cs typeface="宋体"/>
              </a:rPr>
              <a:t>非参与型被害人（放火、爆炸、投放危险物质）</a:t>
            </a:r>
            <a:endParaRPr lang="en-US" altLang="zh-CN" sz="2800" b="1" dirty="0">
              <a:latin typeface="宋体"/>
              <a:ea typeface="宋体"/>
              <a:cs typeface="宋体"/>
            </a:endParaRPr>
          </a:p>
          <a:p>
            <a:pPr lvl="0"/>
            <a:r>
              <a:rPr lang="zh-CN" altLang="zh-CN" sz="2800" b="1" dirty="0">
                <a:latin typeface="宋体"/>
                <a:ea typeface="宋体"/>
                <a:cs typeface="宋体"/>
              </a:rPr>
              <a:t>斯德哥尔摩型被害人：色戒，第</a:t>
            </a:r>
            <a:r>
              <a:rPr lang="en-US" altLang="zh-CN" sz="2800" b="1" dirty="0">
                <a:latin typeface="宋体"/>
                <a:ea typeface="宋体"/>
                <a:cs typeface="宋体"/>
              </a:rPr>
              <a:t>41</a:t>
            </a:r>
            <a:r>
              <a:rPr lang="zh-CN" altLang="zh-CN" sz="2800" b="1" dirty="0">
                <a:latin typeface="宋体"/>
                <a:ea typeface="宋体"/>
                <a:cs typeface="宋体"/>
              </a:rPr>
              <a:t>个。</a:t>
            </a:r>
          </a:p>
          <a:p>
            <a:endParaRPr lang="en-US" altLang="zh-CN" sz="2800" b="1" dirty="0">
              <a:latin typeface="宋体"/>
              <a:ea typeface="宋体"/>
              <a:cs typeface="宋体"/>
            </a:endParaRPr>
          </a:p>
          <a:p>
            <a:endParaRPr kumimoji="1" lang="zh-CN" altLang="en-US" sz="2800" b="1" dirty="0">
              <a:latin typeface="宋体"/>
              <a:ea typeface="宋体"/>
              <a:cs typeface="宋体"/>
            </a:endParaRPr>
          </a:p>
        </p:txBody>
      </p:sp>
    </p:spTree>
    <p:extLst>
      <p:ext uri="{BB962C8B-B14F-4D97-AF65-F5344CB8AC3E}">
        <p14:creationId xmlns:p14="http://schemas.microsoft.com/office/powerpoint/2010/main" val="263780382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9"/>
            <a:ext cx="8244978" cy="481558"/>
          </a:xfrm>
        </p:spPr>
        <p:txBody>
          <a:bodyPr/>
          <a:lstStyle/>
          <a:p>
            <a:pPr algn="ctr"/>
            <a:r>
              <a:rPr lang="zh-CN" altLang="zh-CN" sz="3200" b="1" dirty="0">
                <a:latin typeface="黑体"/>
                <a:ea typeface="黑体"/>
                <a:cs typeface="黑体"/>
              </a:rPr>
              <a:t>斯德哥尔摩综合症（</a:t>
            </a:r>
            <a:r>
              <a:rPr lang="en-US" altLang="zh-CN" sz="3200" b="1" dirty="0">
                <a:latin typeface="黑体"/>
                <a:ea typeface="黑体"/>
                <a:cs typeface="黑体"/>
              </a:rPr>
              <a:t>Stockholm syndrome</a:t>
            </a:r>
            <a:r>
              <a:rPr lang="zh-CN" altLang="zh-CN" sz="3200" b="1" dirty="0">
                <a:latin typeface="黑体"/>
                <a:ea typeface="黑体"/>
                <a:cs typeface="黑体"/>
              </a:rPr>
              <a:t>）</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en-US" altLang="zh-CN" sz="2800" b="1" dirty="0">
                <a:latin typeface="宋体"/>
                <a:ea typeface="宋体"/>
                <a:cs typeface="宋体"/>
              </a:rPr>
              <a:t>1973</a:t>
            </a:r>
            <a:r>
              <a:rPr lang="zh-CN" altLang="zh-CN" sz="2800" b="1" dirty="0">
                <a:latin typeface="宋体"/>
                <a:ea typeface="宋体"/>
                <a:cs typeface="宋体"/>
              </a:rPr>
              <a:t>年</a:t>
            </a:r>
            <a:r>
              <a:rPr lang="en-US" altLang="zh-CN" sz="2800" b="1" dirty="0">
                <a:latin typeface="宋体"/>
                <a:ea typeface="宋体"/>
                <a:cs typeface="宋体"/>
              </a:rPr>
              <a:t>8</a:t>
            </a:r>
            <a:r>
              <a:rPr lang="zh-CN" altLang="zh-CN" sz="2800" b="1" dirty="0">
                <a:latin typeface="宋体"/>
                <a:ea typeface="宋体"/>
                <a:cs typeface="宋体"/>
              </a:rPr>
              <a:t>月</a:t>
            </a:r>
            <a:r>
              <a:rPr lang="en-US" altLang="zh-CN" sz="2800" b="1" dirty="0">
                <a:latin typeface="宋体"/>
                <a:ea typeface="宋体"/>
                <a:cs typeface="宋体"/>
              </a:rPr>
              <a:t>23</a:t>
            </a:r>
            <a:r>
              <a:rPr lang="zh-CN" altLang="zh-CN" sz="2800" b="1" dirty="0">
                <a:latin typeface="宋体"/>
                <a:ea typeface="宋体"/>
                <a:cs typeface="宋体"/>
              </a:rPr>
              <a:t>日在瑞典首都斯德哥尔摩发生了一</a:t>
            </a:r>
            <a:r>
              <a:rPr lang="zh-CN" altLang="en-US" sz="2800" b="1" dirty="0">
                <a:latin typeface="宋体"/>
                <a:ea typeface="宋体"/>
                <a:cs typeface="宋体"/>
              </a:rPr>
              <a:t>起</a:t>
            </a:r>
            <a:r>
              <a:rPr lang="zh-CN" altLang="zh-CN" sz="2800" b="1" dirty="0">
                <a:latin typeface="宋体"/>
                <a:ea typeface="宋体"/>
                <a:cs typeface="宋体"/>
              </a:rPr>
              <a:t>银行抢劫案件，歹徒绑架了</a:t>
            </a:r>
            <a:r>
              <a:rPr lang="en-US" altLang="zh-CN" sz="2800" b="1" dirty="0">
                <a:latin typeface="宋体"/>
                <a:ea typeface="宋体"/>
                <a:cs typeface="宋体"/>
              </a:rPr>
              <a:t>4</a:t>
            </a:r>
            <a:r>
              <a:rPr lang="zh-CN" altLang="zh-CN" sz="2800" b="1" dirty="0">
                <a:latin typeface="宋体"/>
                <a:ea typeface="宋体"/>
                <a:cs typeface="宋体"/>
              </a:rPr>
              <a:t>位该银行职员</a:t>
            </a:r>
            <a:r>
              <a:rPr lang="zh-CN" altLang="en-US" sz="2800" b="1" dirty="0">
                <a:latin typeface="宋体"/>
                <a:ea typeface="宋体"/>
                <a:cs typeface="宋体"/>
              </a:rPr>
              <a:t>，</a:t>
            </a:r>
            <a:r>
              <a:rPr lang="zh-CN" altLang="zh-CN" sz="2800" b="1" dirty="0">
                <a:latin typeface="宋体"/>
                <a:ea typeface="宋体"/>
                <a:cs typeface="宋体"/>
              </a:rPr>
              <a:t>达</a:t>
            </a:r>
            <a:r>
              <a:rPr lang="en-US" altLang="zh-CN" sz="2800" b="1" dirty="0">
                <a:latin typeface="宋体"/>
                <a:ea typeface="宋体"/>
                <a:cs typeface="宋体"/>
              </a:rPr>
              <a:t>6</a:t>
            </a:r>
            <a:r>
              <a:rPr lang="zh-CN" altLang="zh-CN" sz="2800" b="1" dirty="0">
                <a:latin typeface="宋体"/>
                <a:ea typeface="宋体"/>
                <a:cs typeface="宋体"/>
              </a:rPr>
              <a:t>天之久。刚开始时绑匪用枪恐吓及威胁人质，接下来的几天，人质和绑匪开始进行交流。最后以绑匪向警方投降告终。所有受害者在事后都表明并不痛恨歹徒，并表达他们对歹徒非但没有伤害他们却对他们照顾的感激，还对警察采取敌对态度。这些人质去探视绑匪，有两名人质在讯问时帮绑匪辩护。人质中一名女职员竟然爱上了其中一名绑匪</a:t>
            </a:r>
            <a:r>
              <a:rPr lang="zh-CN" altLang="en-US" sz="2800" b="1" dirty="0">
                <a:latin typeface="宋体"/>
                <a:ea typeface="宋体"/>
                <a:cs typeface="宋体"/>
              </a:rPr>
              <a:t>，</a:t>
            </a:r>
            <a:r>
              <a:rPr lang="zh-CN" altLang="zh-CN" sz="2800" b="1" dirty="0">
                <a:latin typeface="宋体"/>
                <a:ea typeface="宋体"/>
                <a:cs typeface="宋体"/>
              </a:rPr>
              <a:t>而另一位则搞了一个救援基金会，四处筹钱请律师为绑匪脱罪。</a:t>
            </a:r>
          </a:p>
          <a:p>
            <a:endParaRPr kumimoji="1" lang="zh-CN" altLang="en-US" dirty="0"/>
          </a:p>
        </p:txBody>
      </p:sp>
    </p:spTree>
    <p:extLst>
      <p:ext uri="{BB962C8B-B14F-4D97-AF65-F5344CB8AC3E}">
        <p14:creationId xmlns:p14="http://schemas.microsoft.com/office/powerpoint/2010/main" val="183787585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被害关系</a:t>
            </a:r>
          </a:p>
        </p:txBody>
      </p:sp>
      <p:sp>
        <p:nvSpPr>
          <p:cNvPr id="3" name="内容占位符 2"/>
          <p:cNvSpPr>
            <a:spLocks noGrp="1"/>
          </p:cNvSpPr>
          <p:nvPr>
            <p:ph idx="1"/>
          </p:nvPr>
        </p:nvSpPr>
        <p:spPr>
          <a:xfrm>
            <a:off x="467544" y="980728"/>
            <a:ext cx="8229600" cy="5328592"/>
          </a:xfrm>
        </p:spPr>
        <p:txBody>
          <a:bodyPr/>
          <a:lstStyle/>
          <a:p>
            <a:r>
              <a:rPr lang="zh-CN" altLang="zh-CN" sz="2800" b="1" dirty="0">
                <a:latin typeface="黑体"/>
                <a:ea typeface="黑体"/>
                <a:cs typeface="黑体"/>
              </a:rPr>
              <a:t>被迫被害的犯罪，</a:t>
            </a:r>
            <a:r>
              <a:rPr lang="zh-CN" altLang="zh-CN" dirty="0">
                <a:latin typeface="楷体"/>
                <a:ea typeface="楷体"/>
                <a:cs typeface="楷体"/>
              </a:rPr>
              <a:t>就是指将被害人置于被迫型互动关系中的犯罪。在被迫型互动中，被害人是在完全不情愿的情况下直面加害行为，这种被害是在最大程度上对犯罪侵害的消极服从。</a:t>
            </a:r>
            <a:endParaRPr lang="en-US" altLang="zh-CN" dirty="0">
              <a:latin typeface="楷体"/>
              <a:ea typeface="楷体"/>
              <a:cs typeface="楷体"/>
            </a:endParaRPr>
          </a:p>
          <a:p>
            <a:r>
              <a:rPr lang="zh-CN" altLang="zh-CN" sz="2800" b="1" dirty="0">
                <a:latin typeface="黑体"/>
                <a:ea typeface="黑体"/>
                <a:cs typeface="黑体"/>
              </a:rPr>
              <a:t>缺席被害的犯罪</a:t>
            </a:r>
            <a:r>
              <a:rPr lang="zh-CN" altLang="zh-CN" dirty="0">
                <a:latin typeface="楷体"/>
                <a:ea typeface="楷体"/>
                <a:cs typeface="楷体"/>
              </a:rPr>
              <a:t>，就是指在被害人处于缺席状态时实施的犯罪。在缺席型互动中，被害人不在场的情况下受到侵害，这种被害是在较大程度上对犯罪侵害的消极服从。 </a:t>
            </a:r>
            <a:endParaRPr lang="en-US" altLang="zh-CN" dirty="0">
              <a:latin typeface="楷体"/>
              <a:ea typeface="楷体"/>
              <a:cs typeface="楷体"/>
            </a:endParaRPr>
          </a:p>
          <a:p>
            <a:r>
              <a:rPr lang="zh-CN" altLang="zh-CN" sz="2800" b="1" dirty="0">
                <a:latin typeface="黑体"/>
                <a:ea typeface="黑体"/>
                <a:cs typeface="黑体"/>
              </a:rPr>
              <a:t>交易被害的犯罪</a:t>
            </a:r>
            <a:r>
              <a:rPr lang="zh-CN" altLang="zh-CN" dirty="0">
                <a:latin typeface="楷体"/>
                <a:ea typeface="楷体"/>
                <a:cs typeface="楷体"/>
              </a:rPr>
              <a:t>，就是指与被害人进行面对面或其他各种形式的沟通、交往、交换中实施的犯罪。在交易型互动中，被害人是在面对面与加害人进行交易的情况下受到侵害，因而是被害人有机会但没有有效运用自身判断力的情况下“自愿”向加害人交付利益而遭受的侵害，是在一定程度上对犯罪侵害的“积极”服从。 </a:t>
            </a:r>
            <a:endParaRPr kumimoji="1" lang="zh-CN" altLang="en-US" dirty="0">
              <a:latin typeface="楷体"/>
              <a:ea typeface="楷体"/>
              <a:cs typeface="楷体"/>
            </a:endParaRPr>
          </a:p>
        </p:txBody>
      </p:sp>
    </p:spTree>
    <p:extLst>
      <p:ext uri="{BB962C8B-B14F-4D97-AF65-F5344CB8AC3E}">
        <p14:creationId xmlns:p14="http://schemas.microsoft.com/office/powerpoint/2010/main" val="81946224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b="1" dirty="0">
                <a:latin typeface="黑体"/>
                <a:ea typeface="黑体"/>
                <a:cs typeface="黑体"/>
              </a:rPr>
              <a:t>分布与轻重</a:t>
            </a:r>
          </a:p>
        </p:txBody>
      </p:sp>
      <p:sp>
        <p:nvSpPr>
          <p:cNvPr id="3" name="内容占位符 2"/>
          <p:cNvSpPr>
            <a:spLocks noGrp="1"/>
          </p:cNvSpPr>
          <p:nvPr>
            <p:ph idx="1"/>
          </p:nvPr>
        </p:nvSpPr>
        <p:spPr/>
        <p:txBody>
          <a:bodyPr/>
          <a:lstStyle/>
          <a:p>
            <a:r>
              <a:rPr lang="zh-CN" altLang="en-US" sz="2800" b="1" dirty="0">
                <a:latin typeface="宋体"/>
                <a:ea typeface="宋体"/>
                <a:cs typeface="宋体"/>
              </a:rPr>
              <a:t>“无被害犯罪”？商业贿赂。</a:t>
            </a:r>
            <a:r>
              <a:rPr lang="zh-CN" altLang="zh-CN" sz="2800" b="1" dirty="0">
                <a:latin typeface="宋体"/>
                <a:ea typeface="宋体"/>
                <a:cs typeface="宋体"/>
              </a:rPr>
              <a:t>没有直接的被害人，不等于没有任何意义上的间接的被害人。 </a:t>
            </a:r>
            <a:endParaRPr lang="en-US" altLang="zh-CN" sz="2800" b="1" dirty="0">
              <a:latin typeface="宋体"/>
              <a:ea typeface="宋体"/>
              <a:cs typeface="宋体"/>
            </a:endParaRPr>
          </a:p>
          <a:p>
            <a:r>
              <a:rPr lang="zh-CN" altLang="zh-CN" sz="2800" b="1" dirty="0">
                <a:latin typeface="宋体"/>
                <a:ea typeface="宋体"/>
                <a:cs typeface="宋体"/>
              </a:rPr>
              <a:t>被迫被害犯罪大约占罪名总数的</a:t>
            </a:r>
            <a:r>
              <a:rPr lang="en-US" altLang="zh-CN" sz="2800" b="1" dirty="0">
                <a:latin typeface="宋体"/>
                <a:ea typeface="宋体"/>
                <a:cs typeface="宋体"/>
              </a:rPr>
              <a:t>37%</a:t>
            </a:r>
            <a:r>
              <a:rPr lang="zh-CN" altLang="zh-CN" sz="2800" b="1" dirty="0">
                <a:latin typeface="宋体"/>
                <a:ea typeface="宋体"/>
                <a:cs typeface="宋体"/>
              </a:rPr>
              <a:t>；被害缺席犯罪大约占</a:t>
            </a:r>
            <a:r>
              <a:rPr lang="en-US" altLang="zh-CN" sz="2800" b="1" dirty="0">
                <a:latin typeface="宋体"/>
                <a:ea typeface="宋体"/>
                <a:cs typeface="宋体"/>
              </a:rPr>
              <a:t>43%</a:t>
            </a:r>
            <a:r>
              <a:rPr lang="zh-CN" altLang="zh-CN" sz="2800" b="1" dirty="0">
                <a:latin typeface="宋体"/>
                <a:ea typeface="宋体"/>
                <a:cs typeface="宋体"/>
              </a:rPr>
              <a:t>；交易被害犯罪大约占</a:t>
            </a:r>
            <a:r>
              <a:rPr lang="en-US" altLang="zh-CN" sz="2800" b="1" dirty="0">
                <a:latin typeface="宋体"/>
                <a:ea typeface="宋体"/>
                <a:cs typeface="宋体"/>
              </a:rPr>
              <a:t>20%</a:t>
            </a:r>
            <a:r>
              <a:rPr lang="zh-CN" altLang="zh-CN" sz="2800" b="1" dirty="0">
                <a:latin typeface="宋体"/>
                <a:ea typeface="宋体"/>
                <a:cs typeface="宋体"/>
              </a:rPr>
              <a:t>。</a:t>
            </a:r>
          </a:p>
          <a:p>
            <a:r>
              <a:rPr lang="zh-CN" altLang="zh-CN" sz="2800" b="1" dirty="0">
                <a:latin typeface="宋体"/>
                <a:ea typeface="宋体"/>
                <a:cs typeface="宋体"/>
              </a:rPr>
              <a:t>越接近被迫被害犯罪，加害一方对被害一方的强制力就越具有弱肉强食的性质，越体现出赤裸裸的不平等，被害人自愿程度也越低，对局面的控制力越差。</a:t>
            </a:r>
            <a:r>
              <a:rPr lang="zh-CN" altLang="en-US" sz="2800" b="1" dirty="0">
                <a:latin typeface="宋体"/>
                <a:ea typeface="宋体"/>
                <a:cs typeface="宋体"/>
              </a:rPr>
              <a:t>所以</a:t>
            </a:r>
            <a:r>
              <a:rPr lang="en-US" altLang="zh-CN" sz="2800" b="1" dirty="0">
                <a:latin typeface="宋体"/>
                <a:ea typeface="宋体"/>
                <a:cs typeface="宋体"/>
              </a:rPr>
              <a:t>——</a:t>
            </a:r>
            <a:endParaRPr lang="zh-CN" altLang="zh-CN" sz="2800" b="1" dirty="0">
              <a:latin typeface="宋体"/>
              <a:ea typeface="宋体"/>
              <a:cs typeface="宋体"/>
            </a:endParaRPr>
          </a:p>
          <a:p>
            <a:r>
              <a:rPr lang="zh-CN" altLang="zh-CN" sz="2800" b="1" dirty="0">
                <a:latin typeface="宋体"/>
                <a:ea typeface="宋体"/>
                <a:cs typeface="宋体"/>
              </a:rPr>
              <a:t>被迫被害犯罪中有大约</a:t>
            </a:r>
            <a:r>
              <a:rPr lang="en-US" altLang="zh-CN" sz="2800" b="1" dirty="0">
                <a:latin typeface="宋体"/>
                <a:ea typeface="宋体"/>
                <a:cs typeface="宋体"/>
              </a:rPr>
              <a:t>23%</a:t>
            </a:r>
            <a:r>
              <a:rPr lang="zh-CN" altLang="zh-CN" sz="2800" b="1" dirty="0">
                <a:latin typeface="宋体"/>
                <a:ea typeface="宋体"/>
                <a:cs typeface="宋体"/>
              </a:rPr>
              <a:t>的罪名规定了死刑；被害缺席犯罪中有</a:t>
            </a:r>
            <a:r>
              <a:rPr lang="en-US" altLang="zh-CN" sz="2800" b="1" dirty="0">
                <a:latin typeface="宋体"/>
                <a:ea typeface="宋体"/>
                <a:cs typeface="宋体"/>
              </a:rPr>
              <a:t>6%</a:t>
            </a:r>
            <a:r>
              <a:rPr lang="zh-CN" altLang="zh-CN" sz="2800" b="1" dirty="0">
                <a:latin typeface="宋体"/>
                <a:ea typeface="宋体"/>
                <a:cs typeface="宋体"/>
              </a:rPr>
              <a:t>的罪名规定了死刑；交易被害犯罪中有大约</a:t>
            </a:r>
            <a:r>
              <a:rPr lang="en-US" altLang="zh-CN" sz="2800" b="1" dirty="0">
                <a:latin typeface="宋体"/>
                <a:ea typeface="宋体"/>
                <a:cs typeface="宋体"/>
              </a:rPr>
              <a:t>4%</a:t>
            </a:r>
            <a:r>
              <a:rPr lang="zh-CN" altLang="zh-CN" sz="2800" b="1" dirty="0">
                <a:latin typeface="宋体"/>
                <a:ea typeface="宋体"/>
                <a:cs typeface="宋体"/>
              </a:rPr>
              <a:t>的罪名规定了死刑 </a:t>
            </a:r>
            <a:endParaRPr kumimoji="1" lang="zh-CN" altLang="en-US" sz="2800" b="1" dirty="0">
              <a:latin typeface="宋体"/>
              <a:ea typeface="宋体"/>
              <a:cs typeface="宋体"/>
            </a:endParaRPr>
          </a:p>
        </p:txBody>
      </p:sp>
    </p:spTree>
    <p:extLst>
      <p:ext uri="{BB962C8B-B14F-4D97-AF65-F5344CB8AC3E}">
        <p14:creationId xmlns:p14="http://schemas.microsoft.com/office/powerpoint/2010/main" val="40776099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7170737" cy="492125"/>
          </a:xfrm>
        </p:spPr>
        <p:txBody>
          <a:bodyPr/>
          <a:lstStyle/>
          <a:p>
            <a:pPr algn="ctr"/>
            <a:r>
              <a:rPr kumimoji="1" lang="zh-CN" altLang="en-US" sz="3600" dirty="0">
                <a:latin typeface="黑体"/>
                <a:ea typeface="黑体"/>
                <a:cs typeface="黑体"/>
              </a:rPr>
              <a:t>金融犯罪中的加害－被害关系</a:t>
            </a:r>
          </a:p>
        </p:txBody>
      </p:sp>
      <p:sp>
        <p:nvSpPr>
          <p:cNvPr id="3" name="内容占位符 2"/>
          <p:cNvSpPr>
            <a:spLocks noGrp="1"/>
          </p:cNvSpPr>
          <p:nvPr>
            <p:ph idx="1"/>
          </p:nvPr>
        </p:nvSpPr>
        <p:spPr/>
        <p:txBody>
          <a:bodyPr/>
          <a:lstStyle/>
          <a:p>
            <a:r>
              <a:rPr lang="zh-CN" altLang="zh-CN" sz="2800" b="1" dirty="0">
                <a:latin typeface="宋体"/>
                <a:ea typeface="宋体"/>
                <a:cs typeface="宋体"/>
              </a:rPr>
              <a:t>滥用金融工具破坏金融秩序的犯罪，或者说是发生在金融法律关系中的刑事犯罪。</a:t>
            </a:r>
            <a:endParaRPr lang="en-US" altLang="zh-CN" sz="2800" b="1" dirty="0">
              <a:latin typeface="宋体"/>
              <a:ea typeface="宋体"/>
              <a:cs typeface="宋体"/>
            </a:endParaRPr>
          </a:p>
          <a:p>
            <a:r>
              <a:rPr lang="zh-CN" altLang="zh-CN" sz="2800" b="1" dirty="0">
                <a:latin typeface="宋体"/>
                <a:ea typeface="宋体"/>
                <a:cs typeface="宋体"/>
              </a:rPr>
              <a:t>集暴力、偷窃、欺诈于一身，是一种综合性犯罪。</a:t>
            </a:r>
            <a:endParaRPr lang="en-US" altLang="zh-CN" sz="2800" b="1" dirty="0">
              <a:latin typeface="宋体"/>
              <a:ea typeface="宋体"/>
              <a:cs typeface="宋体"/>
            </a:endParaRPr>
          </a:p>
          <a:p>
            <a:r>
              <a:rPr lang="zh-CN" altLang="zh-CN" sz="2800" b="1" dirty="0">
                <a:latin typeface="宋体"/>
                <a:ea typeface="宋体"/>
                <a:cs typeface="宋体"/>
              </a:rPr>
              <a:t>危害：</a:t>
            </a:r>
            <a:r>
              <a:rPr lang="zh-CN" altLang="en-US" sz="2800" b="1" dirty="0">
                <a:latin typeface="宋体"/>
                <a:ea typeface="宋体"/>
                <a:cs typeface="宋体"/>
              </a:rPr>
              <a:t>连索性、扩散性。</a:t>
            </a:r>
            <a:endParaRPr lang="en-US" altLang="zh-CN" sz="2800" b="1" dirty="0">
              <a:latin typeface="宋体"/>
              <a:ea typeface="宋体"/>
              <a:cs typeface="宋体"/>
            </a:endParaRPr>
          </a:p>
          <a:p>
            <a:r>
              <a:rPr lang="zh-CN" altLang="zh-CN" sz="2800" b="1" dirty="0">
                <a:latin typeface="宋体"/>
                <a:ea typeface="宋体"/>
                <a:cs typeface="宋体"/>
              </a:rPr>
              <a:t>金融安全是不同于国土安全的另一种国家安全。</a:t>
            </a:r>
          </a:p>
          <a:p>
            <a:r>
              <a:rPr lang="zh-CN" altLang="zh-CN" sz="2800" b="1" dirty="0">
                <a:latin typeface="宋体"/>
                <a:ea typeface="宋体"/>
                <a:cs typeface="宋体"/>
              </a:rPr>
              <a:t>涉及金融工具：货币（包括外汇）、经营许可、贷款、票据（汇票、本票、支票）、金融凭证（存单、委托收款凭证、汇款凭证）、金融票证（票据、凭证、信用证、信用卡、保函、资信证明）、证券、期货、有价证券、保险。</a:t>
            </a:r>
          </a:p>
          <a:p>
            <a:endParaRPr kumimoji="1" lang="zh-CN" altLang="en-US" dirty="0"/>
          </a:p>
        </p:txBody>
      </p:sp>
    </p:spTree>
    <p:extLst>
      <p:ext uri="{BB962C8B-B14F-4D97-AF65-F5344CB8AC3E}">
        <p14:creationId xmlns:p14="http://schemas.microsoft.com/office/powerpoint/2010/main" val="66464977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p>
            <a:fld id="{3EA7D23D-1FAA-4DD2-8E15-3FF4260222BD}" type="slidenum">
              <a:rPr lang="en-US" altLang="zh-CN" smtClean="0"/>
              <a:pPr/>
              <a:t>8</a:t>
            </a:fld>
            <a:endParaRPr lang="en-US" altLang="zh-CN"/>
          </a:p>
        </p:txBody>
      </p:sp>
      <p:sp>
        <p:nvSpPr>
          <p:cNvPr id="6147" name="Rectangle 2"/>
          <p:cNvSpPr>
            <a:spLocks noGrp="1" noChangeArrowheads="1"/>
          </p:cNvSpPr>
          <p:nvPr>
            <p:ph type="title"/>
          </p:nvPr>
        </p:nvSpPr>
        <p:spPr>
          <a:xfrm>
            <a:off x="467544" y="404664"/>
            <a:ext cx="7170737" cy="492125"/>
          </a:xfrm>
        </p:spPr>
        <p:txBody>
          <a:bodyPr/>
          <a:lstStyle/>
          <a:p>
            <a:pPr algn="ctr" eaLnBrk="1" hangingPunct="1"/>
            <a:r>
              <a:rPr lang="zh-CN" altLang="en-US" sz="4800" dirty="0">
                <a:solidFill>
                  <a:schemeClr val="tx1"/>
                </a:solidFill>
                <a:ea typeface="华文琥珀" pitchFamily="2" charset="-122"/>
              </a:rPr>
              <a:t>类型、特征与危害</a:t>
            </a:r>
          </a:p>
        </p:txBody>
      </p:sp>
      <p:sp>
        <p:nvSpPr>
          <p:cNvPr id="6148" name="Rectangle 3"/>
          <p:cNvSpPr>
            <a:spLocks noGrp="1" noChangeArrowheads="1"/>
          </p:cNvSpPr>
          <p:nvPr>
            <p:ph type="body" idx="1"/>
          </p:nvPr>
        </p:nvSpPr>
        <p:spPr>
          <a:xfrm>
            <a:off x="457200" y="1484784"/>
            <a:ext cx="8229600" cy="4641379"/>
          </a:xfrm>
        </p:spPr>
        <p:txBody>
          <a:bodyPr/>
          <a:lstStyle/>
          <a:p>
            <a:pPr eaLnBrk="1" hangingPunct="1">
              <a:lnSpc>
                <a:spcPct val="90000"/>
              </a:lnSpc>
            </a:pPr>
            <a:r>
              <a:rPr lang="zh-CN" altLang="en-US" sz="4000" b="1" dirty="0">
                <a:ea typeface="隶书" pitchFamily="49" charset="-122"/>
              </a:rPr>
              <a:t>行业：</a:t>
            </a:r>
            <a:r>
              <a:rPr lang="zh-CN" altLang="en-US" sz="4000" dirty="0">
                <a:ea typeface="隶书" pitchFamily="49" charset="-122"/>
              </a:rPr>
              <a:t>银行、证券、保险</a:t>
            </a:r>
          </a:p>
          <a:p>
            <a:pPr eaLnBrk="1" hangingPunct="1">
              <a:lnSpc>
                <a:spcPct val="90000"/>
              </a:lnSpc>
            </a:pPr>
            <a:r>
              <a:rPr lang="zh-CN" altLang="en-US" sz="4000" b="1" dirty="0">
                <a:ea typeface="隶书" pitchFamily="49" charset="-122"/>
              </a:rPr>
              <a:t>刑法：</a:t>
            </a:r>
            <a:r>
              <a:rPr lang="zh-CN" altLang="en-US" sz="4000" dirty="0">
                <a:ea typeface="隶书" pitchFamily="49" charset="-122"/>
              </a:rPr>
              <a:t>破坏秩序、诈骗</a:t>
            </a:r>
          </a:p>
          <a:p>
            <a:pPr eaLnBrk="1" hangingPunct="1">
              <a:lnSpc>
                <a:spcPct val="90000"/>
              </a:lnSpc>
            </a:pPr>
            <a:r>
              <a:rPr lang="zh-CN" altLang="en-US" sz="4000" b="1" dirty="0">
                <a:ea typeface="隶书" pitchFamily="49" charset="-122"/>
              </a:rPr>
              <a:t>主体：</a:t>
            </a:r>
            <a:r>
              <a:rPr lang="zh-CN" altLang="en-US" sz="4000" dirty="0">
                <a:ea typeface="隶书" pitchFamily="49" charset="-122"/>
              </a:rPr>
              <a:t>外贼、家贼</a:t>
            </a:r>
          </a:p>
          <a:p>
            <a:pPr eaLnBrk="1" hangingPunct="1">
              <a:lnSpc>
                <a:spcPct val="90000"/>
              </a:lnSpc>
            </a:pPr>
            <a:r>
              <a:rPr lang="zh-CN" altLang="en-US" sz="4000" dirty="0">
                <a:ea typeface="隶书" pitchFamily="49" charset="-122"/>
              </a:rPr>
              <a:t>行为：暴力、职务、高智能</a:t>
            </a:r>
            <a:endParaRPr lang="en-US" altLang="zh-CN" sz="4000" dirty="0">
              <a:ea typeface="隶书" pitchFamily="49" charset="-122"/>
            </a:endParaRPr>
          </a:p>
          <a:p>
            <a:pPr eaLnBrk="1" hangingPunct="1">
              <a:lnSpc>
                <a:spcPct val="90000"/>
              </a:lnSpc>
            </a:pPr>
            <a:r>
              <a:rPr lang="zh-CN" altLang="en-US" sz="4000" dirty="0">
                <a:ea typeface="隶书" pitchFamily="49" charset="-122"/>
              </a:rPr>
              <a:t>主观：恶意、道德冒险</a:t>
            </a:r>
            <a:endParaRPr lang="en-US" altLang="zh-CN" sz="4000" dirty="0">
              <a:ea typeface="隶书" pitchFamily="49" charset="-122"/>
            </a:endParaRPr>
          </a:p>
          <a:p>
            <a:pPr eaLnBrk="1" hangingPunct="1">
              <a:lnSpc>
                <a:spcPct val="90000"/>
              </a:lnSpc>
            </a:pPr>
            <a:r>
              <a:rPr lang="zh-CN" altLang="en-US" sz="4000" dirty="0">
                <a:ea typeface="隶书" pitchFamily="49" charset="-122"/>
              </a:rPr>
              <a:t>银行：针对、利用、由</a:t>
            </a:r>
            <a:endParaRPr lang="en-US" altLang="zh-CN" sz="4000" dirty="0">
              <a:ea typeface="隶书" pitchFamily="49" charset="-122"/>
            </a:endParaRPr>
          </a:p>
          <a:p>
            <a:pPr eaLnBrk="1" hangingPunct="1">
              <a:lnSpc>
                <a:spcPct val="90000"/>
              </a:lnSpc>
            </a:pPr>
            <a:endParaRPr lang="zh-CN" altLang="en-US" sz="4000" dirty="0">
              <a:ea typeface="隶书" pitchFamily="49" charset="-122"/>
            </a:endParaRPr>
          </a:p>
        </p:txBody>
      </p:sp>
    </p:spTree>
    <p:extLst>
      <p:ext uri="{BB962C8B-B14F-4D97-AF65-F5344CB8AC3E}">
        <p14:creationId xmlns:p14="http://schemas.microsoft.com/office/powerpoint/2010/main" val="51580101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endParaRPr lang="zh-CN" altLang="zh-CN" dirty="0"/>
          </a:p>
        </p:txBody>
      </p:sp>
      <p:graphicFrame>
        <p:nvGraphicFramePr>
          <p:cNvPr id="5123" name="Object 3"/>
          <p:cNvGraphicFramePr>
            <a:graphicFrameLocks noGrp="1" noChangeAspect="1"/>
          </p:cNvGraphicFramePr>
          <p:nvPr>
            <p:ph type="chart" idx="1"/>
          </p:nvPr>
        </p:nvGraphicFramePr>
        <p:xfrm>
          <a:off x="0" y="0"/>
          <a:ext cx="9153525" cy="7324725"/>
        </p:xfrm>
        <a:graphic>
          <a:graphicData uri="http://schemas.openxmlformats.org/presentationml/2006/ole">
            <mc:AlternateContent xmlns:mc="http://schemas.openxmlformats.org/markup-compatibility/2006">
              <mc:Choice xmlns:v="urn:schemas-microsoft-com:vml" Requires="v">
                <p:oleObj spid="_x0000_s2149" name="文档" r:id="rId4" imgW="3457338" imgH="2766339" progId="Word.Document.8">
                  <p:embed/>
                </p:oleObj>
              </mc:Choice>
              <mc:Fallback>
                <p:oleObj name="文档" r:id="rId4" imgW="3457338" imgH="2766339"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53525" cy="73247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253793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nodePh="1">
                                  <p:stCondLst>
                                    <p:cond delay="0"/>
                                  </p:stCondLst>
                                  <p:endCondLst>
                                    <p:cond evt="begin" delay="0">
                                      <p:tn val="5"/>
                                    </p:cond>
                                  </p:endCondLst>
                                  <p:childTnLst>
                                    <p:set>
                                      <p:cBhvr>
                                        <p:cTn id="6" dur="0" fill="hold">
                                          <p:stCondLst>
                                            <p:cond delay="0"/>
                                          </p:stCondLst>
                                        </p:cTn>
                                        <p:tgtEl>
                                          <p:spTgt spid="5122"/>
                                        </p:tgtEl>
                                        <p:attrNameLst>
                                          <p:attrName>style.visibility</p:attrName>
                                        </p:attrNameLst>
                                      </p:cBhvr>
                                      <p:to>
                                        <p:strVal val="visible"/>
                                      </p:to>
                                    </p:set>
                                    <p:anim calcmode="lin" valueType="num">
                                      <p:cBhvr>
                                        <p:cTn id="7" dur="500" fill="hold"/>
                                        <p:tgtEl>
                                          <p:spTgt spid="5122"/>
                                        </p:tgtEl>
                                        <p:attrNameLst>
                                          <p:attrName>ppt_w</p:attrName>
                                        </p:attrNameLst>
                                      </p:cBhvr>
                                      <p:tavLst>
                                        <p:tav tm="0">
                                          <p:val>
                                            <p:fltVal val="0"/>
                                          </p:val>
                                        </p:tav>
                                        <p:tav tm="100000">
                                          <p:val>
                                            <p:strVal val="#ppt_w"/>
                                          </p:val>
                                        </p:tav>
                                      </p:tavLst>
                                    </p:anim>
                                    <p:anim calcmode="lin" valueType="num">
                                      <p:cBhvr>
                                        <p:cTn id="8" dur="500" fill="hold"/>
                                        <p:tgtEl>
                                          <p:spTgt spid="5122"/>
                                        </p:tgtEl>
                                        <p:attrNameLst>
                                          <p:attrName>ppt_h</p:attrName>
                                        </p:attrNameLst>
                                      </p:cBhvr>
                                      <p:tavLst>
                                        <p:tav tm="0">
                                          <p:val>
                                            <p:fltVal val="0"/>
                                          </p:val>
                                        </p:tav>
                                        <p:tav tm="100000">
                                          <p:val>
                                            <p:strVal val="#ppt_h"/>
                                          </p:val>
                                        </p:tav>
                                      </p:tavLst>
                                    </p:anim>
                                    <p:anim calcmode="lin" valueType="num">
                                      <p:cBhvr>
                                        <p:cTn id="9" dur="500" fill="hold"/>
                                        <p:tgtEl>
                                          <p:spTgt spid="5122"/>
                                        </p:tgtEl>
                                        <p:attrNameLst>
                                          <p:attrName>style.rotation</p:attrName>
                                        </p:attrNameLst>
                                      </p:cBhvr>
                                      <p:tavLst>
                                        <p:tav tm="0">
                                          <p:val>
                                            <p:fltVal val="360"/>
                                          </p:val>
                                        </p:tav>
                                        <p:tav tm="100000">
                                          <p:val>
                                            <p:fltVal val="0"/>
                                          </p:val>
                                        </p:tav>
                                      </p:tavLst>
                                    </p:anim>
                                    <p:animEffect transition="in" filter="fade">
                                      <p:cBhvr>
                                        <p:cTn id="10" dur="500"/>
                                        <p:tgtEl>
                                          <p:spTgt spid="5122"/>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nodeType="clickEffect">
                                  <p:stCondLst>
                                    <p:cond delay="0"/>
                                  </p:stCondLst>
                                  <p:childTnLst>
                                    <p:set>
                                      <p:cBhvr>
                                        <p:cTn id="14" dur="1" fill="hold">
                                          <p:stCondLst>
                                            <p:cond delay="0"/>
                                          </p:stCondLst>
                                        </p:cTn>
                                        <p:tgtEl>
                                          <p:spTgt spid="5123"/>
                                        </p:tgtEl>
                                        <p:attrNameLst>
                                          <p:attrName>style.visibility</p:attrName>
                                        </p:attrNameLst>
                                      </p:cBhvr>
                                      <p:to>
                                        <p:strVal val="visible"/>
                                      </p:to>
                                    </p:set>
                                    <p:animEffect transition="in" filter="box(out)">
                                      <p:cBhvr>
                                        <p:cTn id="15" dur="500"/>
                                        <p:tgtEl>
                                          <p:spTgt spid="5123"/>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4000" dirty="0"/>
              <a:t>心理死角</a:t>
            </a:r>
          </a:p>
        </p:txBody>
      </p:sp>
      <p:sp>
        <p:nvSpPr>
          <p:cNvPr id="3" name="内容占位符 2"/>
          <p:cNvSpPr>
            <a:spLocks noGrp="1"/>
          </p:cNvSpPr>
          <p:nvPr>
            <p:ph idx="1"/>
          </p:nvPr>
        </p:nvSpPr>
        <p:spPr>
          <a:xfrm>
            <a:off x="457200" y="908720"/>
            <a:ext cx="8229600" cy="5544616"/>
          </a:xfrm>
        </p:spPr>
        <p:txBody>
          <a:bodyPr/>
          <a:lstStyle/>
          <a:p>
            <a:r>
              <a:rPr lang="zh-CN" altLang="en-US" sz="2800" b="1" dirty="0">
                <a:latin typeface="宋体" panose="02010600030101010101" pitchFamily="2" charset="-122"/>
                <a:ea typeface="宋体" panose="02010600030101010101" pitchFamily="2" charset="-122"/>
              </a:rPr>
              <a:t>麦道夫的对冲基金：</a:t>
            </a:r>
            <a:r>
              <a:rPr lang="zh-CN" altLang="zh-CN" sz="2800" b="1" dirty="0">
                <a:latin typeface="宋体" panose="02010600030101010101" pitchFamily="2" charset="-122"/>
                <a:ea typeface="宋体" panose="02010600030101010101" pitchFamily="2" charset="-122"/>
              </a:rPr>
              <a:t>选定某类行情看涨的行业，买进该行业中看好的几只优质股，同时以一定比率</a:t>
            </a:r>
            <a:r>
              <a:rPr lang="zh-CN" altLang="en-US" sz="2800" b="1" dirty="0">
                <a:latin typeface="宋体" panose="02010600030101010101" pitchFamily="2" charset="-122"/>
                <a:ea typeface="宋体" panose="02010600030101010101" pitchFamily="2" charset="-122"/>
              </a:rPr>
              <a:t>卖空</a:t>
            </a:r>
            <a:r>
              <a:rPr lang="zh-CN" altLang="zh-CN" sz="2800" b="1" dirty="0">
                <a:latin typeface="宋体" panose="02010600030101010101" pitchFamily="2" charset="-122"/>
                <a:ea typeface="宋体" panose="02010600030101010101" pitchFamily="2" charset="-122"/>
              </a:rPr>
              <a:t>该行业中较差的几只劣质股。如此组合的结果是，如该行业预期表现良好，优质股涨幅必超过其他同行业的劣质股，买入优质股的收益将大于卖空劣质股而产生的损失；如果预期错误，此行业股票不涨反跌，那么劣质股跌幅必大于优质股，则卖空盘口所获利润必高于买入优质股下跌造成的损失。</a:t>
            </a:r>
            <a:r>
              <a:rPr lang="zh-CN" altLang="en-US" sz="2800" b="1" dirty="0">
                <a:latin typeface="宋体" panose="02010600030101010101" pitchFamily="2" charset="-122"/>
                <a:ea typeface="宋体" panose="02010600030101010101" pitchFamily="2" charset="-122"/>
              </a:rPr>
              <a:t>（</a:t>
            </a:r>
            <a:r>
              <a:rPr lang="zh-CN" altLang="zh-CN" sz="2800" b="1" dirty="0">
                <a:latin typeface="宋体" panose="02010600030101010101" pitchFamily="2" charset="-122"/>
                <a:ea typeface="宋体" panose="02010600030101010101" pitchFamily="2" charset="-122"/>
              </a:rPr>
              <a:t>美国法律，</a:t>
            </a:r>
            <a:r>
              <a:rPr lang="zh-CN" altLang="en-US" sz="2800" b="1" dirty="0">
                <a:latin typeface="宋体" panose="02010600030101010101" pitchFamily="2" charset="-122"/>
                <a:ea typeface="宋体" panose="02010600030101010101" pitchFamily="2" charset="-122"/>
              </a:rPr>
              <a:t>麦道夫</a:t>
            </a:r>
            <a:r>
              <a:rPr lang="zh-CN" altLang="zh-CN" sz="2800" b="1" dirty="0">
                <a:latin typeface="宋体" panose="02010600030101010101" pitchFamily="2" charset="-122"/>
                <a:ea typeface="宋体" panose="02010600030101010101" pitchFamily="2" charset="-122"/>
              </a:rPr>
              <a:t>将面临最高</a:t>
            </a:r>
            <a:r>
              <a:rPr lang="en-US" altLang="zh-CN" sz="2800" b="1" dirty="0">
                <a:latin typeface="宋体" panose="02010600030101010101" pitchFamily="2" charset="-122"/>
                <a:ea typeface="宋体" panose="02010600030101010101" pitchFamily="2" charset="-122"/>
              </a:rPr>
              <a:t>150</a:t>
            </a:r>
            <a:r>
              <a:rPr lang="zh-CN" altLang="zh-CN" sz="2800" b="1" dirty="0">
                <a:latin typeface="宋体" panose="02010600030101010101" pitchFamily="2" charset="-122"/>
                <a:ea typeface="宋体" panose="02010600030101010101" pitchFamily="2" charset="-122"/>
              </a:rPr>
              <a:t>年的牢狱之灾。</a:t>
            </a:r>
            <a:r>
              <a:rPr lang="zh-CN" altLang="en-US"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a:p>
            <a:r>
              <a:rPr lang="zh-CN" altLang="en-US" sz="2800" b="1" dirty="0">
                <a:latin typeface="宋体" panose="02010600030101010101" pitchFamily="2" charset="-122"/>
                <a:ea typeface="宋体" panose="02010600030101010101" pitchFamily="2" charset="-122"/>
              </a:rPr>
              <a:t>阿尔巴尼亚案例。</a:t>
            </a:r>
            <a:endParaRPr lang="en-US" altLang="zh-CN" sz="2800" b="1" dirty="0">
              <a:latin typeface="宋体" panose="02010600030101010101" pitchFamily="2" charset="-122"/>
              <a:ea typeface="宋体" panose="02010600030101010101" pitchFamily="2" charset="-122"/>
            </a:endParaRPr>
          </a:p>
          <a:p>
            <a:r>
              <a:rPr lang="zh-CN" altLang="en-US" sz="2800" b="1" dirty="0">
                <a:latin typeface="宋体" panose="02010600030101010101" pitchFamily="2" charset="-122"/>
                <a:ea typeface="宋体" panose="02010600030101010101" pitchFamily="2" charset="-122"/>
              </a:rPr>
              <a:t>挂失案</a:t>
            </a:r>
            <a:r>
              <a:rPr lang="zh-CN" altLang="zh-CN"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a:p>
            <a:endParaRPr lang="zh-CN" altLang="en-US" sz="28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37801673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灯片编号占位符 5"/>
          <p:cNvSpPr>
            <a:spLocks noGrp="1"/>
          </p:cNvSpPr>
          <p:nvPr>
            <p:ph type="sldNum" sz="quarter" idx="12"/>
          </p:nvPr>
        </p:nvSpPr>
        <p:spPr>
          <a:noFill/>
        </p:spPr>
        <p:txBody>
          <a:bodyPr/>
          <a:lstStyle/>
          <a:p>
            <a:fld id="{EE720D95-640A-44B2-9C9B-F7637941397A}" type="slidenum">
              <a:rPr lang="en-US" altLang="zh-CN" smtClean="0"/>
              <a:pPr/>
              <a:t>11</a:t>
            </a:fld>
            <a:endParaRPr lang="en-US" altLang="zh-CN"/>
          </a:p>
        </p:txBody>
      </p:sp>
      <p:sp>
        <p:nvSpPr>
          <p:cNvPr id="1028" name="Rectangle 2"/>
          <p:cNvSpPr>
            <a:spLocks noGrp="1" noChangeArrowheads="1"/>
          </p:cNvSpPr>
          <p:nvPr>
            <p:ph type="title"/>
          </p:nvPr>
        </p:nvSpPr>
        <p:spPr/>
        <p:txBody>
          <a:bodyPr/>
          <a:lstStyle/>
          <a:p>
            <a:pPr eaLnBrk="1" hangingPunct="1"/>
            <a:endParaRPr lang="zh-CN" altLang="zh-CN"/>
          </a:p>
        </p:txBody>
      </p:sp>
      <p:graphicFrame>
        <p:nvGraphicFramePr>
          <p:cNvPr id="106499" name="Object 3"/>
          <p:cNvGraphicFramePr>
            <a:graphicFrameLocks noGrp="1" noChangeAspect="1"/>
          </p:cNvGraphicFramePr>
          <p:nvPr>
            <p:ph type="chart" idx="1"/>
          </p:nvPr>
        </p:nvGraphicFramePr>
        <p:xfrm>
          <a:off x="9525" y="100013"/>
          <a:ext cx="9113838" cy="7305675"/>
        </p:xfrm>
        <a:graphic>
          <a:graphicData uri="http://schemas.openxmlformats.org/presentationml/2006/ole">
            <mc:AlternateContent xmlns:mc="http://schemas.openxmlformats.org/markup-compatibility/2006">
              <mc:Choice xmlns:v="urn:schemas-microsoft-com:vml" Requires="v">
                <p:oleObj spid="_x0000_s3173" name="文档" r:id="rId4" imgW="3457338" imgH="2773540" progId="Word.Document.8">
                  <p:embed/>
                </p:oleObj>
              </mc:Choice>
              <mc:Fallback>
                <p:oleObj name="文档" r:id="rId4" imgW="3457338" imgH="2773540"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5" y="100013"/>
                        <a:ext cx="9113838" cy="7305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773385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06499"/>
                                        </p:tgtEl>
                                        <p:attrNameLst>
                                          <p:attrName>style.visibility</p:attrName>
                                        </p:attrNameLst>
                                      </p:cBhvr>
                                      <p:to>
                                        <p:strVal val="visible"/>
                                      </p:to>
                                    </p:set>
                                    <p:animEffect transition="in" filter="box(out)">
                                      <p:cBhvr>
                                        <p:cTn id="7" dur="500"/>
                                        <p:tgtEl>
                                          <p:spTgt spid="10649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5"/>
          <p:cNvSpPr>
            <a:spLocks noGrp="1"/>
          </p:cNvSpPr>
          <p:nvPr>
            <p:ph type="sldNum" sz="quarter" idx="12"/>
          </p:nvPr>
        </p:nvSpPr>
        <p:spPr>
          <a:noFill/>
        </p:spPr>
        <p:txBody>
          <a:bodyPr/>
          <a:lstStyle/>
          <a:p>
            <a:fld id="{40134F0E-BBEB-4861-83F2-8287419A9388}" type="slidenum">
              <a:rPr lang="en-US" altLang="zh-CN" smtClean="0"/>
              <a:pPr/>
              <a:t>12</a:t>
            </a:fld>
            <a:endParaRPr lang="en-US" altLang="zh-CN"/>
          </a:p>
        </p:txBody>
      </p:sp>
      <p:sp>
        <p:nvSpPr>
          <p:cNvPr id="2052" name="Rectangle 2"/>
          <p:cNvSpPr>
            <a:spLocks noGrp="1" noChangeArrowheads="1"/>
          </p:cNvSpPr>
          <p:nvPr>
            <p:ph type="title"/>
          </p:nvPr>
        </p:nvSpPr>
        <p:spPr/>
        <p:txBody>
          <a:bodyPr/>
          <a:lstStyle/>
          <a:p>
            <a:pPr eaLnBrk="1" hangingPunct="1"/>
            <a:endParaRPr lang="zh-CN" altLang="zh-CN"/>
          </a:p>
        </p:txBody>
      </p:sp>
      <p:graphicFrame>
        <p:nvGraphicFramePr>
          <p:cNvPr id="107523" name="Object 3"/>
          <p:cNvGraphicFramePr>
            <a:graphicFrameLocks noGrp="1" noChangeAspect="1"/>
          </p:cNvGraphicFramePr>
          <p:nvPr>
            <p:ph type="chart" idx="1"/>
          </p:nvPr>
        </p:nvGraphicFramePr>
        <p:xfrm>
          <a:off x="3175" y="0"/>
          <a:ext cx="9207500" cy="7324725"/>
        </p:xfrm>
        <a:graphic>
          <a:graphicData uri="http://schemas.openxmlformats.org/presentationml/2006/ole">
            <mc:AlternateContent xmlns:mc="http://schemas.openxmlformats.org/markup-compatibility/2006">
              <mc:Choice xmlns:v="urn:schemas-microsoft-com:vml" Requires="v">
                <p:oleObj spid="_x0000_s4197" name="文档" r:id="rId4" imgW="3478940" imgH="2767059" progId="Word.Document.8">
                  <p:embed/>
                </p:oleObj>
              </mc:Choice>
              <mc:Fallback>
                <p:oleObj name="文档" r:id="rId4" imgW="3478940" imgH="2767059"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5" y="0"/>
                        <a:ext cx="9207500" cy="73247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620385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7523"/>
                                        </p:tgtEl>
                                        <p:attrNameLst>
                                          <p:attrName>style.visibility</p:attrName>
                                        </p:attrNameLst>
                                      </p:cBhvr>
                                      <p:to>
                                        <p:strVal val="visible"/>
                                      </p:to>
                                    </p:set>
                                    <p:anim calcmode="lin" valueType="num">
                                      <p:cBhvr additive="base">
                                        <p:cTn id="7" dur="500" fill="hold"/>
                                        <p:tgtEl>
                                          <p:spTgt spid="107523"/>
                                        </p:tgtEl>
                                        <p:attrNameLst>
                                          <p:attrName>ppt_x</p:attrName>
                                        </p:attrNameLst>
                                      </p:cBhvr>
                                      <p:tavLst>
                                        <p:tav tm="0">
                                          <p:val>
                                            <p:strVal val="0-#ppt_w/2"/>
                                          </p:val>
                                        </p:tav>
                                        <p:tav tm="100000">
                                          <p:val>
                                            <p:strVal val="#ppt_x"/>
                                          </p:val>
                                        </p:tav>
                                      </p:tavLst>
                                    </p:anim>
                                    <p:anim calcmode="lin" valueType="num">
                                      <p:cBhvr additive="base">
                                        <p:cTn id="8" dur="500" fill="hold"/>
                                        <p:tgtEl>
                                          <p:spTgt spid="10752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p:spPr>
        <p:txBody>
          <a:bodyPr/>
          <a:lstStyle/>
          <a:p>
            <a:fld id="{6DF63DA0-503C-4F2D-BAEF-76EABF70AFF3}" type="slidenum">
              <a:rPr lang="en-US" altLang="zh-CN" smtClean="0"/>
              <a:pPr/>
              <a:t>13</a:t>
            </a:fld>
            <a:endParaRPr lang="en-US" altLang="zh-CN"/>
          </a:p>
        </p:txBody>
      </p:sp>
      <p:sp>
        <p:nvSpPr>
          <p:cNvPr id="20482" name="Text Box 2"/>
          <p:cNvSpPr txBox="1">
            <a:spLocks noChangeArrowheads="1"/>
          </p:cNvSpPr>
          <p:nvPr/>
        </p:nvSpPr>
        <p:spPr bwMode="auto">
          <a:xfrm>
            <a:off x="900113" y="188913"/>
            <a:ext cx="8064500" cy="707886"/>
          </a:xfrm>
          <a:prstGeom prst="rect">
            <a:avLst/>
          </a:prstGeom>
          <a:noFill/>
          <a:ln w="9525">
            <a:noFill/>
            <a:miter lim="800000"/>
            <a:headEnd/>
            <a:tailEnd/>
          </a:ln>
        </p:spPr>
        <p:txBody>
          <a:bodyPr>
            <a:spAutoFit/>
          </a:bodyPr>
          <a:lstStyle/>
          <a:p>
            <a:pPr>
              <a:spcBef>
                <a:spcPct val="20000"/>
              </a:spcBef>
              <a:buClr>
                <a:schemeClr val="tx2"/>
              </a:buClr>
              <a:buSzPct val="65000"/>
              <a:buFont typeface="Wingdings" pitchFamily="2" charset="2"/>
              <a:buNone/>
            </a:pPr>
            <a:r>
              <a:rPr lang="zh-CN" altLang="en-US" sz="4000" b="0" dirty="0">
                <a:solidFill>
                  <a:schemeClr val="tx2"/>
                </a:solidFill>
                <a:latin typeface="华文琥珀" pitchFamily="2" charset="-122"/>
                <a:ea typeface="华文琥珀" pitchFamily="2" charset="-122"/>
              </a:rPr>
              <a:t>特点四：道德冒险</a:t>
            </a:r>
          </a:p>
        </p:txBody>
      </p:sp>
      <p:sp>
        <p:nvSpPr>
          <p:cNvPr id="20483" name="AutoShape 3"/>
          <p:cNvSpPr>
            <a:spLocks noChangeArrowheads="1"/>
          </p:cNvSpPr>
          <p:nvPr/>
        </p:nvSpPr>
        <p:spPr bwMode="auto">
          <a:xfrm>
            <a:off x="838200" y="4572000"/>
            <a:ext cx="2133600" cy="1371600"/>
          </a:xfrm>
          <a:prstGeom prst="roundRect">
            <a:avLst>
              <a:gd name="adj" fmla="val 16667"/>
            </a:avLst>
          </a:prstGeom>
          <a:solidFill>
            <a:srgbClr val="FFFFFF"/>
          </a:solidFill>
          <a:ln w="28575">
            <a:solidFill>
              <a:schemeClr val="tx1"/>
            </a:solidFill>
            <a:round/>
            <a:headEnd/>
            <a:tailEnd/>
          </a:ln>
        </p:spPr>
        <p:txBody>
          <a:bodyPr wrap="none" anchor="ctr"/>
          <a:lstStyle/>
          <a:p>
            <a:pPr algn="ctr">
              <a:spcBef>
                <a:spcPct val="20000"/>
              </a:spcBef>
              <a:buClr>
                <a:schemeClr val="tx2"/>
              </a:buClr>
              <a:buSzPct val="65000"/>
              <a:buFont typeface="Wingdings" pitchFamily="2" charset="2"/>
              <a:buNone/>
            </a:pPr>
            <a:r>
              <a:rPr kumimoji="1" lang="zh-CN" altLang="en-US" sz="4800">
                <a:latin typeface="Times New Roman" pitchFamily="18" charset="0"/>
                <a:ea typeface="隶书" pitchFamily="49" charset="-122"/>
              </a:rPr>
              <a:t>出资人</a:t>
            </a:r>
          </a:p>
        </p:txBody>
      </p:sp>
      <p:sp>
        <p:nvSpPr>
          <p:cNvPr id="20484" name="AutoShape 4"/>
          <p:cNvSpPr>
            <a:spLocks noChangeArrowheads="1"/>
          </p:cNvSpPr>
          <p:nvPr/>
        </p:nvSpPr>
        <p:spPr bwMode="auto">
          <a:xfrm>
            <a:off x="3048000" y="1447800"/>
            <a:ext cx="2819400" cy="1447800"/>
          </a:xfrm>
          <a:prstGeom prst="horizontalScroll">
            <a:avLst>
              <a:gd name="adj" fmla="val 12500"/>
            </a:avLst>
          </a:prstGeom>
          <a:solidFill>
            <a:srgbClr val="FFFFFF"/>
          </a:solidFill>
          <a:ln w="28575">
            <a:solidFill>
              <a:schemeClr val="tx1"/>
            </a:solidFill>
            <a:round/>
            <a:headEnd/>
            <a:tailEnd/>
          </a:ln>
        </p:spPr>
        <p:txBody>
          <a:bodyPr wrap="none" anchor="ctr"/>
          <a:lstStyle/>
          <a:p>
            <a:pPr algn="ctr">
              <a:spcBef>
                <a:spcPct val="20000"/>
              </a:spcBef>
              <a:buClr>
                <a:schemeClr val="tx2"/>
              </a:buClr>
              <a:buSzPct val="65000"/>
              <a:buFont typeface="Wingdings" pitchFamily="2" charset="2"/>
              <a:buNone/>
            </a:pPr>
            <a:r>
              <a:rPr kumimoji="1" lang="zh-CN" altLang="en-US" sz="4800" dirty="0">
                <a:latin typeface="Times New Roman" pitchFamily="18" charset="0"/>
                <a:ea typeface="隶书" pitchFamily="49" charset="-122"/>
              </a:rPr>
              <a:t>银行底帐</a:t>
            </a:r>
          </a:p>
        </p:txBody>
      </p:sp>
      <p:sp>
        <p:nvSpPr>
          <p:cNvPr id="20485" name="AutoShape 5"/>
          <p:cNvSpPr>
            <a:spLocks noChangeArrowheads="1"/>
          </p:cNvSpPr>
          <p:nvPr/>
        </p:nvSpPr>
        <p:spPr bwMode="auto">
          <a:xfrm>
            <a:off x="3429000" y="2819400"/>
            <a:ext cx="2514600" cy="1281113"/>
          </a:xfrm>
          <a:custGeom>
            <a:avLst/>
            <a:gdLst>
              <a:gd name="T0" fmla="*/ 150246772 w 21600"/>
              <a:gd name="T1" fmla="*/ 10557 h 21600"/>
              <a:gd name="T2" fmla="*/ 36741800 w 21600"/>
              <a:gd name="T3" fmla="*/ 36479279 h 21600"/>
              <a:gd name="T4" fmla="*/ 148308784 w 21600"/>
              <a:gd name="T5" fmla="*/ 18999499 h 21600"/>
              <a:gd name="T6" fmla="*/ 329333900 w 21600"/>
              <a:gd name="T7" fmla="*/ 37991941 h 21600"/>
              <a:gd name="T8" fmla="*/ 256148589 w 21600"/>
              <a:gd name="T9" fmla="*/ 56987874 h 21600"/>
              <a:gd name="T10" fmla="*/ 182963336 w 21600"/>
              <a:gd name="T11" fmla="*/ 37991941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928" y="5399"/>
                  <a:pt x="5559" y="7646"/>
                  <a:pt x="5407" y="10513"/>
                </a:cubicBezTo>
                <a:lnTo>
                  <a:pt x="15" y="10227"/>
                </a:lnTo>
                <a:cubicBezTo>
                  <a:pt x="319" y="4493"/>
                  <a:pt x="5057"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FFFF"/>
          </a:solidFill>
          <a:ln w="19050">
            <a:solidFill>
              <a:schemeClr val="tx1"/>
            </a:solidFill>
            <a:miter lim="800000"/>
            <a:headEnd/>
            <a:tailEnd/>
          </a:ln>
        </p:spPr>
        <p:txBody>
          <a:bodyPr wrap="none" anchor="ctr"/>
          <a:lstStyle/>
          <a:p>
            <a:pPr algn="ctr">
              <a:spcBef>
                <a:spcPct val="20000"/>
              </a:spcBef>
              <a:buClr>
                <a:schemeClr val="tx2"/>
              </a:buClr>
              <a:buSzPct val="65000"/>
              <a:buFont typeface="Wingdings" pitchFamily="2" charset="2"/>
              <a:buNone/>
            </a:pPr>
            <a:r>
              <a:rPr kumimoji="1" lang="zh-CN" altLang="en-US" sz="3600">
                <a:latin typeface="Times New Roman" pitchFamily="18" charset="0"/>
                <a:ea typeface="隶书" pitchFamily="49" charset="-122"/>
              </a:rPr>
              <a:t>帐外帐</a:t>
            </a:r>
          </a:p>
        </p:txBody>
      </p:sp>
      <p:sp>
        <p:nvSpPr>
          <p:cNvPr id="20486" name="Oval 6"/>
          <p:cNvSpPr>
            <a:spLocks noChangeArrowheads="1"/>
          </p:cNvSpPr>
          <p:nvPr/>
        </p:nvSpPr>
        <p:spPr bwMode="auto">
          <a:xfrm>
            <a:off x="5334000" y="4648200"/>
            <a:ext cx="2667000" cy="1447800"/>
          </a:xfrm>
          <a:prstGeom prst="ellipse">
            <a:avLst/>
          </a:prstGeom>
          <a:solidFill>
            <a:srgbClr val="FFFFFF"/>
          </a:solidFill>
          <a:ln w="28575">
            <a:solidFill>
              <a:schemeClr val="tx1"/>
            </a:solidFill>
            <a:round/>
            <a:headEnd/>
            <a:tailEnd/>
          </a:ln>
        </p:spPr>
        <p:txBody>
          <a:bodyPr wrap="none" anchor="ctr"/>
          <a:lstStyle/>
          <a:p>
            <a:pPr algn="ctr">
              <a:spcBef>
                <a:spcPct val="20000"/>
              </a:spcBef>
              <a:buClr>
                <a:schemeClr val="tx2"/>
              </a:buClr>
              <a:buSzPct val="65000"/>
              <a:buFont typeface="Wingdings" pitchFamily="2" charset="2"/>
              <a:buNone/>
            </a:pPr>
            <a:r>
              <a:rPr kumimoji="1" lang="zh-CN" altLang="en-US" sz="4800">
                <a:latin typeface="Times New Roman" pitchFamily="18" charset="0"/>
                <a:ea typeface="隶书" pitchFamily="49" charset="-122"/>
              </a:rPr>
              <a:t>用资人</a:t>
            </a:r>
          </a:p>
        </p:txBody>
      </p:sp>
      <p:sp>
        <p:nvSpPr>
          <p:cNvPr id="20487" name="Text Box 7"/>
          <p:cNvSpPr txBox="1">
            <a:spLocks noChangeArrowheads="1"/>
          </p:cNvSpPr>
          <p:nvPr/>
        </p:nvSpPr>
        <p:spPr bwMode="auto">
          <a:xfrm>
            <a:off x="3048000" y="4419600"/>
            <a:ext cx="2622550" cy="579438"/>
          </a:xfrm>
          <a:prstGeom prst="rect">
            <a:avLst/>
          </a:prstGeom>
          <a:solidFill>
            <a:srgbClr val="FFFFFF"/>
          </a:solidFill>
          <a:ln w="9525">
            <a:noFill/>
            <a:miter lim="800000"/>
            <a:headEnd/>
            <a:tailEnd/>
          </a:ln>
        </p:spPr>
        <p:txBody>
          <a:bodyPr wrap="none">
            <a:spAutoFit/>
          </a:bodyPr>
          <a:lstStyle/>
          <a:p>
            <a:pPr algn="ctr">
              <a:spcBef>
                <a:spcPct val="20000"/>
              </a:spcBef>
              <a:buClr>
                <a:schemeClr val="tx2"/>
              </a:buClr>
              <a:buSzPct val="65000"/>
              <a:buFont typeface="Wingdings" pitchFamily="2" charset="2"/>
              <a:buNone/>
            </a:pPr>
            <a:r>
              <a:rPr kumimoji="1" lang="zh-CN" altLang="en-US" sz="3200">
                <a:latin typeface="Times New Roman" pitchFamily="18" charset="0"/>
                <a:ea typeface="隶书" pitchFamily="49" charset="-122"/>
              </a:rPr>
              <a:t>借贷双方相识</a:t>
            </a:r>
          </a:p>
        </p:txBody>
      </p:sp>
      <p:sp>
        <p:nvSpPr>
          <p:cNvPr id="20488" name="Line 8"/>
          <p:cNvSpPr>
            <a:spLocks noChangeShapeType="1"/>
          </p:cNvSpPr>
          <p:nvPr/>
        </p:nvSpPr>
        <p:spPr bwMode="auto">
          <a:xfrm flipV="1">
            <a:off x="1752600" y="3505200"/>
            <a:ext cx="1905000" cy="1066800"/>
          </a:xfrm>
          <a:prstGeom prst="line">
            <a:avLst/>
          </a:prstGeom>
          <a:noFill/>
          <a:ln w="57150">
            <a:solidFill>
              <a:schemeClr val="tx1"/>
            </a:solidFill>
            <a:round/>
            <a:headEnd type="diamond" w="med" len="med"/>
            <a:tailEnd type="triangle" w="med" len="med"/>
          </a:ln>
        </p:spPr>
        <p:txBody>
          <a:bodyPr wrap="none"/>
          <a:lstStyle/>
          <a:p>
            <a:endParaRPr lang="zh-CN" altLang="en-US"/>
          </a:p>
        </p:txBody>
      </p:sp>
      <p:sp>
        <p:nvSpPr>
          <p:cNvPr id="20489" name="Line 9"/>
          <p:cNvSpPr>
            <a:spLocks noChangeShapeType="1"/>
          </p:cNvSpPr>
          <p:nvPr/>
        </p:nvSpPr>
        <p:spPr bwMode="auto">
          <a:xfrm>
            <a:off x="5791200" y="3657600"/>
            <a:ext cx="762000" cy="1066800"/>
          </a:xfrm>
          <a:prstGeom prst="line">
            <a:avLst/>
          </a:prstGeom>
          <a:noFill/>
          <a:ln w="57150">
            <a:solidFill>
              <a:schemeClr val="tx1"/>
            </a:solidFill>
            <a:round/>
            <a:headEnd type="oval" w="med" len="med"/>
            <a:tailEnd type="triangle" w="med" len="med"/>
          </a:ln>
        </p:spPr>
        <p:txBody>
          <a:bodyPr wrap="none"/>
          <a:lstStyle/>
          <a:p>
            <a:endParaRPr lang="zh-CN" altLang="en-US"/>
          </a:p>
        </p:txBody>
      </p:sp>
      <p:sp>
        <p:nvSpPr>
          <p:cNvPr id="20490" name="Line 10"/>
          <p:cNvSpPr>
            <a:spLocks noChangeShapeType="1"/>
          </p:cNvSpPr>
          <p:nvPr/>
        </p:nvSpPr>
        <p:spPr bwMode="auto">
          <a:xfrm>
            <a:off x="2971800" y="5257800"/>
            <a:ext cx="2286000" cy="0"/>
          </a:xfrm>
          <a:prstGeom prst="line">
            <a:avLst/>
          </a:prstGeom>
          <a:noFill/>
          <a:ln w="38100">
            <a:solidFill>
              <a:schemeClr val="tx1"/>
            </a:solidFill>
            <a:prstDash val="dash"/>
            <a:round/>
            <a:headEnd type="triangle" w="med" len="med"/>
            <a:tailEnd/>
          </a:ln>
        </p:spPr>
        <p:txBody>
          <a:bodyPr wrap="none"/>
          <a:lstStyle/>
          <a:p>
            <a:endParaRPr lang="zh-CN" altLang="en-US"/>
          </a:p>
        </p:txBody>
      </p:sp>
      <p:sp>
        <p:nvSpPr>
          <p:cNvPr id="20491" name="Line 11"/>
          <p:cNvSpPr>
            <a:spLocks noChangeShapeType="1"/>
          </p:cNvSpPr>
          <p:nvPr/>
        </p:nvSpPr>
        <p:spPr bwMode="auto">
          <a:xfrm flipH="1">
            <a:off x="3048000" y="5562600"/>
            <a:ext cx="2209800" cy="0"/>
          </a:xfrm>
          <a:prstGeom prst="line">
            <a:avLst/>
          </a:prstGeom>
          <a:noFill/>
          <a:ln w="57150">
            <a:solidFill>
              <a:schemeClr val="tx1"/>
            </a:solidFill>
            <a:round/>
            <a:headEnd type="oval" w="med" len="med"/>
            <a:tailEnd type="triangle" w="med" len="med"/>
          </a:ln>
        </p:spPr>
        <p:txBody>
          <a:bodyPr wrap="none"/>
          <a:lstStyle/>
          <a:p>
            <a:endParaRPr lang="zh-CN" altLang="en-US"/>
          </a:p>
        </p:txBody>
      </p:sp>
      <p:sp>
        <p:nvSpPr>
          <p:cNvPr id="20492" name="AutoShape 12"/>
          <p:cNvSpPr>
            <a:spLocks noChangeArrowheads="1"/>
          </p:cNvSpPr>
          <p:nvPr/>
        </p:nvSpPr>
        <p:spPr bwMode="auto">
          <a:xfrm>
            <a:off x="228600" y="3276600"/>
            <a:ext cx="1447800" cy="1219200"/>
          </a:xfrm>
          <a:prstGeom prst="flowChartMagneticTape">
            <a:avLst/>
          </a:prstGeom>
          <a:solidFill>
            <a:srgbClr val="FFFFFF"/>
          </a:solidFill>
          <a:ln w="28575">
            <a:solidFill>
              <a:schemeClr val="tx1"/>
            </a:solidFill>
            <a:miter lim="800000"/>
            <a:headEnd/>
            <a:tailEnd/>
          </a:ln>
        </p:spPr>
        <p:txBody>
          <a:bodyPr wrap="none" anchor="ctr"/>
          <a:lstStyle/>
          <a:p>
            <a:pPr algn="ctr">
              <a:spcBef>
                <a:spcPct val="20000"/>
              </a:spcBef>
              <a:buClr>
                <a:schemeClr val="tx2"/>
              </a:buClr>
              <a:buSzPct val="65000"/>
              <a:buFont typeface="Wingdings" pitchFamily="2" charset="2"/>
              <a:buNone/>
            </a:pPr>
            <a:r>
              <a:rPr kumimoji="1" lang="zh-CN" altLang="en-US" sz="4000">
                <a:latin typeface="Times New Roman" pitchFamily="18" charset="0"/>
                <a:ea typeface="隶书" pitchFamily="49" charset="-122"/>
              </a:rPr>
              <a:t>涉讼</a:t>
            </a:r>
          </a:p>
        </p:txBody>
      </p:sp>
    </p:spTree>
    <p:extLst>
      <p:ext uri="{BB962C8B-B14F-4D97-AF65-F5344CB8AC3E}">
        <p14:creationId xmlns:p14="http://schemas.microsoft.com/office/powerpoint/2010/main" val="38489076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0482">
                                            <p:txEl>
                                              <p:pRg st="0" end="0"/>
                                            </p:txEl>
                                          </p:spTgt>
                                        </p:tgtEl>
                                        <p:attrNameLst>
                                          <p:attrName>style.visibility</p:attrName>
                                        </p:attrNameLst>
                                      </p:cBhvr>
                                      <p:to>
                                        <p:strVal val="visible"/>
                                      </p:to>
                                    </p:set>
                                    <p:animEffect transition="in" filter="wipe(up)">
                                      <p:cBhvr>
                                        <p:cTn id="7" dur="75"/>
                                        <p:tgtEl>
                                          <p:spTgt spid="2048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0483"/>
                                        </p:tgtEl>
                                        <p:attrNameLst>
                                          <p:attrName>style.visibility</p:attrName>
                                        </p:attrNameLst>
                                      </p:cBhvr>
                                      <p:to>
                                        <p:strVal val="visible"/>
                                      </p:to>
                                    </p:set>
                                    <p:animEffect transition="in" filter="box(out)">
                                      <p:cBhvr>
                                        <p:cTn id="12" dur="500"/>
                                        <p:tgtEl>
                                          <p:spTgt spid="2048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0486"/>
                                        </p:tgtEl>
                                        <p:attrNameLst>
                                          <p:attrName>style.visibility</p:attrName>
                                        </p:attrNameLst>
                                      </p:cBhvr>
                                      <p:to>
                                        <p:strVal val="visible"/>
                                      </p:to>
                                    </p:set>
                                    <p:animEffect transition="in" filter="box(out)">
                                      <p:cBhvr>
                                        <p:cTn id="17" dur="500"/>
                                        <p:tgtEl>
                                          <p:spTgt spid="20486"/>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0487"/>
                                        </p:tgtEl>
                                        <p:attrNameLst>
                                          <p:attrName>style.visibility</p:attrName>
                                        </p:attrNameLst>
                                      </p:cBhvr>
                                      <p:to>
                                        <p:strVal val="visible"/>
                                      </p:to>
                                    </p:set>
                                    <p:animEffect transition="in" filter="box(out)">
                                      <p:cBhvr>
                                        <p:cTn id="22" dur="500"/>
                                        <p:tgtEl>
                                          <p:spTgt spid="20487"/>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0488"/>
                                        </p:tgtEl>
                                        <p:attrNameLst>
                                          <p:attrName>style.visibility</p:attrName>
                                        </p:attrNameLst>
                                      </p:cBhvr>
                                      <p:to>
                                        <p:strVal val="visible"/>
                                      </p:to>
                                    </p:set>
                                    <p:animEffect transition="in" filter="box(out)">
                                      <p:cBhvr>
                                        <p:cTn id="27" dur="500"/>
                                        <p:tgtEl>
                                          <p:spTgt spid="2048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0484"/>
                                        </p:tgtEl>
                                        <p:attrNameLst>
                                          <p:attrName>style.visibility</p:attrName>
                                        </p:attrNameLst>
                                      </p:cBhvr>
                                      <p:to>
                                        <p:strVal val="visible"/>
                                      </p:to>
                                    </p:set>
                                    <p:animEffect transition="in" filter="box(out)">
                                      <p:cBhvr>
                                        <p:cTn id="32" dur="500"/>
                                        <p:tgtEl>
                                          <p:spTgt spid="20484"/>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20485"/>
                                        </p:tgtEl>
                                        <p:attrNameLst>
                                          <p:attrName>style.visibility</p:attrName>
                                        </p:attrNameLst>
                                      </p:cBhvr>
                                      <p:to>
                                        <p:strVal val="visible"/>
                                      </p:to>
                                    </p:set>
                                    <p:animEffect transition="in" filter="box(out)">
                                      <p:cBhvr>
                                        <p:cTn id="37" dur="500"/>
                                        <p:tgtEl>
                                          <p:spTgt spid="20485"/>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0489"/>
                                        </p:tgtEl>
                                        <p:attrNameLst>
                                          <p:attrName>style.visibility</p:attrName>
                                        </p:attrNameLst>
                                      </p:cBhvr>
                                      <p:to>
                                        <p:strVal val="visible"/>
                                      </p:to>
                                    </p:set>
                                    <p:animEffect transition="in" filter="box(out)">
                                      <p:cBhvr>
                                        <p:cTn id="42" dur="500"/>
                                        <p:tgtEl>
                                          <p:spTgt spid="20489"/>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20491"/>
                                        </p:tgtEl>
                                        <p:attrNameLst>
                                          <p:attrName>style.visibility</p:attrName>
                                        </p:attrNameLst>
                                      </p:cBhvr>
                                      <p:to>
                                        <p:strVal val="visible"/>
                                      </p:to>
                                    </p:set>
                                    <p:animEffect transition="in" filter="box(out)">
                                      <p:cBhvr>
                                        <p:cTn id="47" dur="500"/>
                                        <p:tgtEl>
                                          <p:spTgt spid="20491"/>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20490"/>
                                        </p:tgtEl>
                                        <p:attrNameLst>
                                          <p:attrName>style.visibility</p:attrName>
                                        </p:attrNameLst>
                                      </p:cBhvr>
                                      <p:to>
                                        <p:strVal val="visible"/>
                                      </p:to>
                                    </p:set>
                                    <p:animEffect transition="in" filter="box(out)">
                                      <p:cBhvr>
                                        <p:cTn id="52" dur="500"/>
                                        <p:tgtEl>
                                          <p:spTgt spid="20490"/>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20492"/>
                                        </p:tgtEl>
                                        <p:attrNameLst>
                                          <p:attrName>style.visibility</p:attrName>
                                        </p:attrNameLst>
                                      </p:cBhvr>
                                      <p:to>
                                        <p:strVal val="visible"/>
                                      </p:to>
                                    </p:set>
                                    <p:animEffect transition="in" filter="box(out)">
                                      <p:cBhvr>
                                        <p:cTn id="57" dur="500"/>
                                        <p:tgtEl>
                                          <p:spTgt spid="20492"/>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autoUpdateAnimBg="0"/>
      <p:bldP spid="20483" grpId="0" animBg="1" autoUpdateAnimBg="0"/>
      <p:bldP spid="20484" grpId="0" animBg="1" autoUpdateAnimBg="0"/>
      <p:bldP spid="20485" grpId="0" animBg="1" autoUpdateAnimBg="0"/>
      <p:bldP spid="20486" grpId="0" animBg="1" autoUpdateAnimBg="0"/>
      <p:bldP spid="20487" grpId="0" animBg="1" autoUpdateAnimBg="0"/>
      <p:bldP spid="20488" grpId="0" animBg="1"/>
      <p:bldP spid="20489" grpId="0" animBg="1"/>
      <p:bldP spid="20490" grpId="0" animBg="1"/>
      <p:bldP spid="20491" grpId="0" animBg="1"/>
      <p:bldP spid="20492"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p>
            <a:fld id="{9D76934A-AF55-4B5F-9B73-D98A9A60787D}" type="slidenum">
              <a:rPr lang="en-US" altLang="zh-CN" smtClean="0"/>
              <a:pPr/>
              <a:t>14</a:t>
            </a:fld>
            <a:endParaRPr lang="en-US" altLang="zh-CN"/>
          </a:p>
        </p:txBody>
      </p:sp>
      <p:sp>
        <p:nvSpPr>
          <p:cNvPr id="18435" name="Rectangle 2"/>
          <p:cNvSpPr>
            <a:spLocks noGrp="1" noChangeArrowheads="1"/>
          </p:cNvSpPr>
          <p:nvPr>
            <p:ph type="title"/>
          </p:nvPr>
        </p:nvSpPr>
        <p:spPr>
          <a:xfrm>
            <a:off x="762000" y="381000"/>
            <a:ext cx="7772400" cy="671736"/>
          </a:xfrm>
        </p:spPr>
        <p:txBody>
          <a:bodyPr/>
          <a:lstStyle/>
          <a:p>
            <a:pPr algn="ctr" eaLnBrk="1" hangingPunct="1"/>
            <a:r>
              <a:rPr lang="zh-CN" altLang="en-US" sz="3600" b="1" dirty="0">
                <a:solidFill>
                  <a:schemeClr val="tx1"/>
                </a:solidFill>
                <a:ea typeface="微软简综艺" pitchFamily="49" charset="-122"/>
              </a:rPr>
              <a:t>什么逻辑？</a:t>
            </a:r>
          </a:p>
        </p:txBody>
      </p:sp>
      <p:sp>
        <p:nvSpPr>
          <p:cNvPr id="18436" name="Rectangle 3"/>
          <p:cNvSpPr>
            <a:spLocks noGrp="1" noChangeArrowheads="1"/>
          </p:cNvSpPr>
          <p:nvPr>
            <p:ph type="body" idx="1"/>
          </p:nvPr>
        </p:nvSpPr>
        <p:spPr>
          <a:xfrm>
            <a:off x="685800" y="1196752"/>
            <a:ext cx="7772400" cy="5280248"/>
          </a:xfrm>
        </p:spPr>
        <p:txBody>
          <a:bodyPr/>
          <a:lstStyle/>
          <a:p>
            <a:pPr eaLnBrk="1" hangingPunct="1">
              <a:lnSpc>
                <a:spcPct val="90000"/>
              </a:lnSpc>
              <a:buFont typeface="Wingdings" pitchFamily="2" charset="2"/>
              <a:buNone/>
            </a:pPr>
            <a:r>
              <a:rPr lang="zh-CN" altLang="en-US" sz="2800" b="1" dirty="0">
                <a:solidFill>
                  <a:srgbClr val="FF3300"/>
                </a:solidFill>
                <a:latin typeface="方正舒体" pitchFamily="2" charset="-122"/>
                <a:ea typeface="方正舒体" pitchFamily="2" charset="-122"/>
              </a:rPr>
              <a:t>正面</a:t>
            </a:r>
            <a:r>
              <a:rPr lang="en-US" altLang="zh-CN" sz="2800" b="1" dirty="0">
                <a:solidFill>
                  <a:srgbClr val="FF3300"/>
                </a:solidFill>
                <a:latin typeface="Arial" charset="0"/>
                <a:ea typeface="方正舒体" pitchFamily="2" charset="-122"/>
              </a:rPr>
              <a:t>——</a:t>
            </a:r>
            <a:r>
              <a:rPr lang="zh-CN" altLang="en-US" sz="2800" b="1" dirty="0">
                <a:solidFill>
                  <a:srgbClr val="FF3300"/>
                </a:solidFill>
                <a:latin typeface="方正舒体" pitchFamily="2" charset="-122"/>
                <a:ea typeface="方正舒体" pitchFamily="2" charset="-122"/>
              </a:rPr>
              <a:t>我赢。</a:t>
            </a:r>
          </a:p>
          <a:p>
            <a:pPr eaLnBrk="1" hangingPunct="1">
              <a:lnSpc>
                <a:spcPct val="90000"/>
              </a:lnSpc>
              <a:buFont typeface="Wingdings" pitchFamily="2" charset="2"/>
              <a:buNone/>
            </a:pPr>
            <a:r>
              <a:rPr lang="zh-CN" altLang="en-US" sz="2800" b="1" dirty="0">
                <a:solidFill>
                  <a:srgbClr val="FF3300"/>
                </a:solidFill>
                <a:latin typeface="方正舒体" pitchFamily="2" charset="-122"/>
                <a:ea typeface="方正舒体" pitchFamily="2" charset="-122"/>
              </a:rPr>
              <a:t>        反面</a:t>
            </a:r>
            <a:r>
              <a:rPr lang="en-US" altLang="zh-CN" sz="2800" b="1" dirty="0">
                <a:solidFill>
                  <a:srgbClr val="FF3300"/>
                </a:solidFill>
                <a:latin typeface="Arial" charset="0"/>
                <a:ea typeface="方正舒体" pitchFamily="2" charset="-122"/>
              </a:rPr>
              <a:t>——</a:t>
            </a:r>
            <a:r>
              <a:rPr lang="zh-CN" altLang="en-US" sz="2800" b="1" dirty="0">
                <a:solidFill>
                  <a:srgbClr val="FF3300"/>
                </a:solidFill>
                <a:latin typeface="方正舒体" pitchFamily="2" charset="-122"/>
                <a:ea typeface="方正舒体" pitchFamily="2" charset="-122"/>
              </a:rPr>
              <a:t>你输。</a:t>
            </a:r>
          </a:p>
          <a:p>
            <a:pPr eaLnBrk="1" hangingPunct="1">
              <a:lnSpc>
                <a:spcPct val="90000"/>
              </a:lnSpc>
              <a:buFont typeface="Wingdings" pitchFamily="2" charset="2"/>
              <a:buNone/>
            </a:pPr>
            <a:r>
              <a:rPr lang="zh-CN" altLang="en-US" sz="2800" b="1" dirty="0">
                <a:latin typeface="宋体"/>
                <a:ea typeface="宋体"/>
                <a:cs typeface="宋体"/>
              </a:rPr>
              <a:t>银行成为他们的保险公司</a:t>
            </a:r>
            <a:r>
              <a:rPr lang="en-US" altLang="zh-CN" sz="2800" b="1" dirty="0">
                <a:latin typeface="宋体"/>
                <a:ea typeface="宋体"/>
                <a:cs typeface="宋体"/>
              </a:rPr>
              <a:t>——</a:t>
            </a:r>
            <a:r>
              <a:rPr lang="zh-CN" altLang="en-US" sz="2800" b="1" dirty="0">
                <a:latin typeface="宋体"/>
                <a:ea typeface="宋体"/>
                <a:cs typeface="宋体"/>
              </a:rPr>
              <a:t>道德冒险。</a:t>
            </a:r>
            <a:endParaRPr lang="en-US" altLang="zh-CN" sz="2800" b="1" dirty="0">
              <a:latin typeface="宋体"/>
              <a:ea typeface="宋体"/>
              <a:cs typeface="宋体"/>
            </a:endParaRPr>
          </a:p>
          <a:p>
            <a:r>
              <a:rPr lang="zh-CN" altLang="zh-CN" sz="2800" b="1" dirty="0">
                <a:latin typeface="宋体"/>
                <a:ea typeface="宋体"/>
                <a:cs typeface="宋体"/>
              </a:rPr>
              <a:t>交易形式从实物资源到符号资源的变化，是现代金融经济的特点。</a:t>
            </a:r>
          </a:p>
          <a:p>
            <a:r>
              <a:rPr lang="zh-CN" altLang="zh-CN" sz="2800" b="1" dirty="0">
                <a:latin typeface="宋体"/>
                <a:ea typeface="宋体"/>
                <a:cs typeface="宋体"/>
              </a:rPr>
              <a:t>如果说，传统犯罪中，加害一方的主导作用比较明显的话，那么，现代社会的犯罪中，被害一方的作用愈加凸显。</a:t>
            </a:r>
          </a:p>
          <a:p>
            <a:r>
              <a:rPr lang="zh-CN" altLang="zh-CN" sz="2800" b="1" dirty="0">
                <a:latin typeface="宋体"/>
                <a:ea typeface="宋体"/>
                <a:cs typeface="宋体"/>
              </a:rPr>
              <a:t>总之，不能忽略被害人在犯罪问题中的作用。</a:t>
            </a:r>
          </a:p>
          <a:p>
            <a:r>
              <a:rPr lang="zh-CN" altLang="zh-CN" sz="2800" b="1" dirty="0">
                <a:latin typeface="宋体"/>
                <a:ea typeface="宋体"/>
                <a:cs typeface="宋体"/>
              </a:rPr>
              <a:t>问题是，在这个视野下，怎么看刑法在犯罪控制中的作用呢？</a:t>
            </a:r>
          </a:p>
          <a:p>
            <a:pPr eaLnBrk="1" hangingPunct="1">
              <a:lnSpc>
                <a:spcPct val="90000"/>
              </a:lnSpc>
              <a:buFont typeface="Wingdings" pitchFamily="2" charset="2"/>
              <a:buNone/>
            </a:pPr>
            <a:endParaRPr lang="en-US" altLang="zh-CN" sz="2800" b="1" dirty="0">
              <a:latin typeface="方正粗圆简体" pitchFamily="2" charset="-122"/>
              <a:ea typeface="方正粗圆简体" pitchFamily="2" charset="-122"/>
            </a:endParaRPr>
          </a:p>
          <a:p>
            <a:pPr eaLnBrk="1" hangingPunct="1">
              <a:lnSpc>
                <a:spcPct val="90000"/>
              </a:lnSpc>
              <a:buFont typeface="Wingdings" pitchFamily="2" charset="2"/>
              <a:buNone/>
            </a:pPr>
            <a:endParaRPr lang="en-US" altLang="zh-CN" sz="2800" b="1" dirty="0">
              <a:latin typeface="方正粗圆简体" pitchFamily="2" charset="-122"/>
              <a:ea typeface="方正粗圆简体" pitchFamily="2" charset="-122"/>
            </a:endParaRPr>
          </a:p>
        </p:txBody>
      </p:sp>
    </p:spTree>
    <p:extLst>
      <p:ext uri="{BB962C8B-B14F-4D97-AF65-F5344CB8AC3E}">
        <p14:creationId xmlns:p14="http://schemas.microsoft.com/office/powerpoint/2010/main" val="419929465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260648"/>
            <a:ext cx="7170737" cy="492125"/>
          </a:xfrm>
        </p:spPr>
        <p:txBody>
          <a:bodyPr/>
          <a:lstStyle/>
          <a:p>
            <a:pPr algn="ctr"/>
            <a:r>
              <a:rPr kumimoji="1" lang="zh-CN" altLang="en-US" dirty="0">
                <a:latin typeface="SimHei" charset="-122"/>
                <a:ea typeface="SimHei" charset="-122"/>
                <a:cs typeface="SimHei" charset="-122"/>
              </a:rPr>
              <a:t>网络金融犯罪</a:t>
            </a:r>
            <a:endParaRPr kumimoji="1" lang="zh-CN" altLang="en-US" dirty="0"/>
          </a:p>
        </p:txBody>
      </p:sp>
      <p:sp>
        <p:nvSpPr>
          <p:cNvPr id="3" name="内容占位符 2"/>
          <p:cNvSpPr>
            <a:spLocks noGrp="1"/>
          </p:cNvSpPr>
          <p:nvPr>
            <p:ph idx="1"/>
          </p:nvPr>
        </p:nvSpPr>
        <p:spPr>
          <a:xfrm>
            <a:off x="457200" y="908720"/>
            <a:ext cx="8219256" cy="5472608"/>
          </a:xfrm>
        </p:spPr>
        <p:txBody>
          <a:bodyPr/>
          <a:lstStyle/>
          <a:p>
            <a:r>
              <a:rPr kumimoji="1" lang="zh-CN" altLang="en-US" sz="2800" dirty="0">
                <a:latin typeface="SimHei" charset="-122"/>
                <a:ea typeface="SimHei" charset="-122"/>
                <a:cs typeface="SimHei" charset="-122"/>
              </a:rPr>
              <a:t>第一类：网络非法集资</a:t>
            </a:r>
            <a:endParaRPr kumimoji="1" lang="en-US" altLang="zh-CN" sz="2800" dirty="0">
              <a:latin typeface="SimHei" charset="-122"/>
              <a:ea typeface="SimHei" charset="-122"/>
              <a:cs typeface="SimHei" charset="-122"/>
            </a:endParaRPr>
          </a:p>
          <a:p>
            <a:r>
              <a:rPr lang="zh-CN" altLang="zh-CN" dirty="0"/>
              <a:t>其罪名主要包括非法吸收公众存款罪和集资诈骗罪。</a:t>
            </a:r>
            <a:endParaRPr lang="en-US" altLang="zh-CN" dirty="0"/>
          </a:p>
          <a:p>
            <a:r>
              <a:rPr lang="zh-CN" altLang="en-US" dirty="0">
                <a:latin typeface="SimHei" charset="-122"/>
                <a:ea typeface="SimHei" charset="-122"/>
                <a:cs typeface="SimHei" charset="-122"/>
              </a:rPr>
              <a:t>利用</a:t>
            </a:r>
            <a:r>
              <a:rPr lang="en-US" altLang="zh-CN" dirty="0">
                <a:latin typeface="SimHei" charset="-122"/>
                <a:ea typeface="SimHei" charset="-122"/>
                <a:cs typeface="SimHei" charset="-122"/>
              </a:rPr>
              <a:t>P2P</a:t>
            </a:r>
            <a:r>
              <a:rPr lang="zh-CN" altLang="en-US" dirty="0">
                <a:latin typeface="SimHei" charset="-122"/>
                <a:ea typeface="SimHei" charset="-122"/>
                <a:cs typeface="SimHei" charset="-122"/>
              </a:rPr>
              <a:t>网络借贷平台集资诈骗案</a:t>
            </a:r>
            <a:endParaRPr lang="en-US" altLang="zh-CN" dirty="0">
              <a:latin typeface="SimHei" charset="-122"/>
              <a:ea typeface="SimHei" charset="-122"/>
              <a:cs typeface="SimHei" charset="-122"/>
            </a:endParaRPr>
          </a:p>
          <a:p>
            <a:r>
              <a:rPr lang="zh-CN" altLang="en-US" dirty="0">
                <a:latin typeface="华文楷体" charset="-122"/>
                <a:ea typeface="华文楷体" charset="-122"/>
              </a:rPr>
              <a:t>阮某注册成立一投资管理公司，租用办公场所，购买“</a:t>
            </a:r>
            <a:r>
              <a:rPr lang="en-US" altLang="zh-CN" dirty="0">
                <a:latin typeface="华文楷体" charset="-122"/>
                <a:ea typeface="华文楷体" charset="-122"/>
              </a:rPr>
              <a:t>P2P”</a:t>
            </a:r>
            <a:r>
              <a:rPr lang="zh-CN" altLang="en-US" dirty="0">
                <a:latin typeface="华文楷体" charset="-122"/>
                <a:ea typeface="华文楷体" charset="-122"/>
              </a:rPr>
              <a:t>网络借贷平台软件。</a:t>
            </a:r>
            <a:endParaRPr lang="en-US" altLang="zh-CN" dirty="0">
              <a:latin typeface="华文楷体" charset="-122"/>
              <a:ea typeface="华文楷体" charset="-122"/>
            </a:endParaRPr>
          </a:p>
          <a:p>
            <a:r>
              <a:rPr lang="zh-CN" altLang="en-US" dirty="0">
                <a:latin typeface="华文楷体" charset="-122"/>
                <a:ea typeface="华文楷体" charset="-122"/>
              </a:rPr>
              <a:t>在未经国家有关部门依法批准的情况下，虚构投资项目及借款方，谎称由某房地产开发公司对借款提供保证，以年利率</a:t>
            </a:r>
            <a:r>
              <a:rPr lang="en-US" altLang="zh-CN" dirty="0">
                <a:latin typeface="华文楷体" charset="-122"/>
                <a:ea typeface="华文楷体" charset="-122"/>
              </a:rPr>
              <a:t>18%</a:t>
            </a:r>
            <a:r>
              <a:rPr lang="zh-CN" altLang="en-US" dirty="0">
                <a:latin typeface="华文楷体" charset="-122"/>
                <a:ea typeface="华文楷体" charset="-122"/>
              </a:rPr>
              <a:t>的高额利息外加奖励的方式为诱饵。</a:t>
            </a:r>
            <a:endParaRPr lang="en-US" altLang="zh-CN" dirty="0">
              <a:latin typeface="华文楷体" charset="-122"/>
              <a:ea typeface="华文楷体" charset="-122"/>
            </a:endParaRPr>
          </a:p>
          <a:p>
            <a:r>
              <a:rPr lang="zh-CN" altLang="en-US" dirty="0">
                <a:latin typeface="华文楷体" charset="-122"/>
                <a:ea typeface="华文楷体" charset="-122"/>
              </a:rPr>
              <a:t>通过</a:t>
            </a:r>
            <a:r>
              <a:rPr lang="en-US" altLang="zh-CN" dirty="0">
                <a:latin typeface="华文楷体" charset="-122"/>
                <a:ea typeface="华文楷体" charset="-122"/>
              </a:rPr>
              <a:t>QQ</a:t>
            </a:r>
            <a:r>
              <a:rPr lang="zh-CN" altLang="en-US" dirty="0">
                <a:latin typeface="华文楷体" charset="-122"/>
                <a:ea typeface="华文楷体" charset="-122"/>
              </a:rPr>
              <a:t>群、网媒广告等方式宣传推广该融资平台，通过宝付、贝付、汇宝付等第三方支付平台线上充值、门店线下充值的方式向社会公众集资。</a:t>
            </a:r>
            <a:endParaRPr lang="en-US" altLang="zh-CN" dirty="0">
              <a:latin typeface="华文楷体" charset="-122"/>
              <a:ea typeface="华文楷体" charset="-122"/>
            </a:endParaRPr>
          </a:p>
          <a:p>
            <a:r>
              <a:rPr lang="zh-CN" altLang="en-US" dirty="0"/>
              <a:t>法院定集资诈骗罪。</a:t>
            </a:r>
            <a:endParaRPr lang="en-US" altLang="zh-CN" dirty="0"/>
          </a:p>
        </p:txBody>
      </p:sp>
    </p:spTree>
    <p:extLst>
      <p:ext uri="{BB962C8B-B14F-4D97-AF65-F5344CB8AC3E}">
        <p14:creationId xmlns:p14="http://schemas.microsoft.com/office/powerpoint/2010/main" val="399694366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a:latin typeface="SimHei" charset="-122"/>
                <a:ea typeface="SimHei" charset="-122"/>
                <a:cs typeface="SimHei" charset="-122"/>
              </a:rPr>
              <a:t>第二类：网络财产犯罪</a:t>
            </a:r>
            <a:endParaRPr kumimoji="1" lang="en-US" altLang="zh-CN" dirty="0">
              <a:latin typeface="SimHei" charset="-122"/>
              <a:ea typeface="SimHei" charset="-122"/>
              <a:cs typeface="SimHei" charset="-122"/>
            </a:endParaRPr>
          </a:p>
        </p:txBody>
      </p:sp>
      <p:sp>
        <p:nvSpPr>
          <p:cNvPr id="3" name="内容占位符 2"/>
          <p:cNvSpPr>
            <a:spLocks noGrp="1"/>
          </p:cNvSpPr>
          <p:nvPr>
            <p:ph idx="1"/>
          </p:nvPr>
        </p:nvSpPr>
        <p:spPr/>
        <p:txBody>
          <a:bodyPr/>
          <a:lstStyle/>
          <a:p>
            <a:r>
              <a:rPr lang="zh-CN" altLang="zh-CN" dirty="0"/>
              <a:t>例如</a:t>
            </a:r>
            <a:r>
              <a:rPr lang="zh-CN" altLang="en-US" dirty="0"/>
              <a:t>，</a:t>
            </a:r>
            <a:r>
              <a:rPr lang="zh-CN" altLang="zh-CN" dirty="0"/>
              <a:t>行为人</a:t>
            </a:r>
            <a:r>
              <a:rPr lang="en-US" altLang="zh-CN" dirty="0"/>
              <a:t>A</a:t>
            </a:r>
            <a:r>
              <a:rPr lang="zh-CN" altLang="zh-CN" dirty="0"/>
              <a:t>与</a:t>
            </a:r>
            <a:r>
              <a:rPr lang="en-US" altLang="zh-CN" dirty="0"/>
              <a:t>B</a:t>
            </a:r>
            <a:r>
              <a:rPr lang="zh-CN" altLang="zh-CN" dirty="0"/>
              <a:t>是男女朋友关系，二人分手后，</a:t>
            </a:r>
            <a:r>
              <a:rPr lang="en-US" altLang="zh-CN" dirty="0"/>
              <a:t>A</a:t>
            </a:r>
            <a:r>
              <a:rPr lang="zh-CN" altLang="zh-CN" dirty="0"/>
              <a:t>偷偷以</a:t>
            </a:r>
            <a:r>
              <a:rPr lang="en-US" altLang="zh-CN" dirty="0"/>
              <a:t>B</a:t>
            </a:r>
            <a:r>
              <a:rPr lang="zh-CN" altLang="zh-CN" dirty="0"/>
              <a:t>的名义在国内某支付平台（蚂蚁金服）申请到了</a:t>
            </a:r>
            <a:r>
              <a:rPr lang="en-US" altLang="zh-CN" dirty="0"/>
              <a:t>10000</a:t>
            </a:r>
            <a:r>
              <a:rPr lang="zh-CN" altLang="zh-CN" dirty="0"/>
              <a:t>元的贷款。此后借贷平台在</a:t>
            </a:r>
            <a:r>
              <a:rPr lang="en-US" altLang="zh-CN" dirty="0"/>
              <a:t>B</a:t>
            </a:r>
            <a:r>
              <a:rPr lang="zh-CN" altLang="zh-CN" dirty="0"/>
              <a:t>的账户内形成账单，并追索债务。</a:t>
            </a:r>
            <a:endParaRPr lang="en-US" altLang="zh-CN" dirty="0"/>
          </a:p>
          <a:p>
            <a:r>
              <a:rPr lang="zh-CN" altLang="zh-CN" dirty="0"/>
              <a:t>该案件受害人是谁？盗窃还是诈骗？</a:t>
            </a:r>
            <a:endParaRPr lang="en-US" altLang="zh-CN" dirty="0"/>
          </a:p>
          <a:p>
            <a:r>
              <a:rPr lang="zh-CN" altLang="en-US" dirty="0"/>
              <a:t>倾向贷款诈骗，因为</a:t>
            </a:r>
            <a:r>
              <a:rPr lang="en-US" altLang="zh-CN" dirty="0"/>
              <a:t>A</a:t>
            </a:r>
            <a:r>
              <a:rPr lang="zh-CN" altLang="en-US" dirty="0"/>
              <a:t>违背</a:t>
            </a:r>
            <a:r>
              <a:rPr lang="en-US" altLang="zh-CN" dirty="0"/>
              <a:t>B</a:t>
            </a:r>
            <a:r>
              <a:rPr lang="zh-CN" altLang="en-US" dirty="0"/>
              <a:t>的意思，签定的借贷合同是无效的，</a:t>
            </a:r>
            <a:r>
              <a:rPr lang="en-US" altLang="zh-CN" dirty="0"/>
              <a:t> B</a:t>
            </a:r>
            <a:r>
              <a:rPr lang="zh-CN" altLang="en-US" dirty="0"/>
              <a:t>不会因此背上偿还贷款的负担，受害人应该是蚂蚁金服。</a:t>
            </a:r>
            <a:endParaRPr lang="en-US" altLang="zh-CN" dirty="0"/>
          </a:p>
          <a:p>
            <a:r>
              <a:rPr lang="zh-CN" altLang="en-US" dirty="0"/>
              <a:t>通过“撞库”，</a:t>
            </a:r>
            <a:r>
              <a:rPr lang="zh-CN" altLang="zh-CN" dirty="0"/>
              <a:t>非法获取支付宝、淘宝账号内的余额，以</a:t>
            </a:r>
            <a:r>
              <a:rPr lang="zh-CN" altLang="zh-CN" b="1" dirty="0"/>
              <a:t>盗窃</a:t>
            </a:r>
            <a:r>
              <a:rPr lang="zh-CN" altLang="zh-CN" dirty="0"/>
              <a:t>罪定罪；</a:t>
            </a:r>
          </a:p>
          <a:p>
            <a:r>
              <a:rPr lang="zh-CN" altLang="zh-CN" dirty="0"/>
              <a:t>利用钓鱼软件，以刷单为名，诈骗淘宝卖家或以刷单为名，骗取刷单手先行支付款项，后非法占有的，以</a:t>
            </a:r>
            <a:r>
              <a:rPr lang="zh-CN" altLang="zh-CN" b="1" dirty="0"/>
              <a:t>诈骗</a:t>
            </a:r>
            <a:r>
              <a:rPr lang="zh-CN" altLang="zh-CN" dirty="0"/>
              <a:t>罪定罪</a:t>
            </a:r>
            <a:r>
              <a:rPr lang="zh-CN" altLang="en-US" dirty="0"/>
              <a:t>。</a:t>
            </a:r>
            <a:endParaRPr lang="en-US" altLang="zh-CN" dirty="0"/>
          </a:p>
          <a:p>
            <a:endParaRPr kumimoji="1" lang="zh-CN" altLang="en-US" dirty="0"/>
          </a:p>
        </p:txBody>
      </p:sp>
    </p:spTree>
    <p:extLst>
      <p:ext uri="{BB962C8B-B14F-4D97-AF65-F5344CB8AC3E}">
        <p14:creationId xmlns:p14="http://schemas.microsoft.com/office/powerpoint/2010/main" val="401680041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a:latin typeface="SimHei" charset="-122"/>
                <a:ea typeface="SimHei" charset="-122"/>
                <a:cs typeface="SimHei" charset="-122"/>
              </a:rPr>
              <a:t>第三类：网络信息系统类犯罪</a:t>
            </a:r>
          </a:p>
        </p:txBody>
      </p:sp>
      <p:sp>
        <p:nvSpPr>
          <p:cNvPr id="3" name="内容占位符 2"/>
          <p:cNvSpPr>
            <a:spLocks noGrp="1"/>
          </p:cNvSpPr>
          <p:nvPr>
            <p:ph idx="1"/>
          </p:nvPr>
        </p:nvSpPr>
        <p:spPr>
          <a:xfrm>
            <a:off x="457200" y="836712"/>
            <a:ext cx="8219256" cy="5544616"/>
          </a:xfrm>
        </p:spPr>
        <p:txBody>
          <a:bodyPr/>
          <a:lstStyle/>
          <a:p>
            <a:r>
              <a:rPr lang="zh-CN" altLang="zh-CN" dirty="0"/>
              <a:t>提供具有模拟用户登录并可以获取用户状态的扫号软件，获得邮箱、淘宝、支付宝账号密码并售卖的，以</a:t>
            </a:r>
            <a:r>
              <a:rPr lang="zh-CN" altLang="zh-CN" b="1" dirty="0"/>
              <a:t>提供</a:t>
            </a:r>
            <a:r>
              <a:rPr lang="zh-CN" altLang="zh-CN" dirty="0"/>
              <a:t>侵入、非法控制计算机信息系统</a:t>
            </a:r>
            <a:r>
              <a:rPr lang="zh-CN" altLang="zh-CN" b="1" dirty="0"/>
              <a:t>程序、工具</a:t>
            </a:r>
            <a:r>
              <a:rPr lang="zh-CN" altLang="zh-CN" dirty="0"/>
              <a:t>罪定罪</a:t>
            </a:r>
            <a:endParaRPr lang="en-US" altLang="zh-CN" dirty="0"/>
          </a:p>
          <a:p>
            <a:r>
              <a:rPr lang="zh-CN" altLang="zh-CN" dirty="0"/>
              <a:t>利用信息网络传授非法获取计算机信息系统数据的方法或者非法控制计算机信息系统的方法，以</a:t>
            </a:r>
            <a:r>
              <a:rPr lang="zh-CN" altLang="zh-CN" b="1" dirty="0"/>
              <a:t>传授犯罪方法</a:t>
            </a:r>
            <a:r>
              <a:rPr lang="zh-CN" altLang="zh-CN" dirty="0"/>
              <a:t>罪定罪</a:t>
            </a:r>
            <a:endParaRPr lang="en-US" altLang="zh-CN" dirty="0"/>
          </a:p>
          <a:p>
            <a:r>
              <a:rPr kumimoji="1" lang="zh-CN" altLang="en-US" dirty="0"/>
              <a:t>黑客入侵：</a:t>
            </a:r>
            <a:r>
              <a:rPr lang="zh-CN" altLang="en-US" dirty="0">
                <a:latin typeface="华文楷体" charset="-122"/>
                <a:ea typeface="华文楷体" charset="-122"/>
              </a:rPr>
              <a:t>被告人</a:t>
            </a:r>
            <a:r>
              <a:rPr lang="en-US" altLang="zh-CN" dirty="0">
                <a:latin typeface="华文楷体" charset="-122"/>
                <a:ea typeface="华文楷体" charset="-122"/>
              </a:rPr>
              <a:t>XX</a:t>
            </a:r>
            <a:r>
              <a:rPr lang="zh-CN" altLang="en-US" dirty="0">
                <a:latin typeface="华文楷体" charset="-122"/>
                <a:ea typeface="华文楷体" charset="-122"/>
              </a:rPr>
              <a:t>通过运行黑客软件非法侵入并远程操控</a:t>
            </a:r>
            <a:r>
              <a:rPr lang="en-US" altLang="zh-CN" dirty="0">
                <a:latin typeface="华文楷体" charset="-122"/>
                <a:ea typeface="华文楷体" charset="-122"/>
              </a:rPr>
              <a:t>55</a:t>
            </a:r>
            <a:r>
              <a:rPr lang="zh-CN" altLang="en-US" dirty="0">
                <a:latin typeface="华文楷体" charset="-122"/>
                <a:ea typeface="华文楷体" charset="-122"/>
              </a:rPr>
              <a:t>台他人计算机作为“傀儡机”（俗称“肉鸡”），对</a:t>
            </a:r>
            <a:r>
              <a:rPr lang="en-US" altLang="zh-CN" dirty="0">
                <a:latin typeface="华文楷体" charset="-122"/>
                <a:ea typeface="华文楷体" charset="-122"/>
              </a:rPr>
              <a:t>《x</a:t>
            </a:r>
            <a:r>
              <a:rPr lang="zh-CN" altLang="en-US" dirty="0">
                <a:latin typeface="华文楷体" charset="-122"/>
                <a:ea typeface="华文楷体" charset="-122"/>
              </a:rPr>
              <a:t>游戏</a:t>
            </a:r>
            <a:r>
              <a:rPr lang="en-US" altLang="zh-CN" dirty="0">
                <a:latin typeface="华文楷体" charset="-122"/>
                <a:ea typeface="华文楷体" charset="-122"/>
              </a:rPr>
              <a:t>》</a:t>
            </a:r>
            <a:r>
              <a:rPr lang="zh-CN" altLang="en-US" dirty="0">
                <a:latin typeface="华文楷体" charset="-122"/>
                <a:ea typeface="华文楷体" charset="-122"/>
              </a:rPr>
              <a:t>服务器发动</a:t>
            </a:r>
            <a:r>
              <a:rPr lang="en-US" altLang="zh-CN" dirty="0">
                <a:latin typeface="华文楷体" charset="-122"/>
                <a:ea typeface="华文楷体" charset="-122"/>
              </a:rPr>
              <a:t>DDOS</a:t>
            </a:r>
            <a:r>
              <a:rPr lang="zh-CN" altLang="en-US" dirty="0">
                <a:latin typeface="华文楷体" charset="-122"/>
                <a:ea typeface="华文楷体" charset="-122"/>
              </a:rPr>
              <a:t>攻击，即对</a:t>
            </a:r>
            <a:r>
              <a:rPr lang="en-US" altLang="zh-CN" dirty="0">
                <a:latin typeface="华文楷体" charset="-122"/>
                <a:ea typeface="华文楷体" charset="-122"/>
              </a:rPr>
              <a:t>《x</a:t>
            </a:r>
            <a:r>
              <a:rPr lang="zh-CN" altLang="en-US" dirty="0">
                <a:latin typeface="华文楷体" charset="-122"/>
                <a:ea typeface="华文楷体" charset="-122"/>
              </a:rPr>
              <a:t>游戏</a:t>
            </a:r>
            <a:r>
              <a:rPr lang="en-US" altLang="zh-CN" dirty="0">
                <a:latin typeface="华文楷体" charset="-122"/>
                <a:ea typeface="华文楷体" charset="-122"/>
              </a:rPr>
              <a:t>》</a:t>
            </a:r>
            <a:r>
              <a:rPr lang="zh-CN" altLang="en-US" dirty="0">
                <a:latin typeface="华文楷体" charset="-122"/>
                <a:ea typeface="华文楷体" charset="-122"/>
              </a:rPr>
              <a:t>服务器</a:t>
            </a:r>
            <a:r>
              <a:rPr lang="en-US" altLang="zh-CN" dirty="0">
                <a:latin typeface="华文楷体" charset="-122"/>
                <a:ea typeface="华文楷体" charset="-122"/>
              </a:rPr>
              <a:t>IP</a:t>
            </a:r>
            <a:r>
              <a:rPr lang="zh-CN" altLang="en-US" dirty="0">
                <a:latin typeface="华文楷体" charset="-122"/>
                <a:ea typeface="华文楷体" charset="-122"/>
              </a:rPr>
              <a:t>发送“</a:t>
            </a:r>
            <a:r>
              <a:rPr lang="en-US" altLang="zh-CN" dirty="0">
                <a:latin typeface="华文楷体" charset="-122"/>
                <a:ea typeface="华文楷体" charset="-122"/>
              </a:rPr>
              <a:t>x”</a:t>
            </a:r>
            <a:r>
              <a:rPr lang="zh-CN" altLang="en-US" dirty="0">
                <a:latin typeface="华文楷体" charset="-122"/>
                <a:ea typeface="华文楷体" charset="-122"/>
              </a:rPr>
              <a:t>或“</a:t>
            </a:r>
            <a:r>
              <a:rPr lang="en-US" altLang="zh-CN" dirty="0">
                <a:latin typeface="华文楷体" charset="-122"/>
                <a:ea typeface="华文楷体" charset="-122"/>
              </a:rPr>
              <a:t>x”</a:t>
            </a:r>
            <a:r>
              <a:rPr lang="zh-CN" altLang="en-US" dirty="0">
                <a:latin typeface="华文楷体" charset="-122"/>
                <a:ea typeface="华文楷体" charset="-122"/>
              </a:rPr>
              <a:t>数据包，使服务器网络带宽被占用，网络通讯被堵塞，导致被攻击的服务器网络中断、玩家掉线，造成</a:t>
            </a:r>
            <a:r>
              <a:rPr lang="en-US" altLang="zh-CN" dirty="0">
                <a:latin typeface="华文楷体" charset="-122"/>
                <a:ea typeface="华文楷体" charset="-122"/>
              </a:rPr>
              <a:t>x</a:t>
            </a:r>
            <a:r>
              <a:rPr lang="zh-CN" altLang="en-US" dirty="0">
                <a:latin typeface="华文楷体" charset="-122"/>
                <a:ea typeface="华文楷体" charset="-122"/>
              </a:rPr>
              <a:t>公司经济受损，玩家满意度下降，品牌价值降低，公司形象受到了影响。</a:t>
            </a:r>
            <a:endParaRPr lang="en-US" altLang="zh-CN" dirty="0">
              <a:latin typeface="华文楷体" charset="-122"/>
              <a:ea typeface="华文楷体" charset="-122"/>
            </a:endParaRPr>
          </a:p>
          <a:p>
            <a:r>
              <a:rPr lang="zh-CN" altLang="en-US" dirty="0">
                <a:latin typeface="华文楷体" charset="-122"/>
                <a:ea typeface="华文楷体" charset="-122"/>
              </a:rPr>
              <a:t>法院认为，构成非法控制计算机信息系统罪</a:t>
            </a:r>
          </a:p>
          <a:p>
            <a:endParaRPr kumimoji="1" lang="zh-CN" altLang="en-US" dirty="0"/>
          </a:p>
        </p:txBody>
      </p:sp>
    </p:spTree>
    <p:extLst>
      <p:ext uri="{BB962C8B-B14F-4D97-AF65-F5344CB8AC3E}">
        <p14:creationId xmlns:p14="http://schemas.microsoft.com/office/powerpoint/2010/main" val="922208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260648"/>
            <a:ext cx="7170737" cy="492125"/>
          </a:xfrm>
        </p:spPr>
        <p:txBody>
          <a:bodyPr/>
          <a:lstStyle/>
          <a:p>
            <a:pPr algn="ctr"/>
            <a:r>
              <a:rPr kumimoji="1" lang="zh-CN" altLang="en-US" sz="3600" dirty="0">
                <a:latin typeface="黑体"/>
                <a:ea typeface="黑体"/>
                <a:cs typeface="黑体"/>
              </a:rPr>
              <a:t>内幕交易罪</a:t>
            </a:r>
          </a:p>
        </p:txBody>
      </p:sp>
      <p:sp>
        <p:nvSpPr>
          <p:cNvPr id="3" name="内容占位符 2"/>
          <p:cNvSpPr>
            <a:spLocks noGrp="1"/>
          </p:cNvSpPr>
          <p:nvPr>
            <p:ph idx="1"/>
          </p:nvPr>
        </p:nvSpPr>
        <p:spPr/>
        <p:txBody>
          <a:bodyPr/>
          <a:lstStyle/>
          <a:p>
            <a:pPr>
              <a:lnSpc>
                <a:spcPct val="90000"/>
              </a:lnSpc>
            </a:pPr>
            <a:r>
              <a:rPr lang="zh-CN" altLang="en-US" dirty="0">
                <a:latin typeface="宋体"/>
                <a:ea typeface="宋体"/>
                <a:cs typeface="宋体"/>
              </a:rPr>
              <a:t>犯罪还原：</a:t>
            </a:r>
            <a:r>
              <a:rPr lang="zh-CN" altLang="zh-CN" dirty="0">
                <a:latin typeface="宋体"/>
                <a:ea typeface="宋体"/>
                <a:cs typeface="宋体"/>
              </a:rPr>
              <a:t>暴力、偷窃、诈骗</a:t>
            </a:r>
            <a:r>
              <a:rPr lang="zh-CN" altLang="en-US" dirty="0">
                <a:latin typeface="宋体"/>
                <a:ea typeface="宋体"/>
                <a:cs typeface="宋体"/>
              </a:rPr>
              <a:t>。</a:t>
            </a:r>
            <a:endParaRPr lang="en-US" altLang="zh-CN" dirty="0">
              <a:latin typeface="宋体"/>
              <a:ea typeface="宋体"/>
              <a:cs typeface="宋体"/>
            </a:endParaRPr>
          </a:p>
          <a:p>
            <a:pPr>
              <a:lnSpc>
                <a:spcPct val="90000"/>
              </a:lnSpc>
            </a:pPr>
            <a:r>
              <a:rPr lang="zh-CN" altLang="en-US" dirty="0">
                <a:latin typeface="宋体"/>
                <a:ea typeface="宋体"/>
                <a:cs typeface="宋体"/>
              </a:rPr>
              <a:t>证券犯罪</a:t>
            </a:r>
            <a:r>
              <a:rPr lang="zh-CN" altLang="zh-CN" dirty="0">
                <a:latin typeface="宋体"/>
                <a:ea typeface="宋体"/>
                <a:cs typeface="宋体"/>
              </a:rPr>
              <a:t>基本上可以还原为骗</a:t>
            </a:r>
            <a:r>
              <a:rPr lang="en-US" altLang="zh-CN" dirty="0">
                <a:latin typeface="宋体"/>
                <a:ea typeface="宋体"/>
                <a:cs typeface="宋体"/>
              </a:rPr>
              <a:t>——</a:t>
            </a:r>
            <a:r>
              <a:rPr lang="zh-CN" altLang="zh-CN" dirty="0">
                <a:latin typeface="宋体"/>
                <a:ea typeface="宋体"/>
                <a:cs typeface="宋体"/>
              </a:rPr>
              <a:t>围绕着信息的各种虚构（如欺诈发行）、掩盖（擅自发行）、利用（内幕交易）、窃取（窃取内幕信息）、滥用（老鼠仓、</a:t>
            </a:r>
            <a:r>
              <a:rPr lang="zh-CN" altLang="en-US" dirty="0">
                <a:latin typeface="宋体"/>
                <a:ea typeface="宋体"/>
                <a:cs typeface="宋体"/>
              </a:rPr>
              <a:t>操纵市场价格、</a:t>
            </a:r>
            <a:r>
              <a:rPr lang="zh-CN" altLang="zh-CN" dirty="0">
                <a:latin typeface="宋体"/>
                <a:ea typeface="宋体"/>
                <a:cs typeface="宋体"/>
              </a:rPr>
              <a:t>诱骗投资者买卖证券）等行为。</a:t>
            </a:r>
          </a:p>
          <a:p>
            <a:r>
              <a:rPr lang="zh-CN" altLang="en-US" b="1" dirty="0">
                <a:latin typeface="宋体"/>
                <a:ea typeface="宋体"/>
                <a:cs typeface="宋体"/>
              </a:rPr>
              <a:t>一百八十条（</a:t>
            </a:r>
            <a:r>
              <a:rPr lang="en-US" altLang="zh-CN" b="1" dirty="0">
                <a:latin typeface="宋体"/>
                <a:ea typeface="宋体"/>
                <a:cs typeface="宋体"/>
              </a:rPr>
              <a:t>《</a:t>
            </a:r>
            <a:r>
              <a:rPr lang="zh-CN" altLang="en-US" b="1" dirty="0">
                <a:latin typeface="宋体"/>
                <a:ea typeface="宋体"/>
                <a:cs typeface="宋体"/>
              </a:rPr>
              <a:t>修七</a:t>
            </a:r>
            <a:r>
              <a:rPr lang="en-US" altLang="zh-CN" b="1" dirty="0">
                <a:latin typeface="宋体"/>
                <a:ea typeface="宋体"/>
                <a:cs typeface="宋体"/>
              </a:rPr>
              <a:t>》</a:t>
            </a:r>
            <a:r>
              <a:rPr lang="zh-CN" altLang="en-US" b="1" dirty="0">
                <a:latin typeface="宋体"/>
                <a:ea typeface="宋体"/>
                <a:cs typeface="宋体"/>
              </a:rPr>
              <a:t>）：</a:t>
            </a:r>
            <a:r>
              <a:rPr lang="zh-CN" altLang="zh-CN" dirty="0">
                <a:latin typeface="宋体"/>
                <a:ea typeface="宋体"/>
                <a:cs typeface="宋体"/>
              </a:rPr>
              <a:t>证券、期货交易内幕信息的知情人员或者</a:t>
            </a:r>
            <a:r>
              <a:rPr lang="zh-CN" altLang="zh-CN" sz="2800" b="1" dirty="0">
                <a:solidFill>
                  <a:srgbClr val="FF0000"/>
                </a:solidFill>
                <a:latin typeface="黑体"/>
                <a:ea typeface="黑体"/>
                <a:cs typeface="黑体"/>
              </a:rPr>
              <a:t>非法</a:t>
            </a:r>
            <a:r>
              <a:rPr lang="zh-CN" altLang="zh-CN" dirty="0">
                <a:latin typeface="宋体"/>
                <a:ea typeface="宋体"/>
                <a:cs typeface="宋体"/>
              </a:rPr>
              <a:t>获取证券、期货交易内幕信息的人员，</a:t>
            </a:r>
            <a:endParaRPr lang="en-US" altLang="zh-CN" dirty="0">
              <a:latin typeface="宋体"/>
              <a:ea typeface="宋体"/>
              <a:cs typeface="宋体"/>
            </a:endParaRPr>
          </a:p>
          <a:p>
            <a:r>
              <a:rPr lang="zh-CN" altLang="zh-CN" dirty="0">
                <a:latin typeface="宋体"/>
                <a:ea typeface="宋体"/>
                <a:cs typeface="宋体"/>
              </a:rPr>
              <a:t>在涉及证券的发行，证券、期货交易或者其他对证券、期货交易价格有</a:t>
            </a:r>
            <a:r>
              <a:rPr lang="zh-CN" altLang="zh-CN" sz="2800" b="1" dirty="0">
                <a:solidFill>
                  <a:srgbClr val="FF0000"/>
                </a:solidFill>
                <a:latin typeface="黑体"/>
                <a:ea typeface="黑体"/>
                <a:cs typeface="黑体"/>
              </a:rPr>
              <a:t>重大</a:t>
            </a:r>
            <a:r>
              <a:rPr lang="zh-CN" altLang="zh-CN" dirty="0">
                <a:latin typeface="宋体"/>
                <a:ea typeface="宋体"/>
                <a:cs typeface="宋体"/>
              </a:rPr>
              <a:t>影响的信息尚</a:t>
            </a:r>
            <a:r>
              <a:rPr lang="zh-CN" altLang="zh-CN" sz="2800" b="1" dirty="0">
                <a:solidFill>
                  <a:srgbClr val="FF0000"/>
                </a:solidFill>
                <a:latin typeface="黑体"/>
                <a:ea typeface="黑体"/>
                <a:cs typeface="黑体"/>
              </a:rPr>
              <a:t>未公开</a:t>
            </a:r>
            <a:r>
              <a:rPr lang="zh-CN" altLang="zh-CN" dirty="0">
                <a:latin typeface="宋体"/>
                <a:ea typeface="宋体"/>
                <a:cs typeface="宋体"/>
              </a:rPr>
              <a:t>前，</a:t>
            </a:r>
            <a:endParaRPr lang="en-US" altLang="zh-CN" dirty="0">
              <a:latin typeface="宋体"/>
              <a:ea typeface="宋体"/>
              <a:cs typeface="宋体"/>
            </a:endParaRPr>
          </a:p>
          <a:p>
            <a:r>
              <a:rPr lang="zh-CN" altLang="zh-CN" dirty="0">
                <a:latin typeface="宋体"/>
                <a:ea typeface="宋体"/>
                <a:cs typeface="宋体"/>
              </a:rPr>
              <a:t>买入或者卖出该证券，或者从事与该内幕信息有关的期货交易，或者泄露该信息，或者明示、暗示他人从事上述交易活动，情节严重的</a:t>
            </a:r>
            <a:r>
              <a:rPr lang="zh-CN" altLang="en-US" dirty="0">
                <a:latin typeface="宋体"/>
                <a:ea typeface="宋体"/>
                <a:cs typeface="宋体"/>
              </a:rPr>
              <a:t>行为。</a:t>
            </a:r>
            <a:endParaRPr kumimoji="1" lang="zh-CN" altLang="en-US" dirty="0"/>
          </a:p>
        </p:txBody>
      </p:sp>
    </p:spTree>
    <p:extLst>
      <p:ext uri="{BB962C8B-B14F-4D97-AF65-F5344CB8AC3E}">
        <p14:creationId xmlns:p14="http://schemas.microsoft.com/office/powerpoint/2010/main" val="199218477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260648"/>
            <a:ext cx="7170737" cy="492125"/>
          </a:xfrm>
        </p:spPr>
        <p:txBody>
          <a:bodyPr/>
          <a:lstStyle/>
          <a:p>
            <a:pPr algn="ctr"/>
            <a:r>
              <a:rPr kumimoji="1" lang="zh-CN" altLang="en-US" sz="3200" dirty="0">
                <a:solidFill>
                  <a:schemeClr val="tx1"/>
                </a:solidFill>
                <a:latin typeface="Lantinghei SC Demibold" charset="-122"/>
                <a:ea typeface="Lantinghei SC Demibold" charset="-122"/>
                <a:cs typeface="Lantinghei SC Demibold" charset="-122"/>
              </a:rPr>
              <a:t>操纵</a:t>
            </a:r>
            <a:r>
              <a:rPr lang="zh-CN" altLang="zh-CN" sz="3200" dirty="0">
                <a:solidFill>
                  <a:schemeClr val="tx1"/>
                </a:solidFill>
                <a:latin typeface="Lantinghei SC Demibold" charset="-122"/>
                <a:ea typeface="Lantinghei SC Demibold" charset="-122"/>
                <a:cs typeface="Lantinghei SC Demibold" charset="-122"/>
              </a:rPr>
              <a:t>证券、期货市场罪</a:t>
            </a:r>
            <a:endParaRPr kumimoji="1" lang="zh-CN" altLang="en-US" sz="3200" dirty="0">
              <a:solidFill>
                <a:schemeClr val="tx1"/>
              </a:solidFill>
              <a:latin typeface="Lantinghei SC Demibold" charset="-122"/>
              <a:ea typeface="Lantinghei SC Demibold" charset="-122"/>
              <a:cs typeface="Lantinghei SC Demibold" charset="-122"/>
            </a:endParaRPr>
          </a:p>
        </p:txBody>
      </p:sp>
      <p:sp>
        <p:nvSpPr>
          <p:cNvPr id="3" name="内容占位符 2"/>
          <p:cNvSpPr>
            <a:spLocks noGrp="1"/>
          </p:cNvSpPr>
          <p:nvPr>
            <p:ph idx="1"/>
          </p:nvPr>
        </p:nvSpPr>
        <p:spPr>
          <a:xfrm>
            <a:off x="251520" y="908720"/>
            <a:ext cx="8568952" cy="5217443"/>
          </a:xfrm>
        </p:spPr>
        <p:txBody>
          <a:bodyPr/>
          <a:lstStyle/>
          <a:p>
            <a:r>
              <a:rPr lang="zh-CN" altLang="en-US" dirty="0"/>
              <a:t>刑法</a:t>
            </a:r>
            <a:r>
              <a:rPr lang="zh-CN" altLang="zh-CN" dirty="0"/>
              <a:t>第一百八十二条：</a:t>
            </a:r>
            <a:endParaRPr lang="en-US" altLang="zh-CN" dirty="0"/>
          </a:p>
          <a:p>
            <a:r>
              <a:rPr lang="zh-CN" altLang="zh-CN" dirty="0"/>
              <a:t>（一）单独或者合谋，集中资金优势、持股或者持仓优势或者利用信息优势联合或者连续买卖，操纵证券、期货交易价格或者证券、期货交易量的；</a:t>
            </a:r>
            <a:r>
              <a:rPr lang="en-US" altLang="zh-CN" dirty="0"/>
              <a:t> </a:t>
            </a:r>
            <a:br>
              <a:rPr lang="en-US" altLang="zh-CN" dirty="0"/>
            </a:br>
            <a:r>
              <a:rPr lang="zh-CN" altLang="zh-CN" dirty="0"/>
              <a:t>　（二）与他人串通，以事先约定的时间、价格和方式相互进行证券、期货交易，影响证券、期货交易价格或者证券、期货交易量的；</a:t>
            </a:r>
            <a:r>
              <a:rPr lang="en-US" altLang="zh-CN" dirty="0"/>
              <a:t> </a:t>
            </a:r>
            <a:br>
              <a:rPr lang="en-US" altLang="zh-CN" dirty="0"/>
            </a:br>
            <a:r>
              <a:rPr lang="zh-CN" altLang="zh-CN" dirty="0"/>
              <a:t>　（三）在自己实际控制的帐户之间进行证券交易，或者以自己为交易对象，自买自卖期货合约，影响证券、期货交易价格或者证券、期货交易量的；</a:t>
            </a:r>
            <a:r>
              <a:rPr lang="en-US" altLang="zh-CN" dirty="0"/>
              <a:t> </a:t>
            </a:r>
            <a:br>
              <a:rPr lang="en-US" altLang="zh-CN" dirty="0"/>
            </a:br>
            <a:r>
              <a:rPr lang="zh-CN" altLang="zh-CN" dirty="0"/>
              <a:t>　（四）以其他方法操纵证券、期货市场的。 </a:t>
            </a:r>
            <a:endParaRPr lang="en-US" altLang="zh-CN" dirty="0"/>
          </a:p>
          <a:p>
            <a:r>
              <a:rPr lang="zh-CN" altLang="en-US" sz="2800" b="1" dirty="0"/>
              <a:t>何谓“操纵”？只要有人为控制交易过程就是操纵？</a:t>
            </a:r>
            <a:endParaRPr lang="en-US" altLang="zh-CN" sz="2800" b="1" dirty="0"/>
          </a:p>
          <a:p>
            <a:endParaRPr lang="zh-CN" altLang="en-US" dirty="0"/>
          </a:p>
          <a:p>
            <a:endParaRPr lang="zh-CN" altLang="en-US" dirty="0"/>
          </a:p>
          <a:p>
            <a:endParaRPr kumimoji="1" lang="zh-CN" altLang="en-US" dirty="0"/>
          </a:p>
        </p:txBody>
      </p:sp>
    </p:spTree>
    <p:extLst>
      <p:ext uri="{BB962C8B-B14F-4D97-AF65-F5344CB8AC3E}">
        <p14:creationId xmlns:p14="http://schemas.microsoft.com/office/powerpoint/2010/main" val="64920887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latin typeface="Lantinghei SC Demibold" charset="-122"/>
                <a:ea typeface="Lantinghei SC Demibold" charset="-122"/>
                <a:cs typeface="Lantinghei SC Demibold" charset="-122"/>
              </a:rPr>
              <a:t>赵江波“期货精灵”案</a:t>
            </a:r>
          </a:p>
        </p:txBody>
      </p:sp>
      <p:sp>
        <p:nvSpPr>
          <p:cNvPr id="3" name="内容占位符 2"/>
          <p:cNvSpPr>
            <a:spLocks noGrp="1"/>
          </p:cNvSpPr>
          <p:nvPr>
            <p:ph sz="quarter" idx="1"/>
          </p:nvPr>
        </p:nvSpPr>
        <p:spPr/>
        <p:txBody>
          <a:bodyPr>
            <a:normAutofit lnSpcReduction="10000"/>
          </a:bodyPr>
          <a:lstStyle/>
          <a:p>
            <a:r>
              <a:rPr lang="zh-CN" altLang="en-US" dirty="0">
                <a:latin typeface="KaiTi" charset="-122"/>
                <a:ea typeface="KaiTi" charset="-122"/>
                <a:cs typeface="KaiTi" charset="-122"/>
              </a:rPr>
              <a:t>赵江波设计出一套期货交易程序</a:t>
            </a:r>
            <a:r>
              <a:rPr lang="en-US" altLang="zh-CN" dirty="0">
                <a:latin typeface="KaiTi" charset="-122"/>
                <a:ea typeface="KaiTi" charset="-122"/>
                <a:cs typeface="KaiTi" charset="-122"/>
              </a:rPr>
              <a:t>——“</a:t>
            </a:r>
            <a:r>
              <a:rPr lang="zh-CN" altLang="en-US" dirty="0">
                <a:latin typeface="KaiTi" charset="-122"/>
                <a:ea typeface="KaiTi" charset="-122"/>
                <a:cs typeface="KaiTi" charset="-122"/>
              </a:rPr>
              <a:t>期货精灵”，并放到网上，供大家免费下载使用。但实际上，该程序可帮助赵江波窃取了用户的账户和密码。</a:t>
            </a:r>
            <a:endParaRPr lang="en-US" altLang="zh-CN" dirty="0">
              <a:latin typeface="KaiTi" charset="-122"/>
              <a:ea typeface="KaiTi" charset="-122"/>
              <a:cs typeface="KaiTi" charset="-122"/>
            </a:endParaRPr>
          </a:p>
          <a:p>
            <a:r>
              <a:rPr lang="en-US" altLang="zh-CN" dirty="0">
                <a:latin typeface="KaiTi" charset="-122"/>
                <a:ea typeface="KaiTi" charset="-122"/>
                <a:cs typeface="KaiTi" charset="-122"/>
              </a:rPr>
              <a:t>2003</a:t>
            </a:r>
            <a:r>
              <a:rPr lang="zh-CN" altLang="en-US" dirty="0">
                <a:latin typeface="KaiTi" charset="-122"/>
                <a:ea typeface="KaiTi" charset="-122"/>
                <a:cs typeface="KaiTi" charset="-122"/>
              </a:rPr>
              <a:t>年</a:t>
            </a:r>
            <a:r>
              <a:rPr lang="en-US" altLang="zh-CN" dirty="0">
                <a:latin typeface="KaiTi" charset="-122"/>
                <a:ea typeface="KaiTi" charset="-122"/>
                <a:cs typeface="KaiTi" charset="-122"/>
              </a:rPr>
              <a:t>2</a:t>
            </a:r>
            <a:r>
              <a:rPr lang="zh-CN" altLang="en-US" dirty="0">
                <a:latin typeface="KaiTi" charset="-122"/>
                <a:ea typeface="KaiTi" charset="-122"/>
                <a:cs typeface="KaiTi" charset="-122"/>
              </a:rPr>
              <a:t>月</a:t>
            </a:r>
            <a:r>
              <a:rPr lang="en-US" altLang="zh-CN" dirty="0">
                <a:latin typeface="KaiTi" charset="-122"/>
                <a:ea typeface="KaiTi" charset="-122"/>
                <a:cs typeface="KaiTi" charset="-122"/>
              </a:rPr>
              <a:t>14</a:t>
            </a:r>
            <a:r>
              <a:rPr lang="zh-CN" altLang="en-US" dirty="0">
                <a:latin typeface="KaiTi" charset="-122"/>
                <a:ea typeface="KaiTi" charset="-122"/>
                <a:cs typeface="KaiTi" charset="-122"/>
              </a:rPr>
              <a:t>日，赵江波利用掌握的账户和密码操纵期货交易。赵江波用掌握的账户资金拉抬、打压天然橡胶</a:t>
            </a:r>
            <a:r>
              <a:rPr lang="en-US" altLang="zh-CN" dirty="0">
                <a:latin typeface="KaiTi" charset="-122"/>
                <a:ea typeface="KaiTi" charset="-122"/>
                <a:cs typeface="KaiTi" charset="-122"/>
              </a:rPr>
              <a:t>10</a:t>
            </a:r>
            <a:r>
              <a:rPr lang="zh-CN" altLang="en-US" dirty="0">
                <a:latin typeface="KaiTi" charset="-122"/>
                <a:ea typeface="KaiTi" charset="-122"/>
                <a:cs typeface="KaiTi" charset="-122"/>
              </a:rPr>
              <a:t>月合约价格，同时利用自己掌握的账户，根据价格变动方向高卖低买，并致使期货交易价格和交易量异常波动，一度使交易点数从</a:t>
            </a:r>
            <a:r>
              <a:rPr lang="en-US" altLang="zh-CN" dirty="0">
                <a:latin typeface="KaiTi" charset="-122"/>
                <a:ea typeface="KaiTi" charset="-122"/>
                <a:cs typeface="KaiTi" charset="-122"/>
              </a:rPr>
              <a:t>11700</a:t>
            </a:r>
            <a:r>
              <a:rPr lang="zh-CN" altLang="en-US" dirty="0">
                <a:latin typeface="KaiTi" charset="-122"/>
                <a:ea typeface="KaiTi" charset="-122"/>
                <a:cs typeface="KaiTi" charset="-122"/>
              </a:rPr>
              <a:t>点暴升至</a:t>
            </a:r>
            <a:r>
              <a:rPr lang="en-US" altLang="zh-CN" dirty="0">
                <a:latin typeface="KaiTi" charset="-122"/>
                <a:ea typeface="KaiTi" charset="-122"/>
                <a:cs typeface="KaiTi" charset="-122"/>
              </a:rPr>
              <a:t>12980</a:t>
            </a:r>
            <a:r>
              <a:rPr lang="zh-CN" altLang="en-US" dirty="0">
                <a:latin typeface="KaiTi" charset="-122"/>
                <a:ea typeface="KaiTi" charset="-122"/>
                <a:cs typeface="KaiTi" charset="-122"/>
              </a:rPr>
              <a:t>点。</a:t>
            </a:r>
            <a:endParaRPr lang="en-US" altLang="zh-CN" dirty="0">
              <a:latin typeface="KaiTi" charset="-122"/>
              <a:ea typeface="KaiTi" charset="-122"/>
              <a:cs typeface="KaiTi" charset="-122"/>
            </a:endParaRPr>
          </a:p>
          <a:p>
            <a:r>
              <a:rPr lang="zh-CN" altLang="en-US" dirty="0">
                <a:latin typeface="KaiTi" charset="-122"/>
                <a:ea typeface="KaiTi" charset="-122"/>
                <a:cs typeface="KaiTi" charset="-122"/>
              </a:rPr>
              <a:t>他三天时间做成多笔交易，并将获利的五万元“差价”打到他未来岳父的账户上。由于自己账上资金有限，赵江波反复操作也仅获利五万元，但几个大户却损失了三百余万元。</a:t>
            </a:r>
            <a:endParaRPr lang="en-US" altLang="zh-CN" dirty="0">
              <a:latin typeface="KaiTi" charset="-122"/>
              <a:ea typeface="KaiTi" charset="-122"/>
              <a:cs typeface="KaiTi" charset="-122"/>
            </a:endParaRPr>
          </a:p>
          <a:p>
            <a:r>
              <a:rPr lang="zh-CN" altLang="en-US" dirty="0"/>
              <a:t>以操纵证券期货交易价格罪被控，被判盗窃罪。</a:t>
            </a:r>
          </a:p>
        </p:txBody>
      </p:sp>
    </p:spTree>
    <p:extLst>
      <p:ext uri="{BB962C8B-B14F-4D97-AF65-F5344CB8AC3E}">
        <p14:creationId xmlns:p14="http://schemas.microsoft.com/office/powerpoint/2010/main" val="186527035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第十一讲</a:t>
            </a:r>
            <a:r>
              <a:rPr kumimoji="1" lang="en-US" altLang="zh-CN" sz="3600" dirty="0">
                <a:latin typeface="黑体"/>
                <a:ea typeface="黑体"/>
                <a:cs typeface="黑体"/>
              </a:rPr>
              <a:t>  </a:t>
            </a:r>
            <a:r>
              <a:rPr kumimoji="1" lang="zh-CN" altLang="en-US" sz="3600" dirty="0">
                <a:latin typeface="黑体"/>
                <a:ea typeface="黑体"/>
                <a:cs typeface="黑体"/>
              </a:rPr>
              <a:t>风险互动</a:t>
            </a:r>
            <a:endParaRPr kumimoji="1" lang="zh-CN" altLang="en-US" sz="3600" dirty="0"/>
          </a:p>
        </p:txBody>
      </p:sp>
      <p:sp>
        <p:nvSpPr>
          <p:cNvPr id="3" name="内容占位符 2"/>
          <p:cNvSpPr>
            <a:spLocks noGrp="1"/>
          </p:cNvSpPr>
          <p:nvPr>
            <p:ph idx="1"/>
          </p:nvPr>
        </p:nvSpPr>
        <p:spPr/>
        <p:txBody>
          <a:bodyPr/>
          <a:lstStyle/>
          <a:p>
            <a:r>
              <a:rPr lang="zh-CN" altLang="zh-CN" sz="2800" dirty="0">
                <a:latin typeface="宋体"/>
                <a:ea typeface="宋体"/>
                <a:cs typeface="宋体"/>
              </a:rPr>
              <a:t>风险互动就人与人之间的交往过程中，在各种相互影响、相互作用下，诱发、激化为犯罪事件的可能性。</a:t>
            </a:r>
            <a:endParaRPr lang="en-US" altLang="zh-CN" sz="2800" dirty="0">
              <a:latin typeface="宋体"/>
              <a:ea typeface="宋体"/>
              <a:cs typeface="宋体"/>
            </a:endParaRPr>
          </a:p>
          <a:p>
            <a:r>
              <a:rPr lang="zh-CN" altLang="zh-CN" sz="2800" dirty="0">
                <a:latin typeface="宋体"/>
                <a:ea typeface="宋体"/>
                <a:cs typeface="宋体"/>
              </a:rPr>
              <a:t>当这种可能性被降低到最小时，就是安全互动、良性互动。相反，当这种可能性趋于变为现实时，就是危险互动、恶性互动。</a:t>
            </a:r>
            <a:endParaRPr lang="en-US" altLang="zh-CN" sz="2800" dirty="0">
              <a:latin typeface="宋体"/>
              <a:ea typeface="宋体"/>
              <a:cs typeface="宋体"/>
            </a:endParaRPr>
          </a:p>
          <a:p>
            <a:r>
              <a:rPr lang="zh-CN" altLang="en-US" sz="2800" dirty="0">
                <a:latin typeface="宋体"/>
                <a:ea typeface="宋体"/>
                <a:cs typeface="宋体"/>
              </a:rPr>
              <a:t>两者</a:t>
            </a:r>
            <a:r>
              <a:rPr lang="zh-CN" altLang="zh-CN" sz="2800" dirty="0">
                <a:latin typeface="宋体"/>
                <a:ea typeface="宋体"/>
                <a:cs typeface="宋体"/>
              </a:rPr>
              <a:t>并非泾渭分明。也许，你与他或她的交往非常安全。也许，你们之间的交往正在迈向危险互动，乃至犯罪。</a:t>
            </a:r>
            <a:endParaRPr lang="en-US" altLang="zh-CN" sz="2800" dirty="0">
              <a:latin typeface="宋体"/>
              <a:ea typeface="宋体"/>
              <a:cs typeface="宋体"/>
            </a:endParaRPr>
          </a:p>
          <a:p>
            <a:r>
              <a:rPr lang="zh-CN" altLang="zh-CN" sz="2800" dirty="0">
                <a:latin typeface="宋体"/>
                <a:ea typeface="宋体"/>
                <a:cs typeface="宋体"/>
              </a:rPr>
              <a:t>要远离犯罪，</a:t>
            </a:r>
            <a:r>
              <a:rPr lang="zh-CN" altLang="en-US" sz="2800" dirty="0">
                <a:latin typeface="宋体"/>
                <a:ea typeface="宋体"/>
                <a:cs typeface="宋体"/>
              </a:rPr>
              <a:t>就要控制好互动局面，</a:t>
            </a:r>
            <a:r>
              <a:rPr lang="zh-CN" altLang="zh-CN" sz="2800" dirty="0">
                <a:latin typeface="宋体"/>
                <a:ea typeface="宋体"/>
                <a:cs typeface="宋体"/>
              </a:rPr>
              <a:t>防止被害。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277635743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互动概念的意义</a:t>
            </a:r>
          </a:p>
        </p:txBody>
      </p:sp>
      <p:sp>
        <p:nvSpPr>
          <p:cNvPr id="3" name="内容占位符 2"/>
          <p:cNvSpPr>
            <a:spLocks noGrp="1"/>
          </p:cNvSpPr>
          <p:nvPr>
            <p:ph idx="1"/>
          </p:nvPr>
        </p:nvSpPr>
        <p:spPr>
          <a:xfrm>
            <a:off x="467544" y="980728"/>
            <a:ext cx="8229600" cy="5400600"/>
          </a:xfrm>
        </p:spPr>
        <p:txBody>
          <a:bodyPr/>
          <a:lstStyle/>
          <a:p>
            <a:r>
              <a:rPr kumimoji="1" lang="zh-CN" altLang="en-US" sz="2800" b="1" dirty="0">
                <a:latin typeface="宋体"/>
                <a:ea typeface="宋体"/>
                <a:cs typeface="宋体"/>
              </a:rPr>
              <a:t>加害被害关系的不同会影响犯罪控制吗？</a:t>
            </a:r>
            <a:endParaRPr kumimoji="1" lang="en-US" altLang="zh-CN" sz="2800" b="1" dirty="0">
              <a:latin typeface="宋体"/>
              <a:ea typeface="宋体"/>
              <a:cs typeface="宋体"/>
            </a:endParaRPr>
          </a:p>
          <a:p>
            <a:r>
              <a:rPr lang="zh-CN" altLang="zh-CN" sz="2800" b="1" dirty="0">
                <a:latin typeface="宋体"/>
                <a:ea typeface="宋体"/>
                <a:cs typeface="宋体"/>
              </a:rPr>
              <a:t>这与法的立场问题有关。就是说，法到底是站在被害人一边打击惩罚犯罪人的，还是站在被告人一边防止法官滥刑的？</a:t>
            </a:r>
          </a:p>
          <a:p>
            <a:r>
              <a:rPr lang="zh-CN" altLang="en-US" sz="2800" b="1" dirty="0">
                <a:latin typeface="宋体"/>
                <a:ea typeface="宋体"/>
                <a:cs typeface="宋体"/>
              </a:rPr>
              <a:t>在加害主导的情况下，</a:t>
            </a:r>
            <a:r>
              <a:rPr lang="zh-CN" altLang="zh-CN" sz="2800" b="1" dirty="0">
                <a:latin typeface="宋体"/>
                <a:ea typeface="宋体"/>
                <a:cs typeface="宋体"/>
              </a:rPr>
              <a:t>惩罚犯罪的刑罚似乎越重越好，至少，偏重的刑罚不违背法的立场——刑罚的严酷性（宁重勿轻）就与这种理解有关。</a:t>
            </a:r>
          </a:p>
          <a:p>
            <a:r>
              <a:rPr lang="zh-CN" altLang="en-US" sz="2800" b="1" dirty="0">
                <a:latin typeface="宋体"/>
                <a:ea typeface="宋体"/>
                <a:cs typeface="宋体"/>
              </a:rPr>
              <a:t>但被害作用明显时</a:t>
            </a:r>
            <a:r>
              <a:rPr lang="zh-CN" altLang="zh-CN" sz="2800" b="1" dirty="0">
                <a:latin typeface="宋体"/>
                <a:ea typeface="宋体"/>
                <a:cs typeface="宋体"/>
              </a:rPr>
              <a:t>，</a:t>
            </a:r>
            <a:r>
              <a:rPr lang="zh-CN" altLang="en-US" sz="2800" b="1" dirty="0">
                <a:latin typeface="宋体"/>
                <a:ea typeface="宋体"/>
                <a:cs typeface="宋体"/>
              </a:rPr>
              <a:t>保障被告人合法权益不仅体现法治、人权，还有实质理性的意义</a:t>
            </a:r>
            <a:r>
              <a:rPr lang="en-US" altLang="zh-CN" sz="2800" b="1" dirty="0">
                <a:latin typeface="宋体"/>
                <a:ea typeface="宋体"/>
                <a:cs typeface="宋体"/>
              </a:rPr>
              <a:t>——</a:t>
            </a:r>
            <a:r>
              <a:rPr lang="zh-CN" altLang="en-US" sz="2800" b="1" dirty="0">
                <a:latin typeface="宋体"/>
                <a:ea typeface="宋体"/>
                <a:cs typeface="宋体"/>
              </a:rPr>
              <a:t>酷刑重罚并不符合现代加害被害关系的特点。</a:t>
            </a:r>
            <a:endParaRPr lang="en-US" altLang="zh-CN" sz="2800" b="1" dirty="0">
              <a:latin typeface="宋体"/>
              <a:ea typeface="宋体"/>
              <a:cs typeface="宋体"/>
            </a:endParaRPr>
          </a:p>
          <a:p>
            <a:r>
              <a:rPr lang="zh-CN" altLang="zh-CN" sz="2800" b="1" dirty="0">
                <a:latin typeface="宋体"/>
                <a:ea typeface="宋体"/>
                <a:cs typeface="宋体"/>
              </a:rPr>
              <a:t>问题是，到底该怎样理解法的立场？</a:t>
            </a:r>
          </a:p>
          <a:p>
            <a:endParaRPr kumimoji="1" lang="zh-CN" altLang="en-US" dirty="0"/>
          </a:p>
        </p:txBody>
      </p:sp>
    </p:spTree>
    <p:extLst>
      <p:ext uri="{BB962C8B-B14F-4D97-AF65-F5344CB8AC3E}">
        <p14:creationId xmlns:p14="http://schemas.microsoft.com/office/powerpoint/2010/main" val="330022027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犯罪形态</a:t>
            </a:r>
          </a:p>
        </p:txBody>
      </p:sp>
      <p:sp>
        <p:nvSpPr>
          <p:cNvPr id="3" name="内容占位符 2"/>
          <p:cNvSpPr>
            <a:spLocks noGrp="1"/>
          </p:cNvSpPr>
          <p:nvPr>
            <p:ph idx="1"/>
          </p:nvPr>
        </p:nvSpPr>
        <p:spPr/>
        <p:txBody>
          <a:bodyPr/>
          <a:lstStyle/>
          <a:p>
            <a:r>
              <a:rPr kumimoji="1" lang="zh-CN" altLang="en-US" sz="2800" dirty="0">
                <a:latin typeface="宋体"/>
                <a:ea typeface="宋体"/>
                <a:cs typeface="宋体"/>
              </a:rPr>
              <a:t>妓女与修女。</a:t>
            </a:r>
            <a:endParaRPr kumimoji="1" lang="en-US" altLang="zh-CN" sz="2800" dirty="0">
              <a:latin typeface="宋体"/>
              <a:ea typeface="宋体"/>
              <a:cs typeface="宋体"/>
            </a:endParaRPr>
          </a:p>
          <a:p>
            <a:r>
              <a:rPr lang="zh-CN" altLang="zh-CN" sz="2800" dirty="0">
                <a:latin typeface="宋体"/>
                <a:ea typeface="宋体"/>
                <a:cs typeface="宋体"/>
              </a:rPr>
              <a:t>所谓犯罪形态</a:t>
            </a:r>
            <a:r>
              <a:rPr lang="zh-CN" altLang="zh-CN" sz="2800" b="1" dirty="0">
                <a:latin typeface="宋体"/>
                <a:ea typeface="宋体"/>
                <a:cs typeface="宋体"/>
              </a:rPr>
              <a:t>，</a:t>
            </a:r>
            <a:r>
              <a:rPr lang="zh-CN" altLang="zh-CN" sz="2800" dirty="0">
                <a:latin typeface="宋体"/>
                <a:ea typeface="宋体"/>
                <a:cs typeface="宋体"/>
              </a:rPr>
              <a:t>就是犯罪学理论的分析单位、刑事法律的评价对象以及犯罪性的客观载体的总称。</a:t>
            </a:r>
          </a:p>
          <a:p>
            <a:pPr lvl="0"/>
            <a:r>
              <a:rPr lang="zh-CN" altLang="zh-CN" sz="2800" dirty="0">
                <a:latin typeface="宋体"/>
                <a:ea typeface="宋体"/>
                <a:cs typeface="宋体"/>
              </a:rPr>
              <a:t>作为分析单位：理论研究的经验原型是行为还是人？</a:t>
            </a:r>
          </a:p>
          <a:p>
            <a:pPr lvl="0"/>
            <a:r>
              <a:rPr lang="zh-CN" altLang="zh-CN" sz="2800" dirty="0">
                <a:latin typeface="宋体"/>
                <a:ea typeface="宋体"/>
                <a:cs typeface="宋体"/>
              </a:rPr>
              <a:t>作为评价对象：被惩罚者是行为还是人？</a:t>
            </a:r>
          </a:p>
          <a:p>
            <a:pPr lvl="0"/>
            <a:r>
              <a:rPr lang="zh-CN" altLang="zh-CN" sz="2800" dirty="0">
                <a:latin typeface="宋体"/>
                <a:ea typeface="宋体"/>
                <a:cs typeface="宋体"/>
              </a:rPr>
              <a:t>作为犯罪性的载体：令人厌恶的是行为还是人？</a:t>
            </a:r>
          </a:p>
          <a:p>
            <a:r>
              <a:rPr lang="zh-CN" altLang="zh-CN" sz="2800" dirty="0">
                <a:latin typeface="宋体"/>
                <a:ea typeface="宋体"/>
                <a:cs typeface="宋体"/>
              </a:rPr>
              <a:t>可见，焦点问题是，犯罪到底是指罪行还是指罪人。</a:t>
            </a:r>
          </a:p>
          <a:p>
            <a:r>
              <a:rPr lang="zh-CN" altLang="zh-CN" sz="2800" dirty="0">
                <a:latin typeface="宋体"/>
                <a:ea typeface="宋体"/>
                <a:cs typeface="宋体"/>
              </a:rPr>
              <a:t>两大理论倾向：</a:t>
            </a:r>
            <a:r>
              <a:rPr lang="zh-CN" altLang="en-US" sz="2800" dirty="0">
                <a:latin typeface="宋体"/>
                <a:ea typeface="宋体"/>
                <a:cs typeface="宋体"/>
              </a:rPr>
              <a:t>罪行</a:t>
            </a:r>
            <a:r>
              <a:rPr lang="zh-CN" altLang="zh-CN" sz="2800" dirty="0">
                <a:latin typeface="宋体"/>
                <a:ea typeface="宋体"/>
                <a:cs typeface="宋体"/>
              </a:rPr>
              <a:t>中心主义和</a:t>
            </a:r>
            <a:r>
              <a:rPr lang="zh-CN" altLang="en-US" sz="2800" dirty="0">
                <a:latin typeface="宋体"/>
                <a:ea typeface="宋体"/>
                <a:cs typeface="宋体"/>
              </a:rPr>
              <a:t>罪人</a:t>
            </a:r>
            <a:r>
              <a:rPr lang="zh-CN" altLang="zh-CN" sz="2800" dirty="0">
                <a:latin typeface="宋体"/>
                <a:ea typeface="宋体"/>
                <a:cs typeface="宋体"/>
              </a:rPr>
              <a:t>中心主义。</a:t>
            </a:r>
          </a:p>
          <a:p>
            <a:endParaRPr kumimoji="1" lang="zh-CN" altLang="en-US" sz="2800" dirty="0">
              <a:latin typeface="宋体"/>
              <a:ea typeface="宋体"/>
              <a:cs typeface="宋体"/>
            </a:endParaRPr>
          </a:p>
        </p:txBody>
      </p:sp>
    </p:spTree>
    <p:extLst>
      <p:ext uri="{BB962C8B-B14F-4D97-AF65-F5344CB8AC3E}">
        <p14:creationId xmlns:p14="http://schemas.microsoft.com/office/powerpoint/2010/main" val="187682203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罪行中心</a:t>
            </a:r>
          </a:p>
        </p:txBody>
      </p:sp>
      <p:sp>
        <p:nvSpPr>
          <p:cNvPr id="3" name="内容占位符 2"/>
          <p:cNvSpPr>
            <a:spLocks noGrp="1"/>
          </p:cNvSpPr>
          <p:nvPr>
            <p:ph idx="1"/>
          </p:nvPr>
        </p:nvSpPr>
        <p:spPr/>
        <p:txBody>
          <a:bodyPr/>
          <a:lstStyle/>
          <a:p>
            <a:r>
              <a:rPr lang="zh-CN" altLang="zh-CN" sz="2800" dirty="0">
                <a:latin typeface="宋体"/>
                <a:ea typeface="宋体"/>
                <a:cs typeface="宋体"/>
              </a:rPr>
              <a:t>在</a:t>
            </a:r>
            <a:r>
              <a:rPr lang="zh-CN" altLang="zh-CN" sz="2800" b="1" dirty="0">
                <a:latin typeface="宋体"/>
                <a:ea typeface="宋体"/>
                <a:cs typeface="宋体"/>
              </a:rPr>
              <a:t>行为中心主义</a:t>
            </a:r>
            <a:r>
              <a:rPr lang="zh-CN" altLang="zh-CN" sz="2800" dirty="0">
                <a:latin typeface="宋体"/>
                <a:ea typeface="宋体"/>
                <a:cs typeface="宋体"/>
              </a:rPr>
              <a:t>看来，犯罪即罪行，罪行本身就是刑法评价的对象。</a:t>
            </a:r>
            <a:endParaRPr lang="en-US" altLang="zh-CN" sz="2800" dirty="0">
              <a:latin typeface="宋体"/>
              <a:ea typeface="宋体"/>
              <a:cs typeface="宋体"/>
            </a:endParaRPr>
          </a:p>
          <a:p>
            <a:r>
              <a:rPr lang="zh-CN" altLang="zh-CN" sz="2800" dirty="0">
                <a:latin typeface="宋体"/>
                <a:ea typeface="宋体"/>
                <a:cs typeface="宋体"/>
              </a:rPr>
              <a:t>贝卡里亚就认为，犯罪就是危害社会的客观行为和结果，不论犯罪原因研究还是犯罪的法律评价，都围绕着犯罪行为进行，而不以行为人为转移。</a:t>
            </a:r>
            <a:endParaRPr lang="en-US" altLang="zh-CN" sz="2800" dirty="0">
              <a:latin typeface="宋体"/>
              <a:ea typeface="宋体"/>
              <a:cs typeface="宋体"/>
            </a:endParaRPr>
          </a:p>
          <a:p>
            <a:r>
              <a:rPr lang="zh-CN" altLang="zh-CN" sz="2800">
                <a:latin typeface="宋体"/>
                <a:ea typeface="宋体"/>
                <a:cs typeface="宋体"/>
              </a:rPr>
              <a:t>在法律</a:t>
            </a:r>
            <a:r>
              <a:rPr lang="zh-CN" altLang="zh-CN" sz="2800" dirty="0">
                <a:latin typeface="宋体"/>
                <a:ea typeface="宋体"/>
                <a:cs typeface="宋体"/>
              </a:rPr>
              <a:t>面前，只有以行为作为评价的对象，才可能实现社会地位不同的人因同样的行为得到同等的对待。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347575374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罪行中心论的理论假定</a:t>
            </a:r>
          </a:p>
        </p:txBody>
      </p:sp>
      <p:sp>
        <p:nvSpPr>
          <p:cNvPr id="3" name="内容占位符 2"/>
          <p:cNvSpPr>
            <a:spLocks noGrp="1"/>
          </p:cNvSpPr>
          <p:nvPr>
            <p:ph idx="1"/>
          </p:nvPr>
        </p:nvSpPr>
        <p:spPr>
          <a:xfrm>
            <a:off x="457200" y="1125538"/>
            <a:ext cx="8229600" cy="5255790"/>
          </a:xfrm>
        </p:spPr>
        <p:txBody>
          <a:bodyPr/>
          <a:lstStyle/>
          <a:p>
            <a:r>
              <a:rPr kumimoji="1" lang="en-US" altLang="zh-CN" sz="2800" b="1" dirty="0">
                <a:latin typeface="黑体"/>
                <a:ea typeface="黑体"/>
                <a:cs typeface="黑体"/>
              </a:rPr>
              <a:t>1</a:t>
            </a:r>
            <a:r>
              <a:rPr kumimoji="1" lang="zh-CN" altLang="en-US" sz="2800" b="1" dirty="0">
                <a:latin typeface="黑体"/>
                <a:ea typeface="黑体"/>
                <a:cs typeface="黑体"/>
              </a:rPr>
              <a:t>、环境决定论</a:t>
            </a:r>
            <a:endParaRPr kumimoji="1" lang="en-US" altLang="zh-CN" sz="2800" b="1" dirty="0">
              <a:latin typeface="黑体"/>
              <a:ea typeface="黑体"/>
              <a:cs typeface="黑体"/>
            </a:endParaRPr>
          </a:p>
          <a:p>
            <a:r>
              <a:rPr lang="zh-CN" altLang="zh-CN" b="1" dirty="0">
                <a:latin typeface="宋体"/>
                <a:ea typeface="宋体"/>
                <a:cs typeface="宋体"/>
              </a:rPr>
              <a:t>行为主义心理学</a:t>
            </a:r>
            <a:r>
              <a:rPr lang="zh-CN" altLang="en-US" b="1" dirty="0">
                <a:latin typeface="宋体"/>
                <a:ea typeface="宋体"/>
                <a:cs typeface="宋体"/>
              </a:rPr>
              <a:t>认为</a:t>
            </a:r>
            <a:r>
              <a:rPr lang="zh-CN" altLang="zh-CN" b="1" dirty="0">
                <a:latin typeface="宋体"/>
                <a:ea typeface="宋体"/>
                <a:cs typeface="宋体"/>
              </a:rPr>
              <a:t>人和动物之间的联系大于区别，因此应观察刺激与反应之间的关系</a:t>
            </a:r>
            <a:r>
              <a:rPr lang="zh-CN" altLang="en-US" b="1" dirty="0">
                <a:latin typeface="宋体"/>
                <a:ea typeface="宋体"/>
                <a:cs typeface="宋体"/>
              </a:rPr>
              <a:t>。</a:t>
            </a:r>
            <a:endParaRPr lang="zh-CN" altLang="zh-CN" b="1" dirty="0">
              <a:latin typeface="宋体"/>
              <a:ea typeface="宋体"/>
              <a:cs typeface="宋体"/>
            </a:endParaRPr>
          </a:p>
          <a:p>
            <a:r>
              <a:rPr lang="zh-CN" altLang="zh-CN" b="1" dirty="0">
                <a:latin typeface="宋体"/>
                <a:ea typeface="宋体"/>
                <a:cs typeface="宋体"/>
              </a:rPr>
              <a:t>“挫折攻击理论”认为，侵犯行为</a:t>
            </a:r>
            <a:r>
              <a:rPr lang="zh-CN" altLang="en-US" b="1" dirty="0">
                <a:latin typeface="宋体"/>
                <a:ea typeface="宋体"/>
                <a:cs typeface="宋体"/>
              </a:rPr>
              <a:t>往往是对</a:t>
            </a:r>
            <a:r>
              <a:rPr lang="zh-CN" altLang="zh-CN" b="1" dirty="0">
                <a:latin typeface="宋体"/>
                <a:ea typeface="宋体"/>
                <a:cs typeface="宋体"/>
              </a:rPr>
              <a:t>挫折的</a:t>
            </a:r>
            <a:r>
              <a:rPr lang="zh-CN" altLang="en-US" b="1" dirty="0">
                <a:latin typeface="宋体"/>
                <a:ea typeface="宋体"/>
                <a:cs typeface="宋体"/>
              </a:rPr>
              <a:t>反应，</a:t>
            </a:r>
            <a:r>
              <a:rPr lang="zh-CN" altLang="zh-CN" b="1" dirty="0">
                <a:latin typeface="宋体"/>
                <a:ea typeface="宋体"/>
                <a:cs typeface="宋体"/>
              </a:rPr>
              <a:t>挫折常常导致侵犯行为。</a:t>
            </a:r>
            <a:endParaRPr lang="en-US" altLang="zh-CN" b="1" dirty="0">
              <a:latin typeface="宋体"/>
              <a:ea typeface="宋体"/>
              <a:cs typeface="宋体"/>
            </a:endParaRPr>
          </a:p>
          <a:p>
            <a:r>
              <a:rPr lang="zh-CN" altLang="zh-CN" b="1" dirty="0">
                <a:latin typeface="宋体"/>
                <a:ea typeface="宋体"/>
                <a:cs typeface="宋体"/>
              </a:rPr>
              <a:t>受挫后是否会引起攻击行为，取决于四个因素：第一，受挫折驱力的强弱；第二，受挫折驱力的范围；第三，以前所遭受挫折的频率；第四，随着攻击反应而可能受到惩罚的程度。</a:t>
            </a:r>
          </a:p>
          <a:p>
            <a:r>
              <a:rPr lang="zh-CN" altLang="zh-CN" b="1" dirty="0">
                <a:latin typeface="宋体"/>
                <a:ea typeface="宋体"/>
                <a:cs typeface="宋体"/>
              </a:rPr>
              <a:t>挫折攻击可以解释暴力犯罪，</a:t>
            </a:r>
            <a:r>
              <a:rPr lang="zh-CN" altLang="en-US" b="1" dirty="0">
                <a:latin typeface="宋体"/>
                <a:ea typeface="宋体"/>
                <a:cs typeface="宋体"/>
              </a:rPr>
              <a:t>能否</a:t>
            </a:r>
            <a:r>
              <a:rPr lang="zh-CN" altLang="zh-CN" b="1" dirty="0">
                <a:latin typeface="宋体"/>
                <a:ea typeface="宋体"/>
                <a:cs typeface="宋体"/>
              </a:rPr>
              <a:t>解释其他犯罪，如为什么贪官中出身贫寒者居多？</a:t>
            </a:r>
          </a:p>
          <a:p>
            <a:r>
              <a:rPr lang="zh-CN" altLang="zh-CN" b="1" dirty="0">
                <a:latin typeface="宋体"/>
                <a:ea typeface="宋体"/>
                <a:cs typeface="宋体"/>
              </a:rPr>
              <a:t>不仅可以解释个体犯罪，可</a:t>
            </a:r>
            <a:r>
              <a:rPr lang="zh-CN" altLang="en-US" b="1" dirty="0">
                <a:latin typeface="宋体"/>
                <a:ea typeface="宋体"/>
                <a:cs typeface="宋体"/>
              </a:rPr>
              <a:t>否</a:t>
            </a:r>
            <a:r>
              <a:rPr lang="zh-CN" altLang="zh-CN" b="1" dirty="0">
                <a:latin typeface="宋体"/>
                <a:ea typeface="宋体"/>
                <a:cs typeface="宋体"/>
              </a:rPr>
              <a:t>解释宏观上的犯罪率消长</a:t>
            </a:r>
            <a:r>
              <a:rPr lang="zh-CN" altLang="en-US" b="1" dirty="0">
                <a:latin typeface="宋体"/>
                <a:ea typeface="宋体"/>
                <a:cs typeface="宋体"/>
              </a:rPr>
              <a:t>？</a:t>
            </a:r>
            <a:endParaRPr lang="zh-CN" altLang="zh-CN" b="1" dirty="0">
              <a:latin typeface="宋体"/>
              <a:ea typeface="宋体"/>
              <a:cs typeface="宋体"/>
            </a:endParaRPr>
          </a:p>
          <a:p>
            <a:endParaRPr lang="zh-CN" altLang="zh-CN" dirty="0"/>
          </a:p>
          <a:p>
            <a:endParaRPr kumimoji="1" lang="zh-CN" altLang="en-US" dirty="0"/>
          </a:p>
        </p:txBody>
      </p:sp>
    </p:spTree>
    <p:extLst>
      <p:ext uri="{BB962C8B-B14F-4D97-AF65-F5344CB8AC3E}">
        <p14:creationId xmlns:p14="http://schemas.microsoft.com/office/powerpoint/2010/main" val="75565494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罪行中心论的理论假定</a:t>
            </a:r>
          </a:p>
        </p:txBody>
      </p:sp>
      <p:sp>
        <p:nvSpPr>
          <p:cNvPr id="3" name="内容占位符 2"/>
          <p:cNvSpPr>
            <a:spLocks noGrp="1"/>
          </p:cNvSpPr>
          <p:nvPr>
            <p:ph idx="1"/>
          </p:nvPr>
        </p:nvSpPr>
        <p:spPr>
          <a:xfrm>
            <a:off x="457200" y="1125538"/>
            <a:ext cx="8229600" cy="5255790"/>
          </a:xfrm>
        </p:spPr>
        <p:txBody>
          <a:bodyPr/>
          <a:lstStyle/>
          <a:p>
            <a:r>
              <a:rPr kumimoji="1" lang="zh-CN" altLang="zh-CN" sz="2800" b="1" dirty="0">
                <a:latin typeface="黑体"/>
                <a:ea typeface="黑体"/>
                <a:cs typeface="黑体"/>
              </a:rPr>
              <a:t>2</a:t>
            </a:r>
            <a:r>
              <a:rPr kumimoji="1" lang="zh-CN" altLang="en-US" sz="2800" b="1" dirty="0">
                <a:latin typeface="黑体"/>
                <a:ea typeface="黑体"/>
                <a:cs typeface="黑体"/>
              </a:rPr>
              <a:t>、正常人假定</a:t>
            </a:r>
            <a:endParaRPr kumimoji="1" lang="en-US" altLang="zh-CN" sz="2800" b="1" dirty="0">
              <a:latin typeface="黑体"/>
              <a:ea typeface="黑体"/>
              <a:cs typeface="黑体"/>
            </a:endParaRPr>
          </a:p>
          <a:p>
            <a:r>
              <a:rPr lang="zh-CN" altLang="zh-CN" dirty="0">
                <a:latin typeface="宋体"/>
                <a:ea typeface="宋体"/>
                <a:cs typeface="宋体"/>
              </a:rPr>
              <a:t>将犯罪人视为正常人、普通人。犯罪人只是犯了罪的人，而非必然做坏事的坏人。</a:t>
            </a:r>
            <a:endParaRPr lang="en-US" altLang="zh-CN" dirty="0">
              <a:latin typeface="宋体"/>
              <a:ea typeface="宋体"/>
              <a:cs typeface="宋体"/>
            </a:endParaRPr>
          </a:p>
          <a:p>
            <a:r>
              <a:rPr lang="zh-CN" altLang="zh-CN" dirty="0">
                <a:latin typeface="宋体"/>
                <a:ea typeface="宋体"/>
                <a:cs typeface="宋体"/>
              </a:rPr>
              <a:t>按照这种假定，犯了罪的人并非出于所谓犯罪素质，犯罪人和非犯罪人之间没什么本质区别，每个人都可能犯罪。</a:t>
            </a:r>
          </a:p>
          <a:p>
            <a:r>
              <a:rPr lang="zh-CN" altLang="zh-CN" b="1" dirty="0">
                <a:latin typeface="宋体"/>
                <a:ea typeface="宋体"/>
                <a:cs typeface="宋体"/>
              </a:rPr>
              <a:t>只有假定人人都可能犯罪，才有理由通过法律调整人的行为预期</a:t>
            </a:r>
            <a:r>
              <a:rPr lang="zh-CN" altLang="zh-CN" dirty="0">
                <a:latin typeface="宋体"/>
                <a:ea typeface="宋体"/>
                <a:cs typeface="宋体"/>
              </a:rPr>
              <a:t>，以防止人人都可能实施的行为。</a:t>
            </a:r>
          </a:p>
          <a:p>
            <a:r>
              <a:rPr lang="zh-CN" altLang="zh-CN" dirty="0">
                <a:latin typeface="宋体"/>
                <a:ea typeface="宋体"/>
                <a:cs typeface="宋体"/>
              </a:rPr>
              <a:t>老费尔巴哈的</a:t>
            </a:r>
            <a:r>
              <a:rPr lang="zh-CN" altLang="zh-CN" b="1" dirty="0">
                <a:latin typeface="宋体"/>
                <a:ea typeface="宋体"/>
                <a:cs typeface="宋体"/>
              </a:rPr>
              <a:t>心理强制说</a:t>
            </a:r>
            <a:r>
              <a:rPr lang="zh-CN" altLang="en-US" b="1" dirty="0">
                <a:latin typeface="宋体"/>
                <a:ea typeface="宋体"/>
                <a:cs typeface="宋体"/>
              </a:rPr>
              <a:t>：</a:t>
            </a:r>
            <a:r>
              <a:rPr lang="zh-CN" altLang="zh-CN" dirty="0">
                <a:latin typeface="宋体"/>
                <a:ea typeface="宋体"/>
                <a:cs typeface="宋体"/>
              </a:rPr>
              <a:t>人人都有避苦求乐、趋利避害的功利倾向。如果人预见到犯罪带来的快乐大于可能导致的痛苦，人们就会实施犯罪行为。</a:t>
            </a:r>
            <a:r>
              <a:rPr lang="zh-CN" altLang="en-US" dirty="0">
                <a:latin typeface="宋体"/>
                <a:ea typeface="宋体"/>
                <a:cs typeface="宋体"/>
              </a:rPr>
              <a:t>相反</a:t>
            </a:r>
            <a:r>
              <a:rPr lang="zh-CN" altLang="zh-CN" dirty="0">
                <a:latin typeface="宋体"/>
                <a:ea typeface="宋体"/>
                <a:cs typeface="宋体"/>
              </a:rPr>
              <a:t>，人们就不去犯罪。</a:t>
            </a:r>
            <a:endParaRPr lang="en-US" altLang="zh-CN" dirty="0">
              <a:latin typeface="宋体"/>
              <a:ea typeface="宋体"/>
              <a:cs typeface="宋体"/>
            </a:endParaRPr>
          </a:p>
          <a:p>
            <a:r>
              <a:rPr lang="zh-CN" altLang="zh-CN" dirty="0">
                <a:latin typeface="宋体"/>
                <a:ea typeface="宋体"/>
                <a:cs typeface="宋体"/>
              </a:rPr>
              <a:t>经济学上的“理性人假定”——波斯纳认为：“当犯罪的收益大于犯罪成本时候，一个人才去实施犯罪。”。 </a:t>
            </a:r>
            <a:endParaRPr kumimoji="1" lang="zh-CN" altLang="en-US" dirty="0">
              <a:latin typeface="宋体"/>
              <a:ea typeface="宋体"/>
              <a:cs typeface="宋体"/>
            </a:endParaRPr>
          </a:p>
        </p:txBody>
      </p:sp>
    </p:spTree>
    <p:extLst>
      <p:ext uri="{BB962C8B-B14F-4D97-AF65-F5344CB8AC3E}">
        <p14:creationId xmlns:p14="http://schemas.microsoft.com/office/powerpoint/2010/main" val="60924747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罪行中心论的理论假定</a:t>
            </a:r>
          </a:p>
        </p:txBody>
      </p:sp>
      <p:sp>
        <p:nvSpPr>
          <p:cNvPr id="3" name="内容占位符 2"/>
          <p:cNvSpPr>
            <a:spLocks noGrp="1"/>
          </p:cNvSpPr>
          <p:nvPr>
            <p:ph idx="1"/>
          </p:nvPr>
        </p:nvSpPr>
        <p:spPr>
          <a:xfrm>
            <a:off x="457200" y="1125538"/>
            <a:ext cx="8229600" cy="5255790"/>
          </a:xfrm>
        </p:spPr>
        <p:txBody>
          <a:bodyPr/>
          <a:lstStyle/>
          <a:p>
            <a:r>
              <a:rPr kumimoji="1" lang="zh-CN" altLang="zh-CN" sz="3200" b="1" dirty="0">
                <a:latin typeface="黑体"/>
                <a:ea typeface="黑体"/>
                <a:cs typeface="黑体"/>
              </a:rPr>
              <a:t>3</a:t>
            </a:r>
            <a:r>
              <a:rPr kumimoji="1" lang="zh-CN" altLang="en-US" sz="3200" b="1" dirty="0">
                <a:latin typeface="黑体"/>
                <a:ea typeface="黑体"/>
                <a:cs typeface="黑体"/>
              </a:rPr>
              <a:t>、</a:t>
            </a:r>
            <a:r>
              <a:rPr lang="zh-CN" altLang="zh-CN" sz="3200" b="1" dirty="0">
                <a:latin typeface="黑体"/>
                <a:ea typeface="黑体"/>
                <a:cs typeface="黑体"/>
              </a:rPr>
              <a:t>效果论</a:t>
            </a:r>
            <a:endParaRPr lang="zh-CN" altLang="zh-CN" sz="3200" dirty="0">
              <a:latin typeface="黑体"/>
              <a:ea typeface="黑体"/>
              <a:cs typeface="黑体"/>
            </a:endParaRPr>
          </a:p>
          <a:p>
            <a:r>
              <a:rPr lang="zh-CN" altLang="zh-CN" sz="2800" dirty="0">
                <a:latin typeface="宋体"/>
                <a:ea typeface="宋体"/>
                <a:cs typeface="宋体"/>
              </a:rPr>
              <a:t>认为评价根据是犯罪行为本身及其社会效果。所以，罪行中心论又可以称为客观主义。</a:t>
            </a:r>
          </a:p>
          <a:p>
            <a:r>
              <a:rPr lang="zh-CN" altLang="zh-CN" sz="2800" dirty="0">
                <a:latin typeface="宋体"/>
                <a:ea typeface="宋体"/>
                <a:cs typeface="宋体"/>
              </a:rPr>
              <a:t>与此相对的是极端动机论。（用白糖当成砒霜杀人，有无责任？）</a:t>
            </a:r>
          </a:p>
          <a:p>
            <a:r>
              <a:rPr lang="zh-CN" altLang="zh-CN" sz="2800" dirty="0">
                <a:latin typeface="宋体"/>
                <a:ea typeface="宋体"/>
                <a:cs typeface="宋体"/>
              </a:rPr>
              <a:t>只有重效果轻动机，刑法评价才能聚焦到“做了什么？”而不是“谁做了什么？”</a:t>
            </a:r>
            <a:endParaRPr lang="en-US" altLang="zh-CN" sz="2800" dirty="0">
              <a:latin typeface="宋体"/>
              <a:ea typeface="宋体"/>
              <a:cs typeface="宋体"/>
            </a:endParaRPr>
          </a:p>
          <a:p>
            <a:r>
              <a:rPr lang="zh-CN" altLang="en-US" sz="2800" dirty="0">
                <a:latin typeface="宋体"/>
                <a:ea typeface="宋体"/>
                <a:cs typeface="宋体"/>
              </a:rPr>
              <a:t>总之</a:t>
            </a:r>
            <a:r>
              <a:rPr lang="zh-CN" altLang="zh-CN" sz="2800" dirty="0">
                <a:latin typeface="宋体"/>
                <a:ea typeface="宋体"/>
                <a:cs typeface="宋体"/>
              </a:rPr>
              <a:t>，按照行为中心主义，犯罪不仅看上去是一种行为，更重要的是，必须将犯罪设定为行为——犯罪应当是行为，应然犯罪学。 </a:t>
            </a:r>
          </a:p>
        </p:txBody>
      </p:sp>
    </p:spTree>
    <p:extLst>
      <p:ext uri="{BB962C8B-B14F-4D97-AF65-F5344CB8AC3E}">
        <p14:creationId xmlns:p14="http://schemas.microsoft.com/office/powerpoint/2010/main" val="327882046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罪人中心</a:t>
            </a:r>
          </a:p>
        </p:txBody>
      </p:sp>
      <p:sp>
        <p:nvSpPr>
          <p:cNvPr id="3" name="内容占位符 2"/>
          <p:cNvSpPr>
            <a:spLocks noGrp="1"/>
          </p:cNvSpPr>
          <p:nvPr>
            <p:ph idx="1"/>
          </p:nvPr>
        </p:nvSpPr>
        <p:spPr/>
        <p:txBody>
          <a:bodyPr/>
          <a:lstStyle/>
          <a:p>
            <a:r>
              <a:rPr lang="zh-CN" altLang="zh-CN" sz="2800" dirty="0">
                <a:latin typeface="宋体"/>
                <a:ea typeface="宋体"/>
                <a:cs typeface="宋体"/>
              </a:rPr>
              <a:t>犯罪即罪人，犯罪人才是刑法评价的对象</a:t>
            </a:r>
            <a:endParaRPr lang="en-US" altLang="zh-CN" sz="2800" dirty="0">
              <a:latin typeface="宋体"/>
              <a:ea typeface="宋体"/>
              <a:cs typeface="宋体"/>
            </a:endParaRPr>
          </a:p>
          <a:p>
            <a:r>
              <a:rPr lang="zh-CN" altLang="zh-CN" sz="2800" dirty="0">
                <a:latin typeface="宋体"/>
                <a:ea typeface="宋体"/>
                <a:cs typeface="宋体"/>
              </a:rPr>
              <a:t>刑法不可能惩罚行为，行为已经消失。</a:t>
            </a:r>
            <a:endParaRPr lang="en-US" altLang="zh-CN" sz="2800" dirty="0">
              <a:latin typeface="宋体"/>
              <a:ea typeface="宋体"/>
              <a:cs typeface="宋体"/>
            </a:endParaRPr>
          </a:p>
          <a:p>
            <a:r>
              <a:rPr lang="zh-CN" altLang="zh-CN" sz="2800" dirty="0">
                <a:latin typeface="宋体"/>
                <a:ea typeface="宋体"/>
                <a:cs typeface="宋体"/>
              </a:rPr>
              <a:t>受到刑罚惩罚的，是犯了罪的人。而且，犯罪预防的对象也只能是可能犯罪或重新犯罪的人。</a:t>
            </a:r>
          </a:p>
          <a:p>
            <a:r>
              <a:rPr lang="zh-CN" altLang="zh-CN" sz="2800" dirty="0">
                <a:latin typeface="宋体"/>
                <a:ea typeface="宋体"/>
                <a:cs typeface="宋体"/>
              </a:rPr>
              <a:t>所以，犯罪学研究的着眼点应当是行为人的个性、心理品质、人身危险性、微观环境、生理条件等等。实证主义犯罪学的代表人物菲利认为，在研究和理解犯罪之前，必须首先了解犯罪人。</a:t>
            </a:r>
            <a:endParaRPr lang="en-US" altLang="zh-CN" sz="2800" dirty="0">
              <a:latin typeface="宋体"/>
              <a:ea typeface="宋体"/>
              <a:cs typeface="宋体"/>
            </a:endParaRPr>
          </a:p>
          <a:p>
            <a:r>
              <a:rPr lang="zh-CN" altLang="zh-CN" sz="2800" dirty="0">
                <a:latin typeface="宋体"/>
                <a:ea typeface="宋体"/>
                <a:cs typeface="宋体"/>
              </a:rPr>
              <a:t>犯罪学研究的是罪犯及其环境，而不是罪犯的犯罪行为。</a:t>
            </a:r>
          </a:p>
          <a:p>
            <a:endParaRPr kumimoji="1" lang="zh-CN" altLang="en-US" dirty="0"/>
          </a:p>
        </p:txBody>
      </p:sp>
    </p:spTree>
    <p:extLst>
      <p:ext uri="{BB962C8B-B14F-4D97-AF65-F5344CB8AC3E}">
        <p14:creationId xmlns:p14="http://schemas.microsoft.com/office/powerpoint/2010/main" val="93295815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罪人中心论的特点</a:t>
            </a:r>
          </a:p>
        </p:txBody>
      </p:sp>
      <p:sp>
        <p:nvSpPr>
          <p:cNvPr id="3" name="内容占位符 2"/>
          <p:cNvSpPr>
            <a:spLocks noGrp="1"/>
          </p:cNvSpPr>
          <p:nvPr>
            <p:ph idx="1"/>
          </p:nvPr>
        </p:nvSpPr>
        <p:spPr/>
        <p:txBody>
          <a:bodyPr/>
          <a:lstStyle/>
          <a:p>
            <a:r>
              <a:rPr lang="zh-CN" altLang="en-US" sz="2800" dirty="0">
                <a:latin typeface="宋体"/>
                <a:ea typeface="宋体"/>
                <a:cs typeface="宋体"/>
              </a:rPr>
              <a:t>首先，</a:t>
            </a:r>
            <a:r>
              <a:rPr lang="zh-CN" altLang="zh-CN" sz="2800" dirty="0">
                <a:latin typeface="宋体"/>
                <a:ea typeface="宋体"/>
                <a:cs typeface="宋体"/>
              </a:rPr>
              <a:t>把犯罪还原为人性问题，从人自身的内在属性出发解释犯罪。（性善、性恶、白板说）</a:t>
            </a:r>
          </a:p>
          <a:p>
            <a:r>
              <a:rPr lang="zh-CN" altLang="zh-CN" sz="2800" b="1" dirty="0">
                <a:latin typeface="宋体"/>
                <a:ea typeface="宋体"/>
                <a:cs typeface="宋体"/>
              </a:rPr>
              <a:t>——犯罪就是恶人做恶事，惩罚的对象必须锁定在恶人身上。</a:t>
            </a:r>
            <a:endParaRPr lang="zh-CN" altLang="zh-CN" sz="2800" dirty="0">
              <a:latin typeface="宋体"/>
              <a:ea typeface="宋体"/>
              <a:cs typeface="宋体"/>
            </a:endParaRPr>
          </a:p>
          <a:p>
            <a:r>
              <a:rPr lang="zh-CN" altLang="zh-CN" sz="2800" dirty="0">
                <a:latin typeface="宋体"/>
                <a:ea typeface="宋体"/>
                <a:cs typeface="宋体"/>
              </a:rPr>
              <a:t>其次，特殊人假定：不论是后天习得还是先天固有，犯罪人与非犯罪人之间存在着根本区别。</a:t>
            </a:r>
            <a:endParaRPr lang="en-US" altLang="zh-CN" sz="2800" dirty="0">
              <a:latin typeface="宋体"/>
              <a:ea typeface="宋体"/>
              <a:cs typeface="宋体"/>
            </a:endParaRPr>
          </a:p>
          <a:p>
            <a:r>
              <a:rPr lang="zh-CN" altLang="zh-CN" sz="2800" dirty="0">
                <a:latin typeface="宋体"/>
                <a:ea typeface="宋体"/>
                <a:cs typeface="宋体"/>
              </a:rPr>
              <a:t>即使一个人尚未实施犯罪，只要具备犯罪特质，他迟早会犯罪</a:t>
            </a:r>
            <a:r>
              <a:rPr lang="zh-CN" altLang="en-US" sz="2800" dirty="0">
                <a:latin typeface="宋体"/>
                <a:ea typeface="宋体"/>
                <a:cs typeface="宋体"/>
              </a:rPr>
              <a:t>。</a:t>
            </a:r>
            <a:endParaRPr lang="en-US" altLang="zh-CN" sz="2800" dirty="0">
              <a:latin typeface="宋体"/>
              <a:ea typeface="宋体"/>
              <a:cs typeface="宋体"/>
            </a:endParaRPr>
          </a:p>
          <a:p>
            <a:r>
              <a:rPr lang="zh-CN" altLang="zh-CN" sz="2800" b="1" dirty="0">
                <a:latin typeface="宋体"/>
                <a:ea typeface="宋体"/>
                <a:cs typeface="宋体"/>
              </a:rPr>
              <a:t>犯罪预防的重点不在于改造社会环境，不在于改变某些人群的处境，而在于对付某类特殊人群。</a:t>
            </a:r>
            <a:r>
              <a:rPr lang="zh-CN" altLang="zh-CN" sz="2800" dirty="0">
                <a:latin typeface="宋体"/>
                <a:ea typeface="宋体"/>
                <a:cs typeface="宋体"/>
              </a:rPr>
              <a:t>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89944359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332656"/>
            <a:ext cx="8280920" cy="492125"/>
          </a:xfrm>
        </p:spPr>
        <p:txBody>
          <a:bodyPr/>
          <a:lstStyle/>
          <a:p>
            <a:r>
              <a:rPr lang="zh-CN" altLang="zh-CN" dirty="0">
                <a:latin typeface="黑体"/>
                <a:ea typeface="黑体"/>
                <a:cs typeface="黑体"/>
              </a:rPr>
              <a:t>《朱克家族：对犯罪、贫穷、疾病与遗传的研究》</a:t>
            </a:r>
            <a:r>
              <a:rPr lang="zh-CN" altLang="zh-CN" dirty="0"/>
              <a:t> </a:t>
            </a:r>
            <a:endParaRPr kumimoji="1" lang="zh-CN" altLang="en-US" dirty="0"/>
          </a:p>
        </p:txBody>
      </p:sp>
      <p:sp>
        <p:nvSpPr>
          <p:cNvPr id="3" name="内容占位符 2"/>
          <p:cNvSpPr>
            <a:spLocks noGrp="1"/>
          </p:cNvSpPr>
          <p:nvPr>
            <p:ph idx="1"/>
          </p:nvPr>
        </p:nvSpPr>
        <p:spPr/>
        <p:txBody>
          <a:bodyPr/>
          <a:lstStyle/>
          <a:p>
            <a:r>
              <a:rPr lang="zh-CN" altLang="zh-CN" sz="2800" dirty="0">
                <a:latin typeface="宋体"/>
                <a:ea typeface="宋体"/>
                <a:cs typeface="宋体"/>
              </a:rPr>
              <a:t>该家族的祖先</a:t>
            </a:r>
            <a:r>
              <a:rPr lang="en-US" altLang="zh-CN" sz="2800" dirty="0">
                <a:latin typeface="宋体"/>
                <a:ea typeface="宋体"/>
                <a:cs typeface="宋体"/>
              </a:rPr>
              <a:t>MAX</a:t>
            </a:r>
            <a:r>
              <a:rPr lang="zh-CN" altLang="zh-CN" sz="2800" dirty="0">
                <a:latin typeface="宋体"/>
                <a:ea typeface="宋体"/>
                <a:cs typeface="宋体"/>
              </a:rPr>
              <a:t>出生在</a:t>
            </a:r>
            <a:r>
              <a:rPr lang="en-US" altLang="zh-CN" sz="2800" dirty="0">
                <a:latin typeface="宋体"/>
                <a:ea typeface="宋体"/>
                <a:cs typeface="宋体"/>
              </a:rPr>
              <a:t>1720-1740</a:t>
            </a:r>
            <a:r>
              <a:rPr lang="zh-CN" altLang="zh-CN" sz="2800" dirty="0">
                <a:latin typeface="宋体"/>
                <a:ea typeface="宋体"/>
                <a:cs typeface="宋体"/>
              </a:rPr>
              <a:t>年之间，以打猎、捕鱼为生，他的一个儿子与一个姓朱克的女人结婚。到</a:t>
            </a:r>
            <a:r>
              <a:rPr lang="en-US" altLang="zh-CN" sz="2800" dirty="0">
                <a:latin typeface="宋体"/>
                <a:ea typeface="宋体"/>
                <a:cs typeface="宋体"/>
              </a:rPr>
              <a:t>1874</a:t>
            </a:r>
            <a:r>
              <a:rPr lang="zh-CN" altLang="zh-CN" sz="2800" dirty="0">
                <a:latin typeface="宋体"/>
                <a:ea typeface="宋体"/>
                <a:cs typeface="宋体"/>
              </a:rPr>
              <a:t>年时，他们的后代已达到</a:t>
            </a:r>
            <a:r>
              <a:rPr lang="en-US" altLang="zh-CN" sz="2800" dirty="0">
                <a:latin typeface="宋体"/>
                <a:ea typeface="宋体"/>
                <a:cs typeface="宋体"/>
              </a:rPr>
              <a:t>540</a:t>
            </a:r>
            <a:r>
              <a:rPr lang="zh-CN" altLang="zh-CN" sz="2800" dirty="0">
                <a:latin typeface="宋体"/>
                <a:ea typeface="宋体"/>
                <a:cs typeface="宋体"/>
              </a:rPr>
              <a:t>人，其中，</a:t>
            </a:r>
            <a:r>
              <a:rPr lang="en-US" altLang="zh-CN" sz="2800" dirty="0">
                <a:latin typeface="宋体"/>
                <a:ea typeface="宋体"/>
                <a:cs typeface="宋体"/>
              </a:rPr>
              <a:t>180</a:t>
            </a:r>
            <a:r>
              <a:rPr lang="zh-CN" altLang="zh-CN" sz="2800" dirty="0">
                <a:latin typeface="宋体"/>
                <a:ea typeface="宋体"/>
                <a:cs typeface="宋体"/>
              </a:rPr>
              <a:t>人</a:t>
            </a:r>
            <a:r>
              <a:rPr lang="zh-CN" altLang="en-US" sz="2800" dirty="0">
                <a:latin typeface="宋体"/>
                <a:ea typeface="宋体"/>
                <a:cs typeface="宋体"/>
              </a:rPr>
              <a:t>是</a:t>
            </a:r>
            <a:r>
              <a:rPr lang="zh-CN" altLang="zh-CN" sz="2800" dirty="0">
                <a:latin typeface="宋体"/>
                <a:ea typeface="宋体"/>
                <a:cs typeface="宋体"/>
              </a:rPr>
              <a:t>领取救济的穷人，</a:t>
            </a:r>
            <a:r>
              <a:rPr lang="en-US" altLang="zh-CN" sz="2800" dirty="0">
                <a:latin typeface="宋体"/>
                <a:ea typeface="宋体"/>
                <a:cs typeface="宋体"/>
              </a:rPr>
              <a:t>140</a:t>
            </a:r>
            <a:r>
              <a:rPr lang="zh-CN" altLang="zh-CN" sz="2800" dirty="0">
                <a:latin typeface="宋体"/>
                <a:ea typeface="宋体"/>
                <a:cs typeface="宋体"/>
              </a:rPr>
              <a:t>人是犯罪人，</a:t>
            </a:r>
            <a:r>
              <a:rPr lang="en-US" altLang="zh-CN" sz="2800" dirty="0">
                <a:latin typeface="宋体"/>
                <a:ea typeface="宋体"/>
                <a:cs typeface="宋体"/>
              </a:rPr>
              <a:t>60</a:t>
            </a:r>
            <a:r>
              <a:rPr lang="zh-CN" altLang="zh-CN" sz="2800" dirty="0">
                <a:latin typeface="宋体"/>
                <a:ea typeface="宋体"/>
                <a:cs typeface="宋体"/>
              </a:rPr>
              <a:t>人是惯盗，</a:t>
            </a:r>
            <a:r>
              <a:rPr lang="en-US" altLang="zh-CN" sz="2800" dirty="0">
                <a:latin typeface="宋体"/>
                <a:ea typeface="宋体"/>
                <a:cs typeface="宋体"/>
              </a:rPr>
              <a:t>7</a:t>
            </a:r>
            <a:r>
              <a:rPr lang="zh-CN" altLang="zh-CN" sz="2800" dirty="0">
                <a:latin typeface="宋体"/>
                <a:ea typeface="宋体"/>
                <a:cs typeface="宋体"/>
              </a:rPr>
              <a:t>人是杀人犯，</a:t>
            </a:r>
            <a:r>
              <a:rPr lang="en-US" altLang="zh-CN" sz="2800" dirty="0">
                <a:latin typeface="宋体"/>
                <a:ea typeface="宋体"/>
                <a:cs typeface="宋体"/>
              </a:rPr>
              <a:t>50</a:t>
            </a:r>
            <a:r>
              <a:rPr lang="zh-CN" altLang="zh-CN" sz="2800" dirty="0">
                <a:latin typeface="宋体"/>
                <a:ea typeface="宋体"/>
                <a:cs typeface="宋体"/>
              </a:rPr>
              <a:t>人是卖淫者，</a:t>
            </a:r>
            <a:r>
              <a:rPr lang="en-US" altLang="zh-CN" sz="2800" dirty="0">
                <a:latin typeface="宋体"/>
                <a:ea typeface="宋体"/>
                <a:cs typeface="宋体"/>
              </a:rPr>
              <a:t>40</a:t>
            </a:r>
            <a:r>
              <a:rPr lang="zh-CN" altLang="zh-CN" sz="2800" dirty="0">
                <a:latin typeface="宋体"/>
                <a:ea typeface="宋体"/>
                <a:cs typeface="宋体"/>
              </a:rPr>
              <a:t>人是性病患者，并将性病传染给</a:t>
            </a:r>
            <a:r>
              <a:rPr lang="en-US" altLang="zh-CN" sz="2800" dirty="0">
                <a:latin typeface="宋体"/>
                <a:ea typeface="宋体"/>
                <a:cs typeface="宋体"/>
              </a:rPr>
              <a:t>440</a:t>
            </a:r>
            <a:r>
              <a:rPr lang="zh-CN" altLang="zh-CN" sz="2800" dirty="0">
                <a:latin typeface="宋体"/>
                <a:ea typeface="宋体"/>
                <a:cs typeface="宋体"/>
              </a:rPr>
              <a:t>人。同时，达格代尔还将朱克家族与清教徒爱德华兹具有高贵血统的后代进行了比较，发现爱德华兹的后代中一些人做了美国总统，大多数都没有违法记录。 </a:t>
            </a:r>
            <a:endParaRPr lang="en-US" altLang="zh-CN" sz="2800" dirty="0">
              <a:latin typeface="宋体"/>
              <a:ea typeface="宋体"/>
              <a:cs typeface="宋体"/>
            </a:endParaRPr>
          </a:p>
          <a:p>
            <a:r>
              <a:rPr lang="zh-CN" altLang="zh-CN" sz="2800" dirty="0">
                <a:latin typeface="宋体"/>
                <a:ea typeface="宋体"/>
                <a:cs typeface="宋体"/>
              </a:rPr>
              <a:t>达格代尔的结论是，犯罪是低劣的血统和后天训练的</a:t>
            </a:r>
            <a:r>
              <a:rPr lang="zh-CN" altLang="en-US" sz="2800" dirty="0">
                <a:latin typeface="宋体"/>
                <a:ea typeface="宋体"/>
                <a:cs typeface="宋体"/>
              </a:rPr>
              <a:t>共同</a:t>
            </a:r>
            <a:r>
              <a:rPr lang="zh-CN" altLang="zh-CN" sz="2800" dirty="0">
                <a:latin typeface="宋体"/>
                <a:ea typeface="宋体"/>
                <a:cs typeface="宋体"/>
              </a:rPr>
              <a:t>结果。 </a:t>
            </a:r>
            <a:endParaRPr lang="zh-CN" altLang="en-US" sz="2800" dirty="0">
              <a:latin typeface="宋体"/>
              <a:ea typeface="宋体"/>
              <a:cs typeface="宋体"/>
            </a:endParaRPr>
          </a:p>
        </p:txBody>
      </p:sp>
    </p:spTree>
    <p:extLst>
      <p:ext uri="{BB962C8B-B14F-4D97-AF65-F5344CB8AC3E}">
        <p14:creationId xmlns:p14="http://schemas.microsoft.com/office/powerpoint/2010/main" val="318629750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罪人中心论的特点</a:t>
            </a:r>
          </a:p>
        </p:txBody>
      </p:sp>
      <p:sp>
        <p:nvSpPr>
          <p:cNvPr id="3" name="内容占位符 2"/>
          <p:cNvSpPr>
            <a:spLocks noGrp="1"/>
          </p:cNvSpPr>
          <p:nvPr>
            <p:ph idx="1"/>
          </p:nvPr>
        </p:nvSpPr>
        <p:spPr/>
        <p:txBody>
          <a:bodyPr/>
          <a:lstStyle/>
          <a:p>
            <a:r>
              <a:rPr lang="zh-CN" altLang="zh-CN" sz="2800" dirty="0">
                <a:latin typeface="宋体"/>
                <a:ea typeface="宋体"/>
                <a:cs typeface="宋体"/>
              </a:rPr>
              <a:t>第三，评价根据问题上，</a:t>
            </a:r>
            <a:r>
              <a:rPr lang="zh-CN" altLang="en-US" sz="2800" dirty="0">
                <a:latin typeface="宋体"/>
                <a:ea typeface="宋体"/>
                <a:cs typeface="宋体"/>
              </a:rPr>
              <a:t>罪</a:t>
            </a:r>
            <a:r>
              <a:rPr lang="zh-CN" altLang="zh-CN" sz="2800" dirty="0">
                <a:latin typeface="宋体"/>
                <a:ea typeface="宋体"/>
                <a:cs typeface="宋体"/>
              </a:rPr>
              <a:t>人中心论不认为评价根据是外化的行为及其效果，而坚持认为行为人内在的人身危险性、主观恶性、未然的犯罪倾向才是否定评价的根据。</a:t>
            </a:r>
            <a:endParaRPr lang="en-US" altLang="zh-CN" sz="2800" dirty="0">
              <a:latin typeface="宋体"/>
              <a:ea typeface="宋体"/>
              <a:cs typeface="宋体"/>
            </a:endParaRPr>
          </a:p>
          <a:p>
            <a:r>
              <a:rPr lang="zh-CN" altLang="zh-CN" sz="2800" dirty="0">
                <a:latin typeface="宋体"/>
                <a:ea typeface="宋体"/>
                <a:cs typeface="宋体"/>
              </a:rPr>
              <a:t>（反社会人格、异常遗传物质、变态的精神状态、潜意识中的攻击性倾向、特殊的生存环境、危险的行为方式）</a:t>
            </a:r>
            <a:endParaRPr lang="en-US" altLang="zh-CN" sz="2800" dirty="0">
              <a:latin typeface="宋体"/>
              <a:ea typeface="宋体"/>
              <a:cs typeface="宋体"/>
            </a:endParaRPr>
          </a:p>
          <a:p>
            <a:r>
              <a:rPr lang="zh-CN" altLang="en-US" sz="2800" dirty="0">
                <a:latin typeface="宋体"/>
                <a:ea typeface="宋体"/>
                <a:cs typeface="宋体"/>
              </a:rPr>
              <a:t>你们怎么看？</a:t>
            </a:r>
            <a:endParaRPr lang="zh-CN" altLang="zh-CN" sz="2800" dirty="0">
              <a:latin typeface="宋体"/>
              <a:ea typeface="宋体"/>
              <a:cs typeface="宋体"/>
            </a:endParaRPr>
          </a:p>
        </p:txBody>
      </p:sp>
    </p:spTree>
    <p:extLst>
      <p:ext uri="{BB962C8B-B14F-4D97-AF65-F5344CB8AC3E}">
        <p14:creationId xmlns:p14="http://schemas.microsoft.com/office/powerpoint/2010/main" val="240523171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两种理论的比较</a:t>
            </a:r>
          </a:p>
        </p:txBody>
      </p:sp>
      <p:sp>
        <p:nvSpPr>
          <p:cNvPr id="3" name="内容占位符 2"/>
          <p:cNvSpPr>
            <a:spLocks noGrp="1"/>
          </p:cNvSpPr>
          <p:nvPr>
            <p:ph idx="1"/>
          </p:nvPr>
        </p:nvSpPr>
        <p:spPr>
          <a:xfrm>
            <a:off x="395536" y="908720"/>
            <a:ext cx="8229600" cy="5400600"/>
          </a:xfrm>
        </p:spPr>
        <p:txBody>
          <a:bodyPr/>
          <a:lstStyle/>
          <a:p>
            <a:r>
              <a:rPr lang="zh-CN" altLang="en-US" sz="2800" dirty="0">
                <a:latin typeface="宋体"/>
                <a:ea typeface="宋体"/>
                <a:cs typeface="宋体"/>
              </a:rPr>
              <a:t>罪行</a:t>
            </a:r>
            <a:r>
              <a:rPr lang="zh-CN" altLang="zh-CN" sz="2800" dirty="0">
                <a:latin typeface="宋体"/>
                <a:ea typeface="宋体"/>
                <a:cs typeface="宋体"/>
              </a:rPr>
              <a:t>中心主义着眼于犯罪应当是什么，而</a:t>
            </a:r>
            <a:r>
              <a:rPr lang="zh-CN" altLang="en-US" sz="2800" dirty="0">
                <a:latin typeface="宋体"/>
                <a:ea typeface="宋体"/>
                <a:cs typeface="宋体"/>
              </a:rPr>
              <a:t>罪</a:t>
            </a:r>
            <a:r>
              <a:rPr lang="zh-CN" altLang="zh-CN" sz="2800" dirty="0">
                <a:latin typeface="宋体"/>
                <a:ea typeface="宋体"/>
                <a:cs typeface="宋体"/>
              </a:rPr>
              <a:t>人中心主义则着眼于犯罪实际上是什么。</a:t>
            </a:r>
            <a:endParaRPr lang="en-US" altLang="zh-CN" sz="2800" dirty="0">
              <a:latin typeface="宋体"/>
              <a:ea typeface="宋体"/>
              <a:cs typeface="宋体"/>
            </a:endParaRPr>
          </a:p>
          <a:p>
            <a:r>
              <a:rPr lang="zh-CN" altLang="zh-CN" sz="2800" b="1" dirty="0">
                <a:latin typeface="宋体"/>
                <a:ea typeface="宋体"/>
                <a:cs typeface="宋体"/>
              </a:rPr>
              <a:t>前者强调惩罚已然的犯罪，后者强调教育改造犯罪人，预防未然的犯罪。</a:t>
            </a:r>
            <a:endParaRPr lang="zh-CN" altLang="zh-CN" sz="2800" dirty="0">
              <a:latin typeface="宋体"/>
              <a:ea typeface="宋体"/>
              <a:cs typeface="宋体"/>
            </a:endParaRPr>
          </a:p>
          <a:p>
            <a:r>
              <a:rPr lang="zh-CN" altLang="zh-CN" sz="2800" dirty="0">
                <a:latin typeface="宋体"/>
                <a:ea typeface="宋体"/>
                <a:cs typeface="宋体"/>
              </a:rPr>
              <a:t>共性是都相信单向解释论</a:t>
            </a:r>
            <a:r>
              <a:rPr lang="zh-CN" altLang="en-US" sz="2800" dirty="0">
                <a:latin typeface="宋体"/>
                <a:ea typeface="宋体"/>
                <a:cs typeface="宋体"/>
              </a:rPr>
              <a:t>：</a:t>
            </a:r>
            <a:r>
              <a:rPr lang="zh-CN" altLang="zh-CN" sz="2800" dirty="0">
                <a:latin typeface="宋体"/>
                <a:ea typeface="宋体"/>
                <a:cs typeface="宋体"/>
              </a:rPr>
              <a:t>“犯罪原因—→犯罪或犯罪人—→被害”。</a:t>
            </a:r>
          </a:p>
          <a:p>
            <a:r>
              <a:rPr lang="zh-CN" altLang="zh-CN" sz="2800" dirty="0">
                <a:latin typeface="宋体"/>
                <a:ea typeface="宋体"/>
                <a:cs typeface="宋体"/>
              </a:rPr>
              <a:t>单向论将行为或行为人从特定时空条件下的加害</a:t>
            </a:r>
            <a:r>
              <a:rPr lang="en-US" altLang="zh-CN" sz="2800" dirty="0">
                <a:latin typeface="宋体"/>
                <a:ea typeface="宋体"/>
                <a:cs typeface="宋体"/>
              </a:rPr>
              <a:t>-</a:t>
            </a:r>
            <a:r>
              <a:rPr lang="zh-CN" altLang="zh-CN" sz="2800" dirty="0">
                <a:latin typeface="宋体"/>
                <a:ea typeface="宋体"/>
                <a:cs typeface="宋体"/>
              </a:rPr>
              <a:t>被害关系中剥离出来，孤立地描述犯罪形态。</a:t>
            </a:r>
            <a:endParaRPr lang="en-US" altLang="zh-CN" sz="2800" dirty="0">
              <a:latin typeface="宋体"/>
              <a:ea typeface="宋体"/>
              <a:cs typeface="宋体"/>
            </a:endParaRPr>
          </a:p>
          <a:p>
            <a:r>
              <a:rPr lang="zh-CN" altLang="en-US" sz="2800" dirty="0">
                <a:latin typeface="宋体"/>
                <a:ea typeface="宋体"/>
                <a:cs typeface="宋体"/>
              </a:rPr>
              <a:t>都</a:t>
            </a:r>
            <a:r>
              <a:rPr lang="zh-CN" altLang="zh-CN" sz="2800" dirty="0">
                <a:latin typeface="宋体"/>
                <a:ea typeface="宋体"/>
                <a:cs typeface="宋体"/>
              </a:rPr>
              <a:t>忽视</a:t>
            </a:r>
            <a:r>
              <a:rPr lang="zh-CN" altLang="en-US" sz="2800" dirty="0">
                <a:latin typeface="宋体"/>
                <a:ea typeface="宋体"/>
                <a:cs typeface="宋体"/>
              </a:rPr>
              <a:t>了</a:t>
            </a:r>
            <a:r>
              <a:rPr lang="zh-CN" altLang="zh-CN" sz="2800" dirty="0">
                <a:latin typeface="宋体"/>
                <a:ea typeface="宋体"/>
                <a:cs typeface="宋体"/>
              </a:rPr>
              <a:t>，</a:t>
            </a:r>
            <a:r>
              <a:rPr lang="zh-CN" altLang="en-US" sz="2800" dirty="0">
                <a:latin typeface="宋体"/>
                <a:ea typeface="宋体"/>
                <a:cs typeface="宋体"/>
              </a:rPr>
              <a:t>犯罪</a:t>
            </a:r>
            <a:r>
              <a:rPr lang="zh-CN" altLang="zh-CN" sz="2800" dirty="0">
                <a:latin typeface="宋体"/>
                <a:ea typeface="宋体"/>
                <a:cs typeface="宋体"/>
              </a:rPr>
              <a:t>是一定加害</a:t>
            </a:r>
            <a:r>
              <a:rPr lang="en-US" altLang="zh-CN" sz="2800" dirty="0">
                <a:latin typeface="宋体"/>
                <a:ea typeface="宋体"/>
                <a:cs typeface="宋体"/>
              </a:rPr>
              <a:t>-</a:t>
            </a:r>
            <a:r>
              <a:rPr lang="zh-CN" altLang="zh-CN" sz="2800" dirty="0">
                <a:latin typeface="宋体"/>
                <a:ea typeface="宋体"/>
                <a:cs typeface="宋体"/>
              </a:rPr>
              <a:t>被害关系中的行为或者行为人。</a:t>
            </a:r>
            <a:endParaRPr lang="en-US" altLang="zh-CN" sz="2800" dirty="0">
              <a:latin typeface="宋体"/>
              <a:ea typeface="宋体"/>
              <a:cs typeface="宋体"/>
            </a:endParaRPr>
          </a:p>
          <a:p>
            <a:r>
              <a:rPr lang="zh-CN" altLang="zh-CN" sz="2800" dirty="0">
                <a:latin typeface="宋体"/>
                <a:ea typeface="宋体"/>
                <a:cs typeface="宋体"/>
              </a:rPr>
              <a:t>所以，加害</a:t>
            </a:r>
            <a:r>
              <a:rPr lang="en-US" altLang="zh-CN" sz="2800" dirty="0">
                <a:latin typeface="宋体"/>
                <a:ea typeface="宋体"/>
                <a:cs typeface="宋体"/>
              </a:rPr>
              <a:t>-</a:t>
            </a:r>
            <a:r>
              <a:rPr lang="zh-CN" altLang="zh-CN" sz="2800" dirty="0">
                <a:latin typeface="宋体"/>
                <a:ea typeface="宋体"/>
                <a:cs typeface="宋体"/>
              </a:rPr>
              <a:t>被害关系才应当得到足够的关注。</a:t>
            </a:r>
          </a:p>
          <a:p>
            <a:endParaRPr kumimoji="1" lang="zh-CN" altLang="en-US" dirty="0"/>
          </a:p>
        </p:txBody>
      </p:sp>
    </p:spTree>
    <p:extLst>
      <p:ext uri="{BB962C8B-B14F-4D97-AF65-F5344CB8AC3E}">
        <p14:creationId xmlns:p14="http://schemas.microsoft.com/office/powerpoint/2010/main" val="225867295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400" dirty="0">
                <a:latin typeface="黑体"/>
                <a:ea typeface="黑体"/>
                <a:cs typeface="黑体"/>
              </a:rPr>
              <a:t>风险互动理论</a:t>
            </a:r>
          </a:p>
        </p:txBody>
      </p:sp>
      <p:sp>
        <p:nvSpPr>
          <p:cNvPr id="3" name="内容占位符 2"/>
          <p:cNvSpPr>
            <a:spLocks noGrp="1"/>
          </p:cNvSpPr>
          <p:nvPr>
            <p:ph idx="1"/>
          </p:nvPr>
        </p:nvSpPr>
        <p:spPr>
          <a:xfrm>
            <a:off x="467544" y="980728"/>
            <a:ext cx="8229600" cy="5544616"/>
          </a:xfrm>
        </p:spPr>
        <p:txBody>
          <a:bodyPr/>
          <a:lstStyle/>
          <a:p>
            <a:r>
              <a:rPr lang="zh-CN" altLang="zh-CN" sz="2800" b="1" dirty="0">
                <a:latin typeface="宋体"/>
                <a:ea typeface="宋体"/>
                <a:cs typeface="宋体"/>
              </a:rPr>
              <a:t>“</a:t>
            </a:r>
            <a:r>
              <a:rPr lang="zh-CN" altLang="en-US" sz="2800" b="1" dirty="0">
                <a:latin typeface="宋体"/>
                <a:ea typeface="宋体"/>
                <a:cs typeface="宋体"/>
              </a:rPr>
              <a:t>风险</a:t>
            </a:r>
            <a:r>
              <a:rPr lang="zh-CN" altLang="zh-CN" sz="2800" b="1" dirty="0">
                <a:latin typeface="宋体"/>
                <a:ea typeface="宋体"/>
                <a:cs typeface="宋体"/>
              </a:rPr>
              <a:t>互动”</a:t>
            </a:r>
            <a:r>
              <a:rPr lang="zh-CN" altLang="zh-CN" sz="2800" dirty="0">
                <a:latin typeface="宋体"/>
                <a:ea typeface="宋体"/>
                <a:cs typeface="宋体"/>
              </a:rPr>
              <a:t>，比“罪行”、“罪人”都更加符合、接近犯罪的实际。</a:t>
            </a:r>
            <a:endParaRPr lang="en-US" altLang="zh-CN" sz="2800" dirty="0">
              <a:latin typeface="宋体"/>
              <a:ea typeface="宋体"/>
              <a:cs typeface="宋体"/>
            </a:endParaRPr>
          </a:p>
          <a:p>
            <a:r>
              <a:rPr lang="zh-CN" altLang="en-US" sz="2800" dirty="0">
                <a:latin typeface="宋体"/>
                <a:ea typeface="宋体"/>
                <a:cs typeface="宋体"/>
              </a:rPr>
              <a:t>风险</a:t>
            </a:r>
            <a:r>
              <a:rPr lang="zh-CN" altLang="zh-CN" sz="2800" dirty="0">
                <a:latin typeface="宋体"/>
                <a:ea typeface="宋体"/>
                <a:cs typeface="宋体"/>
              </a:rPr>
              <a:t>互动才是犯罪学的基本分析单位和犯罪性的客观载体。</a:t>
            </a:r>
          </a:p>
          <a:p>
            <a:r>
              <a:rPr lang="zh-CN" altLang="zh-CN" sz="3200" b="1" dirty="0">
                <a:latin typeface="黑体"/>
                <a:ea typeface="黑体"/>
                <a:cs typeface="黑体"/>
              </a:rPr>
              <a:t>首先，风险互动普遍存在</a:t>
            </a:r>
            <a:r>
              <a:rPr lang="zh-CN" altLang="zh-CN" sz="2800" dirty="0"/>
              <a:t>。 </a:t>
            </a:r>
            <a:endParaRPr lang="en-US" altLang="zh-CN" sz="2800" dirty="0">
              <a:latin typeface="宋体"/>
              <a:ea typeface="宋体"/>
              <a:cs typeface="宋体"/>
            </a:endParaRPr>
          </a:p>
          <a:p>
            <a:r>
              <a:rPr lang="zh-CN" altLang="zh-CN" sz="2800" dirty="0">
                <a:latin typeface="宋体"/>
                <a:ea typeface="宋体"/>
                <a:cs typeface="宋体"/>
              </a:rPr>
              <a:t>犯罪不仅意味着恶害，更意味着恶害所处其中的关系，意味着不同的互动关系对所处其中的加害、被害双方的不同影响。</a:t>
            </a:r>
            <a:endParaRPr lang="en-US" altLang="zh-CN" sz="2800" dirty="0">
              <a:latin typeface="宋体"/>
              <a:ea typeface="宋体"/>
              <a:cs typeface="宋体"/>
            </a:endParaRPr>
          </a:p>
          <a:p>
            <a:r>
              <a:rPr lang="zh-CN" altLang="zh-CN" sz="2800" dirty="0">
                <a:latin typeface="宋体"/>
                <a:ea typeface="宋体"/>
                <a:cs typeface="宋体"/>
              </a:rPr>
              <a:t>“咬舌头”案</a:t>
            </a:r>
            <a:endParaRPr lang="en-US" altLang="zh-CN" sz="2800" dirty="0">
              <a:latin typeface="宋体"/>
              <a:ea typeface="宋体"/>
              <a:cs typeface="宋体"/>
            </a:endParaRPr>
          </a:p>
          <a:p>
            <a:r>
              <a:rPr lang="en-US" altLang="zh-CN" sz="2800" dirty="0">
                <a:latin typeface="宋体"/>
                <a:ea typeface="宋体"/>
                <a:cs typeface="宋体"/>
              </a:rPr>
              <a:t>《</a:t>
            </a:r>
            <a:r>
              <a:rPr lang="zh-CN" altLang="zh-CN" sz="2800" dirty="0">
                <a:latin typeface="宋体"/>
                <a:ea typeface="宋体"/>
                <a:cs typeface="宋体"/>
              </a:rPr>
              <a:t>肖申克的救赎</a:t>
            </a:r>
            <a:r>
              <a:rPr lang="en-US" altLang="zh-CN" sz="2800" dirty="0">
                <a:latin typeface="宋体"/>
                <a:ea typeface="宋体"/>
                <a:cs typeface="宋体"/>
              </a:rPr>
              <a:t>》</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9900923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互动的类型</a:t>
            </a:r>
          </a:p>
        </p:txBody>
      </p:sp>
      <p:sp>
        <p:nvSpPr>
          <p:cNvPr id="3" name="内容占位符 2"/>
          <p:cNvSpPr>
            <a:spLocks noGrp="1"/>
          </p:cNvSpPr>
          <p:nvPr>
            <p:ph idx="1"/>
          </p:nvPr>
        </p:nvSpPr>
        <p:spPr/>
        <p:txBody>
          <a:bodyPr/>
          <a:lstStyle/>
          <a:p>
            <a:pPr lvl="0"/>
            <a:r>
              <a:rPr lang="zh-CN" altLang="zh-CN" sz="2800" dirty="0">
                <a:latin typeface="宋体"/>
                <a:ea typeface="宋体"/>
                <a:cs typeface="宋体"/>
              </a:rPr>
              <a:t>冲突性的和非冲突性的互动；（抢劫与诈骗）</a:t>
            </a:r>
          </a:p>
          <a:p>
            <a:pPr lvl="0"/>
            <a:r>
              <a:rPr lang="zh-CN" altLang="zh-CN" sz="2800" dirty="0">
                <a:latin typeface="宋体"/>
                <a:ea typeface="宋体"/>
                <a:cs typeface="宋体"/>
              </a:rPr>
              <a:t>同等社会地位之间的互动与不同社会地位之间的互动；（富翁与富翁、乞丐与乞丐、富翁与乞丐）</a:t>
            </a:r>
          </a:p>
          <a:p>
            <a:pPr lvl="0"/>
            <a:r>
              <a:rPr lang="zh-CN" altLang="zh-CN" sz="2800" dirty="0">
                <a:latin typeface="宋体"/>
                <a:ea typeface="宋体"/>
                <a:cs typeface="宋体"/>
              </a:rPr>
              <a:t>围绕人身权益的互动与围绕财产权益的互动；（杀人与盗窃）</a:t>
            </a:r>
          </a:p>
          <a:p>
            <a:pPr lvl="0"/>
            <a:r>
              <a:rPr lang="zh-CN" altLang="zh-CN" sz="2800" dirty="0">
                <a:latin typeface="宋体"/>
                <a:ea typeface="宋体"/>
                <a:cs typeface="宋体"/>
              </a:rPr>
              <a:t>直接互动与间接互动；（恐怖主义的非军事目标、三角诈骗）</a:t>
            </a:r>
          </a:p>
          <a:p>
            <a:pPr lvl="0"/>
            <a:r>
              <a:rPr lang="zh-CN" altLang="zh-CN" sz="2800" dirty="0">
                <a:latin typeface="宋体"/>
                <a:ea typeface="宋体"/>
                <a:cs typeface="宋体"/>
              </a:rPr>
              <a:t>积极互动与消极互动；（防卫挑拨、警察圈套、露富对抢劫的诱发性影响）</a:t>
            </a:r>
          </a:p>
          <a:p>
            <a:endParaRPr kumimoji="1" lang="zh-CN" altLang="en-US" dirty="0"/>
          </a:p>
        </p:txBody>
      </p:sp>
    </p:spTree>
    <p:extLst>
      <p:ext uri="{BB962C8B-B14F-4D97-AF65-F5344CB8AC3E}">
        <p14:creationId xmlns:p14="http://schemas.microsoft.com/office/powerpoint/2010/main" val="293037589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200" dirty="0">
                <a:latin typeface="黑体"/>
                <a:ea typeface="黑体"/>
                <a:cs typeface="黑体"/>
              </a:rPr>
              <a:t>没有被害不等于没有互动</a:t>
            </a:r>
            <a:endParaRPr lang="zh-CN" altLang="zh-CN" sz="3600" dirty="0">
              <a:latin typeface="宋体"/>
              <a:ea typeface="宋体"/>
              <a:cs typeface="宋体"/>
            </a:endParaRPr>
          </a:p>
        </p:txBody>
      </p:sp>
      <p:sp>
        <p:nvSpPr>
          <p:cNvPr id="3" name="内容占位符 2"/>
          <p:cNvSpPr>
            <a:spLocks noGrp="1"/>
          </p:cNvSpPr>
          <p:nvPr>
            <p:ph idx="1"/>
          </p:nvPr>
        </p:nvSpPr>
        <p:spPr>
          <a:xfrm>
            <a:off x="467544" y="980728"/>
            <a:ext cx="8229600" cy="5328592"/>
          </a:xfrm>
        </p:spPr>
        <p:txBody>
          <a:bodyPr/>
          <a:lstStyle/>
          <a:p>
            <a:r>
              <a:rPr lang="zh-CN" altLang="zh-CN" sz="2800" dirty="0">
                <a:latin typeface="宋体"/>
                <a:ea typeface="宋体"/>
                <a:cs typeface="宋体"/>
              </a:rPr>
              <a:t>即使是在贿赂、脱逃、嫖宿幼女等所谓无被害犯罪中，犯罪也不是绝对的孤立存在。</a:t>
            </a:r>
            <a:endParaRPr lang="en-US" altLang="zh-CN" sz="2800" dirty="0">
              <a:latin typeface="宋体"/>
              <a:ea typeface="宋体"/>
              <a:cs typeface="宋体"/>
            </a:endParaRPr>
          </a:p>
          <a:p>
            <a:r>
              <a:rPr lang="zh-CN" altLang="zh-CN" sz="2800" dirty="0">
                <a:latin typeface="宋体"/>
                <a:ea typeface="宋体"/>
                <a:cs typeface="宋体"/>
              </a:rPr>
              <a:t>贿赂交易使其他竞争对手失去了机会</a:t>
            </a:r>
            <a:endParaRPr lang="en-US" altLang="zh-CN" sz="2800" dirty="0">
              <a:latin typeface="宋体"/>
              <a:ea typeface="宋体"/>
              <a:cs typeface="宋体"/>
            </a:endParaRPr>
          </a:p>
          <a:p>
            <a:r>
              <a:rPr lang="zh-CN" altLang="zh-CN" sz="2800" dirty="0">
                <a:latin typeface="宋体"/>
                <a:ea typeface="宋体"/>
                <a:cs typeface="宋体"/>
              </a:rPr>
              <a:t>脱逃给社会带来恐慌</a:t>
            </a:r>
            <a:endParaRPr lang="en-US" altLang="zh-CN" sz="2800" dirty="0">
              <a:latin typeface="宋体"/>
              <a:ea typeface="宋体"/>
              <a:cs typeface="宋体"/>
            </a:endParaRPr>
          </a:p>
          <a:p>
            <a:r>
              <a:rPr lang="zh-CN" altLang="zh-CN" sz="2800" dirty="0">
                <a:latin typeface="宋体"/>
                <a:ea typeface="宋体"/>
                <a:cs typeface="宋体"/>
              </a:rPr>
              <a:t>嫖宿幼女尽管出于自愿但其伤害不言而喻</a:t>
            </a:r>
            <a:endParaRPr lang="en-US" altLang="zh-CN" sz="2800" dirty="0">
              <a:latin typeface="宋体"/>
              <a:ea typeface="宋体"/>
              <a:cs typeface="宋体"/>
            </a:endParaRPr>
          </a:p>
          <a:p>
            <a:r>
              <a:rPr lang="zh-CN" altLang="zh-CN" sz="2800" dirty="0">
                <a:latin typeface="宋体"/>
                <a:ea typeface="宋体"/>
                <a:cs typeface="宋体"/>
              </a:rPr>
              <a:t>在所谓被害不特定的情况下，也存在互动</a:t>
            </a:r>
            <a:r>
              <a:rPr lang="zh-CN" altLang="en-US" sz="2800" dirty="0">
                <a:latin typeface="宋体"/>
                <a:ea typeface="宋体"/>
                <a:cs typeface="宋体"/>
              </a:rPr>
              <a:t>：</a:t>
            </a:r>
            <a:r>
              <a:rPr lang="zh-CN" altLang="zh-CN" sz="2800" dirty="0">
                <a:latin typeface="宋体"/>
                <a:ea typeface="宋体"/>
                <a:cs typeface="宋体"/>
              </a:rPr>
              <a:t>内幕交易、操纵市场，报案率很低，甚至存在共生现象。</a:t>
            </a:r>
            <a:endParaRPr lang="en-US" altLang="zh-CN" sz="2800" dirty="0">
              <a:latin typeface="宋体"/>
              <a:ea typeface="宋体"/>
              <a:cs typeface="宋体"/>
            </a:endParaRPr>
          </a:p>
          <a:p>
            <a:r>
              <a:rPr lang="zh-CN" altLang="zh-CN" sz="2800" dirty="0">
                <a:latin typeface="宋体"/>
                <a:ea typeface="宋体"/>
                <a:cs typeface="宋体"/>
              </a:rPr>
              <a:t>总之，没有被害，并不等于没有互动。</a:t>
            </a:r>
          </a:p>
          <a:p>
            <a:r>
              <a:rPr lang="zh-CN" altLang="zh-CN" sz="2800" dirty="0">
                <a:latin typeface="宋体"/>
                <a:ea typeface="宋体"/>
                <a:cs typeface="宋体"/>
              </a:rPr>
              <a:t>“特殊人假定”和“好人期待”都不科学。交往如果失控，就会有犯罪。</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409073158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172970" cy="553566"/>
          </a:xfrm>
        </p:spPr>
        <p:txBody>
          <a:bodyPr/>
          <a:lstStyle/>
          <a:p>
            <a:pPr algn="ctr"/>
            <a:r>
              <a:rPr lang="zh-CN" altLang="zh-CN" sz="3200" b="1" dirty="0">
                <a:latin typeface="黑体"/>
                <a:ea typeface="黑体"/>
                <a:cs typeface="黑体"/>
              </a:rPr>
              <a:t>第二，</a:t>
            </a:r>
            <a:r>
              <a:rPr lang="zh-CN" altLang="zh-CN" sz="3200" dirty="0">
                <a:latin typeface="黑体"/>
                <a:ea typeface="黑体"/>
                <a:cs typeface="黑体"/>
              </a:rPr>
              <a:t>互动关系也是对犯罪的一种解释。</a:t>
            </a:r>
            <a:r>
              <a:rPr lang="zh-CN" altLang="zh-CN" sz="3200" dirty="0"/>
              <a:t> </a:t>
            </a:r>
            <a:endParaRPr kumimoji="1" lang="zh-CN" altLang="en-US" sz="3200" dirty="0"/>
          </a:p>
        </p:txBody>
      </p:sp>
      <p:sp>
        <p:nvSpPr>
          <p:cNvPr id="3" name="内容占位符 2"/>
          <p:cNvSpPr>
            <a:spLocks noGrp="1"/>
          </p:cNvSpPr>
          <p:nvPr>
            <p:ph idx="1"/>
          </p:nvPr>
        </p:nvSpPr>
        <p:spPr>
          <a:xfrm>
            <a:off x="457200" y="1125538"/>
            <a:ext cx="8229600" cy="5399806"/>
          </a:xfrm>
        </p:spPr>
        <p:txBody>
          <a:bodyPr/>
          <a:lstStyle/>
          <a:p>
            <a:r>
              <a:rPr lang="zh-CN" altLang="zh-CN" sz="2800" dirty="0">
                <a:latin typeface="宋体"/>
                <a:ea typeface="宋体"/>
                <a:cs typeface="宋体"/>
              </a:rPr>
              <a:t>互动论着眼于犯罪的</a:t>
            </a:r>
            <a:r>
              <a:rPr lang="zh-CN" altLang="zh-CN" sz="2800" dirty="0">
                <a:latin typeface="黑体"/>
                <a:ea typeface="黑体"/>
                <a:cs typeface="黑体"/>
              </a:rPr>
              <a:t>双向结构</a:t>
            </a:r>
            <a:r>
              <a:rPr lang="zh-CN" altLang="zh-CN" sz="2800" dirty="0">
                <a:latin typeface="宋体"/>
                <a:ea typeface="宋体"/>
                <a:cs typeface="宋体"/>
              </a:rPr>
              <a:t>：犯罪被害被作为犯罪原因的一部分看待</a:t>
            </a:r>
            <a:endParaRPr lang="en-US" altLang="zh-CN" sz="2800" dirty="0">
              <a:latin typeface="宋体"/>
              <a:ea typeface="宋体"/>
              <a:cs typeface="宋体"/>
            </a:endParaRPr>
          </a:p>
          <a:p>
            <a:r>
              <a:rPr lang="zh-CN" altLang="zh-CN" sz="2800" dirty="0">
                <a:latin typeface="宋体"/>
                <a:ea typeface="宋体"/>
                <a:cs typeface="宋体"/>
              </a:rPr>
              <a:t>“犯罪原因（包括犯罪被害）←→犯罪或犯罪人”是互动中心论的基本模型。</a:t>
            </a:r>
          </a:p>
          <a:p>
            <a:r>
              <a:rPr lang="zh-CN" altLang="zh-CN" sz="2800" dirty="0">
                <a:latin typeface="宋体"/>
                <a:ea typeface="宋体"/>
                <a:cs typeface="宋体"/>
              </a:rPr>
              <a:t>被害人不是绝对消极被动的客体，</a:t>
            </a:r>
            <a:r>
              <a:rPr lang="zh-CN" altLang="zh-CN" sz="2800" dirty="0">
                <a:latin typeface="黑体"/>
                <a:ea typeface="黑体"/>
                <a:cs typeface="黑体"/>
              </a:rPr>
              <a:t>被害并不等于被动。</a:t>
            </a:r>
            <a:endParaRPr lang="en-US" altLang="zh-CN" sz="2800" dirty="0">
              <a:latin typeface="黑体"/>
              <a:ea typeface="黑体"/>
              <a:cs typeface="黑体"/>
            </a:endParaRPr>
          </a:p>
          <a:p>
            <a:r>
              <a:rPr lang="zh-CN" altLang="zh-CN" sz="2800" dirty="0">
                <a:latin typeface="宋体"/>
                <a:ea typeface="宋体"/>
                <a:cs typeface="宋体"/>
              </a:rPr>
              <a:t>犯罪也是来自被害人方面某种影响的产物。</a:t>
            </a:r>
            <a:endParaRPr lang="en-US" altLang="zh-CN" sz="2800" dirty="0">
              <a:latin typeface="宋体"/>
              <a:ea typeface="宋体"/>
              <a:cs typeface="宋体"/>
            </a:endParaRPr>
          </a:p>
          <a:p>
            <a:r>
              <a:rPr lang="en-US" altLang="zh-CN" sz="2800" dirty="0">
                <a:latin typeface="宋体"/>
                <a:ea typeface="宋体"/>
                <a:cs typeface="宋体"/>
              </a:rPr>
              <a:t>《</a:t>
            </a:r>
            <a:r>
              <a:rPr lang="zh-CN" altLang="en-US" sz="2800" dirty="0">
                <a:latin typeface="宋体"/>
                <a:ea typeface="宋体"/>
                <a:cs typeface="宋体"/>
              </a:rPr>
              <a:t>天下无贼</a:t>
            </a:r>
            <a:r>
              <a:rPr lang="en-US" altLang="zh-CN" sz="2800" dirty="0">
                <a:latin typeface="宋体"/>
                <a:ea typeface="宋体"/>
                <a:cs typeface="宋体"/>
              </a:rPr>
              <a:t>》</a:t>
            </a:r>
          </a:p>
          <a:p>
            <a:r>
              <a:rPr lang="zh-CN" altLang="en-US" sz="2800" dirty="0">
                <a:latin typeface="宋体"/>
                <a:ea typeface="宋体"/>
                <a:cs typeface="宋体"/>
              </a:rPr>
              <a:t>案例：</a:t>
            </a:r>
            <a:r>
              <a:rPr lang="zh-CN" altLang="zh-CN" sz="2800" dirty="0">
                <a:latin typeface="宋体"/>
                <a:ea typeface="宋体"/>
                <a:cs typeface="宋体"/>
              </a:rPr>
              <a:t>某甲花四十万买军车牌，某乙承诺，若办不成，付八十万。结果，八百块买了假军车牌给某甲。某甲被查扣。</a:t>
            </a:r>
          </a:p>
          <a:p>
            <a:endParaRPr lang="zh-CN" altLang="zh-CN" sz="2800" dirty="0">
              <a:latin typeface="宋体"/>
              <a:ea typeface="宋体"/>
              <a:cs typeface="宋体"/>
            </a:endParaRPr>
          </a:p>
          <a:p>
            <a:endParaRPr kumimoji="1" lang="zh-CN" altLang="en-US" dirty="0"/>
          </a:p>
        </p:txBody>
      </p:sp>
    </p:spTree>
    <p:extLst>
      <p:ext uri="{BB962C8B-B14F-4D97-AF65-F5344CB8AC3E}">
        <p14:creationId xmlns:p14="http://schemas.microsoft.com/office/powerpoint/2010/main" val="153574057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a:latin typeface="黑体"/>
                <a:ea typeface="黑体"/>
                <a:cs typeface="黑体"/>
              </a:rPr>
              <a:t>第三，互动使犯罪人更加能动。</a:t>
            </a:r>
          </a:p>
        </p:txBody>
      </p:sp>
      <p:sp>
        <p:nvSpPr>
          <p:cNvPr id="3" name="内容占位符 2"/>
          <p:cNvSpPr>
            <a:spLocks noGrp="1"/>
          </p:cNvSpPr>
          <p:nvPr>
            <p:ph idx="1"/>
          </p:nvPr>
        </p:nvSpPr>
        <p:spPr>
          <a:xfrm>
            <a:off x="467544" y="980728"/>
            <a:ext cx="8229600" cy="5472608"/>
          </a:xfrm>
        </p:spPr>
        <p:txBody>
          <a:bodyPr/>
          <a:lstStyle/>
          <a:p>
            <a:r>
              <a:rPr kumimoji="1" lang="zh-CN" altLang="en-US" sz="2800" dirty="0">
                <a:latin typeface="宋体"/>
                <a:ea typeface="宋体"/>
                <a:cs typeface="宋体"/>
              </a:rPr>
              <a:t>加害人会积极分析环境、重新解读加害被害关系。</a:t>
            </a:r>
            <a:endParaRPr lang="en-US" altLang="zh-CN" sz="2800" dirty="0">
              <a:latin typeface="宋体"/>
              <a:ea typeface="宋体"/>
              <a:cs typeface="宋体"/>
            </a:endParaRPr>
          </a:p>
          <a:p>
            <a:r>
              <a:rPr lang="zh-CN" altLang="zh-CN" sz="2800" dirty="0">
                <a:latin typeface="宋体"/>
                <a:ea typeface="宋体"/>
                <a:cs typeface="宋体"/>
              </a:rPr>
              <a:t>赛克斯等美国学者在《中和技术：一种少年犯罪理论》中提出，罪恶感的消除是合理化解释的结果，即所谓中和技术论，又称抵消论。</a:t>
            </a:r>
            <a:endParaRPr lang="en-US" altLang="zh-CN" sz="2800" dirty="0">
              <a:latin typeface="宋体"/>
              <a:ea typeface="宋体"/>
              <a:cs typeface="宋体"/>
            </a:endParaRPr>
          </a:p>
          <a:p>
            <a:r>
              <a:rPr lang="zh-CN" altLang="en-US" sz="2800" dirty="0">
                <a:latin typeface="宋体"/>
                <a:ea typeface="宋体"/>
                <a:cs typeface="宋体"/>
              </a:rPr>
              <a:t>提出</a:t>
            </a:r>
            <a:r>
              <a:rPr lang="zh-CN" altLang="zh-CN" sz="2800" dirty="0">
                <a:latin typeface="宋体"/>
                <a:ea typeface="宋体"/>
                <a:cs typeface="宋体"/>
              </a:rPr>
              <a:t>问题：犯罪人都是善恶不分吗？如果人们知道善恶，为什么有人犯罪时没有罪责感？</a:t>
            </a:r>
            <a:endParaRPr lang="en-US" altLang="zh-CN" sz="2800" dirty="0">
              <a:latin typeface="宋体"/>
              <a:ea typeface="宋体"/>
              <a:cs typeface="宋体"/>
            </a:endParaRPr>
          </a:p>
          <a:p>
            <a:r>
              <a:rPr lang="zh-CN" altLang="zh-CN" sz="2800" dirty="0">
                <a:latin typeface="宋体"/>
                <a:ea typeface="宋体"/>
                <a:cs typeface="宋体"/>
              </a:rPr>
              <a:t>犯罪少年并非没有道德感，他们能用道德观念对违法行为做出合理化解释。具体包括：①否认责任——强调不可抗力的作用。②否认损害——偷是借。③否认被害人——认为被害人才是加害人。④谴责谴责者——社会才是该谴责的。⑤为了更高的价值准则——忠诚。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267551139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677026" cy="697582"/>
          </a:xfrm>
        </p:spPr>
        <p:txBody>
          <a:bodyPr/>
          <a:lstStyle/>
          <a:p>
            <a:pPr algn="ctr"/>
            <a:r>
              <a:rPr lang="zh-CN" altLang="zh-CN" sz="3200" b="1" dirty="0">
                <a:latin typeface="黑体"/>
                <a:ea typeface="黑体"/>
                <a:cs typeface="黑体"/>
              </a:rPr>
              <a:t>第四，</a:t>
            </a:r>
            <a:r>
              <a:rPr lang="zh-CN" altLang="zh-CN" sz="3200" dirty="0">
                <a:latin typeface="黑体"/>
                <a:ea typeface="黑体"/>
                <a:cs typeface="黑体"/>
              </a:rPr>
              <a:t>互动关系是社会反应的重要依据。</a:t>
            </a:r>
            <a:r>
              <a:rPr lang="zh-CN" altLang="zh-CN" dirty="0"/>
              <a:t> </a:t>
            </a:r>
            <a:endParaRPr kumimoji="1" lang="zh-CN" altLang="en-US" dirty="0"/>
          </a:p>
        </p:txBody>
      </p:sp>
      <p:sp>
        <p:nvSpPr>
          <p:cNvPr id="3" name="内容占位符 2"/>
          <p:cNvSpPr>
            <a:spLocks noGrp="1"/>
          </p:cNvSpPr>
          <p:nvPr>
            <p:ph idx="1"/>
          </p:nvPr>
        </p:nvSpPr>
        <p:spPr>
          <a:xfrm>
            <a:off x="467544" y="1196752"/>
            <a:ext cx="8229600" cy="5328592"/>
          </a:xfrm>
        </p:spPr>
        <p:txBody>
          <a:bodyPr/>
          <a:lstStyle/>
          <a:p>
            <a:r>
              <a:rPr kumimoji="1" lang="zh-CN" altLang="en-US" sz="2800" dirty="0">
                <a:latin typeface="宋体"/>
                <a:ea typeface="宋体"/>
                <a:cs typeface="宋体"/>
              </a:rPr>
              <a:t>怎样理解犯罪，就会怎样对付犯罪</a:t>
            </a:r>
            <a:endParaRPr kumimoji="1" lang="en-US" altLang="zh-CN" sz="2800" dirty="0">
              <a:latin typeface="宋体"/>
              <a:ea typeface="宋体"/>
              <a:cs typeface="宋体"/>
            </a:endParaRPr>
          </a:p>
          <a:p>
            <a:r>
              <a:rPr kumimoji="1" lang="zh-CN" altLang="zh-CN" sz="2800" dirty="0">
                <a:latin typeface="宋体"/>
                <a:ea typeface="宋体"/>
                <a:cs typeface="宋体"/>
              </a:rPr>
              <a:t>盗窃工厂里的铁轨，和正在使用中的铁轨，或者，侵吞国有资产和民企资产，</a:t>
            </a:r>
            <a:r>
              <a:rPr kumimoji="1" lang="zh-CN" altLang="en-US" sz="2800" dirty="0">
                <a:latin typeface="宋体"/>
                <a:ea typeface="宋体"/>
                <a:cs typeface="宋体"/>
              </a:rPr>
              <a:t>罪名</a:t>
            </a:r>
            <a:r>
              <a:rPr kumimoji="1" lang="zh-CN" altLang="zh-CN" sz="2800" dirty="0">
                <a:latin typeface="宋体"/>
                <a:ea typeface="宋体"/>
                <a:cs typeface="宋体"/>
              </a:rPr>
              <a:t>就不同。</a:t>
            </a:r>
            <a:endParaRPr kumimoji="1" lang="en-US" altLang="zh-CN" sz="2800" dirty="0">
              <a:latin typeface="宋体"/>
              <a:ea typeface="宋体"/>
              <a:cs typeface="宋体"/>
            </a:endParaRPr>
          </a:p>
          <a:p>
            <a:r>
              <a:rPr kumimoji="1" lang="zh-CN" altLang="zh-CN" sz="2800" b="1" dirty="0">
                <a:latin typeface="楷体"/>
                <a:ea typeface="楷体"/>
                <a:cs typeface="楷体"/>
              </a:rPr>
              <a:t>罪行中心论的必然逻辑结果是</a:t>
            </a:r>
            <a:r>
              <a:rPr kumimoji="1" lang="zh-CN" altLang="en-US" sz="2800" b="1" dirty="0">
                <a:latin typeface="楷体"/>
                <a:ea typeface="楷体"/>
                <a:cs typeface="楷体"/>
              </a:rPr>
              <a:t>打击</a:t>
            </a:r>
            <a:r>
              <a:rPr kumimoji="1" lang="zh-CN" altLang="zh-CN" sz="2800" b="1" dirty="0">
                <a:latin typeface="楷体"/>
                <a:ea typeface="楷体"/>
                <a:cs typeface="楷体"/>
              </a:rPr>
              <a:t>惩治犯罪；</a:t>
            </a:r>
          </a:p>
          <a:p>
            <a:r>
              <a:rPr kumimoji="1" lang="zh-CN" altLang="zh-CN" sz="2800" b="1" dirty="0">
                <a:latin typeface="楷体"/>
                <a:ea typeface="楷体"/>
                <a:cs typeface="楷体"/>
              </a:rPr>
              <a:t>罪人中心论的必然逻辑结果是教育、矫治犯罪人；</a:t>
            </a:r>
          </a:p>
          <a:p>
            <a:r>
              <a:rPr kumimoji="1" lang="zh-CN" altLang="zh-CN" sz="2800" b="1" dirty="0">
                <a:latin typeface="楷体"/>
                <a:ea typeface="楷体"/>
                <a:cs typeface="楷体"/>
              </a:rPr>
              <a:t>互动中心论的必然逻辑结果就是，在法制的范围内公平合理地调整加害被害关系。</a:t>
            </a:r>
          </a:p>
          <a:p>
            <a:r>
              <a:rPr kumimoji="1" lang="zh-CN" altLang="zh-CN" sz="2800" dirty="0">
                <a:latin typeface="宋体"/>
                <a:ea typeface="宋体"/>
                <a:cs typeface="宋体"/>
              </a:rPr>
              <a:t>可见，“消灭犯罪”是不可能的</a:t>
            </a:r>
            <a:r>
              <a:rPr kumimoji="1" lang="zh-CN" altLang="en-US" sz="2800" dirty="0">
                <a:latin typeface="宋体"/>
                <a:ea typeface="宋体"/>
                <a:cs typeface="宋体"/>
              </a:rPr>
              <a:t>。</a:t>
            </a:r>
            <a:endParaRPr kumimoji="1" lang="en-US" altLang="zh-CN" sz="2800" dirty="0">
              <a:latin typeface="宋体"/>
              <a:ea typeface="宋体"/>
              <a:cs typeface="宋体"/>
            </a:endParaRPr>
          </a:p>
          <a:p>
            <a:r>
              <a:rPr kumimoji="1" lang="zh-CN" altLang="zh-CN" sz="2800" dirty="0">
                <a:latin typeface="宋体"/>
                <a:ea typeface="宋体"/>
                <a:cs typeface="宋体"/>
              </a:rPr>
              <a:t>刑法、法律、社会控制所做的，只是合理地评价</a:t>
            </a:r>
            <a:r>
              <a:rPr kumimoji="1" lang="zh-CN" altLang="en-US" sz="2800" dirty="0">
                <a:latin typeface="宋体"/>
                <a:ea typeface="宋体"/>
                <a:cs typeface="宋体"/>
              </a:rPr>
              <a:t>、调整</a:t>
            </a:r>
            <a:r>
              <a:rPr kumimoji="1" lang="zh-CN" altLang="zh-CN" sz="2800" dirty="0">
                <a:latin typeface="宋体"/>
                <a:ea typeface="宋体"/>
                <a:cs typeface="宋体"/>
              </a:rPr>
              <a:t>加害</a:t>
            </a:r>
            <a:r>
              <a:rPr kumimoji="1" lang="en-US" altLang="zh-CN" sz="2800" dirty="0">
                <a:latin typeface="宋体"/>
                <a:ea typeface="宋体"/>
                <a:cs typeface="宋体"/>
              </a:rPr>
              <a:t>-</a:t>
            </a:r>
            <a:r>
              <a:rPr kumimoji="1" lang="zh-CN" altLang="zh-CN" sz="2800" dirty="0">
                <a:latin typeface="宋体"/>
                <a:ea typeface="宋体"/>
                <a:cs typeface="宋体"/>
              </a:rPr>
              <a:t>被害关系</a:t>
            </a:r>
            <a:r>
              <a:rPr kumimoji="1" lang="zh-CN" altLang="en-US" sz="2800" dirty="0">
                <a:latin typeface="宋体"/>
                <a:ea typeface="宋体"/>
                <a:cs typeface="宋体"/>
              </a:rPr>
              <a:t>。</a:t>
            </a:r>
            <a:endParaRPr kumimoji="1" lang="zh-CN" altLang="zh-CN" sz="2800" dirty="0">
              <a:latin typeface="宋体"/>
              <a:ea typeface="宋体"/>
              <a:cs typeface="宋体"/>
            </a:endParaRPr>
          </a:p>
        </p:txBody>
      </p:sp>
    </p:spTree>
    <p:extLst>
      <p:ext uri="{BB962C8B-B14F-4D97-AF65-F5344CB8AC3E}">
        <p14:creationId xmlns:p14="http://schemas.microsoft.com/office/powerpoint/2010/main" val="881509138"/>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200" dirty="0">
                <a:latin typeface="黑体"/>
                <a:ea typeface="黑体"/>
                <a:cs typeface="黑体"/>
              </a:rPr>
              <a:t>重新审视修女与妓女的命题 </a:t>
            </a:r>
            <a:endParaRPr kumimoji="1" lang="zh-CN" altLang="en-US" sz="3200" dirty="0">
              <a:latin typeface="黑体"/>
              <a:ea typeface="黑体"/>
              <a:cs typeface="黑体"/>
            </a:endParaRPr>
          </a:p>
        </p:txBody>
      </p:sp>
      <p:sp>
        <p:nvSpPr>
          <p:cNvPr id="3" name="内容占位符 2"/>
          <p:cNvSpPr>
            <a:spLocks noGrp="1"/>
          </p:cNvSpPr>
          <p:nvPr>
            <p:ph idx="1"/>
          </p:nvPr>
        </p:nvSpPr>
        <p:spPr>
          <a:xfrm>
            <a:off x="457200" y="908720"/>
            <a:ext cx="8229600" cy="5688632"/>
          </a:xfrm>
        </p:spPr>
        <p:txBody>
          <a:bodyPr/>
          <a:lstStyle/>
          <a:p>
            <a:pPr lvl="0"/>
            <a:r>
              <a:rPr lang="zh-CN" altLang="en-US" sz="2800" dirty="0">
                <a:latin typeface="宋体"/>
                <a:ea typeface="宋体"/>
                <a:cs typeface="宋体"/>
              </a:rPr>
              <a:t>在互动理论看来，真正影响处罚轻重的，除了罪行、罪人以外，还有加害被害关系。</a:t>
            </a:r>
            <a:endParaRPr lang="en-US" altLang="zh-CN" sz="2800" dirty="0">
              <a:latin typeface="宋体"/>
              <a:ea typeface="宋体"/>
              <a:cs typeface="宋体"/>
            </a:endParaRPr>
          </a:p>
          <a:p>
            <a:pPr lvl="0"/>
            <a:r>
              <a:rPr lang="zh-CN" altLang="en-US" sz="3200" b="1" dirty="0">
                <a:latin typeface="宋体"/>
                <a:ea typeface="宋体"/>
                <a:cs typeface="宋体"/>
              </a:rPr>
              <a:t>但</a:t>
            </a:r>
            <a:r>
              <a:rPr lang="zh-CN" altLang="en-US" sz="2800" dirty="0">
                <a:latin typeface="宋体"/>
                <a:ea typeface="宋体"/>
                <a:cs typeface="宋体"/>
              </a:rPr>
              <a:t>要严格区分：“妓女”和“修女”的两个隐喻：分别象征</a:t>
            </a:r>
            <a:r>
              <a:rPr lang="zh-CN" altLang="en-US" sz="2800" b="1" dirty="0">
                <a:latin typeface="黑体"/>
                <a:ea typeface="黑体"/>
                <a:cs typeface="黑体"/>
              </a:rPr>
              <a:t>被害责任</a:t>
            </a:r>
            <a:r>
              <a:rPr lang="zh-CN" altLang="en-US" sz="2800" dirty="0">
                <a:latin typeface="宋体"/>
                <a:ea typeface="宋体"/>
                <a:cs typeface="宋体"/>
              </a:rPr>
              <a:t>的大小，以及，</a:t>
            </a:r>
            <a:r>
              <a:rPr lang="zh-CN" altLang="en-US" sz="2800" b="1" dirty="0">
                <a:latin typeface="黑体"/>
                <a:ea typeface="黑体"/>
                <a:cs typeface="黑体"/>
              </a:rPr>
              <a:t>社会地位</a:t>
            </a:r>
            <a:r>
              <a:rPr lang="zh-CN" altLang="en-US" sz="2800" dirty="0">
                <a:latin typeface="宋体"/>
                <a:ea typeface="宋体"/>
                <a:cs typeface="宋体"/>
              </a:rPr>
              <a:t>身份的高低。</a:t>
            </a:r>
            <a:endParaRPr lang="en-US" altLang="zh-CN" sz="2800" dirty="0">
              <a:latin typeface="宋体"/>
              <a:ea typeface="宋体"/>
              <a:cs typeface="宋体"/>
            </a:endParaRPr>
          </a:p>
          <a:p>
            <a:r>
              <a:rPr lang="zh-CN" altLang="en-US" sz="2800" dirty="0">
                <a:latin typeface="宋体"/>
                <a:ea typeface="宋体"/>
                <a:cs typeface="宋体"/>
              </a:rPr>
              <a:t>一方面，从被害责任的大小来看，</a:t>
            </a:r>
            <a:r>
              <a:rPr lang="zh-CN" altLang="zh-CN" sz="2800" dirty="0">
                <a:latin typeface="宋体"/>
                <a:ea typeface="宋体"/>
                <a:cs typeface="宋体"/>
              </a:rPr>
              <a:t>两个强奸既不仅仅是两个</a:t>
            </a:r>
            <a:r>
              <a:rPr lang="zh-CN" altLang="en-US" sz="2800" dirty="0">
                <a:latin typeface="宋体"/>
                <a:ea typeface="宋体"/>
                <a:cs typeface="宋体"/>
              </a:rPr>
              <a:t>暴力不同的</a:t>
            </a:r>
            <a:r>
              <a:rPr lang="zh-CN" altLang="zh-CN" sz="2800" dirty="0">
                <a:latin typeface="宋体"/>
                <a:ea typeface="宋体"/>
                <a:cs typeface="宋体"/>
              </a:rPr>
              <a:t>行为，也不仅仅是两个</a:t>
            </a:r>
            <a:r>
              <a:rPr lang="zh-CN" altLang="en-US" sz="2800" dirty="0">
                <a:latin typeface="宋体"/>
                <a:ea typeface="宋体"/>
                <a:cs typeface="宋体"/>
              </a:rPr>
              <a:t>人身危险性不同的</a:t>
            </a:r>
            <a:r>
              <a:rPr lang="zh-CN" altLang="zh-CN" sz="2800" dirty="0">
                <a:latin typeface="宋体"/>
                <a:ea typeface="宋体"/>
                <a:cs typeface="宋体"/>
              </a:rPr>
              <a:t>人，</a:t>
            </a:r>
            <a:r>
              <a:rPr lang="zh-CN" altLang="en-US" sz="2800" dirty="0">
                <a:latin typeface="宋体"/>
                <a:ea typeface="宋体"/>
                <a:cs typeface="宋体"/>
              </a:rPr>
              <a:t>更</a:t>
            </a:r>
            <a:r>
              <a:rPr lang="zh-CN" altLang="zh-CN" sz="2800" dirty="0">
                <a:latin typeface="宋体"/>
                <a:ea typeface="宋体"/>
                <a:cs typeface="宋体"/>
              </a:rPr>
              <a:t>是两个互动关系</a:t>
            </a:r>
            <a:r>
              <a:rPr lang="zh-CN" altLang="en-US" sz="2800" dirty="0">
                <a:latin typeface="宋体"/>
                <a:ea typeface="宋体"/>
                <a:cs typeface="宋体"/>
              </a:rPr>
              <a:t>。</a:t>
            </a:r>
            <a:endParaRPr lang="en-US" altLang="zh-CN" sz="2800" dirty="0">
              <a:latin typeface="宋体"/>
              <a:ea typeface="宋体"/>
              <a:cs typeface="宋体"/>
            </a:endParaRPr>
          </a:p>
          <a:p>
            <a:r>
              <a:rPr lang="zh-CN" altLang="en-US" sz="2800" dirty="0">
                <a:latin typeface="宋体"/>
                <a:ea typeface="宋体"/>
                <a:cs typeface="宋体"/>
                <a:sym typeface="Wingdings"/>
              </a:rPr>
              <a:t>（广义上的）</a:t>
            </a:r>
            <a:r>
              <a:rPr lang="zh-CN" altLang="en-US" sz="2800" dirty="0">
                <a:latin typeface="宋体"/>
                <a:ea typeface="宋体"/>
                <a:cs typeface="宋体"/>
              </a:rPr>
              <a:t>妓女责任较大。所以司法实践中会轻判被害责任较大的案件</a:t>
            </a:r>
            <a:r>
              <a:rPr lang="en-US" altLang="zh-CN" sz="2800" b="1" dirty="0">
                <a:latin typeface="宋体"/>
                <a:ea typeface="宋体"/>
                <a:cs typeface="宋体"/>
              </a:rPr>
              <a:t>——</a:t>
            </a:r>
            <a:r>
              <a:rPr lang="zh-CN" altLang="en-US" sz="2800" b="1" dirty="0">
                <a:latin typeface="宋体"/>
                <a:ea typeface="宋体"/>
                <a:cs typeface="宋体"/>
              </a:rPr>
              <a:t>轻判妓女被害案</a:t>
            </a:r>
            <a:r>
              <a:rPr lang="zh-CN" altLang="en-US" sz="2800" dirty="0">
                <a:latin typeface="宋体"/>
                <a:ea typeface="宋体"/>
                <a:cs typeface="宋体"/>
              </a:rPr>
              <a:t>。</a:t>
            </a:r>
            <a:endParaRPr lang="en-US" altLang="zh-CN" sz="2800" dirty="0">
              <a:latin typeface="宋体"/>
              <a:ea typeface="宋体"/>
              <a:cs typeface="宋体"/>
            </a:endParaRPr>
          </a:p>
          <a:p>
            <a:r>
              <a:rPr lang="zh-CN" altLang="en-US" sz="2800" dirty="0">
                <a:latin typeface="宋体"/>
                <a:ea typeface="宋体"/>
                <a:cs typeface="宋体"/>
              </a:rPr>
              <a:t>例：洗脚女刺死两个性侵官员（</a:t>
            </a:r>
            <a:r>
              <a:rPr lang="zh-CN" altLang="en-US" b="1" dirty="0">
                <a:latin typeface="宋体"/>
                <a:ea typeface="宋体"/>
                <a:cs typeface="宋体"/>
              </a:rPr>
              <a:t>被害官员责任较大</a:t>
            </a:r>
            <a:r>
              <a:rPr lang="zh-CN" altLang="en-US" sz="2800" dirty="0">
                <a:latin typeface="宋体"/>
                <a:ea typeface="宋体"/>
                <a:cs typeface="宋体"/>
              </a:rPr>
              <a:t>）。</a:t>
            </a:r>
          </a:p>
        </p:txBody>
      </p:sp>
    </p:spTree>
    <p:extLst>
      <p:ext uri="{BB962C8B-B14F-4D97-AF65-F5344CB8AC3E}">
        <p14:creationId xmlns:p14="http://schemas.microsoft.com/office/powerpoint/2010/main" val="28224105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600" dirty="0">
                <a:latin typeface="黑体"/>
                <a:ea typeface="黑体"/>
                <a:cs typeface="黑体"/>
              </a:rPr>
              <a:t>重新审视修女与妓女的命题 </a:t>
            </a:r>
            <a:endParaRPr kumimoji="1" lang="zh-CN" altLang="en-US" sz="3600" dirty="0">
              <a:latin typeface="黑体"/>
              <a:ea typeface="黑体"/>
              <a:cs typeface="黑体"/>
            </a:endParaRPr>
          </a:p>
        </p:txBody>
      </p:sp>
      <p:sp>
        <p:nvSpPr>
          <p:cNvPr id="3" name="内容占位符 2"/>
          <p:cNvSpPr>
            <a:spLocks noGrp="1"/>
          </p:cNvSpPr>
          <p:nvPr>
            <p:ph idx="1"/>
          </p:nvPr>
        </p:nvSpPr>
        <p:spPr>
          <a:xfrm>
            <a:off x="457200" y="1125538"/>
            <a:ext cx="8229600" cy="5471814"/>
          </a:xfrm>
        </p:spPr>
        <p:txBody>
          <a:bodyPr/>
          <a:lstStyle/>
          <a:p>
            <a:r>
              <a:rPr lang="zh-CN" altLang="en-US" sz="2800" dirty="0">
                <a:latin typeface="宋体"/>
                <a:ea typeface="宋体"/>
                <a:cs typeface="宋体"/>
              </a:rPr>
              <a:t>另一方面，从被害人的社会地位来看，两个强奸象征着社会分层上的差异。</a:t>
            </a:r>
            <a:endParaRPr kumimoji="1" lang="en-US" altLang="zh-CN" sz="2800" dirty="0">
              <a:latin typeface="宋体"/>
              <a:ea typeface="宋体"/>
              <a:cs typeface="宋体"/>
            </a:endParaRPr>
          </a:p>
          <a:p>
            <a:r>
              <a:rPr kumimoji="1" lang="zh-CN" altLang="en-US" sz="2800" dirty="0">
                <a:latin typeface="宋体"/>
                <a:ea typeface="宋体"/>
                <a:cs typeface="宋体"/>
              </a:rPr>
              <a:t>（广义上的）妓女处于社会底层，更容易获得社会同情</a:t>
            </a:r>
            <a:r>
              <a:rPr kumimoji="1" lang="en-US" altLang="zh-CN" sz="2800" dirty="0">
                <a:latin typeface="宋体"/>
                <a:ea typeface="宋体"/>
                <a:cs typeface="宋体"/>
              </a:rPr>
              <a:t>——</a:t>
            </a:r>
            <a:r>
              <a:rPr kumimoji="1" lang="zh-CN" altLang="en-US" sz="2800" b="1" dirty="0">
                <a:latin typeface="宋体"/>
                <a:ea typeface="宋体"/>
                <a:cs typeface="宋体"/>
              </a:rPr>
              <a:t>重判妓女被害案</a:t>
            </a:r>
            <a:r>
              <a:rPr kumimoji="1" lang="zh-CN" altLang="en-US" sz="2800" dirty="0">
                <a:latin typeface="宋体"/>
                <a:ea typeface="宋体"/>
                <a:cs typeface="宋体"/>
              </a:rPr>
              <a:t>。</a:t>
            </a:r>
            <a:endParaRPr kumimoji="1" lang="en-US" altLang="zh-CN" sz="2800" dirty="0">
              <a:latin typeface="宋体"/>
              <a:ea typeface="宋体"/>
              <a:cs typeface="宋体"/>
            </a:endParaRPr>
          </a:p>
          <a:p>
            <a:r>
              <a:rPr kumimoji="1" lang="zh-CN" altLang="en-US" sz="2800" dirty="0">
                <a:latin typeface="宋体"/>
                <a:ea typeface="宋体"/>
                <a:cs typeface="宋体"/>
              </a:rPr>
              <a:t>所以，案件中的被害人如果是典型的弱势群体，往往会满足社会需要，重判加害人。</a:t>
            </a:r>
            <a:endParaRPr kumimoji="1" lang="en-US" altLang="zh-CN" sz="2800" dirty="0">
              <a:latin typeface="宋体"/>
              <a:ea typeface="宋体"/>
              <a:cs typeface="宋体"/>
            </a:endParaRPr>
          </a:p>
          <a:p>
            <a:r>
              <a:rPr kumimoji="1" lang="zh-CN" altLang="en-US" sz="2800" dirty="0">
                <a:latin typeface="宋体"/>
                <a:ea typeface="宋体"/>
                <a:cs typeface="宋体"/>
              </a:rPr>
              <a:t>问题是，面对形式上相等的犯罪构成，但两种隐喻相交织，形成四种组合时，法官该怎么办？</a:t>
            </a:r>
            <a:endParaRPr kumimoji="1" lang="en-US" altLang="zh-CN" sz="2800" dirty="0">
              <a:latin typeface="宋体"/>
              <a:ea typeface="宋体"/>
              <a:cs typeface="宋体"/>
            </a:endParaRPr>
          </a:p>
          <a:p>
            <a:endParaRPr kumimoji="1" lang="en-US" altLang="zh-CN" sz="2800" dirty="0">
              <a:latin typeface="宋体"/>
              <a:ea typeface="宋体"/>
              <a:cs typeface="宋体"/>
            </a:endParaRPr>
          </a:p>
        </p:txBody>
      </p:sp>
    </p:spTree>
    <p:extLst>
      <p:ext uri="{BB962C8B-B14F-4D97-AF65-F5344CB8AC3E}">
        <p14:creationId xmlns:p14="http://schemas.microsoft.com/office/powerpoint/2010/main" val="446226804"/>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ltGray">
          <a:xfrm>
            <a:off x="5113338" y="4587875"/>
            <a:ext cx="2659062" cy="1555750"/>
          </a:xfrm>
          <a:prstGeom prst="rect">
            <a:avLst/>
          </a:prstGeom>
          <a:gradFill rotWithShape="1">
            <a:gsLst>
              <a:gs pos="0">
                <a:schemeClr val="accent2">
                  <a:gamma/>
                  <a:shade val="72549"/>
                  <a:invGamma/>
                </a:schemeClr>
              </a:gs>
              <a:gs pos="100000">
                <a:schemeClr val="accent2"/>
              </a:gs>
            </a:gsLst>
            <a:lin ang="0" scaled="1"/>
          </a:gradFill>
          <a:ln w="9525" algn="ctr">
            <a:noFill/>
            <a:miter lim="800000"/>
            <a:headEnd/>
            <a:tailEnd/>
          </a:ln>
          <a:effectLst/>
        </p:spPr>
        <p:txBody>
          <a:bodyPr wrap="none" anchor="ctr"/>
          <a:lstStyle/>
          <a:p>
            <a:pPr>
              <a:defRPr/>
            </a:pPr>
            <a:endParaRPr lang="zh-CN" altLang="en-US">
              <a:latin typeface="Arial" charset="0"/>
              <a:ea typeface="宋体" charset="-122"/>
            </a:endParaRPr>
          </a:p>
        </p:txBody>
      </p:sp>
      <p:sp>
        <p:nvSpPr>
          <p:cNvPr id="22531" name="Rectangle 3"/>
          <p:cNvSpPr>
            <a:spLocks noGrp="1" noChangeArrowheads="1"/>
          </p:cNvSpPr>
          <p:nvPr>
            <p:ph type="title"/>
          </p:nvPr>
        </p:nvSpPr>
        <p:spPr>
          <a:xfrm>
            <a:off x="1043608" y="332656"/>
            <a:ext cx="7170737" cy="492125"/>
          </a:xfrm>
        </p:spPr>
        <p:txBody>
          <a:bodyPr/>
          <a:lstStyle/>
          <a:p>
            <a:pPr eaLnBrk="1" hangingPunct="1"/>
            <a:r>
              <a:rPr lang="zh-CN" altLang="en-US" sz="5400" b="1" i="0" dirty="0">
                <a:ea typeface="宋体" pitchFamily="2" charset="-122"/>
              </a:rPr>
              <a:t>如果被害人：</a:t>
            </a:r>
            <a:endParaRPr lang="en-US" altLang="zh-CN" sz="5400" b="1" i="0" dirty="0">
              <a:ea typeface="宋体" pitchFamily="2" charset="-122"/>
            </a:endParaRPr>
          </a:p>
        </p:txBody>
      </p:sp>
      <p:sp>
        <p:nvSpPr>
          <p:cNvPr id="12292" name="AutoShape 4"/>
          <p:cNvSpPr>
            <a:spLocks noChangeArrowheads="1"/>
          </p:cNvSpPr>
          <p:nvPr/>
        </p:nvSpPr>
        <p:spPr bwMode="gray">
          <a:xfrm>
            <a:off x="2466975" y="1997075"/>
            <a:ext cx="2390775" cy="565150"/>
          </a:xfrm>
          <a:prstGeom prst="roundRect">
            <a:avLst>
              <a:gd name="adj" fmla="val 16667"/>
            </a:avLst>
          </a:prstGeom>
          <a:gradFill rotWithShape="1">
            <a:gsLst>
              <a:gs pos="0">
                <a:srgbClr val="DFDFDF"/>
              </a:gs>
              <a:gs pos="50000">
                <a:srgbClr val="DFDFDF">
                  <a:gamma/>
                  <a:tint val="24314"/>
                  <a:invGamma/>
                </a:srgbClr>
              </a:gs>
              <a:gs pos="100000">
                <a:srgbClr val="DFDFDF"/>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pPr>
              <a:defRPr/>
            </a:pPr>
            <a:endParaRPr lang="zh-CN" altLang="en-US">
              <a:latin typeface="Arial" charset="0"/>
              <a:ea typeface="宋体" charset="-122"/>
            </a:endParaRPr>
          </a:p>
        </p:txBody>
      </p:sp>
      <p:sp>
        <p:nvSpPr>
          <p:cNvPr id="12293" name="AutoShape 5"/>
          <p:cNvSpPr>
            <a:spLocks noChangeArrowheads="1"/>
          </p:cNvSpPr>
          <p:nvPr/>
        </p:nvSpPr>
        <p:spPr bwMode="gray">
          <a:xfrm>
            <a:off x="5257800" y="1997075"/>
            <a:ext cx="2390775" cy="565150"/>
          </a:xfrm>
          <a:prstGeom prst="roundRect">
            <a:avLst>
              <a:gd name="adj" fmla="val 16667"/>
            </a:avLst>
          </a:prstGeom>
          <a:gradFill rotWithShape="1">
            <a:gsLst>
              <a:gs pos="0">
                <a:srgbClr val="DFDFDF"/>
              </a:gs>
              <a:gs pos="50000">
                <a:srgbClr val="DFDFDF">
                  <a:gamma/>
                  <a:tint val="24314"/>
                  <a:invGamma/>
                </a:srgbClr>
              </a:gs>
              <a:gs pos="100000">
                <a:srgbClr val="DFDFDF"/>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pPr>
              <a:defRPr/>
            </a:pPr>
            <a:endParaRPr lang="zh-CN" altLang="en-US">
              <a:latin typeface="Arial" charset="0"/>
              <a:ea typeface="宋体" charset="-122"/>
            </a:endParaRPr>
          </a:p>
        </p:txBody>
      </p:sp>
      <p:sp>
        <p:nvSpPr>
          <p:cNvPr id="12294" name="Rectangle 6"/>
          <p:cNvSpPr>
            <a:spLocks noChangeArrowheads="1"/>
          </p:cNvSpPr>
          <p:nvPr/>
        </p:nvSpPr>
        <p:spPr bwMode="ltGray">
          <a:xfrm>
            <a:off x="2362200" y="4648200"/>
            <a:ext cx="2638425" cy="1555750"/>
          </a:xfrm>
          <a:prstGeom prst="rect">
            <a:avLst/>
          </a:prstGeom>
          <a:gradFill rotWithShape="1">
            <a:gsLst>
              <a:gs pos="0">
                <a:schemeClr val="accent2">
                  <a:gamma/>
                  <a:shade val="86275"/>
                  <a:invGamma/>
                </a:schemeClr>
              </a:gs>
              <a:gs pos="100000">
                <a:schemeClr val="accent2"/>
              </a:gs>
            </a:gsLst>
            <a:lin ang="0" scaled="1"/>
          </a:gradFill>
          <a:ln w="9525" algn="ctr">
            <a:noFill/>
            <a:miter lim="800000"/>
            <a:headEnd/>
            <a:tailEnd/>
          </a:ln>
          <a:effectLst/>
          <a:scene3d>
            <a:camera prst="legacyObliqueTopRight"/>
            <a:lightRig rig="legacyFlat3" dir="b"/>
          </a:scene3d>
          <a:sp3d extrusionH="430200" prstMaterial="legacyMatte">
            <a:bevelT w="13500" h="13500" prst="angle"/>
            <a:bevelB w="13500" h="13500" prst="angle"/>
            <a:extrusionClr>
              <a:schemeClr val="accent2"/>
            </a:extrusionClr>
          </a:sp3d>
        </p:spPr>
        <p:txBody>
          <a:bodyPr wrap="none" anchor="ctr">
            <a:flatTx/>
          </a:bodyPr>
          <a:lstStyle/>
          <a:p>
            <a:pPr>
              <a:defRPr/>
            </a:pPr>
            <a:endParaRPr lang="zh-CN" altLang="en-US">
              <a:latin typeface="Arial" charset="0"/>
              <a:ea typeface="宋体" charset="-122"/>
            </a:endParaRPr>
          </a:p>
        </p:txBody>
      </p:sp>
      <p:sp>
        <p:nvSpPr>
          <p:cNvPr id="9223" name="Text Box 7"/>
          <p:cNvSpPr txBox="1">
            <a:spLocks noChangeArrowheads="1"/>
          </p:cNvSpPr>
          <p:nvPr/>
        </p:nvSpPr>
        <p:spPr bwMode="white">
          <a:xfrm>
            <a:off x="2687638" y="5221288"/>
            <a:ext cx="1844675" cy="708025"/>
          </a:xfrm>
          <a:prstGeom prst="rect">
            <a:avLst/>
          </a:prstGeom>
          <a:noFill/>
          <a:ln w="9525" algn="ctr">
            <a:noFill/>
            <a:miter lim="800000"/>
            <a:headEnd/>
            <a:tailEnd/>
          </a:ln>
        </p:spPr>
        <p:txBody>
          <a:bodyPr>
            <a:spAutoFit/>
          </a:bodyPr>
          <a:lstStyle/>
          <a:p>
            <a:pPr algn="ctr">
              <a:spcBef>
                <a:spcPct val="50000"/>
              </a:spcBef>
            </a:pPr>
            <a:r>
              <a:rPr lang="en-US" altLang="zh-CN" sz="4000" dirty="0">
                <a:ea typeface="宋体" pitchFamily="2" charset="-122"/>
              </a:rPr>
              <a:t>……</a:t>
            </a:r>
          </a:p>
        </p:txBody>
      </p:sp>
      <p:grpSp>
        <p:nvGrpSpPr>
          <p:cNvPr id="2" name="Group 8"/>
          <p:cNvGrpSpPr>
            <a:grpSpLocks/>
          </p:cNvGrpSpPr>
          <p:nvPr/>
        </p:nvGrpSpPr>
        <p:grpSpPr bwMode="auto">
          <a:xfrm>
            <a:off x="460375" y="3019425"/>
            <a:ext cx="1827213" cy="1524000"/>
            <a:chOff x="4397" y="1430"/>
            <a:chExt cx="1005" cy="960"/>
          </a:xfrm>
        </p:grpSpPr>
        <p:sp>
          <p:nvSpPr>
            <p:cNvPr id="22550" name="AutoShape 9"/>
            <p:cNvSpPr>
              <a:spLocks noChangeArrowheads="1"/>
            </p:cNvSpPr>
            <p:nvPr/>
          </p:nvSpPr>
          <p:spPr bwMode="gray">
            <a:xfrm>
              <a:off x="4397" y="1430"/>
              <a:ext cx="1005" cy="960"/>
            </a:xfrm>
            <a:prstGeom prst="homePlate">
              <a:avLst>
                <a:gd name="adj" fmla="val 26172"/>
              </a:avLst>
            </a:prstGeom>
            <a:gradFill rotWithShape="1">
              <a:gsLst>
                <a:gs pos="0">
                  <a:srgbClr val="8D9498"/>
                </a:gs>
                <a:gs pos="50000">
                  <a:srgbClr val="D5E0E5"/>
                </a:gs>
                <a:gs pos="100000">
                  <a:srgbClr val="8D9498"/>
                </a:gs>
              </a:gsLst>
              <a:lin ang="5400000" scaled="1"/>
            </a:gradFill>
            <a:ln w="9525" algn="ctr">
              <a:solidFill>
                <a:srgbClr val="76858A"/>
              </a:solidFill>
              <a:miter lim="800000"/>
              <a:headEnd/>
              <a:tailEnd/>
            </a:ln>
          </p:spPr>
          <p:txBody>
            <a:bodyPr wrap="none" anchor="ctr"/>
            <a:lstStyle/>
            <a:p>
              <a:endParaRPr lang="zh-CN" altLang="en-US">
                <a:ea typeface="宋体" pitchFamily="2" charset="-122"/>
              </a:endParaRPr>
            </a:p>
          </p:txBody>
        </p:sp>
        <p:sp>
          <p:nvSpPr>
            <p:cNvPr id="22551" name="AutoShape 10"/>
            <p:cNvSpPr>
              <a:spLocks noChangeArrowheads="1"/>
            </p:cNvSpPr>
            <p:nvPr/>
          </p:nvSpPr>
          <p:spPr bwMode="gray">
            <a:xfrm>
              <a:off x="4407" y="1440"/>
              <a:ext cx="978" cy="934"/>
            </a:xfrm>
            <a:prstGeom prst="homePlate">
              <a:avLst>
                <a:gd name="adj" fmla="val 26178"/>
              </a:avLst>
            </a:prstGeom>
            <a:noFill/>
            <a:ln w="9525" algn="ctr">
              <a:solidFill>
                <a:srgbClr val="FFFFFF"/>
              </a:solidFill>
              <a:miter lim="800000"/>
              <a:headEnd/>
              <a:tailEnd/>
            </a:ln>
          </p:spPr>
          <p:txBody>
            <a:bodyPr wrap="none" anchor="ctr"/>
            <a:lstStyle/>
            <a:p>
              <a:endParaRPr lang="zh-CN" altLang="en-US">
                <a:ea typeface="宋体" pitchFamily="2" charset="-122"/>
              </a:endParaRPr>
            </a:p>
          </p:txBody>
        </p:sp>
      </p:grpSp>
      <p:grpSp>
        <p:nvGrpSpPr>
          <p:cNvPr id="3" name="Group 11"/>
          <p:cNvGrpSpPr>
            <a:grpSpLocks/>
          </p:cNvGrpSpPr>
          <p:nvPr/>
        </p:nvGrpSpPr>
        <p:grpSpPr bwMode="auto">
          <a:xfrm>
            <a:off x="460375" y="4719638"/>
            <a:ext cx="1827213" cy="1524000"/>
            <a:chOff x="4397" y="1430"/>
            <a:chExt cx="1005" cy="960"/>
          </a:xfrm>
        </p:grpSpPr>
        <p:sp>
          <p:nvSpPr>
            <p:cNvPr id="22548" name="AutoShape 12"/>
            <p:cNvSpPr>
              <a:spLocks noChangeArrowheads="1"/>
            </p:cNvSpPr>
            <p:nvPr/>
          </p:nvSpPr>
          <p:spPr bwMode="gray">
            <a:xfrm>
              <a:off x="4397" y="1430"/>
              <a:ext cx="1005" cy="960"/>
            </a:xfrm>
            <a:prstGeom prst="homePlate">
              <a:avLst>
                <a:gd name="adj" fmla="val 26172"/>
              </a:avLst>
            </a:prstGeom>
            <a:gradFill rotWithShape="1">
              <a:gsLst>
                <a:gs pos="0">
                  <a:srgbClr val="8D9498"/>
                </a:gs>
                <a:gs pos="50000">
                  <a:srgbClr val="D5E0E5"/>
                </a:gs>
                <a:gs pos="100000">
                  <a:srgbClr val="8D9498"/>
                </a:gs>
              </a:gsLst>
              <a:lin ang="5400000" scaled="1"/>
            </a:gradFill>
            <a:ln w="9525" algn="ctr">
              <a:solidFill>
                <a:srgbClr val="76858A"/>
              </a:solidFill>
              <a:miter lim="800000"/>
              <a:headEnd/>
              <a:tailEnd/>
            </a:ln>
          </p:spPr>
          <p:txBody>
            <a:bodyPr wrap="none" anchor="ctr"/>
            <a:lstStyle/>
            <a:p>
              <a:endParaRPr lang="zh-CN" altLang="en-US">
                <a:ea typeface="宋体" pitchFamily="2" charset="-122"/>
              </a:endParaRPr>
            </a:p>
          </p:txBody>
        </p:sp>
        <p:sp>
          <p:nvSpPr>
            <p:cNvPr id="22549" name="AutoShape 13"/>
            <p:cNvSpPr>
              <a:spLocks noChangeArrowheads="1"/>
            </p:cNvSpPr>
            <p:nvPr/>
          </p:nvSpPr>
          <p:spPr bwMode="gray">
            <a:xfrm>
              <a:off x="4407" y="1440"/>
              <a:ext cx="978" cy="934"/>
            </a:xfrm>
            <a:prstGeom prst="homePlate">
              <a:avLst>
                <a:gd name="adj" fmla="val 26178"/>
              </a:avLst>
            </a:prstGeom>
            <a:gradFill rotWithShape="1">
              <a:gsLst>
                <a:gs pos="0">
                  <a:srgbClr val="8D9498"/>
                </a:gs>
                <a:gs pos="50000">
                  <a:srgbClr val="D5E0E5"/>
                </a:gs>
                <a:gs pos="100000">
                  <a:srgbClr val="8D9498"/>
                </a:gs>
              </a:gsLst>
              <a:lin ang="5400000" scaled="1"/>
            </a:gradFill>
            <a:ln w="9525" algn="ctr">
              <a:solidFill>
                <a:srgbClr val="FFFFFF"/>
              </a:solidFill>
              <a:miter lim="800000"/>
              <a:headEnd/>
              <a:tailEnd/>
            </a:ln>
          </p:spPr>
          <p:txBody>
            <a:bodyPr wrap="none" anchor="ctr"/>
            <a:lstStyle/>
            <a:p>
              <a:endParaRPr lang="zh-CN" altLang="en-US">
                <a:ea typeface="宋体" pitchFamily="2" charset="-122"/>
              </a:endParaRPr>
            </a:p>
          </p:txBody>
        </p:sp>
      </p:grpSp>
      <p:sp>
        <p:nvSpPr>
          <p:cNvPr id="12302" name="Rectangle 14"/>
          <p:cNvSpPr>
            <a:spLocks noChangeArrowheads="1"/>
          </p:cNvSpPr>
          <p:nvPr/>
        </p:nvSpPr>
        <p:spPr bwMode="gray">
          <a:xfrm>
            <a:off x="381000" y="3567113"/>
            <a:ext cx="1836738" cy="523220"/>
          </a:xfrm>
          <a:prstGeom prst="rect">
            <a:avLst/>
          </a:prstGeom>
          <a:noFill/>
          <a:ln w="9525" algn="ctr">
            <a:noFill/>
            <a:miter lim="800000"/>
            <a:headEnd/>
            <a:tailEnd/>
          </a:ln>
          <a:effectLst>
            <a:outerShdw dist="17961" dir="2700000" algn="ctr" rotWithShape="0">
              <a:srgbClr val="FFFFFF">
                <a:alpha val="50000"/>
              </a:srgbClr>
            </a:outerShdw>
          </a:effectLst>
        </p:spPr>
        <p:txBody>
          <a:bodyPr>
            <a:spAutoFit/>
          </a:bodyPr>
          <a:lstStyle/>
          <a:p>
            <a:pPr algn="ctr" eaLnBrk="0" hangingPunct="0">
              <a:defRPr/>
            </a:pPr>
            <a:r>
              <a:rPr lang="zh-CN" altLang="en-US" sz="2800" dirty="0">
                <a:latin typeface="黑体" pitchFamily="49" charset="-122"/>
                <a:ea typeface="黑体" pitchFamily="49" charset="-122"/>
              </a:rPr>
              <a:t>有</a:t>
            </a:r>
            <a:r>
              <a:rPr lang="zh-CN" altLang="en-US" sz="2800" b="1" dirty="0">
                <a:latin typeface="黑体" pitchFamily="49" charset="-122"/>
                <a:ea typeface="黑体" pitchFamily="49" charset="-122"/>
              </a:rPr>
              <a:t>责</a:t>
            </a:r>
            <a:endParaRPr lang="en-US" altLang="zh-CN" sz="2800" b="1" dirty="0">
              <a:latin typeface="黑体" pitchFamily="49" charset="-122"/>
              <a:ea typeface="黑体" pitchFamily="49" charset="-122"/>
            </a:endParaRPr>
          </a:p>
        </p:txBody>
      </p:sp>
      <p:sp>
        <p:nvSpPr>
          <p:cNvPr id="12303" name="Rectangle 15"/>
          <p:cNvSpPr>
            <a:spLocks noChangeArrowheads="1"/>
          </p:cNvSpPr>
          <p:nvPr/>
        </p:nvSpPr>
        <p:spPr bwMode="gray">
          <a:xfrm>
            <a:off x="381000" y="5260975"/>
            <a:ext cx="1836738" cy="523220"/>
          </a:xfrm>
          <a:prstGeom prst="rect">
            <a:avLst/>
          </a:prstGeom>
          <a:noFill/>
          <a:ln w="9525" algn="ctr">
            <a:noFill/>
            <a:miter lim="800000"/>
            <a:headEnd/>
            <a:tailEnd/>
          </a:ln>
          <a:effectLst>
            <a:outerShdw dist="17961" dir="2700000" algn="ctr" rotWithShape="0">
              <a:srgbClr val="FFFFFF">
                <a:alpha val="50000"/>
              </a:srgbClr>
            </a:outerShdw>
          </a:effectLst>
        </p:spPr>
        <p:txBody>
          <a:bodyPr>
            <a:spAutoFit/>
          </a:bodyPr>
          <a:lstStyle/>
          <a:p>
            <a:pPr algn="ctr" eaLnBrk="0" hangingPunct="0">
              <a:defRPr/>
            </a:pPr>
            <a:r>
              <a:rPr lang="zh-CN" altLang="en-US" sz="2800" dirty="0">
                <a:latin typeface="黑体" pitchFamily="49" charset="-122"/>
                <a:ea typeface="黑体" pitchFamily="49" charset="-122"/>
              </a:rPr>
              <a:t>无责</a:t>
            </a:r>
            <a:endParaRPr lang="en-US" altLang="zh-CN" sz="2800" b="1" dirty="0">
              <a:latin typeface="黑体" pitchFamily="49" charset="-122"/>
              <a:ea typeface="黑体" pitchFamily="49" charset="-122"/>
            </a:endParaRPr>
          </a:p>
        </p:txBody>
      </p:sp>
      <p:sp>
        <p:nvSpPr>
          <p:cNvPr id="9228" name="Rectangle 16"/>
          <p:cNvSpPr>
            <a:spLocks noChangeArrowheads="1"/>
          </p:cNvSpPr>
          <p:nvPr/>
        </p:nvSpPr>
        <p:spPr bwMode="white">
          <a:xfrm>
            <a:off x="5257800" y="4892675"/>
            <a:ext cx="2362200" cy="646331"/>
          </a:xfrm>
          <a:prstGeom prst="rect">
            <a:avLst/>
          </a:prstGeom>
          <a:noFill/>
          <a:ln w="9525" algn="ctr">
            <a:noFill/>
            <a:miter lim="800000"/>
            <a:headEnd/>
            <a:tailEnd/>
          </a:ln>
        </p:spPr>
        <p:txBody>
          <a:bodyPr>
            <a:spAutoFit/>
          </a:bodyPr>
          <a:lstStyle/>
          <a:p>
            <a:pPr algn="ctr">
              <a:spcBef>
                <a:spcPct val="50000"/>
              </a:spcBef>
            </a:pPr>
            <a:r>
              <a:rPr lang="zh-CN" altLang="en-US" sz="3600" dirty="0">
                <a:ea typeface="宋体" pitchFamily="2" charset="-122"/>
              </a:rPr>
              <a:t>重判</a:t>
            </a:r>
            <a:r>
              <a:rPr lang="zh-Hans" altLang="en-US" sz="3600" dirty="0">
                <a:ea typeface="宋体" pitchFamily="2" charset="-122"/>
              </a:rPr>
              <a:t>加害</a:t>
            </a:r>
            <a:endParaRPr lang="en-US" altLang="zh-CN" sz="3600" dirty="0">
              <a:ea typeface="宋体" pitchFamily="2" charset="-122"/>
            </a:endParaRPr>
          </a:p>
        </p:txBody>
      </p:sp>
      <p:sp>
        <p:nvSpPr>
          <p:cNvPr id="12305" name="Rectangle 17"/>
          <p:cNvSpPr>
            <a:spLocks noChangeArrowheads="1"/>
          </p:cNvSpPr>
          <p:nvPr/>
        </p:nvSpPr>
        <p:spPr bwMode="gray">
          <a:xfrm>
            <a:off x="2554288" y="2065338"/>
            <a:ext cx="2246312" cy="523875"/>
          </a:xfrm>
          <a:prstGeom prst="rect">
            <a:avLst/>
          </a:prstGeom>
          <a:noFill/>
          <a:ln w="9525" algn="ctr">
            <a:noFill/>
            <a:miter lim="800000"/>
            <a:headEnd/>
            <a:tailEnd/>
          </a:ln>
          <a:effectLst>
            <a:outerShdw dist="17961" dir="2700000" algn="ctr" rotWithShape="0">
              <a:srgbClr val="FFFFFF">
                <a:alpha val="50000"/>
              </a:srgbClr>
            </a:outerShdw>
          </a:effectLst>
        </p:spPr>
        <p:txBody>
          <a:bodyPr>
            <a:spAutoFit/>
          </a:bodyPr>
          <a:lstStyle/>
          <a:p>
            <a:pPr algn="ctr" eaLnBrk="0" hangingPunct="0">
              <a:defRPr/>
            </a:pPr>
            <a:r>
              <a:rPr lang="zh-CN" altLang="en-US" sz="2800" b="1" dirty="0">
                <a:latin typeface="黑体" pitchFamily="49" charset="-122"/>
                <a:ea typeface="黑体" pitchFamily="49" charset="-122"/>
              </a:rPr>
              <a:t>优势</a:t>
            </a:r>
            <a:endParaRPr lang="en-US" altLang="zh-CN" sz="2800" b="1" dirty="0">
              <a:latin typeface="黑体" pitchFamily="49" charset="-122"/>
              <a:ea typeface="黑体" pitchFamily="49" charset="-122"/>
            </a:endParaRPr>
          </a:p>
        </p:txBody>
      </p:sp>
      <p:sp>
        <p:nvSpPr>
          <p:cNvPr id="12306" name="Rectangle 18"/>
          <p:cNvSpPr>
            <a:spLocks noChangeArrowheads="1"/>
          </p:cNvSpPr>
          <p:nvPr/>
        </p:nvSpPr>
        <p:spPr bwMode="gray">
          <a:xfrm>
            <a:off x="5348288" y="2065338"/>
            <a:ext cx="2246312" cy="523875"/>
          </a:xfrm>
          <a:prstGeom prst="rect">
            <a:avLst/>
          </a:prstGeom>
          <a:noFill/>
          <a:ln w="9525" algn="ctr">
            <a:noFill/>
            <a:miter lim="800000"/>
            <a:headEnd/>
            <a:tailEnd/>
          </a:ln>
          <a:effectLst>
            <a:outerShdw dist="17961" dir="2700000" algn="ctr" rotWithShape="0">
              <a:srgbClr val="FFFFFF">
                <a:alpha val="50000"/>
              </a:srgbClr>
            </a:outerShdw>
          </a:effectLst>
        </p:spPr>
        <p:txBody>
          <a:bodyPr>
            <a:spAutoFit/>
          </a:bodyPr>
          <a:lstStyle/>
          <a:p>
            <a:pPr algn="ctr" eaLnBrk="0" hangingPunct="0">
              <a:defRPr/>
            </a:pPr>
            <a:r>
              <a:rPr lang="zh-CN" altLang="en-US" sz="2800" b="1" dirty="0">
                <a:latin typeface="黑体" pitchFamily="49" charset="-122"/>
                <a:ea typeface="黑体" pitchFamily="49" charset="-122"/>
              </a:rPr>
              <a:t>劣势</a:t>
            </a:r>
            <a:endParaRPr lang="en-US" altLang="zh-CN" sz="2800" b="1" dirty="0">
              <a:latin typeface="黑体" pitchFamily="49" charset="-122"/>
              <a:ea typeface="黑体" pitchFamily="49" charset="-122"/>
            </a:endParaRPr>
          </a:p>
        </p:txBody>
      </p:sp>
      <p:sp>
        <p:nvSpPr>
          <p:cNvPr id="12308" name="Rectangle 20"/>
          <p:cNvSpPr>
            <a:spLocks noChangeArrowheads="1"/>
          </p:cNvSpPr>
          <p:nvPr/>
        </p:nvSpPr>
        <p:spPr bwMode="gray">
          <a:xfrm>
            <a:off x="5113338" y="2767013"/>
            <a:ext cx="2659062" cy="1555750"/>
          </a:xfrm>
          <a:prstGeom prst="rect">
            <a:avLst/>
          </a:prstGeom>
          <a:gradFill rotWithShape="1">
            <a:gsLst>
              <a:gs pos="0">
                <a:schemeClr val="accent1">
                  <a:gamma/>
                  <a:shade val="72549"/>
                  <a:invGamma/>
                </a:schemeClr>
              </a:gs>
              <a:gs pos="100000">
                <a:schemeClr val="accent1"/>
              </a:gs>
            </a:gsLst>
            <a:lin ang="0" scaled="1"/>
          </a:gradFill>
          <a:ln w="9525" algn="ctr">
            <a:noFill/>
            <a:miter lim="800000"/>
            <a:headEnd/>
            <a:tailEnd/>
          </a:ln>
          <a:effectLst/>
        </p:spPr>
        <p:txBody>
          <a:bodyPr wrap="none" anchor="ctr"/>
          <a:lstStyle/>
          <a:p>
            <a:pPr>
              <a:defRPr/>
            </a:pPr>
            <a:endParaRPr lang="zh-CN" altLang="en-US">
              <a:latin typeface="Arial" charset="0"/>
              <a:ea typeface="宋体" charset="-122"/>
            </a:endParaRPr>
          </a:p>
        </p:txBody>
      </p:sp>
      <p:sp>
        <p:nvSpPr>
          <p:cNvPr id="12309" name="Rectangle 21"/>
          <p:cNvSpPr>
            <a:spLocks noChangeArrowheads="1"/>
          </p:cNvSpPr>
          <p:nvPr/>
        </p:nvSpPr>
        <p:spPr bwMode="gray">
          <a:xfrm>
            <a:off x="2359025" y="2911475"/>
            <a:ext cx="2638425" cy="1555750"/>
          </a:xfrm>
          <a:prstGeom prst="rect">
            <a:avLst/>
          </a:prstGeom>
          <a:gradFill rotWithShape="1">
            <a:gsLst>
              <a:gs pos="0">
                <a:schemeClr val="accent1">
                  <a:gamma/>
                  <a:shade val="86275"/>
                  <a:invGamma/>
                </a:schemeClr>
              </a:gs>
              <a:gs pos="100000">
                <a:schemeClr val="accent1"/>
              </a:gs>
            </a:gsLst>
            <a:lin ang="0" scaled="1"/>
          </a:gradFill>
          <a:ln w="9525" algn="ctr">
            <a:noFill/>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defRPr/>
            </a:pPr>
            <a:endParaRPr lang="zh-CN" altLang="en-US">
              <a:latin typeface="Arial" charset="0"/>
              <a:ea typeface="宋体" charset="-122"/>
            </a:endParaRPr>
          </a:p>
        </p:txBody>
      </p:sp>
      <p:sp>
        <p:nvSpPr>
          <p:cNvPr id="9234" name="Text Box 22"/>
          <p:cNvSpPr txBox="1">
            <a:spLocks noChangeArrowheads="1"/>
          </p:cNvSpPr>
          <p:nvPr/>
        </p:nvSpPr>
        <p:spPr bwMode="white">
          <a:xfrm>
            <a:off x="2687638" y="3400425"/>
            <a:ext cx="2028378" cy="646331"/>
          </a:xfrm>
          <a:prstGeom prst="rect">
            <a:avLst/>
          </a:prstGeom>
          <a:noFill/>
          <a:ln w="9525" algn="ctr">
            <a:noFill/>
            <a:miter lim="800000"/>
            <a:headEnd/>
            <a:tailEnd/>
          </a:ln>
        </p:spPr>
        <p:txBody>
          <a:bodyPr wrap="square">
            <a:spAutoFit/>
          </a:bodyPr>
          <a:lstStyle/>
          <a:p>
            <a:pPr algn="ctr">
              <a:spcBef>
                <a:spcPct val="50000"/>
              </a:spcBef>
            </a:pPr>
            <a:r>
              <a:rPr lang="zh-CN" altLang="en-US" sz="3600" dirty="0">
                <a:ea typeface="宋体" pitchFamily="2" charset="-122"/>
              </a:rPr>
              <a:t>轻判</a:t>
            </a:r>
            <a:r>
              <a:rPr lang="zh-Hans" altLang="en-US" sz="3600" dirty="0">
                <a:ea typeface="宋体" pitchFamily="2" charset="-122"/>
              </a:rPr>
              <a:t>加害</a:t>
            </a:r>
            <a:endParaRPr lang="en-US" altLang="zh-CN" sz="3600" dirty="0">
              <a:ea typeface="宋体" pitchFamily="2" charset="-122"/>
            </a:endParaRPr>
          </a:p>
        </p:txBody>
      </p:sp>
      <p:sp>
        <p:nvSpPr>
          <p:cNvPr id="9235" name="Rectangle 23"/>
          <p:cNvSpPr>
            <a:spLocks noChangeArrowheads="1"/>
          </p:cNvSpPr>
          <p:nvPr/>
        </p:nvSpPr>
        <p:spPr bwMode="white">
          <a:xfrm>
            <a:off x="5257800" y="3071813"/>
            <a:ext cx="2362200" cy="708025"/>
          </a:xfrm>
          <a:prstGeom prst="rect">
            <a:avLst/>
          </a:prstGeom>
          <a:noFill/>
          <a:ln w="9525" algn="ctr">
            <a:noFill/>
            <a:miter lim="800000"/>
            <a:headEnd/>
            <a:tailEnd/>
          </a:ln>
        </p:spPr>
        <p:txBody>
          <a:bodyPr>
            <a:spAutoFit/>
          </a:bodyPr>
          <a:lstStyle/>
          <a:p>
            <a:pPr algn="ctr">
              <a:spcBef>
                <a:spcPct val="50000"/>
              </a:spcBef>
            </a:pPr>
            <a:r>
              <a:rPr lang="en-US" altLang="zh-CN" sz="4000" dirty="0">
                <a:ea typeface="宋体" pitchFamily="2" charset="-122"/>
              </a:rPr>
              <a:t>……</a:t>
            </a:r>
          </a:p>
        </p:txBody>
      </p:sp>
    </p:spTree>
    <p:extLst>
      <p:ext uri="{BB962C8B-B14F-4D97-AF65-F5344CB8AC3E}">
        <p14:creationId xmlns:p14="http://schemas.microsoft.com/office/powerpoint/2010/main" val="27776784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305"/>
                                        </p:tgtEl>
                                        <p:attrNameLst>
                                          <p:attrName>style.visibility</p:attrName>
                                        </p:attrNameLst>
                                      </p:cBhvr>
                                      <p:to>
                                        <p:strVal val="visible"/>
                                      </p:to>
                                    </p:set>
                                    <p:anim calcmode="lin" valueType="num">
                                      <p:cBhvr additive="base">
                                        <p:cTn id="7" dur="500" fill="hold"/>
                                        <p:tgtEl>
                                          <p:spTgt spid="12305"/>
                                        </p:tgtEl>
                                        <p:attrNameLst>
                                          <p:attrName>ppt_x</p:attrName>
                                        </p:attrNameLst>
                                      </p:cBhvr>
                                      <p:tavLst>
                                        <p:tav tm="0">
                                          <p:val>
                                            <p:strVal val="#ppt_x"/>
                                          </p:val>
                                        </p:tav>
                                        <p:tav tm="100000">
                                          <p:val>
                                            <p:strVal val="#ppt_x"/>
                                          </p:val>
                                        </p:tav>
                                      </p:tavLst>
                                    </p:anim>
                                    <p:anim calcmode="lin" valueType="num">
                                      <p:cBhvr additive="base">
                                        <p:cTn id="8" dur="500" fill="hold"/>
                                        <p:tgtEl>
                                          <p:spTgt spid="123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306"/>
                                        </p:tgtEl>
                                        <p:attrNameLst>
                                          <p:attrName>style.visibility</p:attrName>
                                        </p:attrNameLst>
                                      </p:cBhvr>
                                      <p:to>
                                        <p:strVal val="visible"/>
                                      </p:to>
                                    </p:set>
                                    <p:anim calcmode="lin" valueType="num">
                                      <p:cBhvr additive="base">
                                        <p:cTn id="13" dur="500" fill="hold"/>
                                        <p:tgtEl>
                                          <p:spTgt spid="12306"/>
                                        </p:tgtEl>
                                        <p:attrNameLst>
                                          <p:attrName>ppt_x</p:attrName>
                                        </p:attrNameLst>
                                      </p:cBhvr>
                                      <p:tavLst>
                                        <p:tav tm="0">
                                          <p:val>
                                            <p:strVal val="#ppt_x"/>
                                          </p:val>
                                        </p:tav>
                                        <p:tav tm="100000">
                                          <p:val>
                                            <p:strVal val="#ppt_x"/>
                                          </p:val>
                                        </p:tav>
                                      </p:tavLst>
                                    </p:anim>
                                    <p:anim calcmode="lin" valueType="num">
                                      <p:cBhvr additive="base">
                                        <p:cTn id="14" dur="500" fill="hold"/>
                                        <p:tgtEl>
                                          <p:spTgt spid="123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302"/>
                                        </p:tgtEl>
                                        <p:attrNameLst>
                                          <p:attrName>style.visibility</p:attrName>
                                        </p:attrNameLst>
                                      </p:cBhvr>
                                      <p:to>
                                        <p:strVal val="visible"/>
                                      </p:to>
                                    </p:set>
                                    <p:anim calcmode="lin" valueType="num">
                                      <p:cBhvr additive="base">
                                        <p:cTn id="19" dur="500" fill="hold"/>
                                        <p:tgtEl>
                                          <p:spTgt spid="12302"/>
                                        </p:tgtEl>
                                        <p:attrNameLst>
                                          <p:attrName>ppt_x</p:attrName>
                                        </p:attrNameLst>
                                      </p:cBhvr>
                                      <p:tavLst>
                                        <p:tav tm="0">
                                          <p:val>
                                            <p:strVal val="#ppt_x"/>
                                          </p:val>
                                        </p:tav>
                                        <p:tav tm="100000">
                                          <p:val>
                                            <p:strVal val="#ppt_x"/>
                                          </p:val>
                                        </p:tav>
                                      </p:tavLst>
                                    </p:anim>
                                    <p:anim calcmode="lin" valueType="num">
                                      <p:cBhvr additive="base">
                                        <p:cTn id="20" dur="500" fill="hold"/>
                                        <p:tgtEl>
                                          <p:spTgt spid="1230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303"/>
                                        </p:tgtEl>
                                        <p:attrNameLst>
                                          <p:attrName>style.visibility</p:attrName>
                                        </p:attrNameLst>
                                      </p:cBhvr>
                                      <p:to>
                                        <p:strVal val="visible"/>
                                      </p:to>
                                    </p:set>
                                    <p:anim calcmode="lin" valueType="num">
                                      <p:cBhvr additive="base">
                                        <p:cTn id="25" dur="500" fill="hold"/>
                                        <p:tgtEl>
                                          <p:spTgt spid="12303"/>
                                        </p:tgtEl>
                                        <p:attrNameLst>
                                          <p:attrName>ppt_x</p:attrName>
                                        </p:attrNameLst>
                                      </p:cBhvr>
                                      <p:tavLst>
                                        <p:tav tm="0">
                                          <p:val>
                                            <p:strVal val="#ppt_x"/>
                                          </p:val>
                                        </p:tav>
                                        <p:tav tm="100000">
                                          <p:val>
                                            <p:strVal val="#ppt_x"/>
                                          </p:val>
                                        </p:tav>
                                      </p:tavLst>
                                    </p:anim>
                                    <p:anim calcmode="lin" valueType="num">
                                      <p:cBhvr additive="base">
                                        <p:cTn id="26" dur="500" fill="hold"/>
                                        <p:tgtEl>
                                          <p:spTgt spid="1230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9234"/>
                                        </p:tgtEl>
                                        <p:attrNameLst>
                                          <p:attrName>style.visibility</p:attrName>
                                        </p:attrNameLst>
                                      </p:cBhvr>
                                      <p:to>
                                        <p:strVal val="visible"/>
                                      </p:to>
                                    </p:set>
                                    <p:animEffect transition="in" filter="blinds(horizontal)">
                                      <p:cBhvr>
                                        <p:cTn id="31" dur="500"/>
                                        <p:tgtEl>
                                          <p:spTgt spid="923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9223"/>
                                        </p:tgtEl>
                                        <p:attrNameLst>
                                          <p:attrName>style.visibility</p:attrName>
                                        </p:attrNameLst>
                                      </p:cBhvr>
                                      <p:to>
                                        <p:strVal val="visible"/>
                                      </p:to>
                                    </p:set>
                                    <p:animEffect transition="in" filter="box(in)">
                                      <p:cBhvr>
                                        <p:cTn id="36" dur="500"/>
                                        <p:tgtEl>
                                          <p:spTgt spid="9223"/>
                                        </p:tgtEl>
                                      </p:cBhvr>
                                    </p:animEffect>
                                  </p:childTnLst>
                                </p:cTn>
                              </p:par>
                            </p:childTnLst>
                          </p:cTn>
                        </p:par>
                      </p:childTnLst>
                    </p:cTn>
                  </p:par>
                  <p:par>
                    <p:cTn id="37" fill="hold">
                      <p:stCondLst>
                        <p:cond delay="indefinite"/>
                      </p:stCondLst>
                      <p:childTnLst>
                        <p:par>
                          <p:cTn id="38" fill="hold">
                            <p:stCondLst>
                              <p:cond delay="0"/>
                            </p:stCondLst>
                            <p:childTnLst>
                              <p:par>
                                <p:cTn id="39" presetID="8" presetClass="entr" presetSubtype="16" fill="hold" grpId="0" nodeType="clickEffect">
                                  <p:stCondLst>
                                    <p:cond delay="0"/>
                                  </p:stCondLst>
                                  <p:childTnLst>
                                    <p:set>
                                      <p:cBhvr>
                                        <p:cTn id="40" dur="1" fill="hold">
                                          <p:stCondLst>
                                            <p:cond delay="0"/>
                                          </p:stCondLst>
                                        </p:cTn>
                                        <p:tgtEl>
                                          <p:spTgt spid="9235"/>
                                        </p:tgtEl>
                                        <p:attrNameLst>
                                          <p:attrName>style.visibility</p:attrName>
                                        </p:attrNameLst>
                                      </p:cBhvr>
                                      <p:to>
                                        <p:strVal val="visible"/>
                                      </p:to>
                                    </p:set>
                                    <p:animEffect transition="in" filter="diamond(in)">
                                      <p:cBhvr>
                                        <p:cTn id="41" dur="2000"/>
                                        <p:tgtEl>
                                          <p:spTgt spid="9235"/>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9228"/>
                                        </p:tgtEl>
                                        <p:attrNameLst>
                                          <p:attrName>style.visibility</p:attrName>
                                        </p:attrNameLst>
                                      </p:cBhvr>
                                      <p:to>
                                        <p:strVal val="visible"/>
                                      </p:to>
                                    </p:set>
                                    <p:animEffect transition="in" filter="blinds(horizontal)">
                                      <p:cBhvr>
                                        <p:cTn id="46" dur="500"/>
                                        <p:tgtEl>
                                          <p:spTgt spid="9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p:bldP spid="12302" grpId="0"/>
      <p:bldP spid="12303" grpId="0"/>
      <p:bldP spid="9228" grpId="0"/>
      <p:bldP spid="12305" grpId="0"/>
      <p:bldP spid="12306" grpId="0"/>
      <p:bldP spid="9234" grpId="0"/>
      <p:bldP spid="923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600" dirty="0">
                <a:latin typeface="黑体"/>
                <a:ea typeface="黑体"/>
                <a:cs typeface="黑体"/>
              </a:rPr>
              <a:t>重新审视修女与妓女的命题 </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kumimoji="1" lang="zh-CN" altLang="en-US" sz="3200" dirty="0">
                <a:latin typeface="宋体"/>
                <a:ea typeface="宋体"/>
                <a:cs typeface="宋体"/>
              </a:rPr>
              <a:t>事实上，两者之间的许多，才是大概率事件。</a:t>
            </a:r>
            <a:endParaRPr kumimoji="1" lang="en-US" altLang="zh-CN" sz="3200" dirty="0">
              <a:latin typeface="宋体"/>
              <a:ea typeface="宋体"/>
              <a:cs typeface="宋体"/>
            </a:endParaRPr>
          </a:p>
          <a:p>
            <a:r>
              <a:rPr kumimoji="1" lang="zh-CN" altLang="en-US" sz="3200" dirty="0">
                <a:latin typeface="宋体"/>
                <a:ea typeface="宋体"/>
                <a:cs typeface="宋体"/>
              </a:rPr>
              <a:t>可见，法官不仅是法律家，更是社会实践家。</a:t>
            </a:r>
            <a:endParaRPr kumimoji="1" lang="en-US" altLang="zh-CN" sz="3200" dirty="0">
              <a:latin typeface="宋体"/>
              <a:ea typeface="宋体"/>
              <a:cs typeface="宋体"/>
            </a:endParaRPr>
          </a:p>
          <a:p>
            <a:r>
              <a:rPr kumimoji="1" lang="zh-CN" altLang="en-US" sz="3200" dirty="0">
                <a:latin typeface="宋体"/>
                <a:ea typeface="宋体"/>
                <a:cs typeface="宋体"/>
              </a:rPr>
              <a:t>也正因此，</a:t>
            </a:r>
            <a:r>
              <a:rPr kumimoji="1" lang="en-US" altLang="zh-CN" sz="3200" dirty="0">
                <a:latin typeface="宋体"/>
                <a:ea typeface="宋体"/>
                <a:cs typeface="宋体"/>
              </a:rPr>
              <a:t>《</a:t>
            </a:r>
            <a:r>
              <a:rPr kumimoji="1" lang="zh-CN" altLang="en-US" sz="3200" dirty="0">
                <a:latin typeface="宋体"/>
                <a:ea typeface="宋体"/>
                <a:cs typeface="宋体"/>
              </a:rPr>
              <a:t>犯罪通论</a:t>
            </a:r>
            <a:r>
              <a:rPr kumimoji="1" lang="en-US" altLang="zh-CN" sz="3200" dirty="0">
                <a:latin typeface="宋体"/>
                <a:ea typeface="宋体"/>
                <a:cs typeface="宋体"/>
              </a:rPr>
              <a:t>》</a:t>
            </a:r>
            <a:r>
              <a:rPr kumimoji="1" lang="zh-CN" altLang="en-US" sz="3200" dirty="0">
                <a:latin typeface="宋体"/>
                <a:ea typeface="宋体"/>
                <a:cs typeface="宋体"/>
              </a:rPr>
              <a:t>意在打通刑法与犯罪学。</a:t>
            </a:r>
            <a:endParaRPr kumimoji="1" lang="en-US" altLang="zh-CN" sz="3200" dirty="0">
              <a:latin typeface="宋体"/>
              <a:ea typeface="宋体"/>
              <a:cs typeface="宋体"/>
            </a:endParaRPr>
          </a:p>
          <a:p>
            <a:r>
              <a:rPr kumimoji="1" lang="zh-CN" altLang="en-US" sz="3200" dirty="0">
                <a:latin typeface="宋体"/>
                <a:ea typeface="宋体"/>
                <a:cs typeface="宋体"/>
              </a:rPr>
              <a:t>储槐植：刑事一体化。</a:t>
            </a:r>
          </a:p>
          <a:p>
            <a:endParaRPr kumimoji="1" lang="zh-CN" altLang="en-US" dirty="0"/>
          </a:p>
        </p:txBody>
      </p:sp>
    </p:spTree>
    <p:extLst>
      <p:ext uri="{BB962C8B-B14F-4D97-AF65-F5344CB8AC3E}">
        <p14:creationId xmlns:p14="http://schemas.microsoft.com/office/powerpoint/2010/main" val="203603238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b="1" dirty="0">
                <a:latin typeface="黑体"/>
                <a:ea typeface="黑体"/>
                <a:cs typeface="黑体"/>
              </a:rPr>
              <a:t>刑法的立场</a:t>
            </a:r>
          </a:p>
        </p:txBody>
      </p:sp>
      <p:sp>
        <p:nvSpPr>
          <p:cNvPr id="3" name="内容占位符 2"/>
          <p:cNvSpPr>
            <a:spLocks noGrp="1"/>
          </p:cNvSpPr>
          <p:nvPr>
            <p:ph idx="1"/>
          </p:nvPr>
        </p:nvSpPr>
        <p:spPr/>
        <p:txBody>
          <a:bodyPr/>
          <a:lstStyle/>
          <a:p>
            <a:r>
              <a:rPr lang="zh-CN" altLang="zh-CN" sz="3600" dirty="0">
                <a:latin typeface="华文琥珀"/>
                <a:ea typeface="华文琥珀"/>
                <a:cs typeface="华文琥珀"/>
              </a:rPr>
              <a:t>中立性：</a:t>
            </a:r>
            <a:r>
              <a:rPr lang="zh-CN" altLang="zh-CN" sz="2800" b="1" dirty="0">
                <a:latin typeface="宋体"/>
                <a:ea typeface="宋体"/>
                <a:cs typeface="宋体"/>
              </a:rPr>
              <a:t>刑法既不是仅仅站在被害人一边打击犯罪惩治犯罪人，也不是仅仅站在被告人一边禁止法官滥刑，而是在加害受到惩罚的同时，也使被害得到某种评价</a:t>
            </a:r>
            <a:r>
              <a:rPr lang="zh-CN" altLang="en-US" sz="2800" b="1" dirty="0">
                <a:latin typeface="宋体"/>
                <a:ea typeface="宋体"/>
                <a:cs typeface="宋体"/>
              </a:rPr>
              <a:t>。</a:t>
            </a:r>
            <a:endParaRPr lang="en-US" altLang="zh-CN" sz="2800" b="1" dirty="0">
              <a:latin typeface="宋体"/>
              <a:ea typeface="宋体"/>
              <a:cs typeface="宋体"/>
            </a:endParaRPr>
          </a:p>
          <a:p>
            <a:pPr lvl="0"/>
            <a:r>
              <a:rPr lang="zh-CN" altLang="zh-CN" sz="2800" b="1" dirty="0">
                <a:latin typeface="宋体"/>
                <a:ea typeface="宋体"/>
                <a:cs typeface="宋体"/>
              </a:rPr>
              <a:t>刑罚既是对加害的惩戒，同时又是对被害的评价；</a:t>
            </a:r>
            <a:r>
              <a:rPr lang="en-US" altLang="zh-CN" sz="2800" b="1" dirty="0">
                <a:latin typeface="宋体"/>
                <a:ea typeface="宋体"/>
                <a:cs typeface="宋体"/>
              </a:rPr>
              <a:t> </a:t>
            </a:r>
            <a:endParaRPr lang="zh-CN" altLang="zh-CN" sz="2800" b="1" dirty="0">
              <a:latin typeface="宋体"/>
              <a:ea typeface="宋体"/>
              <a:cs typeface="宋体"/>
            </a:endParaRPr>
          </a:p>
          <a:p>
            <a:pPr lvl="0"/>
            <a:r>
              <a:rPr lang="zh-CN" altLang="zh-CN" sz="2800" b="1" dirty="0">
                <a:latin typeface="宋体"/>
                <a:ea typeface="宋体"/>
                <a:cs typeface="宋体"/>
              </a:rPr>
              <a:t>刑法是平衡器</a:t>
            </a:r>
            <a:r>
              <a:rPr lang="en-US" altLang="zh-CN" sz="2800" b="1" dirty="0">
                <a:latin typeface="宋体"/>
                <a:ea typeface="宋体"/>
                <a:cs typeface="宋体"/>
              </a:rPr>
              <a:t>——</a:t>
            </a:r>
            <a:r>
              <a:rPr lang="en-US" altLang="zh-CN" sz="2800" dirty="0">
                <a:latin typeface="黑体"/>
                <a:ea typeface="黑体"/>
                <a:cs typeface="黑体"/>
              </a:rPr>
              <a:t>“</a:t>
            </a:r>
            <a:r>
              <a:rPr lang="zh-CN" altLang="en-US" sz="2800" dirty="0">
                <a:latin typeface="黑体"/>
                <a:ea typeface="黑体"/>
                <a:cs typeface="黑体"/>
              </a:rPr>
              <a:t>沙滩效应</a:t>
            </a:r>
            <a:r>
              <a:rPr lang="en-US" altLang="zh-CN" sz="2800" dirty="0">
                <a:latin typeface="黑体"/>
                <a:ea typeface="黑体"/>
                <a:cs typeface="黑体"/>
              </a:rPr>
              <a:t>”</a:t>
            </a:r>
            <a:endParaRPr lang="zh-CN" altLang="zh-CN" sz="2800" dirty="0">
              <a:latin typeface="黑体"/>
              <a:ea typeface="黑体"/>
              <a:cs typeface="黑体"/>
            </a:endParaRPr>
          </a:p>
          <a:p>
            <a:pPr lvl="0"/>
            <a:r>
              <a:rPr lang="zh-CN" altLang="zh-CN" sz="2800" b="1" dirty="0">
                <a:latin typeface="宋体"/>
                <a:ea typeface="宋体"/>
                <a:cs typeface="宋体"/>
              </a:rPr>
              <a:t>任何价值上的倾斜，都是非理性的表现。</a:t>
            </a:r>
            <a:endParaRPr lang="en-US" altLang="zh-CN" sz="2800" b="1" dirty="0">
              <a:latin typeface="宋体"/>
              <a:ea typeface="宋体"/>
              <a:cs typeface="宋体"/>
            </a:endParaRPr>
          </a:p>
          <a:p>
            <a:pPr lvl="0"/>
            <a:r>
              <a:rPr lang="zh-CN" altLang="zh-CN" sz="2800" b="1" dirty="0">
                <a:latin typeface="宋体"/>
                <a:ea typeface="宋体"/>
                <a:cs typeface="宋体"/>
              </a:rPr>
              <a:t>而刑法规范的理性化是社会理性化的基本标志——一个社会有多理性，要看其刑法规范有多理性。</a:t>
            </a:r>
          </a:p>
        </p:txBody>
      </p:sp>
    </p:spTree>
    <p:extLst>
      <p:ext uri="{BB962C8B-B14F-4D97-AF65-F5344CB8AC3E}">
        <p14:creationId xmlns:p14="http://schemas.microsoft.com/office/powerpoint/2010/main" val="185846685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b="1" dirty="0">
                <a:latin typeface="黑体"/>
                <a:ea typeface="黑体"/>
                <a:cs typeface="黑体"/>
              </a:rPr>
              <a:t>相对公正</a:t>
            </a:r>
          </a:p>
        </p:txBody>
      </p:sp>
      <p:sp>
        <p:nvSpPr>
          <p:cNvPr id="3" name="内容占位符 2"/>
          <p:cNvSpPr>
            <a:spLocks noGrp="1"/>
          </p:cNvSpPr>
          <p:nvPr>
            <p:ph idx="1"/>
          </p:nvPr>
        </p:nvSpPr>
        <p:spPr/>
        <p:txBody>
          <a:bodyPr/>
          <a:lstStyle/>
          <a:p>
            <a:r>
              <a:rPr kumimoji="1" lang="zh-CN" altLang="en-US" sz="2800" dirty="0">
                <a:latin typeface="宋体"/>
                <a:ea typeface="宋体"/>
                <a:cs typeface="宋体"/>
              </a:rPr>
              <a:t>既然犯罪在于互动，刑法应当中立，那么，公正也应该是相对的。</a:t>
            </a:r>
            <a:endParaRPr kumimoji="1" lang="en-US" altLang="zh-CN" sz="2800" dirty="0">
              <a:latin typeface="宋体"/>
              <a:ea typeface="宋体"/>
              <a:cs typeface="宋体"/>
            </a:endParaRPr>
          </a:p>
          <a:p>
            <a:r>
              <a:rPr kumimoji="1" lang="zh-CN" altLang="en-US" sz="3200" b="1" dirty="0">
                <a:latin typeface="黑体"/>
                <a:ea typeface="黑体"/>
                <a:cs typeface="黑体"/>
              </a:rPr>
              <a:t>首先，</a:t>
            </a:r>
            <a:r>
              <a:rPr kumimoji="1" lang="zh-CN" altLang="zh-CN" sz="2800" dirty="0">
                <a:latin typeface="宋体"/>
                <a:ea typeface="宋体"/>
                <a:cs typeface="宋体"/>
              </a:rPr>
              <a:t>要在加害人与被害人的相对关系中讨论公正问题，不能忽略被害人因素。</a:t>
            </a:r>
            <a:endParaRPr kumimoji="1" lang="en-US" altLang="zh-CN" sz="2800" dirty="0">
              <a:latin typeface="宋体"/>
              <a:ea typeface="宋体"/>
              <a:cs typeface="宋体"/>
            </a:endParaRPr>
          </a:p>
          <a:p>
            <a:r>
              <a:rPr kumimoji="1" lang="zh-CN" altLang="zh-CN" sz="2800" dirty="0">
                <a:latin typeface="宋体"/>
                <a:ea typeface="宋体"/>
                <a:cs typeface="宋体"/>
              </a:rPr>
              <a:t>如果案件的处理没有使被害人感到公正，就很难说实现了公正。</a:t>
            </a:r>
            <a:endParaRPr kumimoji="1" lang="en-US" altLang="zh-CN" sz="2800" dirty="0">
              <a:latin typeface="宋体"/>
              <a:ea typeface="宋体"/>
              <a:cs typeface="宋体"/>
            </a:endParaRPr>
          </a:p>
          <a:p>
            <a:r>
              <a:rPr kumimoji="1" lang="zh-CN" altLang="zh-CN" sz="2800" dirty="0">
                <a:latin typeface="宋体"/>
                <a:ea typeface="宋体"/>
                <a:cs typeface="宋体"/>
              </a:rPr>
              <a:t>公正与否的判断，离不开被害人的评价。</a:t>
            </a:r>
          </a:p>
          <a:p>
            <a:r>
              <a:rPr kumimoji="1" lang="zh-CN" altLang="en-US" sz="2800" dirty="0">
                <a:latin typeface="宋体"/>
                <a:ea typeface="宋体"/>
                <a:cs typeface="宋体"/>
              </a:rPr>
              <a:t>当然，被害人是否满意不能以公诉方是否抗诉为准。</a:t>
            </a:r>
            <a:endParaRPr kumimoji="1" lang="en-US" altLang="zh-CN" sz="2800" dirty="0">
              <a:latin typeface="宋体"/>
              <a:ea typeface="宋体"/>
              <a:cs typeface="宋体"/>
            </a:endParaRPr>
          </a:p>
          <a:p>
            <a:endParaRPr kumimoji="1" lang="zh-CN" altLang="en-US" sz="2800" dirty="0">
              <a:latin typeface="宋体"/>
              <a:ea typeface="宋体"/>
              <a:cs typeface="宋体"/>
            </a:endParaRPr>
          </a:p>
        </p:txBody>
      </p:sp>
    </p:spTree>
    <p:extLst>
      <p:ext uri="{BB962C8B-B14F-4D97-AF65-F5344CB8AC3E}">
        <p14:creationId xmlns:p14="http://schemas.microsoft.com/office/powerpoint/2010/main" val="2143083501"/>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b="1" dirty="0">
                <a:latin typeface="黑体"/>
                <a:ea typeface="黑体"/>
                <a:cs typeface="黑体"/>
              </a:rPr>
              <a:t>相对公正</a:t>
            </a:r>
          </a:p>
        </p:txBody>
      </p:sp>
      <p:sp>
        <p:nvSpPr>
          <p:cNvPr id="3" name="内容占位符 2"/>
          <p:cNvSpPr>
            <a:spLocks noGrp="1"/>
          </p:cNvSpPr>
          <p:nvPr>
            <p:ph idx="1"/>
          </p:nvPr>
        </p:nvSpPr>
        <p:spPr/>
        <p:txBody>
          <a:bodyPr/>
          <a:lstStyle/>
          <a:p>
            <a:r>
              <a:rPr lang="zh-CN" altLang="en-US" sz="3200" dirty="0">
                <a:latin typeface="黑体"/>
                <a:ea typeface="黑体"/>
                <a:cs typeface="黑体"/>
              </a:rPr>
              <a:t>第二，</a:t>
            </a:r>
            <a:r>
              <a:rPr lang="zh-CN" altLang="zh-CN" sz="2800" dirty="0">
                <a:latin typeface="宋体"/>
                <a:ea typeface="宋体"/>
                <a:cs typeface="宋体"/>
              </a:rPr>
              <a:t>公正与否也是</a:t>
            </a:r>
            <a:r>
              <a:rPr lang="zh-CN" altLang="zh-CN" sz="2800" b="1" dirty="0">
                <a:latin typeface="宋体"/>
                <a:ea typeface="宋体"/>
                <a:cs typeface="宋体"/>
              </a:rPr>
              <a:t>一种主观感受</a:t>
            </a:r>
            <a:r>
              <a:rPr lang="zh-CN" altLang="zh-CN" sz="2800" dirty="0">
                <a:latin typeface="宋体"/>
                <a:ea typeface="宋体"/>
                <a:cs typeface="宋体"/>
              </a:rPr>
              <a:t>，是相对于人们的主观感觉而言是否公正。</a:t>
            </a:r>
            <a:endParaRPr lang="en-US" altLang="zh-CN" sz="2800" dirty="0">
              <a:latin typeface="宋体"/>
              <a:ea typeface="宋体"/>
              <a:cs typeface="宋体"/>
            </a:endParaRPr>
          </a:p>
          <a:p>
            <a:r>
              <a:rPr lang="zh-CN" altLang="en-US" sz="2800" dirty="0">
                <a:latin typeface="宋体"/>
                <a:ea typeface="宋体"/>
                <a:cs typeface="宋体"/>
              </a:rPr>
              <a:t>公正与否是评价而非认知。</a:t>
            </a:r>
            <a:endParaRPr lang="en-US" altLang="zh-CN" sz="2800" dirty="0">
              <a:latin typeface="宋体"/>
              <a:ea typeface="宋体"/>
              <a:cs typeface="宋体"/>
            </a:endParaRPr>
          </a:p>
          <a:p>
            <a:r>
              <a:rPr lang="zh-CN" altLang="zh-CN" sz="2800" dirty="0">
                <a:latin typeface="宋体"/>
                <a:ea typeface="宋体"/>
                <a:cs typeface="宋体"/>
              </a:rPr>
              <a:t>如果某个制度或某个案件的处理结果，</a:t>
            </a:r>
            <a:r>
              <a:rPr lang="zh-CN" altLang="zh-CN" sz="2800" b="1" dirty="0">
                <a:latin typeface="宋体"/>
                <a:ea typeface="宋体"/>
                <a:cs typeface="宋体"/>
              </a:rPr>
              <a:t>独立于加害</a:t>
            </a:r>
            <a:r>
              <a:rPr lang="en-US" altLang="zh-CN" sz="2800" b="1" dirty="0">
                <a:latin typeface="宋体"/>
                <a:ea typeface="宋体"/>
                <a:cs typeface="宋体"/>
              </a:rPr>
              <a:t>-</a:t>
            </a:r>
            <a:r>
              <a:rPr lang="zh-CN" altLang="zh-CN" sz="2800" b="1" dirty="0">
                <a:latin typeface="宋体"/>
                <a:ea typeface="宋体"/>
                <a:cs typeface="宋体"/>
              </a:rPr>
              <a:t>被害双方的</a:t>
            </a:r>
            <a:r>
              <a:rPr lang="zh-CN" altLang="zh-CN" sz="2800" dirty="0">
                <a:latin typeface="宋体"/>
                <a:ea typeface="宋体"/>
                <a:cs typeface="宋体"/>
              </a:rPr>
              <a:t>社会公众都认为不公正，完全脱离公众所能理解的范围，就很难说它是公正的。</a:t>
            </a:r>
            <a:endParaRPr lang="en-US" altLang="zh-CN" sz="2800" dirty="0">
              <a:latin typeface="宋体"/>
              <a:ea typeface="宋体"/>
              <a:cs typeface="宋体"/>
            </a:endParaRPr>
          </a:p>
          <a:p>
            <a:r>
              <a:rPr lang="zh-CN" altLang="zh-CN" sz="2800" dirty="0">
                <a:latin typeface="宋体"/>
                <a:ea typeface="宋体"/>
                <a:cs typeface="宋体"/>
              </a:rPr>
              <a:t>需要说明，公众不等于网民，更何况，还有水军的存在</a:t>
            </a:r>
            <a:r>
              <a:rPr lang="zh-CN" altLang="en-US" sz="2800" dirty="0">
                <a:latin typeface="宋体"/>
                <a:ea typeface="宋体"/>
                <a:cs typeface="宋体"/>
              </a:rPr>
              <a:t>。</a:t>
            </a:r>
            <a:endParaRPr lang="en-US" altLang="zh-CN" sz="2800" dirty="0">
              <a:latin typeface="宋体"/>
              <a:ea typeface="宋体"/>
              <a:cs typeface="宋体"/>
            </a:endParaRPr>
          </a:p>
          <a:p>
            <a:endParaRPr lang="zh-CN" altLang="zh-CN" sz="2800" dirty="0">
              <a:latin typeface="宋体"/>
              <a:ea typeface="宋体"/>
              <a:cs typeface="宋体"/>
            </a:endParaRPr>
          </a:p>
          <a:p>
            <a:endParaRPr kumimoji="1" lang="zh-CN" altLang="en-US" sz="2800" dirty="0">
              <a:latin typeface="宋体"/>
              <a:ea typeface="宋体"/>
              <a:cs typeface="宋体"/>
            </a:endParaRPr>
          </a:p>
        </p:txBody>
      </p:sp>
    </p:spTree>
    <p:extLst>
      <p:ext uri="{BB962C8B-B14F-4D97-AF65-F5344CB8AC3E}">
        <p14:creationId xmlns:p14="http://schemas.microsoft.com/office/powerpoint/2010/main" val="295952343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b="1" dirty="0">
                <a:latin typeface="黑体"/>
                <a:ea typeface="黑体"/>
                <a:cs typeface="黑体"/>
              </a:rPr>
              <a:t>相对公正</a:t>
            </a:r>
          </a:p>
        </p:txBody>
      </p:sp>
      <p:sp>
        <p:nvSpPr>
          <p:cNvPr id="3" name="内容占位符 2"/>
          <p:cNvSpPr>
            <a:spLocks noGrp="1"/>
          </p:cNvSpPr>
          <p:nvPr>
            <p:ph idx="1"/>
          </p:nvPr>
        </p:nvSpPr>
        <p:spPr/>
        <p:txBody>
          <a:bodyPr/>
          <a:lstStyle/>
          <a:p>
            <a:r>
              <a:rPr lang="zh-CN" altLang="en-US" sz="3200" dirty="0">
                <a:latin typeface="黑体"/>
                <a:ea typeface="黑体"/>
                <a:cs typeface="黑体"/>
              </a:rPr>
              <a:t>第三，</a:t>
            </a:r>
            <a:r>
              <a:rPr lang="zh-CN" altLang="zh-CN" sz="2800" dirty="0">
                <a:latin typeface="宋体"/>
                <a:ea typeface="宋体"/>
                <a:cs typeface="宋体"/>
              </a:rPr>
              <a:t>要在特定历史、文化、社会背景中讨论公正问题，不能</a:t>
            </a:r>
            <a:r>
              <a:rPr lang="zh-CN" altLang="en-US" sz="2800" dirty="0">
                <a:latin typeface="宋体"/>
                <a:ea typeface="宋体"/>
                <a:cs typeface="宋体"/>
              </a:rPr>
              <a:t>超越时空</a:t>
            </a:r>
            <a:r>
              <a:rPr lang="zh-CN" altLang="zh-CN" sz="2800" dirty="0">
                <a:latin typeface="宋体"/>
                <a:ea typeface="宋体"/>
                <a:cs typeface="宋体"/>
              </a:rPr>
              <a:t>抽象地说公正与否。</a:t>
            </a:r>
            <a:endParaRPr lang="en-US" altLang="zh-CN" sz="2800" dirty="0">
              <a:latin typeface="宋体"/>
              <a:ea typeface="宋体"/>
              <a:cs typeface="宋体"/>
            </a:endParaRPr>
          </a:p>
          <a:p>
            <a:r>
              <a:rPr lang="zh-CN" altLang="zh-CN" sz="2800" dirty="0">
                <a:latin typeface="宋体"/>
                <a:ea typeface="宋体"/>
                <a:cs typeface="宋体"/>
              </a:rPr>
              <a:t>用刑法去评价“投机倒把”行为，在计划经济条件下就是公正的，而在市场经济下就是不公正的。</a:t>
            </a:r>
            <a:endParaRPr lang="en-US" altLang="zh-CN" sz="2800" dirty="0">
              <a:latin typeface="宋体"/>
              <a:ea typeface="宋体"/>
              <a:cs typeface="宋体"/>
            </a:endParaRPr>
          </a:p>
          <a:p>
            <a:r>
              <a:rPr lang="zh-CN" altLang="zh-CN" sz="2800" dirty="0">
                <a:latin typeface="宋体"/>
                <a:ea typeface="宋体"/>
                <a:cs typeface="宋体"/>
              </a:rPr>
              <a:t>死刑在有的历史条件下就是公正的，但对</a:t>
            </a:r>
            <a:r>
              <a:rPr lang="zh-CN" altLang="en-US" sz="2800" dirty="0">
                <a:latin typeface="宋体"/>
                <a:ea typeface="宋体"/>
                <a:cs typeface="宋体"/>
              </a:rPr>
              <a:t>“</a:t>
            </a:r>
            <a:r>
              <a:rPr lang="zh-CN" altLang="zh-CN" sz="2800" dirty="0">
                <a:latin typeface="宋体"/>
                <a:ea typeface="宋体"/>
                <a:cs typeface="宋体"/>
              </a:rPr>
              <a:t>人是目的还是手段</a:t>
            </a:r>
            <a:r>
              <a:rPr lang="zh-CN" altLang="en-US" sz="2800" dirty="0">
                <a:latin typeface="宋体"/>
                <a:ea typeface="宋体"/>
                <a:cs typeface="宋体"/>
              </a:rPr>
              <a:t>”</a:t>
            </a:r>
            <a:r>
              <a:rPr lang="zh-CN" altLang="zh-CN" sz="2800" dirty="0">
                <a:latin typeface="宋体"/>
                <a:ea typeface="宋体"/>
                <a:cs typeface="宋体"/>
              </a:rPr>
              <a:t>的设问而言，就是不公正的</a:t>
            </a:r>
            <a:endParaRPr lang="en-US" altLang="zh-CN" sz="2800" dirty="0">
              <a:latin typeface="宋体"/>
              <a:ea typeface="宋体"/>
              <a:cs typeface="宋体"/>
            </a:endParaRPr>
          </a:p>
          <a:p>
            <a:r>
              <a:rPr lang="zh-CN" altLang="zh-CN" sz="2800" dirty="0">
                <a:latin typeface="宋体"/>
                <a:ea typeface="宋体"/>
                <a:cs typeface="宋体"/>
              </a:rPr>
              <a:t>因此，不能把某个时空条件下的公正标准</a:t>
            </a:r>
            <a:r>
              <a:rPr lang="zh-CN" altLang="zh-CN" sz="2800" b="1" dirty="0">
                <a:latin typeface="宋体"/>
                <a:ea typeface="宋体"/>
                <a:cs typeface="宋体"/>
              </a:rPr>
              <a:t>直接搬到</a:t>
            </a:r>
            <a:r>
              <a:rPr lang="zh-CN" altLang="zh-CN" sz="2800" dirty="0">
                <a:latin typeface="宋体"/>
                <a:ea typeface="宋体"/>
                <a:cs typeface="宋体"/>
              </a:rPr>
              <a:t>另一个时空条件下，作为公正的判断标准。</a:t>
            </a:r>
          </a:p>
          <a:p>
            <a:endParaRPr lang="zh-CN" altLang="zh-CN" sz="2800" dirty="0">
              <a:latin typeface="宋体"/>
              <a:ea typeface="宋体"/>
              <a:cs typeface="宋体"/>
            </a:endParaRPr>
          </a:p>
          <a:p>
            <a:endParaRPr kumimoji="1" lang="zh-CN" altLang="en-US" sz="2800" dirty="0">
              <a:latin typeface="宋体"/>
              <a:ea typeface="宋体"/>
              <a:cs typeface="宋体"/>
            </a:endParaRPr>
          </a:p>
        </p:txBody>
      </p:sp>
    </p:spTree>
    <p:extLst>
      <p:ext uri="{BB962C8B-B14F-4D97-AF65-F5344CB8AC3E}">
        <p14:creationId xmlns:p14="http://schemas.microsoft.com/office/powerpoint/2010/main" val="615736076"/>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b="1" dirty="0">
                <a:latin typeface="黑体"/>
                <a:ea typeface="黑体"/>
                <a:cs typeface="黑体"/>
              </a:rPr>
              <a:t>相对公正</a:t>
            </a:r>
          </a:p>
        </p:txBody>
      </p:sp>
      <p:sp>
        <p:nvSpPr>
          <p:cNvPr id="3" name="内容占位符 2"/>
          <p:cNvSpPr>
            <a:spLocks noGrp="1"/>
          </p:cNvSpPr>
          <p:nvPr>
            <p:ph idx="1"/>
          </p:nvPr>
        </p:nvSpPr>
        <p:spPr/>
        <p:txBody>
          <a:bodyPr/>
          <a:lstStyle/>
          <a:p>
            <a:r>
              <a:rPr lang="zh-CN" altLang="zh-CN" sz="3200" b="1" dirty="0">
                <a:latin typeface="黑体"/>
                <a:ea typeface="黑体"/>
                <a:cs typeface="黑体"/>
              </a:rPr>
              <a:t>第四，</a:t>
            </a:r>
            <a:r>
              <a:rPr lang="zh-CN" altLang="zh-CN" sz="2800" dirty="0">
                <a:latin typeface="宋体"/>
                <a:ea typeface="宋体"/>
                <a:cs typeface="宋体"/>
              </a:rPr>
              <a:t>公正还是个定量的概念</a:t>
            </a:r>
            <a:endParaRPr lang="en-US" altLang="zh-CN" sz="2800" dirty="0">
              <a:latin typeface="宋体"/>
              <a:ea typeface="宋体"/>
              <a:cs typeface="宋体"/>
            </a:endParaRPr>
          </a:p>
          <a:p>
            <a:r>
              <a:rPr lang="zh-CN" altLang="en-US" sz="2800" dirty="0">
                <a:latin typeface="宋体"/>
                <a:ea typeface="宋体"/>
                <a:cs typeface="宋体"/>
              </a:rPr>
              <a:t>从极其不公正</a:t>
            </a:r>
            <a:r>
              <a:rPr lang="zh-CN" altLang="zh-CN" sz="2800" dirty="0">
                <a:latin typeface="宋体"/>
                <a:ea typeface="宋体"/>
                <a:cs typeface="宋体"/>
              </a:rPr>
              <a:t>，</a:t>
            </a:r>
            <a:r>
              <a:rPr lang="zh-CN" altLang="en-US" sz="2800" dirty="0">
                <a:latin typeface="宋体"/>
                <a:ea typeface="宋体"/>
                <a:cs typeface="宋体"/>
              </a:rPr>
              <a:t>到非常公正之间，有无限多个相对位置。</a:t>
            </a:r>
            <a:endParaRPr lang="en-US" altLang="zh-CN" sz="2800" dirty="0">
              <a:latin typeface="宋体"/>
              <a:ea typeface="宋体"/>
              <a:cs typeface="宋体"/>
            </a:endParaRPr>
          </a:p>
          <a:p>
            <a:r>
              <a:rPr lang="zh-CN" altLang="zh-CN" sz="2800" dirty="0">
                <a:latin typeface="宋体"/>
                <a:ea typeface="宋体"/>
                <a:cs typeface="宋体"/>
              </a:rPr>
              <a:t>既不能把所有犯有轻微盗窃罪的人都判处死刑，也不能把所有杀人的人都判处一块钱罚金。</a:t>
            </a:r>
            <a:endParaRPr lang="en-US" altLang="zh-CN" sz="2800" dirty="0">
              <a:latin typeface="宋体"/>
              <a:ea typeface="宋体"/>
              <a:cs typeface="宋体"/>
            </a:endParaRPr>
          </a:p>
          <a:p>
            <a:r>
              <a:rPr lang="zh-CN" altLang="en-US" sz="2800" dirty="0">
                <a:latin typeface="宋体"/>
                <a:ea typeface="宋体"/>
                <a:cs typeface="宋体"/>
              </a:rPr>
              <a:t>司法</a:t>
            </a:r>
            <a:r>
              <a:rPr lang="zh-CN" altLang="zh-CN" sz="2800" dirty="0">
                <a:latin typeface="宋体"/>
                <a:ea typeface="宋体"/>
                <a:cs typeface="宋体"/>
              </a:rPr>
              <a:t>实践中，无罪率只有百分之几，大多数都是定量问题。</a:t>
            </a:r>
            <a:endParaRPr lang="en-US" altLang="zh-CN" sz="2800" dirty="0">
              <a:latin typeface="宋体"/>
              <a:ea typeface="宋体"/>
              <a:cs typeface="宋体"/>
            </a:endParaRPr>
          </a:p>
          <a:p>
            <a:r>
              <a:rPr lang="zh-CN" altLang="en-US" sz="2800" dirty="0">
                <a:latin typeface="宋体"/>
                <a:ea typeface="宋体"/>
                <a:cs typeface="宋体"/>
              </a:rPr>
              <a:t>但长期以来的刑法教育缺乏定量的意识和制度。</a:t>
            </a:r>
            <a:endParaRPr lang="en-US" altLang="zh-CN" sz="2800" dirty="0">
              <a:latin typeface="宋体"/>
              <a:ea typeface="宋体"/>
              <a:cs typeface="宋体"/>
            </a:endParaRPr>
          </a:p>
          <a:p>
            <a:r>
              <a:rPr lang="zh-CN" altLang="en-US" sz="2800" dirty="0">
                <a:latin typeface="黑体"/>
                <a:ea typeface="黑体"/>
                <a:cs typeface="黑体"/>
              </a:rPr>
              <a:t>总之，相对公正其实就是关系公正。</a:t>
            </a:r>
            <a:endParaRPr lang="en-US" altLang="zh-CN" sz="2800" dirty="0">
              <a:latin typeface="黑体"/>
              <a:ea typeface="黑体"/>
              <a:cs typeface="黑体"/>
            </a:endParaRPr>
          </a:p>
          <a:p>
            <a:r>
              <a:rPr lang="zh-CN" altLang="zh-CN" sz="2800" dirty="0">
                <a:latin typeface="黑体"/>
                <a:ea typeface="黑体"/>
                <a:cs typeface="黑体"/>
              </a:rPr>
              <a:t>——</a:t>
            </a:r>
            <a:r>
              <a:rPr lang="zh-CN" altLang="en-US" sz="2800" dirty="0">
                <a:latin typeface="黑体"/>
                <a:ea typeface="黑体"/>
                <a:cs typeface="黑体"/>
              </a:rPr>
              <a:t>关系犯罪学的逻辑结果。</a:t>
            </a:r>
            <a:r>
              <a:rPr lang="zh-CN" altLang="zh-CN" sz="2800" dirty="0">
                <a:latin typeface="黑体"/>
                <a:ea typeface="黑体"/>
                <a:cs typeface="黑体"/>
              </a:rPr>
              <a:t> </a:t>
            </a:r>
            <a:endParaRPr kumimoji="1" lang="zh-CN" altLang="en-US" sz="2800" dirty="0">
              <a:latin typeface="黑体"/>
              <a:ea typeface="黑体"/>
              <a:cs typeface="黑体"/>
            </a:endParaRPr>
          </a:p>
          <a:p>
            <a:endParaRPr lang="zh-CN" altLang="zh-CN" sz="2800" dirty="0">
              <a:latin typeface="宋体"/>
              <a:ea typeface="宋体"/>
              <a:cs typeface="宋体"/>
            </a:endParaRPr>
          </a:p>
          <a:p>
            <a:endParaRPr kumimoji="1" lang="zh-CN" altLang="en-US" sz="2800" dirty="0">
              <a:latin typeface="宋体"/>
              <a:ea typeface="宋体"/>
              <a:cs typeface="宋体"/>
            </a:endParaRPr>
          </a:p>
        </p:txBody>
      </p:sp>
    </p:spTree>
    <p:extLst>
      <p:ext uri="{BB962C8B-B14F-4D97-AF65-F5344CB8AC3E}">
        <p14:creationId xmlns:p14="http://schemas.microsoft.com/office/powerpoint/2010/main" val="196620490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4000" b="1" dirty="0">
                <a:latin typeface="黑体"/>
                <a:ea typeface="黑体"/>
                <a:cs typeface="黑体"/>
              </a:rPr>
              <a:t>第十二讲  </a:t>
            </a:r>
            <a:r>
              <a:rPr lang="zh-CN" altLang="zh-CN" sz="4000" b="1" dirty="0">
                <a:latin typeface="黑体"/>
                <a:ea typeface="黑体"/>
                <a:cs typeface="黑体"/>
              </a:rPr>
              <a:t>用刑 </a:t>
            </a:r>
            <a:endParaRPr kumimoji="1" lang="zh-CN" altLang="en-US" sz="4000" b="1" dirty="0">
              <a:latin typeface="黑体"/>
              <a:ea typeface="黑体"/>
              <a:cs typeface="黑体"/>
            </a:endParaRPr>
          </a:p>
        </p:txBody>
      </p:sp>
      <p:sp>
        <p:nvSpPr>
          <p:cNvPr id="3" name="内容占位符 2"/>
          <p:cNvSpPr>
            <a:spLocks noGrp="1"/>
          </p:cNvSpPr>
          <p:nvPr>
            <p:ph idx="1"/>
          </p:nvPr>
        </p:nvSpPr>
        <p:spPr/>
        <p:txBody>
          <a:bodyPr/>
          <a:lstStyle/>
          <a:p>
            <a:r>
              <a:rPr lang="zh-CN" altLang="en-US" sz="2800" dirty="0">
                <a:latin typeface="宋体"/>
                <a:ea typeface="宋体"/>
                <a:cs typeface="宋体"/>
              </a:rPr>
              <a:t>既然公正是相对的，刑法适用也应在各种关系中实现社会公正。</a:t>
            </a:r>
            <a:endParaRPr lang="en-US" altLang="zh-CN" sz="2800" dirty="0">
              <a:latin typeface="宋体"/>
              <a:ea typeface="宋体"/>
              <a:cs typeface="宋体"/>
            </a:endParaRPr>
          </a:p>
          <a:p>
            <a:r>
              <a:rPr lang="zh-CN" altLang="zh-CN" sz="2800" dirty="0">
                <a:latin typeface="宋体"/>
                <a:ea typeface="宋体"/>
                <a:cs typeface="宋体"/>
              </a:rPr>
              <a:t>完成了动刑、除刑、量刑的考量以后，一个案件往往还不能最</a:t>
            </a:r>
            <a:r>
              <a:rPr lang="zh-CN" altLang="en-US" sz="2800" dirty="0">
                <a:latin typeface="宋体"/>
                <a:ea typeface="宋体"/>
                <a:cs typeface="宋体"/>
              </a:rPr>
              <a:t>终</a:t>
            </a:r>
            <a:r>
              <a:rPr lang="zh-CN" altLang="zh-CN" sz="2800" dirty="0">
                <a:latin typeface="宋体"/>
                <a:ea typeface="宋体"/>
                <a:cs typeface="宋体"/>
              </a:rPr>
              <a:t>确定刑事责任。还要考虑用刑问题。</a:t>
            </a:r>
            <a:endParaRPr lang="en-US" altLang="zh-CN" sz="2800" dirty="0">
              <a:latin typeface="宋体"/>
              <a:ea typeface="宋体"/>
              <a:cs typeface="宋体"/>
            </a:endParaRPr>
          </a:p>
          <a:p>
            <a:r>
              <a:rPr kumimoji="1" lang="zh-CN" altLang="en-US" sz="2800" dirty="0">
                <a:latin typeface="宋体"/>
                <a:ea typeface="宋体"/>
                <a:cs typeface="宋体"/>
              </a:rPr>
              <a:t>所谓用刑，就是指</a:t>
            </a:r>
            <a:r>
              <a:rPr kumimoji="1" lang="zh-CN" altLang="zh-CN" sz="2800" dirty="0">
                <a:latin typeface="宋体"/>
                <a:ea typeface="宋体"/>
                <a:cs typeface="宋体"/>
              </a:rPr>
              <a:t>协调</a:t>
            </a:r>
            <a:r>
              <a:rPr kumimoji="1" lang="zh-CN" altLang="en-US" sz="2800" dirty="0">
                <a:latin typeface="宋体"/>
                <a:ea typeface="宋体"/>
                <a:cs typeface="宋体"/>
              </a:rPr>
              <a:t>刑法</a:t>
            </a:r>
            <a:r>
              <a:rPr kumimoji="1" lang="zh-CN" altLang="zh-CN" sz="2800" dirty="0">
                <a:latin typeface="宋体"/>
                <a:ea typeface="宋体"/>
                <a:cs typeface="宋体"/>
              </a:rPr>
              <a:t>与其他社会控制力量共同作用</a:t>
            </a:r>
            <a:r>
              <a:rPr kumimoji="1" lang="zh-CN" altLang="en-US" sz="2800" dirty="0">
                <a:latin typeface="宋体"/>
                <a:ea typeface="宋体"/>
                <a:cs typeface="宋体"/>
              </a:rPr>
              <a:t>对付犯罪的过程</a:t>
            </a:r>
            <a:r>
              <a:rPr kumimoji="1" lang="zh-CN" altLang="zh-CN" sz="2800" dirty="0">
                <a:latin typeface="宋体"/>
                <a:ea typeface="宋体"/>
                <a:cs typeface="宋体"/>
              </a:rPr>
              <a:t>。</a:t>
            </a:r>
            <a:endParaRPr kumimoji="1" lang="en-US" altLang="zh-CN" sz="2800" dirty="0">
              <a:latin typeface="宋体"/>
              <a:ea typeface="宋体"/>
              <a:cs typeface="宋体"/>
            </a:endParaRPr>
          </a:p>
          <a:p>
            <a:r>
              <a:rPr kumimoji="1" lang="zh-CN" altLang="en-US" sz="2800" dirty="0">
                <a:latin typeface="宋体"/>
                <a:ea typeface="宋体"/>
                <a:cs typeface="宋体"/>
              </a:rPr>
              <a:t>意味着：案件处理不仅要看是否合法，以及是否符合犯罪的客观规律，还要受许多关系的制约。</a:t>
            </a:r>
            <a:endParaRPr kumimoji="1" lang="en-US" altLang="zh-CN" sz="2800" dirty="0">
              <a:latin typeface="宋体"/>
              <a:ea typeface="宋体"/>
              <a:cs typeface="宋体"/>
            </a:endParaRPr>
          </a:p>
          <a:p>
            <a:r>
              <a:rPr kumimoji="1" lang="zh-CN" altLang="en-US" sz="2800" dirty="0">
                <a:latin typeface="宋体"/>
                <a:ea typeface="宋体"/>
                <a:cs typeface="宋体"/>
              </a:rPr>
              <a:t>尽可能平衡各种关系，才能真正实现刑事正义。</a:t>
            </a:r>
          </a:p>
        </p:txBody>
      </p:sp>
    </p:spTree>
    <p:extLst>
      <p:ext uri="{BB962C8B-B14F-4D97-AF65-F5344CB8AC3E}">
        <p14:creationId xmlns:p14="http://schemas.microsoft.com/office/powerpoint/2010/main" val="384192381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用刑并不全是法律问题</a:t>
            </a:r>
          </a:p>
        </p:txBody>
      </p:sp>
      <p:sp>
        <p:nvSpPr>
          <p:cNvPr id="3" name="内容占位符 2"/>
          <p:cNvSpPr>
            <a:spLocks noGrp="1"/>
          </p:cNvSpPr>
          <p:nvPr>
            <p:ph idx="1"/>
          </p:nvPr>
        </p:nvSpPr>
        <p:spPr/>
        <p:txBody>
          <a:bodyPr/>
          <a:lstStyle/>
          <a:p>
            <a:r>
              <a:rPr lang="zh-CN" altLang="zh-CN" sz="2800" dirty="0">
                <a:latin typeface="宋体"/>
                <a:ea typeface="宋体"/>
                <a:cs typeface="宋体"/>
              </a:rPr>
              <a:t>全部无罪样本中，有</a:t>
            </a:r>
            <a:r>
              <a:rPr lang="en-US" altLang="zh-CN" sz="2800" dirty="0">
                <a:latin typeface="宋体"/>
                <a:ea typeface="宋体"/>
                <a:cs typeface="宋体"/>
              </a:rPr>
              <a:t>365</a:t>
            </a:r>
            <a:r>
              <a:rPr lang="zh-CN" altLang="zh-CN" sz="2800" dirty="0">
                <a:latin typeface="宋体"/>
                <a:ea typeface="宋体"/>
                <a:cs typeface="宋体"/>
              </a:rPr>
              <a:t>个样本中有职业律师为被告提供辩护，占无罪案件的</a:t>
            </a:r>
            <a:r>
              <a:rPr lang="en-US" altLang="zh-CN" sz="2800" dirty="0">
                <a:latin typeface="宋体"/>
                <a:ea typeface="宋体"/>
                <a:cs typeface="宋体"/>
              </a:rPr>
              <a:t>62.3%</a:t>
            </a:r>
            <a:r>
              <a:rPr lang="zh-CN" altLang="zh-CN" sz="2800" dirty="0">
                <a:latin typeface="宋体"/>
                <a:ea typeface="宋体"/>
                <a:cs typeface="宋体"/>
              </a:rPr>
              <a:t>。相比而言，在有罪样本中，只有</a:t>
            </a:r>
            <a:r>
              <a:rPr lang="en-US" altLang="zh-CN" sz="2800" dirty="0">
                <a:latin typeface="宋体"/>
                <a:ea typeface="宋体"/>
                <a:cs typeface="宋体"/>
              </a:rPr>
              <a:t>26.8%</a:t>
            </a:r>
            <a:r>
              <a:rPr lang="zh-CN" altLang="zh-CN" sz="2800" dirty="0">
                <a:latin typeface="宋体"/>
                <a:ea typeface="宋体"/>
                <a:cs typeface="宋体"/>
              </a:rPr>
              <a:t>的样本中可见职业律师的身影。</a:t>
            </a:r>
            <a:endParaRPr lang="en-US" altLang="zh-CN" sz="2800" dirty="0">
              <a:latin typeface="宋体"/>
              <a:ea typeface="宋体"/>
              <a:cs typeface="宋体"/>
            </a:endParaRPr>
          </a:p>
          <a:p>
            <a:r>
              <a:rPr lang="zh-CN" altLang="zh-CN" sz="2800" dirty="0">
                <a:latin typeface="宋体"/>
                <a:ea typeface="宋体"/>
                <a:cs typeface="宋体"/>
              </a:rPr>
              <a:t>律师参与的无罪案件中，大约</a:t>
            </a:r>
            <a:r>
              <a:rPr lang="en-US" altLang="zh-CN" sz="2800" dirty="0">
                <a:latin typeface="宋体"/>
                <a:ea typeface="宋体"/>
                <a:cs typeface="宋体"/>
              </a:rPr>
              <a:t>90%</a:t>
            </a:r>
            <a:r>
              <a:rPr lang="zh-CN" altLang="zh-CN" sz="2800" dirty="0">
                <a:latin typeface="宋体"/>
                <a:ea typeface="宋体"/>
                <a:cs typeface="宋体"/>
              </a:rPr>
              <a:t>的案件都是被告委托律师，指定辩护只占极小部分。</a:t>
            </a:r>
          </a:p>
          <a:p>
            <a:r>
              <a:rPr lang="zh-CN" altLang="zh-CN" sz="2800" dirty="0">
                <a:latin typeface="宋体"/>
                <a:ea typeface="宋体"/>
                <a:cs typeface="宋体"/>
              </a:rPr>
              <a:t>所有案件的委托辩护与自行辩护的比例分别为</a:t>
            </a:r>
            <a:r>
              <a:rPr lang="en-US" altLang="zh-CN" sz="2800" dirty="0">
                <a:latin typeface="宋体"/>
                <a:ea typeface="宋体"/>
                <a:cs typeface="宋体"/>
              </a:rPr>
              <a:t>24%</a:t>
            </a:r>
            <a:r>
              <a:rPr lang="zh-CN" altLang="zh-CN" sz="2800" dirty="0">
                <a:latin typeface="宋体"/>
                <a:ea typeface="宋体"/>
                <a:cs typeface="宋体"/>
              </a:rPr>
              <a:t>和</a:t>
            </a:r>
            <a:r>
              <a:rPr lang="en-US" altLang="zh-CN" sz="2800" dirty="0">
                <a:latin typeface="宋体"/>
                <a:ea typeface="宋体"/>
                <a:cs typeface="宋体"/>
              </a:rPr>
              <a:t>73%</a:t>
            </a:r>
            <a:r>
              <a:rPr lang="zh-CN" altLang="zh-CN" sz="2800" dirty="0">
                <a:latin typeface="宋体"/>
                <a:ea typeface="宋体"/>
                <a:cs typeface="宋体"/>
              </a:rPr>
              <a:t>，但在无罪样本库中，委托辩护与自行辩护的比例则调过来，为</a:t>
            </a:r>
            <a:r>
              <a:rPr lang="en-US" altLang="zh-CN" sz="2800" dirty="0">
                <a:latin typeface="宋体"/>
                <a:ea typeface="宋体"/>
                <a:cs typeface="宋体"/>
              </a:rPr>
              <a:t>59.7%</a:t>
            </a:r>
            <a:r>
              <a:rPr lang="zh-CN" altLang="zh-CN" sz="2800" dirty="0">
                <a:latin typeface="宋体"/>
                <a:ea typeface="宋体"/>
                <a:cs typeface="宋体"/>
              </a:rPr>
              <a:t>和</a:t>
            </a:r>
            <a:r>
              <a:rPr lang="en-US" altLang="zh-CN" sz="2800" dirty="0">
                <a:latin typeface="宋体"/>
                <a:ea typeface="宋体"/>
                <a:cs typeface="宋体"/>
              </a:rPr>
              <a:t>37.7%</a:t>
            </a:r>
            <a:r>
              <a:rPr lang="zh-CN" altLang="zh-CN" sz="2800" dirty="0">
                <a:latin typeface="宋体"/>
                <a:ea typeface="宋体"/>
                <a:cs typeface="宋体"/>
              </a:rPr>
              <a:t>。 </a:t>
            </a:r>
            <a:endParaRPr lang="en-US" altLang="zh-CN" sz="2800" dirty="0">
              <a:latin typeface="宋体"/>
              <a:ea typeface="宋体"/>
              <a:cs typeface="宋体"/>
            </a:endParaRPr>
          </a:p>
          <a:p>
            <a:r>
              <a:rPr lang="zh-CN" altLang="zh-CN" sz="2800" dirty="0">
                <a:latin typeface="宋体"/>
                <a:ea typeface="宋体"/>
                <a:cs typeface="宋体"/>
              </a:rPr>
              <a:t>雇不到好的律师，就可能提不出有质量的法律问题，结果，无罪判决出现的机会就随之降低。 </a:t>
            </a:r>
            <a:endParaRPr lang="zh-CN" altLang="en-US" sz="2800" dirty="0">
              <a:latin typeface="宋体"/>
              <a:ea typeface="宋体"/>
              <a:cs typeface="宋体"/>
            </a:endParaRPr>
          </a:p>
        </p:txBody>
      </p:sp>
    </p:spTree>
    <p:extLst>
      <p:ext uri="{BB962C8B-B14F-4D97-AF65-F5344CB8AC3E}">
        <p14:creationId xmlns:p14="http://schemas.microsoft.com/office/powerpoint/2010/main" val="2118024141"/>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899592" y="332656"/>
            <a:ext cx="7170737" cy="697582"/>
          </a:xfrm>
        </p:spPr>
        <p:txBody>
          <a:bodyPr/>
          <a:lstStyle/>
          <a:p>
            <a:pPr algn="ctr"/>
            <a:r>
              <a:rPr lang="zh-CN" altLang="en-US" sz="4000" dirty="0">
                <a:latin typeface="Arial" charset="0"/>
                <a:ea typeface="华文隶书" charset="0"/>
                <a:cs typeface="华文隶书" charset="0"/>
              </a:rPr>
              <a:t>死刑怎么用？</a:t>
            </a:r>
          </a:p>
        </p:txBody>
      </p:sp>
      <p:sp>
        <p:nvSpPr>
          <p:cNvPr id="37891" name="Rectangle 3"/>
          <p:cNvSpPr>
            <a:spLocks noGrp="1" noChangeArrowheads="1"/>
          </p:cNvSpPr>
          <p:nvPr>
            <p:ph type="body" idx="1"/>
          </p:nvPr>
        </p:nvSpPr>
        <p:spPr>
          <a:xfrm>
            <a:off x="457200" y="1556792"/>
            <a:ext cx="8229600" cy="4569371"/>
          </a:xfrm>
        </p:spPr>
        <p:txBody>
          <a:bodyPr/>
          <a:lstStyle/>
          <a:p>
            <a:r>
              <a:rPr lang="zh-CN" altLang="en-US" sz="3200" dirty="0">
                <a:latin typeface="宋体"/>
                <a:ea typeface="宋体"/>
                <a:cs typeface="宋体"/>
              </a:rPr>
              <a:t>刑法第四十八条：“</a:t>
            </a:r>
            <a:r>
              <a:rPr lang="zh-CN" altLang="zh-CN" sz="3200" dirty="0">
                <a:latin typeface="宋体"/>
                <a:ea typeface="宋体"/>
                <a:cs typeface="宋体"/>
              </a:rPr>
              <a:t>死刑只适用于罪行极其严重的犯罪分子。对于应当判处死刑的犯罪分子，如果不是必须立即执行的，可以判处死刑同时宣告缓期二年执行。 </a:t>
            </a:r>
            <a:r>
              <a:rPr lang="zh-CN" altLang="en-US" sz="3200" dirty="0">
                <a:latin typeface="宋体"/>
                <a:ea typeface="宋体"/>
                <a:cs typeface="宋体"/>
              </a:rPr>
              <a:t>”</a:t>
            </a:r>
            <a:endParaRPr lang="en-US" altLang="zh-CN" sz="3200" dirty="0">
              <a:latin typeface="宋体"/>
              <a:ea typeface="宋体"/>
              <a:cs typeface="宋体"/>
            </a:endParaRPr>
          </a:p>
          <a:p>
            <a:r>
              <a:rPr lang="zh-CN" altLang="en-US" sz="3200" dirty="0">
                <a:latin typeface="宋体"/>
                <a:ea typeface="宋体"/>
                <a:cs typeface="宋体"/>
              </a:rPr>
              <a:t>死与不死的界限</a:t>
            </a:r>
            <a:r>
              <a:rPr lang="en-US" altLang="zh-CN" sz="3200" dirty="0">
                <a:latin typeface="宋体"/>
                <a:ea typeface="宋体"/>
                <a:cs typeface="宋体"/>
              </a:rPr>
              <a:t>——</a:t>
            </a:r>
            <a:r>
              <a:rPr lang="zh-CN" altLang="en-US" sz="3200" dirty="0">
                <a:latin typeface="宋体"/>
                <a:ea typeface="宋体"/>
                <a:cs typeface="宋体"/>
              </a:rPr>
              <a:t>是否“罪行极其严重”</a:t>
            </a:r>
          </a:p>
          <a:p>
            <a:r>
              <a:rPr lang="zh-CN" altLang="en-US" sz="3200" dirty="0">
                <a:latin typeface="宋体"/>
                <a:ea typeface="宋体"/>
                <a:cs typeface="宋体"/>
              </a:rPr>
              <a:t>缓与不缓的界限</a:t>
            </a:r>
            <a:r>
              <a:rPr lang="en-US" altLang="zh-CN" sz="3200" dirty="0">
                <a:latin typeface="宋体"/>
                <a:ea typeface="宋体"/>
                <a:cs typeface="宋体"/>
              </a:rPr>
              <a:t>——</a:t>
            </a:r>
            <a:r>
              <a:rPr lang="zh-CN" altLang="en-US" sz="3200" dirty="0">
                <a:latin typeface="宋体"/>
                <a:ea typeface="宋体"/>
                <a:cs typeface="宋体"/>
              </a:rPr>
              <a:t>是否“必须立即执行”</a:t>
            </a:r>
          </a:p>
          <a:p>
            <a:r>
              <a:rPr lang="zh-CN" altLang="en-US" sz="3200" dirty="0">
                <a:latin typeface="宋体"/>
                <a:ea typeface="宋体"/>
                <a:cs typeface="宋体"/>
              </a:rPr>
              <a:t>但是，是否去死，是否立即去死，其实并不明确。 </a:t>
            </a:r>
          </a:p>
        </p:txBody>
      </p:sp>
    </p:spTree>
    <p:extLst>
      <p:ext uri="{BB962C8B-B14F-4D97-AF65-F5344CB8AC3E}">
        <p14:creationId xmlns:p14="http://schemas.microsoft.com/office/powerpoint/2010/main" val="901941735"/>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7170737" cy="492125"/>
          </a:xfrm>
        </p:spPr>
        <p:txBody>
          <a:bodyPr/>
          <a:lstStyle/>
          <a:p>
            <a:pPr algn="ctr"/>
            <a:r>
              <a:rPr kumimoji="1" lang="zh-CN" altLang="en-US" sz="3600" dirty="0">
                <a:latin typeface="黑体"/>
                <a:ea typeface="黑体"/>
                <a:cs typeface="黑体"/>
              </a:rPr>
              <a:t>为什么要慎用死刑？</a:t>
            </a:r>
          </a:p>
        </p:txBody>
      </p:sp>
      <p:sp>
        <p:nvSpPr>
          <p:cNvPr id="3" name="内容占位符 2"/>
          <p:cNvSpPr>
            <a:spLocks noGrp="1"/>
          </p:cNvSpPr>
          <p:nvPr>
            <p:ph idx="1"/>
          </p:nvPr>
        </p:nvSpPr>
        <p:spPr>
          <a:xfrm>
            <a:off x="457200" y="1125538"/>
            <a:ext cx="8229600" cy="5471814"/>
          </a:xfrm>
        </p:spPr>
        <p:txBody>
          <a:bodyPr/>
          <a:lstStyle/>
          <a:p>
            <a:r>
              <a:rPr lang="zh-CN" altLang="zh-CN" b="1" dirty="0">
                <a:latin typeface="宋体"/>
                <a:ea typeface="宋体"/>
                <a:cs typeface="宋体"/>
              </a:rPr>
              <a:t>人的生命可以不可以成为手段？</a:t>
            </a:r>
            <a:endParaRPr lang="en-US" altLang="zh-CN" b="1" dirty="0">
              <a:latin typeface="宋体"/>
              <a:ea typeface="宋体"/>
              <a:cs typeface="宋体"/>
            </a:endParaRPr>
          </a:p>
          <a:p>
            <a:r>
              <a:rPr lang="zh-CN" altLang="zh-CN" dirty="0">
                <a:latin typeface="宋体"/>
                <a:ea typeface="宋体"/>
                <a:cs typeface="宋体"/>
              </a:rPr>
              <a:t>犯罪人的生命</a:t>
            </a:r>
            <a:r>
              <a:rPr lang="zh-CN" altLang="en-US" dirty="0">
                <a:latin typeface="宋体"/>
                <a:ea typeface="宋体"/>
                <a:cs typeface="宋体"/>
              </a:rPr>
              <a:t>能否被用来</a:t>
            </a:r>
            <a:r>
              <a:rPr lang="zh-CN" altLang="zh-CN" dirty="0">
                <a:latin typeface="宋体"/>
                <a:ea typeface="宋体"/>
                <a:cs typeface="宋体"/>
              </a:rPr>
              <a:t>换取</a:t>
            </a:r>
            <a:r>
              <a:rPr lang="zh-CN" altLang="en-US" dirty="0">
                <a:latin typeface="宋体"/>
                <a:ea typeface="宋体"/>
                <a:cs typeface="宋体"/>
              </a:rPr>
              <a:t>社会</a:t>
            </a:r>
            <a:r>
              <a:rPr lang="zh-CN" altLang="zh-CN" dirty="0">
                <a:latin typeface="宋体"/>
                <a:ea typeface="宋体"/>
                <a:cs typeface="宋体"/>
              </a:rPr>
              <a:t>秩序</a:t>
            </a:r>
            <a:r>
              <a:rPr lang="zh-CN" altLang="en-US" dirty="0">
                <a:latin typeface="宋体"/>
                <a:ea typeface="宋体"/>
                <a:cs typeface="宋体"/>
              </a:rPr>
              <a:t>？</a:t>
            </a:r>
            <a:endParaRPr lang="en-US" altLang="zh-CN" dirty="0">
              <a:latin typeface="宋体"/>
              <a:ea typeface="宋体"/>
              <a:cs typeface="宋体"/>
            </a:endParaRPr>
          </a:p>
          <a:p>
            <a:r>
              <a:rPr lang="zh-CN" altLang="zh-CN" dirty="0">
                <a:latin typeface="宋体"/>
                <a:ea typeface="宋体"/>
                <a:cs typeface="宋体"/>
              </a:rPr>
              <a:t>生命就是生命，犯罪人生命的贬值，同样意味着抽象的生命权的贬值。</a:t>
            </a:r>
          </a:p>
          <a:p>
            <a:r>
              <a:rPr lang="zh-CN" altLang="zh-CN" b="1" dirty="0">
                <a:latin typeface="宋体"/>
                <a:ea typeface="宋体"/>
                <a:cs typeface="宋体"/>
              </a:rPr>
              <a:t>既然生命在法律中可能贬值，在现实或者潜在的加害人那里为什么不会贬值呢？</a:t>
            </a:r>
            <a:endParaRPr lang="en-US" altLang="zh-CN" dirty="0">
              <a:latin typeface="宋体"/>
              <a:ea typeface="宋体"/>
              <a:cs typeface="宋体"/>
            </a:endParaRPr>
          </a:p>
          <a:p>
            <a:r>
              <a:rPr lang="zh-CN" altLang="zh-CN" dirty="0">
                <a:latin typeface="宋体"/>
                <a:ea typeface="宋体"/>
                <a:cs typeface="宋体"/>
              </a:rPr>
              <a:t>于是，便会有更多的生命犯罪</a:t>
            </a:r>
            <a:r>
              <a:rPr lang="en-US" altLang="zh-CN" dirty="0">
                <a:latin typeface="宋体"/>
                <a:ea typeface="宋体"/>
                <a:cs typeface="宋体"/>
              </a:rPr>
              <a:t>——</a:t>
            </a:r>
            <a:r>
              <a:rPr lang="zh-CN" altLang="zh-CN" dirty="0">
                <a:latin typeface="宋体"/>
                <a:ea typeface="宋体"/>
                <a:cs typeface="宋体"/>
              </a:rPr>
              <a:t>为了保护、尊重生命，而给更多的生命带来了危险</a:t>
            </a:r>
            <a:r>
              <a:rPr lang="zh-CN" altLang="en-US" dirty="0">
                <a:latin typeface="宋体"/>
                <a:ea typeface="宋体"/>
                <a:cs typeface="宋体"/>
              </a:rPr>
              <a:t>：</a:t>
            </a:r>
            <a:r>
              <a:rPr lang="zh-CN" altLang="zh-CN" b="1" dirty="0">
                <a:latin typeface="宋体"/>
                <a:ea typeface="宋体"/>
                <a:cs typeface="宋体"/>
              </a:rPr>
              <a:t>逻辑怪圈</a:t>
            </a:r>
            <a:r>
              <a:rPr lang="zh-CN" altLang="zh-CN" dirty="0">
                <a:latin typeface="宋体"/>
                <a:ea typeface="宋体"/>
                <a:cs typeface="宋体"/>
              </a:rPr>
              <a:t>。</a:t>
            </a:r>
            <a:endParaRPr lang="en-US" altLang="zh-CN" dirty="0">
              <a:latin typeface="宋体"/>
              <a:ea typeface="宋体"/>
              <a:cs typeface="宋体"/>
            </a:endParaRPr>
          </a:p>
          <a:p>
            <a:r>
              <a:rPr lang="zh-CN" altLang="en-US" dirty="0">
                <a:latin typeface="宋体"/>
                <a:ea typeface="宋体"/>
                <a:cs typeface="宋体"/>
              </a:rPr>
              <a:t>更何况，中国刑法中尚存许多非生命犯罪而配置死刑的情况</a:t>
            </a:r>
            <a:r>
              <a:rPr lang="en-US" altLang="zh-CN" dirty="0">
                <a:latin typeface="宋体"/>
                <a:ea typeface="宋体"/>
                <a:cs typeface="宋体"/>
              </a:rPr>
              <a:t>——</a:t>
            </a:r>
            <a:r>
              <a:rPr lang="zh-CN" altLang="en-US" dirty="0">
                <a:latin typeface="宋体"/>
                <a:ea typeface="宋体"/>
                <a:cs typeface="宋体"/>
              </a:rPr>
              <a:t>生命不仅意味着“杀人偿命”，还有许多“使用价值”。</a:t>
            </a:r>
            <a:endParaRPr lang="en-US" altLang="zh-CN" dirty="0">
              <a:latin typeface="宋体"/>
              <a:ea typeface="宋体"/>
              <a:cs typeface="宋体"/>
            </a:endParaRPr>
          </a:p>
          <a:p>
            <a:r>
              <a:rPr lang="zh-CN" altLang="en-US" sz="2800" b="1" dirty="0">
                <a:latin typeface="宋体"/>
                <a:ea typeface="宋体"/>
                <a:cs typeface="宋体"/>
              </a:rPr>
              <a:t>所以，如果一时不能废除死刑，也要慎用死刑。</a:t>
            </a:r>
            <a:endParaRPr lang="zh-CN" altLang="zh-CN" sz="2800" b="1" dirty="0">
              <a:latin typeface="宋体"/>
              <a:ea typeface="宋体"/>
              <a:cs typeface="宋体"/>
            </a:endParaRPr>
          </a:p>
          <a:p>
            <a:endParaRPr kumimoji="1" lang="zh-CN" altLang="en-US" dirty="0"/>
          </a:p>
        </p:txBody>
      </p:sp>
    </p:spTree>
    <p:extLst>
      <p:ext uri="{BB962C8B-B14F-4D97-AF65-F5344CB8AC3E}">
        <p14:creationId xmlns:p14="http://schemas.microsoft.com/office/powerpoint/2010/main" val="232501678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213" y="404813"/>
            <a:ext cx="8208962" cy="6453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36385318"/>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lgn="ctr"/>
            <a:r>
              <a:rPr lang="zh-CN" altLang="en-US" sz="3600" dirty="0">
                <a:latin typeface="Arial" charset="0"/>
                <a:ea typeface="隶书" charset="0"/>
                <a:cs typeface="隶书" charset="0"/>
              </a:rPr>
              <a:t>导致死缓的实际因素</a:t>
            </a:r>
          </a:p>
        </p:txBody>
      </p:sp>
      <p:sp>
        <p:nvSpPr>
          <p:cNvPr id="48131" name="Rectangle 3"/>
          <p:cNvSpPr>
            <a:spLocks noGrp="1" noChangeArrowheads="1"/>
          </p:cNvSpPr>
          <p:nvPr>
            <p:ph type="body" idx="1"/>
          </p:nvPr>
        </p:nvSpPr>
        <p:spPr/>
        <p:txBody>
          <a:bodyPr/>
          <a:lstStyle/>
          <a:p>
            <a:r>
              <a:rPr lang="zh-CN" altLang="en-US" sz="2800" b="1" dirty="0">
                <a:latin typeface="宋体"/>
                <a:ea typeface="宋体"/>
                <a:cs typeface="宋体"/>
              </a:rPr>
              <a:t>纠纷激化中的被害过错（</a:t>
            </a:r>
            <a:r>
              <a:rPr lang="zh-CN" altLang="en-US" b="1" dirty="0">
                <a:latin typeface="楷体"/>
                <a:ea typeface="楷体"/>
                <a:cs typeface="楷体"/>
              </a:rPr>
              <a:t>婆媳、循环开证</a:t>
            </a:r>
            <a:r>
              <a:rPr lang="zh-CN" altLang="en-US" sz="2800" b="1" dirty="0">
                <a:latin typeface="宋体"/>
                <a:ea typeface="宋体"/>
                <a:cs typeface="宋体"/>
              </a:rPr>
              <a:t>）。</a:t>
            </a:r>
          </a:p>
          <a:p>
            <a:r>
              <a:rPr lang="zh-CN" altLang="en-US" sz="2800" b="1" dirty="0">
                <a:latin typeface="宋体"/>
                <a:ea typeface="宋体"/>
                <a:cs typeface="宋体"/>
              </a:rPr>
              <a:t>损失返还、赔偿或退赃。</a:t>
            </a:r>
          </a:p>
          <a:p>
            <a:r>
              <a:rPr lang="zh-CN" altLang="en-US" sz="2800" b="1" dirty="0">
                <a:latin typeface="宋体"/>
                <a:ea typeface="宋体"/>
                <a:cs typeface="宋体"/>
              </a:rPr>
              <a:t>认罪态度好。</a:t>
            </a:r>
          </a:p>
          <a:p>
            <a:r>
              <a:rPr lang="zh-CN" altLang="en-US" sz="2800" b="1" dirty="0">
                <a:latin typeface="宋体"/>
                <a:ea typeface="宋体"/>
                <a:cs typeface="宋体"/>
              </a:rPr>
              <a:t>行为既遂但实际损失不大。</a:t>
            </a:r>
          </a:p>
          <a:p>
            <a:r>
              <a:rPr lang="zh-CN" altLang="en-US" sz="2800" b="1" dirty="0">
                <a:latin typeface="宋体"/>
                <a:ea typeface="宋体"/>
                <a:cs typeface="宋体"/>
              </a:rPr>
              <a:t>义愤犯罪。（</a:t>
            </a:r>
            <a:r>
              <a:rPr lang="zh-CN" altLang="en-US" b="1" dirty="0">
                <a:latin typeface="楷体"/>
                <a:ea typeface="楷体"/>
                <a:cs typeface="楷体"/>
              </a:rPr>
              <a:t>农民工工资拖欠</a:t>
            </a:r>
            <a:r>
              <a:rPr lang="zh-CN" altLang="en-US" sz="2800" b="1" dirty="0">
                <a:latin typeface="宋体"/>
                <a:ea typeface="宋体"/>
                <a:cs typeface="宋体"/>
              </a:rPr>
              <a:t>）</a:t>
            </a:r>
          </a:p>
          <a:p>
            <a:r>
              <a:rPr lang="zh-CN" altLang="en-US" sz="2800" b="1" dirty="0">
                <a:latin typeface="宋体"/>
                <a:ea typeface="宋体"/>
                <a:cs typeface="宋体"/>
              </a:rPr>
              <a:t>常见于毒品犯罪的特情引诱。</a:t>
            </a:r>
          </a:p>
          <a:p>
            <a:r>
              <a:rPr lang="zh-CN" altLang="en-US" sz="2800" b="1" dirty="0">
                <a:latin typeface="宋体"/>
                <a:ea typeface="宋体"/>
                <a:cs typeface="宋体"/>
              </a:rPr>
              <a:t>抗诉或再审时被告已服刑超过两年</a:t>
            </a:r>
            <a:endParaRPr lang="en-US" altLang="zh-CN" sz="2800" b="1" dirty="0">
              <a:latin typeface="宋体"/>
              <a:ea typeface="宋体"/>
              <a:cs typeface="宋体"/>
            </a:endParaRPr>
          </a:p>
          <a:p>
            <a:r>
              <a:rPr lang="en-US" altLang="zh-CN" sz="2800" b="1" dirty="0">
                <a:latin typeface="宋体"/>
                <a:ea typeface="宋体"/>
                <a:cs typeface="宋体"/>
              </a:rPr>
              <a:t>……</a:t>
            </a:r>
          </a:p>
          <a:p>
            <a:r>
              <a:rPr lang="zh-CN" altLang="en-US" sz="2800" b="1" dirty="0">
                <a:latin typeface="宋体"/>
                <a:ea typeface="宋体"/>
                <a:cs typeface="宋体"/>
              </a:rPr>
              <a:t>可见，死刑的适用中，法律也不是唯一的变量。</a:t>
            </a:r>
            <a:endParaRPr lang="en-US" altLang="zh-CN" sz="2800" b="1" dirty="0">
              <a:latin typeface="宋体"/>
              <a:ea typeface="宋体"/>
              <a:cs typeface="宋体"/>
            </a:endParaRPr>
          </a:p>
        </p:txBody>
      </p:sp>
    </p:spTree>
    <p:extLst>
      <p:ext uri="{BB962C8B-B14F-4D97-AF65-F5344CB8AC3E}">
        <p14:creationId xmlns:p14="http://schemas.microsoft.com/office/powerpoint/2010/main" val="3401944825"/>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a:xfrm>
            <a:off x="683568" y="260648"/>
            <a:ext cx="7632848" cy="864096"/>
          </a:xfrm>
        </p:spPr>
        <p:txBody>
          <a:bodyPr/>
          <a:lstStyle/>
          <a:p>
            <a:pPr algn="ctr"/>
            <a:r>
              <a:rPr lang="zh-CN" altLang="en-US" sz="3600" dirty="0">
                <a:ea typeface="经典综艺体简" pitchFamily="49" charset="-122"/>
              </a:rPr>
              <a:t>赔偿率：</a:t>
            </a:r>
            <a:r>
              <a:rPr lang="zh-CN" altLang="en-US" sz="3200" dirty="0">
                <a:ea typeface="经典综艺体简" pitchFamily="49" charset="-122"/>
              </a:rPr>
              <a:t>司法不仅意味着剥夺加害人，还应体现抚慰被害人</a:t>
            </a:r>
          </a:p>
        </p:txBody>
      </p:sp>
      <p:graphicFrame>
        <p:nvGraphicFramePr>
          <p:cNvPr id="305211" name="Group 59"/>
          <p:cNvGraphicFramePr>
            <a:graphicFrameLocks noGrp="1"/>
          </p:cNvGraphicFramePr>
          <p:nvPr>
            <p:ph idx="1"/>
            <p:extLst>
              <p:ext uri="{D42A27DB-BD31-4B8C-83A1-F6EECF244321}">
                <p14:modId xmlns:p14="http://schemas.microsoft.com/office/powerpoint/2010/main" val="3100474587"/>
              </p:ext>
            </p:extLst>
          </p:nvPr>
        </p:nvGraphicFramePr>
        <p:xfrm>
          <a:off x="1043608" y="1340768"/>
          <a:ext cx="6696744" cy="5055512"/>
        </p:xfrm>
        <a:graphic>
          <a:graphicData uri="http://schemas.openxmlformats.org/drawingml/2006/table">
            <a:tbl>
              <a:tblPr/>
              <a:tblGrid>
                <a:gridCol w="2980091">
                  <a:extLst>
                    <a:ext uri="{9D8B030D-6E8A-4147-A177-3AD203B41FA5}">
                      <a16:colId xmlns:a16="http://schemas.microsoft.com/office/drawing/2014/main" val="20000"/>
                    </a:ext>
                  </a:extLst>
                </a:gridCol>
                <a:gridCol w="3716653">
                  <a:extLst>
                    <a:ext uri="{9D8B030D-6E8A-4147-A177-3AD203B41FA5}">
                      <a16:colId xmlns:a16="http://schemas.microsoft.com/office/drawing/2014/main" val="20001"/>
                    </a:ext>
                  </a:extLst>
                </a:gridCol>
              </a:tblGrid>
              <a:tr h="100167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endParaRPr kumimoji="0" lang="zh-CN" altLang="zh-CN" sz="2600" b="0"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zh-CN" altLang="en-US" sz="3200" b="1" i="0" u="none" strike="noStrike" cap="none" normalizeH="0" baseline="0" dirty="0">
                          <a:ln>
                            <a:noFill/>
                          </a:ln>
                          <a:solidFill>
                            <a:srgbClr val="000000"/>
                          </a:solidFill>
                          <a:effectLst/>
                          <a:latin typeface="经典粗圆简" pitchFamily="49" charset="-122"/>
                          <a:ea typeface="经典粗圆简" pitchFamily="49" charset="-122"/>
                          <a:cs typeface="Times New Roman" panose="02020603050405020304" pitchFamily="18" charset="0"/>
                        </a:rPr>
                        <a:t>犯罪赔偿率（</a:t>
                      </a:r>
                      <a:r>
                        <a:rPr kumimoji="0" lang="en-US" altLang="zh-CN" sz="3200" b="1" i="0" u="none" strike="noStrike" cap="none" normalizeH="0" baseline="0" dirty="0">
                          <a:ln>
                            <a:noFill/>
                          </a:ln>
                          <a:solidFill>
                            <a:srgbClr val="000000"/>
                          </a:solidFill>
                          <a:effectLst/>
                          <a:latin typeface="经典粗圆简" pitchFamily="49" charset="-122"/>
                          <a:ea typeface="经典粗圆简" pitchFamily="49" charset="-122"/>
                          <a:cs typeface="Times New Roman" panose="02020603050405020304" pitchFamily="18" charset="0"/>
                        </a:rPr>
                        <a:t>%</a:t>
                      </a:r>
                      <a:r>
                        <a:rPr kumimoji="0" lang="zh-CN" altLang="en-US" sz="3200" b="1" i="0" u="none" strike="noStrike" cap="none" normalizeH="0" baseline="0" dirty="0">
                          <a:ln>
                            <a:noFill/>
                          </a:ln>
                          <a:solidFill>
                            <a:srgbClr val="000000"/>
                          </a:solidFill>
                          <a:effectLst/>
                          <a:latin typeface="经典粗圆简" pitchFamily="49" charset="-122"/>
                          <a:ea typeface="经典粗圆简" pitchFamily="49" charset="-122"/>
                          <a:cs typeface="Times New Roman" panose="02020603050405020304"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8970">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zh-CN" altLang="en-US" sz="3200" b="1" i="0" u="none" strike="noStrike" cap="none" normalizeH="0" baseline="0">
                          <a:ln>
                            <a:noFill/>
                          </a:ln>
                          <a:solidFill>
                            <a:srgbClr val="000000"/>
                          </a:solidFill>
                          <a:effectLst/>
                          <a:latin typeface="经典粗圆简" pitchFamily="49" charset="-122"/>
                          <a:ea typeface="经典粗圆简" pitchFamily="49" charset="-122"/>
                          <a:cs typeface="Times New Roman" panose="02020603050405020304" pitchFamily="18" charset="0"/>
                        </a:rPr>
                        <a:t>杀人</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8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23.7%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8970">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zh-CN" altLang="en-US" sz="3200" b="1" i="0" u="none" strike="noStrike" cap="none" normalizeH="0" baseline="0">
                          <a:ln>
                            <a:noFill/>
                          </a:ln>
                          <a:solidFill>
                            <a:srgbClr val="000000"/>
                          </a:solidFill>
                          <a:effectLst/>
                          <a:latin typeface="经典粗圆简" pitchFamily="49" charset="-122"/>
                          <a:ea typeface="经典粗圆简" pitchFamily="49" charset="-122"/>
                          <a:cs typeface="Times New Roman" panose="02020603050405020304" pitchFamily="18" charset="0"/>
                        </a:rPr>
                        <a:t>伤害</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8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48.4%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8970">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zh-CN" altLang="en-US" sz="3200" b="1" i="0" u="none" strike="noStrike" cap="none" normalizeH="0" baseline="0">
                          <a:ln>
                            <a:noFill/>
                          </a:ln>
                          <a:solidFill>
                            <a:srgbClr val="000000"/>
                          </a:solidFill>
                          <a:effectLst/>
                          <a:latin typeface="经典粗圆简" pitchFamily="49" charset="-122"/>
                          <a:ea typeface="经典粗圆简" pitchFamily="49" charset="-122"/>
                          <a:cs typeface="Times New Roman" panose="02020603050405020304" pitchFamily="18" charset="0"/>
                        </a:rPr>
                        <a:t>抢劫</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8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48.9%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8970">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zh-CN" altLang="en-US" sz="3200" b="1" i="0" u="none" strike="noStrike" cap="none" normalizeH="0" baseline="0">
                          <a:ln>
                            <a:noFill/>
                          </a:ln>
                          <a:solidFill>
                            <a:srgbClr val="000000"/>
                          </a:solidFill>
                          <a:effectLst/>
                          <a:latin typeface="经典粗圆简" pitchFamily="49" charset="-122"/>
                          <a:ea typeface="经典粗圆简" pitchFamily="49" charset="-122"/>
                          <a:cs typeface="Times New Roman" panose="02020603050405020304" pitchFamily="18" charset="0"/>
                        </a:rPr>
                        <a:t>盗窃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8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51.4%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8970">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zh-CN" altLang="en-US" sz="3200" b="1" i="0" u="none" strike="noStrike" cap="none" normalizeH="0" baseline="0">
                          <a:ln>
                            <a:noFill/>
                          </a:ln>
                          <a:solidFill>
                            <a:srgbClr val="000000"/>
                          </a:solidFill>
                          <a:effectLst/>
                          <a:latin typeface="经典粗圆简" pitchFamily="49" charset="-122"/>
                          <a:ea typeface="经典粗圆简" pitchFamily="49" charset="-122"/>
                          <a:cs typeface="Times New Roman" panose="02020603050405020304" pitchFamily="18" charset="0"/>
                        </a:rPr>
                        <a:t>诈骗</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8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63.8%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8970">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zh-CN" altLang="en-US" sz="3200" b="1" i="0" u="none" strike="noStrike" cap="none" normalizeH="0" baseline="0">
                          <a:ln>
                            <a:noFill/>
                          </a:ln>
                          <a:solidFill>
                            <a:srgbClr val="000000"/>
                          </a:solidFill>
                          <a:effectLst/>
                          <a:latin typeface="经典粗圆简" pitchFamily="49" charset="-122"/>
                          <a:ea typeface="经典粗圆简" pitchFamily="49" charset="-122"/>
                          <a:cs typeface="Times New Roman" panose="02020603050405020304" pitchFamily="18" charset="0"/>
                        </a:rPr>
                        <a:t>贪污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8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74.0%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8970">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zh-CN" altLang="en-US" sz="3200" b="1" i="0" u="none" strike="noStrike" cap="none" normalizeH="0" baseline="0">
                          <a:ln>
                            <a:noFill/>
                          </a:ln>
                          <a:solidFill>
                            <a:srgbClr val="000000"/>
                          </a:solidFill>
                          <a:effectLst/>
                          <a:latin typeface="经典粗圆简" pitchFamily="49" charset="-122"/>
                          <a:ea typeface="经典粗圆简" pitchFamily="49" charset="-122"/>
                          <a:cs typeface="Times New Roman" panose="02020603050405020304" pitchFamily="18" charset="0"/>
                        </a:rPr>
                        <a:t>毒品</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488">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638">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513">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2800" b="1" i="0" u="none" strike="noStrike" cap="none" normalizeH="0" baseline="0" dirty="0">
                        <a:ln>
                          <a:noFill/>
                        </a:ln>
                        <a:solidFill>
                          <a:srgbClr val="000000"/>
                        </a:solidFill>
                        <a:effectLst/>
                        <a:latin typeface="Verdana" panose="020B0604030504040204" pitchFamily="34"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33845616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用刑与行刑</a:t>
            </a:r>
          </a:p>
        </p:txBody>
      </p:sp>
      <p:sp>
        <p:nvSpPr>
          <p:cNvPr id="3" name="内容占位符 2"/>
          <p:cNvSpPr>
            <a:spLocks noGrp="1"/>
          </p:cNvSpPr>
          <p:nvPr>
            <p:ph idx="1"/>
          </p:nvPr>
        </p:nvSpPr>
        <p:spPr>
          <a:xfrm>
            <a:off x="539552" y="908720"/>
            <a:ext cx="8229600" cy="5544616"/>
          </a:xfrm>
        </p:spPr>
        <p:txBody>
          <a:bodyPr/>
          <a:lstStyle/>
          <a:p>
            <a:r>
              <a:rPr lang="zh-CN" altLang="zh-CN" sz="2800" dirty="0">
                <a:latin typeface="宋体"/>
                <a:ea typeface="宋体"/>
                <a:cs typeface="宋体"/>
              </a:rPr>
              <a:t>从刑罚结构来看，各国前资本主义时期的刑罚结构基本上都是以死刑和身体刑为中心。</a:t>
            </a:r>
            <a:endParaRPr lang="en-US" altLang="zh-CN" sz="2800" dirty="0">
              <a:latin typeface="宋体"/>
              <a:ea typeface="宋体"/>
              <a:cs typeface="宋体"/>
            </a:endParaRPr>
          </a:p>
          <a:p>
            <a:r>
              <a:rPr lang="zh-CN" altLang="zh-CN" sz="2800" dirty="0">
                <a:latin typeface="宋体"/>
                <a:ea typeface="宋体"/>
                <a:cs typeface="宋体"/>
              </a:rPr>
              <a:t>法国在资产阶级革命前，死刑罪名有</a:t>
            </a:r>
            <a:r>
              <a:rPr lang="en-US" altLang="zh-CN" sz="2800" dirty="0">
                <a:latin typeface="宋体"/>
                <a:ea typeface="宋体"/>
                <a:cs typeface="宋体"/>
              </a:rPr>
              <a:t>150</a:t>
            </a:r>
            <a:r>
              <a:rPr lang="zh-CN" altLang="zh-CN" sz="2800" dirty="0">
                <a:latin typeface="宋体"/>
                <a:ea typeface="宋体"/>
                <a:cs typeface="宋体"/>
              </a:rPr>
              <a:t>多种。</a:t>
            </a:r>
            <a:endParaRPr lang="en-US" altLang="zh-CN" sz="2800" dirty="0">
              <a:latin typeface="宋体"/>
              <a:ea typeface="宋体"/>
              <a:cs typeface="宋体"/>
            </a:endParaRPr>
          </a:p>
          <a:p>
            <a:r>
              <a:rPr lang="zh-CN" altLang="zh-CN" sz="2800" dirty="0">
                <a:latin typeface="宋体"/>
                <a:ea typeface="宋体"/>
                <a:cs typeface="宋体"/>
              </a:rPr>
              <a:t>英国在资产阶级革命前夕，刑法中的死刑罪名有</a:t>
            </a:r>
            <a:r>
              <a:rPr lang="en-US" altLang="zh-CN" sz="2800" dirty="0">
                <a:latin typeface="宋体"/>
                <a:ea typeface="宋体"/>
                <a:cs typeface="宋体"/>
              </a:rPr>
              <a:t>220-230</a:t>
            </a:r>
            <a:r>
              <a:rPr lang="zh-CN" altLang="zh-CN" sz="2800" dirty="0">
                <a:latin typeface="宋体"/>
                <a:ea typeface="宋体"/>
                <a:cs typeface="宋体"/>
              </a:rPr>
              <a:t>种之多。</a:t>
            </a:r>
            <a:endParaRPr lang="en-US" altLang="zh-CN" sz="2800" dirty="0">
              <a:latin typeface="宋体"/>
              <a:ea typeface="宋体"/>
              <a:cs typeface="宋体"/>
            </a:endParaRPr>
          </a:p>
          <a:p>
            <a:r>
              <a:rPr lang="zh-CN" altLang="zh-CN" sz="2800" dirty="0">
                <a:latin typeface="宋体"/>
                <a:ea typeface="宋体"/>
                <a:cs typeface="宋体"/>
              </a:rPr>
              <a:t>中世纪刑法</a:t>
            </a:r>
            <a:r>
              <a:rPr lang="zh-CN" altLang="en-US" sz="2800" dirty="0">
                <a:latin typeface="宋体"/>
                <a:ea typeface="宋体"/>
                <a:cs typeface="宋体"/>
              </a:rPr>
              <a:t>的</a:t>
            </a:r>
            <a:r>
              <a:rPr lang="zh-CN" altLang="zh-CN" sz="2800" dirty="0">
                <a:latin typeface="宋体"/>
                <a:ea typeface="宋体"/>
                <a:cs typeface="宋体"/>
              </a:rPr>
              <a:t>生命刑、肉刑的行刑方法极多，颇具“观赏性”。有用动物行刑、割喉刑、剖腹刑、投掷刑、饿刑、囚笼、十字架刑、活埋、木桩刑、活剥、肢解、凌迟、碎身刑、碾刑、火刑、烤刑与灸刑、锯刑、箭刑与贯穿刑、毒药、吊刑、鞭刑与棒刑、车轮刑、磔刑、扼杀、绞杀、以石击毙、溺刑、绞刑、斩首刑等等。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2297527347"/>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死刑的执行</a:t>
            </a:r>
          </a:p>
        </p:txBody>
      </p:sp>
      <p:sp>
        <p:nvSpPr>
          <p:cNvPr id="3" name="内容占位符 2"/>
          <p:cNvSpPr>
            <a:spLocks noGrp="1"/>
          </p:cNvSpPr>
          <p:nvPr>
            <p:ph idx="1"/>
          </p:nvPr>
        </p:nvSpPr>
        <p:spPr>
          <a:xfrm>
            <a:off x="457200" y="1125538"/>
            <a:ext cx="8229600" cy="5399806"/>
          </a:xfrm>
        </p:spPr>
        <p:txBody>
          <a:bodyPr/>
          <a:lstStyle/>
          <a:p>
            <a:r>
              <a:rPr lang="zh-CN" altLang="zh-CN" sz="3200" b="1" dirty="0">
                <a:latin typeface="黑体"/>
                <a:ea typeface="黑体"/>
                <a:cs typeface="黑体"/>
              </a:rPr>
              <a:t>首先，</a:t>
            </a:r>
            <a:r>
              <a:rPr lang="zh-CN" altLang="zh-CN" sz="2800" b="1" dirty="0">
                <a:latin typeface="宋体"/>
                <a:ea typeface="宋体"/>
                <a:cs typeface="宋体"/>
              </a:rPr>
              <a:t>死刑犯有无执行方式的选择权？</a:t>
            </a:r>
            <a:endParaRPr lang="zh-CN" altLang="zh-CN" sz="2800" dirty="0">
              <a:latin typeface="宋体"/>
              <a:ea typeface="宋体"/>
              <a:cs typeface="宋体"/>
            </a:endParaRPr>
          </a:p>
          <a:p>
            <a:r>
              <a:rPr lang="zh-CN" altLang="zh-CN" dirty="0">
                <a:latin typeface="宋体"/>
                <a:ea typeface="宋体"/>
                <a:cs typeface="宋体"/>
              </a:rPr>
              <a:t>刑事诉讼法第</a:t>
            </a:r>
            <a:r>
              <a:rPr lang="en-US" altLang="zh-CN" dirty="0">
                <a:latin typeface="宋体"/>
                <a:ea typeface="宋体"/>
                <a:cs typeface="宋体"/>
              </a:rPr>
              <a:t>252</a:t>
            </a:r>
            <a:r>
              <a:rPr lang="zh-CN" altLang="zh-CN" dirty="0">
                <a:latin typeface="宋体"/>
                <a:ea typeface="宋体"/>
                <a:cs typeface="宋体"/>
              </a:rPr>
              <a:t>条规定：死刑采用枪决或者注射等方法执行。……执行死刑应当公布，不应示众。</a:t>
            </a:r>
            <a:endParaRPr lang="en-US" altLang="zh-CN" dirty="0">
              <a:latin typeface="宋体"/>
              <a:ea typeface="宋体"/>
              <a:cs typeface="宋体"/>
            </a:endParaRPr>
          </a:p>
          <a:p>
            <a:r>
              <a:rPr lang="zh-CN" altLang="zh-CN" dirty="0">
                <a:latin typeface="宋体"/>
                <a:ea typeface="宋体"/>
                <a:cs typeface="宋体"/>
              </a:rPr>
              <a:t>有报道说，大贪官的死刑执行是注射方法。死得时尚、很有贵族气派。</a:t>
            </a:r>
            <a:endParaRPr lang="en-US" altLang="zh-CN" dirty="0">
              <a:latin typeface="宋体"/>
              <a:ea typeface="宋体"/>
              <a:cs typeface="宋体"/>
            </a:endParaRPr>
          </a:p>
          <a:p>
            <a:r>
              <a:rPr lang="zh-CN" altLang="zh-CN" dirty="0">
                <a:latin typeface="宋体"/>
                <a:ea typeface="宋体"/>
                <a:cs typeface="宋体"/>
              </a:rPr>
              <a:t>法律面前人人平等，既包括生而平等，也应包括死而平等。</a:t>
            </a:r>
          </a:p>
          <a:p>
            <a:r>
              <a:rPr lang="zh-CN" altLang="zh-CN" dirty="0">
                <a:latin typeface="宋体"/>
                <a:ea typeface="宋体"/>
                <a:cs typeface="宋体"/>
              </a:rPr>
              <a:t>这里的问题是，被依法剥夺生命权的公民，是否有权选择</a:t>
            </a:r>
            <a:r>
              <a:rPr lang="zh-CN" altLang="zh-CN" b="1" dirty="0">
                <a:latin typeface="宋体"/>
                <a:ea typeface="宋体"/>
                <a:cs typeface="宋体"/>
              </a:rPr>
              <a:t>交付生命的方式</a:t>
            </a:r>
            <a:r>
              <a:rPr lang="zh-CN" altLang="zh-CN" dirty="0">
                <a:latin typeface="宋体"/>
                <a:ea typeface="宋体"/>
                <a:cs typeface="宋体"/>
              </a:rPr>
              <a:t>？</a:t>
            </a:r>
            <a:endParaRPr lang="en-US" altLang="zh-CN" dirty="0">
              <a:latin typeface="宋体"/>
              <a:ea typeface="宋体"/>
              <a:cs typeface="宋体"/>
            </a:endParaRPr>
          </a:p>
          <a:p>
            <a:r>
              <a:rPr lang="zh-CN" altLang="en-US" dirty="0">
                <a:latin typeface="宋体"/>
                <a:ea typeface="宋体"/>
                <a:cs typeface="宋体"/>
              </a:rPr>
              <a:t>实践：各省范围内统一。</a:t>
            </a:r>
            <a:endParaRPr lang="en-US" altLang="zh-CN" dirty="0">
              <a:latin typeface="宋体"/>
              <a:ea typeface="宋体"/>
              <a:cs typeface="宋体"/>
            </a:endParaRPr>
          </a:p>
          <a:p>
            <a:r>
              <a:rPr lang="zh-CN" altLang="en-US" dirty="0">
                <a:latin typeface="宋体"/>
                <a:ea typeface="宋体"/>
                <a:cs typeface="宋体"/>
              </a:rPr>
              <a:t>两个因素：财力，及</a:t>
            </a:r>
            <a:r>
              <a:rPr lang="en-US" altLang="zh-CN" dirty="0">
                <a:latin typeface="宋体"/>
                <a:ea typeface="宋体"/>
                <a:cs typeface="宋体"/>
              </a:rPr>
              <a:t>……</a:t>
            </a:r>
            <a:r>
              <a:rPr lang="zh-CN" altLang="en-US" dirty="0">
                <a:latin typeface="宋体"/>
                <a:ea typeface="宋体"/>
                <a:cs typeface="宋体"/>
              </a:rPr>
              <a:t>。</a:t>
            </a:r>
            <a:endParaRPr lang="en-US" altLang="zh-CN" dirty="0">
              <a:latin typeface="宋体"/>
              <a:ea typeface="宋体"/>
              <a:cs typeface="宋体"/>
            </a:endParaRPr>
          </a:p>
          <a:p>
            <a:r>
              <a:rPr lang="zh-CN" altLang="zh-CN" dirty="0">
                <a:latin typeface="宋体"/>
                <a:ea typeface="宋体"/>
                <a:cs typeface="宋体"/>
              </a:rPr>
              <a:t>当然，还有产品质量问题。</a:t>
            </a:r>
          </a:p>
          <a:p>
            <a:endParaRPr kumimoji="1" lang="zh-CN" altLang="en-US" dirty="0"/>
          </a:p>
        </p:txBody>
      </p:sp>
    </p:spTree>
    <p:extLst>
      <p:ext uri="{BB962C8B-B14F-4D97-AF65-F5344CB8AC3E}">
        <p14:creationId xmlns:p14="http://schemas.microsoft.com/office/powerpoint/2010/main" val="2420178238"/>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死刑的执行</a:t>
            </a:r>
          </a:p>
        </p:txBody>
      </p:sp>
      <p:sp>
        <p:nvSpPr>
          <p:cNvPr id="3" name="内容占位符 2"/>
          <p:cNvSpPr>
            <a:spLocks noGrp="1"/>
          </p:cNvSpPr>
          <p:nvPr>
            <p:ph idx="1"/>
          </p:nvPr>
        </p:nvSpPr>
        <p:spPr>
          <a:xfrm>
            <a:off x="457200" y="1125538"/>
            <a:ext cx="8229600" cy="5399806"/>
          </a:xfrm>
        </p:spPr>
        <p:txBody>
          <a:bodyPr/>
          <a:lstStyle/>
          <a:p>
            <a:r>
              <a:rPr lang="zh-CN" altLang="en-US" sz="3200" b="1" dirty="0">
                <a:latin typeface="黑体"/>
                <a:ea typeface="黑体"/>
                <a:cs typeface="黑体"/>
              </a:rPr>
              <a:t>其次</a:t>
            </a:r>
            <a:r>
              <a:rPr lang="zh-CN" altLang="zh-CN" sz="3200" b="1" dirty="0">
                <a:latin typeface="黑体"/>
                <a:ea typeface="黑体"/>
                <a:cs typeface="黑体"/>
              </a:rPr>
              <a:t>，</a:t>
            </a:r>
            <a:r>
              <a:rPr lang="zh-CN" altLang="zh-CN" sz="2800" b="1" dirty="0">
                <a:latin typeface="宋体"/>
                <a:ea typeface="宋体"/>
                <a:cs typeface="宋体"/>
              </a:rPr>
              <a:t>如何对待死刑犯的健康权？</a:t>
            </a:r>
            <a:r>
              <a:rPr lang="zh-CN" altLang="zh-CN" sz="2800" dirty="0">
                <a:latin typeface="宋体"/>
                <a:ea typeface="宋体"/>
                <a:cs typeface="宋体"/>
              </a:rPr>
              <a:t> </a:t>
            </a:r>
          </a:p>
          <a:p>
            <a:r>
              <a:rPr lang="zh-CN" altLang="zh-CN" sz="2800" dirty="0">
                <a:latin typeface="宋体"/>
                <a:ea typeface="宋体"/>
                <a:cs typeface="宋体"/>
              </a:rPr>
              <a:t>有报道说，身患重病的犯罪嫌疑人王某一审被判死刑，于上诉期间病情恶化，生命垂危。看守所将其送往医院救治，并承担了数万元的医疗费用。</a:t>
            </a:r>
          </a:p>
          <a:p>
            <a:r>
              <a:rPr lang="zh-CN" altLang="zh-CN" sz="2800" dirty="0">
                <a:latin typeface="宋体"/>
                <a:ea typeface="宋体"/>
                <a:cs typeface="宋体"/>
              </a:rPr>
              <a:t>有人认为，现今中国连百姓没钱难进急救室的情况都是有发生，凭什么要给一个死刑犯垫钱治病。还有人认为这是一种虚伪。</a:t>
            </a:r>
          </a:p>
          <a:p>
            <a:r>
              <a:rPr lang="zh-CN" altLang="zh-CN" sz="2800" dirty="0">
                <a:latin typeface="宋体"/>
                <a:ea typeface="宋体"/>
                <a:cs typeface="宋体"/>
              </a:rPr>
              <a:t>这里的问题是，上诉期间的一审判决并未生效，因而被告的生命权尚未被依法剥夺，当然同时拥有健康权。因此，如果以“已判死刑”为由放弃救治，甚至有不作为故意杀人之嫌。</a:t>
            </a:r>
          </a:p>
          <a:p>
            <a:endParaRPr kumimoji="1" lang="zh-CN" altLang="en-US" dirty="0"/>
          </a:p>
        </p:txBody>
      </p:sp>
    </p:spTree>
    <p:extLst>
      <p:ext uri="{BB962C8B-B14F-4D97-AF65-F5344CB8AC3E}">
        <p14:creationId xmlns:p14="http://schemas.microsoft.com/office/powerpoint/2010/main" val="2416766793"/>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死刑的执行</a:t>
            </a:r>
          </a:p>
        </p:txBody>
      </p:sp>
      <p:sp>
        <p:nvSpPr>
          <p:cNvPr id="3" name="内容占位符 2"/>
          <p:cNvSpPr>
            <a:spLocks noGrp="1"/>
          </p:cNvSpPr>
          <p:nvPr>
            <p:ph idx="1"/>
          </p:nvPr>
        </p:nvSpPr>
        <p:spPr>
          <a:xfrm>
            <a:off x="467544" y="908720"/>
            <a:ext cx="8229600" cy="5616624"/>
          </a:xfrm>
        </p:spPr>
        <p:txBody>
          <a:bodyPr/>
          <a:lstStyle/>
          <a:p>
            <a:r>
              <a:rPr lang="zh-CN" altLang="en-US" sz="3200" b="1" dirty="0">
                <a:latin typeface="黑体"/>
                <a:ea typeface="黑体"/>
                <a:cs typeface="黑体"/>
              </a:rPr>
              <a:t>第三</a:t>
            </a:r>
            <a:r>
              <a:rPr lang="zh-CN" altLang="zh-CN" sz="3200" b="1" dirty="0">
                <a:latin typeface="黑体"/>
                <a:ea typeface="黑体"/>
                <a:cs typeface="黑体"/>
              </a:rPr>
              <a:t>，</a:t>
            </a:r>
            <a:r>
              <a:rPr lang="zh-CN" altLang="zh-CN" sz="2800" b="1" dirty="0">
                <a:latin typeface="宋体"/>
                <a:ea typeface="宋体"/>
                <a:cs typeface="宋体"/>
              </a:rPr>
              <a:t>死刑犯是否有权捐赠遗体或者人体器官？</a:t>
            </a:r>
            <a:endParaRPr lang="zh-CN" altLang="zh-CN" sz="2800" dirty="0">
              <a:latin typeface="宋体"/>
              <a:ea typeface="宋体"/>
              <a:cs typeface="宋体"/>
            </a:endParaRPr>
          </a:p>
          <a:p>
            <a:r>
              <a:rPr lang="zh-CN" altLang="zh-CN" dirty="0">
                <a:latin typeface="宋体"/>
                <a:ea typeface="宋体"/>
                <a:cs typeface="宋体"/>
              </a:rPr>
              <a:t>有报道说，在等待二审判决结果时，一死刑犯多次提出身体器官或遗体来赎罪。但随着一声枪响，徐某的愿望最终无法实现，也给家人留下了无尽的遗憾。</a:t>
            </a:r>
          </a:p>
          <a:p>
            <a:r>
              <a:rPr lang="zh-CN" altLang="zh-CN" dirty="0">
                <a:latin typeface="宋体"/>
                <a:ea typeface="宋体"/>
                <a:cs typeface="宋体"/>
              </a:rPr>
              <a:t>肯定说认为，生命权的剥夺并不当然地包括捐赠和处分自己身体器官和遗体权利的剥夺。</a:t>
            </a:r>
          </a:p>
          <a:p>
            <a:r>
              <a:rPr lang="zh-CN" altLang="zh-CN" dirty="0">
                <a:latin typeface="宋体"/>
                <a:ea typeface="宋体"/>
                <a:cs typeface="宋体"/>
              </a:rPr>
              <a:t>但否定说认为，如果允许死刑犯行使这些民事权利，会延缓甚至冲击刑事诉讼的进行。</a:t>
            </a:r>
            <a:endParaRPr lang="en-US" altLang="zh-CN" dirty="0">
              <a:latin typeface="宋体"/>
              <a:ea typeface="宋体"/>
              <a:cs typeface="宋体"/>
            </a:endParaRPr>
          </a:p>
          <a:p>
            <a:pPr marL="0" indent="0">
              <a:buNone/>
            </a:pPr>
            <a:r>
              <a:rPr lang="en-US" altLang="zh-CN" dirty="0">
                <a:latin typeface="宋体"/>
                <a:ea typeface="宋体"/>
                <a:cs typeface="宋体"/>
              </a:rPr>
              <a:t>    </a:t>
            </a:r>
            <a:r>
              <a:rPr lang="zh-CN" altLang="zh-CN" dirty="0">
                <a:latin typeface="宋体"/>
                <a:ea typeface="宋体"/>
                <a:cs typeface="宋体"/>
              </a:rPr>
              <a:t>第二，很难证明罪犯的这种意愿不是被迫的。</a:t>
            </a:r>
            <a:endParaRPr lang="en-US" altLang="zh-CN" dirty="0">
              <a:latin typeface="宋体"/>
              <a:ea typeface="宋体"/>
              <a:cs typeface="宋体"/>
            </a:endParaRPr>
          </a:p>
          <a:p>
            <a:pPr marL="0" indent="0">
              <a:buNone/>
            </a:pPr>
            <a:r>
              <a:rPr lang="en-US" altLang="zh-CN" dirty="0">
                <a:latin typeface="宋体"/>
                <a:ea typeface="宋体"/>
                <a:cs typeface="宋体"/>
              </a:rPr>
              <a:t>    </a:t>
            </a:r>
            <a:r>
              <a:rPr lang="zh-CN" altLang="zh-CN" dirty="0">
                <a:latin typeface="宋体"/>
                <a:ea typeface="宋体"/>
                <a:cs typeface="宋体"/>
              </a:rPr>
              <a:t>第三，国家在剥夺罪犯的生命的同时，如果同意接受其捐赠是不人道的。</a:t>
            </a:r>
            <a:endParaRPr lang="en-US" altLang="zh-CN" dirty="0">
              <a:latin typeface="宋体"/>
              <a:ea typeface="宋体"/>
              <a:cs typeface="宋体"/>
            </a:endParaRPr>
          </a:p>
          <a:p>
            <a:pPr marL="0" indent="0">
              <a:buNone/>
            </a:pPr>
            <a:r>
              <a:rPr lang="en-US" altLang="zh-CN" dirty="0">
                <a:latin typeface="宋体"/>
                <a:ea typeface="宋体"/>
                <a:cs typeface="宋体"/>
              </a:rPr>
              <a:t>    </a:t>
            </a:r>
            <a:r>
              <a:rPr lang="zh-CN" altLang="zh-CN" dirty="0">
                <a:latin typeface="宋体"/>
                <a:ea typeface="宋体"/>
                <a:cs typeface="宋体"/>
              </a:rPr>
              <a:t>第四，还可能产生腐败。</a:t>
            </a:r>
          </a:p>
          <a:p>
            <a:endParaRPr kumimoji="1" lang="zh-CN" altLang="en-US" dirty="0"/>
          </a:p>
        </p:txBody>
      </p:sp>
    </p:spTree>
    <p:extLst>
      <p:ext uri="{BB962C8B-B14F-4D97-AF65-F5344CB8AC3E}">
        <p14:creationId xmlns:p14="http://schemas.microsoft.com/office/powerpoint/2010/main" val="2416766793"/>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死刑的执行</a:t>
            </a:r>
          </a:p>
        </p:txBody>
      </p:sp>
      <p:sp>
        <p:nvSpPr>
          <p:cNvPr id="3" name="内容占位符 2"/>
          <p:cNvSpPr>
            <a:spLocks noGrp="1"/>
          </p:cNvSpPr>
          <p:nvPr>
            <p:ph idx="1"/>
          </p:nvPr>
        </p:nvSpPr>
        <p:spPr>
          <a:xfrm>
            <a:off x="457200" y="1125538"/>
            <a:ext cx="8229600" cy="5399806"/>
          </a:xfrm>
        </p:spPr>
        <p:txBody>
          <a:bodyPr/>
          <a:lstStyle/>
          <a:p>
            <a:r>
              <a:rPr lang="zh-CN" altLang="en-US" sz="3200" b="1" dirty="0">
                <a:latin typeface="黑体"/>
                <a:ea typeface="黑体"/>
                <a:cs typeface="黑体"/>
              </a:rPr>
              <a:t>第四</a:t>
            </a:r>
            <a:r>
              <a:rPr lang="zh-CN" altLang="zh-CN" sz="3200" b="1" dirty="0">
                <a:latin typeface="黑体"/>
                <a:ea typeface="黑体"/>
                <a:cs typeface="黑体"/>
              </a:rPr>
              <a:t>，</a:t>
            </a:r>
            <a:r>
              <a:rPr lang="zh-CN" altLang="zh-CN" sz="2800" b="1" dirty="0">
                <a:latin typeface="宋体"/>
                <a:ea typeface="宋体"/>
                <a:cs typeface="宋体"/>
              </a:rPr>
              <a:t>死刑执行中止状态下的死刑犯是否当然重获生命权？</a:t>
            </a:r>
            <a:endParaRPr lang="zh-CN" altLang="zh-CN" sz="2800" dirty="0">
              <a:latin typeface="宋体"/>
              <a:ea typeface="宋体"/>
              <a:cs typeface="宋体"/>
            </a:endParaRPr>
          </a:p>
          <a:p>
            <a:r>
              <a:rPr lang="zh-CN" altLang="zh-CN" sz="2800" dirty="0">
                <a:latin typeface="宋体"/>
                <a:ea typeface="宋体"/>
                <a:cs typeface="宋体"/>
              </a:rPr>
              <a:t>死刑执行中可能因技术或其他原因而出现中止状态。</a:t>
            </a:r>
            <a:endParaRPr lang="en-US" altLang="zh-CN" sz="2800" dirty="0">
              <a:latin typeface="宋体"/>
              <a:ea typeface="宋体"/>
              <a:cs typeface="宋体"/>
            </a:endParaRPr>
          </a:p>
          <a:p>
            <a:r>
              <a:rPr lang="zh-CN" altLang="zh-CN" sz="2800" dirty="0">
                <a:latin typeface="宋体"/>
                <a:ea typeface="宋体"/>
                <a:cs typeface="宋体"/>
              </a:rPr>
              <a:t>这种情况下，罪犯是否当然地重获生命权？</a:t>
            </a:r>
            <a:endParaRPr lang="en-US" altLang="zh-CN" sz="2800" dirty="0">
              <a:latin typeface="宋体"/>
              <a:ea typeface="宋体"/>
              <a:cs typeface="宋体"/>
            </a:endParaRPr>
          </a:p>
          <a:p>
            <a:r>
              <a:rPr lang="zh-CN" altLang="zh-CN" sz="2800" dirty="0">
                <a:latin typeface="宋体"/>
                <a:ea typeface="宋体"/>
                <a:cs typeface="宋体"/>
              </a:rPr>
              <a:t>如果没有重获生命权，是否可能导致有些执行者的滥用职权行为？</a:t>
            </a:r>
            <a:endParaRPr lang="en-US" altLang="zh-CN" sz="2800" dirty="0">
              <a:latin typeface="宋体"/>
              <a:ea typeface="宋体"/>
              <a:cs typeface="宋体"/>
            </a:endParaRPr>
          </a:p>
          <a:p>
            <a:r>
              <a:rPr lang="zh-CN" altLang="zh-CN" sz="2800" dirty="0">
                <a:latin typeface="宋体"/>
                <a:ea typeface="宋体"/>
                <a:cs typeface="宋体"/>
              </a:rPr>
              <a:t>如果自然获得了再生的权利，又显然不具理论根据。</a:t>
            </a:r>
          </a:p>
          <a:p>
            <a:endParaRPr kumimoji="1" lang="zh-CN" altLang="en-US" dirty="0"/>
          </a:p>
        </p:txBody>
      </p:sp>
    </p:spTree>
    <p:extLst>
      <p:ext uri="{BB962C8B-B14F-4D97-AF65-F5344CB8AC3E}">
        <p14:creationId xmlns:p14="http://schemas.microsoft.com/office/powerpoint/2010/main" val="2416766793"/>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死刑的执行</a:t>
            </a:r>
          </a:p>
        </p:txBody>
      </p:sp>
      <p:sp>
        <p:nvSpPr>
          <p:cNvPr id="3" name="内容占位符 2"/>
          <p:cNvSpPr>
            <a:spLocks noGrp="1"/>
          </p:cNvSpPr>
          <p:nvPr>
            <p:ph idx="1"/>
          </p:nvPr>
        </p:nvSpPr>
        <p:spPr>
          <a:xfrm>
            <a:off x="467544" y="908720"/>
            <a:ext cx="8229600" cy="5399806"/>
          </a:xfrm>
        </p:spPr>
        <p:txBody>
          <a:bodyPr/>
          <a:lstStyle/>
          <a:p>
            <a:r>
              <a:rPr lang="zh-CN" altLang="en-US" sz="3200" b="1" dirty="0">
                <a:latin typeface="黑体"/>
                <a:ea typeface="黑体"/>
                <a:cs typeface="黑体"/>
              </a:rPr>
              <a:t>第五</a:t>
            </a:r>
            <a:r>
              <a:rPr lang="zh-CN" altLang="zh-CN" sz="3200" b="1" dirty="0">
                <a:latin typeface="黑体"/>
                <a:ea typeface="黑体"/>
                <a:cs typeface="黑体"/>
              </a:rPr>
              <a:t>，</a:t>
            </a:r>
            <a:r>
              <a:rPr lang="zh-CN" altLang="zh-CN" sz="2800" b="1" dirty="0">
                <a:latin typeface="宋体"/>
                <a:ea typeface="宋体"/>
                <a:cs typeface="宋体"/>
              </a:rPr>
              <a:t>死刑犯是否有权怀孕？</a:t>
            </a:r>
            <a:endParaRPr lang="zh-CN" altLang="zh-CN" sz="2800" dirty="0">
              <a:latin typeface="宋体"/>
              <a:ea typeface="宋体"/>
              <a:cs typeface="宋体"/>
            </a:endParaRPr>
          </a:p>
          <a:p>
            <a:r>
              <a:rPr lang="zh-CN" altLang="zh-CN" dirty="0">
                <a:latin typeface="宋体"/>
                <a:ea typeface="宋体"/>
                <a:cs typeface="宋体"/>
              </a:rPr>
              <a:t>有报道说，某死刑犯的妻子要求怀孕，留下丈夫的后代。</a:t>
            </a:r>
          </a:p>
          <a:p>
            <a:r>
              <a:rPr lang="zh-CN" altLang="zh-CN" dirty="0">
                <a:latin typeface="宋体"/>
                <a:ea typeface="宋体"/>
                <a:cs typeface="宋体"/>
              </a:rPr>
              <a:t>按照</a:t>
            </a:r>
            <a:r>
              <a:rPr lang="zh-CN" altLang="en-US" dirty="0">
                <a:latin typeface="宋体"/>
                <a:ea typeface="宋体"/>
                <a:cs typeface="宋体"/>
              </a:rPr>
              <a:t>刑法和刑诉法的规</a:t>
            </a:r>
            <a:r>
              <a:rPr lang="zh-CN" altLang="zh-CN" dirty="0">
                <a:latin typeface="宋体"/>
                <a:ea typeface="宋体"/>
                <a:cs typeface="宋体"/>
              </a:rPr>
              <a:t>定：人民法院对</a:t>
            </a:r>
            <a:r>
              <a:rPr lang="en-US" altLang="zh-CN" dirty="0">
                <a:latin typeface="宋体"/>
                <a:ea typeface="宋体"/>
                <a:cs typeface="宋体"/>
              </a:rPr>
              <a:t>“</a:t>
            </a:r>
            <a:r>
              <a:rPr lang="zh-CN" altLang="zh-CN" dirty="0">
                <a:latin typeface="宋体"/>
                <a:ea typeface="宋体"/>
                <a:cs typeface="宋体"/>
              </a:rPr>
              <a:t>审判的时候怀孕的妇女，不适用死刑。</a:t>
            </a:r>
            <a:r>
              <a:rPr lang="en-US" altLang="zh-CN" dirty="0">
                <a:latin typeface="宋体"/>
                <a:ea typeface="宋体"/>
                <a:cs typeface="宋体"/>
              </a:rPr>
              <a:t>”</a:t>
            </a:r>
            <a:r>
              <a:rPr lang="zh-CN" altLang="zh-CN" dirty="0">
                <a:latin typeface="宋体"/>
                <a:ea typeface="宋体"/>
                <a:cs typeface="宋体"/>
              </a:rPr>
              <a:t>如果人民法院在审判时发现，在羁押受审时已是孕妇的，仍应依照上述法律规定，不适用死刑。</a:t>
            </a:r>
            <a:endParaRPr lang="en-US" altLang="zh-CN" dirty="0">
              <a:latin typeface="宋体"/>
              <a:ea typeface="宋体"/>
              <a:cs typeface="宋体"/>
            </a:endParaRPr>
          </a:p>
          <a:p>
            <a:r>
              <a:rPr lang="zh-CN" altLang="zh-CN" dirty="0">
                <a:latin typeface="宋体"/>
                <a:ea typeface="宋体"/>
                <a:cs typeface="宋体"/>
              </a:rPr>
              <a:t>对怀孕的妇女，都不应当为了要判处死刑，而进行人工流产；已经人工流产的，仍应视同怀孕的妇女，不适用死刑。</a:t>
            </a:r>
            <a:endParaRPr lang="en-US" altLang="zh-CN" b="1" dirty="0">
              <a:latin typeface="宋体"/>
              <a:ea typeface="宋体"/>
              <a:cs typeface="宋体"/>
            </a:endParaRPr>
          </a:p>
          <a:p>
            <a:r>
              <a:rPr lang="zh-CN" altLang="zh-CN" b="1" dirty="0">
                <a:latin typeface="宋体"/>
                <a:ea typeface="宋体"/>
                <a:cs typeface="宋体"/>
              </a:rPr>
              <a:t>如果允许诉讼期间的女性怀孕，无异于使其有机会免死——显然不可能。所以，不可能让未怀孕的死刑犯怀孕。</a:t>
            </a:r>
            <a:endParaRPr lang="zh-CN" altLang="zh-CN" dirty="0">
              <a:latin typeface="宋体"/>
              <a:ea typeface="宋体"/>
              <a:cs typeface="宋体"/>
            </a:endParaRPr>
          </a:p>
          <a:p>
            <a:r>
              <a:rPr lang="zh-CN" altLang="zh-CN" dirty="0">
                <a:latin typeface="宋体"/>
                <a:ea typeface="宋体"/>
                <a:cs typeface="宋体"/>
              </a:rPr>
              <a:t>既然女性被告被限制怀孕，如果男性被告可以留下后代，男女平等怎么理解？</a:t>
            </a:r>
          </a:p>
          <a:p>
            <a:endParaRPr kumimoji="1" lang="zh-CN" altLang="en-US" dirty="0"/>
          </a:p>
        </p:txBody>
      </p:sp>
    </p:spTree>
    <p:extLst>
      <p:ext uri="{BB962C8B-B14F-4D97-AF65-F5344CB8AC3E}">
        <p14:creationId xmlns:p14="http://schemas.microsoft.com/office/powerpoint/2010/main" val="2416766793"/>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小结</a:t>
            </a:r>
          </a:p>
        </p:txBody>
      </p:sp>
      <p:sp>
        <p:nvSpPr>
          <p:cNvPr id="3" name="内容占位符 2"/>
          <p:cNvSpPr>
            <a:spLocks noGrp="1"/>
          </p:cNvSpPr>
          <p:nvPr>
            <p:ph idx="1"/>
          </p:nvPr>
        </p:nvSpPr>
        <p:spPr>
          <a:xfrm>
            <a:off x="755576" y="980728"/>
            <a:ext cx="7632848" cy="5400600"/>
          </a:xfrm>
        </p:spPr>
        <p:txBody>
          <a:bodyPr/>
          <a:lstStyle/>
          <a:p>
            <a:r>
              <a:rPr lang="zh-CN" altLang="zh-CN" dirty="0">
                <a:latin typeface="楷体"/>
                <a:ea typeface="楷体"/>
                <a:cs typeface="楷体"/>
              </a:rPr>
              <a:t>动刑、除刑、量刑</a:t>
            </a:r>
            <a:r>
              <a:rPr lang="zh-CN" altLang="en-US" dirty="0">
                <a:latin typeface="楷体"/>
                <a:ea typeface="楷体"/>
                <a:cs typeface="楷体"/>
              </a:rPr>
              <a:t>的前提都是</a:t>
            </a:r>
            <a:r>
              <a:rPr lang="zh-CN" altLang="zh-CN" dirty="0">
                <a:latin typeface="楷体"/>
                <a:ea typeface="楷体"/>
                <a:cs typeface="楷体"/>
              </a:rPr>
              <a:t>已有法律可循，</a:t>
            </a:r>
            <a:r>
              <a:rPr lang="zh-CN" altLang="en-US" dirty="0">
                <a:latin typeface="楷体"/>
                <a:ea typeface="楷体"/>
                <a:cs typeface="楷体"/>
              </a:rPr>
              <a:t>而用刑过程实际上是依法平衡加害被害关系的过程。</a:t>
            </a:r>
            <a:endParaRPr lang="en-US" altLang="zh-CN" dirty="0">
              <a:latin typeface="楷体"/>
              <a:ea typeface="楷体"/>
              <a:cs typeface="楷体"/>
            </a:endParaRPr>
          </a:p>
          <a:p>
            <a:r>
              <a:rPr lang="zh-CN" altLang="en-US" dirty="0">
                <a:latin typeface="楷体"/>
                <a:ea typeface="楷体"/>
                <a:cs typeface="楷体"/>
              </a:rPr>
              <a:t>假设检验：如果裁判中立，则，有被害过错的案件中的罪犯平均刑量就应该显著低于无被害过错案件</a:t>
            </a:r>
          </a:p>
          <a:p>
            <a:r>
              <a:rPr lang="zh-CN" altLang="en-US" dirty="0">
                <a:latin typeface="楷体"/>
                <a:ea typeface="楷体"/>
                <a:cs typeface="楷体"/>
              </a:rPr>
              <a:t>结果：被害过错（杀人）案件平均刑量</a:t>
            </a:r>
            <a:r>
              <a:rPr lang="en-US" altLang="zh-CN" dirty="0">
                <a:latin typeface="楷体"/>
                <a:ea typeface="楷体"/>
                <a:cs typeface="楷体"/>
              </a:rPr>
              <a:t>242.13</a:t>
            </a:r>
            <a:r>
              <a:rPr lang="zh-CN" altLang="en-US" dirty="0">
                <a:latin typeface="楷体"/>
                <a:ea typeface="楷体"/>
                <a:cs typeface="楷体"/>
              </a:rPr>
              <a:t>，约为</a:t>
            </a:r>
            <a:r>
              <a:rPr lang="en-US" altLang="zh-CN" dirty="0">
                <a:latin typeface="楷体"/>
                <a:ea typeface="楷体"/>
                <a:cs typeface="楷体"/>
              </a:rPr>
              <a:t>20</a:t>
            </a:r>
            <a:r>
              <a:rPr lang="zh-CN" altLang="en-US" dirty="0">
                <a:latin typeface="楷体"/>
                <a:ea typeface="楷体"/>
                <a:cs typeface="楷体"/>
              </a:rPr>
              <a:t>年有期徒刑到无期徒刑之间，而无被害过错案件的平均刑量</a:t>
            </a:r>
            <a:r>
              <a:rPr lang="en-US" altLang="zh-CN" dirty="0">
                <a:latin typeface="楷体"/>
                <a:ea typeface="楷体"/>
                <a:cs typeface="楷体"/>
              </a:rPr>
              <a:t>383.32</a:t>
            </a:r>
            <a:r>
              <a:rPr lang="zh-CN" altLang="en-US" dirty="0">
                <a:latin typeface="楷体"/>
                <a:ea typeface="楷体"/>
                <a:cs typeface="楷体"/>
              </a:rPr>
              <a:t>，约为死缓并处没收个人全部财产</a:t>
            </a:r>
          </a:p>
          <a:p>
            <a:r>
              <a:rPr lang="en-US" altLang="zh-CN" dirty="0">
                <a:latin typeface="楷体"/>
                <a:ea typeface="楷体"/>
                <a:cs typeface="楷体"/>
              </a:rPr>
              <a:t>——</a:t>
            </a:r>
            <a:r>
              <a:rPr lang="zh-CN" altLang="en-US" dirty="0">
                <a:latin typeface="楷体"/>
                <a:ea typeface="楷体"/>
                <a:cs typeface="楷体"/>
              </a:rPr>
              <a:t>同时体现了对犯罪的惩戒和对被害过错的</a:t>
            </a:r>
            <a:r>
              <a:rPr lang="zh-CN" altLang="en-US" sz="2800" b="1" dirty="0">
                <a:latin typeface="黑体"/>
                <a:ea typeface="黑体"/>
                <a:cs typeface="黑体"/>
              </a:rPr>
              <a:t>隐性评价</a:t>
            </a:r>
            <a:r>
              <a:rPr lang="zh-CN" altLang="en-US" b="1" dirty="0">
                <a:latin typeface="楷体"/>
                <a:ea typeface="楷体"/>
                <a:cs typeface="楷体"/>
              </a:rPr>
              <a:t> </a:t>
            </a:r>
            <a:endParaRPr lang="en-US" altLang="zh-CN" dirty="0">
              <a:latin typeface="楷体"/>
              <a:ea typeface="楷体"/>
              <a:cs typeface="楷体"/>
            </a:endParaRPr>
          </a:p>
          <a:p>
            <a:r>
              <a:rPr lang="zh-CN" altLang="en-US" dirty="0">
                <a:latin typeface="楷体"/>
                <a:ea typeface="楷体"/>
                <a:cs typeface="楷体"/>
              </a:rPr>
              <a:t>基本理论：法条主义与现实主义的关系。</a:t>
            </a:r>
            <a:endParaRPr lang="en-US" altLang="zh-CN" dirty="0">
              <a:latin typeface="楷体"/>
              <a:ea typeface="楷体"/>
              <a:cs typeface="楷体"/>
            </a:endParaRPr>
          </a:p>
          <a:p>
            <a:r>
              <a:rPr lang="en-US" altLang="zh-CN" sz="2800" b="1" dirty="0">
                <a:latin typeface="楷体"/>
                <a:ea typeface="楷体"/>
                <a:cs typeface="楷体"/>
              </a:rPr>
              <a:t>——</a:t>
            </a:r>
            <a:r>
              <a:rPr lang="zh-CN" altLang="en-US" sz="2800" b="1" dirty="0">
                <a:latin typeface="楷体"/>
                <a:ea typeface="楷体"/>
                <a:cs typeface="楷体"/>
              </a:rPr>
              <a:t>法律不制造社会不公，也不要放大社会不公。</a:t>
            </a:r>
            <a:endParaRPr lang="zh-CN" altLang="zh-CN" sz="2800" b="1" dirty="0">
              <a:latin typeface="楷体"/>
              <a:ea typeface="楷体"/>
              <a:cs typeface="楷体"/>
            </a:endParaRPr>
          </a:p>
          <a:p>
            <a:endParaRPr kumimoji="1" lang="zh-CN" altLang="en-US" dirty="0">
              <a:latin typeface="楷体"/>
              <a:ea typeface="楷体"/>
              <a:cs typeface="楷体"/>
            </a:endParaRPr>
          </a:p>
        </p:txBody>
      </p:sp>
    </p:spTree>
    <p:extLst>
      <p:ext uri="{BB962C8B-B14F-4D97-AF65-F5344CB8AC3E}">
        <p14:creationId xmlns:p14="http://schemas.microsoft.com/office/powerpoint/2010/main" val="953204345"/>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60648"/>
            <a:ext cx="8280920" cy="1008112"/>
          </a:xfrm>
        </p:spPr>
        <p:txBody>
          <a:bodyPr/>
          <a:lstStyle/>
          <a:p>
            <a:r>
              <a:rPr kumimoji="1" lang="zh-CN" altLang="en-US" sz="3200" b="1" dirty="0">
                <a:latin typeface="黑体"/>
                <a:ea typeface="黑体"/>
                <a:cs typeface="黑体"/>
              </a:rPr>
              <a:t>横向：</a:t>
            </a:r>
            <a:r>
              <a:rPr kumimoji="1" lang="zh-CN" altLang="en-US" b="1" dirty="0">
                <a:latin typeface="楷体"/>
                <a:ea typeface="楷体"/>
                <a:cs typeface="楷体"/>
              </a:rPr>
              <a:t>犯罪有害；刑罚不仁；罪有因果；相对公正</a:t>
            </a:r>
            <a:br>
              <a:rPr kumimoji="1" lang="en-US" altLang="zh-CN" b="1" dirty="0">
                <a:latin typeface="楷体"/>
                <a:ea typeface="楷体"/>
                <a:cs typeface="楷体"/>
              </a:rPr>
            </a:br>
            <a:r>
              <a:rPr kumimoji="1" lang="zh-CN" altLang="en-US" sz="3200" b="1" dirty="0">
                <a:latin typeface="黑体"/>
                <a:ea typeface="黑体"/>
                <a:cs typeface="黑体"/>
              </a:rPr>
              <a:t>纵向：</a:t>
            </a:r>
            <a:r>
              <a:rPr kumimoji="1" lang="zh-CN" altLang="en-US" b="1" dirty="0">
                <a:latin typeface="楷体"/>
                <a:ea typeface="楷体"/>
                <a:cs typeface="楷体"/>
              </a:rPr>
              <a:t>现象；理论；对策</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886792743"/>
              </p:ext>
            </p:extLst>
          </p:nvPr>
        </p:nvGraphicFramePr>
        <p:xfrm>
          <a:off x="395537" y="1556792"/>
          <a:ext cx="8208912" cy="4752528"/>
        </p:xfrm>
        <a:graphic>
          <a:graphicData uri="http://schemas.openxmlformats.org/drawingml/2006/table">
            <a:tbl>
              <a:tblPr firstRow="1" bandRow="1">
                <a:tableStyleId>{3B4B98B0-60AC-42C2-AFA5-B58CD77FA1E5}</a:tableStyleId>
              </a:tblPr>
              <a:tblGrid>
                <a:gridCol w="273630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2736304">
                  <a:extLst>
                    <a:ext uri="{9D8B030D-6E8A-4147-A177-3AD203B41FA5}">
                      <a16:colId xmlns:a16="http://schemas.microsoft.com/office/drawing/2014/main" val="20002"/>
                    </a:ext>
                  </a:extLst>
                </a:gridCol>
              </a:tblGrid>
              <a:tr h="1188132">
                <a:tc>
                  <a:txBody>
                    <a:bodyPr/>
                    <a:lstStyle/>
                    <a:p>
                      <a:pPr algn="ctr"/>
                      <a:r>
                        <a:rPr lang="zh-CN" altLang="en-US" sz="3600" b="1" dirty="0">
                          <a:latin typeface="黑体"/>
                          <a:ea typeface="黑体"/>
                          <a:cs typeface="黑体"/>
                        </a:rPr>
                        <a:t>犯罪行为</a:t>
                      </a:r>
                    </a:p>
                  </a:txBody>
                  <a:tcPr anchor="ctr">
                    <a:cell3D prstMaterial="dkEdge">
                      <a:bevel/>
                      <a:lightRig rig="flood" dir="t"/>
                    </a:cell3D>
                    <a:solidFill>
                      <a:schemeClr val="bg2"/>
                    </a:solidFill>
                  </a:tcPr>
                </a:tc>
                <a:tc>
                  <a:txBody>
                    <a:bodyPr/>
                    <a:lstStyle/>
                    <a:p>
                      <a:pPr algn="ctr"/>
                      <a:r>
                        <a:rPr lang="zh-CN" altLang="en-US" sz="3600" b="1" dirty="0">
                          <a:latin typeface="黑体"/>
                          <a:ea typeface="黑体"/>
                          <a:cs typeface="黑体"/>
                        </a:rPr>
                        <a:t>犯罪性</a:t>
                      </a:r>
                    </a:p>
                  </a:txBody>
                  <a:tcPr anchor="ctr">
                    <a:cell3D prstMaterial="dkEdge">
                      <a:bevel prst="convex"/>
                      <a:lightRig rig="flood" dir="t"/>
                    </a:cell3D>
                    <a:solidFill>
                      <a:schemeClr val="bg2"/>
                    </a:solidFill>
                  </a:tcPr>
                </a:tc>
                <a:tc>
                  <a:txBody>
                    <a:bodyPr/>
                    <a:lstStyle/>
                    <a:p>
                      <a:pPr algn="ctr"/>
                      <a:r>
                        <a:rPr lang="zh-CN" altLang="en-US" sz="3600" b="1" dirty="0">
                          <a:latin typeface="黑体"/>
                          <a:ea typeface="黑体"/>
                          <a:cs typeface="黑体"/>
                        </a:rPr>
                        <a:t>动刑</a:t>
                      </a:r>
                    </a:p>
                  </a:txBody>
                  <a:tcPr anchor="ctr">
                    <a:cell3D prstMaterial="dkEdge">
                      <a:bevel w="152400" h="50800" prst="softRound"/>
                      <a:lightRig rig="flood" dir="t"/>
                    </a:cell3D>
                    <a:solidFill>
                      <a:schemeClr val="bg2"/>
                    </a:solidFill>
                  </a:tcPr>
                </a:tc>
                <a:extLst>
                  <a:ext uri="{0D108BD9-81ED-4DB2-BD59-A6C34878D82A}">
                    <a16:rowId xmlns:a16="http://schemas.microsoft.com/office/drawing/2014/main" val="10000"/>
                  </a:ext>
                </a:extLst>
              </a:tr>
              <a:tr h="1188132">
                <a:tc>
                  <a:txBody>
                    <a:bodyPr/>
                    <a:lstStyle/>
                    <a:p>
                      <a:pPr algn="ctr"/>
                      <a:r>
                        <a:rPr lang="zh-CN" altLang="en-US" sz="3600" b="1" dirty="0">
                          <a:latin typeface="黑体"/>
                          <a:ea typeface="黑体"/>
                          <a:cs typeface="黑体"/>
                        </a:rPr>
                        <a:t>犯罪人</a:t>
                      </a:r>
                    </a:p>
                  </a:txBody>
                  <a:tcPr anchor="ctr">
                    <a:cell3D prstMaterial="dkEdge">
                      <a:bevel prst="convex"/>
                      <a:lightRig rig="flood" dir="t"/>
                    </a:cell3D>
                    <a:solidFill>
                      <a:schemeClr val="bg2"/>
                    </a:solidFill>
                  </a:tcPr>
                </a:tc>
                <a:tc>
                  <a:txBody>
                    <a:bodyPr/>
                    <a:lstStyle/>
                    <a:p>
                      <a:pPr algn="ctr"/>
                      <a:r>
                        <a:rPr lang="zh-CN" altLang="en-US" sz="3600" b="1" dirty="0">
                          <a:latin typeface="黑体"/>
                          <a:ea typeface="黑体"/>
                          <a:cs typeface="黑体"/>
                        </a:rPr>
                        <a:t>犯罪化</a:t>
                      </a:r>
                    </a:p>
                  </a:txBody>
                  <a:tcPr anchor="ctr">
                    <a:cell3D prstMaterial="dkEdge">
                      <a:bevel prst="convex"/>
                      <a:lightRig rig="flood" dir="t"/>
                    </a:cell3D>
                    <a:solidFill>
                      <a:schemeClr val="bg2"/>
                    </a:solidFill>
                  </a:tcPr>
                </a:tc>
                <a:tc>
                  <a:txBody>
                    <a:bodyPr/>
                    <a:lstStyle/>
                    <a:p>
                      <a:pPr algn="ctr"/>
                      <a:r>
                        <a:rPr lang="zh-CN" altLang="en-US" sz="3600" b="1" dirty="0">
                          <a:latin typeface="黑体"/>
                          <a:ea typeface="黑体"/>
                          <a:cs typeface="黑体"/>
                        </a:rPr>
                        <a:t>除刑</a:t>
                      </a:r>
                    </a:p>
                  </a:txBody>
                  <a:tcPr anchor="ctr">
                    <a:cell3D prstMaterial="dkEdge">
                      <a:bevel prst="convex"/>
                      <a:lightRig rig="flood" dir="t"/>
                    </a:cell3D>
                    <a:solidFill>
                      <a:schemeClr val="bg2"/>
                    </a:solidFill>
                  </a:tcPr>
                </a:tc>
                <a:extLst>
                  <a:ext uri="{0D108BD9-81ED-4DB2-BD59-A6C34878D82A}">
                    <a16:rowId xmlns:a16="http://schemas.microsoft.com/office/drawing/2014/main" val="10001"/>
                  </a:ext>
                </a:extLst>
              </a:tr>
              <a:tr h="1188132">
                <a:tc>
                  <a:txBody>
                    <a:bodyPr/>
                    <a:lstStyle/>
                    <a:p>
                      <a:pPr algn="ctr"/>
                      <a:r>
                        <a:rPr lang="zh-CN" altLang="en-US" sz="3600" b="1" dirty="0">
                          <a:latin typeface="黑体"/>
                          <a:ea typeface="黑体"/>
                          <a:cs typeface="黑体"/>
                        </a:rPr>
                        <a:t>犯罪心理</a:t>
                      </a:r>
                    </a:p>
                  </a:txBody>
                  <a:tcPr anchor="ctr">
                    <a:cell3D prstMaterial="dkEdge">
                      <a:bevel prst="convex"/>
                      <a:lightRig rig="flood" dir="t"/>
                    </a:cell3D>
                    <a:solidFill>
                      <a:schemeClr val="bg2"/>
                    </a:solidFill>
                  </a:tcPr>
                </a:tc>
                <a:tc>
                  <a:txBody>
                    <a:bodyPr/>
                    <a:lstStyle/>
                    <a:p>
                      <a:pPr algn="ctr"/>
                      <a:r>
                        <a:rPr lang="zh-CN" altLang="en-US" sz="3600" b="1" dirty="0">
                          <a:latin typeface="黑体"/>
                          <a:ea typeface="黑体"/>
                          <a:cs typeface="黑体"/>
                        </a:rPr>
                        <a:t>犯罪规律</a:t>
                      </a:r>
                    </a:p>
                  </a:txBody>
                  <a:tcPr anchor="ctr">
                    <a:cell3D prstMaterial="dkEdge">
                      <a:bevel prst="convex"/>
                      <a:lightRig rig="flood" dir="t"/>
                    </a:cell3D>
                    <a:solidFill>
                      <a:schemeClr val="bg2"/>
                    </a:solidFill>
                  </a:tcPr>
                </a:tc>
                <a:tc>
                  <a:txBody>
                    <a:bodyPr/>
                    <a:lstStyle/>
                    <a:p>
                      <a:pPr algn="ctr"/>
                      <a:r>
                        <a:rPr lang="zh-CN" altLang="en-US" sz="3600" b="1" dirty="0">
                          <a:latin typeface="黑体"/>
                          <a:ea typeface="黑体"/>
                          <a:cs typeface="黑体"/>
                        </a:rPr>
                        <a:t>量刑</a:t>
                      </a:r>
                    </a:p>
                  </a:txBody>
                  <a:tcPr anchor="ctr">
                    <a:cell3D prstMaterial="dkEdge">
                      <a:bevel prst="convex"/>
                      <a:lightRig rig="flood" dir="t"/>
                    </a:cell3D>
                    <a:solidFill>
                      <a:schemeClr val="bg2"/>
                    </a:solidFill>
                  </a:tcPr>
                </a:tc>
                <a:extLst>
                  <a:ext uri="{0D108BD9-81ED-4DB2-BD59-A6C34878D82A}">
                    <a16:rowId xmlns:a16="http://schemas.microsoft.com/office/drawing/2014/main" val="10002"/>
                  </a:ext>
                </a:extLst>
              </a:tr>
              <a:tr h="1188132">
                <a:tc>
                  <a:txBody>
                    <a:bodyPr/>
                    <a:lstStyle/>
                    <a:p>
                      <a:pPr algn="ctr"/>
                      <a:r>
                        <a:rPr lang="zh-CN" altLang="en-US" sz="3600" b="1" dirty="0">
                          <a:latin typeface="黑体"/>
                          <a:ea typeface="黑体"/>
                          <a:cs typeface="黑体"/>
                        </a:rPr>
                        <a:t>被害人</a:t>
                      </a:r>
                    </a:p>
                  </a:txBody>
                  <a:tcPr anchor="ctr">
                    <a:cell3D prstMaterial="dkEdge">
                      <a:bevel prst="convex"/>
                      <a:lightRig rig="flood" dir="t"/>
                    </a:cell3D>
                    <a:solidFill>
                      <a:schemeClr val="bg2"/>
                    </a:solidFill>
                  </a:tcPr>
                </a:tc>
                <a:tc>
                  <a:txBody>
                    <a:bodyPr/>
                    <a:lstStyle/>
                    <a:p>
                      <a:pPr algn="ctr"/>
                      <a:r>
                        <a:rPr lang="zh-CN" altLang="en-US" sz="3600" b="1" dirty="0">
                          <a:latin typeface="黑体"/>
                          <a:ea typeface="黑体"/>
                          <a:cs typeface="黑体"/>
                        </a:rPr>
                        <a:t>风险互动</a:t>
                      </a:r>
                    </a:p>
                  </a:txBody>
                  <a:tcPr anchor="ctr">
                    <a:cell3D prstMaterial="dkEdge">
                      <a:bevel prst="convex"/>
                      <a:lightRig rig="flood" dir="t"/>
                    </a:cell3D>
                    <a:solidFill>
                      <a:schemeClr val="bg2"/>
                    </a:solidFill>
                  </a:tcPr>
                </a:tc>
                <a:tc>
                  <a:txBody>
                    <a:bodyPr/>
                    <a:lstStyle/>
                    <a:p>
                      <a:pPr algn="ctr"/>
                      <a:r>
                        <a:rPr lang="zh-CN" altLang="en-US" sz="3600" b="1" dirty="0">
                          <a:latin typeface="黑体"/>
                          <a:ea typeface="黑体"/>
                          <a:cs typeface="黑体"/>
                        </a:rPr>
                        <a:t>用刑</a:t>
                      </a:r>
                    </a:p>
                  </a:txBody>
                  <a:tcPr anchor="ctr">
                    <a:cell3D prstMaterial="dkEdge">
                      <a:bevel prst="convex"/>
                      <a:lightRig rig="flood" dir="t"/>
                    </a:cell3D>
                    <a:solidFill>
                      <a:schemeClr val="bg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2352704"/>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endParaRPr kumimoji="1" lang="zh-CN" altLang="en-US" dirty="0"/>
          </a:p>
        </p:txBody>
      </p:sp>
      <p:sp>
        <p:nvSpPr>
          <p:cNvPr id="5" name="副标题 4"/>
          <p:cNvSpPr>
            <a:spLocks noGrp="1"/>
          </p:cNvSpPr>
          <p:nvPr>
            <p:ph type="subTitle" idx="1"/>
          </p:nvPr>
        </p:nvSpPr>
        <p:spPr>
          <a:xfrm>
            <a:off x="1187624" y="2780928"/>
            <a:ext cx="6400800" cy="1620838"/>
          </a:xfrm>
        </p:spPr>
        <p:txBody>
          <a:bodyPr/>
          <a:lstStyle/>
          <a:p>
            <a:pPr algn="ctr"/>
            <a:r>
              <a:rPr kumimoji="1" lang="zh-CN" altLang="en-US" sz="4400"/>
              <a:t>谢谢！</a:t>
            </a:r>
            <a:endParaRPr kumimoji="1" lang="zh-CN" altLang="en-US" sz="4400" dirty="0"/>
          </a:p>
        </p:txBody>
      </p:sp>
    </p:spTree>
    <p:extLst>
      <p:ext uri="{BB962C8B-B14F-4D97-AF65-F5344CB8AC3E}">
        <p14:creationId xmlns:p14="http://schemas.microsoft.com/office/powerpoint/2010/main" val="691172269"/>
      </p:ext>
    </p:extLst>
  </p:cSld>
  <p:clrMapOvr>
    <a:masterClrMapping/>
  </p:clrMapOvr>
  <p:transition>
    <p:fade/>
  </p:transition>
</p:sld>
</file>

<file path=ppt/theme/theme1.xml><?xml version="1.0" encoding="utf-8"?>
<a:theme xmlns:a="http://schemas.openxmlformats.org/drawingml/2006/main" name="technical-drawing">
  <a:themeElements>
    <a:clrScheme name="Office 主题 13">
      <a:dk1>
        <a:srgbClr val="000000"/>
      </a:dk1>
      <a:lt1>
        <a:srgbClr val="FFFFFF"/>
      </a:lt1>
      <a:dk2>
        <a:srgbClr val="000000"/>
      </a:dk2>
      <a:lt2>
        <a:srgbClr val="C6C6C6"/>
      </a:lt2>
      <a:accent1>
        <a:srgbClr val="C1F1FF"/>
      </a:accent1>
      <a:accent2>
        <a:srgbClr val="FFC1CE"/>
      </a:accent2>
      <a:accent3>
        <a:srgbClr val="FFFFFF"/>
      </a:accent3>
      <a:accent4>
        <a:srgbClr val="000000"/>
      </a:accent4>
      <a:accent5>
        <a:srgbClr val="DDF7FF"/>
      </a:accent5>
      <a:accent6>
        <a:srgbClr val="E7AFBA"/>
      </a:accent6>
      <a:hlink>
        <a:srgbClr val="CDFFC1"/>
      </a:hlink>
      <a:folHlink>
        <a:srgbClr val="FFE1C1"/>
      </a:folHlink>
    </a:clrScheme>
    <a:fontScheme name="Office 主题">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pitchFamily="34" charset="0"/>
          </a:defRPr>
        </a:defPPr>
      </a:lstStyle>
    </a:lnDef>
  </a:objectDefaults>
  <a:extraClrSchemeLst>
    <a:extraClrScheme>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主题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主题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主题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主题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主题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主题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主题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ffice 主题 13">
        <a:dk1>
          <a:srgbClr val="000000"/>
        </a:dk1>
        <a:lt1>
          <a:srgbClr val="FFFFFF"/>
        </a:lt1>
        <a:dk2>
          <a:srgbClr val="000000"/>
        </a:dk2>
        <a:lt2>
          <a:srgbClr val="C6C6C6"/>
        </a:lt2>
        <a:accent1>
          <a:srgbClr val="C1F1FF"/>
        </a:accent1>
        <a:accent2>
          <a:srgbClr val="FFC1CE"/>
        </a:accent2>
        <a:accent3>
          <a:srgbClr val="FFFFFF"/>
        </a:accent3>
        <a:accent4>
          <a:srgbClr val="000000"/>
        </a:accent4>
        <a:accent5>
          <a:srgbClr val="DDF7FF"/>
        </a:accent5>
        <a:accent6>
          <a:srgbClr val="E7AFBA"/>
        </a:accent6>
        <a:hlink>
          <a:srgbClr val="CDFFC1"/>
        </a:hlink>
        <a:folHlink>
          <a:srgbClr val="FFE1C1"/>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technical-drawing</Template>
  <TotalTime>9713</TotalTime>
  <Words>6701</Words>
  <Application>Microsoft Macintosh PowerPoint</Application>
  <PresentationFormat>全屏显示(4:3)</PresentationFormat>
  <Paragraphs>377</Paragraphs>
  <Slides>63</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63</vt:i4>
      </vt:variant>
    </vt:vector>
  </HeadingPairs>
  <TitlesOfParts>
    <vt:vector size="84" baseType="lpstr">
      <vt:lpstr>方正粗圆简体</vt:lpstr>
      <vt:lpstr>方正舒体</vt:lpstr>
      <vt:lpstr>SimHei</vt:lpstr>
      <vt:lpstr>SimHei</vt:lpstr>
      <vt:lpstr>华文琥珀</vt:lpstr>
      <vt:lpstr>华文楷体</vt:lpstr>
      <vt:lpstr>华文隶书</vt:lpstr>
      <vt:lpstr>经典粗圆简</vt:lpstr>
      <vt:lpstr>经典综艺体简</vt:lpstr>
      <vt:lpstr>楷体</vt:lpstr>
      <vt:lpstr>隶书</vt:lpstr>
      <vt:lpstr>宋体</vt:lpstr>
      <vt:lpstr>微软简综艺</vt:lpstr>
      <vt:lpstr>KaiTi</vt:lpstr>
      <vt:lpstr>Lantinghei SC Demibold</vt:lpstr>
      <vt:lpstr>Arial</vt:lpstr>
      <vt:lpstr>Times New Roman</vt:lpstr>
      <vt:lpstr>Verdana</vt:lpstr>
      <vt:lpstr>Wingdings</vt:lpstr>
      <vt:lpstr>technical-drawing</vt:lpstr>
      <vt:lpstr>文档</vt:lpstr>
      <vt:lpstr>第十讲  被害人</vt:lpstr>
      <vt:lpstr>为什么研究被害人？</vt:lpstr>
      <vt:lpstr>被害人分类</vt:lpstr>
      <vt:lpstr>斯德哥尔摩综合症（Stockholm syndrome）</vt:lpstr>
      <vt:lpstr>被害关系</vt:lpstr>
      <vt:lpstr>分布与轻重</vt:lpstr>
      <vt:lpstr>金融犯罪中的加害－被害关系</vt:lpstr>
      <vt:lpstr>类型、特征与危害</vt:lpstr>
      <vt:lpstr>PowerPoint 演示文稿</vt:lpstr>
      <vt:lpstr>心理死角</vt:lpstr>
      <vt:lpstr>PowerPoint 演示文稿</vt:lpstr>
      <vt:lpstr>PowerPoint 演示文稿</vt:lpstr>
      <vt:lpstr>PowerPoint 演示文稿</vt:lpstr>
      <vt:lpstr>什么逻辑？</vt:lpstr>
      <vt:lpstr>网络金融犯罪</vt:lpstr>
      <vt:lpstr>第二类：网络财产犯罪</vt:lpstr>
      <vt:lpstr>第三类：网络信息系统类犯罪</vt:lpstr>
      <vt:lpstr>内幕交易罪</vt:lpstr>
      <vt:lpstr>操纵证券、期货市场罪</vt:lpstr>
      <vt:lpstr>赵江波“期货精灵”案</vt:lpstr>
      <vt:lpstr>第十一讲  风险互动</vt:lpstr>
      <vt:lpstr>互动概念的意义</vt:lpstr>
      <vt:lpstr>犯罪形态</vt:lpstr>
      <vt:lpstr>罪行中心</vt:lpstr>
      <vt:lpstr>罪行中心论的理论假定</vt:lpstr>
      <vt:lpstr>罪行中心论的理论假定</vt:lpstr>
      <vt:lpstr>罪行中心论的理论假定</vt:lpstr>
      <vt:lpstr>罪人中心</vt:lpstr>
      <vt:lpstr>罪人中心论的特点</vt:lpstr>
      <vt:lpstr>《朱克家族：对犯罪、贫穷、疾病与遗传的研究》 </vt:lpstr>
      <vt:lpstr>罪人中心论的特点</vt:lpstr>
      <vt:lpstr>两种理论的比较</vt:lpstr>
      <vt:lpstr>风险互动理论</vt:lpstr>
      <vt:lpstr>互动的类型</vt:lpstr>
      <vt:lpstr>没有被害不等于没有互动</vt:lpstr>
      <vt:lpstr>第二，互动关系也是对犯罪的一种解释。 </vt:lpstr>
      <vt:lpstr>第三，互动使犯罪人更加能动。</vt:lpstr>
      <vt:lpstr>第四，互动关系是社会反应的重要依据。 </vt:lpstr>
      <vt:lpstr>重新审视修女与妓女的命题 </vt:lpstr>
      <vt:lpstr>重新审视修女与妓女的命题 </vt:lpstr>
      <vt:lpstr>如果被害人：</vt:lpstr>
      <vt:lpstr>重新审视修女与妓女的命题 </vt:lpstr>
      <vt:lpstr>刑法的立场</vt:lpstr>
      <vt:lpstr>相对公正</vt:lpstr>
      <vt:lpstr>相对公正</vt:lpstr>
      <vt:lpstr>相对公正</vt:lpstr>
      <vt:lpstr>相对公正</vt:lpstr>
      <vt:lpstr>第十二讲  用刑 </vt:lpstr>
      <vt:lpstr>用刑并不全是法律问题</vt:lpstr>
      <vt:lpstr>死刑怎么用？</vt:lpstr>
      <vt:lpstr>为什么要慎用死刑？</vt:lpstr>
      <vt:lpstr>PowerPoint 演示文稿</vt:lpstr>
      <vt:lpstr>导致死缓的实际因素</vt:lpstr>
      <vt:lpstr>赔偿率：司法不仅意味着剥夺加害人，还应体现抚慰被害人</vt:lpstr>
      <vt:lpstr>用刑与行刑</vt:lpstr>
      <vt:lpstr>死刑的执行</vt:lpstr>
      <vt:lpstr>死刑的执行</vt:lpstr>
      <vt:lpstr>死刑的执行</vt:lpstr>
      <vt:lpstr>死刑的执行</vt:lpstr>
      <vt:lpstr>死刑的执行</vt:lpstr>
      <vt:lpstr>小结</vt:lpstr>
      <vt:lpstr>横向：犯罪有害；刑罚不仁；罪有因果；相对公正 纵向：现象；理论；对策</vt:lpstr>
      <vt:lpstr>PowerPoint 演示文稿</vt:lpstr>
    </vt:vector>
  </TitlesOfParts>
  <LinksUpToDate>false</LinksUpToDate>
  <SharedDoc>false</SharedDoc>
  <HyperlinksChanged>false</HyperlinksChanged>
  <AppVersion>16.0008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bjj</dc:creator>
  <cp:lastModifiedBy>Microsoft Office 用户</cp:lastModifiedBy>
  <cp:revision>295</cp:revision>
  <dcterms:created xsi:type="dcterms:W3CDTF">2010-09-20T08:14:22Z</dcterms:created>
  <dcterms:modified xsi:type="dcterms:W3CDTF">2017-12-13T01:54:23Z</dcterms:modified>
</cp:coreProperties>
</file>