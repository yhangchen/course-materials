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4" r:id="rId4"/>
    <p:sldId id="258" r:id="rId5"/>
    <p:sldId id="259" r:id="rId6"/>
    <p:sldId id="260" r:id="rId7"/>
    <p:sldId id="265" r:id="rId8"/>
    <p:sldId id="266" r:id="rId9"/>
    <p:sldId id="261" r:id="rId10"/>
    <p:sldId id="262" r:id="rId11"/>
    <p:sldId id="267" r:id="rId12"/>
    <p:sldId id="268" r:id="rId13"/>
    <p:sldId id="271" r:id="rId14"/>
    <p:sldId id="272" r:id="rId15"/>
    <p:sldId id="269" r:id="rId16"/>
    <p:sldId id="270" r:id="rId17"/>
    <p:sldId id="273" r:id="rId18"/>
    <p:sldId id="274" r:id="rId19"/>
    <p:sldId id="275" r:id="rId20"/>
    <p:sldId id="276" r:id="rId21"/>
    <p:sldId id="278" r:id="rId22"/>
    <p:sldId id="277" r:id="rId23"/>
    <p:sldId id="279" r:id="rId24"/>
    <p:sldId id="280" r:id="rId25"/>
    <p:sldId id="281" r:id="rId26"/>
    <p:sldId id="282" r:id="rId27"/>
    <p:sldId id="283" r:id="rId28"/>
    <p:sldId id="286" r:id="rId29"/>
    <p:sldId id="284" r:id="rId30"/>
    <p:sldId id="285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0066CC"/>
    <a:srgbClr val="FF3300"/>
    <a:srgbClr val="FFFF99"/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6" autoAdjust="0"/>
    <p:restoredTop sz="94660"/>
  </p:normalViewPr>
  <p:slideViewPr>
    <p:cSldViewPr>
      <p:cViewPr varScale="1">
        <p:scale>
          <a:sx n="84" d="100"/>
          <a:sy n="84" d="100"/>
        </p:scale>
        <p:origin x="-156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99241-E08B-4AAD-878B-F2C8A46DD5E6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FDFEB-08AF-464D-AA94-B73A5CAA2AD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DFDFEB-08AF-464D-AA94-B73A5CAA2AD3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EB866-DF30-4EC5-B56B-FBCA2853868A}" type="datetimeFigureOut">
              <a:rPr lang="zh-CN" altLang="en-US" smtClean="0"/>
              <a:pPr/>
              <a:t>2014-8-21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2C72D-05EA-45AF-9435-D5D68DE137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83568" y="1916832"/>
            <a:ext cx="7772400" cy="1829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逻辑学导论</a:t>
            </a:r>
            <a:endParaRPr kumimoji="0" lang="en-US" altLang="zh-CN" sz="5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（第三版）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itchFamily="2" charset="-122"/>
              <a:ea typeface="华文新魏" pitchFamily="2" charset="-122"/>
              <a:cs typeface="+mj-cs"/>
            </a:endParaRPr>
          </a:p>
        </p:txBody>
      </p:sp>
      <p:sp>
        <p:nvSpPr>
          <p:cNvPr id="5" name="副标题 2"/>
          <p:cNvSpPr txBox="1">
            <a:spLocks/>
          </p:cNvSpPr>
          <p:nvPr/>
        </p:nvSpPr>
        <p:spPr>
          <a:xfrm>
            <a:off x="683568" y="4293096"/>
            <a:ext cx="7772400" cy="120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新魏" pitchFamily="2" charset="-122"/>
                <a:ea typeface="华文新魏" pitchFamily="2" charset="-122"/>
              </a:rPr>
              <a:t>陈波 著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华文新魏" pitchFamily="2" charset="-122"/>
              <a:ea typeface="华文新魏" pitchFamily="2" charset="-122"/>
            </a:endParaRPr>
          </a:p>
          <a:p>
            <a:pPr lvl="0" algn="ctr">
              <a:spcBef>
                <a:spcPct val="20000"/>
              </a:spcBef>
            </a:pPr>
            <a:r>
              <a:rPr lang="zh-CN" altLang="en-US" sz="2800" dirty="0" smtClean="0">
                <a:latin typeface="华文新魏" pitchFamily="2" charset="-122"/>
                <a:ea typeface="华文新魏" pitchFamily="2" charset="-122"/>
              </a:rPr>
              <a:t>中国人民大学出版社（</a:t>
            </a:r>
            <a:r>
              <a:rPr lang="en-US" altLang="zh-CN" sz="2800" dirty="0" smtClean="0">
                <a:latin typeface="华文新魏" pitchFamily="2" charset="-122"/>
                <a:ea typeface="华文新魏" pitchFamily="2" charset="-122"/>
              </a:rPr>
              <a:t>2014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）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 rot="10800000" flipV="1">
            <a:off x="1143000" y="680393"/>
            <a:ext cx="70723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新编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21</a:t>
            </a:r>
            <a:r>
              <a:rPr lang="zh-CN" altLang="en-US" sz="2400" b="1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世纪系列教材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第一章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什么是逻辑学？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流程图: 顺序访问存储器 6"/>
          <p:cNvSpPr/>
          <p:nvPr/>
        </p:nvSpPr>
        <p:spPr>
          <a:xfrm>
            <a:off x="2195736" y="1844824"/>
            <a:ext cx="504056" cy="504056"/>
          </a:xfrm>
          <a:prstGeom prst="flowChartMagneticTap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顺序访问存储器 7"/>
          <p:cNvSpPr/>
          <p:nvPr/>
        </p:nvSpPr>
        <p:spPr>
          <a:xfrm>
            <a:off x="2195736" y="2708920"/>
            <a:ext cx="504056" cy="504056"/>
          </a:xfrm>
          <a:prstGeom prst="flowChartMagneticTap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顺序访问存储器 8"/>
          <p:cNvSpPr/>
          <p:nvPr/>
        </p:nvSpPr>
        <p:spPr>
          <a:xfrm>
            <a:off x="2195736" y="3573016"/>
            <a:ext cx="504056" cy="504056"/>
          </a:xfrm>
          <a:prstGeom prst="flowChartMagneticTape">
            <a:avLst/>
          </a:pr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顺序访问存储器 9"/>
          <p:cNvSpPr/>
          <p:nvPr/>
        </p:nvSpPr>
        <p:spPr>
          <a:xfrm>
            <a:off x="2195736" y="4437112"/>
            <a:ext cx="504056" cy="504056"/>
          </a:xfrm>
          <a:prstGeom prst="flowChartMagneticTap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顺序访问存储器 10"/>
          <p:cNvSpPr/>
          <p:nvPr/>
        </p:nvSpPr>
        <p:spPr>
          <a:xfrm>
            <a:off x="2195736" y="5373216"/>
            <a:ext cx="504056" cy="504056"/>
          </a:xfrm>
          <a:prstGeom prst="flowChartMagneticTap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逻辑学的对象</a:t>
            </a:r>
            <a:r>
              <a:rPr lang="en-US" altLang="zh-CN" sz="2400" b="1" dirty="0" smtClean="0">
                <a:latin typeface="+mn-ea"/>
              </a:rPr>
              <a:t>:</a:t>
            </a:r>
            <a:r>
              <a:rPr lang="zh-CN" altLang="en-US" sz="2400" b="1" dirty="0" smtClean="0">
                <a:latin typeface="+mn-ea"/>
              </a:rPr>
              <a:t>推理和验证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命题分析和逻辑类型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推理形式及其有效性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逻辑基本规律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7824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“逻辑”的词源与词义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第一章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什么是逻辑学？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流程图: 顺序访问存储器 6"/>
          <p:cNvSpPr/>
          <p:nvPr/>
        </p:nvSpPr>
        <p:spPr>
          <a:xfrm>
            <a:off x="2195736" y="1844824"/>
            <a:ext cx="504056" cy="504056"/>
          </a:xfrm>
          <a:prstGeom prst="flowChartMagneticTap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顺序访问存储器 7"/>
          <p:cNvSpPr/>
          <p:nvPr/>
        </p:nvSpPr>
        <p:spPr>
          <a:xfrm>
            <a:off x="2195736" y="2708920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流程图: 顺序访问存储器 8"/>
          <p:cNvSpPr/>
          <p:nvPr/>
        </p:nvSpPr>
        <p:spPr>
          <a:xfrm>
            <a:off x="2195736" y="3573016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流程图: 顺序访问存储器 9"/>
          <p:cNvSpPr/>
          <p:nvPr/>
        </p:nvSpPr>
        <p:spPr>
          <a:xfrm>
            <a:off x="2195736" y="4437112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流程图: 顺序访问存储器 10"/>
          <p:cNvSpPr/>
          <p:nvPr/>
        </p:nvSpPr>
        <p:spPr>
          <a:xfrm>
            <a:off x="2195736" y="5373216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逻辑学的对象</a:t>
            </a:r>
            <a:r>
              <a:rPr lang="en-US" altLang="zh-CN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: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推理和验证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命题分析和逻辑类型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推理形式及其有效性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逻辑基本规律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7824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“逻辑”的词源与词义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“逻辑”的古希腊词源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2924945"/>
            <a:ext cx="7848872" cy="194421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）一般的规律，原理和规则；</a:t>
            </a:r>
            <a:endParaRPr lang="en-US" altLang="zh-CN" sz="2000" dirty="0">
              <a:latin typeface="楷体" pitchFamily="49" charset="-122"/>
              <a:ea typeface="楷体" pitchFamily="49" charset="-122"/>
            </a:endParaRPr>
          </a:p>
          <a:p>
            <a:pPr>
              <a:buNone/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）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命题，说明，解释，论证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等；</a:t>
            </a:r>
            <a:endParaRPr lang="en-US" altLang="zh-CN" sz="2000" dirty="0" smtClean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>
              <a:buNone/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（</a:t>
            </a:r>
            <a:r>
              <a:rPr lang="en-US" altLang="zh-CN" sz="2000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3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）理性，推理，推理能力，与经验相对的抽象理论，与直觉相对的有条理的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推理；</a:t>
            </a:r>
            <a:endParaRPr lang="en-US" altLang="zh-CN" sz="2000" dirty="0" smtClean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>
              <a:buNone/>
            </a:pPr>
            <a:r>
              <a:rPr lang="zh-CN" altLang="en-US" sz="2000" dirty="0" smtClean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（</a:t>
            </a:r>
            <a:r>
              <a:rPr lang="en-US" altLang="zh-CN" sz="2000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sz="2000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）尺度，关系，比例，比率等。</a:t>
            </a:r>
            <a:endParaRPr lang="en-US" altLang="zh-CN" sz="2000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>
              <a:buNone/>
            </a:pPr>
            <a:endParaRPr lang="zh-CN" altLang="en-US" sz="2800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前凸带形 3"/>
          <p:cNvSpPr/>
          <p:nvPr/>
        </p:nvSpPr>
        <p:spPr>
          <a:xfrm>
            <a:off x="2483768" y="1556792"/>
            <a:ext cx="4176464" cy="1008112"/>
          </a:xfrm>
          <a:prstGeom prst="ribb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067944" y="1897668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 smtClean="0">
                <a:latin typeface="华文新魏" pitchFamily="2" charset="-122"/>
                <a:ea typeface="华文新魏" pitchFamily="2" charset="-122"/>
              </a:rPr>
              <a:t>logos</a:t>
            </a:r>
            <a:endParaRPr lang="zh-CN" altLang="en-US" sz="2800" b="1" i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云形 6"/>
          <p:cNvSpPr/>
          <p:nvPr/>
        </p:nvSpPr>
        <p:spPr>
          <a:xfrm>
            <a:off x="1619672" y="5013176"/>
            <a:ext cx="2592288" cy="1152128"/>
          </a:xfrm>
          <a:prstGeom prst="cloud">
            <a:avLst/>
          </a:prstGeom>
          <a:solidFill>
            <a:srgbClr val="FFFF99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云形 7"/>
          <p:cNvSpPr/>
          <p:nvPr/>
        </p:nvSpPr>
        <p:spPr>
          <a:xfrm>
            <a:off x="5220072" y="5013176"/>
            <a:ext cx="2592288" cy="1152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411760" y="5292497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华文新魏" pitchFamily="2" charset="-122"/>
                <a:ea typeface="华文新魏" pitchFamily="2" charset="-122"/>
              </a:rPr>
              <a:t>秩序</a:t>
            </a:r>
            <a:endParaRPr lang="zh-CN" altLang="en-US" sz="3200" b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12160" y="5292497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华文新魏" pitchFamily="2" charset="-122"/>
                <a:ea typeface="华文新魏" pitchFamily="2" charset="-122"/>
              </a:rPr>
              <a:t>规律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  <p:bldP spid="7" grpId="0" animBg="1"/>
      <p:bldP spid="8" grpId="0" animBg="1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446856" y="3326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itchFamily="2" charset="-122"/>
                <a:ea typeface="华文新魏" pitchFamily="2" charset="-122"/>
                <a:cs typeface="+mj-cs"/>
              </a:rPr>
              <a:t>“逻辑”的现代汉语词义</a:t>
            </a:r>
          </a:p>
        </p:txBody>
      </p:sp>
      <p:sp>
        <p:nvSpPr>
          <p:cNvPr id="7" name="折角形 6"/>
          <p:cNvSpPr/>
          <p:nvPr/>
        </p:nvSpPr>
        <p:spPr>
          <a:xfrm>
            <a:off x="3131840" y="1700808"/>
            <a:ext cx="3456384" cy="792088"/>
          </a:xfrm>
          <a:prstGeom prst="foldedCorner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491880" y="1844824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客观事物的规律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9" name="折角形 8"/>
          <p:cNvSpPr/>
          <p:nvPr/>
        </p:nvSpPr>
        <p:spPr>
          <a:xfrm>
            <a:off x="3131840" y="2852936"/>
            <a:ext cx="3456384" cy="792088"/>
          </a:xfrm>
          <a:prstGeom prst="foldedCorner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491880" y="2996952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某种理论、观点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1" name="折角形 10"/>
          <p:cNvSpPr/>
          <p:nvPr/>
        </p:nvSpPr>
        <p:spPr>
          <a:xfrm>
            <a:off x="2915816" y="4005064"/>
            <a:ext cx="3888432" cy="792088"/>
          </a:xfrm>
          <a:prstGeom prst="foldedCorner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275856" y="4149080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行楷" pitchFamily="2" charset="-122"/>
                <a:ea typeface="华文行楷" pitchFamily="2" charset="-122"/>
              </a:rPr>
              <a:t>思维</a:t>
            </a:r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的规律、规则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3" name="折角形 12"/>
          <p:cNvSpPr/>
          <p:nvPr/>
        </p:nvSpPr>
        <p:spPr>
          <a:xfrm>
            <a:off x="2915816" y="5157192"/>
            <a:ext cx="3888432" cy="792088"/>
          </a:xfrm>
          <a:prstGeom prst="foldedCorner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275856" y="5354052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逻辑学或逻辑知识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59632" y="3028890"/>
            <a:ext cx="2232248" cy="400110"/>
          </a:xfrm>
          <a:prstGeom prst="rect">
            <a:avLst/>
          </a:prstGeom>
          <a:ln w="28575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古希腊的形式逻辑</a:t>
            </a:r>
            <a:endParaRPr lang="zh-CN" alt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868144" y="2996952"/>
            <a:ext cx="2808312" cy="400110"/>
          </a:xfrm>
          <a:prstGeom prst="rect">
            <a:avLst/>
          </a:prstGeom>
          <a:ln w="28575"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/>
              <a:t>古</a:t>
            </a:r>
            <a:r>
              <a:rPr lang="zh-CN" altLang="en-US" sz="2000" b="1" dirty="0" smtClean="0"/>
              <a:t>印度的正理论和因明</a:t>
            </a:r>
            <a:endParaRPr lang="zh-CN" altLang="en-US" sz="2000" b="1" dirty="0"/>
          </a:p>
        </p:txBody>
      </p:sp>
      <p:grpSp>
        <p:nvGrpSpPr>
          <p:cNvPr id="17" name="组合 16"/>
          <p:cNvGrpSpPr/>
          <p:nvPr/>
        </p:nvGrpSpPr>
        <p:grpSpPr>
          <a:xfrm>
            <a:off x="3707904" y="2420888"/>
            <a:ext cx="2808312" cy="2160240"/>
            <a:chOff x="467544" y="2348880"/>
            <a:chExt cx="2808312" cy="2160240"/>
          </a:xfrm>
        </p:grpSpPr>
        <p:grpSp>
          <p:nvGrpSpPr>
            <p:cNvPr id="11" name="组合 10"/>
            <p:cNvGrpSpPr/>
            <p:nvPr/>
          </p:nvGrpSpPr>
          <p:grpSpPr>
            <a:xfrm>
              <a:off x="467544" y="2348880"/>
              <a:ext cx="2808312" cy="1584176"/>
              <a:chOff x="467544" y="1772816"/>
              <a:chExt cx="2808312" cy="1584176"/>
            </a:xfrm>
          </p:grpSpPr>
          <p:sp>
            <p:nvSpPr>
              <p:cNvPr id="9" name="十字箭头标注 8"/>
              <p:cNvSpPr/>
              <p:nvPr/>
            </p:nvSpPr>
            <p:spPr>
              <a:xfrm>
                <a:off x="467544" y="1772816"/>
                <a:ext cx="1872208" cy="1584176"/>
              </a:xfrm>
              <a:prstGeom prst="quadArrowCallout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899592" y="2276872"/>
                <a:ext cx="237626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 smtClean="0">
                    <a:latin typeface="华文楷体" pitchFamily="2" charset="-122"/>
                    <a:ea typeface="华文楷体" pitchFamily="2" charset="-122"/>
                  </a:rPr>
                  <a:t>源泉</a:t>
                </a:r>
                <a:endParaRPr lang="zh-CN" altLang="en-US" sz="3200" b="1" dirty="0">
                  <a:latin typeface="华文楷体" pitchFamily="2" charset="-122"/>
                  <a:ea typeface="华文楷体" pitchFamily="2" charset="-122"/>
                </a:endParaRPr>
              </a:p>
            </p:txBody>
          </p:sp>
        </p:grpSp>
        <p:sp>
          <p:nvSpPr>
            <p:cNvPr id="14" name="矩形 13"/>
            <p:cNvSpPr/>
            <p:nvPr/>
          </p:nvSpPr>
          <p:spPr>
            <a:xfrm>
              <a:off x="755576" y="3573016"/>
              <a:ext cx="1368152" cy="936104"/>
            </a:xfrm>
            <a:prstGeom prst="rect">
              <a:avLst/>
            </a:prstGeom>
            <a:solidFill>
              <a:schemeClr val="bg1"/>
            </a:solidFill>
            <a:ln w="730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古老而又年轻的一门学科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91880" y="1844824"/>
            <a:ext cx="2520280" cy="400110"/>
          </a:xfrm>
          <a:prstGeom prst="rect">
            <a:avLst/>
          </a:prstGeom>
          <a:ln w="28575"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/>
              <a:t>中国先秦的</a:t>
            </a:r>
            <a:r>
              <a:rPr lang="zh-CN" altLang="en-US" sz="2000" b="1" dirty="0" smtClean="0"/>
              <a:t>名</a:t>
            </a:r>
            <a:r>
              <a:rPr lang="zh-CN" altLang="en-US" sz="2000" b="1" dirty="0" smtClean="0"/>
              <a:t>辩</a:t>
            </a:r>
            <a:r>
              <a:rPr lang="zh-CN" altLang="en-US" sz="2000" b="1" dirty="0" smtClean="0"/>
              <a:t>逻辑</a:t>
            </a:r>
            <a:endParaRPr lang="zh-CN" altLang="en-US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979712" y="4581128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隶书" pitchFamily="49" charset="-122"/>
                <a:ea typeface="隶书" pitchFamily="49" charset="-122"/>
              </a:rPr>
              <a:t>正在发展成为一个庞大的学科体系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5" name="虚尾箭头 24"/>
          <p:cNvSpPr/>
          <p:nvPr/>
        </p:nvSpPr>
        <p:spPr>
          <a:xfrm>
            <a:off x="4327224" y="3933056"/>
            <a:ext cx="684040" cy="504056"/>
          </a:xfrm>
          <a:prstGeom prst="stripedRightArrow">
            <a:avLst/>
          </a:prstGeom>
          <a:ln w="19050">
            <a:solidFill>
              <a:srgbClr val="00B050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7" grpId="0" build="allAtOnce" animBg="1"/>
      <p:bldP spid="6" grpId="0" build="allAtOnce" animBg="1"/>
      <p:bldP spid="23" grpId="0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第一章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什么是逻辑学？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流程图: 顺序访问存储器 6"/>
          <p:cNvSpPr/>
          <p:nvPr/>
        </p:nvSpPr>
        <p:spPr>
          <a:xfrm>
            <a:off x="2195736" y="1844824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流程图: 顺序访问存储器 7"/>
          <p:cNvSpPr/>
          <p:nvPr/>
        </p:nvSpPr>
        <p:spPr>
          <a:xfrm>
            <a:off x="2195736" y="2708920"/>
            <a:ext cx="504056" cy="504056"/>
          </a:xfrm>
          <a:prstGeom prst="flowChartMagneticTap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顺序访问存储器 8"/>
          <p:cNvSpPr/>
          <p:nvPr/>
        </p:nvSpPr>
        <p:spPr>
          <a:xfrm>
            <a:off x="2195736" y="3573016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流程图: 顺序访问存储器 9"/>
          <p:cNvSpPr/>
          <p:nvPr/>
        </p:nvSpPr>
        <p:spPr>
          <a:xfrm>
            <a:off x="2195736" y="4437112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流程图: 顺序访问存储器 10"/>
          <p:cNvSpPr/>
          <p:nvPr/>
        </p:nvSpPr>
        <p:spPr>
          <a:xfrm>
            <a:off x="2195736" y="5373216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+mn-ea"/>
              </a:rPr>
              <a:t>逻辑学的对象</a:t>
            </a:r>
            <a:r>
              <a:rPr lang="en-US" altLang="zh-CN" sz="2400" b="1" dirty="0" smtClean="0">
                <a:latin typeface="+mn-ea"/>
              </a:rPr>
              <a:t>:</a:t>
            </a:r>
            <a:r>
              <a:rPr lang="zh-CN" altLang="en-US" sz="2400" b="1" dirty="0" smtClean="0">
                <a:latin typeface="+mn-ea"/>
              </a:rPr>
              <a:t>推理和验证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命题分析和逻辑类型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推理形式及其有效性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逻辑基本规律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7824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“逻辑”的词源与词义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什么是逻辑学？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275856" y="2924944"/>
            <a:ext cx="3312368" cy="936104"/>
            <a:chOff x="3491880" y="2420888"/>
            <a:chExt cx="3312368" cy="936104"/>
          </a:xfrm>
        </p:grpSpPr>
        <p:sp>
          <p:nvSpPr>
            <p:cNvPr id="4" name="横卷形 3"/>
            <p:cNvSpPr/>
            <p:nvPr/>
          </p:nvSpPr>
          <p:spPr>
            <a:xfrm>
              <a:off x="3491880" y="2420888"/>
              <a:ext cx="2376264" cy="936104"/>
            </a:xfrm>
            <a:prstGeom prst="horizontalScroll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635896" y="2564904"/>
              <a:ext cx="316835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latin typeface="隶书" pitchFamily="49" charset="-122"/>
                  <a:ea typeface="隶书" pitchFamily="49" charset="-122"/>
                </a:rPr>
                <a:t>推理和论证</a:t>
              </a:r>
              <a:endParaRPr lang="zh-CN" altLang="en-US" sz="3200" b="1" dirty="0">
                <a:latin typeface="隶书" pitchFamily="49" charset="-122"/>
                <a:ea typeface="隶书" pitchFamily="49" charset="-122"/>
              </a:endParaRPr>
            </a:p>
          </p:txBody>
        </p:sp>
      </p:grpSp>
      <p:sp>
        <p:nvSpPr>
          <p:cNvPr id="12" name="左箭头 11"/>
          <p:cNvSpPr/>
          <p:nvPr/>
        </p:nvSpPr>
        <p:spPr>
          <a:xfrm>
            <a:off x="2555776" y="2348880"/>
            <a:ext cx="504056" cy="504056"/>
          </a:xfrm>
          <a:prstGeom prst="leftArrow">
            <a:avLst/>
          </a:prstGeom>
          <a:scene3d>
            <a:camera prst="orthographicFront">
              <a:rot lat="0" lon="0" rev="1890000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3" name="左箭头 12"/>
          <p:cNvSpPr/>
          <p:nvPr/>
        </p:nvSpPr>
        <p:spPr>
          <a:xfrm>
            <a:off x="5940152" y="2348880"/>
            <a:ext cx="504056" cy="504056"/>
          </a:xfrm>
          <a:prstGeom prst="leftArrow">
            <a:avLst/>
          </a:prstGeom>
          <a:scene3d>
            <a:camera prst="orthographicFront">
              <a:rot lat="0" lon="0" rev="1350000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4" name="左箭头 13"/>
          <p:cNvSpPr/>
          <p:nvPr/>
        </p:nvSpPr>
        <p:spPr>
          <a:xfrm>
            <a:off x="4211960" y="4077072"/>
            <a:ext cx="504056" cy="504056"/>
          </a:xfrm>
          <a:prstGeom prst="leftArrow">
            <a:avLst/>
          </a:prstGeom>
          <a:scene3d>
            <a:camera prst="orthographicFront">
              <a:rot lat="0" lon="0" rev="540000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971600" y="1773977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latin typeface="华文行楷" pitchFamily="2" charset="-122"/>
                <a:ea typeface="华文行楷" pitchFamily="2" charset="-122"/>
              </a:rPr>
              <a:t>提供识别标准</a:t>
            </a:r>
            <a:endParaRPr lang="zh-CN" altLang="en-US" sz="2400" b="1" dirty="0">
              <a:solidFill>
                <a:srgbClr val="0070C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12160" y="1772816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latin typeface="华文行楷" pitchFamily="2" charset="-122"/>
                <a:ea typeface="华文行楷" pitchFamily="2" charset="-122"/>
              </a:rPr>
              <a:t>教会正确进行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72" y="4797152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latin typeface="华文行楷" pitchFamily="2" charset="-122"/>
                <a:ea typeface="华文行楷" pitchFamily="2" charset="-122"/>
              </a:rPr>
              <a:t>揭露反驳错误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什么是推理？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23728" y="2276872"/>
            <a:ext cx="1656184" cy="52322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已知命题</a:t>
            </a:r>
            <a:endParaRPr lang="zh-CN" altLang="en-US" sz="2800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4211960" y="2348880"/>
            <a:ext cx="504056" cy="472118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076056" y="2276872"/>
            <a:ext cx="1296144" cy="523220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楷体" pitchFamily="2" charset="-122"/>
                <a:ea typeface="华文楷体" pitchFamily="2" charset="-122"/>
              </a:rPr>
              <a:t>新</a:t>
            </a:r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命题</a:t>
            </a:r>
            <a:endParaRPr lang="zh-CN" altLang="en-US" sz="2800" b="1" dirty="0">
              <a:latin typeface="华文楷体" pitchFamily="2" charset="-122"/>
              <a:ea typeface="华文楷体" pitchFamily="2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2987824" y="2852984"/>
            <a:ext cx="0" cy="432000"/>
          </a:xfrm>
          <a:prstGeom prst="straightConnector1">
            <a:avLst/>
          </a:prstGeom>
          <a:ln w="57150"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55776" y="3687415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前提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92080" y="3687415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结论</a:t>
            </a: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724128" y="2852984"/>
            <a:ext cx="0" cy="432000"/>
          </a:xfrm>
          <a:prstGeom prst="straightConnector1">
            <a:avLst/>
          </a:prstGeom>
          <a:ln w="57150"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推理的种类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竖卷形 3"/>
          <p:cNvSpPr/>
          <p:nvPr/>
        </p:nvSpPr>
        <p:spPr>
          <a:xfrm>
            <a:off x="1259632" y="1988840"/>
            <a:ext cx="1512168" cy="2736304"/>
          </a:xfrm>
          <a:prstGeom prst="verticalScroll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竖卷形 4"/>
          <p:cNvSpPr/>
          <p:nvPr/>
        </p:nvSpPr>
        <p:spPr>
          <a:xfrm>
            <a:off x="6516216" y="1988840"/>
            <a:ext cx="1512168" cy="2736304"/>
          </a:xfrm>
          <a:prstGeom prst="verticalScroll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619672" y="3140968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隶书" pitchFamily="49" charset="-122"/>
                <a:ea typeface="隶书" pitchFamily="49" charset="-122"/>
              </a:rPr>
              <a:t>个别</a:t>
            </a:r>
            <a:endParaRPr lang="zh-CN" altLang="en-US" sz="28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76256" y="3140968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一般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3059832" y="2924944"/>
            <a:ext cx="3168352" cy="0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2771800" y="3573016"/>
            <a:ext cx="3168352" cy="0"/>
          </a:xfrm>
          <a:prstGeom prst="straightConnector1">
            <a:avLst/>
          </a:prstGeom>
          <a:ln w="57150">
            <a:solidFill>
              <a:schemeClr val="accent4">
                <a:lumMod val="75000"/>
              </a:schemeClr>
            </a:solidFill>
            <a:tailEnd type="arrow"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图: 顺序访问存储器 12"/>
          <p:cNvSpPr/>
          <p:nvPr/>
        </p:nvSpPr>
        <p:spPr>
          <a:xfrm>
            <a:off x="3275856" y="3933056"/>
            <a:ext cx="2592288" cy="648072"/>
          </a:xfrm>
          <a:prstGeom prst="flowChartMagneticTape">
            <a:avLst/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923928" y="4005064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隶书" pitchFamily="49" charset="-122"/>
                <a:ea typeface="隶书" pitchFamily="49" charset="-122"/>
              </a:rPr>
              <a:t>演绎推理</a:t>
            </a:r>
            <a:endParaRPr lang="zh-CN" altLang="en-US" sz="24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流程图: 顺序访问存储器 14"/>
          <p:cNvSpPr/>
          <p:nvPr/>
        </p:nvSpPr>
        <p:spPr>
          <a:xfrm>
            <a:off x="3275856" y="1844824"/>
            <a:ext cx="2592288" cy="648072"/>
          </a:xfrm>
          <a:prstGeom prst="flowChartMagneticTape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923928" y="1916832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归纳</a:t>
            </a:r>
            <a:r>
              <a:rPr lang="zh-CN" altLang="en-US" sz="2400" dirty="0" smtClean="0">
                <a:latin typeface="隶书" pitchFamily="49" charset="-122"/>
                <a:ea typeface="隶书" pitchFamily="49" charset="-122"/>
              </a:rPr>
              <a:t>推理</a:t>
            </a:r>
            <a:endParaRPr lang="zh-CN" altLang="en-US" sz="2400" dirty="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13" grpId="0" animBg="1"/>
      <p:bldP spid="14" grpId="0"/>
      <p:bldP spid="15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什么是论证？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11760" y="2967335"/>
            <a:ext cx="936104" cy="523220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楷体" pitchFamily="2" charset="-122"/>
                <a:ea typeface="华文楷体" pitchFamily="2" charset="-122"/>
              </a:rPr>
              <a:t>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4088" y="2967335"/>
            <a:ext cx="936104" cy="523220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观点</a:t>
            </a:r>
            <a:endParaRPr lang="zh-CN" altLang="en-US" sz="2800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23928" y="4335487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反驳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3928" y="1887215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支持</a:t>
            </a:r>
          </a:p>
        </p:txBody>
      </p:sp>
      <p:sp>
        <p:nvSpPr>
          <p:cNvPr id="11" name="上弧形箭头 10"/>
          <p:cNvSpPr/>
          <p:nvPr/>
        </p:nvSpPr>
        <p:spPr>
          <a:xfrm>
            <a:off x="3779912" y="2535287"/>
            <a:ext cx="1152128" cy="432048"/>
          </a:xfrm>
          <a:prstGeom prst="curved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" name="下弧形箭头 11"/>
          <p:cNvSpPr/>
          <p:nvPr/>
        </p:nvSpPr>
        <p:spPr>
          <a:xfrm>
            <a:off x="3779912" y="3615407"/>
            <a:ext cx="1152128" cy="504056"/>
          </a:xfrm>
          <a:prstGeom prst="curved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4" name="横卷形 13"/>
          <p:cNvSpPr/>
          <p:nvPr/>
        </p:nvSpPr>
        <p:spPr>
          <a:xfrm>
            <a:off x="1331640" y="4869160"/>
            <a:ext cx="6120680" cy="1080120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475656" y="5085184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隶书" pitchFamily="49" charset="-122"/>
                <a:ea typeface="隶书" pitchFamily="49" charset="-122"/>
              </a:rPr>
              <a:t>由论题、论点、论据和论证方式构成</a:t>
            </a:r>
            <a:endParaRPr lang="zh-CN" altLang="en-US" sz="2800" dirty="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  <p:bldP spid="9" grpId="0"/>
      <p:bldP spid="11" grpId="0" animBg="1"/>
      <p:bldP spid="12" grpId="0" animBg="1"/>
      <p:bldP spid="14" grpId="0" animBg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资料带 3"/>
          <p:cNvSpPr/>
          <p:nvPr/>
        </p:nvSpPr>
        <p:spPr>
          <a:xfrm>
            <a:off x="1547664" y="1628800"/>
            <a:ext cx="1728192" cy="792088"/>
          </a:xfrm>
          <a:prstGeom prst="flowChartPunchedTap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推理与论证的关系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69368" y="1672209"/>
            <a:ext cx="1018456" cy="604663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联系</a:t>
            </a:r>
            <a:endParaRPr lang="zh-CN" altLang="en-US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流程图: 资料带 4"/>
          <p:cNvSpPr/>
          <p:nvPr/>
        </p:nvSpPr>
        <p:spPr>
          <a:xfrm>
            <a:off x="1547664" y="3140968"/>
            <a:ext cx="1728192" cy="792088"/>
          </a:xfrm>
          <a:prstGeom prst="flowChartPunchedTap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969368" y="3184377"/>
            <a:ext cx="1018456" cy="604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3200" dirty="0">
                <a:latin typeface="隶书" pitchFamily="49" charset="-122"/>
                <a:ea typeface="隶书" pitchFamily="49" charset="-122"/>
              </a:rPr>
              <a:t>区别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79912" y="2051556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论证</a:t>
            </a:r>
            <a:r>
              <a:rPr lang="zh-CN" altLang="en-US" sz="2000" b="1" u="sng" dirty="0" smtClean="0">
                <a:solidFill>
                  <a:srgbClr val="FF0000"/>
                </a:solidFill>
              </a:rPr>
              <a:t>要使用</a:t>
            </a:r>
            <a:r>
              <a:rPr lang="zh-CN" altLang="en-US" sz="2000" dirty="0" smtClean="0"/>
              <a:t>推理</a:t>
            </a:r>
            <a:endParaRPr lang="zh-CN" alt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971600" y="4293096"/>
            <a:ext cx="7128792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70000"/>
              </a:lnSpc>
            </a:pPr>
            <a:r>
              <a:rPr lang="zh-CN" altLang="en-US" b="1" dirty="0" smtClean="0">
                <a:solidFill>
                  <a:srgbClr val="0070C0"/>
                </a:solidFill>
              </a:rPr>
              <a:t>推理</a:t>
            </a:r>
            <a:r>
              <a:rPr lang="zh-CN" altLang="en-US" dirty="0" smtClean="0"/>
              <a:t>并</a:t>
            </a:r>
            <a:r>
              <a:rPr lang="zh-CN" altLang="en-US" i="1" u="sng" dirty="0" smtClean="0">
                <a:solidFill>
                  <a:srgbClr val="FF0000"/>
                </a:solidFill>
              </a:rPr>
              <a:t>不要求</a:t>
            </a:r>
            <a:r>
              <a:rPr lang="zh-CN" altLang="en-US" dirty="0" smtClean="0"/>
              <a:t>前提真，假命题之间完全可以进行合乎逻辑的推理；</a:t>
            </a:r>
          </a:p>
          <a:p>
            <a:pPr lvl="1">
              <a:lnSpc>
                <a:spcPct val="170000"/>
              </a:lnSpc>
            </a:pPr>
            <a:r>
              <a:rPr lang="zh-CN" altLang="en-US" b="1" dirty="0" smtClean="0">
                <a:solidFill>
                  <a:srgbClr val="0070C0"/>
                </a:solidFill>
              </a:rPr>
              <a:t>论证</a:t>
            </a:r>
            <a:r>
              <a:rPr lang="zh-CN" altLang="en-US" dirty="0" smtClean="0"/>
              <a:t>却</a:t>
            </a:r>
            <a:r>
              <a:rPr lang="zh-CN" altLang="en-US" i="1" u="sng" dirty="0" smtClean="0">
                <a:solidFill>
                  <a:srgbClr val="FF0000"/>
                </a:solidFill>
              </a:rPr>
              <a:t>要求</a:t>
            </a:r>
            <a:r>
              <a:rPr lang="zh-CN" altLang="en-US" dirty="0" smtClean="0"/>
              <a:t>论据必须真实，以假命题作论据不能证明任何东西。</a:t>
            </a:r>
          </a:p>
          <a:p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3779912" y="3430741"/>
            <a:ext cx="389080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zh-CN" altLang="en-US" sz="3600" b="1" cap="none" spc="0" dirty="0" smtClean="0">
                <a:ln/>
                <a:solidFill>
                  <a:srgbClr val="00B050"/>
                </a:solidFill>
                <a:latin typeface="隶书" pitchFamily="49" charset="-122"/>
                <a:ea typeface="隶书" pitchFamily="49" charset="-122"/>
              </a:rPr>
              <a:t>前提是否必须真实</a:t>
            </a:r>
            <a:endParaRPr lang="zh-CN" altLang="en-US" sz="3600" b="1" cap="none" spc="0" dirty="0">
              <a:ln/>
              <a:solidFill>
                <a:srgbClr val="00B050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build="p"/>
      <p:bldP spid="5" grpId="0" animBg="1"/>
      <p:bldP spid="6" grpId="0"/>
      <p:bldP spid="7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第一章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什么是逻辑学？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流程图: 顺序访问存储器 6"/>
          <p:cNvSpPr/>
          <p:nvPr/>
        </p:nvSpPr>
        <p:spPr>
          <a:xfrm>
            <a:off x="2195736" y="1844824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流程图: 顺序访问存储器 7"/>
          <p:cNvSpPr/>
          <p:nvPr/>
        </p:nvSpPr>
        <p:spPr>
          <a:xfrm>
            <a:off x="2195736" y="2708920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流程图: 顺序访问存储器 8"/>
          <p:cNvSpPr/>
          <p:nvPr/>
        </p:nvSpPr>
        <p:spPr>
          <a:xfrm>
            <a:off x="2195736" y="3573016"/>
            <a:ext cx="504056" cy="504056"/>
          </a:xfrm>
          <a:prstGeom prst="flowChartMagneticTape">
            <a:avLst/>
          </a:pr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流程图: 顺序访问存储器 9"/>
          <p:cNvSpPr/>
          <p:nvPr/>
        </p:nvSpPr>
        <p:spPr>
          <a:xfrm>
            <a:off x="2195736" y="4437112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流程图: 顺序访问存储器 10"/>
          <p:cNvSpPr/>
          <p:nvPr/>
        </p:nvSpPr>
        <p:spPr>
          <a:xfrm>
            <a:off x="2195736" y="5373216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逻辑学的对象</a:t>
            </a:r>
            <a:r>
              <a:rPr lang="en-US" altLang="zh-CN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: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推理和验证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命题分析和逻辑类型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推理形式及其有效性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逻辑基本规律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7824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</a:rPr>
              <a:t>“逻辑”的词源与词义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推理由命题组成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83768" y="1772816"/>
            <a:ext cx="1656184" cy="52322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已知命题</a:t>
            </a:r>
            <a:endParaRPr lang="zh-CN" altLang="en-US" sz="2800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4572000" y="1844824"/>
            <a:ext cx="504056" cy="472118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436096" y="1772816"/>
            <a:ext cx="1296144" cy="52322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楷体" pitchFamily="2" charset="-122"/>
                <a:ea typeface="华文楷体" pitchFamily="2" charset="-122"/>
              </a:rPr>
              <a:t>新</a:t>
            </a:r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命题</a:t>
            </a:r>
            <a:endParaRPr lang="zh-CN" altLang="en-US" sz="2800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3888" y="314096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琥珀" pitchFamily="2" charset="-122"/>
                <a:ea typeface="华文琥珀" pitchFamily="2" charset="-122"/>
              </a:rPr>
              <a:t>对命题的不同分析</a:t>
            </a:r>
            <a:endParaRPr lang="zh-CN" altLang="en-US" sz="2400" dirty="0"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75856" y="4047455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琥珀" pitchFamily="2" charset="-122"/>
                <a:ea typeface="华文琥珀" pitchFamily="2" charset="-122"/>
              </a:rPr>
              <a:t>对推理结构的不同分析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7904" y="4983559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琥珀" pitchFamily="2" charset="-122"/>
                <a:ea typeface="华文琥珀" pitchFamily="2" charset="-122"/>
              </a:rPr>
              <a:t>不同的逻辑类型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860032" y="3717032"/>
            <a:ext cx="0" cy="288032"/>
          </a:xfrm>
          <a:prstGeom prst="straightConnector1">
            <a:avLst/>
          </a:prstGeom>
          <a:ln w="41275"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4860032" y="4581128"/>
            <a:ext cx="0" cy="288032"/>
          </a:xfrm>
          <a:prstGeom prst="straightConnector1">
            <a:avLst/>
          </a:prstGeom>
          <a:ln w="41275"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3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本课程涵盖的逻辑类型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 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995936" y="1700808"/>
            <a:ext cx="3888432" cy="720080"/>
            <a:chOff x="2411760" y="2060848"/>
            <a:chExt cx="3888432" cy="720080"/>
          </a:xfrm>
        </p:grpSpPr>
        <p:sp>
          <p:nvSpPr>
            <p:cNvPr id="4" name="折角形 3"/>
            <p:cNvSpPr/>
            <p:nvPr/>
          </p:nvSpPr>
          <p:spPr>
            <a:xfrm>
              <a:off x="2411760" y="2060848"/>
              <a:ext cx="3888432" cy="720080"/>
            </a:xfrm>
            <a:prstGeom prst="foldedCorner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915816" y="2204864"/>
              <a:ext cx="31683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复合命题和命题逻辑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995936" y="2780928"/>
            <a:ext cx="3888432" cy="720080"/>
            <a:chOff x="2411760" y="2060848"/>
            <a:chExt cx="3888432" cy="720080"/>
          </a:xfrm>
        </p:grpSpPr>
        <p:sp>
          <p:nvSpPr>
            <p:cNvPr id="8" name="折角形 7"/>
            <p:cNvSpPr/>
            <p:nvPr/>
          </p:nvSpPr>
          <p:spPr>
            <a:xfrm>
              <a:off x="2411760" y="2060848"/>
              <a:ext cx="3888432" cy="720080"/>
            </a:xfrm>
            <a:prstGeom prst="foldedCorner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915816" y="2204864"/>
              <a:ext cx="31683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直言命题和词项逻辑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995936" y="3933056"/>
            <a:ext cx="3888432" cy="720080"/>
            <a:chOff x="2411760" y="2060848"/>
            <a:chExt cx="3888432" cy="720080"/>
          </a:xfrm>
        </p:grpSpPr>
        <p:sp>
          <p:nvSpPr>
            <p:cNvPr id="11" name="折角形 10"/>
            <p:cNvSpPr/>
            <p:nvPr/>
          </p:nvSpPr>
          <p:spPr>
            <a:xfrm>
              <a:off x="2411760" y="2060848"/>
              <a:ext cx="3888432" cy="720080"/>
            </a:xfrm>
            <a:prstGeom prst="foldedCorner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555776" y="2204864"/>
              <a:ext cx="3744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个体</a:t>
              </a:r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词</a:t>
              </a:r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、谓词和谓词逻辑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22" name="左中括号 21"/>
          <p:cNvSpPr/>
          <p:nvPr/>
        </p:nvSpPr>
        <p:spPr>
          <a:xfrm>
            <a:off x="3563888" y="2132856"/>
            <a:ext cx="144016" cy="22322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403648" y="2852936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演绎逻辑</a:t>
            </a:r>
            <a:endParaRPr lang="zh-CN" altLang="en-US" sz="3200" dirty="0">
              <a:solidFill>
                <a:srgbClr val="0066CC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03648" y="4849996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归纳逻辑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3648" y="5724545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非形式逻辑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复合命题和命题逻辑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23728" y="152717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B050"/>
                </a:solidFill>
                <a:latin typeface="华文琥珀" pitchFamily="2" charset="-122"/>
                <a:ea typeface="华文琥珀" pitchFamily="2" charset="-122"/>
              </a:rPr>
              <a:t>简单命题</a:t>
            </a:r>
            <a:endParaRPr lang="zh-CN" altLang="en-US" sz="2400" dirty="0">
              <a:solidFill>
                <a:srgbClr val="00B050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5" name="左右箭头 4"/>
          <p:cNvSpPr/>
          <p:nvPr/>
        </p:nvSpPr>
        <p:spPr>
          <a:xfrm>
            <a:off x="3923928" y="1556792"/>
            <a:ext cx="1440160" cy="432048"/>
          </a:xfrm>
          <a:prstGeom prst="left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652120" y="152717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B050"/>
                </a:solidFill>
                <a:latin typeface="华文琥珀" pitchFamily="2" charset="-122"/>
                <a:ea typeface="华文琥珀" pitchFamily="2" charset="-122"/>
              </a:rPr>
              <a:t>简单命题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9952" y="1268760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联结词</a:t>
            </a:r>
            <a:endParaRPr lang="zh-CN" altLang="en-US" sz="2000" b="1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051720" y="2420888"/>
            <a:ext cx="1512168" cy="648072"/>
            <a:chOff x="1547664" y="2636912"/>
            <a:chExt cx="1512168" cy="648072"/>
          </a:xfrm>
        </p:grpSpPr>
        <p:sp>
          <p:nvSpPr>
            <p:cNvPr id="9" name="波形 8"/>
            <p:cNvSpPr/>
            <p:nvPr/>
          </p:nvSpPr>
          <p:spPr>
            <a:xfrm>
              <a:off x="1547664" y="2636912"/>
              <a:ext cx="1440160" cy="648072"/>
            </a:xfrm>
            <a:prstGeom prst="wav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691680" y="2780928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联言命题</a:t>
              </a:r>
              <a:endParaRPr lang="zh-CN" altLang="en-US" b="1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211960" y="263691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 </a:t>
            </a:r>
            <a:r>
              <a:rPr lang="zh-CN" altLang="en-US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并且</a:t>
            </a:r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 </a:t>
            </a:r>
            <a:r>
              <a:rPr lang="en-US" altLang="zh-CN" dirty="0" smtClean="0"/>
              <a:t>q</a:t>
            </a:r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2051720" y="3140968"/>
            <a:ext cx="1512168" cy="648072"/>
            <a:chOff x="1547664" y="2636912"/>
            <a:chExt cx="1512168" cy="648072"/>
          </a:xfrm>
        </p:grpSpPr>
        <p:sp>
          <p:nvSpPr>
            <p:cNvPr id="14" name="波形 13"/>
            <p:cNvSpPr/>
            <p:nvPr/>
          </p:nvSpPr>
          <p:spPr>
            <a:xfrm>
              <a:off x="1547664" y="2636912"/>
              <a:ext cx="1440160" cy="648072"/>
            </a:xfrm>
            <a:prstGeom prst="wav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91680" y="2780928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选言命题</a:t>
              </a:r>
              <a:endParaRPr lang="zh-CN" altLang="en-US" b="1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211960" y="335699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 </a:t>
            </a:r>
            <a:r>
              <a:rPr lang="zh-CN" altLang="en-US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或者</a:t>
            </a:r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 </a:t>
            </a:r>
            <a:r>
              <a:rPr lang="en-US" altLang="zh-CN" dirty="0" smtClean="0"/>
              <a:t>q</a:t>
            </a:r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1475656" y="3861048"/>
            <a:ext cx="2448272" cy="790347"/>
            <a:chOff x="1547664" y="2636912"/>
            <a:chExt cx="1468963" cy="790347"/>
          </a:xfrm>
        </p:grpSpPr>
        <p:sp>
          <p:nvSpPr>
            <p:cNvPr id="18" name="波形 17"/>
            <p:cNvSpPr/>
            <p:nvPr/>
          </p:nvSpPr>
          <p:spPr>
            <a:xfrm>
              <a:off x="1547664" y="2636912"/>
              <a:ext cx="1440160" cy="648072"/>
            </a:xfrm>
            <a:prstGeom prst="wav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48475" y="2780928"/>
              <a:ext cx="13681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充分条件假言命题</a:t>
              </a:r>
              <a:endParaRPr lang="zh-CN" altLang="en-US" b="1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211960" y="407707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如果 </a:t>
            </a:r>
            <a:r>
              <a:rPr lang="en-US" altLang="zh-CN" dirty="0" smtClean="0"/>
              <a:t>P  </a:t>
            </a:r>
            <a:r>
              <a:rPr lang="zh-CN" altLang="en-US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那么 </a:t>
            </a:r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 </a:t>
            </a:r>
            <a:r>
              <a:rPr lang="en-US" altLang="zh-CN" dirty="0" smtClean="0"/>
              <a:t>q</a:t>
            </a:r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>
            <a:off x="1475656" y="4581128"/>
            <a:ext cx="2448272" cy="790347"/>
            <a:chOff x="1547664" y="2636912"/>
            <a:chExt cx="1468963" cy="790347"/>
          </a:xfrm>
        </p:grpSpPr>
        <p:sp>
          <p:nvSpPr>
            <p:cNvPr id="22" name="波形 21"/>
            <p:cNvSpPr/>
            <p:nvPr/>
          </p:nvSpPr>
          <p:spPr>
            <a:xfrm>
              <a:off x="1547664" y="2636912"/>
              <a:ext cx="1440160" cy="648072"/>
            </a:xfrm>
            <a:prstGeom prst="wav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648475" y="2780928"/>
              <a:ext cx="13681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充分条件假言命题</a:t>
              </a:r>
              <a:endParaRPr lang="zh-CN" altLang="en-US" b="1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211960" y="479715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 </a:t>
            </a:r>
            <a:r>
              <a:rPr lang="en-US" altLang="zh-CN" dirty="0" smtClean="0"/>
              <a:t>P  </a:t>
            </a:r>
            <a:r>
              <a:rPr lang="zh-CN" altLang="en-US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当且仅当 </a:t>
            </a:r>
            <a:r>
              <a:rPr lang="zh-CN" altLang="en-US" dirty="0" smtClean="0">
                <a:latin typeface="华文琥珀" pitchFamily="2" charset="-122"/>
                <a:ea typeface="华文琥珀" pitchFamily="2" charset="-122"/>
              </a:rPr>
              <a:t> </a:t>
            </a:r>
            <a:r>
              <a:rPr lang="en-US" altLang="zh-CN" dirty="0" smtClean="0"/>
              <a:t>q</a:t>
            </a:r>
            <a:endParaRPr lang="zh-CN" altLang="en-US" dirty="0"/>
          </a:p>
        </p:txBody>
      </p:sp>
      <p:grpSp>
        <p:nvGrpSpPr>
          <p:cNvPr id="25" name="组合 24"/>
          <p:cNvGrpSpPr/>
          <p:nvPr/>
        </p:nvGrpSpPr>
        <p:grpSpPr>
          <a:xfrm>
            <a:off x="2123728" y="5301208"/>
            <a:ext cx="1514400" cy="648072"/>
            <a:chOff x="1547664" y="2636912"/>
            <a:chExt cx="1628368" cy="648072"/>
          </a:xfrm>
        </p:grpSpPr>
        <p:sp>
          <p:nvSpPr>
            <p:cNvPr id="26" name="波形 25"/>
            <p:cNvSpPr/>
            <p:nvPr/>
          </p:nvSpPr>
          <p:spPr>
            <a:xfrm>
              <a:off x="1547664" y="2636912"/>
              <a:ext cx="1440160" cy="648072"/>
            </a:xfrm>
            <a:prstGeom prst="wav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07880" y="2780928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/>
                <a:t>负命题</a:t>
              </a:r>
              <a:endParaRPr lang="zh-CN" altLang="en-US" b="1" dirty="0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211960" y="551723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并非 </a:t>
            </a:r>
            <a:r>
              <a:rPr lang="en-US" altLang="zh-CN" dirty="0" smtClean="0"/>
              <a:t>P </a:t>
            </a:r>
            <a:endParaRPr lang="zh-CN" altLang="en-US" dirty="0"/>
          </a:p>
        </p:txBody>
      </p:sp>
      <p:grpSp>
        <p:nvGrpSpPr>
          <p:cNvPr id="31" name="组合 30"/>
          <p:cNvGrpSpPr/>
          <p:nvPr/>
        </p:nvGrpSpPr>
        <p:grpSpPr>
          <a:xfrm>
            <a:off x="6228184" y="2564904"/>
            <a:ext cx="1296144" cy="646331"/>
            <a:chOff x="6804248" y="2826000"/>
            <a:chExt cx="1296144" cy="646331"/>
          </a:xfrm>
        </p:grpSpPr>
        <p:sp>
          <p:nvSpPr>
            <p:cNvPr id="29" name="流程图: 顺序访问存储器 28"/>
            <p:cNvSpPr/>
            <p:nvPr/>
          </p:nvSpPr>
          <p:spPr>
            <a:xfrm>
              <a:off x="6804248" y="2852936"/>
              <a:ext cx="1080120" cy="360040"/>
            </a:xfrm>
            <a:prstGeom prst="flowChartMagneticTape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948264" y="2826000"/>
              <a:ext cx="1152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en-US" altLang="zh-CN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p</a:t>
              </a:r>
              <a:r>
                <a:rPr lang="zh-CN" altLang="en-US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∧</a:t>
              </a:r>
              <a:r>
                <a:rPr lang="en-US" altLang="zh-CN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q</a:t>
              </a:r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endParaRPr lang="zh-CN" altLang="en-US" dirty="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228184" y="3284984"/>
            <a:ext cx="1296144" cy="923330"/>
            <a:chOff x="6804248" y="3573016"/>
            <a:chExt cx="1296144" cy="923330"/>
          </a:xfrm>
        </p:grpSpPr>
        <p:sp>
          <p:nvSpPr>
            <p:cNvPr id="33" name="流程图: 顺序访问存储器 32"/>
            <p:cNvSpPr/>
            <p:nvPr/>
          </p:nvSpPr>
          <p:spPr>
            <a:xfrm>
              <a:off x="6804248" y="3599952"/>
              <a:ext cx="1080120" cy="360040"/>
            </a:xfrm>
            <a:prstGeom prst="flowChartMagneticTape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948264" y="3573016"/>
              <a:ext cx="11521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en-US" altLang="zh-CN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p</a:t>
              </a:r>
              <a:r>
                <a:rPr lang="zh-CN" altLang="en-US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∨</a:t>
              </a:r>
              <a:r>
                <a:rPr lang="en-US" altLang="zh-CN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q</a:t>
              </a:r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pPr marL="0" lvl="1"/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endParaRPr lang="zh-CN" altLang="en-US" dirty="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6228184" y="4005064"/>
            <a:ext cx="1296144" cy="936104"/>
            <a:chOff x="6804248" y="4293096"/>
            <a:chExt cx="1296144" cy="936104"/>
          </a:xfrm>
        </p:grpSpPr>
        <p:sp>
          <p:nvSpPr>
            <p:cNvPr id="36" name="流程图: 顺序访问存储器 35"/>
            <p:cNvSpPr/>
            <p:nvPr/>
          </p:nvSpPr>
          <p:spPr>
            <a:xfrm>
              <a:off x="6804248" y="4320032"/>
              <a:ext cx="1080120" cy="360040"/>
            </a:xfrm>
            <a:prstGeom prst="flowChartMagneticTape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948264" y="4293096"/>
              <a:ext cx="1152128" cy="936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en-US" altLang="zh-CN" b="1" dirty="0" err="1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p</a:t>
              </a:r>
              <a:r>
                <a:rPr lang="en-US" altLang="zh-CN" b="1" dirty="0" err="1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</a:t>
              </a:r>
              <a:r>
                <a:rPr lang="en-US" altLang="zh-CN" b="1" dirty="0" err="1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q</a:t>
              </a:r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pPr marL="0" lvl="1"/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endParaRPr lang="zh-CN" altLang="en-US" dirty="0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228184" y="4725144"/>
            <a:ext cx="1296144" cy="923330"/>
            <a:chOff x="6804248" y="5013176"/>
            <a:chExt cx="1296144" cy="923330"/>
          </a:xfrm>
        </p:grpSpPr>
        <p:sp>
          <p:nvSpPr>
            <p:cNvPr id="39" name="流程图: 顺序访问存储器 38"/>
            <p:cNvSpPr/>
            <p:nvPr/>
          </p:nvSpPr>
          <p:spPr>
            <a:xfrm>
              <a:off x="6804248" y="5040112"/>
              <a:ext cx="1080120" cy="360040"/>
            </a:xfrm>
            <a:prstGeom prst="flowChartMagneticTape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948264" y="5013176"/>
              <a:ext cx="11521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en-US" altLang="zh-CN" b="1" dirty="0" err="1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p</a:t>
              </a:r>
              <a:r>
                <a:rPr lang="en-US" altLang="zh-CN" b="1" dirty="0" err="1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</a:t>
              </a:r>
              <a:r>
                <a:rPr lang="en-US" altLang="zh-CN" b="1" dirty="0" err="1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q</a:t>
              </a:r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pPr marL="0" lvl="1"/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endParaRPr lang="zh-CN" altLang="en-US" dirty="0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6228184" y="5445224"/>
            <a:ext cx="1440160" cy="923330"/>
            <a:chOff x="6804248" y="5733256"/>
            <a:chExt cx="1440160" cy="923330"/>
          </a:xfrm>
        </p:grpSpPr>
        <p:sp>
          <p:nvSpPr>
            <p:cNvPr id="42" name="流程图: 顺序访问存储器 41"/>
            <p:cNvSpPr/>
            <p:nvPr/>
          </p:nvSpPr>
          <p:spPr>
            <a:xfrm>
              <a:off x="6804248" y="5760192"/>
              <a:ext cx="1080120" cy="360040"/>
            </a:xfrm>
            <a:prstGeom prst="flowChartMagneticTape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092280" y="5733256"/>
              <a:ext cx="11521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en-US" altLang="zh-CN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  <a:sym typeface="Symbol" pitchFamily="18" charset="2"/>
                </a:rPr>
                <a:t></a:t>
              </a:r>
              <a:r>
                <a:rPr lang="en-US" altLang="zh-CN" b="1" dirty="0" smtClean="0">
                  <a:latin typeface="华文新魏" pitchFamily="2" charset="-122"/>
                  <a:ea typeface="华文新魏" pitchFamily="2" charset="-122"/>
                  <a:cs typeface="Times New Roman" pitchFamily="18" charset="0"/>
                </a:rPr>
                <a:t>p</a:t>
              </a:r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pPr marL="0" lvl="1"/>
              <a:endParaRPr lang="zh-CN" altLang="en-US" b="1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endParaRPr>
            </a:p>
            <a:p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11" grpId="0"/>
      <p:bldP spid="16" grpId="0"/>
      <p:bldP spid="20" grpId="0"/>
      <p:bldP spid="24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直言命题和词项逻辑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19872" y="3255367"/>
            <a:ext cx="936104" cy="523220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主项</a:t>
            </a:r>
            <a:endParaRPr lang="zh-CN" altLang="en-US" sz="2800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04248" y="3284984"/>
            <a:ext cx="936104" cy="523220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谓项</a:t>
            </a:r>
            <a:endParaRPr lang="zh-CN" altLang="en-US" sz="2800" b="1" dirty="0">
              <a:latin typeface="华文楷体" pitchFamily="2" charset="-122"/>
              <a:ea typeface="华文楷体" pitchFamily="2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3851920" y="3687415"/>
            <a:ext cx="0" cy="43200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64288" y="4479503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P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7308304" y="3717032"/>
            <a:ext cx="0" cy="43200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1475656" y="3212976"/>
            <a:ext cx="1325256" cy="576064"/>
            <a:chOff x="1619672" y="1916832"/>
            <a:chExt cx="1325256" cy="576064"/>
          </a:xfrm>
        </p:grpSpPr>
        <p:sp>
          <p:nvSpPr>
            <p:cNvPr id="11" name="椭圆 10"/>
            <p:cNvSpPr/>
            <p:nvPr/>
          </p:nvSpPr>
          <p:spPr>
            <a:xfrm>
              <a:off x="1619672" y="1916832"/>
              <a:ext cx="1296144" cy="576064"/>
            </a:xfrm>
            <a:prstGeom prst="ellipse">
              <a:avLst/>
            </a:prstGeom>
            <a:ln>
              <a:prstDash val="sysDot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92800" y="1969676"/>
              <a:ext cx="11521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华文楷体" pitchFamily="2" charset="-122"/>
                  <a:ea typeface="华文楷体" pitchFamily="2" charset="-122"/>
                </a:rPr>
                <a:t>量项</a:t>
              </a:r>
              <a:endParaRPr lang="zh-CN" altLang="en-US" sz="2800" b="1" dirty="0">
                <a:latin typeface="华文楷体" pitchFamily="2" charset="-122"/>
                <a:ea typeface="华文楷体" pitchFamily="2" charset="-122"/>
              </a:endParaRPr>
            </a:p>
          </p:txBody>
        </p:sp>
      </p:grpSp>
      <p:cxnSp>
        <p:nvCxnSpPr>
          <p:cNvPr id="14" name="直接箭头连接符 13"/>
          <p:cNvCxnSpPr/>
          <p:nvPr/>
        </p:nvCxnSpPr>
        <p:spPr>
          <a:xfrm>
            <a:off x="2123728" y="3686552"/>
            <a:ext cx="0" cy="432000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31640" y="447950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所有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/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有些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932040" y="3212976"/>
            <a:ext cx="1325256" cy="576064"/>
            <a:chOff x="1619672" y="1916832"/>
            <a:chExt cx="1325256" cy="576064"/>
          </a:xfrm>
        </p:grpSpPr>
        <p:sp>
          <p:nvSpPr>
            <p:cNvPr id="17" name="椭圆 16"/>
            <p:cNvSpPr/>
            <p:nvPr/>
          </p:nvSpPr>
          <p:spPr>
            <a:xfrm>
              <a:off x="1619672" y="1916832"/>
              <a:ext cx="1296144" cy="576064"/>
            </a:xfrm>
            <a:prstGeom prst="ellipse">
              <a:avLst/>
            </a:prstGeom>
            <a:ln>
              <a:prstDash val="sysDot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92800" y="1969676"/>
              <a:ext cx="11521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华文楷体" pitchFamily="2" charset="-122"/>
                  <a:ea typeface="华文楷体" pitchFamily="2" charset="-122"/>
                </a:rPr>
                <a:t>联项</a:t>
              </a:r>
              <a:endParaRPr lang="zh-CN" altLang="en-US" sz="2800" b="1" dirty="0">
                <a:latin typeface="华文楷体" pitchFamily="2" charset="-122"/>
                <a:ea typeface="华文楷体" pitchFamily="2" charset="-122"/>
              </a:endParaRPr>
            </a:p>
          </p:txBody>
        </p:sp>
      </p:grpSp>
      <p:cxnSp>
        <p:nvCxnSpPr>
          <p:cNvPr id="19" name="直接箭头连接符 18"/>
          <p:cNvCxnSpPr/>
          <p:nvPr/>
        </p:nvCxnSpPr>
        <p:spPr>
          <a:xfrm>
            <a:off x="5580112" y="3686552"/>
            <a:ext cx="0" cy="432000"/>
          </a:xfrm>
          <a:prstGeom prst="straightConnector1">
            <a:avLst/>
          </a:prstGeom>
          <a:ln w="57150">
            <a:solidFill>
              <a:srgbClr val="0066CC"/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04048" y="447950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是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/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不是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79912" y="1700808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B050"/>
                </a:solidFill>
                <a:latin typeface="华文琥珀" pitchFamily="2" charset="-122"/>
                <a:ea typeface="华文琥珀" pitchFamily="2" charset="-122"/>
              </a:rPr>
              <a:t>简单命题</a:t>
            </a:r>
            <a:endParaRPr lang="zh-CN" altLang="en-US" sz="2800" dirty="0">
              <a:solidFill>
                <a:srgbClr val="00B050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22" name="左大括号 21"/>
          <p:cNvSpPr/>
          <p:nvPr/>
        </p:nvSpPr>
        <p:spPr>
          <a:xfrm>
            <a:off x="4427984" y="-99392"/>
            <a:ext cx="360040" cy="5400600"/>
          </a:xfrm>
          <a:prstGeom prst="leftBrace">
            <a:avLst/>
          </a:prstGeom>
          <a:ln w="28575"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3059832" y="4470211"/>
            <a:ext cx="1728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普遍词项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S/</a:t>
            </a:r>
          </a:p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单称词项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a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  <p:bldP spid="15" grpId="0"/>
      <p:bldP spid="20" grpId="0"/>
      <p:bldP spid="21" grpId="0"/>
      <p:bldP spid="22" grpId="0" animBg="1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个体词、谓词和谓词逻辑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15816" y="3246075"/>
            <a:ext cx="1296144" cy="523220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个体词</a:t>
            </a:r>
            <a:endParaRPr lang="zh-CN" altLang="en-US" sz="2800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44008" y="3247224"/>
            <a:ext cx="936104" cy="523220"/>
          </a:xfrm>
          <a:prstGeom prst="rect">
            <a:avLst/>
          </a:prstGeom>
          <a:noFill/>
          <a:ln w="25400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谓词</a:t>
            </a:r>
            <a:endParaRPr lang="zh-CN" altLang="en-US" sz="2800" b="1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71800" y="4470211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个体常项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/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个体变项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4509120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华文新魏" pitchFamily="2" charset="-122"/>
                <a:ea typeface="华文新魏" pitchFamily="2" charset="-122"/>
              </a:rPr>
              <a:t>F/G/R/S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5148064" y="3679224"/>
            <a:ext cx="0" cy="43200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1259632" y="3203684"/>
            <a:ext cx="1325256" cy="576064"/>
            <a:chOff x="1619672" y="1916832"/>
            <a:chExt cx="1325256" cy="576064"/>
          </a:xfrm>
        </p:grpSpPr>
        <p:sp>
          <p:nvSpPr>
            <p:cNvPr id="11" name="椭圆 10"/>
            <p:cNvSpPr/>
            <p:nvPr/>
          </p:nvSpPr>
          <p:spPr>
            <a:xfrm>
              <a:off x="1619672" y="1916832"/>
              <a:ext cx="1296144" cy="576064"/>
            </a:xfrm>
            <a:prstGeom prst="ellipse">
              <a:avLst/>
            </a:prstGeom>
            <a:ln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92800" y="1969676"/>
              <a:ext cx="11521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华文楷体" pitchFamily="2" charset="-122"/>
                  <a:ea typeface="华文楷体" pitchFamily="2" charset="-122"/>
                </a:rPr>
                <a:t>量词</a:t>
              </a:r>
              <a:endParaRPr lang="zh-CN" altLang="en-US" sz="2800" b="1" dirty="0">
                <a:latin typeface="华文楷体" pitchFamily="2" charset="-122"/>
                <a:ea typeface="华文楷体" pitchFamily="2" charset="-122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27584" y="4470211"/>
            <a:ext cx="187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全称量词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/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存在量词</a:t>
            </a:r>
            <a:r>
              <a:rPr lang="en-US" altLang="zh-CN" sz="2400" dirty="0" smtClean="0">
                <a:latin typeface="华文新魏" pitchFamily="2" charset="-122"/>
                <a:ea typeface="华文新魏" pitchFamily="2" charset="-122"/>
                <a:cs typeface="Times New Roman" pitchFamily="18" charset="0"/>
                <a:sym typeface="Symbol" pitchFamily="18" charset="2"/>
              </a:rPr>
              <a:t>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1" name="左大括号 20"/>
          <p:cNvSpPr/>
          <p:nvPr/>
        </p:nvSpPr>
        <p:spPr>
          <a:xfrm>
            <a:off x="3275856" y="1124744"/>
            <a:ext cx="360040" cy="3240360"/>
          </a:xfrm>
          <a:prstGeom prst="leftBrace">
            <a:avLst/>
          </a:prstGeom>
          <a:ln w="28575"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2699792" y="188721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B050"/>
                </a:solidFill>
                <a:latin typeface="华文琥珀" pitchFamily="2" charset="-122"/>
                <a:ea typeface="华文琥珀" pitchFamily="2" charset="-122"/>
              </a:rPr>
              <a:t>简单命题</a:t>
            </a:r>
            <a:endParaRPr lang="zh-CN" altLang="en-US" sz="2400" dirty="0">
              <a:solidFill>
                <a:srgbClr val="00B050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29" name="左右箭头 28"/>
          <p:cNvSpPr/>
          <p:nvPr/>
        </p:nvSpPr>
        <p:spPr>
          <a:xfrm>
            <a:off x="4499992" y="1916832"/>
            <a:ext cx="1440160" cy="432048"/>
          </a:xfrm>
          <a:prstGeom prst="left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6228184" y="188721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0B050"/>
                </a:solidFill>
                <a:latin typeface="华文琥珀" pitchFamily="2" charset="-122"/>
                <a:ea typeface="华文琥珀" pitchFamily="2" charset="-122"/>
              </a:rPr>
              <a:t>简单命题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6016" y="1628800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联结词</a:t>
            </a:r>
            <a:endParaRPr lang="zh-CN" altLang="en-US" sz="2000" b="1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3635896" y="3678123"/>
            <a:ext cx="0" cy="43200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1907704" y="3679200"/>
            <a:ext cx="0" cy="43200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14" grpId="0"/>
      <p:bldP spid="21" grpId="0" animBg="1"/>
      <p:bldP spid="28" grpId="0"/>
      <p:bldP spid="29" grpId="0" animBg="1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归纳逻辑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51920" y="2103239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u="sng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归纳推理</a:t>
            </a:r>
            <a:endParaRPr lang="zh-CN" altLang="en-US" sz="2400" u="sng" dirty="0">
              <a:solidFill>
                <a:srgbClr val="C0000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19672" y="2391271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itchFamily="2" charset="-122"/>
                <a:ea typeface="华文新魏" pitchFamily="2" charset="-122"/>
              </a:rPr>
              <a:t>个别性例证</a:t>
            </a:r>
            <a:endParaRPr lang="zh-CN" altLang="en-US" sz="2800" dirty="0">
              <a:latin typeface="华文新魏" pitchFamily="2" charset="-122"/>
              <a:ea typeface="华文新魏" pitchFamily="2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3779912" y="2607295"/>
            <a:ext cx="165618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24128" y="2391271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新魏" pitchFamily="2" charset="-122"/>
                <a:ea typeface="华文新魏" pitchFamily="2" charset="-122"/>
              </a:rPr>
              <a:t>一般性原理</a:t>
            </a:r>
            <a:endParaRPr lang="zh-CN" altLang="en-US" sz="28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7904" y="3831431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B050"/>
                </a:solidFill>
                <a:latin typeface="华文行楷" pitchFamily="2" charset="-122"/>
                <a:ea typeface="华文行楷" pitchFamily="2" charset="-122"/>
              </a:rPr>
              <a:t>或然性</a:t>
            </a:r>
            <a:r>
              <a:rPr lang="zh-CN" altLang="en-US" sz="2400" dirty="0" smtClean="0">
                <a:solidFill>
                  <a:srgbClr val="00B050"/>
                </a:solidFill>
                <a:latin typeface="华文行楷" pitchFamily="2" charset="-122"/>
                <a:ea typeface="华文行楷" pitchFamily="2" charset="-122"/>
              </a:rPr>
              <a:t>推理</a:t>
            </a:r>
            <a:endParaRPr lang="zh-CN" altLang="en-US" sz="2400" dirty="0">
              <a:solidFill>
                <a:srgbClr val="00B05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11760" y="3081734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7030A0"/>
                </a:solidFill>
                <a:latin typeface="华文行楷" pitchFamily="2" charset="-122"/>
                <a:ea typeface="华文行楷" pitchFamily="2" charset="-122"/>
              </a:rPr>
              <a:t>真</a:t>
            </a:r>
            <a:endParaRPr lang="zh-CN" altLang="en-US" sz="2400" dirty="0">
              <a:solidFill>
                <a:srgbClr val="7030A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72200" y="3111351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7030A0"/>
                </a:solidFill>
                <a:latin typeface="华文行楷" pitchFamily="2" charset="-122"/>
                <a:ea typeface="华文行楷" pitchFamily="2" charset="-122"/>
              </a:rPr>
              <a:t>真</a:t>
            </a:r>
            <a:r>
              <a:rPr lang="en-US" altLang="zh-CN" sz="2400" dirty="0" smtClean="0">
                <a:solidFill>
                  <a:srgbClr val="7030A0"/>
                </a:solidFill>
                <a:latin typeface="华文行楷" pitchFamily="2" charset="-122"/>
                <a:ea typeface="华文行楷" pitchFamily="2" charset="-122"/>
              </a:rPr>
              <a:t>/</a:t>
            </a:r>
            <a:r>
              <a:rPr lang="zh-CN" altLang="en-US" sz="2400" dirty="0" smtClean="0">
                <a:solidFill>
                  <a:srgbClr val="7030A0"/>
                </a:solidFill>
                <a:latin typeface="华文行楷" pitchFamily="2" charset="-122"/>
                <a:ea typeface="华文行楷" pitchFamily="2" charset="-122"/>
              </a:rPr>
              <a:t>假</a:t>
            </a:r>
            <a:endParaRPr lang="zh-CN" altLang="en-US" sz="2400" dirty="0">
              <a:solidFill>
                <a:srgbClr val="7030A0"/>
              </a:solidFill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非形式逻辑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779912" y="1844824"/>
            <a:ext cx="1944216" cy="864096"/>
            <a:chOff x="3779912" y="1556792"/>
            <a:chExt cx="1944216" cy="864096"/>
          </a:xfrm>
        </p:grpSpPr>
        <p:sp>
          <p:nvSpPr>
            <p:cNvPr id="5" name="横卷形 4"/>
            <p:cNvSpPr/>
            <p:nvPr/>
          </p:nvSpPr>
          <p:spPr>
            <a:xfrm>
              <a:off x="3779912" y="1556792"/>
              <a:ext cx="1800200" cy="864096"/>
            </a:xfrm>
            <a:prstGeom prst="horizontalScroll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23928" y="1772816"/>
              <a:ext cx="1800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dirty="0" smtClean="0">
                  <a:latin typeface="华文行楷" pitchFamily="2" charset="-122"/>
                  <a:ea typeface="华文行楷" pitchFamily="2" charset="-122"/>
                </a:rPr>
                <a:t>批判性思维</a:t>
              </a:r>
              <a:endParaRPr lang="zh-CN" altLang="en-US" sz="22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691680" y="3284984"/>
            <a:ext cx="1656184" cy="936104"/>
            <a:chOff x="1115616" y="4581128"/>
            <a:chExt cx="1656184" cy="936104"/>
          </a:xfrm>
        </p:grpSpPr>
        <p:sp>
          <p:nvSpPr>
            <p:cNvPr id="8" name="云形 7"/>
            <p:cNvSpPr/>
            <p:nvPr/>
          </p:nvSpPr>
          <p:spPr>
            <a:xfrm>
              <a:off x="1115616" y="4581128"/>
              <a:ext cx="1656184" cy="936104"/>
            </a:xfrm>
            <a:prstGeom prst="cloud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59632" y="4797152"/>
              <a:ext cx="144016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dirty="0" smtClean="0">
                  <a:latin typeface="华文新魏" pitchFamily="2" charset="-122"/>
                  <a:ea typeface="华文新魏" pitchFamily="2" charset="-122"/>
                </a:rPr>
                <a:t>定义理论</a:t>
              </a:r>
              <a:endParaRPr lang="zh-CN" altLang="en-US" sz="2200" dirty="0">
                <a:latin typeface="华文新魏" pitchFamily="2" charset="-122"/>
                <a:ea typeface="华文新魏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851920" y="3284984"/>
            <a:ext cx="1656184" cy="936104"/>
            <a:chOff x="1115616" y="4581128"/>
            <a:chExt cx="1656184" cy="936104"/>
          </a:xfrm>
        </p:grpSpPr>
        <p:sp>
          <p:nvSpPr>
            <p:cNvPr id="11" name="云形 10"/>
            <p:cNvSpPr/>
            <p:nvPr/>
          </p:nvSpPr>
          <p:spPr>
            <a:xfrm>
              <a:off x="1115616" y="4581128"/>
              <a:ext cx="1656184" cy="936104"/>
            </a:xfrm>
            <a:prstGeom prst="clou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59632" y="4797152"/>
              <a:ext cx="144016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dirty="0">
                  <a:latin typeface="华文新魏" pitchFamily="2" charset="-122"/>
                  <a:ea typeface="华文新魏" pitchFamily="2" charset="-122"/>
                </a:rPr>
                <a:t>论证</a:t>
              </a:r>
              <a:r>
                <a:rPr lang="zh-CN" altLang="en-US" sz="2200" dirty="0" smtClean="0">
                  <a:latin typeface="华文新魏" pitchFamily="2" charset="-122"/>
                  <a:ea typeface="华文新魏" pitchFamily="2" charset="-122"/>
                </a:rPr>
                <a:t>理论</a:t>
              </a:r>
              <a:endParaRPr lang="zh-CN" altLang="en-US" sz="2200" dirty="0">
                <a:latin typeface="华文新魏" pitchFamily="2" charset="-122"/>
                <a:ea typeface="华文新魏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084168" y="3284984"/>
            <a:ext cx="1656184" cy="936104"/>
            <a:chOff x="1115616" y="4581128"/>
            <a:chExt cx="1656184" cy="936104"/>
          </a:xfrm>
        </p:grpSpPr>
        <p:sp>
          <p:nvSpPr>
            <p:cNvPr id="14" name="云形 13"/>
            <p:cNvSpPr/>
            <p:nvPr/>
          </p:nvSpPr>
          <p:spPr>
            <a:xfrm>
              <a:off x="1115616" y="4581128"/>
              <a:ext cx="1656184" cy="936104"/>
            </a:xfrm>
            <a:prstGeom prst="cloud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59632" y="4797152"/>
              <a:ext cx="144016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dirty="0">
                  <a:latin typeface="华文新魏" pitchFamily="2" charset="-122"/>
                  <a:ea typeface="华文新魏" pitchFamily="2" charset="-122"/>
                </a:rPr>
                <a:t>谬误</a:t>
              </a:r>
              <a:r>
                <a:rPr lang="zh-CN" altLang="en-US" sz="2200" dirty="0" smtClean="0">
                  <a:latin typeface="华文新魏" pitchFamily="2" charset="-122"/>
                  <a:ea typeface="华文新魏" pitchFamily="2" charset="-122"/>
                </a:rPr>
                <a:t>理论</a:t>
              </a:r>
              <a:endParaRPr lang="zh-CN" altLang="en-US" sz="2200" dirty="0">
                <a:latin typeface="华文新魏" pitchFamily="2" charset="-122"/>
                <a:ea typeface="华文新魏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第一章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什么是逻辑学？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流程图: 顺序访问存储器 6"/>
          <p:cNvSpPr/>
          <p:nvPr/>
        </p:nvSpPr>
        <p:spPr>
          <a:xfrm>
            <a:off x="2195736" y="1844824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流程图: 顺序访问存储器 7"/>
          <p:cNvSpPr/>
          <p:nvPr/>
        </p:nvSpPr>
        <p:spPr>
          <a:xfrm>
            <a:off x="2195736" y="2708920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流程图: 顺序访问存储器 8"/>
          <p:cNvSpPr/>
          <p:nvPr/>
        </p:nvSpPr>
        <p:spPr>
          <a:xfrm>
            <a:off x="2195736" y="3573016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流程图: 顺序访问存储器 9"/>
          <p:cNvSpPr/>
          <p:nvPr/>
        </p:nvSpPr>
        <p:spPr>
          <a:xfrm>
            <a:off x="2195736" y="4437112"/>
            <a:ext cx="504056" cy="504056"/>
          </a:xfrm>
          <a:prstGeom prst="flowChartMagneticTap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流程图: 顺序访问存储器 10"/>
          <p:cNvSpPr/>
          <p:nvPr/>
        </p:nvSpPr>
        <p:spPr>
          <a:xfrm>
            <a:off x="2195736" y="5373216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逻辑学的对象</a:t>
            </a:r>
            <a:r>
              <a:rPr lang="en-US" altLang="zh-CN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: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推理和验证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</a:rPr>
              <a:t>命题分析和逻辑类型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推理形式及其有效性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逻辑基本规律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7824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</a:rPr>
              <a:t>“逻辑”的词源与词义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什么是推理形式？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11807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400" dirty="0" smtClean="0">
                <a:latin typeface="华文楷体" pitchFamily="2" charset="-122"/>
                <a:ea typeface="华文楷体" pitchFamily="2" charset="-122"/>
              </a:rPr>
              <a:t>     是指在一个推理中抽掉各个命题的具体内容之后，所保留下来的模式或者框架。</a:t>
            </a:r>
            <a:endParaRPr lang="zh-CN" altLang="en-US" sz="2400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流程图: 卡片 3"/>
          <p:cNvSpPr/>
          <p:nvPr/>
        </p:nvSpPr>
        <p:spPr>
          <a:xfrm>
            <a:off x="1619672" y="2956882"/>
            <a:ext cx="1800200" cy="576064"/>
          </a:xfrm>
          <a:prstGeom prst="flowChartPunchedCar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835696" y="3028890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逻辑常项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流程图: 卡片 5"/>
          <p:cNvSpPr/>
          <p:nvPr/>
        </p:nvSpPr>
        <p:spPr>
          <a:xfrm>
            <a:off x="1619672" y="4037002"/>
            <a:ext cx="1800200" cy="576064"/>
          </a:xfrm>
          <a:prstGeom prst="flowChartPunchedCar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835696" y="4109010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逻辑变项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5896" y="3100898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联结词，联项，量项</a:t>
            </a:r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35896" y="4181018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主项，谓项，个体词</a:t>
            </a:r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0" name="左中括号 9"/>
          <p:cNvSpPr/>
          <p:nvPr/>
        </p:nvSpPr>
        <p:spPr>
          <a:xfrm>
            <a:off x="1331640" y="3244914"/>
            <a:ext cx="72008" cy="1224136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1" name="右箭头 10"/>
          <p:cNvSpPr/>
          <p:nvPr/>
        </p:nvSpPr>
        <p:spPr>
          <a:xfrm>
            <a:off x="6372200" y="3172906"/>
            <a:ext cx="360040" cy="328102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2" name="右箭头 11"/>
          <p:cNvSpPr/>
          <p:nvPr/>
        </p:nvSpPr>
        <p:spPr>
          <a:xfrm>
            <a:off x="6372200" y="4284964"/>
            <a:ext cx="360040" cy="328102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876256" y="3100898"/>
            <a:ext cx="1224136" cy="400110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结构要素</a:t>
            </a:r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76256" y="4253026"/>
            <a:ext cx="1224136" cy="400110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内容要素</a:t>
            </a:r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  <p:bldP spid="6" grpId="0" animBg="1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1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68760"/>
            <a:ext cx="8219256" cy="2764904"/>
          </a:xfrm>
        </p:spPr>
        <p:txBody>
          <a:bodyPr/>
          <a:lstStyle/>
          <a:p>
            <a:pPr lvl="1">
              <a:lnSpc>
                <a:spcPct val="150000"/>
              </a:lnSpc>
              <a:buNone/>
            </a:pPr>
            <a:r>
              <a:rPr lang="zh-CN" altLang="en-US" sz="2400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）如果小强感冒，则小强会发烧；小强确实感冒了，所以，小强会发烧。</a:t>
            </a:r>
          </a:p>
          <a:p>
            <a:pPr lvl="1">
              <a:lnSpc>
                <a:spcPct val="150000"/>
              </a:lnSpc>
              <a:buNone/>
            </a:pPr>
            <a:r>
              <a:rPr lang="zh-CN" altLang="en-US" sz="2400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）如果冬天来了，则春天不再遥远；冬天确实来了，所以，春天不再遥远。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323528" y="1268760"/>
            <a:ext cx="8219256" cy="2764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）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如果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小强感冒，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则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小强会发烧；小强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确实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感冒了，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所以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，小强会发烧。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）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如果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冬天来了，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则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春天不再遥远；冬天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确实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来了，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所以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，春天不再遥远。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987824" y="4005064"/>
            <a:ext cx="3816424" cy="576064"/>
            <a:chOff x="2987824" y="3789040"/>
            <a:chExt cx="3816424" cy="576064"/>
          </a:xfrm>
        </p:grpSpPr>
        <p:sp>
          <p:nvSpPr>
            <p:cNvPr id="7" name="折角形 6"/>
            <p:cNvSpPr/>
            <p:nvPr/>
          </p:nvSpPr>
          <p:spPr>
            <a:xfrm>
              <a:off x="2987824" y="3789040"/>
              <a:ext cx="2880320" cy="576064"/>
            </a:xfrm>
            <a:prstGeom prst="foldedCorner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59832" y="3923764"/>
              <a:ext cx="3744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如果</a:t>
              </a:r>
              <a:r>
                <a:rPr lang="en-US" altLang="zh-CN" dirty="0" smtClean="0"/>
                <a:t>p</a:t>
              </a:r>
              <a:r>
                <a:rPr lang="zh-CN" altLang="en-US" dirty="0" smtClean="0"/>
                <a:t>，那么</a:t>
              </a:r>
              <a:r>
                <a:rPr lang="en-US" altLang="zh-CN" dirty="0" smtClean="0"/>
                <a:t>q</a:t>
              </a:r>
              <a:r>
                <a:rPr lang="zh-CN" altLang="en-US" dirty="0" smtClean="0"/>
                <a:t>；</a:t>
              </a:r>
              <a:r>
                <a:rPr lang="en-US" altLang="zh-CN" dirty="0" smtClean="0"/>
                <a:t>p</a:t>
              </a:r>
              <a:r>
                <a:rPr lang="zh-CN" altLang="en-US" dirty="0" smtClean="0"/>
                <a:t>，所以</a:t>
              </a:r>
              <a:r>
                <a:rPr lang="en-US" altLang="zh-CN" dirty="0" smtClean="0"/>
                <a:t>q</a:t>
              </a:r>
              <a:endParaRPr lang="zh-CN" altLang="en-US" dirty="0"/>
            </a:p>
          </p:txBody>
        </p:sp>
      </p:grpSp>
      <p:sp>
        <p:nvSpPr>
          <p:cNvPr id="10" name="右箭头 9"/>
          <p:cNvSpPr/>
          <p:nvPr/>
        </p:nvSpPr>
        <p:spPr>
          <a:xfrm>
            <a:off x="4283968" y="4829090"/>
            <a:ext cx="360040" cy="328102"/>
          </a:xfrm>
          <a:prstGeom prst="rightArrow">
            <a:avLst/>
          </a:prstGeom>
          <a:scene3d>
            <a:camera prst="orthographicFront">
              <a:rot lat="0" lon="0" rev="1620000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grpSp>
        <p:nvGrpSpPr>
          <p:cNvPr id="13" name="组合 12"/>
          <p:cNvGrpSpPr/>
          <p:nvPr/>
        </p:nvGrpSpPr>
        <p:grpSpPr>
          <a:xfrm>
            <a:off x="3419872" y="5301208"/>
            <a:ext cx="2160240" cy="504056"/>
            <a:chOff x="3563888" y="5229200"/>
            <a:chExt cx="2160240" cy="504056"/>
          </a:xfrm>
        </p:grpSpPr>
        <p:sp>
          <p:nvSpPr>
            <p:cNvPr id="11" name="流程图: 准备 10"/>
            <p:cNvSpPr/>
            <p:nvPr/>
          </p:nvSpPr>
          <p:spPr>
            <a:xfrm>
              <a:off x="3563888" y="5229200"/>
              <a:ext cx="2160240" cy="504056"/>
            </a:xfrm>
            <a:prstGeom prst="flowChartPreparation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23928" y="5291916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zh-CN" b="1" dirty="0" err="1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CN" b="1" dirty="0" err="1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</a:t>
              </a:r>
              <a:r>
                <a:rPr lang="en-US" altLang="zh-CN" b="1" dirty="0" err="1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en-US" altLang="zh-CN" b="1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altLang="zh-CN" b="1" dirty="0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</a:t>
              </a:r>
              <a:r>
                <a:rPr lang="en-US" altLang="zh-CN" b="1" dirty="0" err="1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CN" b="1" dirty="0" err="1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</a:t>
              </a:r>
              <a:r>
                <a:rPr lang="en-US" altLang="zh-CN" b="1" dirty="0" err="1" smtClean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q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2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95736" y="1347661"/>
            <a:ext cx="4572000" cy="1757084"/>
          </a:xfrm>
          <a:prstGeom prst="rect">
            <a:avLst/>
          </a:prstGeom>
        </p:spPr>
        <p:txBody>
          <a:bodyPr>
            <a:spAutoFit/>
          </a:bodyPr>
          <a:lstStyle/>
          <a:p>
            <a:pPr marL="621792" lvl="1">
              <a:lnSpc>
                <a:spcPct val="200000"/>
              </a:lnSpc>
              <a:spcBef>
                <a:spcPts val="324"/>
              </a:spcBef>
              <a:defRPr/>
            </a:pPr>
            <a:r>
              <a:rPr lang="zh-CN" altLang="en-US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        所有的天鹅都是会飞的，</a:t>
            </a:r>
          </a:p>
          <a:p>
            <a:pPr marL="621792" lvl="1">
              <a:lnSpc>
                <a:spcPct val="200000"/>
              </a:lnSpc>
              <a:spcBef>
                <a:spcPts val="324"/>
              </a:spcBef>
              <a:defRPr/>
            </a:pPr>
            <a:r>
              <a:rPr lang="zh-CN" altLang="en-US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        所有的黑熊都不是天鹅，</a:t>
            </a:r>
            <a:endParaRPr lang="en-US" altLang="zh-CN" dirty="0" smtClean="0">
              <a:latin typeface="华文楷体" pitchFamily="2" charset="-122"/>
              <a:ea typeface="华文楷体" pitchFamily="2" charset="-122"/>
              <a:cs typeface="Times New Roman" pitchFamily="18" charset="0"/>
            </a:endParaRPr>
          </a:p>
          <a:p>
            <a:pPr marL="621792" lvl="1">
              <a:lnSpc>
                <a:spcPct val="200000"/>
              </a:lnSpc>
              <a:spcBef>
                <a:spcPts val="324"/>
              </a:spcBef>
              <a:defRPr/>
            </a:pPr>
            <a:r>
              <a:rPr lang="zh-CN" altLang="en-US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所以，所有的黑熊都不是会飞的。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1800" y="3429000"/>
            <a:ext cx="4248472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5760" indent="-256032">
              <a:lnSpc>
                <a:spcPct val="200000"/>
              </a:lnSpc>
              <a:buFont typeface="Wingdings 3"/>
              <a:buChar char=""/>
              <a:defRPr/>
            </a:pPr>
            <a:r>
              <a:rPr lang="zh-CN" altLang="en-US" sz="24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这个推理的推理形式是</a:t>
            </a:r>
            <a:r>
              <a:rPr lang="zh-CN" altLang="en-US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：</a:t>
            </a:r>
          </a:p>
          <a:p>
            <a:pPr marL="621792" lvl="1">
              <a:lnSpc>
                <a:spcPct val="200000"/>
              </a:lnSpc>
              <a:spcBef>
                <a:spcPts val="324"/>
              </a:spcBef>
              <a:defRPr/>
            </a:pPr>
            <a:r>
              <a:rPr lang="zh-CN" altLang="en-US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       所有</a:t>
            </a:r>
            <a:r>
              <a:rPr lang="en-US" altLang="zh-CN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M</a:t>
            </a:r>
            <a:r>
              <a:rPr lang="zh-CN" altLang="en-US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都是</a:t>
            </a:r>
            <a:r>
              <a:rPr lang="en-US" altLang="zh-CN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P</a:t>
            </a:r>
            <a:r>
              <a:rPr lang="zh-CN" altLang="en-US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，</a:t>
            </a:r>
          </a:p>
          <a:p>
            <a:pPr marL="621792" lvl="1">
              <a:lnSpc>
                <a:spcPct val="200000"/>
              </a:lnSpc>
              <a:spcBef>
                <a:spcPts val="324"/>
              </a:spcBef>
              <a:defRPr/>
            </a:pPr>
            <a:r>
              <a:rPr lang="zh-CN" altLang="en-US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       所有</a:t>
            </a:r>
            <a:r>
              <a:rPr lang="en-US" altLang="zh-CN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S</a:t>
            </a:r>
            <a:r>
              <a:rPr lang="zh-CN" altLang="en-US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都不是</a:t>
            </a:r>
            <a:r>
              <a:rPr lang="en-US" altLang="zh-CN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M</a:t>
            </a:r>
            <a:r>
              <a:rPr lang="zh-CN" altLang="en-US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，</a:t>
            </a:r>
          </a:p>
          <a:p>
            <a:pPr marL="621792" lvl="1">
              <a:lnSpc>
                <a:spcPct val="200000"/>
              </a:lnSpc>
              <a:spcBef>
                <a:spcPts val="324"/>
              </a:spcBef>
              <a:defRPr/>
            </a:pPr>
            <a:r>
              <a:rPr lang="zh-CN" altLang="en-US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所以，所有</a:t>
            </a:r>
            <a:r>
              <a:rPr lang="en-US" altLang="zh-CN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S</a:t>
            </a:r>
            <a:r>
              <a:rPr lang="zh-CN" altLang="en-US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都不是</a:t>
            </a:r>
            <a:r>
              <a:rPr lang="en-US" altLang="zh-CN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P</a:t>
            </a:r>
            <a:r>
              <a:rPr lang="zh-CN" altLang="en-US" dirty="0" smtClean="0">
                <a:latin typeface="Times New Roman" pitchFamily="18" charset="0"/>
                <a:ea typeface="楷体_GB2312"/>
                <a:cs typeface="Times New Roman" pitchFamily="18" charset="0"/>
              </a:rPr>
              <a:t>。</a:t>
            </a:r>
          </a:p>
          <a:p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2304256" y="2635324"/>
            <a:ext cx="45720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39752" y="5443636"/>
            <a:ext cx="45720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推理形式的有效性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2996952"/>
            <a:ext cx="7704856" cy="1368152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latin typeface="华文楷体" pitchFamily="2" charset="-122"/>
                <a:ea typeface="华文楷体" pitchFamily="2" charset="-122"/>
              </a:rPr>
              <a:t>尽管从假的前提出发也能进行合乎逻辑的推理，其结论可能是真的，也可能是假的，但从真前提出发进行有效推理，却只能得到真结论，不能得到假结论。</a:t>
            </a:r>
            <a:endParaRPr lang="zh-CN" altLang="en-US" sz="2400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5" name="折角形 4"/>
          <p:cNvSpPr/>
          <p:nvPr/>
        </p:nvSpPr>
        <p:spPr>
          <a:xfrm>
            <a:off x="755576" y="1456184"/>
            <a:ext cx="7488832" cy="1008112"/>
          </a:xfrm>
          <a:prstGeom prst="foldedCorne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529208" y="1528192"/>
            <a:ext cx="7643192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2800" dirty="0" smtClean="0">
                <a:latin typeface="华文楷体" pitchFamily="2" charset="-122"/>
                <a:ea typeface="华文楷体" pitchFamily="2" charset="-122"/>
              </a:rPr>
              <a:t>    </a:t>
            </a:r>
            <a:r>
              <a:rPr lang="zh-CN" altLang="en-US" sz="2400" dirty="0" smtClean="0">
                <a:latin typeface="华文楷体" pitchFamily="2" charset="-122"/>
                <a:ea typeface="华文楷体" pitchFamily="2" charset="-122"/>
              </a:rPr>
              <a:t>亦称“保真性”，是指一个推理必须确保从真的前提推出真的结论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36096" y="4921200"/>
            <a:ext cx="1656184" cy="523220"/>
          </a:xfrm>
          <a:prstGeom prst="rect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有效推理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03648" y="4922004"/>
            <a:ext cx="3096344" cy="523220"/>
          </a:xfrm>
          <a:prstGeom prst="rect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具有保真性的推理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等于号 7"/>
          <p:cNvSpPr/>
          <p:nvPr/>
        </p:nvSpPr>
        <p:spPr>
          <a:xfrm>
            <a:off x="4572000" y="5013176"/>
            <a:ext cx="720080" cy="360040"/>
          </a:xfrm>
          <a:prstGeom prst="mathEqual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4" grpId="1" build="allAtOnce"/>
      <p:bldP spid="6" grpId="0" animBg="1"/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例</a:t>
            </a:r>
            <a:r>
              <a:rPr lang="en-US" altLang="zh-CN" dirty="0" smtClean="0">
                <a:latin typeface="华文新魏" pitchFamily="2" charset="-122"/>
                <a:ea typeface="华文新魏" pitchFamily="2" charset="-122"/>
              </a:rPr>
              <a:t>3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17440" y="1412776"/>
            <a:ext cx="4042792" cy="2423740"/>
          </a:xfrm>
        </p:spPr>
        <p:txBody>
          <a:bodyPr wrap="square">
            <a:spAutoFit/>
          </a:bodyPr>
          <a:lstStyle/>
          <a:p>
            <a:pPr marL="621792" lvl="1">
              <a:lnSpc>
                <a:spcPct val="200000"/>
              </a:lnSpc>
              <a:spcBef>
                <a:spcPts val="324"/>
              </a:spcBef>
              <a:buNone/>
              <a:defRPr/>
            </a:pPr>
            <a:r>
              <a:rPr lang="zh-CN" altLang="en-US" sz="1800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      所有的天鹅都是会飞的，</a:t>
            </a:r>
          </a:p>
          <a:p>
            <a:pPr marL="621792" lvl="1">
              <a:lnSpc>
                <a:spcPct val="200000"/>
              </a:lnSpc>
              <a:spcBef>
                <a:spcPts val="324"/>
              </a:spcBef>
              <a:buNone/>
              <a:defRPr/>
            </a:pPr>
            <a:r>
              <a:rPr lang="zh-CN" altLang="en-US" sz="1800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      所有的秃鹰都不是天鹅，</a:t>
            </a:r>
          </a:p>
          <a:p>
            <a:pPr marL="621792" lvl="1">
              <a:lnSpc>
                <a:spcPct val="200000"/>
              </a:lnSpc>
              <a:spcBef>
                <a:spcPts val="324"/>
              </a:spcBef>
              <a:buNone/>
              <a:defRPr/>
            </a:pPr>
            <a:r>
              <a:rPr lang="zh-CN" altLang="en-US" sz="1800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所以，所有的秃鹰都不是会飞的。</a:t>
            </a:r>
          </a:p>
          <a:p>
            <a:pPr marL="621792" lvl="1">
              <a:lnSpc>
                <a:spcPct val="200000"/>
              </a:lnSpc>
              <a:spcBef>
                <a:spcPts val="324"/>
              </a:spcBef>
              <a:defRPr/>
            </a:pPr>
            <a:endParaRPr lang="zh-CN" altLang="en-US" sz="1800" dirty="0" smtClean="0">
              <a:latin typeface="华文楷体" pitchFamily="2" charset="-122"/>
              <a:ea typeface="华文楷体" pitchFamily="2" charset="-122"/>
              <a:cs typeface="Times New Roman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304256" y="2707332"/>
            <a:ext cx="45720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835696" y="4149080"/>
            <a:ext cx="2500055" cy="864096"/>
            <a:chOff x="2987824" y="3789040"/>
            <a:chExt cx="2891598" cy="864096"/>
          </a:xfrm>
        </p:grpSpPr>
        <p:sp>
          <p:nvSpPr>
            <p:cNvPr id="6" name="折角形 5"/>
            <p:cNvSpPr/>
            <p:nvPr/>
          </p:nvSpPr>
          <p:spPr>
            <a:xfrm>
              <a:off x="2987824" y="3789040"/>
              <a:ext cx="2880320" cy="576064"/>
            </a:xfrm>
            <a:prstGeom prst="foldedCorner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71109" y="3822139"/>
              <a:ext cx="280831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华文新魏" pitchFamily="2" charset="-122"/>
                  <a:ea typeface="华文新魏" pitchFamily="2" charset="-122"/>
                </a:rPr>
                <a:t>真前提，假结论</a:t>
              </a:r>
              <a:endParaRPr lang="zh-CN" altLang="en-US" sz="2400" b="1" dirty="0">
                <a:latin typeface="华文新魏" pitchFamily="2" charset="-122"/>
                <a:ea typeface="华文新魏" pitchFamily="2" charset="-122"/>
              </a:endParaRPr>
            </a:p>
          </p:txBody>
        </p:sp>
      </p:grpSp>
      <p:sp>
        <p:nvSpPr>
          <p:cNvPr id="8" name="不等于号 7"/>
          <p:cNvSpPr/>
          <p:nvPr/>
        </p:nvSpPr>
        <p:spPr>
          <a:xfrm>
            <a:off x="4788024" y="4293096"/>
            <a:ext cx="648072" cy="360040"/>
          </a:xfrm>
          <a:prstGeom prst="mathNotEqua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6136" y="4149080"/>
            <a:ext cx="1656184" cy="52322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华文行楷" pitchFamily="2" charset="-122"/>
                <a:ea typeface="华文行楷" pitchFamily="2" charset="-122"/>
              </a:rPr>
              <a:t>有效推理</a:t>
            </a:r>
            <a:endParaRPr lang="zh-CN" altLang="en-US" sz="2800" dirty="0">
              <a:latin typeface="华文行楷" pitchFamily="2" charset="-122"/>
              <a:ea typeface="华文行楷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835696" y="5157192"/>
            <a:ext cx="5616624" cy="648072"/>
            <a:chOff x="1331640" y="5157192"/>
            <a:chExt cx="6192688" cy="648072"/>
          </a:xfrm>
        </p:grpSpPr>
        <p:sp>
          <p:nvSpPr>
            <p:cNvPr id="10" name="流程图: 卡片 9"/>
            <p:cNvSpPr/>
            <p:nvPr/>
          </p:nvSpPr>
          <p:spPr>
            <a:xfrm>
              <a:off x="1331640" y="5157192"/>
              <a:ext cx="6120680" cy="648072"/>
            </a:xfrm>
            <a:prstGeom prst="flowChartPunchedCard">
              <a:avLst/>
            </a:prstGeom>
            <a:ln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03648" y="5301208"/>
              <a:ext cx="61206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>
                  <a:latin typeface="华文楷体" pitchFamily="2" charset="-122"/>
                  <a:ea typeface="华文楷体" pitchFamily="2" charset="-122"/>
                </a:rPr>
                <a:t>例</a:t>
              </a:r>
              <a:r>
                <a:rPr lang="en-US" altLang="zh-CN" sz="2000" b="1" dirty="0" smtClean="0">
                  <a:latin typeface="华文楷体" pitchFamily="2" charset="-122"/>
                  <a:ea typeface="华文楷体" pitchFamily="2" charset="-122"/>
                </a:rPr>
                <a:t>2</a:t>
              </a:r>
              <a:r>
                <a:rPr lang="zh-CN" altLang="en-US" sz="2000" b="1" dirty="0" smtClean="0">
                  <a:latin typeface="华文楷体" pitchFamily="2" charset="-122"/>
                  <a:ea typeface="华文楷体" pitchFamily="2" charset="-122"/>
                </a:rPr>
                <a:t>也不是有效推理，虽然它有真前提和真结论</a:t>
              </a:r>
              <a:endParaRPr lang="zh-CN" altLang="en-US" sz="2000" b="1" dirty="0">
                <a:latin typeface="华文楷体" pitchFamily="2" charset="-122"/>
                <a:ea typeface="华文楷体" pitchFamily="2" charset="-122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131840" y="3429000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跟例</a:t>
            </a:r>
            <a:r>
              <a:rPr lang="en-US" altLang="zh-CN" sz="2400" b="1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2</a:t>
            </a:r>
            <a:r>
              <a:rPr lang="zh-CN" altLang="en-US" sz="2400" b="1" dirty="0" smtClean="0">
                <a:solidFill>
                  <a:srgbClr val="0066CC"/>
                </a:solidFill>
                <a:latin typeface="华文琥珀" pitchFamily="2" charset="-122"/>
                <a:ea typeface="华文琥珀" pitchFamily="2" charset="-122"/>
              </a:rPr>
              <a:t>的推理形式相同</a:t>
            </a:r>
            <a:endParaRPr lang="zh-CN" altLang="en-US" sz="2400" dirty="0">
              <a:solidFill>
                <a:srgbClr val="0066CC"/>
              </a:solidFill>
              <a:latin typeface="华文琥珀" pitchFamily="2" charset="-122"/>
              <a:ea typeface="华文琥珀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 animBg="1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推理得出真结论的必要条件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横卷形 3"/>
          <p:cNvSpPr/>
          <p:nvPr/>
        </p:nvSpPr>
        <p:spPr>
          <a:xfrm>
            <a:off x="2339752" y="1412776"/>
            <a:ext cx="1440160" cy="648072"/>
          </a:xfrm>
          <a:prstGeom prst="horizontalScroll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483768" y="1516722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前提真实</a:t>
            </a:r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横卷形 5"/>
          <p:cNvSpPr/>
          <p:nvPr/>
        </p:nvSpPr>
        <p:spPr>
          <a:xfrm>
            <a:off x="4860032" y="1412776"/>
            <a:ext cx="1944216" cy="648072"/>
          </a:xfrm>
          <a:prstGeom prst="horizontalScroll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004048" y="1516722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华文新魏" pitchFamily="2" charset="-122"/>
                <a:ea typeface="华文新魏" pitchFamily="2" charset="-122"/>
              </a:rPr>
              <a:t>推理形式有效</a:t>
            </a:r>
            <a:endParaRPr lang="zh-CN" altLang="en-US" sz="20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加号 7"/>
          <p:cNvSpPr/>
          <p:nvPr/>
        </p:nvSpPr>
        <p:spPr>
          <a:xfrm>
            <a:off x="4139952" y="1484784"/>
            <a:ext cx="432048" cy="432048"/>
          </a:xfrm>
          <a:prstGeom prst="math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grpSp>
        <p:nvGrpSpPr>
          <p:cNvPr id="9" name="组合 8"/>
          <p:cNvGrpSpPr/>
          <p:nvPr/>
        </p:nvGrpSpPr>
        <p:grpSpPr>
          <a:xfrm>
            <a:off x="4572000" y="2996952"/>
            <a:ext cx="2232248" cy="648072"/>
            <a:chOff x="2411760" y="2060848"/>
            <a:chExt cx="3888432" cy="720080"/>
          </a:xfrm>
        </p:grpSpPr>
        <p:sp>
          <p:nvSpPr>
            <p:cNvPr id="10" name="折角形 9"/>
            <p:cNvSpPr/>
            <p:nvPr/>
          </p:nvSpPr>
          <p:spPr>
            <a:xfrm>
              <a:off x="2411760" y="2060848"/>
              <a:ext cx="3888432" cy="720080"/>
            </a:xfrm>
            <a:prstGeom prst="foldedCorner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37195" y="2204864"/>
              <a:ext cx="35469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直接反驳结论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572000" y="4077072"/>
            <a:ext cx="1728192" cy="648072"/>
            <a:chOff x="2411760" y="2060848"/>
            <a:chExt cx="3888432" cy="720080"/>
          </a:xfrm>
        </p:grpSpPr>
        <p:sp>
          <p:nvSpPr>
            <p:cNvPr id="13" name="折角形 12"/>
            <p:cNvSpPr/>
            <p:nvPr/>
          </p:nvSpPr>
          <p:spPr>
            <a:xfrm>
              <a:off x="2411760" y="2060848"/>
              <a:ext cx="3888432" cy="720080"/>
            </a:xfrm>
            <a:prstGeom prst="foldedCorner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07805" y="2159245"/>
              <a:ext cx="3168351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反驳论据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572000" y="5157192"/>
            <a:ext cx="2880320" cy="648072"/>
            <a:chOff x="2411760" y="2060848"/>
            <a:chExt cx="3888432" cy="720080"/>
          </a:xfrm>
        </p:grpSpPr>
        <p:sp>
          <p:nvSpPr>
            <p:cNvPr id="16" name="折角形 15"/>
            <p:cNvSpPr/>
            <p:nvPr/>
          </p:nvSpPr>
          <p:spPr>
            <a:xfrm>
              <a:off x="2411760" y="2060848"/>
              <a:ext cx="3888432" cy="720080"/>
            </a:xfrm>
            <a:prstGeom prst="foldedCorner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55777" y="2204864"/>
              <a:ext cx="3549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华文行楷" pitchFamily="2" charset="-122"/>
                  <a:ea typeface="华文行楷" pitchFamily="2" charset="-122"/>
                </a:rPr>
                <a:t>指出推理不合逻辑</a:t>
              </a:r>
              <a:endParaRPr lang="zh-CN" altLang="en-US" sz="2400" dirty="0">
                <a:latin typeface="华文行楷" pitchFamily="2" charset="-122"/>
                <a:ea typeface="华文行楷" pitchFamily="2" charset="-122"/>
              </a:endParaRPr>
            </a:p>
          </p:txBody>
        </p:sp>
      </p:grpSp>
      <p:sp>
        <p:nvSpPr>
          <p:cNvPr id="18" name="左中括号 17"/>
          <p:cNvSpPr/>
          <p:nvPr/>
        </p:nvSpPr>
        <p:spPr>
          <a:xfrm>
            <a:off x="4139952" y="3284984"/>
            <a:ext cx="144016" cy="2232248"/>
          </a:xfrm>
          <a:prstGeom prst="leftBracke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259632" y="4149080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339933"/>
                </a:solidFill>
                <a:latin typeface="华文琥珀" pitchFamily="2" charset="-122"/>
                <a:ea typeface="华文琥珀" pitchFamily="2" charset="-122"/>
              </a:rPr>
              <a:t>削弱论证的途径</a:t>
            </a:r>
            <a:endParaRPr lang="zh-CN" altLang="en-US" sz="2800" dirty="0">
              <a:solidFill>
                <a:srgbClr val="339933"/>
              </a:solidFill>
              <a:latin typeface="华文琥珀" pitchFamily="2" charset="-122"/>
              <a:ea typeface="华文琥珀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18" grpId="0" animBg="1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47113" y="6408738"/>
            <a:ext cx="366712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19B5CF85-BDD1-4515-8011-0F53550CA818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/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第一章</a:t>
            </a:r>
            <a:r>
              <a:rPr lang="en-US" dirty="0" smtClean="0"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什么是逻辑学？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流程图: 顺序访问存储器 6"/>
          <p:cNvSpPr/>
          <p:nvPr/>
        </p:nvSpPr>
        <p:spPr>
          <a:xfrm>
            <a:off x="2195736" y="1844824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流程图: 顺序访问存储器 7"/>
          <p:cNvSpPr/>
          <p:nvPr/>
        </p:nvSpPr>
        <p:spPr>
          <a:xfrm>
            <a:off x="2195736" y="2708920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流程图: 顺序访问存储器 8"/>
          <p:cNvSpPr/>
          <p:nvPr/>
        </p:nvSpPr>
        <p:spPr>
          <a:xfrm>
            <a:off x="2195736" y="3573016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流程图: 顺序访问存储器 9"/>
          <p:cNvSpPr/>
          <p:nvPr/>
        </p:nvSpPr>
        <p:spPr>
          <a:xfrm>
            <a:off x="2195736" y="4437112"/>
            <a:ext cx="504056" cy="504056"/>
          </a:xfrm>
          <a:prstGeom prst="flowChartMagneticTap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流程图: 顺序访问存储器 10"/>
          <p:cNvSpPr/>
          <p:nvPr/>
        </p:nvSpPr>
        <p:spPr>
          <a:xfrm>
            <a:off x="2195736" y="5373216"/>
            <a:ext cx="504056" cy="504056"/>
          </a:xfrm>
          <a:prstGeom prst="flowChartMagneticTap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059832" y="2751311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逻辑学的对象</a:t>
            </a:r>
            <a:r>
              <a:rPr lang="en-US" altLang="zh-CN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: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+mn-ea"/>
              </a:rPr>
              <a:t>推理和验证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59832" y="3645024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</a:rPr>
              <a:t>命题分析和逻辑类型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9832" y="4509120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推理形式及其有效性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9832" y="5415607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逻辑基本规律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7824" y="1916832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</a:rPr>
              <a:t>“逻辑”的词源与词义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逻辑基本规律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流程图: 顺序访问存储器 3"/>
          <p:cNvSpPr/>
          <p:nvPr/>
        </p:nvSpPr>
        <p:spPr>
          <a:xfrm>
            <a:off x="971600" y="1412776"/>
            <a:ext cx="1512168" cy="936104"/>
          </a:xfrm>
          <a:prstGeom prst="flowChartMagneticTap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187624" y="167119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同一律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流程图: 顺序访问存储器 5"/>
          <p:cNvSpPr/>
          <p:nvPr/>
        </p:nvSpPr>
        <p:spPr>
          <a:xfrm>
            <a:off x="971600" y="2708920"/>
            <a:ext cx="1512168" cy="936104"/>
          </a:xfrm>
          <a:prstGeom prst="flowChartMagneticTap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187624" y="2967335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矛盾律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8" name="流程图: 顺序访问存储器 7"/>
          <p:cNvSpPr/>
          <p:nvPr/>
        </p:nvSpPr>
        <p:spPr>
          <a:xfrm>
            <a:off x="971600" y="3933056"/>
            <a:ext cx="1512168" cy="936104"/>
          </a:xfrm>
          <a:prstGeom prst="flowChartMagneticTap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187624" y="419147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排中律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流程图: 顺序访问存储器 9"/>
          <p:cNvSpPr/>
          <p:nvPr/>
        </p:nvSpPr>
        <p:spPr>
          <a:xfrm>
            <a:off x="971600" y="5157192"/>
            <a:ext cx="1512168" cy="936104"/>
          </a:xfrm>
          <a:prstGeom prst="flowChartMagneticTap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71600" y="5229200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充足</a:t>
            </a:r>
            <a:endParaRPr lang="en-US" altLang="zh-CN" sz="2400" dirty="0" smtClean="0">
              <a:latin typeface="华文行楷" pitchFamily="2" charset="-122"/>
              <a:ea typeface="华文行楷" pitchFamily="2" charset="-122"/>
            </a:endParaRPr>
          </a:p>
          <a:p>
            <a:pPr algn="ctr"/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理由律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31840" y="1475492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在同一思维过程中，一切思想都必须与自身保持同一。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3848" y="2780928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两个互相矛盾或互相反对的命题不能同真，必有一假。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3848" y="4005064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两个互相矛盾的命题不能同假，必有一真。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3848" y="5229200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在同一思维和论证过程中，一个思想被确定为真，要有充足的理由。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6" name="折角形 15"/>
          <p:cNvSpPr/>
          <p:nvPr/>
        </p:nvSpPr>
        <p:spPr>
          <a:xfrm>
            <a:off x="3347864" y="1916832"/>
            <a:ext cx="792088" cy="360040"/>
          </a:xfrm>
          <a:prstGeom prst="foldedCorner">
            <a:avLst/>
          </a:prstGeom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CN" altLang="en-US" b="1" dirty="0"/>
          </a:p>
        </p:txBody>
      </p:sp>
      <p:sp>
        <p:nvSpPr>
          <p:cNvPr id="17" name="折角形 16"/>
          <p:cNvSpPr/>
          <p:nvPr/>
        </p:nvSpPr>
        <p:spPr>
          <a:xfrm>
            <a:off x="3347864" y="3212976"/>
            <a:ext cx="1152128" cy="360040"/>
          </a:xfrm>
          <a:prstGeom prst="foldedCorner">
            <a:avLst/>
          </a:prstGeom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aseline="30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A∧</a:t>
            </a:r>
            <a:r>
              <a:rPr lang="zh-CN" altLang="en-US" baseline="30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A)</a:t>
            </a:r>
            <a:endParaRPr lang="zh-CN" altLang="en-US" b="1" dirty="0"/>
          </a:p>
        </p:txBody>
      </p:sp>
      <p:sp>
        <p:nvSpPr>
          <p:cNvPr id="18" name="折角形 17"/>
          <p:cNvSpPr/>
          <p:nvPr/>
        </p:nvSpPr>
        <p:spPr>
          <a:xfrm>
            <a:off x="3347864" y="4437112"/>
            <a:ext cx="864096" cy="360040"/>
          </a:xfrm>
          <a:prstGeom prst="foldedCorner">
            <a:avLst/>
          </a:prstGeom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∨</a:t>
            </a:r>
            <a:r>
              <a:rPr lang="en-US" altLang="zh-CN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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zh-CN" altLang="en-US" b="1" dirty="0"/>
          </a:p>
        </p:txBody>
      </p:sp>
      <p:sp>
        <p:nvSpPr>
          <p:cNvPr id="19" name="折角形 18"/>
          <p:cNvSpPr/>
          <p:nvPr/>
        </p:nvSpPr>
        <p:spPr>
          <a:xfrm>
            <a:off x="3347864" y="5949280"/>
            <a:ext cx="1512168" cy="360040"/>
          </a:xfrm>
          <a:prstGeom prst="foldedCorner">
            <a:avLst/>
          </a:prstGeom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B├ B</a:t>
            </a:r>
            <a:endParaRPr lang="zh-CN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zh-CN" alt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156176" y="1876762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339933"/>
                </a:solidFill>
                <a:latin typeface="华文琥珀" pitchFamily="2" charset="-122"/>
                <a:ea typeface="华文琥珀" pitchFamily="2" charset="-122"/>
              </a:rPr>
              <a:t>确定性</a:t>
            </a:r>
            <a:endParaRPr lang="zh-CN" altLang="en-US" sz="2000" dirty="0">
              <a:solidFill>
                <a:srgbClr val="339933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56176" y="3212976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339933"/>
                </a:solidFill>
                <a:latin typeface="华文琥珀" pitchFamily="2" charset="-122"/>
                <a:ea typeface="华文琥珀" pitchFamily="2" charset="-122"/>
              </a:rPr>
              <a:t>一致性</a:t>
            </a:r>
            <a:endParaRPr lang="zh-CN" altLang="en-US" sz="2000" dirty="0">
              <a:solidFill>
                <a:srgbClr val="339933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56176" y="4437112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339933"/>
                </a:solidFill>
                <a:latin typeface="华文琥珀" pitchFamily="2" charset="-122"/>
                <a:ea typeface="华文琥珀" pitchFamily="2" charset="-122"/>
              </a:rPr>
              <a:t>明确性</a:t>
            </a:r>
            <a:endParaRPr lang="zh-CN" altLang="en-US" sz="2000" dirty="0">
              <a:solidFill>
                <a:srgbClr val="339933"/>
              </a:solidFill>
              <a:latin typeface="华文琥珀" pitchFamily="2" charset="-122"/>
              <a:ea typeface="华文琥珀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56176" y="5909210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339933"/>
                </a:solidFill>
                <a:latin typeface="华文琥珀" pitchFamily="2" charset="-122"/>
                <a:ea typeface="华文琥珀" pitchFamily="2" charset="-122"/>
              </a:rPr>
              <a:t>论证性</a:t>
            </a:r>
            <a:endParaRPr lang="zh-CN" altLang="en-US" sz="2000" dirty="0">
              <a:solidFill>
                <a:srgbClr val="339933"/>
              </a:solidFill>
              <a:latin typeface="华文琥珀" pitchFamily="2" charset="-122"/>
              <a:ea typeface="华文琥珀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横卷形 11"/>
          <p:cNvSpPr/>
          <p:nvPr/>
        </p:nvSpPr>
        <p:spPr>
          <a:xfrm>
            <a:off x="1691680" y="3645024"/>
            <a:ext cx="5976664" cy="1008112"/>
          </a:xfrm>
          <a:prstGeom prst="horizontalScroll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143000"/>
          </a:xfrm>
        </p:spPr>
        <p:txBody>
          <a:bodyPr/>
          <a:lstStyle/>
          <a:p>
            <a:r>
              <a:rPr lang="zh-CN" altLang="en-US" dirty="0" smtClean="0">
                <a:latin typeface="华文新魏" pitchFamily="2" charset="-122"/>
                <a:ea typeface="华文新魏" pitchFamily="2" charset="-122"/>
              </a:rPr>
              <a:t>二值原则与二值逻辑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右箭头标注 3"/>
          <p:cNvSpPr/>
          <p:nvPr/>
        </p:nvSpPr>
        <p:spPr>
          <a:xfrm>
            <a:off x="2195736" y="2060848"/>
            <a:ext cx="1512168" cy="1152128"/>
          </a:xfrm>
          <a:prstGeom prst="rightArrow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123728" y="242088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矛盾律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7" name="左箭头标注 6"/>
          <p:cNvSpPr/>
          <p:nvPr/>
        </p:nvSpPr>
        <p:spPr>
          <a:xfrm>
            <a:off x="5508104" y="2060848"/>
            <a:ext cx="1512000" cy="1152128"/>
          </a:xfrm>
          <a:prstGeom prst="leftArrow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940152" y="2420888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行楷" pitchFamily="2" charset="-122"/>
                <a:ea typeface="华文行楷" pitchFamily="2" charset="-122"/>
              </a:rPr>
              <a:t>排中律</a:t>
            </a:r>
            <a:endParaRPr lang="zh-CN" altLang="en-US" sz="2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35696" y="3933056"/>
            <a:ext cx="56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建立在二值原则之上的逻辑叫“</a:t>
            </a:r>
            <a:r>
              <a:rPr lang="zh-CN" altLang="en-US" sz="2400" dirty="0" smtClean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rPr>
              <a:t>二值逻辑</a:t>
            </a:r>
            <a:r>
              <a:rPr lang="zh-CN" altLang="en-US" sz="2400" dirty="0" smtClean="0">
                <a:latin typeface="华文新魏" pitchFamily="2" charset="-122"/>
                <a:ea typeface="华文新魏" pitchFamily="2" charset="-122"/>
              </a:rPr>
              <a:t>”</a:t>
            </a:r>
            <a:endParaRPr lang="zh-CN" altLang="en-US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04283" y="2340169"/>
            <a:ext cx="270787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二值原则</a:t>
            </a:r>
            <a:endParaRPr lang="zh-CN" altLang="en-US" sz="32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" grpId="0" animBg="1"/>
      <p:bldP spid="5" grpId="0"/>
      <p:bldP spid="7" grpId="0" animBg="1"/>
      <p:bldP spid="8" grpId="0"/>
      <p:bldP spid="11" grpId="0"/>
      <p:bldP spid="14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b="1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1132</Words>
  <Application>Microsoft Office PowerPoint</Application>
  <PresentationFormat>全屏显示(4:3)</PresentationFormat>
  <Paragraphs>227</Paragraphs>
  <Slides>30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Office 主题</vt:lpstr>
      <vt:lpstr>幻灯片 1</vt:lpstr>
      <vt:lpstr>第一章  什么是逻辑学？</vt:lpstr>
      <vt:lpstr>第一章  什么是逻辑学？</vt:lpstr>
      <vt:lpstr>“逻辑”的古希腊词源</vt:lpstr>
      <vt:lpstr>幻灯片 5</vt:lpstr>
      <vt:lpstr>古老而又年轻的一门学科</vt:lpstr>
      <vt:lpstr>第一章  什么是逻辑学？</vt:lpstr>
      <vt:lpstr>什么是逻辑学？</vt:lpstr>
      <vt:lpstr>什么是推理？</vt:lpstr>
      <vt:lpstr>推理的种类</vt:lpstr>
      <vt:lpstr>什么是论证？</vt:lpstr>
      <vt:lpstr>推理与论证的关系</vt:lpstr>
      <vt:lpstr>第一章  什么是逻辑学？</vt:lpstr>
      <vt:lpstr>推理由命题组成</vt:lpstr>
      <vt:lpstr>本课程涵盖的逻辑类型 </vt:lpstr>
      <vt:lpstr>复合命题和命题逻辑</vt:lpstr>
      <vt:lpstr>直言命题和词项逻辑</vt:lpstr>
      <vt:lpstr>个体词、谓词和谓词逻辑</vt:lpstr>
      <vt:lpstr>归纳逻辑</vt:lpstr>
      <vt:lpstr>非形式逻辑</vt:lpstr>
      <vt:lpstr>第一章  什么是逻辑学？</vt:lpstr>
      <vt:lpstr>什么是推理形式？</vt:lpstr>
      <vt:lpstr>例1</vt:lpstr>
      <vt:lpstr>例2</vt:lpstr>
      <vt:lpstr>推理形式的有效性</vt:lpstr>
      <vt:lpstr>例3</vt:lpstr>
      <vt:lpstr>推理得出真结论的必要条件</vt:lpstr>
      <vt:lpstr>第一章  什么是逻辑学？</vt:lpstr>
      <vt:lpstr>逻辑基本规律</vt:lpstr>
      <vt:lpstr>二值原则与二值逻辑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CBS</cp:lastModifiedBy>
  <cp:revision>92</cp:revision>
  <dcterms:created xsi:type="dcterms:W3CDTF">2014-08-12T09:46:03Z</dcterms:created>
  <dcterms:modified xsi:type="dcterms:W3CDTF">2014-08-21T09:11:58Z</dcterms:modified>
</cp:coreProperties>
</file>