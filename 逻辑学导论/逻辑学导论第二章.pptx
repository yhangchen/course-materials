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7" r:id="rId2"/>
    <p:sldId id="267" r:id="rId3"/>
    <p:sldId id="268" r:id="rId4"/>
    <p:sldId id="260" r:id="rId5"/>
    <p:sldId id="261" r:id="rId6"/>
    <p:sldId id="262" r:id="rId7"/>
    <p:sldId id="263" r:id="rId8"/>
    <p:sldId id="264" r:id="rId9"/>
    <p:sldId id="315" r:id="rId10"/>
    <p:sldId id="26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8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92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4" r:id="rId37"/>
    <p:sldId id="295" r:id="rId38"/>
    <p:sldId id="302" r:id="rId39"/>
    <p:sldId id="296" r:id="rId40"/>
    <p:sldId id="297" r:id="rId41"/>
    <p:sldId id="298" r:id="rId42"/>
    <p:sldId id="299" r:id="rId43"/>
    <p:sldId id="303" r:id="rId44"/>
    <p:sldId id="300" r:id="rId45"/>
    <p:sldId id="301" r:id="rId46"/>
    <p:sldId id="307" r:id="rId47"/>
    <p:sldId id="308" r:id="rId48"/>
    <p:sldId id="309" r:id="rId49"/>
    <p:sldId id="310" r:id="rId50"/>
    <p:sldId id="305" r:id="rId51"/>
    <p:sldId id="306" r:id="rId52"/>
    <p:sldId id="311" r:id="rId53"/>
    <p:sldId id="312" r:id="rId54"/>
    <p:sldId id="313" r:id="rId55"/>
    <p:sldId id="314" r:id="rId5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  <a:srgbClr val="006600"/>
    <a:srgbClr val="FF66FF"/>
    <a:srgbClr val="FF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712" autoAdjust="0"/>
  </p:normalViewPr>
  <p:slideViewPr>
    <p:cSldViewPr>
      <p:cViewPr>
        <p:scale>
          <a:sx n="80" d="100"/>
          <a:sy n="80" d="100"/>
        </p:scale>
        <p:origin x="-155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154CA-6E2F-479D-9B70-5ADF4102FA1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B6AEC-87E6-4E54-B035-B4650BA5783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07DB4-4F64-4674-BD45-1FF6A1475270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12136-3B7D-429B-9CBA-A783824466A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FDFEB-08AF-464D-AA94-B73A5CAA2AD3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BB395-6071-4DFB-AECB-EC455BC50A44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E09C8-0543-49ED-88B2-A4ADECC33D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83568" y="1916832"/>
            <a:ext cx="7772400" cy="1829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逻辑学导论</a:t>
            </a:r>
            <a:endParaRPr kumimoji="0" lang="en-US" altLang="zh-CN" sz="5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（第三版）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</p:txBody>
      </p:sp>
      <p:sp>
        <p:nvSpPr>
          <p:cNvPr id="5" name="副标题 2"/>
          <p:cNvSpPr txBox="1">
            <a:spLocks/>
          </p:cNvSpPr>
          <p:nvPr/>
        </p:nvSpPr>
        <p:spPr>
          <a:xfrm>
            <a:off x="683568" y="4293096"/>
            <a:ext cx="7772400" cy="120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新魏" pitchFamily="2" charset="-122"/>
                <a:ea typeface="华文新魏" pitchFamily="2" charset="-122"/>
              </a:rPr>
              <a:t>陈波 著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华文新魏" pitchFamily="2" charset="-122"/>
              <a:ea typeface="华文新魏" pitchFamily="2" charset="-122"/>
            </a:endParaRPr>
          </a:p>
          <a:p>
            <a:pPr lvl="0" algn="ctr">
              <a:spcBef>
                <a:spcPct val="20000"/>
              </a:spcBef>
            </a:pPr>
            <a:r>
              <a:rPr lang="zh-CN" altLang="en-US" sz="2800" dirty="0" smtClean="0">
                <a:latin typeface="华文新魏" pitchFamily="2" charset="-122"/>
                <a:ea typeface="华文新魏" pitchFamily="2" charset="-122"/>
              </a:rPr>
              <a:t>中国人民大学出版社（</a:t>
            </a:r>
            <a:r>
              <a:rPr lang="en-US" altLang="zh-CN" sz="2800" dirty="0" smtClean="0">
                <a:latin typeface="华文新魏" pitchFamily="2" charset="-122"/>
                <a:ea typeface="华文新魏" pitchFamily="2" charset="-122"/>
              </a:rPr>
              <a:t>2014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）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 rot="10800000" flipV="1">
            <a:off x="1143000" y="680393"/>
            <a:ext cx="70723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新编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21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世纪系列教材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第二章 命题逻辑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真值</a:t>
            </a:r>
            <a:r>
              <a:rPr lang="zh-CN" altLang="en-US" sz="2400" b="1" dirty="0" smtClean="0">
                <a:latin typeface="+mn-ea"/>
              </a:rPr>
              <a:t>联结词和真值形式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重言式及其判定方法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重言蕴涵式和重言等值式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命题逻辑的自然推理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59832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日常联结词和复合命题</a:t>
            </a:r>
            <a:endParaRPr lang="zh-CN" altLang="en-US" sz="2400" b="1" dirty="0"/>
          </a:p>
        </p:txBody>
      </p:sp>
      <p:sp>
        <p:nvSpPr>
          <p:cNvPr id="17" name="五角星 16"/>
          <p:cNvSpPr/>
          <p:nvPr/>
        </p:nvSpPr>
        <p:spPr>
          <a:xfrm>
            <a:off x="2195736" y="1844824"/>
            <a:ext cx="504056" cy="504056"/>
          </a:xfrm>
          <a:prstGeom prst="star5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五角星 17"/>
          <p:cNvSpPr/>
          <p:nvPr/>
        </p:nvSpPr>
        <p:spPr>
          <a:xfrm>
            <a:off x="2195736" y="2708920"/>
            <a:ext cx="504056" cy="504056"/>
          </a:xfrm>
          <a:prstGeom prst="star5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五角星 18"/>
          <p:cNvSpPr/>
          <p:nvPr/>
        </p:nvSpPr>
        <p:spPr>
          <a:xfrm>
            <a:off x="2195736" y="3645024"/>
            <a:ext cx="504056" cy="504056"/>
          </a:xfrm>
          <a:prstGeom prst="star5">
            <a:avLst/>
          </a:pr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五角星 19"/>
          <p:cNvSpPr/>
          <p:nvPr/>
        </p:nvSpPr>
        <p:spPr>
          <a:xfrm>
            <a:off x="2195736" y="4509120"/>
            <a:ext cx="504056" cy="504056"/>
          </a:xfrm>
          <a:prstGeom prst="star5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五角星 20"/>
          <p:cNvSpPr/>
          <p:nvPr/>
        </p:nvSpPr>
        <p:spPr>
          <a:xfrm>
            <a:off x="2195736" y="5373216"/>
            <a:ext cx="504056" cy="504056"/>
          </a:xfrm>
          <a:prstGeom prst="star5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第二章 命题逻辑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真值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联结词和真值形式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重言式及其判定方法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重言蕴涵式和重言等值式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命题逻辑的自然推理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59832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日常联结词和复合命题</a:t>
            </a:r>
            <a:endParaRPr lang="zh-CN" altLang="en-US" sz="2400" b="1" dirty="0"/>
          </a:p>
        </p:txBody>
      </p:sp>
      <p:sp>
        <p:nvSpPr>
          <p:cNvPr id="17" name="五角星 16"/>
          <p:cNvSpPr/>
          <p:nvPr/>
        </p:nvSpPr>
        <p:spPr>
          <a:xfrm>
            <a:off x="2195736" y="1844824"/>
            <a:ext cx="504056" cy="504056"/>
          </a:xfrm>
          <a:prstGeom prst="star5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五角星 17"/>
          <p:cNvSpPr/>
          <p:nvPr/>
        </p:nvSpPr>
        <p:spPr>
          <a:xfrm>
            <a:off x="2195736" y="2708920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五角星 18"/>
          <p:cNvSpPr/>
          <p:nvPr/>
        </p:nvSpPr>
        <p:spPr>
          <a:xfrm>
            <a:off x="2195736" y="3645024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五角星 19"/>
          <p:cNvSpPr/>
          <p:nvPr/>
        </p:nvSpPr>
        <p:spPr>
          <a:xfrm>
            <a:off x="2195736" y="4509120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五角星 20"/>
          <p:cNvSpPr/>
          <p:nvPr/>
        </p:nvSpPr>
        <p:spPr>
          <a:xfrm>
            <a:off x="2195736" y="5373216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折角形 3"/>
          <p:cNvSpPr/>
          <p:nvPr/>
        </p:nvSpPr>
        <p:spPr>
          <a:xfrm>
            <a:off x="539552" y="1484784"/>
            <a:ext cx="7992888" cy="864096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简单命题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192" y="1484784"/>
            <a:ext cx="8219256" cy="8640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  亦称“原子命题”。只能分析为不同的词项、不能分析为其他命题的命题。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35696" y="2924944"/>
            <a:ext cx="511256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 smtClean="0">
              <a:latin typeface="华文行楷" pitchFamily="2" charset="-122"/>
              <a:ea typeface="华文行楷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华文楷体"/>
              </a:rPr>
              <a:t>）香山枫叶正红。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华文楷体"/>
              </a:rPr>
              <a:t>（</a:t>
            </a:r>
            <a:r>
              <a:rPr lang="en-US" altLang="zh-CN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华文楷体"/>
              </a:rPr>
              <a:t>）诸葛亮舌战群儒。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华文楷体"/>
              </a:rPr>
              <a:t>（</a:t>
            </a:r>
            <a:r>
              <a:rPr lang="en-US" altLang="zh-CN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华文楷体"/>
              </a:rPr>
              <a:t>）掷骰子</a:t>
            </a:r>
            <a:r>
              <a:rPr lang="en-US" altLang="zh-CN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4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华文楷体"/>
              </a:rPr>
              <a:t>点朝上的概率是</a:t>
            </a:r>
            <a:r>
              <a:rPr lang="en-US" altLang="zh-CN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1/6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华文楷体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47664" y="2708920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琥珀" pitchFamily="2" charset="-122"/>
                <a:ea typeface="华文琥珀" pitchFamily="2" charset="-122"/>
              </a:rPr>
              <a:t>例如：</a:t>
            </a:r>
            <a:endParaRPr lang="zh-CN" altLang="en-US" sz="2800" dirty="0">
              <a:solidFill>
                <a:srgbClr val="C00000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复合命题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539552" y="1484784"/>
            <a:ext cx="7992888" cy="864096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85192" y="1556792"/>
            <a:ext cx="8219256" cy="79208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  包含其他命题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(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支命题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的命题，它是用一定的联结词联结其他命题而形成的。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2996952"/>
            <a:ext cx="7704856" cy="327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 smtClean="0">
              <a:latin typeface="华文行楷" pitchFamily="2" charset="-122"/>
              <a:ea typeface="华文行楷" pitchFamily="2" charset="-122"/>
            </a:endParaRPr>
          </a:p>
          <a:p>
            <a:pPr marL="621792" lvl="1">
              <a:lnSpc>
                <a:spcPct val="160000"/>
              </a:lnSpc>
              <a:spcBef>
                <a:spcPts val="324"/>
              </a:spcBef>
              <a:defRPr/>
            </a:pP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）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北京是中国的政治中心，并且是文化中心。</a:t>
            </a:r>
          </a:p>
          <a:p>
            <a:pPr marL="621792" lvl="1">
              <a:lnSpc>
                <a:spcPct val="160000"/>
              </a:lnSpc>
              <a:spcBef>
                <a:spcPts val="324"/>
              </a:spcBef>
              <a:defRPr/>
            </a:pP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）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胜者或因其强，或因其指挥无误。</a:t>
            </a:r>
          </a:p>
          <a:p>
            <a:pPr marL="621792" lvl="1">
              <a:lnSpc>
                <a:spcPct val="160000"/>
              </a:lnSpc>
              <a:spcBef>
                <a:spcPts val="324"/>
              </a:spcBef>
              <a:defRPr/>
            </a:pP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）</a:t>
            </a:r>
            <a:r>
              <a:rPr lang="zh-CN" altLang="en-US" sz="2400" dirty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如果一个推理的前提真并且推理形式有效，则结论必真。</a:t>
            </a:r>
          </a:p>
          <a:p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547664" y="2780928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琥珀" pitchFamily="2" charset="-122"/>
                <a:ea typeface="华文琥珀" pitchFamily="2" charset="-122"/>
              </a:rPr>
              <a:t>例如：</a:t>
            </a:r>
            <a:endParaRPr lang="zh-CN" altLang="en-US" sz="2800" dirty="0">
              <a:solidFill>
                <a:srgbClr val="C00000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uild="p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复合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命题的种类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75656" y="3266981"/>
            <a:ext cx="22322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琥珀" pitchFamily="2" charset="-122"/>
                <a:ea typeface="华文琥珀" pitchFamily="2" charset="-122"/>
              </a:rPr>
              <a:t>根据联结词</a:t>
            </a:r>
            <a:endParaRPr lang="en-US" altLang="zh-CN" sz="2800" dirty="0" smtClean="0">
              <a:solidFill>
                <a:srgbClr val="C00000"/>
              </a:solidFill>
              <a:latin typeface="华文琥珀" pitchFamily="2" charset="-122"/>
              <a:ea typeface="华文琥珀" pitchFamily="2" charset="-122"/>
            </a:endParaRPr>
          </a:p>
          <a:p>
            <a:r>
              <a:rPr lang="zh-CN" altLang="en-US" sz="2800" dirty="0" smtClean="0">
                <a:solidFill>
                  <a:srgbClr val="C00000"/>
                </a:solidFill>
                <a:latin typeface="华文琥珀" pitchFamily="2" charset="-122"/>
                <a:ea typeface="华文琥珀" pitchFamily="2" charset="-122"/>
              </a:rPr>
              <a:t>的不同划分</a:t>
            </a:r>
            <a:endParaRPr lang="zh-CN" altLang="en-US" sz="2800" dirty="0">
              <a:solidFill>
                <a:srgbClr val="C00000"/>
              </a:solidFill>
              <a:latin typeface="华文琥珀" pitchFamily="2" charset="-122"/>
              <a:ea typeface="华文琥珀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427984" y="1412776"/>
            <a:ext cx="2232248" cy="1008112"/>
            <a:chOff x="3995936" y="1916832"/>
            <a:chExt cx="2232248" cy="1008112"/>
          </a:xfrm>
        </p:grpSpPr>
        <p:sp>
          <p:nvSpPr>
            <p:cNvPr id="5" name="横卷形 4"/>
            <p:cNvSpPr/>
            <p:nvPr/>
          </p:nvSpPr>
          <p:spPr>
            <a:xfrm>
              <a:off x="3995936" y="1916832"/>
              <a:ext cx="2232248" cy="1008112"/>
            </a:xfrm>
            <a:prstGeom prst="horizontalScroll">
              <a:avLst/>
            </a:prstGeom>
            <a:ln w="28575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283968" y="2196153"/>
              <a:ext cx="19442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>
                  <a:latin typeface="华文行楷" pitchFamily="2" charset="-122"/>
                  <a:ea typeface="华文行楷" pitchFamily="2" charset="-122"/>
                </a:rPr>
                <a:t>联言命题</a:t>
              </a:r>
              <a:endParaRPr lang="zh-CN" altLang="en-US" sz="32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427984" y="2636912"/>
            <a:ext cx="2232248" cy="1008112"/>
            <a:chOff x="3995936" y="1916832"/>
            <a:chExt cx="2232248" cy="1008112"/>
          </a:xfrm>
        </p:grpSpPr>
        <p:sp>
          <p:nvSpPr>
            <p:cNvPr id="9" name="横卷形 8"/>
            <p:cNvSpPr/>
            <p:nvPr/>
          </p:nvSpPr>
          <p:spPr>
            <a:xfrm>
              <a:off x="3995936" y="1916832"/>
              <a:ext cx="2232248" cy="1008112"/>
            </a:xfrm>
            <a:prstGeom prst="horizontalScroll">
              <a:avLst/>
            </a:prstGeom>
            <a:ln w="28575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83968" y="2196153"/>
              <a:ext cx="19442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华文行楷" pitchFamily="2" charset="-122"/>
                  <a:ea typeface="华文行楷" pitchFamily="2" charset="-122"/>
                </a:rPr>
                <a:t>选</a:t>
              </a:r>
              <a:r>
                <a:rPr lang="zh-CN" altLang="en-US" sz="3200" dirty="0" smtClean="0">
                  <a:latin typeface="华文行楷" pitchFamily="2" charset="-122"/>
                  <a:ea typeface="华文行楷" pitchFamily="2" charset="-122"/>
                </a:rPr>
                <a:t>言命题</a:t>
              </a:r>
              <a:endParaRPr lang="zh-CN" altLang="en-US" sz="32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427984" y="3861048"/>
            <a:ext cx="2232248" cy="1008112"/>
            <a:chOff x="3995936" y="1916832"/>
            <a:chExt cx="2232248" cy="1008112"/>
          </a:xfrm>
        </p:grpSpPr>
        <p:sp>
          <p:nvSpPr>
            <p:cNvPr id="12" name="横卷形 11"/>
            <p:cNvSpPr/>
            <p:nvPr/>
          </p:nvSpPr>
          <p:spPr>
            <a:xfrm>
              <a:off x="3995936" y="1916832"/>
              <a:ext cx="2232248" cy="1008112"/>
            </a:xfrm>
            <a:prstGeom prst="horizontalScroll">
              <a:avLst/>
            </a:prstGeom>
            <a:ln w="28575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83968" y="2196153"/>
              <a:ext cx="19442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华文行楷" pitchFamily="2" charset="-122"/>
                  <a:ea typeface="华文行楷" pitchFamily="2" charset="-122"/>
                </a:rPr>
                <a:t>假</a:t>
              </a:r>
              <a:r>
                <a:rPr lang="zh-CN" altLang="en-US" sz="3200" dirty="0" smtClean="0">
                  <a:latin typeface="华文行楷" pitchFamily="2" charset="-122"/>
                  <a:ea typeface="华文行楷" pitchFamily="2" charset="-122"/>
                </a:rPr>
                <a:t>言命题</a:t>
              </a:r>
              <a:endParaRPr lang="zh-CN" altLang="en-US" sz="32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427984" y="5085184"/>
            <a:ext cx="2448272" cy="1008112"/>
            <a:chOff x="3995936" y="1916832"/>
            <a:chExt cx="2448272" cy="1008112"/>
          </a:xfrm>
        </p:grpSpPr>
        <p:sp>
          <p:nvSpPr>
            <p:cNvPr id="15" name="横卷形 14"/>
            <p:cNvSpPr/>
            <p:nvPr/>
          </p:nvSpPr>
          <p:spPr>
            <a:xfrm>
              <a:off x="3995936" y="1916832"/>
              <a:ext cx="2232248" cy="1008112"/>
            </a:xfrm>
            <a:prstGeom prst="horizontalScroll">
              <a:avLst/>
            </a:prstGeom>
            <a:ln w="28575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99992" y="2196153"/>
              <a:ext cx="19442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华文行楷" pitchFamily="2" charset="-122"/>
                  <a:ea typeface="华文行楷" pitchFamily="2" charset="-122"/>
                </a:rPr>
                <a:t>负</a:t>
              </a:r>
              <a:r>
                <a:rPr lang="zh-CN" altLang="en-US" sz="3200" dirty="0" smtClean="0">
                  <a:latin typeface="华文行楷" pitchFamily="2" charset="-122"/>
                  <a:ea typeface="华文行楷" pitchFamily="2" charset="-122"/>
                </a:rPr>
                <a:t>命题</a:t>
              </a:r>
              <a:endParaRPr lang="zh-CN" altLang="en-US" sz="32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17" name="左中括号 16"/>
          <p:cNvSpPr/>
          <p:nvPr/>
        </p:nvSpPr>
        <p:spPr>
          <a:xfrm>
            <a:off x="3779912" y="1988840"/>
            <a:ext cx="288032" cy="3672408"/>
          </a:xfrm>
          <a:prstGeom prst="leftBracket">
            <a:avLst/>
          </a:prstGeom>
          <a:ln w="38100">
            <a:solidFill>
              <a:srgbClr val="0066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联言命题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2168"/>
            <a:ext cx="8229600" cy="14687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  由“</a:t>
            </a:r>
            <a:r>
              <a:rPr lang="zh-CN" altLang="en-US" sz="24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并且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”这类联结词联结两个或多个支命题（联言支）形成的复合命题，它们是断定几种事物情况同时存在的命题。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635896" y="2708920"/>
            <a:ext cx="1872208" cy="648072"/>
            <a:chOff x="3465695" y="5229200"/>
            <a:chExt cx="2160240" cy="504056"/>
          </a:xfrm>
        </p:grpSpPr>
        <p:sp>
          <p:nvSpPr>
            <p:cNvPr id="5" name="流程图: 准备 4"/>
            <p:cNvSpPr/>
            <p:nvPr/>
          </p:nvSpPr>
          <p:spPr>
            <a:xfrm>
              <a:off x="3465695" y="5229200"/>
              <a:ext cx="2160240" cy="504056"/>
            </a:xfrm>
            <a:prstGeom prst="flowChartPreparation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05797" y="5333146"/>
              <a:ext cx="15121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zh-CN" altLang="en-US" sz="2000" b="1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并且</a:t>
              </a:r>
              <a:r>
                <a:rPr lang="en-US" altLang="zh-CN" sz="2000" b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endParaRPr lang="zh-CN" altLang="en-US" sz="2000" b="1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259632" y="3789040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u="sng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逻辑性质：</a:t>
            </a:r>
            <a:endParaRPr lang="zh-CN" altLang="en-US" sz="3200" b="1" u="sng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23728" y="4593322"/>
            <a:ext cx="5616624" cy="707886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/>
              <a:t>只有它的各个支命题都是真的，它本身才是真的；如果有一个支命题为假，则联言命题为假。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联言推理的有效式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" name="流程图: 顺序访问存储器 13"/>
          <p:cNvSpPr/>
          <p:nvPr/>
        </p:nvSpPr>
        <p:spPr>
          <a:xfrm>
            <a:off x="971600" y="1412776"/>
            <a:ext cx="1512168" cy="936104"/>
          </a:xfrm>
          <a:prstGeom prst="flowChartMagneticTap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187624" y="167119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合成式</a:t>
            </a:r>
          </a:p>
        </p:txBody>
      </p:sp>
      <p:sp>
        <p:nvSpPr>
          <p:cNvPr id="16" name="流程图: 顺序访问存储器 15"/>
          <p:cNvSpPr/>
          <p:nvPr/>
        </p:nvSpPr>
        <p:spPr>
          <a:xfrm>
            <a:off x="3707904" y="1412776"/>
            <a:ext cx="1512168" cy="936104"/>
          </a:xfrm>
          <a:prstGeom prst="flowChartMagneticTape">
            <a:avLst/>
          </a:prstGeom>
          <a:ln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3923928" y="167119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分解式</a:t>
            </a:r>
          </a:p>
        </p:txBody>
      </p:sp>
      <p:sp>
        <p:nvSpPr>
          <p:cNvPr id="18" name="流程图: 顺序访问存储器 17"/>
          <p:cNvSpPr/>
          <p:nvPr/>
        </p:nvSpPr>
        <p:spPr>
          <a:xfrm>
            <a:off x="6588224" y="1412776"/>
            <a:ext cx="1512168" cy="936104"/>
          </a:xfrm>
          <a:prstGeom prst="flowChartMagneticTap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804248" y="167119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否定式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560" y="2564904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如果分别肯定两个联言支，则可以肯定由这两个联言支组成的联言命题。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3789040"/>
            <a:ext cx="252028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并且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/>
          </a:p>
        </p:txBody>
      </p:sp>
      <p:cxnSp>
        <p:nvCxnSpPr>
          <p:cNvPr id="22" name="直接连接符 21"/>
          <p:cNvCxnSpPr/>
          <p:nvPr/>
        </p:nvCxnSpPr>
        <p:spPr>
          <a:xfrm>
            <a:off x="916707" y="4704443"/>
            <a:ext cx="1639069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19872" y="2564904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如果肯定一个联言命题，则可以分别肯定其中的每一个联言支。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1800" y="3789040"/>
            <a:ext cx="3096344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1792" lvl="1" algn="ctr">
              <a:lnSpc>
                <a:spcPct val="150000"/>
              </a:lnSpc>
              <a:spcBef>
                <a:spcPts val="324"/>
              </a:spcBef>
              <a:defRPr/>
            </a:pPr>
            <a:r>
              <a:rPr lang="en-US" altLang="zh-CN" dirty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并且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  <a:p>
            <a:pPr marL="621792" lvl="1" algn="ctr">
              <a:lnSpc>
                <a:spcPct val="150000"/>
              </a:lnSpc>
              <a:spcBef>
                <a:spcPts val="324"/>
              </a:spcBef>
              <a:defRPr/>
            </a:pPr>
            <a:r>
              <a:rPr lang="zh-CN" altLang="en-US" dirty="0">
                <a:latin typeface="楷体" pitchFamily="49" charset="-122"/>
                <a:ea typeface="楷体" pitchFamily="49" charset="-122"/>
              </a:rPr>
              <a:t>所以，ｐ</a:t>
            </a:r>
          </a:p>
          <a:p>
            <a:pPr marL="621792" lvl="1">
              <a:lnSpc>
                <a:spcPct val="150000"/>
              </a:lnSpc>
              <a:spcBef>
                <a:spcPts val="324"/>
              </a:spcBef>
              <a:defRPr/>
            </a:pPr>
            <a:r>
              <a:rPr lang="zh-CN" altLang="en-US" dirty="0">
                <a:latin typeface="楷体" pitchFamily="49" charset="-122"/>
                <a:ea typeface="楷体" pitchFamily="49" charset="-122"/>
              </a:rPr>
              <a:t>或者</a:t>
            </a:r>
          </a:p>
          <a:p>
            <a:pPr marL="621792" lvl="1" algn="ctr">
              <a:lnSpc>
                <a:spcPct val="150000"/>
              </a:lnSpc>
              <a:spcBef>
                <a:spcPts val="324"/>
              </a:spcBef>
              <a:defRPr/>
            </a:pPr>
            <a:r>
              <a:rPr lang="en-US" altLang="zh-CN" dirty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并且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  <a:p>
            <a:pPr marL="621792" lvl="1" algn="ctr">
              <a:lnSpc>
                <a:spcPct val="150000"/>
              </a:lnSpc>
              <a:spcBef>
                <a:spcPts val="324"/>
              </a:spcBef>
              <a:defRPr/>
            </a:pPr>
            <a:r>
              <a:rPr lang="zh-CN" altLang="en-US" dirty="0">
                <a:latin typeface="楷体" pitchFamily="49" charset="-122"/>
                <a:ea typeface="楷体" pitchFamily="49" charset="-122"/>
              </a:rPr>
              <a:t>所以，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q</a:t>
            </a:r>
          </a:p>
          <a:p>
            <a:endParaRPr lang="zh-CN" altLang="en-US" dirty="0"/>
          </a:p>
        </p:txBody>
      </p:sp>
      <p:cxnSp>
        <p:nvCxnSpPr>
          <p:cNvPr id="26" name="直接连接符 25"/>
          <p:cNvCxnSpPr/>
          <p:nvPr/>
        </p:nvCxnSpPr>
        <p:spPr>
          <a:xfrm>
            <a:off x="3797027" y="4293096"/>
            <a:ext cx="1639069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797027" y="5644800"/>
            <a:ext cx="1639069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28184" y="2564904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如果否定一个联言支，则可以否定包涵这个联言支的联言命题。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68144" y="3789040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并非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所以，并非（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且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）</a:t>
            </a: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173291" y="4293096"/>
            <a:ext cx="23591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/>
      <p:bldP spid="21" grpId="0"/>
      <p:bldP spid="24" grpId="0"/>
      <p:bldP spid="25" grpId="0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选言命题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43608" y="1628800"/>
            <a:ext cx="2736304" cy="720080"/>
            <a:chOff x="1115616" y="1340768"/>
            <a:chExt cx="2736304" cy="720080"/>
          </a:xfrm>
        </p:grpSpPr>
        <p:sp>
          <p:nvSpPr>
            <p:cNvPr id="6" name="折角形 5"/>
            <p:cNvSpPr/>
            <p:nvPr/>
          </p:nvSpPr>
          <p:spPr>
            <a:xfrm>
              <a:off x="1115616" y="1340768"/>
              <a:ext cx="2520280" cy="720080"/>
            </a:xfrm>
            <a:prstGeom prst="foldedCorner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87624" y="1465620"/>
              <a:ext cx="2664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华文行楷" pitchFamily="2" charset="-122"/>
                  <a:ea typeface="华文行楷" pitchFamily="2" charset="-122"/>
                </a:rPr>
                <a:t>相容选言命题</a:t>
              </a:r>
              <a:endParaRPr lang="zh-CN" altLang="en-US" sz="28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427984" y="1773977"/>
            <a:ext cx="3240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sz="22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或者</a:t>
            </a:r>
            <a:r>
              <a:rPr lang="en-US" altLang="zh-CN" sz="2200" dirty="0" smtClean="0">
                <a:latin typeface="华文新魏" pitchFamily="2" charset="-122"/>
                <a:ea typeface="华文新魏" pitchFamily="2" charset="-122"/>
              </a:rPr>
              <a:t>q</a:t>
            </a:r>
            <a:endParaRPr lang="zh-CN" altLang="en-US" sz="2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3608" y="2505090"/>
            <a:ext cx="7416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只要有一个选言支为真，其为真；如果所有选言支都假，则为假。</a:t>
            </a:r>
          </a:p>
          <a:p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43608" y="3502169"/>
            <a:ext cx="3240360" cy="1078959"/>
            <a:chOff x="1115616" y="1340768"/>
            <a:chExt cx="2798493" cy="1078959"/>
          </a:xfrm>
        </p:grpSpPr>
        <p:sp>
          <p:nvSpPr>
            <p:cNvPr id="11" name="折角形 10"/>
            <p:cNvSpPr/>
            <p:nvPr/>
          </p:nvSpPr>
          <p:spPr>
            <a:xfrm>
              <a:off x="1115616" y="1340768"/>
              <a:ext cx="2520280" cy="720080"/>
            </a:xfrm>
            <a:prstGeom prst="foldedCorner">
              <a:avLst/>
            </a:prstGeom>
            <a:ln w="19050">
              <a:solidFill>
                <a:srgbClr val="0066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49813" y="1465620"/>
              <a:ext cx="266429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华文行楷" pitchFamily="2" charset="-122"/>
                  <a:ea typeface="华文行楷" pitchFamily="2" charset="-122"/>
                </a:rPr>
                <a:t>不相容选言命题</a:t>
              </a:r>
              <a:endParaRPr lang="zh-CN" altLang="en-US" sz="28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427984" y="3573016"/>
            <a:ext cx="3240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要么</a:t>
            </a:r>
            <a:r>
              <a:rPr lang="en-US" altLang="zh-CN" sz="2200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sz="2200" dirty="0" smtClean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zh-CN" altLang="en-US" sz="22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要么</a:t>
            </a:r>
            <a:r>
              <a:rPr lang="en-US" altLang="zh-CN" sz="2200" dirty="0" smtClean="0">
                <a:latin typeface="华文新魏" pitchFamily="2" charset="-122"/>
                <a:ea typeface="华文新魏" pitchFamily="2" charset="-122"/>
              </a:rPr>
              <a:t>q</a:t>
            </a:r>
            <a:endParaRPr lang="zh-CN" altLang="en-US" sz="22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3608" y="4573577"/>
            <a:ext cx="7560840" cy="70788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必有且只有一个选言支为真；若有多个选言支同时为真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(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假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，则其为假。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相容选言命题的有效式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竖卷形 3"/>
          <p:cNvSpPr/>
          <p:nvPr/>
        </p:nvSpPr>
        <p:spPr>
          <a:xfrm>
            <a:off x="971600" y="1484784"/>
            <a:ext cx="2592288" cy="792088"/>
          </a:xfrm>
          <a:prstGeom prst="verticalScroll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59632" y="1681644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否定肯定式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51920" y="1556792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如果肯定一个相容选言命题并且否定其中的一个选言支，则必须肯定其中的另一个选言支。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47864" y="2415079"/>
            <a:ext cx="158417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40000"/>
              </a:lnSpc>
            </a:pP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p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或者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q</a:t>
            </a:r>
          </a:p>
          <a:p>
            <a:pPr lvl="1" algn="ctr">
              <a:lnSpc>
                <a:spcPct val="140000"/>
              </a:lnSpc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非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p</a:t>
            </a:r>
            <a:endParaRPr lang="zh-CN" altLang="en-US" sz="2000" dirty="0" smtClean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lvl="1" algn="ctr">
              <a:lnSpc>
                <a:spcPct val="140000"/>
              </a:lnSpc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所以，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q</a:t>
            </a:r>
            <a:endParaRPr lang="zh-CN" altLang="en-US" sz="2000" dirty="0" smtClean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56176" y="2420888"/>
            <a:ext cx="201622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40000"/>
              </a:lnSpc>
            </a:pP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或者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sz="2000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40000"/>
              </a:lnSpc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非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sz="2000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40000"/>
              </a:lnSpc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所以，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sz="2000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3707904" y="3356992"/>
            <a:ext cx="13681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804248" y="3356992"/>
            <a:ext cx="1224136" cy="1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52120" y="298766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或者</a:t>
            </a:r>
            <a:endParaRPr lang="zh-CN" altLang="en-US" dirty="0"/>
          </a:p>
        </p:txBody>
      </p:sp>
      <p:sp>
        <p:nvSpPr>
          <p:cNvPr id="14" name="竖卷形 13"/>
          <p:cNvSpPr/>
          <p:nvPr/>
        </p:nvSpPr>
        <p:spPr>
          <a:xfrm>
            <a:off x="971600" y="4005064"/>
            <a:ext cx="2592288" cy="792088"/>
          </a:xfrm>
          <a:prstGeom prst="verticalScroll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259632" y="4201924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肯定肯定式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51920" y="4150821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如果肯定一个选言支，则必须肯定包含这个选言支的任一选言命题。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0" y="4935359"/>
            <a:ext cx="23762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40000"/>
              </a:lnSpc>
            </a:pP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p</a:t>
            </a:r>
            <a:endParaRPr lang="zh-CN" altLang="en-US" sz="2000" dirty="0" smtClean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lvl="1" algn="ctr">
              <a:lnSpc>
                <a:spcPct val="140000"/>
              </a:lnSpc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所以，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p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或者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q</a:t>
            </a:r>
            <a:endParaRPr lang="zh-CN" altLang="en-US" sz="2000" dirty="0" smtClean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endParaRPr lang="zh-CN" altLang="en-US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4860032" y="5445224"/>
            <a:ext cx="21602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3" grpId="0"/>
      <p:bldP spid="14" grpId="0" animBg="1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不相容选言命题的有效式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1043608" y="1556792"/>
            <a:ext cx="2088232" cy="792088"/>
          </a:xfrm>
          <a:prstGeom prst="foldedCorner">
            <a:avLst/>
          </a:prstGeom>
          <a:ln w="38100"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115616" y="1700808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行楷" pitchFamily="2" charset="-122"/>
                <a:ea typeface="华文行楷" pitchFamily="2" charset="-122"/>
              </a:rPr>
              <a:t>否定肯定式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5896" y="1628800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如果否定一个不相容选言命题的一个选言支，则必须肯定它的另一个选言支。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71800" y="2348880"/>
            <a:ext cx="669674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0" lvl="1">
              <a:lnSpc>
                <a:spcPct val="150000"/>
              </a:lnSpc>
              <a:spcBef>
                <a:spcPts val="324"/>
              </a:spcBef>
              <a:defRPr/>
            </a:pP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要么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p</a:t>
            </a: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，要么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q  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 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或者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   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要么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，要么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1080000" lvl="1">
              <a:lnSpc>
                <a:spcPct val="150000"/>
              </a:lnSpc>
              <a:spcBef>
                <a:spcPts val="324"/>
              </a:spcBef>
              <a:defRPr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非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p                    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非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  <a:p>
            <a:pPr marL="1080000" lvl="1">
              <a:lnSpc>
                <a:spcPct val="150000"/>
              </a:lnSpc>
              <a:spcBef>
                <a:spcPts val="324"/>
              </a:spcBef>
              <a:defRPr/>
            </a:pP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所以，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q                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  <a:p>
            <a:endParaRPr lang="zh-CN" altLang="en-US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3635896" y="3284984"/>
            <a:ext cx="19310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372200" y="3284984"/>
            <a:ext cx="19310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折角形 10"/>
          <p:cNvSpPr/>
          <p:nvPr/>
        </p:nvSpPr>
        <p:spPr>
          <a:xfrm>
            <a:off x="1043608" y="3861048"/>
            <a:ext cx="2088232" cy="792088"/>
          </a:xfrm>
          <a:prstGeom prst="foldedCorner">
            <a:avLst/>
          </a:prstGeom>
          <a:ln w="381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115616" y="4005064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肯定否定式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35896" y="4006805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如果肯定一个不相容选言命题的一个选言支，则必须否定它的另一个选言支。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71800" y="4725144"/>
            <a:ext cx="669674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0" lvl="1">
              <a:lnSpc>
                <a:spcPct val="150000"/>
              </a:lnSpc>
              <a:spcBef>
                <a:spcPts val="324"/>
              </a:spcBef>
              <a:defRPr/>
            </a:pP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要么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p</a:t>
            </a: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，要么</a:t>
            </a:r>
            <a:r>
              <a:rPr lang="en-US" altLang="zh-CN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q  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 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或者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   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要么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，要么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1080000" lvl="1">
              <a:lnSpc>
                <a:spcPct val="150000"/>
              </a:lnSpc>
              <a:spcBef>
                <a:spcPts val="324"/>
              </a:spcBef>
              <a:defRPr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 p                    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  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  <a:p>
            <a:pPr marL="1080000" lvl="1">
              <a:lnSpc>
                <a:spcPct val="150000"/>
              </a:lnSpc>
              <a:spcBef>
                <a:spcPts val="324"/>
              </a:spcBef>
              <a:defRPr/>
            </a:pP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所以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，非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q               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所以，非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  <a:p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3635896" y="5661248"/>
            <a:ext cx="19310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372200" y="5661248"/>
            <a:ext cx="19310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11" grpId="0" animBg="1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选言命题的判断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" y="1340768"/>
            <a:ext cx="8435280" cy="4525963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50000"/>
              </a:lnSpc>
              <a:buNone/>
            </a:pP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）</a:t>
            </a:r>
            <a:r>
              <a:rPr lang="zh-CN" altLang="en-US" u="sng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判断一个选言命题究竟是相容的还是不相容的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：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              </a:t>
            </a:r>
            <a:r>
              <a:rPr lang="zh-CN" altLang="en-US" sz="24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看各个选言支是否能够同时为真</a:t>
            </a:r>
            <a:endParaRPr lang="en-US" altLang="zh-CN" sz="2400" dirty="0" smtClean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能同时为真的，是相容选言命题；否则，是不相容选言命题。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50000"/>
              </a:lnSpc>
              <a:buNone/>
            </a:pPr>
            <a:endParaRPr lang="zh-CN" altLang="en-US" sz="2400" dirty="0" smtClean="0"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）</a:t>
            </a:r>
            <a:r>
              <a:rPr lang="zh-CN" altLang="en-US" u="sng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判断一个选言命题的真假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：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                  </a:t>
            </a:r>
            <a:r>
              <a:rPr lang="zh-CN" altLang="en-US" sz="2400" dirty="0" smtClean="0">
                <a:solidFill>
                  <a:srgbClr val="7030A0"/>
                </a:solidFill>
                <a:latin typeface="华文新魏" pitchFamily="2" charset="-122"/>
                <a:ea typeface="华文新魏" pitchFamily="2" charset="-122"/>
              </a:rPr>
              <a:t>看各个选言支是否穷尽</a:t>
            </a:r>
            <a:endParaRPr lang="en-US" altLang="zh-CN" sz="2400" dirty="0" smtClean="0">
              <a:solidFill>
                <a:srgbClr val="7030A0"/>
              </a:solidFill>
              <a:latin typeface="华文新魏" pitchFamily="2" charset="-122"/>
              <a:ea typeface="华文新魏" pitchFamily="2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  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如果一个选言命题穷尽了所有的选言支，则必真；假若选言支不穷尽，则有可能为假。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假言命题（条件命题）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横卷形 5"/>
          <p:cNvSpPr/>
          <p:nvPr/>
        </p:nvSpPr>
        <p:spPr>
          <a:xfrm>
            <a:off x="611560" y="1484784"/>
            <a:ext cx="3384376" cy="1008112"/>
          </a:xfrm>
          <a:prstGeom prst="horizontalScroll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27584" y="1753652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表示条件的支命题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横卷形 7"/>
          <p:cNvSpPr/>
          <p:nvPr/>
        </p:nvSpPr>
        <p:spPr>
          <a:xfrm>
            <a:off x="5004048" y="1484784"/>
            <a:ext cx="3384376" cy="1008112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220072" y="1753652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表示结果的支命题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2339752" y="2420888"/>
            <a:ext cx="0" cy="43200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6732240" y="2420936"/>
            <a:ext cx="0" cy="43200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07704" y="3183359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前件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200" y="3212976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后件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" name="左右箭头 13"/>
          <p:cNvSpPr/>
          <p:nvPr/>
        </p:nvSpPr>
        <p:spPr>
          <a:xfrm>
            <a:off x="3203848" y="3284984"/>
            <a:ext cx="2664296" cy="288032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563888" y="3657218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7030A0"/>
                </a:solidFill>
                <a:latin typeface="华文新魏" pitchFamily="2" charset="-122"/>
                <a:ea typeface="华文新魏" pitchFamily="2" charset="-122"/>
              </a:rPr>
              <a:t>断定前件和后件之间的条件关系</a:t>
            </a:r>
            <a:endParaRPr lang="zh-CN" altLang="en-US" sz="2000" b="1" dirty="0">
              <a:solidFill>
                <a:srgbClr val="7030A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03648" y="465480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楷体" pitchFamily="49" charset="-122"/>
                <a:ea typeface="楷体" pitchFamily="49" charset="-122"/>
              </a:rPr>
              <a:t>充分条件</a:t>
            </a: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03648" y="527040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必要</a:t>
            </a:r>
            <a:r>
              <a:rPr lang="zh-CN" altLang="en-US" sz="2400" b="1" dirty="0" smtClean="0">
                <a:latin typeface="楷体" pitchFamily="49" charset="-122"/>
                <a:ea typeface="楷体" pitchFamily="49" charset="-122"/>
              </a:rPr>
              <a:t>条件</a:t>
            </a: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5616" y="587727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楷体" pitchFamily="49" charset="-122"/>
                <a:ea typeface="楷体" pitchFamily="49" charset="-122"/>
              </a:rPr>
              <a:t>充分必要条件</a:t>
            </a: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52120" y="4653136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楷体" pitchFamily="49" charset="-122"/>
                <a:ea typeface="楷体" pitchFamily="49" charset="-122"/>
              </a:rPr>
              <a:t>充分条件假言命题</a:t>
            </a: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52120" y="5271591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必要</a:t>
            </a:r>
            <a:r>
              <a:rPr lang="zh-CN" altLang="en-US" sz="2400" b="1" dirty="0" smtClean="0">
                <a:latin typeface="楷体" pitchFamily="49" charset="-122"/>
                <a:ea typeface="楷体" pitchFamily="49" charset="-122"/>
              </a:rPr>
              <a:t>条件假言命题</a:t>
            </a: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64088" y="5877272"/>
            <a:ext cx="331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楷体" pitchFamily="49" charset="-122"/>
                <a:ea typeface="楷体" pitchFamily="49" charset="-122"/>
              </a:rPr>
              <a:t>充分必要条件假言命题</a:t>
            </a:r>
            <a:endParaRPr lang="zh-CN" altLang="en-US" sz="2400" b="1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563888" y="4869160"/>
            <a:ext cx="144016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3563888" y="5472000"/>
            <a:ext cx="144016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563888" y="6093296"/>
            <a:ext cx="144016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2" grpId="0"/>
      <p:bldP spid="13" grpId="0"/>
      <p:bldP spid="1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充分条件假言命题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63888" y="1484785"/>
            <a:ext cx="2016224" cy="841531"/>
            <a:chOff x="3465695" y="5229200"/>
            <a:chExt cx="2160240" cy="654524"/>
          </a:xfrm>
        </p:grpSpPr>
        <p:sp>
          <p:nvSpPr>
            <p:cNvPr id="5" name="流程图: 准备 4"/>
            <p:cNvSpPr/>
            <p:nvPr/>
          </p:nvSpPr>
          <p:spPr>
            <a:xfrm>
              <a:off x="3465695" y="5229200"/>
              <a:ext cx="2160240" cy="504056"/>
            </a:xfrm>
            <a:prstGeom prst="flowChartPreparation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82312" y="5333146"/>
              <a:ext cx="1512168" cy="550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>
                  <a:latin typeface="Times New Roman" pitchFamily="18" charset="0"/>
                  <a:cs typeface="Times New Roman" pitchFamily="18" charset="0"/>
                </a:rPr>
                <a:t>如果</a:t>
              </a:r>
              <a:r>
                <a:rPr lang="en-US" altLang="zh-CN" sz="2000" b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zh-CN" altLang="en-US" sz="2000" b="1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则</a:t>
              </a:r>
              <a:r>
                <a:rPr lang="en-US" altLang="zh-CN" sz="2000" b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endParaRPr lang="zh-CN" altLang="en-US" sz="2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403648" y="2689756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u="sng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逻辑性质：</a:t>
            </a:r>
            <a:endParaRPr lang="zh-CN" altLang="en-US" sz="2800" b="1" u="sng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3648" y="3356992"/>
            <a:ext cx="6696744" cy="461665"/>
          </a:xfrm>
          <a:prstGeom prst="rect">
            <a:avLst/>
          </a:prstGeom>
          <a:ln w="28575"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/>
              <a:t>只有在前件真后件假的情况下，此命题才是假的</a:t>
            </a:r>
            <a:endParaRPr lang="zh-CN" altLang="en-US" sz="2400" dirty="0"/>
          </a:p>
        </p:txBody>
      </p:sp>
      <p:sp>
        <p:nvSpPr>
          <p:cNvPr id="9" name="左弧形箭头 8"/>
          <p:cNvSpPr/>
          <p:nvPr/>
        </p:nvSpPr>
        <p:spPr>
          <a:xfrm>
            <a:off x="683568" y="3573016"/>
            <a:ext cx="432048" cy="1008112"/>
          </a:xfrm>
          <a:prstGeom prst="curv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75656" y="4365104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或者非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或者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q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88024" y="4365104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并非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(P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并且非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q)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充分条件假言命题的有效式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1844824"/>
            <a:ext cx="259228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zh-CN" altLang="en-US" dirty="0" smtClean="0"/>
              <a:t>如果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，那么</a:t>
            </a:r>
            <a:r>
              <a:rPr lang="en-US" altLang="zh-CN" dirty="0" smtClean="0"/>
              <a:t>q</a:t>
            </a:r>
            <a:endParaRPr lang="zh-CN" altLang="en-US" dirty="0" smtClean="0"/>
          </a:p>
          <a:p>
            <a:pPr lvl="1" algn="ctr">
              <a:lnSpc>
                <a:spcPct val="150000"/>
              </a:lnSpc>
            </a:pPr>
            <a:r>
              <a:rPr lang="en-US" altLang="zh-CN" dirty="0" smtClean="0"/>
              <a:t>p</a:t>
            </a:r>
            <a:endParaRPr lang="zh-CN" altLang="en-US" dirty="0" smtClean="0"/>
          </a:p>
          <a:p>
            <a:pPr lvl="1" algn="ctr">
              <a:lnSpc>
                <a:spcPct val="150000"/>
              </a:lnSpc>
            </a:pPr>
            <a:r>
              <a:rPr lang="zh-CN" altLang="en-US" dirty="0" smtClean="0"/>
              <a:t>所以，</a:t>
            </a:r>
            <a:r>
              <a:rPr lang="en-US" altLang="zh-CN" dirty="0" smtClean="0"/>
              <a:t>q</a:t>
            </a:r>
            <a:endParaRPr lang="zh-CN" altLang="en-US" dirty="0" smtClean="0"/>
          </a:p>
          <a:p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5004048" y="2708920"/>
            <a:ext cx="2214563" cy="1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499992" y="3973413"/>
            <a:ext cx="26642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zh-CN" altLang="en-US" dirty="0" smtClean="0"/>
              <a:t>如果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，那么</a:t>
            </a:r>
            <a:r>
              <a:rPr lang="en-US" altLang="zh-CN" dirty="0" smtClean="0"/>
              <a:t>q</a:t>
            </a:r>
            <a:endParaRPr lang="zh-CN" altLang="en-US" dirty="0" smtClean="0"/>
          </a:p>
          <a:p>
            <a:pPr lvl="1" algn="ctr">
              <a:lnSpc>
                <a:spcPct val="150000"/>
              </a:lnSpc>
            </a:pPr>
            <a:r>
              <a:rPr lang="zh-CN" altLang="en-US" dirty="0" smtClean="0"/>
              <a:t>非</a:t>
            </a:r>
            <a:r>
              <a:rPr lang="en-US" altLang="zh-CN" dirty="0" smtClean="0"/>
              <a:t>q</a:t>
            </a:r>
            <a:endParaRPr lang="zh-CN" altLang="en-US" dirty="0" smtClean="0"/>
          </a:p>
          <a:p>
            <a:pPr lvl="1" algn="ctr">
              <a:lnSpc>
                <a:spcPct val="150000"/>
              </a:lnSpc>
            </a:pPr>
            <a:r>
              <a:rPr lang="zh-CN" altLang="en-US" dirty="0" smtClean="0"/>
              <a:t>所以，非</a:t>
            </a:r>
            <a:r>
              <a:rPr lang="en-US" altLang="zh-CN" dirty="0" smtClean="0"/>
              <a:t>p</a:t>
            </a:r>
            <a:endParaRPr lang="zh-CN" altLang="en-US" dirty="0" smtClean="0"/>
          </a:p>
          <a:p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004048" y="4867573"/>
            <a:ext cx="2214563" cy="1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流程图: 资料带 7"/>
          <p:cNvSpPr/>
          <p:nvPr/>
        </p:nvSpPr>
        <p:spPr>
          <a:xfrm>
            <a:off x="1547664" y="1916832"/>
            <a:ext cx="2448272" cy="936104"/>
          </a:xfrm>
          <a:prstGeom prst="flowChartPunchedTape">
            <a:avLst/>
          </a:prstGeom>
          <a:ln w="28575">
            <a:prstDash val="lg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763688" y="2185700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肯定前件式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流程图: 资料带 9"/>
          <p:cNvSpPr/>
          <p:nvPr/>
        </p:nvSpPr>
        <p:spPr>
          <a:xfrm>
            <a:off x="1547664" y="4077072"/>
            <a:ext cx="2448272" cy="936104"/>
          </a:xfrm>
          <a:prstGeom prst="flowChartPunchedTape">
            <a:avLst/>
          </a:prstGeom>
          <a:ln w="28575">
            <a:solidFill>
              <a:schemeClr val="accent6">
                <a:lumMod val="75000"/>
              </a:schemeClr>
            </a:solidFill>
            <a:prstDash val="lgDash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763688" y="4345940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否定后件式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 animBg="1"/>
      <p:bldP spid="9" grpId="0"/>
      <p:bldP spid="10" grpId="0" animBg="1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必要条件假言命题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63888" y="1484783"/>
            <a:ext cx="2376264" cy="841532"/>
            <a:chOff x="3465695" y="5229200"/>
            <a:chExt cx="2160240" cy="654525"/>
          </a:xfrm>
        </p:grpSpPr>
        <p:sp>
          <p:nvSpPr>
            <p:cNvPr id="5" name="流程图: 准备 4"/>
            <p:cNvSpPr/>
            <p:nvPr/>
          </p:nvSpPr>
          <p:spPr>
            <a:xfrm>
              <a:off x="3465695" y="5229200"/>
              <a:ext cx="2160240" cy="504056"/>
            </a:xfrm>
            <a:prstGeom prst="flowChartPreparation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82312" y="5333147"/>
              <a:ext cx="1512168" cy="550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Times New Roman" pitchFamily="18" charset="0"/>
                  <a:cs typeface="Times New Roman" pitchFamily="18" charset="0"/>
                </a:rPr>
                <a:t>只有</a:t>
              </a:r>
              <a:r>
                <a:rPr lang="en-US" altLang="zh-CN" sz="2000" b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zh-CN" altLang="en-US" sz="2000" b="1" dirty="0" smtClean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，才</a:t>
              </a:r>
              <a:r>
                <a:rPr lang="en-US" altLang="zh-CN" sz="2000" b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endParaRPr lang="zh-CN" altLang="en-US" sz="2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403648" y="2132856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u="sng" dirty="0" smtClean="0">
                <a:solidFill>
                  <a:srgbClr val="3366CC"/>
                </a:solidFill>
                <a:latin typeface="华文行楷" pitchFamily="2" charset="-122"/>
                <a:ea typeface="华文行楷" pitchFamily="2" charset="-122"/>
              </a:rPr>
              <a:t>逻辑性质：</a:t>
            </a:r>
            <a:endParaRPr lang="zh-CN" altLang="en-US" sz="2800" b="1" u="sng" dirty="0">
              <a:solidFill>
                <a:srgbClr val="3366CC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2708920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只有在前件假后件真的情况下，它才是假的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39952" y="3284984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琥珀" pitchFamily="2" charset="-122"/>
                <a:ea typeface="华文琥珀" pitchFamily="2" charset="-122"/>
              </a:rPr>
              <a:t>有效式</a:t>
            </a:r>
            <a:endParaRPr lang="zh-CN" altLang="en-US" sz="2800" dirty="0">
              <a:solidFill>
                <a:srgbClr val="C00000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10" name="折角形 9"/>
          <p:cNvSpPr/>
          <p:nvPr/>
        </p:nvSpPr>
        <p:spPr>
          <a:xfrm>
            <a:off x="1763688" y="3789040"/>
            <a:ext cx="1944216" cy="648072"/>
          </a:xfrm>
          <a:prstGeom prst="foldedCorner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835696" y="390343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否定前件式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2" name="折角形 11"/>
          <p:cNvSpPr/>
          <p:nvPr/>
        </p:nvSpPr>
        <p:spPr>
          <a:xfrm>
            <a:off x="5796136" y="3789040"/>
            <a:ext cx="1944216" cy="648072"/>
          </a:xfrm>
          <a:prstGeom prst="foldedCorner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868144" y="390343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肯定后件式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03648" y="4653136"/>
            <a:ext cx="230425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只有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，才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非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所以，非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20072" y="4653136"/>
            <a:ext cx="273630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只有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，才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835696" y="5515644"/>
            <a:ext cx="1872208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68144" y="5517232"/>
            <a:ext cx="1872208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/>
      <p:bldP spid="12" grpId="0" animBg="1"/>
      <p:bldP spid="13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充分必要条件假言命题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419872" y="1268760"/>
            <a:ext cx="2376264" cy="648072"/>
            <a:chOff x="3465695" y="5229200"/>
            <a:chExt cx="2160240" cy="504056"/>
          </a:xfrm>
        </p:grpSpPr>
        <p:sp>
          <p:nvSpPr>
            <p:cNvPr id="5" name="流程图: 准备 4"/>
            <p:cNvSpPr/>
            <p:nvPr/>
          </p:nvSpPr>
          <p:spPr>
            <a:xfrm>
              <a:off x="3465695" y="5229200"/>
              <a:ext cx="2160240" cy="504056"/>
            </a:xfrm>
            <a:prstGeom prst="flowChartPreparat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882312" y="5333147"/>
              <a:ext cx="1512168" cy="311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zh-CN" altLang="en-US" sz="2000" b="1" dirty="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当且仅当</a:t>
              </a:r>
              <a:r>
                <a:rPr lang="en-US" altLang="zh-CN" sz="2000" b="1" dirty="0" smtClean="0">
                  <a:latin typeface="Times New Roman" pitchFamily="18" charset="0"/>
                  <a:cs typeface="Times New Roman" pitchFamily="18" charset="0"/>
                </a:rPr>
                <a:t>q</a:t>
              </a:r>
              <a:endParaRPr lang="zh-CN" altLang="en-US" sz="2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403648" y="1916832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u="sng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逻辑性质：</a:t>
            </a:r>
            <a:endParaRPr lang="zh-CN" altLang="en-US" sz="2800" b="1" u="sng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7664" y="2492896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当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前件和后件同真或同假时，它为真；在前后件不同真或者不同假时，它为假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3648" y="3829397"/>
            <a:ext cx="230425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当且仅当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en-US" altLang="zh-CN" dirty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76056" y="3829397"/>
            <a:ext cx="273630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当且仅当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非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所以，非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835696" y="4691905"/>
            <a:ext cx="1872208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724128" y="4693493"/>
            <a:ext cx="1872208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03648" y="5269557"/>
            <a:ext cx="230425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当且仅当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en-US" altLang="zh-CN" dirty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en-US" altLang="zh-CN" dirty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所以，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76056" y="5269557"/>
            <a:ext cx="273630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当且仅当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非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q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pPr lvl="1" algn="ctr">
              <a:lnSpc>
                <a:spcPct val="15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所以，非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p</a:t>
            </a:r>
            <a:endParaRPr lang="zh-CN" altLang="en-US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835696" y="6132065"/>
            <a:ext cx="1872208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724128" y="6133653"/>
            <a:ext cx="1872208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67944" y="3409836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琥珀" pitchFamily="2" charset="-122"/>
                <a:ea typeface="华文琥珀" pitchFamily="2" charset="-122"/>
              </a:rPr>
              <a:t>有效式</a:t>
            </a:r>
            <a:endParaRPr lang="zh-CN" altLang="en-US" sz="2800" dirty="0">
              <a:solidFill>
                <a:srgbClr val="C00000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3" grpId="0"/>
      <p:bldP spid="14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负命题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851920" y="1484784"/>
            <a:ext cx="1512168" cy="648072"/>
            <a:chOff x="3465695" y="5229200"/>
            <a:chExt cx="2160240" cy="504056"/>
          </a:xfrm>
        </p:grpSpPr>
        <p:sp>
          <p:nvSpPr>
            <p:cNvPr id="5" name="流程图: 准备 4"/>
            <p:cNvSpPr/>
            <p:nvPr/>
          </p:nvSpPr>
          <p:spPr>
            <a:xfrm>
              <a:off x="3465695" y="5229200"/>
              <a:ext cx="2160240" cy="504056"/>
            </a:xfrm>
            <a:prstGeom prst="flowChartPreparation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10898" y="5333147"/>
              <a:ext cx="1512169" cy="311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>
                  <a:latin typeface="Times New Roman" pitchFamily="18" charset="0"/>
                  <a:cs typeface="Times New Roman" pitchFamily="18" charset="0"/>
                </a:rPr>
                <a:t>并非</a:t>
              </a:r>
              <a:r>
                <a:rPr lang="en-US" altLang="zh-CN" sz="2000" b="1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endParaRPr lang="zh-CN" altLang="en-US" sz="2000" b="1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403648" y="2391271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u="sng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逻辑性质：</a:t>
            </a:r>
            <a:endParaRPr lang="zh-CN" altLang="en-US" sz="2800" b="1" u="sng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79712" y="2967335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负命题的真值与原命题相反。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" name="折角形 8"/>
          <p:cNvSpPr/>
          <p:nvPr/>
        </p:nvSpPr>
        <p:spPr>
          <a:xfrm>
            <a:off x="1403648" y="4005064"/>
            <a:ext cx="6480720" cy="936104"/>
          </a:xfrm>
          <a:prstGeom prst="foldedCorner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4038163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联言命题、选言命题、假言命题和负命题</a:t>
            </a:r>
            <a:endParaRPr lang="en-US" altLang="zh-CN" sz="2400" dirty="0" smtClean="0">
              <a:latin typeface="华文新魏" pitchFamily="2" charset="-122"/>
              <a:ea typeface="华文新魏" pitchFamily="2" charset="-122"/>
            </a:endParaRPr>
          </a:p>
          <a:p>
            <a:pPr algn="ctr"/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本身都可以被否定，否定后等值于另外的命题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第二章 命题逻辑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真值</a:t>
            </a:r>
            <a:r>
              <a:rPr lang="zh-CN" altLang="en-US" sz="2400" b="1" dirty="0" smtClean="0">
                <a:latin typeface="+mn-ea"/>
              </a:rPr>
              <a:t>联结词和真值形式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重言式及其判定方法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重言蕴涵式和重言等值式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命题逻辑的自然推理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59832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日常联结词和复合命题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五角星 16"/>
          <p:cNvSpPr/>
          <p:nvPr/>
        </p:nvSpPr>
        <p:spPr>
          <a:xfrm>
            <a:off x="2195736" y="1844824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五角星 17"/>
          <p:cNvSpPr/>
          <p:nvPr/>
        </p:nvSpPr>
        <p:spPr>
          <a:xfrm>
            <a:off x="2195736" y="2708920"/>
            <a:ext cx="504056" cy="504056"/>
          </a:xfrm>
          <a:prstGeom prst="star5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五角星 18"/>
          <p:cNvSpPr/>
          <p:nvPr/>
        </p:nvSpPr>
        <p:spPr>
          <a:xfrm>
            <a:off x="2195736" y="3645024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五角星 19"/>
          <p:cNvSpPr/>
          <p:nvPr/>
        </p:nvSpPr>
        <p:spPr>
          <a:xfrm>
            <a:off x="2195736" y="4509120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五角星 20"/>
          <p:cNvSpPr/>
          <p:nvPr/>
        </p:nvSpPr>
        <p:spPr>
          <a:xfrm>
            <a:off x="2195736" y="5373216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日常联结词的缺陷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600" y="1628800"/>
            <a:ext cx="1152128" cy="461665"/>
          </a:xfrm>
          <a:prstGeom prst="rect">
            <a:avLst/>
          </a:prstGeom>
          <a:ln w="28575">
            <a:solidFill>
              <a:srgbClr val="00B050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不精确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600" y="3687415"/>
            <a:ext cx="2664296" cy="461665"/>
          </a:xfrm>
          <a:prstGeom prst="rect">
            <a:avLst/>
          </a:prstGeom>
          <a:ln w="28575">
            <a:solidFill>
              <a:srgbClr val="00B050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负载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了非逻辑内容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7624" y="2348880"/>
            <a:ext cx="6840760" cy="99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例如 </a:t>
            </a:r>
            <a:r>
              <a:rPr lang="zh-CN" altLang="en-US" dirty="0" smtClean="0"/>
              <a:t>             </a:t>
            </a:r>
            <a:r>
              <a:rPr lang="zh-CN" altLang="en-US" sz="2400" dirty="0" smtClean="0">
                <a:solidFill>
                  <a:srgbClr val="3366CC"/>
                </a:solidFill>
                <a:latin typeface="华文琥珀" pitchFamily="2" charset="-122"/>
                <a:ea typeface="华文琥珀" pitchFamily="2" charset="-122"/>
              </a:rPr>
              <a:t>“或者”</a:t>
            </a:r>
            <a:endParaRPr lang="en-US" altLang="zh-CN" dirty="0" smtClean="0">
              <a:solidFill>
                <a:srgbClr val="3366CC"/>
              </a:solidFill>
              <a:latin typeface="华文琥珀" pitchFamily="2" charset="-122"/>
              <a:ea typeface="华文琥珀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既可以在相容意义上用，也可以在不相容意义上使用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7624" y="4509120"/>
            <a:ext cx="6840760" cy="99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例如 </a:t>
            </a:r>
            <a:r>
              <a:rPr lang="zh-CN" altLang="en-US" sz="24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dirty="0" smtClean="0"/>
              <a:t>              </a:t>
            </a:r>
            <a:r>
              <a:rPr lang="zh-CN" altLang="en-US" sz="2400" dirty="0">
                <a:solidFill>
                  <a:srgbClr val="3366CC"/>
                </a:solidFill>
                <a:latin typeface="华文琥珀" pitchFamily="2" charset="-122"/>
                <a:ea typeface="华文琥珀" pitchFamily="2" charset="-122"/>
              </a:rPr>
              <a:t>联言命题</a:t>
            </a:r>
            <a:endParaRPr lang="en-US" altLang="zh-CN" sz="2400" dirty="0">
              <a:solidFill>
                <a:srgbClr val="3366CC"/>
              </a:solidFill>
              <a:latin typeface="华文琥珀" pitchFamily="2" charset="-122"/>
              <a:ea typeface="华文琥珀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除了表示各个支命题同时为真外，还表示并列，承接，递进关系等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真值联结词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843808" y="1887215"/>
          <a:ext cx="4752528" cy="22250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83364"/>
                <a:gridCol w="1145195"/>
                <a:gridCol w="172396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真值联结词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读作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意义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合取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并且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析取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或者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蕴涵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如果，则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等值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当且仅当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 smtClean="0">
                          <a:sym typeface="Symbol"/>
                        </a:rPr>
                        <a:t></a:t>
                      </a:r>
                      <a:r>
                        <a:rPr lang="en-US" altLang="zh-CN" dirty="0" smtClean="0"/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否定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并非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左中括号 5"/>
          <p:cNvSpPr/>
          <p:nvPr/>
        </p:nvSpPr>
        <p:spPr>
          <a:xfrm>
            <a:off x="2555777" y="2463279"/>
            <a:ext cx="72008" cy="1152128"/>
          </a:xfrm>
          <a:prstGeom prst="lef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83569" y="2751311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二元联结词</a:t>
            </a:r>
            <a:endParaRPr lang="zh-CN" altLang="en-US" sz="2400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9" y="3687415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一</a:t>
            </a:r>
            <a:r>
              <a:rPr lang="zh-CN" altLang="en-US" sz="2400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元联结词</a:t>
            </a:r>
            <a:endParaRPr lang="zh-CN" altLang="en-US" sz="2400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03648" y="4581128"/>
            <a:ext cx="6408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为了表示符号间的结构关系，还需要一些辅助符号，如</a:t>
            </a:r>
            <a:r>
              <a:rPr lang="zh-CN" altLang="en-US" sz="24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括号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“（”，“）”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D1 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真值形式的定义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折角形 3"/>
          <p:cNvSpPr/>
          <p:nvPr/>
        </p:nvSpPr>
        <p:spPr>
          <a:xfrm>
            <a:off x="1763688" y="1772816"/>
            <a:ext cx="5544616" cy="864096"/>
          </a:xfrm>
          <a:prstGeom prst="foldedCorner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907704" y="1988840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任一命题变项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q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r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s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等是真值形式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折角形 6"/>
          <p:cNvSpPr/>
          <p:nvPr/>
        </p:nvSpPr>
        <p:spPr>
          <a:xfrm>
            <a:off x="1763688" y="2924944"/>
            <a:ext cx="5544616" cy="864096"/>
          </a:xfrm>
          <a:prstGeom prst="foldedCorner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979712" y="3140968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如果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是真值形式，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则</a:t>
            </a:r>
            <a:r>
              <a:rPr lang="en-US" altLang="zh-CN" sz="2400" baseline="30000" dirty="0" smtClean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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是真值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形式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" name="折角形 8"/>
          <p:cNvSpPr/>
          <p:nvPr/>
        </p:nvSpPr>
        <p:spPr>
          <a:xfrm>
            <a:off x="1763688" y="4077072"/>
            <a:ext cx="5544616" cy="936104"/>
          </a:xfrm>
          <a:prstGeom prst="foldedCorner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835696" y="4149080"/>
            <a:ext cx="5328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如果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是真值形式，则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∧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∨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  <a:sym typeface="Symbol" pitchFamily="18" charset="2"/>
              </a:rPr>
              <a:t>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是真值形式</a:t>
            </a:r>
          </a:p>
        </p:txBody>
      </p:sp>
      <p:sp>
        <p:nvSpPr>
          <p:cNvPr id="11" name="折角形 10"/>
          <p:cNvSpPr/>
          <p:nvPr/>
        </p:nvSpPr>
        <p:spPr>
          <a:xfrm>
            <a:off x="1619672" y="5301208"/>
            <a:ext cx="5832648" cy="864096"/>
          </a:xfrm>
          <a:prstGeom prst="foldedCorner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691680" y="5487615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只有按以上方式形成的符号串是真值形式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/>
      <p:bldP spid="9" grpId="0" animBg="1"/>
      <p:bldP spid="10" grpId="0"/>
      <p:bldP spid="11" grpId="0" animBg="1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真值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形式定义的说明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1828799"/>
          </a:xfrm>
        </p:spPr>
        <p:txBody>
          <a:bodyPr>
            <a:normAutofit fontScale="85000" lnSpcReduction="20000"/>
          </a:bodyPr>
          <a:lstStyle/>
          <a:p>
            <a:pPr marL="365760" indent="-256032" algn="ctr">
              <a:lnSpc>
                <a:spcPct val="170000"/>
              </a:lnSpc>
              <a:buNone/>
              <a:defRPr/>
            </a:pP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q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r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，</a:t>
            </a:r>
            <a:endParaRPr lang="en-US" altLang="zh-CN" sz="2600" baseline="30000" dirty="0" smtClean="0">
              <a:latin typeface="楷体" pitchFamily="49" charset="-122"/>
              <a:ea typeface="楷体" pitchFamily="49" charset="-122"/>
            </a:endParaRPr>
          </a:p>
          <a:p>
            <a:pPr marL="365760" indent="-256032" algn="ctr">
              <a:lnSpc>
                <a:spcPct val="170000"/>
              </a:lnSpc>
              <a:buNone/>
              <a:defRPr/>
            </a:pPr>
            <a:r>
              <a:rPr lang="en-US" altLang="zh-CN" sz="2600" baseline="30000" dirty="0" smtClean="0">
                <a:latin typeface="楷体" pitchFamily="49" charset="-122"/>
                <a:ea typeface="楷体" pitchFamily="49" charset="-122"/>
                <a:sym typeface="Symbol"/>
              </a:rPr>
              <a:t></a:t>
            </a:r>
            <a:r>
              <a:rPr lang="en-US" altLang="zh-CN" sz="2600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q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∧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s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r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∨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s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600" dirty="0" err="1">
                <a:latin typeface="楷体" pitchFamily="49" charset="-122"/>
                <a:ea typeface="楷体" pitchFamily="49" charset="-122"/>
              </a:rPr>
              <a:t>p</a:t>
            </a:r>
            <a:r>
              <a:rPr lang="en-US" altLang="zh-CN" sz="2600" dirty="0" err="1">
                <a:latin typeface="楷体" pitchFamily="49" charset="-122"/>
                <a:ea typeface="楷体" pitchFamily="49" charset="-122"/>
                <a:sym typeface="Symbol"/>
              </a:rPr>
              <a:t></a:t>
            </a:r>
            <a:r>
              <a:rPr lang="en-US" altLang="zh-CN" sz="2600" dirty="0" err="1">
                <a:latin typeface="楷体" pitchFamily="49" charset="-122"/>
                <a:ea typeface="楷体" pitchFamily="49" charset="-122"/>
              </a:rPr>
              <a:t>q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600" dirty="0" err="1">
                <a:latin typeface="楷体" pitchFamily="49" charset="-122"/>
                <a:ea typeface="楷体" pitchFamily="49" charset="-122"/>
              </a:rPr>
              <a:t>q</a:t>
            </a:r>
            <a:r>
              <a:rPr lang="en-US" altLang="zh-CN" sz="2600" dirty="0" err="1">
                <a:latin typeface="楷体" pitchFamily="49" charset="-122"/>
                <a:ea typeface="楷体" pitchFamily="49" charset="-122"/>
                <a:sym typeface="Symbol"/>
              </a:rPr>
              <a:t></a:t>
            </a:r>
            <a:r>
              <a:rPr lang="en-US" altLang="zh-CN" sz="2600" dirty="0" err="1">
                <a:latin typeface="楷体" pitchFamily="49" charset="-122"/>
                <a:ea typeface="楷体" pitchFamily="49" charset="-122"/>
              </a:rPr>
              <a:t>s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，</a:t>
            </a:r>
            <a:endParaRPr lang="en-US" altLang="zh-CN" sz="2600" dirty="0" smtClean="0">
              <a:latin typeface="楷体" pitchFamily="49" charset="-122"/>
              <a:ea typeface="楷体" pitchFamily="49" charset="-122"/>
            </a:endParaRPr>
          </a:p>
          <a:p>
            <a:pPr marL="365760" indent="-256032" algn="ctr">
              <a:lnSpc>
                <a:spcPct val="170000"/>
              </a:lnSpc>
              <a:buNone/>
              <a:defRPr/>
            </a:pPr>
            <a:r>
              <a:rPr lang="en-US" altLang="zh-CN" sz="2600" dirty="0" smtClean="0">
                <a:latin typeface="楷体" pitchFamily="49" charset="-122"/>
                <a:ea typeface="楷体" pitchFamily="49" charset="-122"/>
              </a:rPr>
              <a:t>((((</a:t>
            </a:r>
            <a:r>
              <a:rPr lang="en-US" altLang="zh-CN" sz="2600" dirty="0" smtClean="0">
                <a:latin typeface="楷体" pitchFamily="49" charset="-122"/>
                <a:ea typeface="楷体" pitchFamily="49" charset="-122"/>
                <a:sym typeface="Symbol"/>
              </a:rPr>
              <a:t></a:t>
            </a:r>
            <a:r>
              <a:rPr lang="en-US" altLang="zh-CN" sz="2600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∧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q)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  <a:sym typeface="Symbol"/>
              </a:rPr>
              <a:t>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r)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  <a:sym typeface="Symbol"/>
              </a:rPr>
              <a:t>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(s</a:t>
            </a:r>
            <a:r>
              <a:rPr lang="zh-CN" altLang="en-US" sz="2600" dirty="0">
                <a:latin typeface="楷体" pitchFamily="49" charset="-122"/>
                <a:ea typeface="楷体" pitchFamily="49" charset="-122"/>
              </a:rPr>
              <a:t>∨</a:t>
            </a:r>
            <a:r>
              <a:rPr lang="en-US" altLang="zh-CN" sz="2600" dirty="0">
                <a:latin typeface="楷体" pitchFamily="49" charset="-122"/>
                <a:ea typeface="楷体" pitchFamily="49" charset="-122"/>
              </a:rPr>
              <a:t>q</a:t>
            </a:r>
            <a:r>
              <a:rPr lang="en-US" altLang="zh-CN" sz="2600" dirty="0" smtClean="0">
                <a:latin typeface="楷体" pitchFamily="49" charset="-122"/>
                <a:ea typeface="楷体" pitchFamily="49" charset="-122"/>
              </a:rPr>
              <a:t>))</a:t>
            </a:r>
            <a:endParaRPr lang="en-US" altLang="zh-CN" sz="26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流程图: 资料带 3"/>
          <p:cNvSpPr/>
          <p:nvPr/>
        </p:nvSpPr>
        <p:spPr>
          <a:xfrm>
            <a:off x="899592" y="3501008"/>
            <a:ext cx="2232248" cy="792088"/>
          </a:xfrm>
          <a:prstGeom prst="flowChartPunchedTap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995936" y="4797152"/>
            <a:ext cx="4248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如：</a:t>
            </a:r>
            <a:r>
              <a:rPr lang="en-US" altLang="zh-CN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，它们代表用对象语言表述的任一真值形式。</a:t>
            </a:r>
            <a:r>
              <a:rPr lang="en-US" altLang="zh-CN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C</a:t>
            </a:r>
            <a:r>
              <a:rPr lang="zh-CN" altLang="en-US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可以是上面的任一公式。</a:t>
            </a:r>
          </a:p>
          <a:p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43608" y="3687415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对象语言符号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67944" y="3717032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tx2">
                    <a:lumMod val="75000"/>
                  </a:schemeClr>
                </a:solidFill>
              </a:rPr>
              <a:t>p</a:t>
            </a: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 ，</a:t>
            </a:r>
            <a:r>
              <a:rPr lang="en-US" altLang="zh-CN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q</a:t>
            </a: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r</a:t>
            </a: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s</a:t>
            </a: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000" b="1" baseline="30000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  <a:sym typeface="Symbol"/>
              </a:rPr>
              <a:t></a:t>
            </a: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，∧，∨，</a:t>
            </a:r>
            <a:r>
              <a:rPr lang="en-US" altLang="zh-CN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  <a:sym typeface="Symbol"/>
              </a:rPr>
              <a:t></a:t>
            </a: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000" b="1" dirty="0" smtClean="0">
                <a:solidFill>
                  <a:schemeClr val="tx2">
                    <a:lumMod val="75000"/>
                  </a:schemeClr>
                </a:solidFill>
                <a:latin typeface="楷体" pitchFamily="49" charset="-122"/>
                <a:ea typeface="楷体" pitchFamily="49" charset="-122"/>
                <a:sym typeface="Symbol"/>
              </a:rPr>
              <a:t>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流程图: 资料带 7"/>
          <p:cNvSpPr/>
          <p:nvPr/>
        </p:nvSpPr>
        <p:spPr>
          <a:xfrm>
            <a:off x="899592" y="4797152"/>
            <a:ext cx="2232248" cy="792088"/>
          </a:xfrm>
          <a:prstGeom prst="flowChartPunchedTap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87624" y="4983559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元</a:t>
            </a:r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语言符号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五种最基本的公式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627784" y="1412777"/>
          <a:ext cx="3888432" cy="266429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43852"/>
                <a:gridCol w="2244580"/>
              </a:tblGrid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baseline="30000" dirty="0" smtClean="0">
                          <a:latin typeface="楷体" pitchFamily="49" charset="-122"/>
                          <a:ea typeface="楷体" pitchFamily="49" charset="-122"/>
                          <a:sym typeface="Symbol"/>
                        </a:rPr>
                        <a:t></a:t>
                      </a:r>
                      <a:r>
                        <a:rPr lang="en-US" altLang="zh-CN" sz="2000" b="0" dirty="0" smtClean="0">
                          <a:latin typeface="楷体" pitchFamily="49" charset="-122"/>
                          <a:ea typeface="楷体" pitchFamily="49" charset="-122"/>
                        </a:rPr>
                        <a:t>p</a:t>
                      </a:r>
                      <a:endParaRPr lang="zh-CN" altLang="en-US" sz="2000" b="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latin typeface="楷体" pitchFamily="49" charset="-122"/>
                          <a:ea typeface="楷体" pitchFamily="49" charset="-122"/>
                        </a:rPr>
                        <a:t>否定式</a:t>
                      </a:r>
                      <a:endParaRPr lang="zh-CN" altLang="en-US" sz="2000" b="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楷体" pitchFamily="49" charset="-122"/>
                          <a:ea typeface="楷体" pitchFamily="49" charset="-122"/>
                        </a:rPr>
                        <a:t>q</a:t>
                      </a:r>
                      <a:r>
                        <a:rPr lang="zh-CN" altLang="en-US" sz="2000" dirty="0" smtClean="0">
                          <a:latin typeface="楷体" pitchFamily="49" charset="-122"/>
                          <a:ea typeface="楷体" pitchFamily="49" charset="-122"/>
                        </a:rPr>
                        <a:t>∧</a:t>
                      </a:r>
                      <a:r>
                        <a:rPr lang="en-US" altLang="zh-CN" sz="2000" dirty="0" smtClean="0">
                          <a:latin typeface="楷体" pitchFamily="49" charset="-122"/>
                          <a:ea typeface="楷体" pitchFamily="49" charset="-122"/>
                        </a:rPr>
                        <a:t>s</a:t>
                      </a:r>
                      <a:endParaRPr lang="zh-CN" altLang="en-US" sz="200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楷体" pitchFamily="49" charset="-122"/>
                          <a:ea typeface="楷体" pitchFamily="49" charset="-122"/>
                        </a:rPr>
                        <a:t>合取式</a:t>
                      </a:r>
                      <a:endParaRPr lang="zh-CN" altLang="en-US" sz="200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楷体" pitchFamily="49" charset="-122"/>
                          <a:ea typeface="楷体" pitchFamily="49" charset="-122"/>
                        </a:rPr>
                        <a:t>r</a:t>
                      </a:r>
                      <a:r>
                        <a:rPr lang="zh-CN" altLang="en-US" sz="2000" dirty="0" smtClean="0">
                          <a:latin typeface="楷体" pitchFamily="49" charset="-122"/>
                          <a:ea typeface="楷体" pitchFamily="49" charset="-122"/>
                        </a:rPr>
                        <a:t>∨</a:t>
                      </a:r>
                      <a:r>
                        <a:rPr lang="en-US" altLang="zh-CN" sz="2000" dirty="0" smtClean="0">
                          <a:latin typeface="楷体" pitchFamily="49" charset="-122"/>
                          <a:ea typeface="楷体" pitchFamily="49" charset="-122"/>
                        </a:rPr>
                        <a:t>s</a:t>
                      </a:r>
                      <a:endParaRPr lang="zh-CN" altLang="en-US" sz="200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楷体" pitchFamily="49" charset="-122"/>
                          <a:ea typeface="楷体" pitchFamily="49" charset="-122"/>
                        </a:rPr>
                        <a:t>析取式</a:t>
                      </a:r>
                      <a:endParaRPr lang="zh-CN" altLang="en-US" sz="200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 smtClean="0">
                          <a:latin typeface="楷体" pitchFamily="49" charset="-122"/>
                          <a:ea typeface="楷体" pitchFamily="49" charset="-122"/>
                        </a:rPr>
                        <a:t>p</a:t>
                      </a:r>
                      <a:r>
                        <a:rPr lang="en-US" altLang="zh-CN" sz="2000" dirty="0" err="1" smtClean="0">
                          <a:latin typeface="楷体" pitchFamily="49" charset="-122"/>
                          <a:ea typeface="楷体" pitchFamily="49" charset="-122"/>
                          <a:sym typeface="Symbol"/>
                        </a:rPr>
                        <a:t></a:t>
                      </a:r>
                      <a:r>
                        <a:rPr lang="en-US" altLang="zh-CN" sz="2000" dirty="0" err="1" smtClean="0">
                          <a:latin typeface="楷体" pitchFamily="49" charset="-122"/>
                          <a:ea typeface="楷体" pitchFamily="49" charset="-122"/>
                        </a:rPr>
                        <a:t>q</a:t>
                      </a:r>
                      <a:endParaRPr lang="zh-CN" altLang="en-US" sz="200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楷体" pitchFamily="49" charset="-122"/>
                          <a:ea typeface="楷体" pitchFamily="49" charset="-122"/>
                        </a:rPr>
                        <a:t>蕴涵式</a:t>
                      </a:r>
                      <a:endParaRPr lang="zh-CN" altLang="en-US" sz="200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 smtClean="0">
                          <a:latin typeface="楷体" pitchFamily="49" charset="-122"/>
                          <a:ea typeface="楷体" pitchFamily="49" charset="-122"/>
                        </a:rPr>
                        <a:t>q</a:t>
                      </a:r>
                      <a:r>
                        <a:rPr lang="en-US" altLang="zh-CN" sz="2000" dirty="0" err="1" smtClean="0">
                          <a:latin typeface="楷体" pitchFamily="49" charset="-122"/>
                          <a:ea typeface="楷体" pitchFamily="49" charset="-122"/>
                          <a:sym typeface="Symbol"/>
                        </a:rPr>
                        <a:t></a:t>
                      </a:r>
                      <a:r>
                        <a:rPr lang="en-US" altLang="zh-CN" sz="2000" dirty="0" err="1" smtClean="0">
                          <a:latin typeface="楷体" pitchFamily="49" charset="-122"/>
                          <a:ea typeface="楷体" pitchFamily="49" charset="-122"/>
                        </a:rPr>
                        <a:t>s</a:t>
                      </a:r>
                      <a:endParaRPr lang="zh-CN" altLang="en-US" sz="200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楷体" pitchFamily="49" charset="-122"/>
                          <a:ea typeface="楷体" pitchFamily="49" charset="-122"/>
                        </a:rPr>
                        <a:t>等值式</a:t>
                      </a:r>
                      <a:endParaRPr lang="zh-CN" altLang="en-US" sz="200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91680" y="4427820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+mn-ea"/>
              </a:rPr>
              <a:t>联结词的结合力按下述秩序递减：</a:t>
            </a:r>
            <a:endParaRPr lang="zh-CN" altLang="en-US" dirty="0">
              <a:latin typeface="+mn-ea"/>
            </a:endParaRPr>
          </a:p>
        </p:txBody>
      </p:sp>
      <p:sp>
        <p:nvSpPr>
          <p:cNvPr id="6" name="流程图: 卡片 5"/>
          <p:cNvSpPr/>
          <p:nvPr/>
        </p:nvSpPr>
        <p:spPr>
          <a:xfrm>
            <a:off x="3419872" y="4950460"/>
            <a:ext cx="2448272" cy="576064"/>
          </a:xfrm>
          <a:prstGeom prst="flowChartPunchedCar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563888" y="5022468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baseline="30000" dirty="0" smtClean="0">
                <a:sym typeface="Symbol" pitchFamily="18" charset="2"/>
              </a:rPr>
              <a:t></a:t>
            </a:r>
            <a:r>
              <a:rPr lang="zh-CN" altLang="en-US" b="1" dirty="0" smtClean="0"/>
              <a:t>，∧，∨，</a:t>
            </a:r>
            <a:r>
              <a:rPr lang="en-US" altLang="zh-CN" b="1" dirty="0" smtClean="0">
                <a:ea typeface="宋体" charset="-122"/>
                <a:sym typeface="Symbol" pitchFamily="18" charset="2"/>
              </a:rPr>
              <a:t></a:t>
            </a:r>
            <a:r>
              <a:rPr lang="zh-CN" altLang="en-US" b="1" dirty="0" smtClean="0"/>
              <a:t>，</a:t>
            </a:r>
            <a:r>
              <a:rPr lang="en-US" altLang="zh-CN" b="1" dirty="0" smtClean="0">
                <a:ea typeface="宋体" charset="-122"/>
                <a:sym typeface="Symbol" pitchFamily="18" charset="2"/>
              </a:rPr>
              <a:t></a:t>
            </a:r>
            <a:endParaRPr lang="zh-CN" altLang="en-US" b="1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云形 6"/>
          <p:cNvSpPr/>
          <p:nvPr/>
        </p:nvSpPr>
        <p:spPr>
          <a:xfrm>
            <a:off x="611560" y="2564904"/>
            <a:ext cx="1800200" cy="1008112"/>
          </a:xfrm>
          <a:prstGeom prst="cloud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指派与赋值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4928" y="1384176"/>
            <a:ext cx="8229600" cy="11807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真值形式是由命题变项使用真值联结词逐步生成的。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左右箭头标注 3"/>
          <p:cNvSpPr/>
          <p:nvPr/>
        </p:nvSpPr>
        <p:spPr>
          <a:xfrm>
            <a:off x="2627784" y="2492896"/>
            <a:ext cx="3672408" cy="1080120"/>
          </a:xfrm>
          <a:prstGeom prst="leftRightArrow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07904" y="2670011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真值形式</a:t>
            </a:r>
            <a:endParaRPr lang="en-US" altLang="zh-CN" sz="2400" dirty="0" smtClean="0">
              <a:latin typeface="华文行楷" pitchFamily="2" charset="-122"/>
              <a:ea typeface="华文行楷" pitchFamily="2" charset="-122"/>
            </a:endParaRPr>
          </a:p>
          <a:p>
            <a:pPr algn="ctr"/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的真值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2708920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命题变项的真值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云形 7"/>
          <p:cNvSpPr/>
          <p:nvPr/>
        </p:nvSpPr>
        <p:spPr>
          <a:xfrm>
            <a:off x="6588224" y="2564904"/>
            <a:ext cx="1800200" cy="1008112"/>
          </a:xfrm>
          <a:prstGeom prst="cloud">
            <a:avLst/>
          </a:prstGeom>
          <a:ln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876256" y="2708920"/>
            <a:ext cx="129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真值联结词的意义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1547664" y="3645024"/>
            <a:ext cx="0" cy="432000"/>
          </a:xfrm>
          <a:prstGeom prst="straightConnector1">
            <a:avLst/>
          </a:prstGeom>
          <a:ln w="57150">
            <a:solidFill>
              <a:srgbClr val="3366CC"/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7596336" y="3645072"/>
            <a:ext cx="0" cy="432000"/>
          </a:xfrm>
          <a:prstGeom prst="straightConnector1">
            <a:avLst/>
          </a:prstGeom>
          <a:ln w="57150">
            <a:solidFill>
              <a:srgbClr val="3366CC"/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7584" y="4437112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真值指派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64288" y="4437112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解释</a:t>
            </a:r>
          </a:p>
        </p:txBody>
      </p:sp>
      <p:sp>
        <p:nvSpPr>
          <p:cNvPr id="14" name="右中括号 13"/>
          <p:cNvSpPr/>
          <p:nvPr/>
        </p:nvSpPr>
        <p:spPr>
          <a:xfrm flipH="1">
            <a:off x="4572000" y="2348880"/>
            <a:ext cx="144016" cy="5616624"/>
          </a:xfrm>
          <a:prstGeom prst="rightBracket">
            <a:avLst/>
          </a:prstGeom>
          <a:ln w="38100">
            <a:solidFill>
              <a:srgbClr val="00B0F0"/>
            </a:solidFill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851920" y="5415607"/>
            <a:ext cx="14401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C00000"/>
                </a:solidFill>
                <a:latin typeface="华文琥珀" pitchFamily="2" charset="-122"/>
                <a:ea typeface="华文琥珀" pitchFamily="2" charset="-122"/>
              </a:rPr>
              <a:t>真值赋值</a:t>
            </a:r>
            <a:endParaRPr lang="zh-CN" altLang="en-US" sz="2400" dirty="0">
              <a:solidFill>
                <a:srgbClr val="C00000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build="p"/>
      <p:bldP spid="4" grpId="0" animBg="1"/>
      <p:bldP spid="5" grpId="0"/>
      <p:bldP spid="6" grpId="0"/>
      <p:bldP spid="8" grpId="0" animBg="1"/>
      <p:bldP spid="9" grpId="0"/>
      <p:bldP spid="12" grpId="0"/>
      <p:bldP spid="13" grpId="0"/>
      <p:bldP spid="14" grpId="0" animBg="1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57808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基本联结词的真值表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4" name="Group 55"/>
          <p:cNvGraphicFramePr>
            <a:graphicFrameLocks noGrp="1"/>
          </p:cNvGraphicFramePr>
          <p:nvPr/>
        </p:nvGraphicFramePr>
        <p:xfrm>
          <a:off x="971600" y="2003676"/>
          <a:ext cx="7056784" cy="279347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08621"/>
                <a:gridCol w="1006840"/>
                <a:gridCol w="1008621"/>
                <a:gridCol w="1008621"/>
                <a:gridCol w="1008621"/>
                <a:gridCol w="1006839"/>
                <a:gridCol w="1008621"/>
              </a:tblGrid>
              <a:tr h="558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q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30000" dirty="0" smtClean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p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</a:t>
                      </a:r>
                      <a:r>
                        <a:rPr kumimoji="0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∧</a:t>
                      </a: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q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</a:t>
                      </a:r>
                      <a:r>
                        <a:rPr kumimoji="0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∨</a:t>
                      </a: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q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</a:t>
                      </a: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q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p</a:t>
                      </a:r>
                      <a:r>
                        <a:rPr kumimoji="0" lang="en-US" altLang="zh-CN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  <a:sym typeface="Symbol" pitchFamily="18" charset="2"/>
                        </a:rPr>
                        <a:t></a:t>
                      </a:r>
                      <a:r>
                        <a:rPr kumimoji="0" lang="en-US" altLang="zh-CN" sz="24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q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</a:tr>
              <a:tr h="558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</a:tr>
              <a:tr h="558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</a:tr>
              <a:tr h="558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</a:tr>
              <a:tr h="558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Schoolbook" pitchFamily="18" charset="0"/>
                        <a:ea typeface="宋体" charset="-122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日常语言中复合命题的符号化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19672" y="1628800"/>
            <a:ext cx="2736304" cy="400110"/>
          </a:xfrm>
          <a:prstGeom prst="rect">
            <a:avLst/>
          </a:prstGeom>
          <a:ln w="38100">
            <a:solidFill>
              <a:srgbClr val="00B0F0"/>
            </a:solidFill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+mn-ea"/>
              </a:rPr>
              <a:t>日常语言中的简单命题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91680" y="2668850"/>
            <a:ext cx="2520280" cy="400110"/>
          </a:xfrm>
          <a:prstGeom prst="rect">
            <a:avLst/>
          </a:prstGeom>
          <a:ln w="38100">
            <a:solidFill>
              <a:srgbClr val="00B0F0"/>
            </a:solidFill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+mn-ea"/>
              </a:rPr>
              <a:t>日常语言中的联结词</a:t>
            </a:r>
            <a:endParaRPr lang="zh-CN" altLang="en-US" sz="2000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1680" y="3717032"/>
            <a:ext cx="2520280" cy="400110"/>
          </a:xfrm>
          <a:prstGeom prst="rect">
            <a:avLst/>
          </a:prstGeom>
          <a:ln w="38100">
            <a:solidFill>
              <a:srgbClr val="00B0F0"/>
            </a:solidFill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+mn-ea"/>
              </a:rPr>
              <a:t>日常语言表达的推理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4572000" y="1844824"/>
            <a:ext cx="864096" cy="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4572000" y="2852936"/>
            <a:ext cx="864096" cy="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4572000" y="3933056"/>
            <a:ext cx="864096" cy="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横卷形 13"/>
          <p:cNvSpPr/>
          <p:nvPr/>
        </p:nvSpPr>
        <p:spPr>
          <a:xfrm>
            <a:off x="5796136" y="1484784"/>
            <a:ext cx="1728192" cy="72008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012160" y="1628800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命题变项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6" name="横卷形 15"/>
          <p:cNvSpPr/>
          <p:nvPr/>
        </p:nvSpPr>
        <p:spPr>
          <a:xfrm>
            <a:off x="5724128" y="2492896"/>
            <a:ext cx="1944216" cy="72008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868144" y="2636912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真值联结词</a:t>
            </a:r>
          </a:p>
        </p:txBody>
      </p:sp>
      <p:sp>
        <p:nvSpPr>
          <p:cNvPr id="18" name="横卷形 17"/>
          <p:cNvSpPr/>
          <p:nvPr/>
        </p:nvSpPr>
        <p:spPr>
          <a:xfrm>
            <a:off x="5724128" y="3573016"/>
            <a:ext cx="1944216" cy="72008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68144" y="3717032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符号表达式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8" y="4407495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6600"/>
                </a:solidFill>
                <a:latin typeface="华文琥珀" pitchFamily="2" charset="-122"/>
                <a:ea typeface="华文琥珀" pitchFamily="2" charset="-122"/>
              </a:rPr>
              <a:t>例如：</a:t>
            </a:r>
            <a:endParaRPr lang="zh-CN" altLang="en-US" sz="2400" dirty="0">
              <a:solidFill>
                <a:srgbClr val="006600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35696" y="4797152"/>
            <a:ext cx="583264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“如果主动坦白交代，则既往不咎。如果不主动坦白交代，则将严惩不逮。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”</a:t>
            </a:r>
          </a:p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491880" y="5589240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  <a:sym typeface="Symbol"/>
              </a:rPr>
              <a:t>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q</a:t>
            </a:r>
            <a:r>
              <a:rPr lang="en-US" altLang="zh-CN" sz="20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0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∧</a:t>
            </a:r>
            <a:r>
              <a:rPr lang="en-US" altLang="zh-CN" sz="20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000" b="1" baseline="30000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  <a:sym typeface="Symbol"/>
              </a:rPr>
              <a:t>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  <a:sym typeface="Symbol"/>
              </a:rPr>
              <a:t>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r</a:t>
            </a:r>
            <a:r>
              <a:rPr lang="en-US" altLang="zh-CN" sz="20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)</a:t>
            </a:r>
            <a:endParaRPr lang="zh-CN" altLang="en-US" sz="2000" b="1" dirty="0">
              <a:solidFill>
                <a:srgbClr val="C00000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/>
      <p:bldP spid="21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第二章 命题逻辑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真值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联结词和真值形式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重言式及其判定方法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重言蕴涵式和重言等值式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命题逻辑的自然推理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59832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日常联结词和复合命题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五角星 16"/>
          <p:cNvSpPr/>
          <p:nvPr/>
        </p:nvSpPr>
        <p:spPr>
          <a:xfrm>
            <a:off x="2195736" y="1844824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五角星 17"/>
          <p:cNvSpPr/>
          <p:nvPr/>
        </p:nvSpPr>
        <p:spPr>
          <a:xfrm>
            <a:off x="2195736" y="2708920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五角星 18"/>
          <p:cNvSpPr/>
          <p:nvPr/>
        </p:nvSpPr>
        <p:spPr>
          <a:xfrm>
            <a:off x="2195736" y="3645024"/>
            <a:ext cx="504056" cy="504056"/>
          </a:xfrm>
          <a:prstGeom prst="star5">
            <a:avLst/>
          </a:pr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五角星 19"/>
          <p:cNvSpPr/>
          <p:nvPr/>
        </p:nvSpPr>
        <p:spPr>
          <a:xfrm>
            <a:off x="2195736" y="4509120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五角星 20"/>
          <p:cNvSpPr/>
          <p:nvPr/>
        </p:nvSpPr>
        <p:spPr>
          <a:xfrm>
            <a:off x="2195736" y="5373216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真值形式的类型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流程图: 顺序访问存储器 4"/>
          <p:cNvSpPr/>
          <p:nvPr/>
        </p:nvSpPr>
        <p:spPr>
          <a:xfrm>
            <a:off x="1187624" y="1700808"/>
            <a:ext cx="1512168" cy="936104"/>
          </a:xfrm>
          <a:prstGeom prst="flowChartMagneticTap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403648" y="195922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重言式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31840" y="1988840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一真值形式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A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是重言式，当且仅当，对于任一真值赋值，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A</a:t>
            </a:r>
            <a:r>
              <a:rPr lang="zh-CN" altLang="en-US" b="1" dirty="0" smtClean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恒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取值为</a:t>
            </a:r>
            <a:r>
              <a:rPr lang="zh-CN" altLang="en-US" b="1" dirty="0" smtClean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真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8" name="流程图: 顺序访问存储器 7"/>
          <p:cNvSpPr/>
          <p:nvPr/>
        </p:nvSpPr>
        <p:spPr>
          <a:xfrm>
            <a:off x="1187624" y="3140968"/>
            <a:ext cx="1512168" cy="936104"/>
          </a:xfrm>
          <a:prstGeom prst="flowChartMagneticTap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403648" y="339938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矛盾式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31840" y="3430741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一真值形式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A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是矛盾式，当且仅当，对于任一真值赋值，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A</a:t>
            </a:r>
            <a:r>
              <a:rPr lang="zh-CN" altLang="en-US" b="1" dirty="0" smtClean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恒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取值为</a:t>
            </a:r>
            <a:r>
              <a:rPr lang="zh-CN" altLang="en-US" b="1" dirty="0" smtClean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假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1" name="流程图: 顺序访问存储器 10"/>
          <p:cNvSpPr/>
          <p:nvPr/>
        </p:nvSpPr>
        <p:spPr>
          <a:xfrm>
            <a:off x="1187624" y="4653136"/>
            <a:ext cx="1512168" cy="936104"/>
          </a:xfrm>
          <a:prstGeom prst="flowChartMagneticTap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403648" y="491155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偶真式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31840" y="4942909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一真值形式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A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是偶真式，当且仅当，对于</a:t>
            </a:r>
            <a:r>
              <a:rPr lang="zh-CN" altLang="en-US" b="1" dirty="0" smtClean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某些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真值赋值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A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取值为</a:t>
            </a:r>
            <a:r>
              <a:rPr lang="zh-CN" altLang="en-US" b="1" dirty="0" smtClean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真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，对于</a:t>
            </a:r>
            <a:r>
              <a:rPr lang="zh-CN" altLang="en-US" b="1" dirty="0" smtClean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另一些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真值赋值</a:t>
            </a:r>
            <a:r>
              <a:rPr lang="en-US" altLang="zh-CN" dirty="0" smtClean="0">
                <a:latin typeface="华文楷体" pitchFamily="2" charset="-122"/>
                <a:ea typeface="华文楷体" pitchFamily="2" charset="-122"/>
              </a:rPr>
              <a:t>A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取值为</a:t>
            </a:r>
            <a:r>
              <a:rPr lang="zh-CN" altLang="en-US" b="1" dirty="0" smtClean="0">
                <a:solidFill>
                  <a:srgbClr val="0070C0"/>
                </a:solidFill>
                <a:latin typeface="华文楷体" pitchFamily="2" charset="-122"/>
                <a:ea typeface="华文楷体" pitchFamily="2" charset="-122"/>
              </a:rPr>
              <a:t>假</a:t>
            </a: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36096" y="234888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p</a:t>
            </a:r>
            <a:r>
              <a:rPr lang="en-US" altLang="zh-CN" dirty="0" err="1" smtClean="0">
                <a:sym typeface="Symbol" pitchFamily="18" charset="2"/>
              </a:rPr>
              <a:t></a:t>
            </a:r>
            <a:r>
              <a:rPr lang="en-US" altLang="zh-CN" dirty="0" err="1" smtClean="0"/>
              <a:t>p</a:t>
            </a:r>
            <a:r>
              <a:rPr lang="zh-CN" altLang="en-US" dirty="0" smtClean="0"/>
              <a:t>，</a:t>
            </a:r>
            <a:r>
              <a:rPr lang="en-US" altLang="zh-CN" baseline="30000" dirty="0" smtClean="0">
                <a:ea typeface="宋体" charset="-122"/>
                <a:sym typeface="Symbol" pitchFamily="18" charset="2"/>
              </a:rPr>
              <a:t></a:t>
            </a:r>
            <a:r>
              <a:rPr lang="en-US" altLang="zh-CN" dirty="0" smtClean="0"/>
              <a:t>(p</a:t>
            </a:r>
            <a:r>
              <a:rPr lang="zh-CN" altLang="en-US" dirty="0" smtClean="0"/>
              <a:t>∧</a:t>
            </a:r>
            <a:r>
              <a:rPr lang="en-US" altLang="zh-CN" baseline="30000" dirty="0" smtClean="0">
                <a:sym typeface="Symbol" pitchFamily="18" charset="2"/>
              </a:rPr>
              <a:t></a:t>
            </a:r>
            <a:r>
              <a:rPr lang="en-US" altLang="zh-CN" dirty="0" smtClean="0"/>
              <a:t>p)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</a:t>
            </a:r>
            <a:r>
              <a:rPr lang="zh-CN" altLang="en-US" dirty="0" smtClean="0"/>
              <a:t>∨</a:t>
            </a:r>
            <a:r>
              <a:rPr lang="en-US" altLang="zh-CN" baseline="30000" dirty="0" smtClean="0">
                <a:sym typeface="Symbol" pitchFamily="18" charset="2"/>
              </a:rPr>
              <a:t></a:t>
            </a:r>
            <a:r>
              <a:rPr lang="en-US" altLang="zh-CN" dirty="0" smtClean="0"/>
              <a:t>p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436096" y="3861048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</a:t>
            </a:r>
            <a:r>
              <a:rPr lang="zh-CN" altLang="en-US" dirty="0" smtClean="0"/>
              <a:t>∧</a:t>
            </a:r>
            <a:r>
              <a:rPr lang="en-US" altLang="zh-CN" baseline="30000" dirty="0" smtClean="0">
                <a:sym typeface="Symbol" pitchFamily="18" charset="2"/>
              </a:rPr>
              <a:t>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p</a:t>
            </a:r>
            <a:r>
              <a:rPr lang="en-US" altLang="zh-CN" dirty="0" err="1" smtClean="0">
                <a:sym typeface="Symbol" pitchFamily="18" charset="2"/>
              </a:rPr>
              <a:t></a:t>
            </a:r>
            <a:r>
              <a:rPr lang="en-US" altLang="zh-CN" dirty="0" err="1" smtClean="0"/>
              <a:t>q</a:t>
            </a:r>
            <a:r>
              <a:rPr lang="en-US" altLang="zh-CN" dirty="0" smtClean="0"/>
              <a:t>)</a:t>
            </a:r>
            <a:r>
              <a:rPr lang="zh-CN" altLang="en-US" dirty="0" smtClean="0"/>
              <a:t>∧</a:t>
            </a:r>
            <a:r>
              <a:rPr lang="en-US" altLang="zh-CN" dirty="0" smtClean="0"/>
              <a:t>(p</a:t>
            </a:r>
            <a:r>
              <a:rPr lang="zh-CN" altLang="en-US" dirty="0" smtClean="0"/>
              <a:t>∧</a:t>
            </a:r>
            <a:r>
              <a:rPr lang="en-US" altLang="zh-CN" baseline="30000" dirty="0" smtClean="0">
                <a:sym typeface="Symbol" pitchFamily="18" charset="2"/>
              </a:rPr>
              <a:t></a:t>
            </a:r>
            <a:r>
              <a:rPr lang="en-US" altLang="zh-CN" dirty="0" smtClean="0"/>
              <a:t>q)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436096" y="565195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q</a:t>
            </a:r>
            <a:r>
              <a:rPr lang="en-US" altLang="zh-CN" smtClean="0">
                <a:sym typeface="Symbol" pitchFamily="18" charset="2"/>
              </a:rPr>
              <a:t></a:t>
            </a:r>
            <a:r>
              <a:rPr lang="en-US" altLang="zh-CN" smtClean="0"/>
              <a:t>(</a:t>
            </a:r>
            <a:r>
              <a:rPr lang="en-US" altLang="zh-CN" dirty="0" smtClean="0"/>
              <a:t>s</a:t>
            </a:r>
            <a:r>
              <a:rPr lang="zh-CN" altLang="en-US" dirty="0" smtClean="0"/>
              <a:t>∧</a:t>
            </a:r>
            <a:r>
              <a:rPr lang="en-US" altLang="zh-CN" dirty="0" smtClean="0"/>
              <a:t>t)</a:t>
            </a:r>
            <a:endParaRPr lang="zh-CN" altLang="en-US" dirty="0"/>
          </a:p>
        </p:txBody>
      </p:sp>
      <p:sp>
        <p:nvSpPr>
          <p:cNvPr id="17" name="十字星 16"/>
          <p:cNvSpPr/>
          <p:nvPr/>
        </p:nvSpPr>
        <p:spPr>
          <a:xfrm>
            <a:off x="611560" y="1988840"/>
            <a:ext cx="360040" cy="360040"/>
          </a:xfrm>
          <a:prstGeom prst="star4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重言式的判定程序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844825"/>
            <a:ext cx="8352928" cy="2088232"/>
          </a:xfrm>
        </p:spPr>
        <p:txBody>
          <a:bodyPr>
            <a:normAutofit fontScale="92500"/>
          </a:bodyPr>
          <a:lstStyle/>
          <a:p>
            <a:pPr lvl="1">
              <a:lnSpc>
                <a:spcPct val="150000"/>
              </a:lnSpc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）程序的每一步都是由一套事先给定的规则明确规定好了的，该规则规定了第一步如何做，以及在某一步完成之后下一步又如何做；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）该程序能够在有穷步内结束；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）对于所判定的对象是否具有某性质，该程序给出唯一确定的结果。</a:t>
            </a: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383159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u="sng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需要满足的要求：</a:t>
            </a:r>
            <a:endParaRPr lang="zh-CN" altLang="en-US" sz="2400" u="sng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折角形 4"/>
          <p:cNvSpPr/>
          <p:nvPr/>
        </p:nvSpPr>
        <p:spPr>
          <a:xfrm>
            <a:off x="3635896" y="4221088"/>
            <a:ext cx="2016224" cy="576064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779912" y="4293096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真值表方法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折角形 7"/>
          <p:cNvSpPr/>
          <p:nvPr/>
        </p:nvSpPr>
        <p:spPr>
          <a:xfrm>
            <a:off x="1547664" y="5229200"/>
            <a:ext cx="2016224" cy="576064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691680" y="5301208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归谬赋值法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折角形 9"/>
          <p:cNvSpPr/>
          <p:nvPr/>
        </p:nvSpPr>
        <p:spPr>
          <a:xfrm>
            <a:off x="5724128" y="5229200"/>
            <a:ext cx="2016224" cy="576064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68144" y="5301208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树形图方法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真值表方法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52536" y="1384176"/>
            <a:ext cx="9144000" cy="2764904"/>
          </a:xfrm>
        </p:spPr>
        <p:txBody>
          <a:bodyPr/>
          <a:lstStyle/>
          <a:p>
            <a:pPr lvl="1">
              <a:lnSpc>
                <a:spcPct val="150000"/>
              </a:lnSpc>
              <a:buNone/>
            </a:pPr>
            <a:r>
              <a:rPr lang="zh-CN" altLang="en-US" sz="18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18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1800" dirty="0" smtClean="0">
                <a:latin typeface="楷体" pitchFamily="49" charset="-122"/>
                <a:ea typeface="楷体" pitchFamily="49" charset="-122"/>
              </a:rPr>
              <a:t>）找出该公式中所有不同的命题变项，并竖行列出它们之间所有可能的真值组合。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18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18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1800" dirty="0" smtClean="0">
                <a:latin typeface="楷体" pitchFamily="49" charset="-122"/>
                <a:ea typeface="楷体" pitchFamily="49" charset="-122"/>
              </a:rPr>
              <a:t>）按照该公式的生成次序，由简单到复杂横行列出该公式的所有子公式，直至该公式本身。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18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18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1800" dirty="0" smtClean="0">
                <a:latin typeface="楷体" pitchFamily="49" charset="-122"/>
                <a:ea typeface="楷体" pitchFamily="49" charset="-122"/>
              </a:rPr>
              <a:t>）按照上面给定的真值联结词的真值表，由命题变项的真值逐步计算出各个子公式的真值，直至该公式本身的真值。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3888" y="3645024"/>
            <a:ext cx="2088232" cy="504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n-US" altLang="zh-CN" sz="24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400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q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)</a:t>
            </a:r>
            <a:r>
              <a:rPr lang="zh-CN" altLang="zh-CN" sz="24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∧</a:t>
            </a:r>
            <a:r>
              <a:rPr lang="en-US" altLang="zh-CN" sz="2400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2400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dirty="0" err="1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q</a:t>
            </a:r>
            <a:endParaRPr lang="zh-CN" altLang="zh-CN" sz="2400" dirty="0" smtClean="0">
              <a:latin typeface="华文新魏" pitchFamily="2" charset="-122"/>
              <a:ea typeface="华文新魏" pitchFamily="2" charset="-122"/>
              <a:cs typeface="Times New Roman" pitchFamily="18" charset="0"/>
            </a:endParaRPr>
          </a:p>
          <a:p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03648" y="4437112"/>
          <a:ext cx="1800200" cy="3657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00100"/>
                <a:gridCol w="900100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p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q</a:t>
                      </a:r>
                      <a:endParaRPr lang="zh-CN" altLang="en-US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403648" y="4797152"/>
          <a:ext cx="1800200" cy="148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00100"/>
                <a:gridCol w="9001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1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smtClean="0"/>
                        <a:t>1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203847" y="4437112"/>
          <a:ext cx="4464497" cy="370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52129"/>
                <a:gridCol w="1584176"/>
                <a:gridCol w="1728192"/>
              </a:tblGrid>
              <a:tr h="370840"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q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)</a:t>
                      </a:r>
                      <a:r>
                        <a:rPr kumimoji="0" lang="zh-CN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∧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p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)</a:t>
                      </a:r>
                      <a:r>
                        <a:rPr kumimoji="0" lang="zh-CN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∧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华文新魏" pitchFamily="2" charset="-122"/>
                          <a:cs typeface="Times New Roman" pitchFamily="18" charset="0"/>
                        </a:rPr>
                        <a:t>q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华文新魏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203848" y="4797152"/>
          <a:ext cx="4464496" cy="148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52128"/>
                <a:gridCol w="1584176"/>
                <a:gridCol w="1728192"/>
              </a:tblGrid>
              <a:tr h="370840"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</a:tbl>
          </a:graphicData>
        </a:graphic>
      </p:graphicFrame>
      <p:sp>
        <p:nvSpPr>
          <p:cNvPr id="9" name="右中括号 8"/>
          <p:cNvSpPr/>
          <p:nvPr/>
        </p:nvSpPr>
        <p:spPr>
          <a:xfrm>
            <a:off x="7812360" y="4941168"/>
            <a:ext cx="144016" cy="1152128"/>
          </a:xfrm>
          <a:prstGeom prst="rightBracket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028384" y="4797152"/>
            <a:ext cx="5760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50"/>
                </a:solidFill>
                <a:latin typeface="华文新魏" pitchFamily="2" charset="-122"/>
                <a:ea typeface="华文新魏" pitchFamily="2" charset="-122"/>
              </a:rPr>
              <a:t>重</a:t>
            </a:r>
            <a:endParaRPr lang="en-US" altLang="zh-CN" sz="2800" b="1" dirty="0" smtClean="0">
              <a:solidFill>
                <a:srgbClr val="00B050"/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2800" b="1" dirty="0" smtClean="0">
                <a:solidFill>
                  <a:srgbClr val="00B050"/>
                </a:solidFill>
                <a:latin typeface="华文新魏" pitchFamily="2" charset="-122"/>
                <a:ea typeface="华文新魏" pitchFamily="2" charset="-122"/>
              </a:rPr>
              <a:t>言</a:t>
            </a:r>
            <a:endParaRPr lang="en-US" altLang="zh-CN" sz="2800" b="1" dirty="0" smtClean="0">
              <a:solidFill>
                <a:srgbClr val="00B050"/>
              </a:solidFill>
              <a:latin typeface="华文新魏" pitchFamily="2" charset="-122"/>
              <a:ea typeface="华文新魏" pitchFamily="2" charset="-122"/>
            </a:endParaRPr>
          </a:p>
          <a:p>
            <a:r>
              <a:rPr lang="zh-CN" altLang="en-US" sz="2800" b="1" dirty="0" smtClean="0">
                <a:solidFill>
                  <a:srgbClr val="00B050"/>
                </a:solidFill>
                <a:latin typeface="华文新魏" pitchFamily="2" charset="-122"/>
                <a:ea typeface="华文新魏" pitchFamily="2" charset="-122"/>
              </a:rPr>
              <a:t>式</a:t>
            </a:r>
            <a:endParaRPr lang="zh-CN" altLang="en-US" sz="2800" b="1" dirty="0">
              <a:solidFill>
                <a:srgbClr val="00B05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9" grpId="0" animBg="1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常用重言式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11560" y="1412776"/>
          <a:ext cx="7920880" cy="48209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619022"/>
                <a:gridCol w="430185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[14]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[2]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[15]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[3]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baseline="30000" dirty="0" smtClean="0">
                          <a:latin typeface="+mn-lt"/>
                          <a:ea typeface="宋体" charset="-122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[16]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[4]</a:t>
                      </a:r>
                      <a:r>
                        <a:rPr lang="en-US" altLang="zh-CN" sz="1800" b="0" dirty="0" smtClean="0">
                          <a:latin typeface="+mn-lt"/>
                          <a:ea typeface="宋体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 </a:t>
                      </a:r>
                      <a:endParaRPr lang="zh-CN" altLang="en-US" sz="1800" b="0" dirty="0" smtClean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[17]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[5]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endParaRPr lang="zh-CN" altLang="en-US" sz="1800" b="0" dirty="0" smtClean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[18]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[6]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A)</a:t>
                      </a:r>
                      <a:endParaRPr lang="zh-CN" altLang="en-US" sz="1800" b="0" dirty="0" smtClean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[19]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 smtClean="0"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[7]</a:t>
                      </a:r>
                      <a:r>
                        <a:rPr lang="en-US" altLang="zh-CN" sz="1800" b="0" baseline="0" dirty="0" smtClean="0"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endParaRPr lang="zh-CN" altLang="en-US" sz="1800" b="0" dirty="0" smtClean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[20]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[8]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sz="1800" b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</a:t>
                      </a:r>
                      <a:endParaRPr lang="zh-CN" altLang="en-US" sz="1800" b="0" dirty="0" smtClean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[21]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((C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D)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</a:t>
                      </a:r>
                      <a:r>
                        <a:rPr lang="zh-CN" altLang="en-US" sz="1800" b="0" dirty="0" smtClean="0">
                          <a:latin typeface="+mn-lt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D))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[9]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[22]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[10]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[23]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A)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[11]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[24]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[12]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[25]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((C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D)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D)))</a:t>
                      </a:r>
                      <a:endParaRPr lang="zh-CN" altLang="en-US" sz="1800" b="0" dirty="0" smtClean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[13]</a:t>
                      </a:r>
                      <a:r>
                        <a:rPr lang="en-US" altLang="zh-CN" sz="1800" b="0" baseline="0" dirty="0" smtClean="0"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C))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+mn-lt"/>
                          <a:cs typeface="Times New Roman" pitchFamily="18" charset="0"/>
                        </a:rPr>
                        <a:t>C) </a:t>
                      </a:r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b="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归谬赋值法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2348294"/>
            <a:ext cx="842493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 smtClean="0"/>
              <a:t>        若</a:t>
            </a:r>
            <a:r>
              <a:rPr lang="zh-CN" altLang="en-US" sz="2000" b="1" u="sng" dirty="0" smtClean="0">
                <a:solidFill>
                  <a:srgbClr val="C00000"/>
                </a:solidFill>
              </a:rPr>
              <a:t>假设</a:t>
            </a:r>
            <a:r>
              <a:rPr lang="en-US" altLang="zh-CN" sz="2000" dirty="0" smtClean="0"/>
              <a:t>A</a:t>
            </a:r>
            <a:r>
              <a:rPr lang="zh-CN" altLang="en-US" sz="2000" b="1" u="sng" dirty="0" smtClean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不是重言式</a:t>
            </a:r>
            <a:r>
              <a:rPr lang="zh-CN" altLang="en-US" sz="2000" dirty="0" smtClean="0"/>
              <a:t>，即可以为假，然后按照联结词的真值表，逐步逆推出其中各个子公式应该取的真值，直至逆推出其中所含的命题变项的真值，看能否在子公式或命题变项上导致矛盾的赋值：必须对同一个子公式或命题变项既指派真又指派假。</a:t>
            </a:r>
            <a:endParaRPr lang="en-US" altLang="zh-CN" sz="2000" dirty="0" smtClean="0"/>
          </a:p>
          <a:p>
            <a:pPr lvl="1">
              <a:lnSpc>
                <a:spcPct val="150000"/>
              </a:lnSpc>
            </a:pPr>
            <a:r>
              <a:rPr lang="zh-CN" altLang="en-US" sz="2000" dirty="0" smtClean="0"/>
              <a:t>         根据归谬法，从一个</a:t>
            </a:r>
            <a:r>
              <a:rPr lang="zh-CN" altLang="en-US" sz="2000" b="1" i="1" u="sng" dirty="0" smtClean="0">
                <a:solidFill>
                  <a:srgbClr val="C00000"/>
                </a:solidFill>
              </a:rPr>
              <a:t>假设导致矛盾</a:t>
            </a:r>
            <a:r>
              <a:rPr lang="zh-CN" altLang="en-US" sz="2000" dirty="0" smtClean="0"/>
              <a:t>，而矛盾肯定不成立，因此原假设不成立，该公式不可能为假，恒为真，</a:t>
            </a:r>
            <a:r>
              <a:rPr lang="zh-CN" altLang="en-US" sz="2000" b="1" u="sng" dirty="0" smtClean="0">
                <a:solidFill>
                  <a:srgbClr val="3366CC"/>
                </a:solidFill>
                <a:latin typeface="楷体" pitchFamily="49" charset="-122"/>
                <a:ea typeface="楷体" pitchFamily="49" charset="-122"/>
              </a:rPr>
              <a:t>是重言式</a:t>
            </a:r>
            <a:r>
              <a:rPr lang="zh-CN" altLang="en-US" sz="2000" dirty="0" smtClean="0"/>
              <a:t>。</a:t>
            </a:r>
          </a:p>
          <a:p>
            <a:pPr lvl="1">
              <a:lnSpc>
                <a:spcPct val="150000"/>
              </a:lnSpc>
              <a:buNone/>
            </a:pPr>
            <a:endParaRPr lang="zh-CN" altLang="en-US" sz="2000" dirty="0" smtClean="0"/>
          </a:p>
          <a:p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1628800"/>
            <a:ext cx="1440160" cy="461665"/>
          </a:xfrm>
          <a:prstGeom prst="rect">
            <a:avLst/>
          </a:prstGeom>
          <a:ln w="28575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基本原理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归谬赋值法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84177"/>
            <a:ext cx="8229600" cy="362899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）写出所要判定的公式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；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）在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的主联结词下写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；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）按照联结词的真值表，由主联结词的真值逐步逆推出其中子公式的真值，在相应子公式下写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或者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，并按此办法依次进行下去。在一子公式下写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或者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，也就是在它的主联结词下写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或者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；如果这个公式是命题变项，则在该变项下写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或者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）检查赋值中是否出现矛盾。若出现矛盾，为醒目起见，在互相矛盾的赋值下面置一短横线。这表明该公式不可能为假，必定是重言式。若未出现矛盾，则表明该公式可以为假，不是重言式。</a:t>
            </a: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5736" y="5013176"/>
            <a:ext cx="4896544" cy="576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((p</a:t>
            </a:r>
            <a:r>
              <a:rPr lang="zh-CN" altLang="en-US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∧</a:t>
            </a:r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q</a:t>
            </a:r>
            <a:r>
              <a:rPr lang="zh-CN" altLang="en-US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∧</a:t>
            </a:r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r)</a:t>
            </a:r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s)</a:t>
            </a:r>
            <a:r>
              <a:rPr lang="en-US" altLang="zh-CN" sz="240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400" baseline="3000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s</a:t>
            </a:r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(p</a:t>
            </a:r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(</a:t>
            </a:r>
            <a:r>
              <a:rPr lang="en-US" altLang="zh-CN" sz="240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q</a:t>
            </a:r>
            <a:r>
              <a:rPr lang="en-US" altLang="zh-CN" sz="240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aseline="3000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r</a:t>
            </a:r>
            <a:r>
              <a:rPr lang="en-US" altLang="zh-CN" sz="2400" dirty="0" smtClean="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)))</a:t>
            </a:r>
          </a:p>
          <a:p>
            <a:endParaRPr lang="zh-CN" altLang="en-US" sz="2400" dirty="0" smtClean="0">
              <a:solidFill>
                <a:schemeClr val="dk1"/>
              </a:solidFill>
              <a:latin typeface="华文新魏" pitchFamily="2" charset="-122"/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11960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635896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60032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436096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99992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644008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012160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220072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228184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796136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372200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411760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15816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347864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923928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699792" y="565195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131840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699792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 smtClean="0"/>
              <a:t>1</a:t>
            </a:r>
            <a:endParaRPr lang="zh-CN" altLang="en-US" u="sng" dirty="0"/>
          </a:p>
        </p:txBody>
      </p:sp>
      <p:sp>
        <p:nvSpPr>
          <p:cNvPr id="23" name="TextBox 22"/>
          <p:cNvSpPr txBox="1"/>
          <p:nvPr/>
        </p:nvSpPr>
        <p:spPr>
          <a:xfrm>
            <a:off x="3131840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 smtClean="0"/>
              <a:t>1</a:t>
            </a:r>
            <a:endParaRPr lang="zh-CN" altLang="en-US" u="sng" dirty="0"/>
          </a:p>
        </p:txBody>
      </p:sp>
      <p:sp>
        <p:nvSpPr>
          <p:cNvPr id="24" name="TextBox 23"/>
          <p:cNvSpPr txBox="1"/>
          <p:nvPr/>
        </p:nvSpPr>
        <p:spPr>
          <a:xfrm>
            <a:off x="3635896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 smtClean="0"/>
              <a:t>1</a:t>
            </a:r>
            <a:endParaRPr lang="zh-CN" altLang="en-US" u="sng" dirty="0"/>
          </a:p>
        </p:txBody>
      </p:sp>
      <p:sp>
        <p:nvSpPr>
          <p:cNvPr id="25" name="TextBox 24"/>
          <p:cNvSpPr txBox="1"/>
          <p:nvPr/>
        </p:nvSpPr>
        <p:spPr>
          <a:xfrm>
            <a:off x="3923928" y="56612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 smtClean="0"/>
              <a:t>0</a:t>
            </a:r>
            <a:endParaRPr lang="zh-CN" altLang="en-US" u="sng" dirty="0"/>
          </a:p>
        </p:txBody>
      </p:sp>
      <p:sp>
        <p:nvSpPr>
          <p:cNvPr id="26" name="TextBox 25"/>
          <p:cNvSpPr txBox="1"/>
          <p:nvPr/>
        </p:nvSpPr>
        <p:spPr>
          <a:xfrm>
            <a:off x="6660232" y="5949280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50"/>
                </a:solidFill>
                <a:latin typeface="华文新魏" pitchFamily="2" charset="-122"/>
                <a:ea typeface="华文新魏" pitchFamily="2" charset="-122"/>
              </a:rPr>
              <a:t>重言式</a:t>
            </a:r>
            <a:endParaRPr lang="zh-CN" altLang="en-US" sz="2800" b="1" dirty="0">
              <a:solidFill>
                <a:srgbClr val="00B05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6" grpId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1"/>
      <p:bldP spid="19" grpId="2"/>
      <p:bldP spid="20" grpId="0"/>
      <p:bldP spid="20" grpId="1"/>
      <p:bldP spid="21" grpId="0"/>
      <p:bldP spid="21" grpId="1"/>
      <p:bldP spid="22" grpId="0"/>
      <p:bldP spid="23" grpId="0"/>
      <p:bldP spid="24" grpId="0"/>
      <p:bldP spid="25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复杂情形的处理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03648" y="1527175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…A</a:t>
            </a:r>
            <a:r>
              <a:rPr lang="zh-CN" altLang="en-US" sz="2400" dirty="0" smtClean="0"/>
              <a:t>∧</a:t>
            </a:r>
            <a:r>
              <a:rPr lang="en-US" altLang="zh-CN" sz="2400" dirty="0" smtClean="0"/>
              <a:t>B…</a:t>
            </a:r>
            <a:endParaRPr lang="zh-CN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835696" y="202193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0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99792" y="1527175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…A</a:t>
            </a:r>
            <a:r>
              <a:rPr lang="zh-CN" altLang="en-US" sz="2400" dirty="0" smtClean="0"/>
              <a:t>∨</a:t>
            </a:r>
            <a:r>
              <a:rPr lang="en-US" altLang="zh-CN" sz="2400" dirty="0" smtClean="0"/>
              <a:t>B…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203848" y="2031231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1</a:t>
            </a:r>
            <a:endParaRPr lang="zh-CN" alt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3995936" y="1527175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…A</a:t>
            </a:r>
            <a:r>
              <a:rPr lang="en-US" altLang="zh-CN" sz="2400" dirty="0" smtClean="0">
                <a:sym typeface="Symbol" pitchFamily="18" charset="2"/>
              </a:rPr>
              <a:t></a:t>
            </a:r>
            <a:r>
              <a:rPr lang="en-US" altLang="zh-CN" sz="2400" dirty="0" smtClean="0"/>
              <a:t>B…</a:t>
            </a:r>
            <a:endParaRPr lang="zh-CN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427984" y="202193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1</a:t>
            </a:r>
            <a:endParaRPr lang="zh-CN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292080" y="1527175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…A</a:t>
            </a:r>
            <a:r>
              <a:rPr lang="en-US" altLang="zh-CN" sz="2400" dirty="0" smtClean="0">
                <a:sym typeface="Symbol" pitchFamily="18" charset="2"/>
              </a:rPr>
              <a:t></a:t>
            </a:r>
            <a:r>
              <a:rPr lang="en-US" altLang="zh-CN" sz="2400" dirty="0" smtClean="0"/>
              <a:t>B…</a:t>
            </a:r>
            <a:endParaRPr lang="zh-CN" alt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5724128" y="2021939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1</a:t>
            </a:r>
            <a:endParaRPr lang="zh-CN" alt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6588224" y="152717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…A</a:t>
            </a:r>
            <a:r>
              <a:rPr lang="en-US" altLang="zh-CN" sz="2400" dirty="0" smtClean="0">
                <a:sym typeface="Symbol" pitchFamily="18" charset="2"/>
              </a:rPr>
              <a:t></a:t>
            </a:r>
            <a:r>
              <a:rPr lang="en-US" altLang="zh-CN" sz="2400" dirty="0" smtClean="0"/>
              <a:t>B…</a:t>
            </a:r>
            <a:endParaRPr lang="zh-CN" alt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7020272" y="2001614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0</a:t>
            </a:r>
            <a:endParaRPr lang="zh-CN" altLang="en-US" sz="2400" dirty="0"/>
          </a:p>
        </p:txBody>
      </p:sp>
      <p:sp>
        <p:nvSpPr>
          <p:cNvPr id="15" name="内容占位符 1"/>
          <p:cNvSpPr>
            <a:spLocks noGrp="1"/>
          </p:cNvSpPr>
          <p:nvPr>
            <p:ph idx="1"/>
          </p:nvPr>
        </p:nvSpPr>
        <p:spPr>
          <a:xfrm>
            <a:off x="323528" y="2564904"/>
            <a:ext cx="8229600" cy="4516636"/>
          </a:xfrm>
        </p:spPr>
        <p:txBody>
          <a:bodyPr>
            <a:normAutofit/>
          </a:bodyPr>
          <a:lstStyle/>
          <a:p>
            <a:pPr eaLnBrk="1" hangingPunct="1">
              <a:lnSpc>
                <a:spcPct val="200000"/>
              </a:lnSpc>
              <a:buNone/>
            </a:pP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      当不能根据待判定公式中的其他赋值确定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的赋值或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的赋值时，就需要</a:t>
            </a:r>
            <a:r>
              <a:rPr lang="zh-CN" altLang="en-US" sz="2400" b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考虑各种可能的选择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，只有在每一种选择之下都导致赋值矛盾，该公式才是重言式；若在其中一种选择之下不导致赋值矛盾，则它可以为假，不是重言式。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树形图方法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326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）根据下列规则绘制一个</a:t>
            </a:r>
            <a:r>
              <a:rPr lang="zh-CN" altLang="en-US" sz="2400" b="1" u="sng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倒置的树形图</a:t>
            </a:r>
            <a:endParaRPr lang="zh-CN" altLang="en-US" sz="2000" b="1" u="sng" dirty="0" smtClean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53799" t="79945" r="8212"/>
          <a:stretch>
            <a:fillRect/>
          </a:stretch>
        </p:blipFill>
        <p:spPr bwMode="auto">
          <a:xfrm>
            <a:off x="6444208" y="4293096"/>
            <a:ext cx="2160240" cy="1402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 l="8064" t="79825" r="60278"/>
          <a:stretch>
            <a:fillRect/>
          </a:stretch>
        </p:blipFill>
        <p:spPr bwMode="auto">
          <a:xfrm>
            <a:off x="4644008" y="4293096"/>
            <a:ext cx="1800200" cy="14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/>
          <a:srcRect l="53504" t="60136" r="13572" b="20295"/>
          <a:stretch>
            <a:fillRect/>
          </a:stretch>
        </p:blipFill>
        <p:spPr bwMode="auto">
          <a:xfrm>
            <a:off x="2411760" y="4293096"/>
            <a:ext cx="187220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rcRect l="6503" t="60016" r="59307" b="22475"/>
          <a:stretch>
            <a:fillRect/>
          </a:stretch>
        </p:blipFill>
        <p:spPr bwMode="auto">
          <a:xfrm>
            <a:off x="611560" y="4365104"/>
            <a:ext cx="194421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/>
          <a:srcRect l="54475" t="41357" r="13867" b="40104"/>
          <a:stretch>
            <a:fillRect/>
          </a:stretch>
        </p:blipFill>
        <p:spPr bwMode="auto">
          <a:xfrm>
            <a:off x="6948264" y="2492896"/>
            <a:ext cx="1800200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/>
          <a:srcRect l="10007" t="41237" r="60868" b="41254"/>
          <a:stretch>
            <a:fillRect/>
          </a:stretch>
        </p:blipFill>
        <p:spPr bwMode="auto">
          <a:xfrm>
            <a:off x="5364088" y="2492896"/>
            <a:ext cx="1656184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 cstate="print"/>
          <a:srcRect l="54181" t="20518" r="7830" b="61973"/>
          <a:stretch>
            <a:fillRect/>
          </a:stretch>
        </p:blipFill>
        <p:spPr bwMode="auto">
          <a:xfrm>
            <a:off x="3275856" y="2420888"/>
            <a:ext cx="2160240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/>
          <a:srcRect l="8446" t="21428" r="68761" b="59003"/>
          <a:stretch>
            <a:fillRect/>
          </a:stretch>
        </p:blipFill>
        <p:spPr bwMode="auto">
          <a:xfrm>
            <a:off x="1907704" y="2492896"/>
            <a:ext cx="1296144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" cstate="print"/>
          <a:srcRect l="26593" r="43016" b="78371"/>
          <a:stretch>
            <a:fillRect/>
          </a:stretch>
        </p:blipFill>
        <p:spPr bwMode="auto">
          <a:xfrm>
            <a:off x="323528" y="2348880"/>
            <a:ext cx="1728192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树形图方法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6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）位于直线一端或直线之间的公式集称为“</a:t>
            </a:r>
            <a:r>
              <a:rPr lang="zh-CN" altLang="en-US" sz="26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节点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”。图中开端的节点称为“</a:t>
            </a:r>
            <a:r>
              <a:rPr lang="zh-CN" altLang="en-US" sz="26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树根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”。除树根外，每一节点都是从一个已有节点延伸出来的，并且以唯一的途径通向树根。在画图过程中，从树根到一个不再延伸的节点的通道，构成一个终止于该节点的“</a:t>
            </a:r>
            <a:r>
              <a:rPr lang="zh-CN" altLang="en-US" sz="26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树枝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”。</a:t>
            </a:r>
            <a:endParaRPr lang="en-US" altLang="zh-CN" sz="26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6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）如果某个节点上的某个公式已经应用了一次画图规则，则称该公式“</a:t>
            </a:r>
            <a:r>
              <a:rPr lang="zh-CN" altLang="en-US" sz="26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被用过了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”，在该公式的末尾画一勾，下面画图时不必再考虑该公式。</a:t>
            </a:r>
            <a:endParaRPr lang="en-US" altLang="zh-CN" sz="26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600" dirty="0" smtClean="0"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）如果一个树枝上同时含有一个公式和它的否定公式，则称该树枝是“</a:t>
            </a:r>
            <a:r>
              <a:rPr lang="zh-CN" altLang="en-US" sz="26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封闭的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”，并在其枝梢处画一个叉号。对已封闭的树枝不再应用画图规则。</a:t>
            </a:r>
            <a:endParaRPr lang="en-US" altLang="zh-CN" sz="26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600" dirty="0" smtClean="0">
                <a:latin typeface="楷体" pitchFamily="49" charset="-122"/>
                <a:ea typeface="楷体" pitchFamily="49" charset="-122"/>
              </a:rPr>
              <a:t>5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）如果每个树枝的末端已经是命题变项或命题变项的否定，不能再对该树枝上的任何公式使用任何画图规则，则称该树形图已经“</a:t>
            </a:r>
            <a:r>
              <a:rPr lang="zh-CN" altLang="en-US" sz="2600" b="1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终结</a:t>
            </a:r>
            <a:r>
              <a:rPr lang="zh-CN" altLang="en-US" sz="2600" dirty="0" smtClean="0">
                <a:latin typeface="楷体" pitchFamily="49" charset="-122"/>
                <a:ea typeface="楷体" pitchFamily="49" charset="-122"/>
              </a:rPr>
              <a:t>”。</a:t>
            </a:r>
            <a:endParaRPr lang="en-US" altLang="zh-CN" sz="26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endParaRPr lang="en-US" altLang="zh-CN" sz="26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en-US" altLang="zh-CN" dirty="0" smtClean="0"/>
              <a:t>    </a:t>
            </a:r>
            <a:r>
              <a:rPr lang="zh-CN" altLang="en-US" sz="3800" b="1" u="sng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判定方法：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5373216"/>
            <a:ext cx="7200800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是重言式，当且仅当，</a:t>
            </a:r>
            <a:r>
              <a:rPr lang="en-US" altLang="zh-CN" sz="2000" baseline="30000" dirty="0" smtClean="0">
                <a:cs typeface="Times New Roman" pitchFamily="18" charset="0"/>
                <a:sym typeface="Symbol" pitchFamily="18" charset="2"/>
              </a:rPr>
              <a:t>  </a:t>
            </a:r>
            <a:r>
              <a:rPr lang="en-US" altLang="zh-CN" sz="2000" dirty="0" smtClean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的树形图中每一个树枝都是封闭的。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第二章 命题逻辑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真值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联结词和真值形式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重言式及其判定方法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重言蕴涵式和重言等值式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命题逻辑的自然推理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59832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日常联结词和复合命题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五角星 16"/>
          <p:cNvSpPr/>
          <p:nvPr/>
        </p:nvSpPr>
        <p:spPr>
          <a:xfrm>
            <a:off x="2195736" y="1844824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五角星 17"/>
          <p:cNvSpPr/>
          <p:nvPr/>
        </p:nvSpPr>
        <p:spPr>
          <a:xfrm>
            <a:off x="2195736" y="2708920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五角星 18"/>
          <p:cNvSpPr/>
          <p:nvPr/>
        </p:nvSpPr>
        <p:spPr>
          <a:xfrm>
            <a:off x="2195736" y="3645024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五角星 19"/>
          <p:cNvSpPr/>
          <p:nvPr/>
        </p:nvSpPr>
        <p:spPr>
          <a:xfrm>
            <a:off x="2195736" y="4509120"/>
            <a:ext cx="504056" cy="504056"/>
          </a:xfrm>
          <a:prstGeom prst="star5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五角星 20"/>
          <p:cNvSpPr/>
          <p:nvPr/>
        </p:nvSpPr>
        <p:spPr>
          <a:xfrm>
            <a:off x="2195736" y="5373216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重言蕴涵式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一个推理由前提和结论两部分组成。可以用一个蕴涵式来表示该推理的形式，蕴涵式的前件是推理的各个前提的合取，其后件是推理的结论。</a:t>
            </a:r>
            <a:endParaRPr lang="en-US" altLang="zh-CN" dirty="0" smtClean="0">
              <a:latin typeface="华文新魏" pitchFamily="2" charset="-122"/>
              <a:ea typeface="华文新魏" pitchFamily="2" charset="-122"/>
            </a:endParaRPr>
          </a:p>
          <a:p>
            <a:pPr>
              <a:lnSpc>
                <a:spcPct val="140000"/>
              </a:lnSpc>
            </a:pPr>
            <a:endParaRPr lang="zh-CN" altLang="en-US" dirty="0" smtClean="0"/>
          </a:p>
          <a:p>
            <a:pPr>
              <a:lnSpc>
                <a:spcPct val="140000"/>
              </a:lnSpc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如果一个推理形式</a:t>
            </a:r>
            <a:r>
              <a:rPr lang="zh-CN" altLang="en-US" b="1" dirty="0" smtClean="0">
                <a:solidFill>
                  <a:srgbClr val="3366CC"/>
                </a:solidFill>
                <a:latin typeface="楷体" pitchFamily="49" charset="-122"/>
                <a:ea typeface="楷体" pitchFamily="49" charset="-122"/>
              </a:rPr>
              <a:t>只与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联结词和复合命题相关，而</a:t>
            </a:r>
            <a:r>
              <a:rPr lang="zh-CN" altLang="en-US" b="1" dirty="0" smtClean="0">
                <a:solidFill>
                  <a:srgbClr val="3366CC"/>
                </a:solidFill>
                <a:latin typeface="楷体" pitchFamily="49" charset="-122"/>
                <a:ea typeface="楷体" pitchFamily="49" charset="-122"/>
              </a:rPr>
              <a:t>不涉及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各种非命题成分，如主词、谓词、系词、量词；或个体词、谓词等等，那么，该推理形式是</a:t>
            </a:r>
            <a:r>
              <a:rPr lang="zh-CN" altLang="en-US" b="1" dirty="0" smtClean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有效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的，</a:t>
            </a:r>
            <a:r>
              <a:rPr lang="zh-CN" altLang="en-US" b="1" i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当且仅当，相应的蕴涵式是重言式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常见重言蕴涵式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23528" y="1280368"/>
          <a:ext cx="8495928" cy="532859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767062"/>
                <a:gridCol w="47288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[1] A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B 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[15] 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A)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[2] B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[16]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[3]</a:t>
                      </a:r>
                      <a:r>
                        <a:rPr lang="en-US" altLang="zh-CN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[17]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A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[4]</a:t>
                      </a:r>
                      <a:r>
                        <a:rPr lang="en-US" altLang="zh-CN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[18] 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A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[5] (A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[19] (A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[6] (A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[20] (A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[7] 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[21] (A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[8]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C))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[22] (A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(C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D)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D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[9]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[23] (A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(C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D)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D)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(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 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[10]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[24] (A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[11]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[25] (A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[12]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[26] (A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A)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[13]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[27] (A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((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lang="zh-CN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A) </a:t>
                      </a:r>
                      <a:endParaRPr lang="zh-CN" altLang="en-US" dirty="0"/>
                    </a:p>
                  </a:txBody>
                  <a:tcPr/>
                </a:tc>
              </a:tr>
              <a:tr h="507672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[14] (A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A)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[28] (</a:t>
                      </a:r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B)</a:t>
                      </a:r>
                      <a:r>
                        <a:rPr lang="zh-CN" alt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∧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(B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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baseline="30000" dirty="0" smtClean="0"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</a:t>
                      </a:r>
                      <a:r>
                        <a:rPr lang="en-US" altLang="zh-CN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常见重言等值式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259632" y="1488400"/>
          <a:ext cx="7632848" cy="482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5254"/>
                <a:gridCol w="407759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[1]</a:t>
                      </a:r>
                      <a:r>
                        <a:rPr lang="en-US" altLang="zh-CN" sz="1800" baseline="0" dirty="0" smtClean="0"/>
                        <a:t> 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A 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[14</a:t>
                      </a:r>
                      <a:r>
                        <a:rPr lang="en-US" altLang="zh-CN" sz="1800" dirty="0" smtClean="0"/>
                        <a:t>]( 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(B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/>
                        <a:t>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(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B)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[2] 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A 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[15</a:t>
                      </a:r>
                      <a:r>
                        <a:rPr lang="en-US" altLang="zh-CN" sz="1800" dirty="0" smtClean="0"/>
                        <a:t>]( 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/>
                        <a:t>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(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B)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[3] </a:t>
                      </a:r>
                      <a:r>
                        <a:rPr lang="en-US" altLang="zh-CN" sz="1800" dirty="0" smtClean="0"/>
                        <a:t>((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C)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(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(B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C) </a:t>
                      </a:r>
                      <a:r>
                        <a:rPr lang="en-US" altLang="zh-CN" sz="1800" dirty="0" smtClean="0"/>
                        <a:t>)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[16] 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/>
                        <a:t>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(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B)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[4] </a:t>
                      </a:r>
                      <a:r>
                        <a:rPr lang="en-US" altLang="zh-CN" sz="1800" dirty="0" smtClean="0"/>
                        <a:t>((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C)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(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(B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C) </a:t>
                      </a:r>
                      <a:r>
                        <a:rPr lang="en-US" altLang="zh-CN" sz="1800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[17]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 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</a:t>
                      </a:r>
                      <a:r>
                        <a:rPr lang="en-US" altLang="zh-CN" sz="1800" dirty="0" smtClean="0"/>
                        <a:t>A)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A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[5</a:t>
                      </a:r>
                      <a:r>
                        <a:rPr lang="en-US" altLang="zh-CN" sz="1800" dirty="0" smtClean="0"/>
                        <a:t>]( 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(B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C</a:t>
                      </a:r>
                      <a:r>
                        <a:rPr lang="en-US" altLang="zh-CN" sz="1800" dirty="0" smtClean="0"/>
                        <a:t>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C)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[18]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 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[6] 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(B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C</a:t>
                      </a:r>
                      <a:r>
                        <a:rPr lang="en-US" altLang="zh-CN" sz="1800" dirty="0" smtClean="0"/>
                        <a:t>)) 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 (A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C)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ym typeface="Symbol" pitchFamily="18" charset="2"/>
                        </a:rPr>
                        <a:t>[19] 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[7]</a:t>
                      </a:r>
                      <a:r>
                        <a:rPr lang="en-US" altLang="zh-CN" sz="1800" baseline="0" dirty="0" smtClean="0"/>
                        <a:t> </a:t>
                      </a:r>
                      <a:r>
                        <a:rPr lang="en-US" altLang="zh-CN" sz="1800" baseline="0" dirty="0" smtClean="0"/>
                        <a:t>(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A)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ym typeface="Symbol" pitchFamily="18" charset="2"/>
                        </a:rPr>
                        <a:t>[20] 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[8] 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A)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ym typeface="Symbol" pitchFamily="18" charset="2"/>
                        </a:rPr>
                        <a:t>[21] 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[9</a:t>
                      </a:r>
                      <a:r>
                        <a:rPr lang="en-US" altLang="zh-CN" sz="1800" dirty="0" smtClean="0"/>
                        <a:t>]( 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/>
                        <a:t>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ym typeface="Symbol" pitchFamily="18" charset="2"/>
                        </a:rPr>
                        <a:t>[31]</a:t>
                      </a:r>
                      <a:r>
                        <a:rPr lang="en-US" altLang="zh-CN" dirty="0" smtClean="0"/>
                        <a:t> (A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(A</a:t>
                      </a:r>
                      <a:r>
                        <a:rPr lang="zh-CN" altLang="en-US" dirty="0" smtClean="0"/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zh-CN" altLang="en-US" dirty="0" smtClean="0"/>
                        <a:t>∧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∨</a:t>
                      </a:r>
                      <a:r>
                        <a:rPr lang="en-US" altLang="zh-CN" dirty="0" smtClean="0"/>
                        <a:t>B)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[10</a:t>
                      </a:r>
                      <a:r>
                        <a:rPr lang="en-US" altLang="zh-CN" sz="1800" dirty="0" smtClean="0"/>
                        <a:t>]( 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/>
                        <a:t>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ym typeface="Symbol" pitchFamily="18" charset="2"/>
                        </a:rPr>
                        <a:t>[32]</a:t>
                      </a:r>
                      <a:r>
                        <a:rPr lang="en-US" altLang="zh-CN" dirty="0" smtClean="0"/>
                        <a:t> (A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(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∧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zh-CN" altLang="en-US" dirty="0" smtClean="0"/>
                        <a:t>∨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en-US" altLang="zh-CN" dirty="0" smtClean="0"/>
                        <a:t>))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[11</a:t>
                      </a:r>
                      <a:r>
                        <a:rPr lang="en-US" altLang="zh-CN" sz="1800" dirty="0" smtClean="0"/>
                        <a:t>]( 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(B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/>
                        <a:t>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[33]</a:t>
                      </a:r>
                      <a:r>
                        <a:rPr lang="en-US" altLang="zh-CN" sz="1800" baseline="0" dirty="0" smtClean="0"/>
                        <a:t> </a:t>
                      </a:r>
                      <a:r>
                        <a:rPr lang="en-US" altLang="zh-CN" dirty="0" smtClean="0"/>
                        <a:t>(A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(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zh-CN" altLang="en-US" dirty="0" smtClean="0"/>
                        <a:t>∧</a:t>
                      </a:r>
                      <a:r>
                        <a:rPr lang="en-US" altLang="zh-CN" dirty="0" smtClean="0"/>
                        <a:t>(B</a:t>
                      </a:r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en-US" altLang="zh-CN" dirty="0" smtClean="0"/>
                        <a:t>))</a:t>
                      </a:r>
                      <a:endParaRPr lang="zh-CN" altLang="en-US" b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[12] 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(B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/>
                        <a:t>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[34] (A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(A</a:t>
                      </a:r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zh-CN" altLang="en-US" dirty="0" smtClean="0"/>
                        <a:t>∧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B)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[13] 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(B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/>
                        <a:t>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(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折角形 24"/>
          <p:cNvSpPr/>
          <p:nvPr/>
        </p:nvSpPr>
        <p:spPr>
          <a:xfrm>
            <a:off x="7020272" y="1916832"/>
            <a:ext cx="1584176" cy="576064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顺序访问存储器 20"/>
          <p:cNvSpPr/>
          <p:nvPr/>
        </p:nvSpPr>
        <p:spPr>
          <a:xfrm>
            <a:off x="4499992" y="1772816"/>
            <a:ext cx="936104" cy="792088"/>
          </a:xfrm>
          <a:prstGeom prst="flowChartMagneticTap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真值联结词的可互换性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19888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，∧</a:t>
            </a:r>
            <a:endParaRPr lang="zh-CN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092280" y="205155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∨，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</a:t>
            </a:r>
            <a:endParaRPr lang="zh-CN" altLang="en-US" b="1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371872" y="1628800"/>
          <a:ext cx="376808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808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smtClean="0">
                          <a:sym typeface="Symbol" pitchFamily="18" charset="2"/>
                        </a:rPr>
                        <a:t>[22] (A</a:t>
                      </a:r>
                      <a:r>
                        <a:rPr lang="zh-CN" altLang="en-US" sz="1800" kern="1200" dirty="0" smtClean="0">
                          <a:sym typeface="Symbol" pitchFamily="18" charset="2"/>
                        </a:rPr>
                        <a:t>∨</a:t>
                      </a:r>
                      <a:r>
                        <a:rPr lang="en-US" altLang="zh-CN" sz="1800" kern="1200" dirty="0" smtClean="0">
                          <a:sym typeface="Symbol" pitchFamily="18" charset="2"/>
                        </a:rPr>
                        <a:t>B)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 </a:t>
                      </a:r>
                      <a:r>
                        <a:rPr lang="en-US" altLang="zh-CN" sz="1800" kern="1200" dirty="0" smtClean="0">
                          <a:sym typeface="Symbol" pitchFamily="18" charset="2"/>
                        </a:rPr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kern="1200" dirty="0" smtClean="0">
                          <a:sym typeface="Symbol" pitchFamily="18" charset="2"/>
                        </a:rPr>
                        <a:t>A</a:t>
                      </a:r>
                      <a:r>
                        <a:rPr lang="zh-CN" altLang="en-US" sz="1800" kern="1200" dirty="0" smtClean="0">
                          <a:sym typeface="Symbol" pitchFamily="18" charset="2"/>
                        </a:rPr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kern="1200" dirty="0" smtClean="0">
                          <a:sym typeface="Symbol" pitchFamily="18" charset="2"/>
                        </a:rPr>
                        <a:t>B) </a:t>
                      </a:r>
                      <a:endParaRPr lang="zh-CN" alt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Symbol" pitchFamily="18" charset="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[26] (A</a:t>
                      </a:r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 </a:t>
                      </a:r>
                      <a:r>
                        <a:rPr lang="en-US" altLang="zh-CN" dirty="0" smtClean="0"/>
                        <a:t>(A</a:t>
                      </a:r>
                      <a:r>
                        <a:rPr lang="zh-CN" altLang="en-US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B)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[28] (A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(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 </a:t>
                      </a:r>
                      <a:r>
                        <a:rPr lang="en-US" altLang="zh-CN" dirty="0" smtClean="0"/>
                        <a:t>(A</a:t>
                      </a:r>
                      <a:r>
                        <a:rPr lang="zh-CN" altLang="en-US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zh-CN" altLang="en-US" dirty="0" smtClean="0"/>
                        <a:t>∧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 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∧</a:t>
                      </a:r>
                      <a:r>
                        <a:rPr lang="en-US" altLang="zh-CN" dirty="0" smtClean="0"/>
                        <a:t>B</a:t>
                      </a:r>
                      <a:r>
                        <a:rPr lang="en-US" altLang="zh-CN" dirty="0" smtClean="0"/>
                        <a:t>))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燕尾形 22"/>
          <p:cNvSpPr/>
          <p:nvPr/>
        </p:nvSpPr>
        <p:spPr>
          <a:xfrm>
            <a:off x="6012160" y="2060848"/>
            <a:ext cx="288032" cy="288032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燕尾形 23"/>
          <p:cNvSpPr/>
          <p:nvPr/>
        </p:nvSpPr>
        <p:spPr>
          <a:xfrm>
            <a:off x="6300192" y="2060848"/>
            <a:ext cx="288032" cy="288032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折角形 25"/>
          <p:cNvSpPr/>
          <p:nvPr/>
        </p:nvSpPr>
        <p:spPr>
          <a:xfrm>
            <a:off x="7020272" y="3324592"/>
            <a:ext cx="1584176" cy="576064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顺序访问存储器 26"/>
          <p:cNvSpPr/>
          <p:nvPr/>
        </p:nvSpPr>
        <p:spPr>
          <a:xfrm>
            <a:off x="4499992" y="3180576"/>
            <a:ext cx="936104" cy="792088"/>
          </a:xfrm>
          <a:prstGeom prst="flowChartMagneticTap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572000" y="339660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∨</a:t>
            </a:r>
            <a:endParaRPr lang="zh-CN" alt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7092280" y="345931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∧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</a:t>
            </a:r>
            <a:endParaRPr lang="zh-CN" altLang="en-US" b="1" dirty="0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371872" y="3036560"/>
          <a:ext cx="3912096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2096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[24] 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aseline="30000" dirty="0" smtClean="0"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baseline="30000" dirty="0" smtClean="0"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baseline="30000" dirty="0" smtClean="0"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B)</a:t>
                      </a:r>
                      <a:endParaRPr lang="zh-CN" alt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Symbol" pitchFamily="18" charset="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[27] (A</a:t>
                      </a:r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∨</a:t>
                      </a:r>
                      <a:r>
                        <a:rPr lang="en-US" altLang="zh-CN" dirty="0" smtClean="0"/>
                        <a:t>B)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[29] (A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 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A</a:t>
                      </a:r>
                      <a:r>
                        <a:rPr lang="zh-CN" altLang="en-US" dirty="0" smtClean="0"/>
                        <a:t>∨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zh-CN" altLang="en-US" dirty="0" smtClean="0"/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 </a:t>
                      </a:r>
                      <a:r>
                        <a:rPr lang="en-US" altLang="zh-CN" dirty="0" smtClean="0"/>
                        <a:t>(A</a:t>
                      </a:r>
                      <a:r>
                        <a:rPr lang="zh-CN" altLang="en-US" dirty="0" smtClean="0"/>
                        <a:t>∨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dirty="0" smtClean="0"/>
                        <a:t>B))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1" name="燕尾形 30"/>
          <p:cNvSpPr/>
          <p:nvPr/>
        </p:nvSpPr>
        <p:spPr>
          <a:xfrm>
            <a:off x="6012160" y="3468608"/>
            <a:ext cx="288032" cy="288032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燕尾形 31"/>
          <p:cNvSpPr/>
          <p:nvPr/>
        </p:nvSpPr>
        <p:spPr>
          <a:xfrm>
            <a:off x="6300192" y="3468608"/>
            <a:ext cx="288032" cy="288032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折角形 32"/>
          <p:cNvSpPr/>
          <p:nvPr/>
        </p:nvSpPr>
        <p:spPr>
          <a:xfrm>
            <a:off x="7043936" y="4725144"/>
            <a:ext cx="1584176" cy="576064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流程图: 顺序访问存储器 33"/>
          <p:cNvSpPr/>
          <p:nvPr/>
        </p:nvSpPr>
        <p:spPr>
          <a:xfrm>
            <a:off x="4523656" y="4581128"/>
            <a:ext cx="936104" cy="792088"/>
          </a:xfrm>
          <a:prstGeom prst="flowChartMagneticTap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4595664" y="479715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endParaRPr lang="zh-CN" alt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7115944" y="485986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∧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∨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</a:t>
            </a:r>
            <a:endParaRPr lang="zh-CN" altLang="en-US" b="1" dirty="0"/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395536" y="4437112"/>
          <a:ext cx="376808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808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[23] (A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baseline="30000" dirty="0" smtClean="0"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B)</a:t>
                      </a:r>
                      <a:endParaRPr lang="zh-CN" alt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Symbol" pitchFamily="18" charset="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[25] (A</a:t>
                      </a:r>
                      <a:r>
                        <a:rPr lang="zh-CN" altLang="en-US" sz="1800" dirty="0" smtClean="0"/>
                        <a:t>∧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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 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</a:t>
                      </a:r>
                      <a:r>
                        <a:rPr lang="en-US" altLang="zh-CN" sz="1800" dirty="0" smtClean="0"/>
                        <a:t>B)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[30] (A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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 </a:t>
                      </a:r>
                      <a:r>
                        <a:rPr lang="en-US" altLang="zh-CN" dirty="0" smtClean="0"/>
                        <a:t>((A</a:t>
                      </a:r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r>
                        <a:rPr lang="en-US" altLang="zh-CN" dirty="0" smtClean="0"/>
                        <a:t>B)</a:t>
                      </a:r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 </a:t>
                      </a:r>
                      <a:r>
                        <a:rPr lang="en-US" altLang="zh-CN" dirty="0" smtClean="0"/>
                        <a:t>(B</a:t>
                      </a:r>
                      <a:r>
                        <a:rPr lang="en-US" altLang="zh-CN" dirty="0" smtClean="0">
                          <a:sym typeface="Symbol"/>
                        </a:rPr>
                        <a:t></a:t>
                      </a:r>
                      <a:r>
                        <a:rPr lang="en-US" altLang="zh-CN" dirty="0" smtClean="0"/>
                        <a:t>A))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8" name="燕尾形 37"/>
          <p:cNvSpPr/>
          <p:nvPr/>
        </p:nvSpPr>
        <p:spPr>
          <a:xfrm>
            <a:off x="6035824" y="4869160"/>
            <a:ext cx="288032" cy="288032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燕尾形 38"/>
          <p:cNvSpPr/>
          <p:nvPr/>
        </p:nvSpPr>
        <p:spPr>
          <a:xfrm>
            <a:off x="6323856" y="4869160"/>
            <a:ext cx="288032" cy="288032"/>
          </a:xfrm>
          <a:prstGeom prst="chevr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1" grpId="0" animBg="1"/>
      <p:bldP spid="10" grpId="0"/>
      <p:bldP spid="12" grpId="0"/>
      <p:bldP spid="23" grpId="0" animBg="1"/>
      <p:bldP spid="24" grpId="0" animBg="1"/>
      <p:bldP spid="26" grpId="0" animBg="1"/>
      <p:bldP spid="27" grpId="0" animBg="1"/>
      <p:bldP spid="28" grpId="0"/>
      <p:bldP spid="29" grpId="0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8" grpId="0" animBg="1"/>
      <p:bldP spid="3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第二章 命题逻辑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真值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联结词和真值形式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重言式及其判定方法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重言蕴涵式和重言等值式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命题逻辑的自然推理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59832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日常联结词和复合命题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五角星 16"/>
          <p:cNvSpPr/>
          <p:nvPr/>
        </p:nvSpPr>
        <p:spPr>
          <a:xfrm>
            <a:off x="2195736" y="1844824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五角星 17"/>
          <p:cNvSpPr/>
          <p:nvPr/>
        </p:nvSpPr>
        <p:spPr>
          <a:xfrm>
            <a:off x="2195736" y="2708920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五角星 18"/>
          <p:cNvSpPr/>
          <p:nvPr/>
        </p:nvSpPr>
        <p:spPr>
          <a:xfrm>
            <a:off x="2195736" y="3645024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五角星 19"/>
          <p:cNvSpPr/>
          <p:nvPr/>
        </p:nvSpPr>
        <p:spPr>
          <a:xfrm>
            <a:off x="2195736" y="4509120"/>
            <a:ext cx="504056" cy="504056"/>
          </a:xfrm>
          <a:prstGeom prst="star5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五角星 20"/>
          <p:cNvSpPr/>
          <p:nvPr/>
        </p:nvSpPr>
        <p:spPr>
          <a:xfrm>
            <a:off x="2195736" y="5373216"/>
            <a:ext cx="504056" cy="504056"/>
          </a:xfrm>
          <a:prstGeom prst="star5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命题逻辑中的形式推演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命题逻辑中的</a:t>
            </a:r>
            <a:r>
              <a:rPr lang="zh-CN" altLang="en-US" sz="2800" b="1" u="sng" dirty="0" smtClean="0">
                <a:solidFill>
                  <a:srgbClr val="006600"/>
                </a:solidFill>
                <a:latin typeface="楷体" pitchFamily="49" charset="-122"/>
                <a:ea typeface="楷体" pitchFamily="49" charset="-122"/>
              </a:rPr>
              <a:t>形式推演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是一个有穷长的公式序列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800" dirty="0" smtClean="0">
                <a:latin typeface="Century Schoolbook" pitchFamily="18" charset="0"/>
              </a:rPr>
              <a:t>Γ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，序列中的每一项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(A</a:t>
            </a:r>
            <a:r>
              <a:rPr lang="en-US" altLang="zh-CN" sz="2800" baseline="-250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,A</a:t>
            </a:r>
            <a:r>
              <a:rPr lang="en-US" altLang="zh-CN" sz="2800" baseline="-25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,…A</a:t>
            </a:r>
            <a:r>
              <a:rPr lang="en-US" altLang="zh-CN" sz="2800" baseline="-250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或者是给定的前提，或者是从序列中前面的公式，根据给定的规则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(P</a:t>
            </a:r>
            <a:r>
              <a:rPr lang="en-US" altLang="zh-CN" sz="2800" baseline="300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推演规则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得到的公式，序列的末尾是该推演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(P</a:t>
            </a:r>
            <a:r>
              <a:rPr lang="en-US" altLang="zh-CN" sz="2800" baseline="300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推演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的结论。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endParaRPr lang="zh-CN" altLang="en-US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如果序列末尾的公式是从空前提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800" dirty="0" smtClean="0">
                <a:latin typeface="Century Schoolbook" pitchFamily="18" charset="0"/>
              </a:rPr>
              <a:t>Γ=</a:t>
            </a:r>
            <a:r>
              <a:rPr lang="el-GR" altLang="zh-CN" sz="2800" dirty="0" smtClean="0">
                <a:latin typeface="Century Schoolbook" pitchFamily="18" charset="0"/>
              </a:rPr>
              <a:t>φ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得到的，则称该公式是命题逻辑的</a:t>
            </a:r>
            <a:r>
              <a:rPr lang="zh-CN" altLang="en-US" sz="2800" b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定理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，此推演是关于该定理的一个</a:t>
            </a:r>
            <a:r>
              <a:rPr lang="zh-CN" altLang="en-US" sz="2800" b="1" u="sng" dirty="0" smtClean="0">
                <a:solidFill>
                  <a:srgbClr val="3366CC"/>
                </a:solidFill>
                <a:latin typeface="楷体" pitchFamily="49" charset="-122"/>
                <a:ea typeface="楷体" pitchFamily="49" charset="-122"/>
              </a:rPr>
              <a:t>证明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折角形 4"/>
          <p:cNvSpPr/>
          <p:nvPr/>
        </p:nvSpPr>
        <p:spPr>
          <a:xfrm>
            <a:off x="755576" y="2348880"/>
            <a:ext cx="3384376" cy="648072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推演规则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673224" y="1622301"/>
            <a:ext cx="3754760" cy="1230635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None/>
              <a:defRPr/>
            </a:pP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合取消去规则∧</a:t>
            </a:r>
            <a:r>
              <a:rPr lang="zh-CN" altLang="en-US" sz="2800" b="1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endParaRPr lang="en-US" altLang="zh-CN" sz="2800" b="1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2420888"/>
            <a:ext cx="324036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A</a:t>
            </a:r>
            <a:r>
              <a:rPr lang="zh-CN" altLang="en-US" sz="2800" dirty="0" smtClean="0"/>
              <a:t>∧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├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；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∧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├</a:t>
            </a:r>
            <a:r>
              <a:rPr lang="en-US" altLang="zh-CN" sz="2800" dirty="0" smtClean="0"/>
              <a:t>B</a:t>
            </a:r>
            <a:endParaRPr lang="zh-CN" altLang="en-US" sz="2800" dirty="0" smtClean="0"/>
          </a:p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051720" y="393305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或者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内容占位符 1"/>
          <p:cNvSpPr txBox="1">
            <a:spLocks/>
          </p:cNvSpPr>
          <p:nvPr/>
        </p:nvSpPr>
        <p:spPr>
          <a:xfrm>
            <a:off x="5004048" y="1622301"/>
            <a:ext cx="3898776" cy="1086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2.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合取引入规则∧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＋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折角形 10"/>
          <p:cNvSpPr/>
          <p:nvPr/>
        </p:nvSpPr>
        <p:spPr>
          <a:xfrm>
            <a:off x="5878488" y="2348880"/>
            <a:ext cx="1944216" cy="648072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950496" y="2420888"/>
            <a:ext cx="1944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A,B</a:t>
            </a:r>
            <a:r>
              <a:rPr lang="zh-CN" altLang="en-US" sz="2800" dirty="0" smtClean="0"/>
              <a:t>├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∧</a:t>
            </a:r>
            <a:r>
              <a:rPr lang="en-US" altLang="zh-CN" sz="2800" dirty="0" smtClean="0"/>
              <a:t>B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3284984"/>
            <a:ext cx="1219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3356992"/>
            <a:ext cx="11049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43808" y="3356992"/>
            <a:ext cx="120967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build="p"/>
      <p:bldP spid="6" grpId="0"/>
      <p:bldP spid="9" grpId="0"/>
      <p:bldP spid="10" grpId="0" build="p"/>
      <p:bldP spid="11" grpId="0" animBg="1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折角形 4"/>
          <p:cNvSpPr/>
          <p:nvPr/>
        </p:nvSpPr>
        <p:spPr>
          <a:xfrm>
            <a:off x="539552" y="2132856"/>
            <a:ext cx="3888432" cy="648072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推演规则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673224" y="1406277"/>
            <a:ext cx="4042792" cy="582563"/>
          </a:xfrm>
        </p:spPr>
        <p:txBody>
          <a:bodyPr>
            <a:normAutofit/>
          </a:bodyPr>
          <a:lstStyle/>
          <a:p>
            <a:pPr marL="365760" indent="-256032">
              <a:lnSpc>
                <a:spcPct val="110000"/>
              </a:lnSpc>
              <a:buNone/>
              <a:defRPr/>
            </a:pPr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3.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析取消去规则∨</a:t>
            </a:r>
            <a:r>
              <a:rPr lang="zh-CN" altLang="en-US" sz="2800" b="1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endParaRPr lang="en-US" altLang="zh-CN" sz="2800" b="1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1560" y="2204864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A</a:t>
            </a:r>
            <a:r>
              <a:rPr lang="zh-CN" altLang="en-US" sz="2800" dirty="0" smtClean="0"/>
              <a:t>∨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A</a:t>
            </a:r>
            <a:r>
              <a:rPr lang="en-US" altLang="zh-CN" sz="2800" dirty="0" smtClean="0">
                <a:sym typeface="Symbol"/>
              </a:rPr>
              <a:t></a:t>
            </a:r>
            <a:r>
              <a:rPr lang="en-US" altLang="zh-CN" sz="2800" dirty="0" smtClean="0"/>
              <a:t>C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B</a:t>
            </a:r>
            <a:r>
              <a:rPr lang="en-US" altLang="zh-CN" sz="2800" dirty="0" smtClean="0">
                <a:sym typeface="Symbol"/>
              </a:rPr>
              <a:t></a:t>
            </a:r>
            <a:r>
              <a:rPr lang="en-US" altLang="zh-CN" sz="2800" dirty="0" smtClean="0"/>
              <a:t>C</a:t>
            </a:r>
            <a:r>
              <a:rPr lang="zh-CN" altLang="en-US" sz="2800" dirty="0" smtClean="0"/>
              <a:t>├</a:t>
            </a:r>
            <a:r>
              <a:rPr lang="en-US" altLang="zh-CN" sz="2800" dirty="0" smtClean="0"/>
              <a:t>C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55576" y="5877272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二难推理的简单构成式</a:t>
            </a:r>
            <a:endParaRPr lang="zh-CN" altLang="en-US" sz="2400" b="1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3" name="折角形 12"/>
          <p:cNvSpPr/>
          <p:nvPr/>
        </p:nvSpPr>
        <p:spPr>
          <a:xfrm>
            <a:off x="5220072" y="2139355"/>
            <a:ext cx="3384376" cy="648072"/>
          </a:xfrm>
          <a:prstGeom prst="foldedCorne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内容占位符 1"/>
          <p:cNvSpPr txBox="1">
            <a:spLocks/>
          </p:cNvSpPr>
          <p:nvPr/>
        </p:nvSpPr>
        <p:spPr>
          <a:xfrm>
            <a:off x="5065712" y="1412776"/>
            <a:ext cx="4042792" cy="58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5760" lvl="0" indent="-256032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4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.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析取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引入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规则∨</a:t>
            </a:r>
            <a:r>
              <a:rPr lang="zh-CN" altLang="en-US" sz="2800" b="1" baseline="-25000" dirty="0" smtClean="0"/>
              <a:t> ＋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92080" y="2211363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 A</a:t>
            </a:r>
            <a:r>
              <a:rPr lang="zh-CN" altLang="en-US" sz="2800" dirty="0" smtClean="0"/>
              <a:t>├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∨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；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├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∨</a:t>
            </a:r>
            <a:r>
              <a:rPr lang="en-US" altLang="zh-CN" sz="2800" dirty="0" smtClean="0"/>
              <a:t>B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660232" y="3645024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或者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41032" y="3140968"/>
            <a:ext cx="1219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99548" y="3196952"/>
            <a:ext cx="11049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00039" y="2965673"/>
            <a:ext cx="16478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0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build="p"/>
      <p:bldP spid="6" grpId="0"/>
      <p:bldP spid="12" grpId="0"/>
      <p:bldP spid="13" grpId="0" animBg="1"/>
      <p:bldP spid="14" grpId="0" build="p"/>
      <p:bldP spid="15" grpId="0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折角形 4"/>
          <p:cNvSpPr/>
          <p:nvPr/>
        </p:nvSpPr>
        <p:spPr>
          <a:xfrm>
            <a:off x="1331640" y="2132856"/>
            <a:ext cx="2232248" cy="648072"/>
          </a:xfrm>
          <a:prstGeom prst="foldedCorne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推演规则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673224" y="1406277"/>
            <a:ext cx="4042792" cy="582563"/>
          </a:xfrm>
        </p:spPr>
        <p:txBody>
          <a:bodyPr>
            <a:normAutofit/>
          </a:bodyPr>
          <a:lstStyle/>
          <a:p>
            <a:pPr marL="365760" indent="-256032">
              <a:lnSpc>
                <a:spcPct val="110000"/>
              </a:lnSpc>
              <a:buNone/>
              <a:defRPr/>
            </a:pPr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5.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蕴涵消去规则</a:t>
            </a:r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</a:t>
            </a:r>
            <a:r>
              <a:rPr lang="zh-CN" altLang="en-US" sz="2800" b="1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endParaRPr lang="en-US" altLang="zh-CN" sz="2800" b="1" baseline="-25000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3648" y="2204864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A</a:t>
            </a:r>
            <a:r>
              <a:rPr lang="en-US" altLang="zh-CN" sz="2800" dirty="0" smtClean="0">
                <a:sym typeface="Symbol" pitchFamily="18" charset="2"/>
              </a:rPr>
              <a:t>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├</a:t>
            </a:r>
            <a:r>
              <a:rPr lang="en-US" altLang="zh-CN" sz="2800" dirty="0" smtClean="0"/>
              <a:t>B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95536" y="5301208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3366CC"/>
                </a:solidFill>
                <a:latin typeface="华文行楷" pitchFamily="2" charset="-122"/>
                <a:ea typeface="华文行楷" pitchFamily="2" charset="-122"/>
              </a:rPr>
              <a:t>肯定前件式</a:t>
            </a:r>
            <a:endParaRPr lang="zh-CN" altLang="en-US" sz="2400" b="1" dirty="0">
              <a:solidFill>
                <a:srgbClr val="3366CC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3" name="折角形 12"/>
          <p:cNvSpPr/>
          <p:nvPr/>
        </p:nvSpPr>
        <p:spPr>
          <a:xfrm>
            <a:off x="5040560" y="2139355"/>
            <a:ext cx="3816424" cy="648072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内容占位符 1"/>
          <p:cNvSpPr txBox="1">
            <a:spLocks/>
          </p:cNvSpPr>
          <p:nvPr/>
        </p:nvSpPr>
        <p:spPr>
          <a:xfrm>
            <a:off x="5065712" y="1412776"/>
            <a:ext cx="4042792" cy="58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5760" lvl="0" indent="-256032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zh-CN" sz="2800" b="1" noProof="0" dirty="0" smtClean="0">
                <a:latin typeface="楷体" pitchFamily="49" charset="-122"/>
                <a:ea typeface="楷体" pitchFamily="49" charset="-122"/>
              </a:rPr>
              <a:t>6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蕴涵引入规则</a:t>
            </a:r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sym typeface="Symbol"/>
              </a:rPr>
              <a:t></a:t>
            </a:r>
            <a:r>
              <a:rPr lang="zh-CN" altLang="en-US" sz="2800" b="1" baseline="-25000" dirty="0" smtClean="0">
                <a:latin typeface="楷体" pitchFamily="49" charset="-122"/>
                <a:ea typeface="楷体" pitchFamily="49" charset="-122"/>
              </a:rPr>
              <a:t>＋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40560" y="2211363"/>
            <a:ext cx="435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若</a:t>
            </a:r>
            <a:r>
              <a:rPr lang="en-US" altLang="zh-CN" sz="2400" dirty="0" smtClean="0">
                <a:latin typeface="Century Schoolbook" pitchFamily="18" charset="0"/>
              </a:rPr>
              <a:t>Γ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├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，</a:t>
            </a:r>
            <a:r>
              <a:rPr lang="zh-CN" altLang="en-US" sz="2400" dirty="0" smtClean="0"/>
              <a:t>则</a:t>
            </a:r>
            <a:r>
              <a:rPr lang="en-US" altLang="zh-CN" sz="2400" dirty="0" smtClean="0">
                <a:latin typeface="Century Schoolbook" pitchFamily="18" charset="0"/>
              </a:rPr>
              <a:t>Γ</a:t>
            </a:r>
            <a:r>
              <a:rPr lang="en-US" altLang="zh-CN" sz="2800" dirty="0" smtClean="0"/>
              <a:t>├A</a:t>
            </a:r>
            <a:r>
              <a:rPr lang="en-US" altLang="zh-CN" sz="2800" dirty="0" smtClean="0">
                <a:sym typeface="Symbol"/>
              </a:rPr>
              <a:t></a:t>
            </a:r>
            <a:r>
              <a:rPr lang="en-US" altLang="zh-CN" sz="2800" dirty="0" smtClean="0"/>
              <a:t>B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699792" y="5301208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6600"/>
                </a:solidFill>
                <a:latin typeface="华文行楷" pitchFamily="2" charset="-122"/>
                <a:ea typeface="华文行楷" pitchFamily="2" charset="-122"/>
              </a:rPr>
              <a:t>分离规则</a:t>
            </a:r>
            <a:endParaRPr lang="zh-CN" altLang="en-US" sz="2400" b="1" dirty="0">
              <a:solidFill>
                <a:srgbClr val="0066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00192" y="5157192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华文琥珀" pitchFamily="2" charset="-122"/>
                <a:ea typeface="华文琥珀" pitchFamily="2" charset="-122"/>
              </a:rPr>
              <a:t>简化推演</a:t>
            </a:r>
            <a:endParaRPr lang="zh-CN" altLang="en-US" sz="2400" dirty="0">
              <a:solidFill>
                <a:srgbClr val="FF0000"/>
              </a:solidFill>
              <a:latin typeface="华文琥珀" pitchFamily="2" charset="-122"/>
              <a:ea typeface="华文琥珀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3140968"/>
            <a:ext cx="13335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0157" y="3068960"/>
            <a:ext cx="12096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build="p"/>
      <p:bldP spid="6" grpId="0"/>
      <p:bldP spid="12" grpId="0"/>
      <p:bldP spid="13" grpId="0" animBg="1"/>
      <p:bldP spid="14" grpId="0" build="p"/>
      <p:bldP spid="15" grpId="0"/>
      <p:bldP spid="20" grpId="0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折角形 4"/>
          <p:cNvSpPr/>
          <p:nvPr/>
        </p:nvSpPr>
        <p:spPr>
          <a:xfrm>
            <a:off x="1331640" y="2132856"/>
            <a:ext cx="2088232" cy="936104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推演规则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673224" y="1406277"/>
            <a:ext cx="4042792" cy="582563"/>
          </a:xfrm>
        </p:spPr>
        <p:txBody>
          <a:bodyPr>
            <a:normAutofit/>
          </a:bodyPr>
          <a:lstStyle/>
          <a:p>
            <a:pPr marL="365760" indent="-256032">
              <a:lnSpc>
                <a:spcPct val="110000"/>
              </a:lnSpc>
              <a:buNone/>
              <a:defRPr/>
            </a:pPr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7.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等值消去规则</a:t>
            </a:r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sym typeface="Symbol"/>
              </a:rPr>
              <a:t></a:t>
            </a:r>
            <a:r>
              <a:rPr lang="zh-CN" altLang="en-US" sz="2800" b="1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endParaRPr lang="en-US" altLang="zh-CN" sz="2800" b="1" baseline="-25000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3648" y="2186861"/>
            <a:ext cx="2160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A</a:t>
            </a:r>
            <a:r>
              <a:rPr lang="en-US" altLang="zh-CN" sz="2400" dirty="0" smtClean="0">
                <a:sym typeface="Symbol"/>
              </a:rPr>
              <a:t>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├</a:t>
            </a:r>
            <a:r>
              <a:rPr lang="en-US" altLang="zh-CN" sz="2400" dirty="0" smtClean="0"/>
              <a:t>A</a:t>
            </a:r>
            <a:r>
              <a:rPr lang="en-US" altLang="zh-CN" sz="2400" dirty="0" smtClean="0">
                <a:sym typeface="Symbol"/>
              </a:rPr>
              <a:t>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；</a:t>
            </a:r>
            <a:r>
              <a:rPr lang="en-US" altLang="zh-CN" sz="2400" dirty="0" smtClean="0"/>
              <a:t>A</a:t>
            </a:r>
            <a:r>
              <a:rPr lang="en-US" altLang="zh-CN" sz="2400" dirty="0" smtClean="0">
                <a:sym typeface="Symbol"/>
              </a:rPr>
              <a:t>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├</a:t>
            </a:r>
            <a:r>
              <a:rPr lang="en-US" altLang="zh-CN" sz="2400" dirty="0" smtClean="0"/>
              <a:t>B</a:t>
            </a:r>
            <a:r>
              <a:rPr lang="en-US" altLang="zh-CN" sz="2400" dirty="0" smtClean="0">
                <a:sym typeface="Symbol"/>
              </a:rPr>
              <a:t></a:t>
            </a:r>
            <a:r>
              <a:rPr lang="en-US" altLang="zh-CN" sz="2400" dirty="0" smtClean="0"/>
              <a:t>A</a:t>
            </a:r>
            <a:endParaRPr lang="zh-CN" altLang="en-US" sz="1600" dirty="0"/>
          </a:p>
        </p:txBody>
      </p:sp>
      <p:sp>
        <p:nvSpPr>
          <p:cNvPr id="13" name="折角形 12"/>
          <p:cNvSpPr/>
          <p:nvPr/>
        </p:nvSpPr>
        <p:spPr>
          <a:xfrm>
            <a:off x="5580112" y="2139355"/>
            <a:ext cx="2843808" cy="648072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内容占位符 1"/>
          <p:cNvSpPr txBox="1">
            <a:spLocks/>
          </p:cNvSpPr>
          <p:nvPr/>
        </p:nvSpPr>
        <p:spPr>
          <a:xfrm>
            <a:off x="5065712" y="1412776"/>
            <a:ext cx="4042792" cy="58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5760" lvl="0" indent="-256032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8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等值引入规则</a:t>
            </a:r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sym typeface="Symbol"/>
              </a:rPr>
              <a:t></a:t>
            </a:r>
            <a:r>
              <a:rPr lang="zh-CN" altLang="en-US" sz="2800" b="1" baseline="-25000" dirty="0" smtClean="0">
                <a:latin typeface="楷体" pitchFamily="49" charset="-122"/>
                <a:ea typeface="楷体" pitchFamily="49" charset="-122"/>
              </a:rPr>
              <a:t>＋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52120" y="2247255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A</a:t>
            </a:r>
            <a:r>
              <a:rPr lang="en-US" altLang="zh-CN" sz="2400" dirty="0" smtClean="0">
                <a:sym typeface="Symbol"/>
              </a:rPr>
              <a:t>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B</a:t>
            </a:r>
            <a:r>
              <a:rPr lang="en-US" altLang="zh-CN" sz="2400" dirty="0" smtClean="0">
                <a:sym typeface="Symbol"/>
              </a:rPr>
              <a:t>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├</a:t>
            </a:r>
            <a:r>
              <a:rPr lang="en-US" altLang="zh-CN" sz="2400" dirty="0" smtClean="0"/>
              <a:t>A</a:t>
            </a:r>
            <a:r>
              <a:rPr lang="en-US" altLang="zh-CN" sz="2400" dirty="0" smtClean="0">
                <a:sym typeface="Symbol"/>
              </a:rPr>
              <a:t></a:t>
            </a:r>
            <a:r>
              <a:rPr lang="en-US" altLang="zh-CN" sz="2400" dirty="0" smtClean="0"/>
              <a:t>B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051720" y="3971493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或者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3140968"/>
            <a:ext cx="138112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9954" y="3422501"/>
            <a:ext cx="104775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15816" y="3435499"/>
            <a:ext cx="115252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build="p"/>
      <p:bldP spid="6" grpId="0"/>
      <p:bldP spid="13" grpId="0" animBg="1"/>
      <p:bldP spid="14" grpId="0" build="p"/>
      <p:bldP spid="15" grpId="0"/>
      <p:bldP spid="2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折角形 4"/>
          <p:cNvSpPr/>
          <p:nvPr/>
        </p:nvSpPr>
        <p:spPr>
          <a:xfrm>
            <a:off x="467544" y="2060848"/>
            <a:ext cx="3672408" cy="576064"/>
          </a:xfrm>
          <a:prstGeom prst="foldedCorne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推演规则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673224" y="1406277"/>
            <a:ext cx="4042792" cy="582563"/>
          </a:xfrm>
        </p:spPr>
        <p:txBody>
          <a:bodyPr>
            <a:normAutofit/>
          </a:bodyPr>
          <a:lstStyle/>
          <a:p>
            <a:pPr marL="365760" indent="-256032">
              <a:lnSpc>
                <a:spcPct val="110000"/>
              </a:lnSpc>
              <a:buNone/>
              <a:defRPr/>
            </a:pPr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9.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否定消去规则</a:t>
            </a:r>
            <a:r>
              <a:rPr lang="en-US" altLang="zh-CN" sz="2800" b="1" dirty="0" smtClean="0">
                <a:latin typeface="楷体" pitchFamily="49" charset="-122"/>
                <a:ea typeface="楷体" pitchFamily="49" charset="-122"/>
                <a:sym typeface="Symbol"/>
              </a:rPr>
              <a:t></a:t>
            </a:r>
            <a:r>
              <a:rPr lang="zh-CN" altLang="en-US" sz="2800" b="1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endParaRPr lang="en-US" altLang="zh-CN" sz="2800" b="1" baseline="-25000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2060848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若</a:t>
            </a:r>
            <a:r>
              <a:rPr lang="en-US" altLang="zh-CN" sz="2000" dirty="0" smtClean="0">
                <a:latin typeface="Century Schoolbook" pitchFamily="18" charset="0"/>
              </a:rPr>
              <a:t>Γ</a:t>
            </a:r>
            <a:r>
              <a:rPr lang="zh-CN" altLang="en-US" sz="2400" dirty="0" smtClean="0"/>
              <a:t>，</a:t>
            </a:r>
            <a:r>
              <a:rPr lang="en-US" altLang="zh-CN" sz="2400" baseline="30000" dirty="0" smtClean="0">
                <a:sym typeface="Symbol"/>
              </a:rPr>
              <a:t>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├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，</a:t>
            </a:r>
            <a:r>
              <a:rPr lang="en-US" altLang="zh-CN" sz="2400" baseline="30000" dirty="0" smtClean="0">
                <a:sym typeface="Symbol"/>
              </a:rPr>
              <a:t>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，</a:t>
            </a:r>
            <a:r>
              <a:rPr lang="zh-CN" altLang="en-US" sz="2200" dirty="0" smtClean="0"/>
              <a:t>则</a:t>
            </a:r>
            <a:r>
              <a:rPr lang="en-US" altLang="zh-CN" sz="2000" dirty="0" smtClean="0">
                <a:latin typeface="Century Schoolbook" pitchFamily="18" charset="0"/>
              </a:rPr>
              <a:t>Γ</a:t>
            </a:r>
            <a:r>
              <a:rPr lang="en-US" altLang="zh-CN" sz="2400" dirty="0" smtClean="0"/>
              <a:t>├A</a:t>
            </a:r>
            <a:endParaRPr lang="zh-CN" altLang="en-US" sz="2400" dirty="0"/>
          </a:p>
        </p:txBody>
      </p:sp>
      <p:sp>
        <p:nvSpPr>
          <p:cNvPr id="13" name="折角形 12"/>
          <p:cNvSpPr/>
          <p:nvPr/>
        </p:nvSpPr>
        <p:spPr>
          <a:xfrm>
            <a:off x="5076056" y="2067347"/>
            <a:ext cx="3600400" cy="569566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内容占位符 1"/>
          <p:cNvSpPr txBox="1">
            <a:spLocks/>
          </p:cNvSpPr>
          <p:nvPr/>
        </p:nvSpPr>
        <p:spPr>
          <a:xfrm>
            <a:off x="5065712" y="1412776"/>
            <a:ext cx="4042792" cy="58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5760" lvl="0" indent="-256032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zh-CN" sz="2800" b="1" noProof="0" dirty="0" smtClean="0">
                <a:latin typeface="楷体" pitchFamily="49" charset="-122"/>
                <a:ea typeface="楷体" pitchFamily="49" charset="-122"/>
              </a:rPr>
              <a:t>10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否定</a:t>
            </a:r>
            <a:r>
              <a:rPr lang="zh-CN" altLang="en-US" sz="2800" b="1" smtClean="0">
                <a:latin typeface="楷体" pitchFamily="49" charset="-122"/>
                <a:ea typeface="楷体" pitchFamily="49" charset="-122"/>
              </a:rPr>
              <a:t>引入规则</a:t>
            </a:r>
            <a:r>
              <a:rPr lang="en-US" altLang="zh-CN" sz="2800" b="1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</a:t>
            </a:r>
            <a:r>
              <a:rPr lang="zh-CN" altLang="en-US" sz="2800" b="1" baseline="-25000" smtClean="0">
                <a:latin typeface="楷体" pitchFamily="49" charset="-122"/>
                <a:ea typeface="楷体" pitchFamily="49" charset="-122"/>
              </a:rPr>
              <a:t>＋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76056" y="2060848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若</a:t>
            </a:r>
            <a:r>
              <a:rPr lang="en-US" altLang="zh-CN" sz="2000" dirty="0" smtClean="0">
                <a:latin typeface="Century Schoolbook" pitchFamily="18" charset="0"/>
              </a:rPr>
              <a:t>Γ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├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，</a:t>
            </a:r>
            <a:r>
              <a:rPr lang="en-US" altLang="zh-CN" sz="2400" baseline="30000" dirty="0" smtClean="0">
                <a:ea typeface="宋体" charset="-122"/>
                <a:sym typeface="Symbol" pitchFamily="18" charset="2"/>
              </a:rPr>
              <a:t>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，</a:t>
            </a:r>
            <a:r>
              <a:rPr lang="zh-CN" altLang="en-US" sz="2200" dirty="0" smtClean="0"/>
              <a:t>则</a:t>
            </a:r>
            <a:r>
              <a:rPr lang="en-US" altLang="zh-CN" sz="2000" dirty="0" smtClean="0">
                <a:latin typeface="Century Schoolbook" pitchFamily="18" charset="0"/>
              </a:rPr>
              <a:t>Γ</a:t>
            </a:r>
            <a:r>
              <a:rPr lang="en-US" altLang="zh-CN" sz="2400" dirty="0" smtClean="0"/>
              <a:t>├</a:t>
            </a:r>
            <a:r>
              <a:rPr lang="en-US" altLang="zh-CN" sz="2400" baseline="30000" dirty="0" smtClean="0">
                <a:sym typeface="Symbol" pitchFamily="18" charset="2"/>
              </a:rPr>
              <a:t></a:t>
            </a:r>
            <a:r>
              <a:rPr lang="en-US" altLang="zh-CN" sz="2400" dirty="0" smtClean="0"/>
              <a:t>A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907704" y="5589240"/>
            <a:ext cx="1800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反证法</a:t>
            </a:r>
            <a:endParaRPr lang="zh-CN" altLang="en-US" sz="2600" b="1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4208" y="5589240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6600"/>
                </a:solidFill>
                <a:latin typeface="华文新魏" pitchFamily="2" charset="-122"/>
                <a:ea typeface="华文新魏" pitchFamily="2" charset="-122"/>
              </a:rPr>
              <a:t>归谬法</a:t>
            </a:r>
            <a:endParaRPr lang="zh-CN" altLang="en-US" sz="2400" b="1" dirty="0">
              <a:solidFill>
                <a:srgbClr val="0066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65426" y="2924944"/>
            <a:ext cx="1833357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0387" y="2924944"/>
            <a:ext cx="1779485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build="p"/>
      <p:bldP spid="6" grpId="0"/>
      <p:bldP spid="13" grpId="0" animBg="1"/>
      <p:bldP spid="14" grpId="0" build="p"/>
      <p:bldP spid="15" grpId="0"/>
      <p:bldP spid="20" grpId="0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推演规则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折角形 4"/>
          <p:cNvSpPr/>
          <p:nvPr/>
        </p:nvSpPr>
        <p:spPr>
          <a:xfrm>
            <a:off x="2915816" y="2060848"/>
            <a:ext cx="2664296" cy="648072"/>
          </a:xfrm>
          <a:prstGeom prst="foldedCorner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内容占位符 1"/>
          <p:cNvSpPr>
            <a:spLocks noGrp="1"/>
          </p:cNvSpPr>
          <p:nvPr>
            <p:ph idx="1"/>
          </p:nvPr>
        </p:nvSpPr>
        <p:spPr>
          <a:xfrm>
            <a:off x="673224" y="1406277"/>
            <a:ext cx="4042792" cy="582563"/>
          </a:xfrm>
        </p:spPr>
        <p:txBody>
          <a:bodyPr>
            <a:normAutofit/>
          </a:bodyPr>
          <a:lstStyle/>
          <a:p>
            <a:pPr marL="365760" indent="-256032">
              <a:lnSpc>
                <a:spcPct val="110000"/>
              </a:lnSpc>
              <a:buNone/>
              <a:defRPr/>
            </a:pPr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10.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自推规则∈</a:t>
            </a:r>
            <a:endParaRPr lang="en-US" altLang="zh-CN" sz="2800" b="1" baseline="-25000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87824" y="2132856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若</a:t>
            </a:r>
            <a:r>
              <a:rPr lang="en-US" altLang="zh-CN" sz="2400" dirty="0" smtClean="0"/>
              <a:t>A</a:t>
            </a:r>
            <a:r>
              <a:rPr lang="en-US" altLang="zh-CN" sz="2400" baseline="-25000" dirty="0" smtClean="0"/>
              <a:t>i</a:t>
            </a:r>
            <a:r>
              <a:rPr lang="zh-CN" altLang="en-US" sz="2400" dirty="0" smtClean="0"/>
              <a:t>∈</a:t>
            </a:r>
            <a:r>
              <a:rPr lang="en-US" altLang="zh-CN" sz="2200" dirty="0" smtClean="0">
                <a:latin typeface="Century Schoolbook" pitchFamily="18" charset="0"/>
              </a:rPr>
              <a:t>Γ</a:t>
            </a:r>
            <a:r>
              <a:rPr lang="zh-CN" altLang="en-US" sz="2200" dirty="0" smtClean="0"/>
              <a:t>，则</a:t>
            </a:r>
            <a:r>
              <a:rPr lang="en-US" altLang="zh-CN" sz="2200" dirty="0" smtClean="0">
                <a:latin typeface="Century Schoolbook" pitchFamily="18" charset="0"/>
              </a:rPr>
              <a:t>Γ</a:t>
            </a:r>
            <a:r>
              <a:rPr lang="en-US" altLang="zh-CN" sz="2400" dirty="0" smtClean="0"/>
              <a:t>├ A</a:t>
            </a:r>
            <a:r>
              <a:rPr lang="en-US" altLang="zh-CN" sz="2400" baseline="-25000" dirty="0" smtClean="0"/>
              <a:t>i</a:t>
            </a:r>
            <a:endParaRPr lang="zh-CN" altLang="en-US" sz="2200" baseline="-250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3995936" y="4077072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或者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1594" y="3131790"/>
            <a:ext cx="12763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3141315"/>
            <a:ext cx="12954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p"/>
      <p:bldP spid="7" grpId="0"/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P</a:t>
            </a:r>
            <a:r>
              <a:rPr kumimoji="0" lang="en-US" altLang="zh-CN" sz="44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N</a:t>
            </a: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推演规则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616" y="1844824"/>
            <a:ext cx="2592288" cy="1107996"/>
          </a:xfrm>
          <a:prstGeom prst="rect">
            <a:avLst/>
          </a:prstGeom>
          <a:ln w="38100">
            <a:prstDash val="lgDashDot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200" b="1" dirty="0" smtClean="0"/>
              <a:t>∨</a:t>
            </a:r>
            <a:r>
              <a:rPr lang="zh-CN" altLang="en-US" sz="2200" b="1" baseline="-25000" dirty="0" smtClean="0"/>
              <a:t>＋</a:t>
            </a:r>
            <a:r>
              <a:rPr lang="zh-CN" altLang="en-US" sz="2200" b="1" dirty="0" smtClean="0"/>
              <a:t>，∨</a:t>
            </a:r>
            <a:r>
              <a:rPr lang="zh-CN" altLang="en-US" sz="2200" b="1" baseline="-25000" dirty="0" smtClean="0"/>
              <a:t>－</a:t>
            </a:r>
            <a:r>
              <a:rPr lang="zh-CN" altLang="en-US" sz="2200" b="1" dirty="0" smtClean="0"/>
              <a:t>，∧</a:t>
            </a:r>
            <a:r>
              <a:rPr lang="zh-CN" altLang="en-US" sz="2200" b="1" baseline="-25000" dirty="0" smtClean="0"/>
              <a:t>＋</a:t>
            </a:r>
            <a:r>
              <a:rPr lang="zh-CN" altLang="en-US" sz="2200" b="1" dirty="0" smtClean="0"/>
              <a:t>，∧</a:t>
            </a:r>
            <a:r>
              <a:rPr lang="zh-CN" altLang="en-US" sz="2200" b="1" baseline="-25000" dirty="0" smtClean="0"/>
              <a:t>－</a:t>
            </a:r>
            <a:r>
              <a:rPr lang="zh-CN" altLang="en-US" sz="2200" b="1" dirty="0" smtClean="0"/>
              <a:t>， </a:t>
            </a:r>
            <a:r>
              <a:rPr lang="en-US" altLang="zh-CN" sz="2200" b="1" dirty="0" smtClean="0">
                <a:sym typeface="Symbol"/>
              </a:rPr>
              <a:t></a:t>
            </a:r>
            <a:r>
              <a:rPr lang="zh-CN" altLang="en-US" sz="2200" b="1" baseline="-25000" dirty="0" smtClean="0"/>
              <a:t>－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>
                <a:sym typeface="Symbol"/>
              </a:rPr>
              <a:t></a:t>
            </a:r>
            <a:r>
              <a:rPr lang="zh-CN" altLang="en-US" sz="2200" b="1" baseline="-25000" dirty="0" smtClean="0"/>
              <a:t>＋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>
                <a:sym typeface="Symbol"/>
              </a:rPr>
              <a:t></a:t>
            </a:r>
            <a:r>
              <a:rPr lang="zh-CN" altLang="en-US" sz="2200" b="1" baseline="-25000" dirty="0" smtClean="0"/>
              <a:t>－</a:t>
            </a:r>
            <a:r>
              <a:rPr lang="zh-CN" altLang="en-US" sz="2200" b="1" dirty="0" smtClean="0"/>
              <a:t>，∈</a:t>
            </a:r>
            <a:endParaRPr lang="zh-CN" altLang="en-US" sz="2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72000" y="2276872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在原有前提之下进行的推演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云形 6"/>
          <p:cNvSpPr/>
          <p:nvPr/>
        </p:nvSpPr>
        <p:spPr>
          <a:xfrm>
            <a:off x="1043608" y="3789040"/>
            <a:ext cx="2808312" cy="1296144"/>
          </a:xfrm>
          <a:prstGeom prst="cloud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475656" y="4078233"/>
            <a:ext cx="26642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smtClean="0">
                <a:latin typeface="+mn-ea"/>
                <a:sym typeface="Symbol"/>
              </a:rPr>
              <a:t></a:t>
            </a:r>
            <a:r>
              <a:rPr lang="zh-CN" altLang="en-US" sz="2200" b="1" baseline="-25000" smtClean="0">
                <a:latin typeface="+mn-ea"/>
              </a:rPr>
              <a:t>＋</a:t>
            </a:r>
            <a:r>
              <a:rPr lang="zh-CN" altLang="en-US" sz="2200" b="1" smtClean="0">
                <a:latin typeface="+mn-ea"/>
              </a:rPr>
              <a:t>，</a:t>
            </a:r>
            <a:r>
              <a:rPr lang="en-US" altLang="zh-CN" sz="2200" b="1" smtClean="0">
                <a:latin typeface="+mn-ea"/>
                <a:sym typeface="Symbol"/>
              </a:rPr>
              <a:t></a:t>
            </a:r>
            <a:r>
              <a:rPr lang="zh-CN" altLang="en-US" sz="2200" b="1" baseline="-25000" smtClean="0">
                <a:latin typeface="+mn-ea"/>
              </a:rPr>
              <a:t>－</a:t>
            </a:r>
            <a:r>
              <a:rPr lang="zh-CN" altLang="en-US" sz="2200" b="1" smtClean="0">
                <a:latin typeface="+mn-ea"/>
              </a:rPr>
              <a:t>，</a:t>
            </a:r>
            <a:r>
              <a:rPr lang="en-US" altLang="zh-CN" sz="2200" b="1" dirty="0" smtClean="0">
                <a:latin typeface="+mn-ea"/>
                <a:sym typeface="Symbol"/>
              </a:rPr>
              <a:t></a:t>
            </a:r>
            <a:r>
              <a:rPr lang="zh-CN" altLang="en-US" sz="2200" b="1" baseline="-25000" dirty="0" smtClean="0">
                <a:latin typeface="+mn-ea"/>
              </a:rPr>
              <a:t>＋</a:t>
            </a:r>
            <a:endParaRPr lang="zh-CN" altLang="en-US" sz="2200" b="1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4005064"/>
            <a:ext cx="40324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先在原有前提下引入某个假设，最后推出了不依赖于该假设、只依赖原有前提的结论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推演的书写规则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68760"/>
            <a:ext cx="8208912" cy="5112568"/>
          </a:xfrm>
        </p:spPr>
        <p:txBody>
          <a:bodyPr>
            <a:normAutofit fontScale="70000" lnSpcReduction="20000"/>
          </a:bodyPr>
          <a:lstStyle/>
          <a:p>
            <a:pPr lvl="1">
              <a:lnSpc>
                <a:spcPct val="150000"/>
              </a:lnSpc>
              <a:buNone/>
            </a:pP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）分行列出所有给定的前提，并在右边标明它们是前提。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）如果要引入假设，一开始就引入所有假设，并在右边标明它们是假设。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）每列出一个假设，就把它向上一个公式的右边推移一个空格。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）之后每列出一个公式，就在其右边注明它是从上面哪些公式使用什么推理规则得到的。</a:t>
            </a:r>
            <a:endParaRPr lang="en-US" altLang="zh-CN" sz="2300" dirty="0" smtClean="0"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</a:rPr>
              <a:t>5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）在一假设下根据∨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＋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，∨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，∧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＋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，∧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， 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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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＋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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和∈得到的公式，都与该假设对齐，表示它们全都依赖于该假设和它前面的假设。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</a:rPr>
              <a:t>6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）如果一个公式是通过使用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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＋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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－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</a:t>
            </a:r>
            <a:r>
              <a:rPr lang="zh-CN" altLang="en-US" sz="2300" baseline="-25000" dirty="0" smtClean="0">
                <a:latin typeface="楷体" pitchFamily="49" charset="-122"/>
                <a:ea typeface="楷体" pitchFamily="49" charset="-122"/>
              </a:rPr>
              <a:t>＋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得到的，则让它“进位”，即与它上面的倒数第二个假设对齐，表示它不依赖于它上面的倒数第一个假设，该假设及其下面的公式都被解除了。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</a:rPr>
              <a:t>7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）我们在一推演的右边画一垂直线，表示该推演的起讫，并在该垂直线的顶端置一小圆圈，表示右边的公式是假设。</a:t>
            </a:r>
            <a:endParaRPr lang="en-US" altLang="zh-CN" sz="2300" dirty="0" smtClean="0"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       如果该推演的最末一个公式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是从某个假设</a:t>
            </a:r>
            <a:r>
              <a:rPr lang="en-US" altLang="zh-CN" sz="2300" dirty="0" smtClean="0"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推出的，则称该推演是</a:t>
            </a:r>
            <a:r>
              <a:rPr lang="zh-CN" altLang="en-US" sz="2600" b="1" u="sng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从假设</a:t>
            </a:r>
            <a:r>
              <a:rPr lang="en-US" altLang="zh-CN" sz="2600" b="1" u="sng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600" b="1" u="sng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到结论</a:t>
            </a:r>
            <a:r>
              <a:rPr lang="en-US" altLang="zh-CN" sz="2600" b="1" u="sng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600" b="1" u="sng" dirty="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的一个推演</a:t>
            </a:r>
            <a:r>
              <a:rPr lang="zh-CN" altLang="en-US" sz="2300" dirty="0" smtClean="0">
                <a:latin typeface="楷体" pitchFamily="49" charset="-122"/>
                <a:ea typeface="楷体" pitchFamily="49" charset="-122"/>
              </a:rPr>
              <a:t>。</a:t>
            </a:r>
          </a:p>
          <a:p>
            <a:pPr lvl="1">
              <a:lnSpc>
                <a:spcPct val="150000"/>
              </a:lnSpc>
              <a:buNone/>
            </a:pPr>
            <a:endParaRPr lang="en-US" altLang="zh-CN" sz="1800" dirty="0" smtClean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推演的应用举例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8152"/>
            <a:ext cx="8229600" cy="1612776"/>
          </a:xfrm>
        </p:spPr>
        <p:txBody>
          <a:bodyPr>
            <a:normAutofit/>
          </a:bodyPr>
          <a:lstStyle/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如果在有限长的线段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上有无穷多个点的话，那么，如果这些点都有长度，则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将无限长；如果这些点都没有长度，则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将没有长度。而一个有限长的线段不可能无限长，也不可能没有长度。因此，在有限长的线段上不可能有无穷多个点。</a:t>
            </a:r>
            <a:endParaRPr lang="zh-CN" altLang="en-US" sz="18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流程图: 卡片 3"/>
          <p:cNvSpPr/>
          <p:nvPr/>
        </p:nvSpPr>
        <p:spPr>
          <a:xfrm>
            <a:off x="2267744" y="2636912"/>
            <a:ext cx="4320480" cy="648072"/>
          </a:xfrm>
          <a:prstGeom prst="flowChartPunchedCar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267744" y="2780928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A</a:t>
            </a:r>
            <a:r>
              <a:rPr lang="en-US" altLang="zh-CN" sz="2000" dirty="0" smtClean="0">
                <a:sym typeface="Symbol"/>
              </a:rPr>
              <a:t></a:t>
            </a:r>
            <a:r>
              <a:rPr lang="en-US" altLang="zh-CN" sz="2000" dirty="0" smtClean="0"/>
              <a:t>(B</a:t>
            </a:r>
            <a:r>
              <a:rPr lang="en-US" altLang="zh-CN" sz="2000" dirty="0" smtClean="0">
                <a:sym typeface="Symbol"/>
              </a:rPr>
              <a:t></a:t>
            </a:r>
            <a:r>
              <a:rPr lang="en-US" altLang="zh-CN" sz="2000" dirty="0" smtClean="0"/>
              <a:t>C)</a:t>
            </a:r>
            <a:r>
              <a:rPr lang="zh-CN" altLang="en-US" sz="2000" dirty="0" smtClean="0"/>
              <a:t>∧</a:t>
            </a:r>
            <a:r>
              <a:rPr lang="en-US" altLang="zh-CN" sz="2000" dirty="0" smtClean="0"/>
              <a:t>(</a:t>
            </a:r>
            <a:r>
              <a:rPr lang="en-US" altLang="zh-CN" sz="2000" baseline="30000" dirty="0" smtClean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altLang="zh-CN" sz="2000" dirty="0" smtClean="0"/>
              <a:t>B</a:t>
            </a:r>
            <a:r>
              <a:rPr lang="en-US" altLang="zh-CN" sz="2000" dirty="0" smtClean="0">
                <a:sym typeface="Symbol"/>
              </a:rPr>
              <a:t></a:t>
            </a:r>
            <a:r>
              <a:rPr lang="en-US" altLang="zh-CN" sz="2000" dirty="0" smtClean="0"/>
              <a:t>D)</a:t>
            </a:r>
            <a:r>
              <a:rPr lang="zh-CN" altLang="en-US" sz="2000" dirty="0" smtClean="0"/>
              <a:t>，</a:t>
            </a:r>
            <a:r>
              <a:rPr lang="en-US" altLang="zh-CN" sz="2000" baseline="30000" dirty="0" smtClean="0">
                <a:cs typeface="Times New Roman" pitchFamily="18" charset="0"/>
                <a:sym typeface="Symbol" pitchFamily="18" charset="2"/>
              </a:rPr>
              <a:t>  </a:t>
            </a:r>
            <a:r>
              <a:rPr lang="en-US" altLang="zh-CN" sz="2000" dirty="0" smtClean="0"/>
              <a:t>C</a:t>
            </a:r>
            <a:r>
              <a:rPr lang="zh-CN" altLang="en-US" sz="2000" dirty="0" smtClean="0"/>
              <a:t>∧</a:t>
            </a:r>
            <a:r>
              <a:rPr lang="en-US" altLang="zh-CN" sz="2000" baseline="30000" dirty="0" smtClean="0">
                <a:cs typeface="Times New Roman" pitchFamily="18" charset="0"/>
                <a:sym typeface="Symbol" pitchFamily="18" charset="2"/>
              </a:rPr>
              <a:t>  </a:t>
            </a:r>
            <a:r>
              <a:rPr lang="en-US" altLang="zh-CN" sz="2000" dirty="0" smtClean="0"/>
              <a:t>D/</a:t>
            </a:r>
            <a:r>
              <a:rPr lang="zh-CN" altLang="en-US" sz="2000" dirty="0" smtClean="0"/>
              <a:t>∴ </a:t>
            </a:r>
            <a:r>
              <a:rPr lang="en-US" altLang="zh-CN" sz="2000" baseline="30000" dirty="0" smtClean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altLang="zh-CN" sz="2000" dirty="0" smtClean="0"/>
              <a:t>A</a:t>
            </a:r>
            <a:endParaRPr lang="zh-CN" altLang="en-US" sz="20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t="7609" r="58228"/>
          <a:stretch>
            <a:fillRect/>
          </a:stretch>
        </p:blipFill>
        <p:spPr bwMode="auto">
          <a:xfrm>
            <a:off x="2195736" y="3717032"/>
            <a:ext cx="2376264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115616" y="3284984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证明</a:t>
            </a:r>
            <a:r>
              <a:rPr lang="zh-CN" altLang="en-US" sz="20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：</a:t>
            </a:r>
            <a:endParaRPr lang="zh-CN" altLang="en-US" sz="2000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l="69473" t="7609"/>
          <a:stretch>
            <a:fillRect/>
          </a:stretch>
        </p:blipFill>
        <p:spPr bwMode="auto">
          <a:xfrm>
            <a:off x="5148064" y="3717032"/>
            <a:ext cx="173657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定理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676128" y="3292192"/>
          <a:ext cx="3768080" cy="22250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7680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b="0" dirty="0" smtClean="0"/>
                        <a:t>[1]</a:t>
                      </a:r>
                      <a:r>
                        <a:rPr lang="en-US" altLang="zh-CN" sz="1800" b="0" baseline="0" dirty="0" smtClean="0"/>
                        <a:t> </a:t>
                      </a:r>
                      <a:r>
                        <a:rPr lang="en-US" altLang="zh-CN" sz="1800" b="0" dirty="0" smtClean="0"/>
                        <a:t>A</a:t>
                      </a:r>
                      <a:r>
                        <a:rPr lang="en-US" altLang="zh-CN" sz="1800" b="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/>
                        <a:t>(B</a:t>
                      </a:r>
                      <a:r>
                        <a:rPr lang="en-US" altLang="zh-CN" sz="1800" b="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dirty="0" smtClean="0"/>
                        <a:t>A)</a:t>
                      </a:r>
                      <a:endParaRPr lang="zh-CN" alt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[2] 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(B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C))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((A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C))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[3] 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((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A)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[4] 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b="0" baseline="30000" dirty="0" smtClean="0">
                          <a:latin typeface="+mn-lt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</a:t>
                      </a:r>
                      <a:r>
                        <a:rPr lang="en-US" altLang="zh-CN" sz="1800" dirty="0" smtClean="0"/>
                        <a:t>A)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[5] 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((B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C)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C))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[6] (A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B)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((C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D)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(A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C</a:t>
                      </a:r>
                      <a:r>
                        <a:rPr lang="en-US" altLang="zh-CN" sz="1800" dirty="0" smtClean="0">
                          <a:sym typeface="Symbol" pitchFamily="18" charset="2"/>
                        </a:rPr>
                        <a:t></a:t>
                      </a:r>
                      <a:r>
                        <a:rPr lang="en-US" altLang="zh-CN" sz="1800" dirty="0" smtClean="0"/>
                        <a:t>B</a:t>
                      </a:r>
                      <a:r>
                        <a:rPr lang="zh-CN" altLang="en-US" sz="1800" dirty="0" smtClean="0"/>
                        <a:t>∨</a:t>
                      </a:r>
                      <a:r>
                        <a:rPr lang="en-US" altLang="zh-CN" sz="1800" dirty="0" smtClean="0"/>
                        <a:t>D))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1579439"/>
            <a:ext cx="7200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如果一个</a:t>
            </a:r>
            <a:r>
              <a:rPr lang="en-US" altLang="zh-CN" sz="2200" b="1" dirty="0" smtClean="0">
                <a:latin typeface="楷体" pitchFamily="49" charset="-122"/>
                <a:ea typeface="楷体" pitchFamily="49" charset="-122"/>
              </a:rPr>
              <a:t>P</a:t>
            </a:r>
            <a:r>
              <a:rPr lang="en-US" altLang="zh-CN" sz="2200" b="1" baseline="300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推演的最末一个公式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不依赖于任何假设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,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则称</a:t>
            </a:r>
            <a:r>
              <a:rPr lang="en-US" altLang="zh-CN" sz="2200" b="1" i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200" b="1" i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为</a:t>
            </a:r>
            <a:r>
              <a:rPr lang="en-US" altLang="zh-CN" sz="2200" b="1" i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lang="en-US" altLang="zh-CN" sz="2200" b="1" i="1" u="sng" baseline="30000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i="1" u="sng" dirty="0" smtClean="0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的定理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，该推演是关于公式</a:t>
            </a:r>
            <a:r>
              <a:rPr lang="en-US" altLang="zh-CN" sz="2200" dirty="0" smtClean="0"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的一个</a:t>
            </a:r>
            <a:r>
              <a:rPr lang="zh-CN" altLang="en-US" sz="2200" b="1" u="sng" dirty="0" smtClean="0">
                <a:solidFill>
                  <a:srgbClr val="00B050"/>
                </a:solidFill>
                <a:latin typeface="楷体" pitchFamily="49" charset="-122"/>
                <a:ea typeface="楷体" pitchFamily="49" charset="-122"/>
              </a:rPr>
              <a:t>证明</a:t>
            </a:r>
            <a:r>
              <a:rPr lang="zh-CN" altLang="en-US" sz="2200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zh-CN" altLang="en-US" sz="2200" dirty="0"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30000" dirty="0" smtClean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定理的证明</a:t>
            </a:r>
            <a:endParaRPr lang="zh-CN" altLang="en-U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 l="72018" t="9079"/>
          <a:stretch>
            <a:fillRect/>
          </a:stretch>
        </p:blipFill>
        <p:spPr bwMode="auto">
          <a:xfrm>
            <a:off x="6084168" y="2996952"/>
            <a:ext cx="2160240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折角形 4"/>
          <p:cNvSpPr/>
          <p:nvPr/>
        </p:nvSpPr>
        <p:spPr>
          <a:xfrm>
            <a:off x="2699792" y="1412776"/>
            <a:ext cx="3888432" cy="720080"/>
          </a:xfrm>
          <a:prstGeom prst="foldedCorne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699792" y="1556792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(A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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(B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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C))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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((A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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B)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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(A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  <a:sym typeface="Symbol" pitchFamily="18" charset="2"/>
              </a:rPr>
              <a:t>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C))</a:t>
            </a:r>
            <a:endParaRPr lang="zh-CN" altLang="en-US" sz="20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616" y="2420888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证明</a:t>
            </a:r>
            <a:r>
              <a:rPr lang="zh-CN" altLang="en-US" sz="2000" dirty="0" smtClean="0">
                <a:latin typeface="华文行楷" pitchFamily="2" charset="-122"/>
                <a:ea typeface="华文行楷" pitchFamily="2" charset="-122"/>
              </a:rPr>
              <a:t>：</a:t>
            </a:r>
            <a:endParaRPr lang="zh-CN" altLang="en-US" sz="2000" dirty="0">
              <a:latin typeface="华文行楷" pitchFamily="2" charset="-122"/>
              <a:ea typeface="华文行楷" pitchFamily="2" charset="-122"/>
            </a:endParaRP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 cstate="print"/>
          <a:srcRect t="9079" r="41149"/>
          <a:stretch>
            <a:fillRect/>
          </a:stretch>
        </p:blipFill>
        <p:spPr bwMode="auto">
          <a:xfrm>
            <a:off x="1547664" y="2996952"/>
            <a:ext cx="4543276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5194</Words>
  <Application>Microsoft Office PowerPoint</Application>
  <PresentationFormat>全屏显示(4:3)</PresentationFormat>
  <Paragraphs>581</Paragraphs>
  <Slides>55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56" baseType="lpstr">
      <vt:lpstr>Office 主题</vt:lpstr>
      <vt:lpstr>幻灯片 1</vt:lpstr>
      <vt:lpstr>第二章 命题逻辑</vt:lpstr>
      <vt:lpstr>第二章 命题逻辑</vt:lpstr>
      <vt:lpstr>简单命题</vt:lpstr>
      <vt:lpstr>复合命题</vt:lpstr>
      <vt:lpstr>复合命题的种类</vt:lpstr>
      <vt:lpstr>联言命题</vt:lpstr>
      <vt:lpstr>联言推理的有效式</vt:lpstr>
      <vt:lpstr>选言命题</vt:lpstr>
      <vt:lpstr>相容选言命题的有效式</vt:lpstr>
      <vt:lpstr>不相容选言命题的有效式</vt:lpstr>
      <vt:lpstr>选言命题的判断</vt:lpstr>
      <vt:lpstr>假言命题（条件命题）</vt:lpstr>
      <vt:lpstr>充分条件假言命题</vt:lpstr>
      <vt:lpstr>充分条件假言命题的有效式</vt:lpstr>
      <vt:lpstr>必要条件假言命题</vt:lpstr>
      <vt:lpstr>充分必要条件假言命题</vt:lpstr>
      <vt:lpstr>负命题</vt:lpstr>
      <vt:lpstr>第二章 命题逻辑</vt:lpstr>
      <vt:lpstr>日常联结词的缺陷</vt:lpstr>
      <vt:lpstr>真值联结词</vt:lpstr>
      <vt:lpstr>D1 真值形式的定义</vt:lpstr>
      <vt:lpstr>真值形式定义的说明</vt:lpstr>
      <vt:lpstr>五种最基本的公式</vt:lpstr>
      <vt:lpstr>指派与赋值</vt:lpstr>
      <vt:lpstr>基本联结词的真值表</vt:lpstr>
      <vt:lpstr>日常语言中复合命题的符号化</vt:lpstr>
      <vt:lpstr>第二章 命题逻辑</vt:lpstr>
      <vt:lpstr>真值形式的类型</vt:lpstr>
      <vt:lpstr>重言式的判定程序</vt:lpstr>
      <vt:lpstr>真值表方法</vt:lpstr>
      <vt:lpstr>常用重言式</vt:lpstr>
      <vt:lpstr>归谬赋值法</vt:lpstr>
      <vt:lpstr>归谬赋值法</vt:lpstr>
      <vt:lpstr>复杂情形的处理</vt:lpstr>
      <vt:lpstr>树形图方法</vt:lpstr>
      <vt:lpstr>树形图方法</vt:lpstr>
      <vt:lpstr>第二章 命题逻辑</vt:lpstr>
      <vt:lpstr>重言蕴涵式</vt:lpstr>
      <vt:lpstr>常见重言蕴涵式</vt:lpstr>
      <vt:lpstr>常见重言等值式</vt:lpstr>
      <vt:lpstr>真值联结词的可互换性</vt:lpstr>
      <vt:lpstr>第二章 命题逻辑</vt:lpstr>
      <vt:lpstr>命题逻辑中的形式推演</vt:lpstr>
      <vt:lpstr>PN推演规则</vt:lpstr>
      <vt:lpstr>PN推演规则</vt:lpstr>
      <vt:lpstr>PN推演规则</vt:lpstr>
      <vt:lpstr>PN推演规则</vt:lpstr>
      <vt:lpstr>PN推演规则</vt:lpstr>
      <vt:lpstr>PN推演规则</vt:lpstr>
      <vt:lpstr>幻灯片 51</vt:lpstr>
      <vt:lpstr>PN推演的书写规则</vt:lpstr>
      <vt:lpstr>PN推演的应用举例</vt:lpstr>
      <vt:lpstr>PN定理</vt:lpstr>
      <vt:lpstr>PN定理的证明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CBS</cp:lastModifiedBy>
  <cp:revision>251</cp:revision>
  <dcterms:created xsi:type="dcterms:W3CDTF">2014-08-13T07:37:31Z</dcterms:created>
  <dcterms:modified xsi:type="dcterms:W3CDTF">2014-08-21T07:51:14Z</dcterms:modified>
</cp:coreProperties>
</file>