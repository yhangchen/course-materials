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6"/>
  </p:notesMasterIdLst>
  <p:sldIdLst>
    <p:sldId id="256" r:id="rId2"/>
    <p:sldId id="263" r:id="rId3"/>
    <p:sldId id="257" r:id="rId4"/>
    <p:sldId id="289" r:id="rId5"/>
    <p:sldId id="266" r:id="rId6"/>
    <p:sldId id="264" r:id="rId7"/>
    <p:sldId id="265" r:id="rId8"/>
    <p:sldId id="290" r:id="rId9"/>
    <p:sldId id="267" r:id="rId10"/>
    <p:sldId id="268" r:id="rId11"/>
    <p:sldId id="269" r:id="rId12"/>
    <p:sldId id="270" r:id="rId13"/>
    <p:sldId id="271" r:id="rId14"/>
    <p:sldId id="272" r:id="rId15"/>
    <p:sldId id="273" r:id="rId16"/>
    <p:sldId id="292" r:id="rId17"/>
    <p:sldId id="274" r:id="rId18"/>
    <p:sldId id="275" r:id="rId19"/>
    <p:sldId id="276" r:id="rId20"/>
    <p:sldId id="293" r:id="rId21"/>
    <p:sldId id="277" r:id="rId22"/>
    <p:sldId id="278" r:id="rId23"/>
    <p:sldId id="279" r:id="rId24"/>
    <p:sldId id="280" r:id="rId2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6600"/>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84" d="100"/>
          <a:sy n="84" d="100"/>
        </p:scale>
        <p:origin x="-1554" y="-90"/>
      </p:cViewPr>
      <p:guideLst>
        <p:guide orient="horz" pos="2160"/>
        <p:guide pos="2880"/>
      </p:guideLst>
    </p:cSldViewPr>
  </p:slid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presProps" Target="presProps.xml"/><Relationship Id="rId30"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132DDAA-8E19-4E4D-AFAA-1705ACDCD58B}" type="datetimeFigureOut">
              <a:rPr lang="zh-CN" altLang="en-US" smtClean="0"/>
              <a:pPr/>
              <a:t>2014-8-22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324D5293-C8FD-49E9-9F51-99D6E1E28A2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endParaRPr lang="zh-CN" altLang="en-US" dirty="0"/>
          </a:p>
        </p:txBody>
      </p:sp>
      <p:sp>
        <p:nvSpPr>
          <p:cNvPr id="4" name="灯片编号占位符 3"/>
          <p:cNvSpPr>
            <a:spLocks noGrp="1"/>
          </p:cNvSpPr>
          <p:nvPr>
            <p:ph type="sldNum" sz="quarter" idx="10"/>
          </p:nvPr>
        </p:nvSpPr>
        <p:spPr/>
        <p:txBody>
          <a:bodyPr/>
          <a:lstStyle/>
          <a:p>
            <a:fld id="{E4DFDFEB-08AF-464D-AA94-B73A5CAA2AD3}" type="slidenum">
              <a:rPr lang="zh-CN" altLang="en-US" smtClean="0"/>
              <a:pPr/>
              <a:t>1</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normAutofit/>
          </a:bodyPr>
          <a:lstStyle/>
          <a:p>
            <a:pPr eaLnBrk="1" hangingPunct="1">
              <a:lnSpc>
                <a:spcPct val="150000"/>
              </a:lnSpc>
            </a:pPr>
            <a:r>
              <a:rPr lang="zh-CN" altLang="en-US" b="1" dirty="0" smtClean="0">
                <a:latin typeface="Times New Roman" pitchFamily="18" charset="0"/>
                <a:cs typeface="Times New Roman" pitchFamily="18" charset="0"/>
              </a:rPr>
              <a:t>从假说推出观察结论</a:t>
            </a:r>
            <a:endParaRPr lang="zh-CN" altLang="en-US" dirty="0" smtClean="0">
              <a:latin typeface="Times New Roman" pitchFamily="18" charset="0"/>
              <a:cs typeface="Times New Roman" pitchFamily="18" charset="0"/>
            </a:endParaRPr>
          </a:p>
          <a:p>
            <a:pPr lvl="1" eaLnBrk="1" hangingPunct="1">
              <a:lnSpc>
                <a:spcPct val="150000"/>
              </a:lnSpc>
            </a:pPr>
            <a:r>
              <a:rPr lang="zh-CN" altLang="en-US" sz="2400" dirty="0" smtClean="0">
                <a:latin typeface="Times New Roman" pitchFamily="18" charset="0"/>
                <a:cs typeface="Times New Roman" pitchFamily="18" charset="0"/>
              </a:rPr>
              <a:t>从假说出发，加上其他已经确证的科学理论和逻辑工具，主要运用演绎推理，推演出一些可供实践检验的结论。应该注意，这里的结论既应该包括对已有事实的解释，更应该包括对未知事实的预言。</a:t>
            </a:r>
          </a:p>
          <a:p>
            <a:endParaRPr lang="zh-CN" altLang="en-US" dirty="0"/>
          </a:p>
        </p:txBody>
      </p:sp>
      <p:sp>
        <p:nvSpPr>
          <p:cNvPr id="4" name="灯片编号占位符 3"/>
          <p:cNvSpPr>
            <a:spLocks noGrp="1"/>
          </p:cNvSpPr>
          <p:nvPr>
            <p:ph type="sldNum" sz="quarter" idx="10"/>
          </p:nvPr>
        </p:nvSpPr>
        <p:spPr/>
        <p:txBody>
          <a:bodyPr/>
          <a:lstStyle/>
          <a:p>
            <a:fld id="{324D5293-C8FD-49E9-9F51-99D6E1E28A28}" type="slidenum">
              <a:rPr lang="zh-CN" altLang="en-US" smtClean="0"/>
              <a:pPr/>
              <a:t>22</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smtClean="0"/>
              <a:t>单击此处编辑母版标题样式</a:t>
            </a:r>
            <a:endParaRPr lang="zh-CN" altLang="en-US"/>
          </a:p>
        </p:txBody>
      </p:sp>
      <p:sp>
        <p:nvSpPr>
          <p:cNvPr id="3" name="副标题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zh-CN" altLang="en-US"/>
          </a:p>
        </p:txBody>
      </p:sp>
      <p:sp>
        <p:nvSpPr>
          <p:cNvPr id="4" name="日期占位符 3"/>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日期占位符 3"/>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内容占位符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内容占位符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日期占位符 4"/>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lvl1pPr>
              <a:defRPr/>
            </a:lvl1p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7" name="日期占位符 6"/>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日期占位符 2"/>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smtClean="0"/>
              <a:t>单击此处编辑母版标题样式</a:t>
            </a:r>
            <a:endParaRPr lang="zh-CN" altLang="en-US"/>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smtClean="0"/>
              <a:t>单击此处编辑母版标题样式</a:t>
            </a:r>
            <a:endParaRPr lang="zh-CN" altLang="en-US"/>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日期占位符 4"/>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629400" y="274638"/>
            <a:ext cx="2057400" cy="5851525"/>
          </a:xfrm>
        </p:spPr>
        <p:txBody>
          <a:bodyPr vert="eaVert"/>
          <a:lstStyle/>
          <a:p>
            <a:r>
              <a:rPr lang="zh-CN" altLang="en-US" smtClean="0"/>
              <a:t>单击此处编辑母版标题样式</a:t>
            </a:r>
            <a:endParaRPr lang="zh-CN" altLang="en-US"/>
          </a:p>
        </p:txBody>
      </p:sp>
      <p:sp>
        <p:nvSpPr>
          <p:cNvPr id="3" name="竖排文字占位符 2"/>
          <p:cNvSpPr>
            <a:spLocks noGrp="1"/>
          </p:cNvSpPr>
          <p:nvPr>
            <p:ph type="body" orient="vert" idx="1"/>
          </p:nvPr>
        </p:nvSpPr>
        <p:spPr>
          <a:xfrm>
            <a:off x="457200" y="274638"/>
            <a:ext cx="6019800" cy="5851525"/>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10"/>
          </p:nvPr>
        </p:nvSpPr>
        <p:spPr/>
        <p:txBody>
          <a:body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FFD24A47-282E-47C5-901C-133DE6197B38}" type="slidenum">
              <a:rPr lang="zh-CN" altLang="en-US" smtClean="0"/>
              <a:pPr/>
              <a:t>‹#›</a:t>
            </a:fld>
            <a:endParaRPr lang="zh-CN" alt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zh-CN" altLang="en-US" smtClean="0"/>
              <a:t>单击此处编辑母版标题样式</a:t>
            </a:r>
            <a:endParaRPr lang="zh-CN" altLang="en-US"/>
          </a:p>
        </p:txBody>
      </p:sp>
      <p:sp>
        <p:nvSpPr>
          <p:cNvPr id="3" name="文本占位符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4" name="日期占位符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FF66A39-AB38-4D0A-A8A8-1AEF56BDC68A}" type="datetimeFigureOut">
              <a:rPr lang="zh-CN" altLang="en-US" smtClean="0"/>
              <a:pPr/>
              <a:t>2014-8-22</a:t>
            </a:fld>
            <a:endParaRPr lang="zh-CN" altLang="en-US"/>
          </a:p>
        </p:txBody>
      </p:sp>
      <p:sp>
        <p:nvSpPr>
          <p:cNvPr id="5" name="页脚占位符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FD24A47-282E-47C5-901C-133DE6197B38}" type="slidenum">
              <a:rPr lang="zh-CN" altLang="en-US" smtClean="0"/>
              <a:pPr/>
              <a:t>‹#›</a:t>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1"/>
          <p:cNvSpPr txBox="1">
            <a:spLocks/>
          </p:cNvSpPr>
          <p:nvPr/>
        </p:nvSpPr>
        <p:spPr>
          <a:xfrm>
            <a:off x="683568" y="1916832"/>
            <a:ext cx="7772400" cy="1829761"/>
          </a:xfrm>
          <a:prstGeom prst="rect">
            <a:avLst/>
          </a:prstGeom>
        </p:spPr>
        <p:txBody>
          <a:bodyPr vert="horz" lIns="91440" tIns="45720" rIns="91440" bIns="45720" rtlCol="0" anchor="ctr">
            <a:normAutofit/>
          </a:bodyPr>
          <a:lstStyle/>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54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rPr>
              <a:t>逻辑学导论</a:t>
            </a:r>
            <a:endParaRPr kumimoji="0" lang="en-US" altLang="zh-CN" sz="54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endParaRPr>
          </a:p>
          <a:p>
            <a:pPr marL="0" marR="0" lvl="0" indent="0" algn="ctr" defTabSz="914400" rtl="0" eaLnBrk="1" fontAlgn="auto" latinLnBrk="0" hangingPunct="1">
              <a:lnSpc>
                <a:spcPct val="100000"/>
              </a:lnSpc>
              <a:spcBef>
                <a:spcPct val="0"/>
              </a:spcBef>
              <a:spcAft>
                <a:spcPts val="0"/>
              </a:spcAft>
              <a:buClrTx/>
              <a:buSzTx/>
              <a:buFontTx/>
              <a:buNone/>
              <a:tabLst/>
              <a:defRPr/>
            </a:pPr>
            <a:r>
              <a:rPr kumimoji="0" lang="zh-CN" altLang="en-US" sz="2800" b="0" i="0" u="none" strike="noStrike" kern="1200" cap="none" spc="0" normalizeH="0" baseline="0" noProof="0" dirty="0" smtClean="0">
                <a:ln>
                  <a:noFill/>
                </a:ln>
                <a:solidFill>
                  <a:schemeClr val="tx1"/>
                </a:solidFill>
                <a:effectLst/>
                <a:uLnTx/>
                <a:uFillTx/>
                <a:latin typeface="华文新魏" pitchFamily="2" charset="-122"/>
                <a:ea typeface="华文新魏" pitchFamily="2" charset="-122"/>
                <a:cs typeface="+mj-cs"/>
              </a:rPr>
              <a:t>（第三版）</a:t>
            </a:r>
            <a:endParaRPr kumimoji="0" lang="zh-CN" altLang="en-US" sz="2800" b="0" i="0" u="none" strike="noStrike" kern="1200" cap="none" spc="0" normalizeH="0" baseline="0" noProof="0" dirty="0">
              <a:ln>
                <a:noFill/>
              </a:ln>
              <a:solidFill>
                <a:schemeClr val="tx1"/>
              </a:solidFill>
              <a:effectLst/>
              <a:uLnTx/>
              <a:uFillTx/>
              <a:latin typeface="华文新魏" pitchFamily="2" charset="-122"/>
              <a:ea typeface="华文新魏" pitchFamily="2" charset="-122"/>
              <a:cs typeface="+mj-cs"/>
            </a:endParaRPr>
          </a:p>
        </p:txBody>
      </p:sp>
      <p:sp>
        <p:nvSpPr>
          <p:cNvPr id="5" name="副标题 2"/>
          <p:cNvSpPr txBox="1">
            <a:spLocks/>
          </p:cNvSpPr>
          <p:nvPr/>
        </p:nvSpPr>
        <p:spPr>
          <a:xfrm>
            <a:off x="683568" y="4293096"/>
            <a:ext cx="7772400" cy="1200150"/>
          </a:xfrm>
          <a:prstGeom prst="rect">
            <a:avLst/>
          </a:prstGeom>
        </p:spPr>
        <p:txBody>
          <a:bodyPr vert="horz" lIns="91440" tIns="45720" rIns="91440" bIns="45720" rtlCol="0">
            <a:normAutofit/>
          </a:bodyPr>
          <a:lstStyle/>
          <a:p>
            <a:pPr marL="0" marR="0" lvl="0" indent="0" algn="ctr"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sz="2800" b="0" i="0" u="none" strike="noStrike" kern="1200" cap="none" spc="0" normalizeH="0" baseline="0" noProof="0" dirty="0" smtClean="0">
                <a:ln>
                  <a:noFill/>
                </a:ln>
                <a:effectLst/>
                <a:uLnTx/>
                <a:uFillTx/>
                <a:latin typeface="华文新魏" pitchFamily="2" charset="-122"/>
                <a:ea typeface="华文新魏" pitchFamily="2" charset="-122"/>
              </a:rPr>
              <a:t>陈波 著</a:t>
            </a:r>
            <a:endParaRPr kumimoji="0" lang="en-US" altLang="zh-CN" sz="2800" b="0" i="0" u="none" strike="noStrike" kern="1200" cap="none" spc="0" normalizeH="0" baseline="0" noProof="0" dirty="0" smtClean="0">
              <a:ln>
                <a:noFill/>
              </a:ln>
              <a:effectLst/>
              <a:uLnTx/>
              <a:uFillTx/>
              <a:latin typeface="华文新魏" pitchFamily="2" charset="-122"/>
              <a:ea typeface="华文新魏" pitchFamily="2" charset="-122"/>
            </a:endParaRPr>
          </a:p>
          <a:p>
            <a:pPr lvl="0" algn="ctr">
              <a:spcBef>
                <a:spcPct val="20000"/>
              </a:spcBef>
            </a:pPr>
            <a:r>
              <a:rPr lang="zh-CN" altLang="en-US" sz="2800" dirty="0" smtClean="0">
                <a:latin typeface="华文新魏" pitchFamily="2" charset="-122"/>
                <a:ea typeface="华文新魏" pitchFamily="2" charset="-122"/>
              </a:rPr>
              <a:t>中国人民大学出版社（</a:t>
            </a:r>
            <a:r>
              <a:rPr lang="en-US" altLang="zh-CN" sz="2800" dirty="0" smtClean="0">
                <a:latin typeface="华文新魏" pitchFamily="2" charset="-122"/>
                <a:ea typeface="华文新魏" pitchFamily="2" charset="-122"/>
              </a:rPr>
              <a:t>2014</a:t>
            </a:r>
            <a:r>
              <a:rPr lang="zh-CN" altLang="en-US" sz="2800" dirty="0">
                <a:latin typeface="华文新魏" pitchFamily="2" charset="-122"/>
                <a:ea typeface="华文新魏" pitchFamily="2" charset="-122"/>
              </a:rPr>
              <a:t>）</a:t>
            </a:r>
            <a:endParaRPr kumimoji="0" lang="zh-CN" altLang="en-US" sz="2800" b="0" i="0" u="none" strike="noStrike" kern="1200" cap="none" spc="0" normalizeH="0" baseline="0" noProof="0" dirty="0" smtClean="0">
              <a:ln>
                <a:noFill/>
              </a:ln>
              <a:effectLst/>
              <a:uLnTx/>
              <a:uFillTx/>
              <a:latin typeface="华文新魏" pitchFamily="2" charset="-122"/>
              <a:ea typeface="华文新魏" pitchFamily="2" charset="-122"/>
            </a:endParaRPr>
          </a:p>
        </p:txBody>
      </p:sp>
      <p:sp>
        <p:nvSpPr>
          <p:cNvPr id="6" name="TextBox 6"/>
          <p:cNvSpPr txBox="1">
            <a:spLocks noChangeArrowheads="1"/>
          </p:cNvSpPr>
          <p:nvPr/>
        </p:nvSpPr>
        <p:spPr bwMode="auto">
          <a:xfrm rot="10800000" flipV="1">
            <a:off x="1143000" y="680393"/>
            <a:ext cx="7072313" cy="461665"/>
          </a:xfrm>
          <a:prstGeom prst="rect">
            <a:avLst/>
          </a:prstGeom>
          <a:noFill/>
          <a:ln w="9525">
            <a:noFill/>
            <a:miter lim="800000"/>
            <a:headEnd/>
            <a:tailEnd/>
          </a:ln>
        </p:spPr>
        <p:txBody>
          <a:bodyPr>
            <a:spAutoFit/>
          </a:bodyPr>
          <a:lstStyle/>
          <a:p>
            <a:pPr eaLnBrk="1" hangingPunct="1"/>
            <a:r>
              <a:rPr lang="zh-CN" altLang="en-US" sz="2400" b="1" dirty="0">
                <a:latin typeface="华文新魏" pitchFamily="2" charset="-122"/>
                <a:ea typeface="华文新魏" pitchFamily="2" charset="-122"/>
                <a:cs typeface="Times New Roman" pitchFamily="18" charset="0"/>
              </a:rPr>
              <a:t>新编</a:t>
            </a:r>
            <a:r>
              <a:rPr lang="en-US" altLang="zh-CN" sz="2400" b="1" dirty="0">
                <a:latin typeface="华文新魏" pitchFamily="2" charset="-122"/>
                <a:ea typeface="华文新魏" pitchFamily="2" charset="-122"/>
                <a:cs typeface="Times New Roman" pitchFamily="18" charset="0"/>
              </a:rPr>
              <a:t>21</a:t>
            </a:r>
            <a:r>
              <a:rPr lang="zh-CN" altLang="en-US" sz="2400" b="1" dirty="0">
                <a:latin typeface="华文新魏" pitchFamily="2" charset="-122"/>
                <a:ea typeface="华文新魏" pitchFamily="2" charset="-122"/>
                <a:cs typeface="Times New Roman" pitchFamily="18" charset="0"/>
              </a:rPr>
              <a:t>世纪系列教材</a:t>
            </a: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18654"/>
            <a:ext cx="8229600" cy="1143000"/>
          </a:xfrm>
        </p:spPr>
        <p:txBody>
          <a:bodyPr/>
          <a:lstStyle/>
          <a:p>
            <a:r>
              <a:rPr lang="zh-CN" altLang="en-US" dirty="0" smtClean="0">
                <a:latin typeface="华文新魏" pitchFamily="2" charset="-122"/>
                <a:ea typeface="华文新魏" pitchFamily="2" charset="-122"/>
              </a:rPr>
              <a:t>归纳逻辑和归纳推理</a:t>
            </a:r>
            <a:endParaRPr lang="zh-CN" altLang="en-US" dirty="0">
              <a:latin typeface="华文新魏" pitchFamily="2" charset="-122"/>
              <a:ea typeface="华文新魏" pitchFamily="2" charset="-122"/>
            </a:endParaRPr>
          </a:p>
        </p:txBody>
      </p:sp>
      <p:sp>
        <p:nvSpPr>
          <p:cNvPr id="4" name="内容占位符 2"/>
          <p:cNvSpPr>
            <a:spLocks noGrp="1"/>
          </p:cNvSpPr>
          <p:nvPr>
            <p:ph idx="1"/>
          </p:nvPr>
        </p:nvSpPr>
        <p:spPr>
          <a:xfrm>
            <a:off x="1403648" y="1484784"/>
            <a:ext cx="6696744" cy="576064"/>
          </a:xfrm>
        </p:spPr>
        <p:txBody>
          <a:bodyPr>
            <a:normAutofit/>
          </a:bodyPr>
          <a:lstStyle/>
          <a:p>
            <a:pPr>
              <a:buNone/>
            </a:pPr>
            <a:r>
              <a:rPr lang="zh-CN" altLang="en-US" sz="2400" dirty="0" smtClean="0">
                <a:latin typeface="楷体" pitchFamily="49" charset="-122"/>
                <a:ea typeface="楷体" pitchFamily="49" charset="-122"/>
              </a:rPr>
              <a:t>是以</a:t>
            </a:r>
            <a:r>
              <a:rPr lang="zh-CN" altLang="en-US" sz="2400" b="1" dirty="0" smtClean="0">
                <a:solidFill>
                  <a:srgbClr val="C00000"/>
                </a:solidFill>
                <a:latin typeface="楷体" pitchFamily="49" charset="-122"/>
                <a:ea typeface="楷体" pitchFamily="49" charset="-122"/>
              </a:rPr>
              <a:t>归纳推理</a:t>
            </a:r>
            <a:r>
              <a:rPr lang="zh-CN" altLang="en-US" sz="2400" dirty="0" smtClean="0">
                <a:latin typeface="楷体" pitchFamily="49" charset="-122"/>
                <a:ea typeface="楷体" pitchFamily="49" charset="-122"/>
              </a:rPr>
              <a:t>和</a:t>
            </a:r>
            <a:r>
              <a:rPr lang="zh-CN" altLang="en-US" sz="2400" b="1" dirty="0" smtClean="0">
                <a:solidFill>
                  <a:srgbClr val="C00000"/>
                </a:solidFill>
                <a:latin typeface="楷体" pitchFamily="49" charset="-122"/>
                <a:ea typeface="楷体" pitchFamily="49" charset="-122"/>
              </a:rPr>
              <a:t>归纳方法</a:t>
            </a:r>
            <a:r>
              <a:rPr lang="zh-CN" altLang="en-US" sz="2400" dirty="0" smtClean="0">
                <a:latin typeface="楷体" pitchFamily="49" charset="-122"/>
                <a:ea typeface="楷体" pitchFamily="49" charset="-122"/>
              </a:rPr>
              <a:t>为基本内容的知识体系</a:t>
            </a:r>
            <a:endParaRPr lang="zh-CN" altLang="en-US" sz="2400" dirty="0">
              <a:latin typeface="楷体" pitchFamily="49" charset="-122"/>
              <a:ea typeface="楷体" pitchFamily="49" charset="-122"/>
            </a:endParaRPr>
          </a:p>
        </p:txBody>
      </p:sp>
      <p:grpSp>
        <p:nvGrpSpPr>
          <p:cNvPr id="11" name="组合 10"/>
          <p:cNvGrpSpPr/>
          <p:nvPr/>
        </p:nvGrpSpPr>
        <p:grpSpPr>
          <a:xfrm>
            <a:off x="1115616" y="2204864"/>
            <a:ext cx="1944216" cy="504056"/>
            <a:chOff x="1115616" y="2204864"/>
            <a:chExt cx="1944216" cy="504056"/>
          </a:xfrm>
        </p:grpSpPr>
        <p:sp>
          <p:nvSpPr>
            <p:cNvPr id="6" name="折角形 5"/>
            <p:cNvSpPr/>
            <p:nvPr/>
          </p:nvSpPr>
          <p:spPr>
            <a:xfrm>
              <a:off x="1115616" y="2204864"/>
              <a:ext cx="1872208" cy="504056"/>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5" name="TextBox 4"/>
            <p:cNvSpPr txBox="1"/>
            <p:nvPr/>
          </p:nvSpPr>
          <p:spPr>
            <a:xfrm>
              <a:off x="1115616" y="2278033"/>
              <a:ext cx="1944216" cy="430887"/>
            </a:xfrm>
            <a:prstGeom prst="rect">
              <a:avLst/>
            </a:prstGeom>
            <a:noFill/>
          </p:spPr>
          <p:txBody>
            <a:bodyPr wrap="square" rtlCol="0">
              <a:spAutoFit/>
            </a:bodyPr>
            <a:lstStyle/>
            <a:p>
              <a:r>
                <a:rPr lang="zh-CN" altLang="en-US" sz="2200" dirty="0" smtClean="0">
                  <a:latin typeface="华文行楷" pitchFamily="2" charset="-122"/>
                  <a:ea typeface="华文行楷" pitchFamily="2" charset="-122"/>
                </a:rPr>
                <a:t>传统归纳逻辑</a:t>
              </a:r>
              <a:endParaRPr lang="zh-CN" altLang="en-US" sz="2200" dirty="0">
                <a:latin typeface="华文行楷" pitchFamily="2" charset="-122"/>
                <a:ea typeface="华文行楷" pitchFamily="2" charset="-122"/>
              </a:endParaRPr>
            </a:p>
          </p:txBody>
        </p:sp>
      </p:grpSp>
      <p:sp>
        <p:nvSpPr>
          <p:cNvPr id="7" name="TextBox 6"/>
          <p:cNvSpPr txBox="1"/>
          <p:nvPr/>
        </p:nvSpPr>
        <p:spPr>
          <a:xfrm>
            <a:off x="1547664" y="2780928"/>
            <a:ext cx="6696744" cy="712952"/>
          </a:xfrm>
          <a:prstGeom prst="rect">
            <a:avLst/>
          </a:prstGeom>
          <a:noFill/>
        </p:spPr>
        <p:txBody>
          <a:bodyPr wrap="square" rtlCol="0">
            <a:spAutoFit/>
          </a:bodyPr>
          <a:lstStyle/>
          <a:p>
            <a:pPr>
              <a:lnSpc>
                <a:spcPct val="120000"/>
              </a:lnSpc>
            </a:pPr>
            <a:r>
              <a:rPr lang="zh-CN" altLang="en-US" dirty="0" smtClean="0">
                <a:latin typeface="楷体" pitchFamily="49" charset="-122"/>
                <a:ea typeface="楷体" pitchFamily="49" charset="-122"/>
              </a:rPr>
              <a:t>着重研究如何从个别性经验知识上升到具有普遍必然性的一般知识的思维过程和思维方法</a:t>
            </a:r>
            <a:endParaRPr lang="zh-CN" altLang="en-US" dirty="0">
              <a:latin typeface="楷体" pitchFamily="49" charset="-122"/>
              <a:ea typeface="楷体" pitchFamily="49" charset="-122"/>
            </a:endParaRPr>
          </a:p>
        </p:txBody>
      </p:sp>
      <p:grpSp>
        <p:nvGrpSpPr>
          <p:cNvPr id="12" name="组合 11"/>
          <p:cNvGrpSpPr/>
          <p:nvPr/>
        </p:nvGrpSpPr>
        <p:grpSpPr>
          <a:xfrm>
            <a:off x="1115616" y="3645024"/>
            <a:ext cx="1944216" cy="504056"/>
            <a:chOff x="1115616" y="3940184"/>
            <a:chExt cx="1944216" cy="504056"/>
          </a:xfrm>
        </p:grpSpPr>
        <p:sp>
          <p:nvSpPr>
            <p:cNvPr id="8" name="折角形 7"/>
            <p:cNvSpPr/>
            <p:nvPr/>
          </p:nvSpPr>
          <p:spPr>
            <a:xfrm>
              <a:off x="1115616" y="3940184"/>
              <a:ext cx="1872208" cy="504056"/>
            </a:xfrm>
            <a:prstGeom prst="foldedCorner">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9" name="TextBox 8"/>
            <p:cNvSpPr txBox="1"/>
            <p:nvPr/>
          </p:nvSpPr>
          <p:spPr>
            <a:xfrm>
              <a:off x="1115616" y="4013353"/>
              <a:ext cx="1944216" cy="430887"/>
            </a:xfrm>
            <a:prstGeom prst="rect">
              <a:avLst/>
            </a:prstGeom>
            <a:noFill/>
          </p:spPr>
          <p:txBody>
            <a:bodyPr wrap="square" rtlCol="0">
              <a:spAutoFit/>
            </a:bodyPr>
            <a:lstStyle/>
            <a:p>
              <a:r>
                <a:rPr lang="zh-CN" altLang="en-US" sz="2200" dirty="0">
                  <a:latin typeface="华文行楷" pitchFamily="2" charset="-122"/>
                  <a:ea typeface="华文行楷" pitchFamily="2" charset="-122"/>
                </a:rPr>
                <a:t>现代</a:t>
              </a:r>
              <a:r>
                <a:rPr lang="zh-CN" altLang="en-US" sz="2200" dirty="0" smtClean="0">
                  <a:latin typeface="华文行楷" pitchFamily="2" charset="-122"/>
                  <a:ea typeface="华文行楷" pitchFamily="2" charset="-122"/>
                </a:rPr>
                <a:t>归纳逻辑</a:t>
              </a:r>
              <a:endParaRPr lang="zh-CN" altLang="en-US" sz="2200" dirty="0">
                <a:latin typeface="华文行楷" pitchFamily="2" charset="-122"/>
                <a:ea typeface="华文行楷" pitchFamily="2" charset="-122"/>
              </a:endParaRPr>
            </a:p>
          </p:txBody>
        </p:sp>
      </p:grpSp>
      <p:sp>
        <p:nvSpPr>
          <p:cNvPr id="10" name="TextBox 9"/>
          <p:cNvSpPr txBox="1"/>
          <p:nvPr/>
        </p:nvSpPr>
        <p:spPr>
          <a:xfrm>
            <a:off x="1547664" y="4221088"/>
            <a:ext cx="6696744" cy="712952"/>
          </a:xfrm>
          <a:prstGeom prst="rect">
            <a:avLst/>
          </a:prstGeom>
          <a:noFill/>
        </p:spPr>
        <p:txBody>
          <a:bodyPr wrap="square" rtlCol="0">
            <a:spAutoFit/>
          </a:bodyPr>
          <a:lstStyle/>
          <a:p>
            <a:pPr>
              <a:lnSpc>
                <a:spcPct val="120000"/>
              </a:lnSpc>
            </a:pPr>
            <a:r>
              <a:rPr lang="zh-CN" altLang="en-US" dirty="0" smtClean="0">
                <a:latin typeface="楷体" pitchFamily="49" charset="-122"/>
                <a:ea typeface="楷体" pitchFamily="49" charset="-122"/>
              </a:rPr>
              <a:t>研究感觉经验证据对某个一般性假说的确证程度，并引入概率论和数理统计做工具，发展出了概率归纳逻辑</a:t>
            </a:r>
            <a:endParaRPr lang="zh-CN" altLang="en-US" dirty="0">
              <a:latin typeface="楷体" pitchFamily="49" charset="-122"/>
              <a:ea typeface="楷体" pitchFamily="49" charset="-122"/>
            </a:endParaRPr>
          </a:p>
        </p:txBody>
      </p:sp>
      <p:sp>
        <p:nvSpPr>
          <p:cNvPr id="13" name="TextBox 12"/>
          <p:cNvSpPr txBox="1"/>
          <p:nvPr/>
        </p:nvSpPr>
        <p:spPr>
          <a:xfrm>
            <a:off x="3131840" y="5157192"/>
            <a:ext cx="1368152" cy="430887"/>
          </a:xfrm>
          <a:prstGeom prst="rect">
            <a:avLst/>
          </a:prstGeom>
          <a:noFill/>
        </p:spPr>
        <p:txBody>
          <a:bodyPr wrap="square" rtlCol="0">
            <a:spAutoFit/>
          </a:bodyPr>
          <a:lstStyle/>
          <a:p>
            <a:r>
              <a:rPr lang="zh-CN" altLang="en-US" sz="2200" u="sng" dirty="0" smtClean="0">
                <a:solidFill>
                  <a:srgbClr val="C00000"/>
                </a:solidFill>
                <a:latin typeface="华文行楷" pitchFamily="2" charset="-122"/>
                <a:ea typeface="华文行楷" pitchFamily="2" charset="-122"/>
              </a:rPr>
              <a:t>归纳推理</a:t>
            </a:r>
            <a:endParaRPr lang="zh-CN" altLang="en-US" sz="2200" u="sng" dirty="0">
              <a:solidFill>
                <a:srgbClr val="C00000"/>
              </a:solidFill>
              <a:latin typeface="华文行楷" pitchFamily="2" charset="-122"/>
              <a:ea typeface="华文行楷" pitchFamily="2" charset="-122"/>
            </a:endParaRPr>
          </a:p>
        </p:txBody>
      </p:sp>
      <p:sp>
        <p:nvSpPr>
          <p:cNvPr id="14" name="TextBox 13"/>
          <p:cNvSpPr txBox="1"/>
          <p:nvPr/>
        </p:nvSpPr>
        <p:spPr>
          <a:xfrm>
            <a:off x="1691680" y="5445224"/>
            <a:ext cx="1368152"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个别性例证</a:t>
            </a:r>
            <a:endParaRPr lang="zh-CN" altLang="en-US" dirty="0">
              <a:latin typeface="华文新魏" pitchFamily="2" charset="-122"/>
              <a:ea typeface="华文新魏" pitchFamily="2" charset="-122"/>
            </a:endParaRPr>
          </a:p>
        </p:txBody>
      </p:sp>
      <p:cxnSp>
        <p:nvCxnSpPr>
          <p:cNvPr id="16" name="直接箭头连接符 15"/>
          <p:cNvCxnSpPr/>
          <p:nvPr/>
        </p:nvCxnSpPr>
        <p:spPr>
          <a:xfrm>
            <a:off x="3131840" y="5661248"/>
            <a:ext cx="1368152" cy="0"/>
          </a:xfrm>
          <a:prstGeom prst="straightConnector1">
            <a:avLst/>
          </a:prstGeom>
          <a:ln w="38100">
            <a:tailEnd type="arrow"/>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4644008" y="5445224"/>
            <a:ext cx="1368152" cy="369332"/>
          </a:xfrm>
          <a:prstGeom prst="rect">
            <a:avLst/>
          </a:prstGeom>
          <a:noFill/>
        </p:spPr>
        <p:txBody>
          <a:bodyPr wrap="square" rtlCol="0">
            <a:spAutoFit/>
          </a:bodyPr>
          <a:lstStyle/>
          <a:p>
            <a:r>
              <a:rPr lang="zh-CN" altLang="en-US" dirty="0" smtClean="0">
                <a:latin typeface="华文新魏" pitchFamily="2" charset="-122"/>
                <a:ea typeface="华文新魏" pitchFamily="2" charset="-122"/>
              </a:rPr>
              <a:t>一般性原理</a:t>
            </a:r>
            <a:endParaRPr lang="zh-CN" altLang="en-US" dirty="0">
              <a:latin typeface="华文新魏" pitchFamily="2" charset="-122"/>
              <a:ea typeface="华文新魏" pitchFamily="2" charset="-122"/>
            </a:endParaRPr>
          </a:p>
        </p:txBody>
      </p:sp>
      <p:sp>
        <p:nvSpPr>
          <p:cNvPr id="18" name="TextBox 17"/>
          <p:cNvSpPr txBox="1"/>
          <p:nvPr/>
        </p:nvSpPr>
        <p:spPr>
          <a:xfrm>
            <a:off x="6228184" y="5373216"/>
            <a:ext cx="1656184" cy="430887"/>
          </a:xfrm>
          <a:prstGeom prst="rect">
            <a:avLst/>
          </a:prstGeom>
          <a:noFill/>
        </p:spPr>
        <p:txBody>
          <a:bodyPr wrap="square" rtlCol="0">
            <a:spAutoFit/>
          </a:bodyPr>
          <a:lstStyle/>
          <a:p>
            <a:r>
              <a:rPr lang="zh-CN" altLang="en-US" sz="2200" dirty="0">
                <a:solidFill>
                  <a:srgbClr val="00B050"/>
                </a:solidFill>
                <a:latin typeface="华文行楷" pitchFamily="2" charset="-122"/>
                <a:ea typeface="华文行楷" pitchFamily="2" charset="-122"/>
              </a:rPr>
              <a:t>或然性</a:t>
            </a:r>
            <a:r>
              <a:rPr lang="zh-CN" altLang="en-US" sz="2200" dirty="0" smtClean="0">
                <a:solidFill>
                  <a:srgbClr val="00B050"/>
                </a:solidFill>
                <a:latin typeface="华文行楷" pitchFamily="2" charset="-122"/>
                <a:ea typeface="华文行楷" pitchFamily="2" charset="-122"/>
              </a:rPr>
              <a:t>推理</a:t>
            </a:r>
            <a:endParaRPr lang="zh-CN" altLang="en-US" sz="2200" dirty="0">
              <a:solidFill>
                <a:srgbClr val="00B050"/>
              </a:solidFill>
              <a:latin typeface="华文行楷" pitchFamily="2" charset="-122"/>
              <a:ea typeface="华文行楷" pitchFamily="2" charset="-122"/>
            </a:endParaRPr>
          </a:p>
        </p:txBody>
      </p:sp>
      <p:sp>
        <p:nvSpPr>
          <p:cNvPr id="19" name="TextBox 18"/>
          <p:cNvSpPr txBox="1"/>
          <p:nvPr/>
        </p:nvSpPr>
        <p:spPr>
          <a:xfrm>
            <a:off x="2123728" y="5805264"/>
            <a:ext cx="936104" cy="400110"/>
          </a:xfrm>
          <a:prstGeom prst="rect">
            <a:avLst/>
          </a:prstGeom>
          <a:noFill/>
        </p:spPr>
        <p:txBody>
          <a:bodyPr wrap="square" rtlCol="0">
            <a:spAutoFit/>
          </a:bodyPr>
          <a:lstStyle/>
          <a:p>
            <a:r>
              <a:rPr lang="zh-CN" altLang="en-US" sz="2000" dirty="0" smtClean="0">
                <a:solidFill>
                  <a:srgbClr val="7030A0"/>
                </a:solidFill>
                <a:latin typeface="华文行楷" pitchFamily="2" charset="-122"/>
                <a:ea typeface="华文行楷" pitchFamily="2" charset="-122"/>
              </a:rPr>
              <a:t>真</a:t>
            </a:r>
            <a:endParaRPr lang="zh-CN" altLang="en-US" sz="2000" dirty="0">
              <a:solidFill>
                <a:srgbClr val="7030A0"/>
              </a:solidFill>
              <a:latin typeface="华文行楷" pitchFamily="2" charset="-122"/>
              <a:ea typeface="华文行楷" pitchFamily="2" charset="-122"/>
            </a:endParaRPr>
          </a:p>
        </p:txBody>
      </p:sp>
      <p:sp>
        <p:nvSpPr>
          <p:cNvPr id="20" name="TextBox 19"/>
          <p:cNvSpPr txBox="1"/>
          <p:nvPr/>
        </p:nvSpPr>
        <p:spPr>
          <a:xfrm>
            <a:off x="4932040" y="5805264"/>
            <a:ext cx="936104" cy="400110"/>
          </a:xfrm>
          <a:prstGeom prst="rect">
            <a:avLst/>
          </a:prstGeom>
          <a:noFill/>
        </p:spPr>
        <p:txBody>
          <a:bodyPr wrap="square" rtlCol="0">
            <a:spAutoFit/>
          </a:bodyPr>
          <a:lstStyle/>
          <a:p>
            <a:r>
              <a:rPr lang="zh-CN" altLang="en-US" sz="2000" dirty="0" smtClean="0">
                <a:solidFill>
                  <a:srgbClr val="7030A0"/>
                </a:solidFill>
                <a:latin typeface="华文行楷" pitchFamily="2" charset="-122"/>
                <a:ea typeface="华文行楷" pitchFamily="2" charset="-122"/>
              </a:rPr>
              <a:t>真</a:t>
            </a:r>
            <a:r>
              <a:rPr lang="en-US" altLang="zh-CN" sz="2000" dirty="0" smtClean="0">
                <a:solidFill>
                  <a:srgbClr val="7030A0"/>
                </a:solidFill>
                <a:latin typeface="华文行楷" pitchFamily="2" charset="-122"/>
                <a:ea typeface="华文行楷" pitchFamily="2" charset="-122"/>
              </a:rPr>
              <a:t>/</a:t>
            </a:r>
            <a:r>
              <a:rPr lang="zh-CN" altLang="en-US" sz="2000" dirty="0" smtClean="0">
                <a:solidFill>
                  <a:srgbClr val="7030A0"/>
                </a:solidFill>
                <a:latin typeface="华文行楷" pitchFamily="2" charset="-122"/>
                <a:ea typeface="华文行楷" pitchFamily="2" charset="-122"/>
              </a:rPr>
              <a:t>假</a:t>
            </a:r>
            <a:endParaRPr lang="zh-CN" altLang="en-US" sz="2000" dirty="0">
              <a:solidFill>
                <a:srgbClr val="7030A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box(in)">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blinds(horizontal)">
                                      <p:cBhvr>
                                        <p:cTn id="12" dur="500"/>
                                        <p:tgtEl>
                                          <p:spTgt spid="11"/>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box(in)">
                                      <p:cBhvr>
                                        <p:cTn id="17" dur="500"/>
                                        <p:tgtEl>
                                          <p:spTgt spid="7"/>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blinds(horizontal)">
                                      <p:cBhvr>
                                        <p:cTn id="22" dur="500"/>
                                        <p:tgtEl>
                                          <p:spTgt spid="12"/>
                                        </p:tgtEl>
                                      </p:cBhvr>
                                    </p:animEffect>
                                  </p:childTnLst>
                                </p:cTn>
                              </p:par>
                            </p:childTnLst>
                          </p:cTn>
                        </p:par>
                      </p:childTnLst>
                    </p:cTn>
                  </p:par>
                  <p:par>
                    <p:cTn id="23" fill="hold">
                      <p:stCondLst>
                        <p:cond delay="indefinite"/>
                      </p:stCondLst>
                      <p:childTnLst>
                        <p:par>
                          <p:cTn id="24" fill="hold">
                            <p:stCondLst>
                              <p:cond delay="0"/>
                            </p:stCondLst>
                            <p:childTnLst>
                              <p:par>
                                <p:cTn id="25" presetID="47" presetClass="entr" presetSubtype="0" fill="hold" grpId="0"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fade">
                                      <p:cBhvr>
                                        <p:cTn id="27" dur="500"/>
                                        <p:tgtEl>
                                          <p:spTgt spid="10"/>
                                        </p:tgtEl>
                                      </p:cBhvr>
                                    </p:animEffect>
                                    <p:anim calcmode="lin" valueType="num">
                                      <p:cBhvr>
                                        <p:cTn id="28" dur="500" fill="hold"/>
                                        <p:tgtEl>
                                          <p:spTgt spid="10"/>
                                        </p:tgtEl>
                                        <p:attrNameLst>
                                          <p:attrName>ppt_x</p:attrName>
                                        </p:attrNameLst>
                                      </p:cBhvr>
                                      <p:tavLst>
                                        <p:tav tm="0">
                                          <p:val>
                                            <p:strVal val="#ppt_x"/>
                                          </p:val>
                                        </p:tav>
                                        <p:tav tm="100000">
                                          <p:val>
                                            <p:strVal val="#ppt_x"/>
                                          </p:val>
                                        </p:tav>
                                      </p:tavLst>
                                    </p:anim>
                                    <p:anim calcmode="lin" valueType="num">
                                      <p:cBhvr>
                                        <p:cTn id="29"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0" fill="hold">
                      <p:stCondLst>
                        <p:cond delay="indefinite"/>
                      </p:stCondLst>
                      <p:childTnLst>
                        <p:par>
                          <p:cTn id="31" fill="hold">
                            <p:stCondLst>
                              <p:cond delay="0"/>
                            </p:stCondLst>
                            <p:childTnLst>
                              <p:par>
                                <p:cTn id="32" presetID="55" presetClass="entr" presetSubtype="0" fill="hold" grpId="0" nodeType="clickEffect">
                                  <p:stCondLst>
                                    <p:cond delay="0"/>
                                  </p:stCondLst>
                                  <p:childTnLst>
                                    <p:set>
                                      <p:cBhvr>
                                        <p:cTn id="33" dur="1" fill="hold">
                                          <p:stCondLst>
                                            <p:cond delay="0"/>
                                          </p:stCondLst>
                                        </p:cTn>
                                        <p:tgtEl>
                                          <p:spTgt spid="14"/>
                                        </p:tgtEl>
                                        <p:attrNameLst>
                                          <p:attrName>style.visibility</p:attrName>
                                        </p:attrNameLst>
                                      </p:cBhvr>
                                      <p:to>
                                        <p:strVal val="visible"/>
                                      </p:to>
                                    </p:set>
                                    <p:anim calcmode="lin" valueType="num">
                                      <p:cBhvr>
                                        <p:cTn id="34" dur="500" fill="hold"/>
                                        <p:tgtEl>
                                          <p:spTgt spid="14"/>
                                        </p:tgtEl>
                                        <p:attrNameLst>
                                          <p:attrName>ppt_w</p:attrName>
                                        </p:attrNameLst>
                                      </p:cBhvr>
                                      <p:tavLst>
                                        <p:tav tm="0">
                                          <p:val>
                                            <p:strVal val="#ppt_w*0.70"/>
                                          </p:val>
                                        </p:tav>
                                        <p:tav tm="100000">
                                          <p:val>
                                            <p:strVal val="#ppt_w"/>
                                          </p:val>
                                        </p:tav>
                                      </p:tavLst>
                                    </p:anim>
                                    <p:anim calcmode="lin" valueType="num">
                                      <p:cBhvr>
                                        <p:cTn id="35" dur="500" fill="hold"/>
                                        <p:tgtEl>
                                          <p:spTgt spid="14"/>
                                        </p:tgtEl>
                                        <p:attrNameLst>
                                          <p:attrName>ppt_h</p:attrName>
                                        </p:attrNameLst>
                                      </p:cBhvr>
                                      <p:tavLst>
                                        <p:tav tm="0">
                                          <p:val>
                                            <p:strVal val="#ppt_h"/>
                                          </p:val>
                                        </p:tav>
                                        <p:tav tm="100000">
                                          <p:val>
                                            <p:strVal val="#ppt_h"/>
                                          </p:val>
                                        </p:tav>
                                      </p:tavLst>
                                    </p:anim>
                                    <p:animEffect transition="in" filter="fade">
                                      <p:cBhvr>
                                        <p:cTn id="36" dur="500"/>
                                        <p:tgtEl>
                                          <p:spTgt spid="14"/>
                                        </p:tgtEl>
                                      </p:cBhvr>
                                    </p:animEffect>
                                  </p:childTnLst>
                                </p:cTn>
                              </p:par>
                              <p:par>
                                <p:cTn id="37" presetID="55" presetClass="entr" presetSubtype="0" fill="hold" nodeType="withEffect">
                                  <p:stCondLst>
                                    <p:cond delay="0"/>
                                  </p:stCondLst>
                                  <p:childTnLst>
                                    <p:set>
                                      <p:cBhvr>
                                        <p:cTn id="38" dur="1" fill="hold">
                                          <p:stCondLst>
                                            <p:cond delay="0"/>
                                          </p:stCondLst>
                                        </p:cTn>
                                        <p:tgtEl>
                                          <p:spTgt spid="16"/>
                                        </p:tgtEl>
                                        <p:attrNameLst>
                                          <p:attrName>style.visibility</p:attrName>
                                        </p:attrNameLst>
                                      </p:cBhvr>
                                      <p:to>
                                        <p:strVal val="visible"/>
                                      </p:to>
                                    </p:set>
                                    <p:anim calcmode="lin" valueType="num">
                                      <p:cBhvr>
                                        <p:cTn id="39" dur="500" fill="hold"/>
                                        <p:tgtEl>
                                          <p:spTgt spid="16"/>
                                        </p:tgtEl>
                                        <p:attrNameLst>
                                          <p:attrName>ppt_w</p:attrName>
                                        </p:attrNameLst>
                                      </p:cBhvr>
                                      <p:tavLst>
                                        <p:tav tm="0">
                                          <p:val>
                                            <p:strVal val="#ppt_w*0.70"/>
                                          </p:val>
                                        </p:tav>
                                        <p:tav tm="100000">
                                          <p:val>
                                            <p:strVal val="#ppt_w"/>
                                          </p:val>
                                        </p:tav>
                                      </p:tavLst>
                                    </p:anim>
                                    <p:anim calcmode="lin" valueType="num">
                                      <p:cBhvr>
                                        <p:cTn id="40" dur="500" fill="hold"/>
                                        <p:tgtEl>
                                          <p:spTgt spid="16"/>
                                        </p:tgtEl>
                                        <p:attrNameLst>
                                          <p:attrName>ppt_h</p:attrName>
                                        </p:attrNameLst>
                                      </p:cBhvr>
                                      <p:tavLst>
                                        <p:tav tm="0">
                                          <p:val>
                                            <p:strVal val="#ppt_h"/>
                                          </p:val>
                                        </p:tav>
                                        <p:tav tm="100000">
                                          <p:val>
                                            <p:strVal val="#ppt_h"/>
                                          </p:val>
                                        </p:tav>
                                      </p:tavLst>
                                    </p:anim>
                                    <p:animEffect transition="in" filter="fade">
                                      <p:cBhvr>
                                        <p:cTn id="41" dur="500"/>
                                        <p:tgtEl>
                                          <p:spTgt spid="16"/>
                                        </p:tgtEl>
                                      </p:cBhvr>
                                    </p:animEffect>
                                  </p:childTnLst>
                                </p:cTn>
                              </p:par>
                              <p:par>
                                <p:cTn id="42" presetID="55"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 calcmode="lin" valueType="num">
                                      <p:cBhvr>
                                        <p:cTn id="44" dur="500" fill="hold"/>
                                        <p:tgtEl>
                                          <p:spTgt spid="17"/>
                                        </p:tgtEl>
                                        <p:attrNameLst>
                                          <p:attrName>ppt_w</p:attrName>
                                        </p:attrNameLst>
                                      </p:cBhvr>
                                      <p:tavLst>
                                        <p:tav tm="0">
                                          <p:val>
                                            <p:strVal val="#ppt_w*0.70"/>
                                          </p:val>
                                        </p:tav>
                                        <p:tav tm="100000">
                                          <p:val>
                                            <p:strVal val="#ppt_w"/>
                                          </p:val>
                                        </p:tav>
                                      </p:tavLst>
                                    </p:anim>
                                    <p:anim calcmode="lin" valueType="num">
                                      <p:cBhvr>
                                        <p:cTn id="45" dur="500" fill="hold"/>
                                        <p:tgtEl>
                                          <p:spTgt spid="17"/>
                                        </p:tgtEl>
                                        <p:attrNameLst>
                                          <p:attrName>ppt_h</p:attrName>
                                        </p:attrNameLst>
                                      </p:cBhvr>
                                      <p:tavLst>
                                        <p:tav tm="0">
                                          <p:val>
                                            <p:strVal val="#ppt_h"/>
                                          </p:val>
                                        </p:tav>
                                        <p:tav tm="100000">
                                          <p:val>
                                            <p:strVal val="#ppt_h"/>
                                          </p:val>
                                        </p:tav>
                                      </p:tavLst>
                                    </p:anim>
                                    <p:animEffect transition="in" filter="fade">
                                      <p:cBhvr>
                                        <p:cTn id="46" dur="500"/>
                                        <p:tgtEl>
                                          <p:spTgt spid="17"/>
                                        </p:tgtEl>
                                      </p:cBhvr>
                                    </p:animEffect>
                                  </p:childTnLst>
                                </p:cTn>
                              </p:par>
                            </p:childTnLst>
                          </p:cTn>
                        </p:par>
                      </p:childTnLst>
                    </p:cTn>
                  </p:par>
                  <p:par>
                    <p:cTn id="47" fill="hold">
                      <p:stCondLst>
                        <p:cond delay="indefinite"/>
                      </p:stCondLst>
                      <p:childTnLst>
                        <p:par>
                          <p:cTn id="48" fill="hold">
                            <p:stCondLst>
                              <p:cond delay="0"/>
                            </p:stCondLst>
                            <p:childTnLst>
                              <p:par>
                                <p:cTn id="49" presetID="9" presetClass="entr" presetSubtype="0" fill="hold" grpId="0" nodeType="clickEffect">
                                  <p:stCondLst>
                                    <p:cond delay="0"/>
                                  </p:stCondLst>
                                  <p:childTnLst>
                                    <p:set>
                                      <p:cBhvr>
                                        <p:cTn id="50" dur="1" fill="hold">
                                          <p:stCondLst>
                                            <p:cond delay="0"/>
                                          </p:stCondLst>
                                        </p:cTn>
                                        <p:tgtEl>
                                          <p:spTgt spid="13"/>
                                        </p:tgtEl>
                                        <p:attrNameLst>
                                          <p:attrName>style.visibility</p:attrName>
                                        </p:attrNameLst>
                                      </p:cBhvr>
                                      <p:to>
                                        <p:strVal val="visible"/>
                                      </p:to>
                                    </p:set>
                                    <p:animEffect transition="in" filter="dissolve">
                                      <p:cBhvr>
                                        <p:cTn id="51" dur="500"/>
                                        <p:tgtEl>
                                          <p:spTgt spid="13"/>
                                        </p:tgtEl>
                                      </p:cBhvr>
                                    </p:animEffect>
                                  </p:childTnLst>
                                </p:cTn>
                              </p:par>
                            </p:childTnLst>
                          </p:cTn>
                        </p:par>
                      </p:childTnLst>
                    </p:cTn>
                  </p:par>
                  <p:par>
                    <p:cTn id="52" fill="hold">
                      <p:stCondLst>
                        <p:cond delay="indefinite"/>
                      </p:stCondLst>
                      <p:childTnLst>
                        <p:par>
                          <p:cTn id="53" fill="hold">
                            <p:stCondLst>
                              <p:cond delay="0"/>
                            </p:stCondLst>
                            <p:childTnLst>
                              <p:par>
                                <p:cTn id="54" presetID="9" presetClass="entr" presetSubtype="0" fill="hold" grpId="0" nodeType="clickEffect">
                                  <p:stCondLst>
                                    <p:cond delay="0"/>
                                  </p:stCondLst>
                                  <p:childTnLst>
                                    <p:set>
                                      <p:cBhvr>
                                        <p:cTn id="55" dur="1" fill="hold">
                                          <p:stCondLst>
                                            <p:cond delay="0"/>
                                          </p:stCondLst>
                                        </p:cTn>
                                        <p:tgtEl>
                                          <p:spTgt spid="18"/>
                                        </p:tgtEl>
                                        <p:attrNameLst>
                                          <p:attrName>style.visibility</p:attrName>
                                        </p:attrNameLst>
                                      </p:cBhvr>
                                      <p:to>
                                        <p:strVal val="visible"/>
                                      </p:to>
                                    </p:set>
                                    <p:animEffect transition="in" filter="dissolve">
                                      <p:cBhvr>
                                        <p:cTn id="56" dur="500"/>
                                        <p:tgtEl>
                                          <p:spTgt spid="18"/>
                                        </p:tgtEl>
                                      </p:cBhvr>
                                    </p:animEffect>
                                  </p:childTnLst>
                                </p:cTn>
                              </p:par>
                            </p:childTnLst>
                          </p:cTn>
                        </p:par>
                      </p:childTnLst>
                    </p:cTn>
                  </p:par>
                  <p:par>
                    <p:cTn id="57" fill="hold">
                      <p:stCondLst>
                        <p:cond delay="indefinite"/>
                      </p:stCondLst>
                      <p:childTnLst>
                        <p:par>
                          <p:cTn id="58" fill="hold">
                            <p:stCondLst>
                              <p:cond delay="0"/>
                            </p:stCondLst>
                            <p:childTnLst>
                              <p:par>
                                <p:cTn id="59" presetID="1" presetClass="entr" presetSubtype="0" fill="hold" grpId="0" nodeType="clickEffect">
                                  <p:stCondLst>
                                    <p:cond delay="0"/>
                                  </p:stCondLst>
                                  <p:childTnLst>
                                    <p:set>
                                      <p:cBhvr>
                                        <p:cTn id="60" dur="1" fill="hold">
                                          <p:stCondLst>
                                            <p:cond delay="0"/>
                                          </p:stCondLst>
                                        </p:cTn>
                                        <p:tgtEl>
                                          <p:spTgt spid="19"/>
                                        </p:tgtEl>
                                        <p:attrNameLst>
                                          <p:attrName>style.visibility</p:attrName>
                                        </p:attrNameLst>
                                      </p:cBhvr>
                                      <p:to>
                                        <p:strVal val="visible"/>
                                      </p:to>
                                    </p:set>
                                  </p:childTnLst>
                                </p:cTn>
                              </p:par>
                            </p:childTnLst>
                          </p:cTn>
                        </p:par>
                      </p:childTnLst>
                    </p:cTn>
                  </p:par>
                  <p:par>
                    <p:cTn id="61" fill="hold">
                      <p:stCondLst>
                        <p:cond delay="indefinite"/>
                      </p:stCondLst>
                      <p:childTnLst>
                        <p:par>
                          <p:cTn id="62" fill="hold">
                            <p:stCondLst>
                              <p:cond delay="0"/>
                            </p:stCondLst>
                            <p:childTnLst>
                              <p:par>
                                <p:cTn id="63" presetID="1" presetClass="entr" presetSubtype="0" fill="hold" grpId="0" nodeType="clickEffect">
                                  <p:stCondLst>
                                    <p:cond delay="0"/>
                                  </p:stCondLst>
                                  <p:childTnLst>
                                    <p:set>
                                      <p:cBhvr>
                                        <p:cTn id="64"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10" grpId="0"/>
      <p:bldP spid="13" grpId="0"/>
      <p:bldP spid="14" grpId="0"/>
      <p:bldP spid="17" grpId="0"/>
      <p:bldP spid="18" grpId="0"/>
      <p:bldP spid="19" grpId="0"/>
      <p:bldP spid="20"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408738"/>
            <a:ext cx="366712" cy="365125"/>
          </a:xfrm>
          <a:noFill/>
          <a:ln>
            <a:miter lim="800000"/>
            <a:headEnd/>
            <a:tailEnd/>
          </a:ln>
        </p:spPr>
        <p:txBody>
          <a:bodyPr/>
          <a:lstStyle/>
          <a:p>
            <a:fld id="{19B5CF85-BDD1-4515-8011-0F53550CA818}" type="slidenum">
              <a:rPr lang="zh-CN" altLang="en-US"/>
              <a:pPr/>
              <a:t>3</a:t>
            </a:fld>
            <a:endParaRPr lang="en-US" altLang="zh-CN"/>
          </a:p>
        </p:txBody>
      </p:sp>
      <p:sp>
        <p:nvSpPr>
          <p:cNvPr id="6" name="标题 1"/>
          <p:cNvSpPr>
            <a:spLocks noGrp="1"/>
          </p:cNvSpPr>
          <p:nvPr>
            <p:ph type="title"/>
          </p:nvPr>
        </p:nvSpPr>
        <p:spPr>
          <a:xfrm>
            <a:off x="457200" y="544143"/>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第五章</a:t>
            </a:r>
            <a:r>
              <a:rPr lang="en-US" dirty="0" smtClean="0">
                <a:latin typeface="华文新魏" pitchFamily="2" charset="-122"/>
                <a:ea typeface="华文新魏" pitchFamily="2" charset="-122"/>
              </a:rPr>
              <a:t>  </a:t>
            </a:r>
            <a:r>
              <a:rPr lang="zh-CN" altLang="en-US" dirty="0" smtClean="0">
                <a:latin typeface="华文新魏" pitchFamily="2" charset="-122"/>
                <a:ea typeface="华文新魏" pitchFamily="2" charset="-122"/>
              </a:rPr>
              <a:t>归纳逻辑</a:t>
            </a:r>
            <a:endParaRPr lang="zh-CN" altLang="en-US" dirty="0">
              <a:latin typeface="华文新魏" pitchFamily="2" charset="-122"/>
              <a:ea typeface="华文新魏" pitchFamily="2" charset="-122"/>
            </a:endParaRPr>
          </a:p>
        </p:txBody>
      </p:sp>
      <p:sp>
        <p:nvSpPr>
          <p:cNvPr id="12" name="TextBox 11"/>
          <p:cNvSpPr txBox="1"/>
          <p:nvPr/>
        </p:nvSpPr>
        <p:spPr>
          <a:xfrm>
            <a:off x="3995936" y="3009726"/>
            <a:ext cx="5112568" cy="461665"/>
          </a:xfrm>
          <a:prstGeom prst="rect">
            <a:avLst/>
          </a:prstGeom>
          <a:noFill/>
        </p:spPr>
        <p:txBody>
          <a:bodyPr wrap="square" rtlCol="0">
            <a:spAutoFit/>
          </a:bodyPr>
          <a:lstStyle/>
          <a:p>
            <a:r>
              <a:rPr lang="zh-CN" altLang="en-US" sz="2400" b="1" dirty="0">
                <a:latin typeface="+mn-ea"/>
              </a:rPr>
              <a:t>排除归纳法</a:t>
            </a:r>
          </a:p>
        </p:txBody>
      </p:sp>
      <p:sp>
        <p:nvSpPr>
          <p:cNvPr id="13" name="TextBox 12"/>
          <p:cNvSpPr txBox="1"/>
          <p:nvPr/>
        </p:nvSpPr>
        <p:spPr>
          <a:xfrm>
            <a:off x="3995936" y="3903439"/>
            <a:ext cx="5112568" cy="461665"/>
          </a:xfrm>
          <a:prstGeom prst="rect">
            <a:avLst/>
          </a:prstGeom>
          <a:noFill/>
        </p:spPr>
        <p:txBody>
          <a:bodyPr wrap="square" rtlCol="0">
            <a:spAutoFit/>
          </a:bodyPr>
          <a:lstStyle/>
          <a:p>
            <a:r>
              <a:rPr lang="zh-CN" altLang="en-US" sz="2400" b="1" dirty="0" smtClean="0">
                <a:latin typeface="+mn-ea"/>
              </a:rPr>
              <a:t>类比推理</a:t>
            </a:r>
            <a:endParaRPr lang="zh-CN" altLang="en-US" sz="2400" b="1" dirty="0">
              <a:latin typeface="+mn-ea"/>
            </a:endParaRPr>
          </a:p>
        </p:txBody>
      </p:sp>
      <p:sp>
        <p:nvSpPr>
          <p:cNvPr id="14" name="TextBox 13"/>
          <p:cNvSpPr txBox="1"/>
          <p:nvPr/>
        </p:nvSpPr>
        <p:spPr>
          <a:xfrm>
            <a:off x="3995936" y="4767535"/>
            <a:ext cx="5112568" cy="461665"/>
          </a:xfrm>
          <a:prstGeom prst="rect">
            <a:avLst/>
          </a:prstGeom>
          <a:noFill/>
        </p:spPr>
        <p:txBody>
          <a:bodyPr wrap="square" rtlCol="0">
            <a:spAutoFit/>
          </a:bodyPr>
          <a:lstStyle/>
          <a:p>
            <a:r>
              <a:rPr lang="zh-CN" altLang="en-US" sz="2400" b="1" dirty="0">
                <a:latin typeface="+mn-ea"/>
              </a:rPr>
              <a:t>假说演绎法</a:t>
            </a:r>
          </a:p>
        </p:txBody>
      </p:sp>
      <p:sp>
        <p:nvSpPr>
          <p:cNvPr id="16" name="TextBox 15"/>
          <p:cNvSpPr txBox="1"/>
          <p:nvPr/>
        </p:nvSpPr>
        <p:spPr>
          <a:xfrm>
            <a:off x="3995936" y="2175247"/>
            <a:ext cx="5112568" cy="461665"/>
          </a:xfrm>
          <a:prstGeom prst="rect">
            <a:avLst/>
          </a:prstGeom>
          <a:noFill/>
        </p:spPr>
        <p:txBody>
          <a:bodyPr wrap="square" rtlCol="0">
            <a:spAutoFit/>
          </a:bodyPr>
          <a:lstStyle/>
          <a:p>
            <a:r>
              <a:rPr lang="zh-CN" altLang="en-US" sz="2400" b="1" dirty="0"/>
              <a:t>简单</a:t>
            </a:r>
            <a:r>
              <a:rPr lang="zh-CN" altLang="en-US" sz="2400" b="1" dirty="0" smtClean="0"/>
              <a:t>枚举法</a:t>
            </a:r>
            <a:endParaRPr lang="zh-CN" altLang="en-US" sz="2400" b="1" dirty="0"/>
          </a:p>
        </p:txBody>
      </p:sp>
      <p:sp>
        <p:nvSpPr>
          <p:cNvPr id="15" name="禁止符 14"/>
          <p:cNvSpPr/>
          <p:nvPr/>
        </p:nvSpPr>
        <p:spPr>
          <a:xfrm>
            <a:off x="3059832" y="2132856"/>
            <a:ext cx="504056" cy="504056"/>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7" name="禁止符 16"/>
          <p:cNvSpPr/>
          <p:nvPr/>
        </p:nvSpPr>
        <p:spPr>
          <a:xfrm>
            <a:off x="3059832" y="2996952"/>
            <a:ext cx="504056" cy="504056"/>
          </a:xfrm>
          <a:prstGeom prst="noSmoking">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8" name="禁止符 17"/>
          <p:cNvSpPr/>
          <p:nvPr/>
        </p:nvSpPr>
        <p:spPr>
          <a:xfrm>
            <a:off x="3059832" y="3933056"/>
            <a:ext cx="504056" cy="504056"/>
          </a:xfrm>
          <a:prstGeom prst="noSmoking">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9" name="禁止符 18"/>
          <p:cNvSpPr/>
          <p:nvPr/>
        </p:nvSpPr>
        <p:spPr>
          <a:xfrm>
            <a:off x="3059832" y="4797152"/>
            <a:ext cx="504056" cy="504056"/>
          </a:xfrm>
          <a:prstGeom prst="noSmoking">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408738"/>
            <a:ext cx="366712" cy="365125"/>
          </a:xfrm>
          <a:noFill/>
          <a:ln>
            <a:miter lim="800000"/>
            <a:headEnd/>
            <a:tailEnd/>
          </a:ln>
        </p:spPr>
        <p:txBody>
          <a:bodyPr/>
          <a:lstStyle/>
          <a:p>
            <a:fld id="{19B5CF85-BDD1-4515-8011-0F53550CA818}" type="slidenum">
              <a:rPr lang="zh-CN" altLang="en-US"/>
              <a:pPr/>
              <a:t>4</a:t>
            </a:fld>
            <a:endParaRPr lang="en-US" altLang="zh-CN"/>
          </a:p>
        </p:txBody>
      </p:sp>
      <p:sp>
        <p:nvSpPr>
          <p:cNvPr id="6" name="标题 1"/>
          <p:cNvSpPr>
            <a:spLocks noGrp="1"/>
          </p:cNvSpPr>
          <p:nvPr>
            <p:ph type="title"/>
          </p:nvPr>
        </p:nvSpPr>
        <p:spPr>
          <a:xfrm>
            <a:off x="457200" y="544143"/>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第五章</a:t>
            </a:r>
            <a:r>
              <a:rPr lang="en-US" dirty="0" smtClean="0">
                <a:latin typeface="华文新魏" pitchFamily="2" charset="-122"/>
                <a:ea typeface="华文新魏" pitchFamily="2" charset="-122"/>
              </a:rPr>
              <a:t>  </a:t>
            </a:r>
            <a:r>
              <a:rPr lang="zh-CN" altLang="en-US" dirty="0" smtClean="0">
                <a:latin typeface="华文新魏" pitchFamily="2" charset="-122"/>
                <a:ea typeface="华文新魏" pitchFamily="2" charset="-122"/>
              </a:rPr>
              <a:t>归纳逻辑</a:t>
            </a:r>
            <a:endParaRPr lang="zh-CN" altLang="en-US" dirty="0">
              <a:latin typeface="华文新魏" pitchFamily="2" charset="-122"/>
              <a:ea typeface="华文新魏" pitchFamily="2" charset="-122"/>
            </a:endParaRPr>
          </a:p>
        </p:txBody>
      </p:sp>
      <p:sp>
        <p:nvSpPr>
          <p:cNvPr id="12" name="TextBox 11"/>
          <p:cNvSpPr txBox="1"/>
          <p:nvPr/>
        </p:nvSpPr>
        <p:spPr>
          <a:xfrm>
            <a:off x="3995936" y="3009726"/>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排除归纳法</a:t>
            </a:r>
          </a:p>
        </p:txBody>
      </p:sp>
      <p:sp>
        <p:nvSpPr>
          <p:cNvPr id="13" name="TextBox 12"/>
          <p:cNvSpPr txBox="1"/>
          <p:nvPr/>
        </p:nvSpPr>
        <p:spPr>
          <a:xfrm>
            <a:off x="3995936" y="3903439"/>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类比推理</a:t>
            </a:r>
            <a:endParaRPr lang="zh-CN" altLang="en-US" sz="2400" b="1" dirty="0">
              <a:solidFill>
                <a:schemeClr val="bg1">
                  <a:lumMod val="85000"/>
                </a:schemeClr>
              </a:solidFill>
              <a:latin typeface="+mn-ea"/>
            </a:endParaRPr>
          </a:p>
        </p:txBody>
      </p:sp>
      <p:sp>
        <p:nvSpPr>
          <p:cNvPr id="14" name="TextBox 13"/>
          <p:cNvSpPr txBox="1"/>
          <p:nvPr/>
        </p:nvSpPr>
        <p:spPr>
          <a:xfrm>
            <a:off x="3995936" y="4767535"/>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假说演绎法</a:t>
            </a:r>
          </a:p>
        </p:txBody>
      </p:sp>
      <p:sp>
        <p:nvSpPr>
          <p:cNvPr id="16" name="TextBox 15"/>
          <p:cNvSpPr txBox="1"/>
          <p:nvPr/>
        </p:nvSpPr>
        <p:spPr>
          <a:xfrm>
            <a:off x="3995936" y="2175247"/>
            <a:ext cx="5112568" cy="461665"/>
          </a:xfrm>
          <a:prstGeom prst="rect">
            <a:avLst/>
          </a:prstGeom>
          <a:noFill/>
        </p:spPr>
        <p:txBody>
          <a:bodyPr wrap="square" rtlCol="0">
            <a:spAutoFit/>
          </a:bodyPr>
          <a:lstStyle/>
          <a:p>
            <a:r>
              <a:rPr lang="zh-CN" altLang="en-US" sz="2400" b="1" dirty="0"/>
              <a:t>简单</a:t>
            </a:r>
            <a:r>
              <a:rPr lang="zh-CN" altLang="en-US" sz="2400" b="1" dirty="0" smtClean="0"/>
              <a:t>枚举法</a:t>
            </a:r>
            <a:endParaRPr lang="zh-CN" altLang="en-US" sz="2400" b="1" dirty="0"/>
          </a:p>
        </p:txBody>
      </p:sp>
      <p:sp>
        <p:nvSpPr>
          <p:cNvPr id="15" name="禁止符 14"/>
          <p:cNvSpPr/>
          <p:nvPr/>
        </p:nvSpPr>
        <p:spPr>
          <a:xfrm>
            <a:off x="3131840" y="2132856"/>
            <a:ext cx="504056" cy="504056"/>
          </a:xfrm>
          <a:prstGeom prst="noSmoking">
            <a:avLst/>
          </a:prstGeom>
        </p:spPr>
        <p:style>
          <a:lnRef idx="0">
            <a:schemeClr val="accent2"/>
          </a:lnRef>
          <a:fillRef idx="3">
            <a:schemeClr val="accent2"/>
          </a:fillRef>
          <a:effectRef idx="3">
            <a:schemeClr val="accent2"/>
          </a:effectRef>
          <a:fontRef idx="minor">
            <a:schemeClr val="lt1"/>
          </a:fontRef>
        </p:style>
        <p:txBody>
          <a:bodyPr rtlCol="0" anchor="ctr"/>
          <a:lstStyle/>
          <a:p>
            <a:pPr algn="ctr"/>
            <a:endParaRPr lang="zh-CN" altLang="en-US"/>
          </a:p>
        </p:txBody>
      </p:sp>
      <p:sp>
        <p:nvSpPr>
          <p:cNvPr id="17" name="禁止符 16"/>
          <p:cNvSpPr/>
          <p:nvPr/>
        </p:nvSpPr>
        <p:spPr>
          <a:xfrm>
            <a:off x="3131840" y="29969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8" name="禁止符 17"/>
          <p:cNvSpPr/>
          <p:nvPr/>
        </p:nvSpPr>
        <p:spPr>
          <a:xfrm>
            <a:off x="3131840" y="39330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9" name="禁止符 18"/>
          <p:cNvSpPr/>
          <p:nvPr/>
        </p:nvSpPr>
        <p:spPr>
          <a:xfrm>
            <a:off x="3131840" y="47971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Tree>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简单枚举法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323528" y="1340768"/>
            <a:ext cx="8229600" cy="820687"/>
          </a:xfrm>
        </p:spPr>
        <p:txBody>
          <a:bodyPr>
            <a:normAutofit/>
          </a:bodyPr>
          <a:lstStyle/>
          <a:p>
            <a:pPr>
              <a:buNone/>
            </a:pPr>
            <a:r>
              <a:rPr lang="zh-CN" altLang="en-US" sz="2000" dirty="0" smtClean="0">
                <a:latin typeface="楷体" pitchFamily="49" charset="-122"/>
                <a:ea typeface="楷体" pitchFamily="49" charset="-122"/>
                <a:cs typeface="Times New Roman" pitchFamily="18" charset="0"/>
              </a:rPr>
              <a:t>   在一类事物中，根据已观察到的那部分对象都具有某种属性，并且没有遇到任何反例，从而推出该类所有对象都具有该种属性的结论</a:t>
            </a:r>
            <a:endParaRPr lang="zh-CN" altLang="en-US" sz="2000" dirty="0">
              <a:latin typeface="楷体" pitchFamily="49" charset="-122"/>
              <a:ea typeface="楷体" pitchFamily="49" charset="-122"/>
            </a:endParaRPr>
          </a:p>
        </p:txBody>
      </p:sp>
      <p:sp>
        <p:nvSpPr>
          <p:cNvPr id="4" name="TextBox 3"/>
          <p:cNvSpPr txBox="1"/>
          <p:nvPr/>
        </p:nvSpPr>
        <p:spPr>
          <a:xfrm>
            <a:off x="1619672" y="1988840"/>
            <a:ext cx="6048672" cy="2583912"/>
          </a:xfrm>
          <a:prstGeom prst="rect">
            <a:avLst/>
          </a:prstGeom>
          <a:noFill/>
        </p:spPr>
        <p:txBody>
          <a:bodyPr wrap="square" rtlCol="0">
            <a:spAutoFit/>
          </a:bodyPr>
          <a:lstStyle/>
          <a:p>
            <a:pPr lvl="1">
              <a:lnSpc>
                <a:spcPct val="13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3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30000"/>
              </a:lnSpc>
            </a:pPr>
            <a:r>
              <a:rPr lang="en-US" altLang="zh-CN" dirty="0">
                <a:latin typeface="华文新魏" pitchFamily="2" charset="-122"/>
                <a:ea typeface="华文新魏" pitchFamily="2" charset="-122"/>
                <a:cs typeface="Times New Roman" pitchFamily="18" charset="0"/>
              </a:rPr>
              <a:t> </a:t>
            </a:r>
            <a:r>
              <a:rPr lang="zh-CN" altLang="en-US" dirty="0">
                <a:latin typeface="华文新魏" pitchFamily="2" charset="-122"/>
                <a:ea typeface="华文新魏" pitchFamily="2" charset="-122"/>
                <a:cs typeface="Times New Roman" pitchFamily="18" charset="0"/>
              </a:rPr>
              <a:t>┇</a:t>
            </a:r>
          </a:p>
          <a:p>
            <a:pPr lvl="1">
              <a:lnSpc>
                <a:spcPct val="130000"/>
              </a:lnSpc>
            </a:pP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3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a:t>
            </a: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类的部分对象，并且其中没有</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不是</a:t>
            </a:r>
            <a:r>
              <a:rPr lang="en-US" altLang="zh-CN" dirty="0">
                <a:latin typeface="华文新魏" pitchFamily="2" charset="-122"/>
                <a:ea typeface="华文新魏" pitchFamily="2" charset="-122"/>
                <a:cs typeface="Times New Roman" pitchFamily="18" charset="0"/>
              </a:rPr>
              <a:t>P</a:t>
            </a:r>
            <a:endParaRPr lang="zh-CN" altLang="en-US" dirty="0">
              <a:latin typeface="华文新魏" pitchFamily="2" charset="-122"/>
              <a:ea typeface="华文新魏" pitchFamily="2" charset="-122"/>
              <a:cs typeface="Times New Roman" pitchFamily="18" charset="0"/>
            </a:endParaRPr>
          </a:p>
          <a:p>
            <a:pPr lvl="1">
              <a:lnSpc>
                <a:spcPct val="130000"/>
              </a:lnSpc>
            </a:pPr>
            <a:r>
              <a:rPr lang="zh-CN" altLang="en-US" dirty="0">
                <a:latin typeface="华文新魏" pitchFamily="2" charset="-122"/>
                <a:ea typeface="华文新魏" pitchFamily="2" charset="-122"/>
                <a:cs typeface="Times New Roman" pitchFamily="18" charset="0"/>
              </a:rPr>
              <a:t>所以，所有的</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都是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a:lnSpc>
                <a:spcPct val="130000"/>
              </a:lnSpc>
            </a:pPr>
            <a:endParaRPr lang="zh-CN" altLang="en-US" dirty="0"/>
          </a:p>
        </p:txBody>
      </p:sp>
      <p:cxnSp>
        <p:nvCxnSpPr>
          <p:cNvPr id="5" name="直接连接符 4"/>
          <p:cNvCxnSpPr/>
          <p:nvPr/>
        </p:nvCxnSpPr>
        <p:spPr>
          <a:xfrm>
            <a:off x="1496838" y="3849935"/>
            <a:ext cx="6459538" cy="11113"/>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6228184" y="4078233"/>
            <a:ext cx="1656184" cy="430887"/>
          </a:xfrm>
          <a:prstGeom prst="rect">
            <a:avLst/>
          </a:prstGeom>
          <a:noFill/>
        </p:spPr>
        <p:txBody>
          <a:bodyPr wrap="square" rtlCol="0">
            <a:spAutoFit/>
          </a:bodyPr>
          <a:lstStyle/>
          <a:p>
            <a:r>
              <a:rPr lang="zh-CN" altLang="en-US" sz="2200" dirty="0">
                <a:solidFill>
                  <a:srgbClr val="C00000"/>
                </a:solidFill>
                <a:latin typeface="华文行楷" pitchFamily="2" charset="-122"/>
                <a:ea typeface="华文行楷" pitchFamily="2" charset="-122"/>
              </a:rPr>
              <a:t>或然性</a:t>
            </a:r>
            <a:r>
              <a:rPr lang="zh-CN" altLang="en-US" sz="2200" dirty="0" smtClean="0">
                <a:solidFill>
                  <a:srgbClr val="C00000"/>
                </a:solidFill>
                <a:latin typeface="华文行楷" pitchFamily="2" charset="-122"/>
                <a:ea typeface="华文行楷" pitchFamily="2" charset="-122"/>
              </a:rPr>
              <a:t>推理</a:t>
            </a:r>
            <a:endParaRPr lang="zh-CN" altLang="en-US" sz="2200" dirty="0">
              <a:solidFill>
                <a:srgbClr val="C00000"/>
              </a:solidFill>
              <a:latin typeface="华文行楷" pitchFamily="2" charset="-122"/>
              <a:ea typeface="华文行楷" pitchFamily="2" charset="-122"/>
            </a:endParaRPr>
          </a:p>
        </p:txBody>
      </p:sp>
      <p:sp>
        <p:nvSpPr>
          <p:cNvPr id="7" name="TextBox 6"/>
          <p:cNvSpPr txBox="1"/>
          <p:nvPr/>
        </p:nvSpPr>
        <p:spPr>
          <a:xfrm>
            <a:off x="2339752" y="4509120"/>
            <a:ext cx="3240360"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被考察对象的数量要足够多</a:t>
            </a:r>
            <a:endParaRPr lang="zh-CN" altLang="en-US" sz="2000" dirty="0">
              <a:latin typeface="华文行楷" pitchFamily="2" charset="-122"/>
              <a:ea typeface="华文行楷" pitchFamily="2" charset="-122"/>
            </a:endParaRPr>
          </a:p>
        </p:txBody>
      </p:sp>
      <p:sp>
        <p:nvSpPr>
          <p:cNvPr id="8" name="TextBox 7"/>
          <p:cNvSpPr txBox="1"/>
          <p:nvPr/>
        </p:nvSpPr>
        <p:spPr>
          <a:xfrm>
            <a:off x="2339752" y="5157192"/>
            <a:ext cx="3240360"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被考察对象的范围要足够广</a:t>
            </a:r>
            <a:endParaRPr lang="zh-CN" altLang="en-US" sz="2000" dirty="0">
              <a:latin typeface="华文行楷" pitchFamily="2" charset="-122"/>
              <a:ea typeface="华文行楷" pitchFamily="2" charset="-122"/>
            </a:endParaRPr>
          </a:p>
        </p:txBody>
      </p:sp>
      <p:sp>
        <p:nvSpPr>
          <p:cNvPr id="9" name="TextBox 8"/>
          <p:cNvSpPr txBox="1"/>
          <p:nvPr/>
        </p:nvSpPr>
        <p:spPr>
          <a:xfrm>
            <a:off x="2123728" y="5805264"/>
            <a:ext cx="3744416" cy="400110"/>
          </a:xfrm>
          <a:prstGeom prst="rect">
            <a:avLst/>
          </a:prstGeom>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rPr>
              <a:t>被考察对象之间的差异要足够大</a:t>
            </a:r>
            <a:endParaRPr lang="zh-CN" altLang="en-US" sz="2000" dirty="0">
              <a:latin typeface="华文行楷" pitchFamily="2" charset="-122"/>
              <a:ea typeface="华文行楷" pitchFamily="2" charset="-122"/>
            </a:endParaRPr>
          </a:p>
        </p:txBody>
      </p:sp>
      <p:sp>
        <p:nvSpPr>
          <p:cNvPr id="10" name="TextBox 9"/>
          <p:cNvSpPr txBox="1"/>
          <p:nvPr/>
        </p:nvSpPr>
        <p:spPr>
          <a:xfrm>
            <a:off x="6308576" y="4798313"/>
            <a:ext cx="1359768" cy="430887"/>
          </a:xfrm>
          <a:prstGeom prst="rect">
            <a:avLst/>
          </a:prstGeom>
          <a:noFill/>
        </p:spPr>
        <p:txBody>
          <a:bodyPr wrap="square" rtlCol="0">
            <a:spAutoFit/>
          </a:bodyPr>
          <a:lstStyle/>
          <a:p>
            <a:r>
              <a:rPr lang="zh-CN" altLang="en-US" sz="2200" u="sng" dirty="0">
                <a:solidFill>
                  <a:srgbClr val="00B050"/>
                </a:solidFill>
                <a:latin typeface="华文行楷" pitchFamily="2" charset="-122"/>
                <a:ea typeface="华文行楷" pitchFamily="2" charset="-122"/>
              </a:rPr>
              <a:t>以偏概全</a:t>
            </a:r>
          </a:p>
        </p:txBody>
      </p:sp>
      <p:sp>
        <p:nvSpPr>
          <p:cNvPr id="11" name="TextBox 10"/>
          <p:cNvSpPr txBox="1"/>
          <p:nvPr/>
        </p:nvSpPr>
        <p:spPr>
          <a:xfrm>
            <a:off x="6300192" y="5445224"/>
            <a:ext cx="1359768" cy="430887"/>
          </a:xfrm>
          <a:prstGeom prst="rect">
            <a:avLst/>
          </a:prstGeom>
          <a:noFill/>
        </p:spPr>
        <p:txBody>
          <a:bodyPr wrap="square" rtlCol="0">
            <a:spAutoFit/>
          </a:bodyPr>
          <a:lstStyle/>
          <a:p>
            <a:r>
              <a:rPr lang="zh-CN" altLang="en-US" sz="2200" u="sng" dirty="0">
                <a:solidFill>
                  <a:srgbClr val="00B050"/>
                </a:solidFill>
                <a:latin typeface="华文行楷" pitchFamily="2" charset="-122"/>
                <a:ea typeface="华文行楷" pitchFamily="2" charset="-122"/>
              </a:rPr>
              <a:t>过</a:t>
            </a:r>
            <a:r>
              <a:rPr lang="zh-CN" altLang="en-US" sz="2200" u="sng" dirty="0" smtClean="0">
                <a:solidFill>
                  <a:srgbClr val="00B050"/>
                </a:solidFill>
                <a:latin typeface="华文行楷" pitchFamily="2" charset="-122"/>
                <a:ea typeface="华文行楷" pitchFamily="2" charset="-122"/>
              </a:rPr>
              <a:t>度</a:t>
            </a:r>
            <a:r>
              <a:rPr lang="zh-CN" altLang="en-US" sz="2200" u="sng" dirty="0">
                <a:solidFill>
                  <a:srgbClr val="00B050"/>
                </a:solidFill>
                <a:latin typeface="华文行楷" pitchFamily="2" charset="-122"/>
                <a:ea typeface="华文行楷" pitchFamily="2" charset="-122"/>
              </a:rPr>
              <a:t>概括</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fade">
                                      <p:cBhvr>
                                        <p:cTn id="12" dur="2000"/>
                                        <p:tgtEl>
                                          <p:spTgt spid="4"/>
                                        </p:tgtEl>
                                      </p:cBhvr>
                                    </p:animEffect>
                                  </p:childTnLst>
                                </p:cTn>
                              </p:par>
                              <p:par>
                                <p:cTn id="13" presetID="10"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fade">
                                      <p:cBhvr>
                                        <p:cTn id="15" dur="20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dissolve">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29"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 calcmode="lin" valueType="num">
                                      <p:cBhvr>
                                        <p:cTn id="25" dur="1000" fill="hold"/>
                                        <p:tgtEl>
                                          <p:spTgt spid="7"/>
                                        </p:tgtEl>
                                        <p:attrNameLst>
                                          <p:attrName>ppt_x</p:attrName>
                                        </p:attrNameLst>
                                      </p:cBhvr>
                                      <p:tavLst>
                                        <p:tav tm="0">
                                          <p:val>
                                            <p:strVal val="#ppt_x-.2"/>
                                          </p:val>
                                        </p:tav>
                                        <p:tav tm="100000">
                                          <p:val>
                                            <p:strVal val="#ppt_x"/>
                                          </p:val>
                                        </p:tav>
                                      </p:tavLst>
                                    </p:anim>
                                    <p:anim calcmode="lin" valueType="num">
                                      <p:cBhvr>
                                        <p:cTn id="26" dur="10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7" dur="1000"/>
                                        <p:tgtEl>
                                          <p:spTgt spid="7"/>
                                        </p:tgtEl>
                                      </p:cBhvr>
                                    </p:animEffect>
                                  </p:childTnLst>
                                </p:cTn>
                              </p:par>
                            </p:childTnLst>
                          </p:cTn>
                        </p:par>
                      </p:childTnLst>
                    </p:cTn>
                  </p:par>
                  <p:par>
                    <p:cTn id="28" fill="hold">
                      <p:stCondLst>
                        <p:cond delay="indefinite"/>
                      </p:stCondLst>
                      <p:childTnLst>
                        <p:par>
                          <p:cTn id="29" fill="hold">
                            <p:stCondLst>
                              <p:cond delay="0"/>
                            </p:stCondLst>
                            <p:childTnLst>
                              <p:par>
                                <p:cTn id="30" presetID="9" presetClass="entr" presetSubtype="0" fill="hold" grpId="0" nodeType="clickEffect">
                                  <p:stCondLst>
                                    <p:cond delay="0"/>
                                  </p:stCondLst>
                                  <p:childTnLst>
                                    <p:set>
                                      <p:cBhvr>
                                        <p:cTn id="31" dur="1" fill="hold">
                                          <p:stCondLst>
                                            <p:cond delay="0"/>
                                          </p:stCondLst>
                                        </p:cTn>
                                        <p:tgtEl>
                                          <p:spTgt spid="8"/>
                                        </p:tgtEl>
                                        <p:attrNameLst>
                                          <p:attrName>style.visibility</p:attrName>
                                        </p:attrNameLst>
                                      </p:cBhvr>
                                      <p:to>
                                        <p:strVal val="visible"/>
                                      </p:to>
                                    </p:set>
                                    <p:animEffect transition="in" filter="dissolve">
                                      <p:cBhvr>
                                        <p:cTn id="32" dur="500"/>
                                        <p:tgtEl>
                                          <p:spTgt spid="8"/>
                                        </p:tgtEl>
                                      </p:cBhvr>
                                    </p:animEffect>
                                  </p:childTnLst>
                                </p:cTn>
                              </p:par>
                            </p:childTnLst>
                          </p:cTn>
                        </p:par>
                      </p:childTnLst>
                    </p:cTn>
                  </p:par>
                  <p:par>
                    <p:cTn id="33" fill="hold">
                      <p:stCondLst>
                        <p:cond delay="indefinite"/>
                      </p:stCondLst>
                      <p:childTnLst>
                        <p:par>
                          <p:cTn id="34" fill="hold">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9"/>
                                        </p:tgtEl>
                                        <p:attrNameLst>
                                          <p:attrName>style.visibility</p:attrName>
                                        </p:attrNameLst>
                                      </p:cBhvr>
                                      <p:to>
                                        <p:strVal val="visible"/>
                                      </p:to>
                                    </p:set>
                                    <p:animEffect transition="in" filter="checkerboard(across)">
                                      <p:cBhvr>
                                        <p:cTn id="37" dur="500"/>
                                        <p:tgtEl>
                                          <p:spTgt spid="9"/>
                                        </p:tgtEl>
                                      </p:cBhvr>
                                    </p:animEffect>
                                  </p:childTnLst>
                                </p:cTn>
                              </p:par>
                            </p:childTnLst>
                          </p:cTn>
                        </p:par>
                      </p:childTnLst>
                    </p:cTn>
                  </p:par>
                  <p:par>
                    <p:cTn id="38" fill="hold">
                      <p:stCondLst>
                        <p:cond delay="indefinite"/>
                      </p:stCondLst>
                      <p:childTnLst>
                        <p:par>
                          <p:cTn id="39" fill="hold">
                            <p:stCondLst>
                              <p:cond delay="0"/>
                            </p:stCondLst>
                            <p:childTnLst>
                              <p:par>
                                <p:cTn id="40" presetID="9" presetClass="entr" presetSubtype="0" fill="hold" grpId="0" nodeType="clickEffect">
                                  <p:stCondLst>
                                    <p:cond delay="0"/>
                                  </p:stCondLst>
                                  <p:childTnLst>
                                    <p:set>
                                      <p:cBhvr>
                                        <p:cTn id="41" dur="1" fill="hold">
                                          <p:stCondLst>
                                            <p:cond delay="0"/>
                                          </p:stCondLst>
                                        </p:cTn>
                                        <p:tgtEl>
                                          <p:spTgt spid="10"/>
                                        </p:tgtEl>
                                        <p:attrNameLst>
                                          <p:attrName>style.visibility</p:attrName>
                                        </p:attrNameLst>
                                      </p:cBhvr>
                                      <p:to>
                                        <p:strVal val="visible"/>
                                      </p:to>
                                    </p:set>
                                    <p:animEffect transition="in" filter="dissolve">
                                      <p:cBhvr>
                                        <p:cTn id="42" dur="500"/>
                                        <p:tgtEl>
                                          <p:spTgt spid="10"/>
                                        </p:tgtEl>
                                      </p:cBhvr>
                                    </p:animEffect>
                                  </p:childTnLst>
                                </p:cTn>
                              </p:par>
                            </p:childTnLst>
                          </p:cTn>
                        </p:par>
                      </p:childTnLst>
                    </p:cTn>
                  </p:par>
                  <p:par>
                    <p:cTn id="43" fill="hold">
                      <p:stCondLst>
                        <p:cond delay="indefinite"/>
                      </p:stCondLst>
                      <p:childTnLst>
                        <p:par>
                          <p:cTn id="44" fill="hold">
                            <p:stCondLst>
                              <p:cond delay="0"/>
                            </p:stCondLst>
                            <p:childTnLst>
                              <p:par>
                                <p:cTn id="45" presetID="9" presetClass="entr" presetSubtype="0" fill="hold" grpId="0" nodeType="clickEffect">
                                  <p:stCondLst>
                                    <p:cond delay="0"/>
                                  </p:stCondLst>
                                  <p:childTnLst>
                                    <p:set>
                                      <p:cBhvr>
                                        <p:cTn id="46" dur="1" fill="hold">
                                          <p:stCondLst>
                                            <p:cond delay="0"/>
                                          </p:stCondLst>
                                        </p:cTn>
                                        <p:tgtEl>
                                          <p:spTgt spid="11"/>
                                        </p:tgtEl>
                                        <p:attrNameLst>
                                          <p:attrName>style.visibility</p:attrName>
                                        </p:attrNameLst>
                                      </p:cBhvr>
                                      <p:to>
                                        <p:strVal val="visible"/>
                                      </p:to>
                                    </p:set>
                                    <p:animEffect transition="in" filter="dissolve">
                                      <p:cBhvr>
                                        <p:cTn id="47"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P spid="7" grpId="0" animBg="1"/>
      <p:bldP spid="8" grpId="0" animBg="1"/>
      <p:bldP spid="9" grpId="0" animBg="1"/>
      <p:bldP spid="10" grpId="0"/>
      <p:bldP spid="11"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科学归纳法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1177280" y="1268760"/>
            <a:ext cx="6419056" cy="460648"/>
          </a:xfrm>
        </p:spPr>
        <p:txBody>
          <a:bodyPr>
            <a:normAutofit/>
          </a:bodyPr>
          <a:lstStyle/>
          <a:p>
            <a:pPr>
              <a:buNone/>
            </a:pPr>
            <a:r>
              <a:rPr lang="zh-CN" altLang="en-US" sz="2000" dirty="0" smtClean="0">
                <a:latin typeface="楷体" pitchFamily="49" charset="-122"/>
                <a:ea typeface="楷体" pitchFamily="49" charset="-122"/>
                <a:cs typeface="Times New Roman" pitchFamily="18" charset="0"/>
              </a:rPr>
              <a:t>    观察加上科学研究，派生出简单枚举法的一种变形</a:t>
            </a:r>
            <a:endParaRPr lang="zh-CN" altLang="en-US" sz="2000" dirty="0">
              <a:latin typeface="楷体" pitchFamily="49" charset="-122"/>
              <a:ea typeface="楷体" pitchFamily="49" charset="-122"/>
            </a:endParaRPr>
          </a:p>
        </p:txBody>
      </p:sp>
      <p:sp>
        <p:nvSpPr>
          <p:cNvPr id="4" name="TextBox 3"/>
          <p:cNvSpPr txBox="1"/>
          <p:nvPr/>
        </p:nvSpPr>
        <p:spPr>
          <a:xfrm>
            <a:off x="1187624" y="1772816"/>
            <a:ext cx="6912768" cy="3277820"/>
          </a:xfrm>
          <a:prstGeom prst="rect">
            <a:avLst/>
          </a:prstGeom>
          <a:noFill/>
        </p:spPr>
        <p:txBody>
          <a:bodyPr wrap="square" rtlCol="0">
            <a:spAutoFit/>
          </a:bodyPr>
          <a:lstStyle/>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   </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a:t>
            </a: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类的部分对象，其中没有</a:t>
            </a: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i</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a:t>
            </a:r>
            <a:r>
              <a:rPr lang="en-US" altLang="zh-CN" dirty="0" err="1">
                <a:latin typeface="华文新魏" pitchFamily="2" charset="-122"/>
                <a:ea typeface="华文新魏" pitchFamily="2" charset="-122"/>
                <a:cs typeface="Times New Roman" pitchFamily="18" charset="0"/>
              </a:rPr>
              <a:t>i</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）不是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；并且科学研究表明，</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和</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之间有必然联系，</a:t>
            </a:r>
          </a:p>
          <a:p>
            <a:pPr lvl="1">
              <a:lnSpc>
                <a:spcPct val="150000"/>
              </a:lnSpc>
            </a:pPr>
            <a:r>
              <a:rPr lang="zh-CN" altLang="en-US" dirty="0">
                <a:latin typeface="华文新魏" pitchFamily="2" charset="-122"/>
                <a:ea typeface="华文新魏" pitchFamily="2" charset="-122"/>
                <a:cs typeface="Times New Roman" pitchFamily="18" charset="0"/>
              </a:rPr>
              <a:t>所以，所有的</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都是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endParaRPr lang="zh-CN" altLang="en-US" dirty="0"/>
          </a:p>
        </p:txBody>
      </p:sp>
      <p:cxnSp>
        <p:nvCxnSpPr>
          <p:cNvPr id="5" name="直接连接符 4"/>
          <p:cNvCxnSpPr/>
          <p:nvPr/>
        </p:nvCxnSpPr>
        <p:spPr>
          <a:xfrm>
            <a:off x="1547664" y="4293096"/>
            <a:ext cx="6500812" cy="1587"/>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3491880" y="5013176"/>
            <a:ext cx="2736304" cy="430887"/>
          </a:xfrm>
          <a:prstGeom prst="rect">
            <a:avLst/>
          </a:prstGeom>
          <a:noFill/>
        </p:spPr>
        <p:txBody>
          <a:bodyPr wrap="square" rtlCol="0">
            <a:spAutoFit/>
          </a:bodyPr>
          <a:lstStyle/>
          <a:p>
            <a:r>
              <a:rPr lang="zh-CN" altLang="en-US" sz="2200" dirty="0">
                <a:solidFill>
                  <a:srgbClr val="7030A0"/>
                </a:solidFill>
                <a:latin typeface="华文行楷" pitchFamily="2" charset="-122"/>
                <a:ea typeface="华文行楷" pitchFamily="2" charset="-122"/>
              </a:rPr>
              <a:t>健康的怀疑主义态度</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ox(in)">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29"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1000" fill="hold"/>
                                        <p:tgtEl>
                                          <p:spTgt spid="6"/>
                                        </p:tgtEl>
                                        <p:attrNameLst>
                                          <p:attrName>ppt_x</p:attrName>
                                        </p:attrNameLst>
                                      </p:cBhvr>
                                      <p:tavLst>
                                        <p:tav tm="0">
                                          <p:val>
                                            <p:strVal val="#ppt_x-.2"/>
                                          </p:val>
                                        </p:tav>
                                        <p:tav tm="100000">
                                          <p:val>
                                            <p:strVal val="#ppt_x"/>
                                          </p:val>
                                        </p:tav>
                                      </p:tavLst>
                                    </p:anim>
                                    <p:anim calcmode="lin" valueType="num">
                                      <p:cBhvr>
                                        <p:cTn id="21" dur="1000" fill="hold"/>
                                        <p:tgtEl>
                                          <p:spTgt spid="6"/>
                                        </p:tgtEl>
                                        <p:attrNameLst>
                                          <p:attrName>ppt_y</p:attrName>
                                        </p:attrNameLst>
                                      </p:cBhvr>
                                      <p:tavLst>
                                        <p:tav tm="0">
                                          <p:val>
                                            <p:strVal val="#ppt_y"/>
                                          </p:val>
                                        </p:tav>
                                        <p:tav tm="100000">
                                          <p:val>
                                            <p:strVal val="#ppt_y"/>
                                          </p:val>
                                        </p:tav>
                                      </p:tavLst>
                                    </p:anim>
                                    <p:animEffect transition="in" filter="wipe(right)" prLst="gradientSize: 0.1">
                                      <p:cBhvr>
                                        <p:cTn id="22"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完全归纳法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1105272" y="1312168"/>
            <a:ext cx="6563072" cy="604664"/>
          </a:xfrm>
        </p:spPr>
        <p:txBody>
          <a:bodyPr/>
          <a:lstStyle/>
          <a:p>
            <a:pPr>
              <a:buNone/>
            </a:pPr>
            <a:r>
              <a:rPr lang="zh-CN" altLang="en-US" dirty="0" smtClean="0">
                <a:latin typeface="Times New Roman" pitchFamily="18" charset="0"/>
                <a:cs typeface="Times New Roman" pitchFamily="18" charset="0"/>
              </a:rPr>
              <a:t>    </a:t>
            </a:r>
            <a:r>
              <a:rPr lang="zh-CN" altLang="en-US" sz="2000" dirty="0" smtClean="0">
                <a:latin typeface="楷体" pitchFamily="49" charset="-122"/>
                <a:ea typeface="楷体" pitchFamily="49" charset="-122"/>
                <a:cs typeface="Times New Roman" pitchFamily="18" charset="0"/>
              </a:rPr>
              <a:t>把简单枚举法注重数量和分布的这一特点发展到极限</a:t>
            </a:r>
            <a:endParaRPr lang="zh-CN" altLang="en-US" dirty="0">
              <a:latin typeface="楷体" pitchFamily="49" charset="-122"/>
              <a:ea typeface="楷体" pitchFamily="49" charset="-122"/>
            </a:endParaRPr>
          </a:p>
        </p:txBody>
      </p:sp>
      <p:sp>
        <p:nvSpPr>
          <p:cNvPr id="4" name="TextBox 3"/>
          <p:cNvSpPr txBox="1"/>
          <p:nvPr/>
        </p:nvSpPr>
        <p:spPr>
          <a:xfrm>
            <a:off x="1403648" y="1988840"/>
            <a:ext cx="6336704" cy="2862322"/>
          </a:xfrm>
          <a:prstGeom prst="rect">
            <a:avLst/>
          </a:prstGeom>
          <a:noFill/>
        </p:spPr>
        <p:txBody>
          <a:bodyPr wrap="square" rtlCol="0">
            <a:spAutoFit/>
          </a:bodyPr>
          <a:lstStyle/>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  </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pPr lvl="1">
              <a:lnSpc>
                <a:spcPct val="150000"/>
              </a:lnSpc>
            </a:pP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1</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S</a:t>
            </a:r>
            <a:r>
              <a:rPr lang="en-US" altLang="zh-CN" baseline="-25000" dirty="0">
                <a:latin typeface="华文新魏" pitchFamily="2" charset="-122"/>
                <a:ea typeface="华文新魏" pitchFamily="2" charset="-122"/>
                <a:cs typeface="Times New Roman" pitchFamily="18" charset="0"/>
              </a:rPr>
              <a:t>2</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a:t>
            </a:r>
            <a:r>
              <a:rPr lang="en-US" altLang="zh-CN" dirty="0" err="1">
                <a:latin typeface="华文新魏" pitchFamily="2" charset="-122"/>
                <a:ea typeface="华文新魏" pitchFamily="2" charset="-122"/>
                <a:cs typeface="Times New Roman" pitchFamily="18" charset="0"/>
              </a:rPr>
              <a:t>S</a:t>
            </a:r>
            <a:r>
              <a:rPr lang="en-US" altLang="zh-CN" baseline="-25000" dirty="0" err="1">
                <a:latin typeface="华文新魏" pitchFamily="2" charset="-122"/>
                <a:ea typeface="华文新魏" pitchFamily="2" charset="-122"/>
                <a:cs typeface="Times New Roman" pitchFamily="18" charset="0"/>
              </a:rPr>
              <a:t>n</a:t>
            </a:r>
            <a:r>
              <a:rPr lang="zh-CN" altLang="en-US" dirty="0">
                <a:latin typeface="华文新魏" pitchFamily="2" charset="-122"/>
                <a:ea typeface="华文新魏" pitchFamily="2" charset="-122"/>
                <a:cs typeface="Times New Roman" pitchFamily="18" charset="0"/>
              </a:rPr>
              <a:t>是</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类的全部对象，并且其中没有</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不是</a:t>
            </a:r>
            <a:r>
              <a:rPr lang="en-US" altLang="zh-CN" dirty="0">
                <a:latin typeface="华文新魏" pitchFamily="2" charset="-122"/>
                <a:ea typeface="华文新魏" pitchFamily="2" charset="-122"/>
                <a:cs typeface="Times New Roman" pitchFamily="18" charset="0"/>
              </a:rPr>
              <a:t>P</a:t>
            </a:r>
            <a:endParaRPr lang="zh-CN" altLang="en-US" dirty="0">
              <a:latin typeface="华文新魏" pitchFamily="2" charset="-122"/>
              <a:ea typeface="华文新魏" pitchFamily="2" charset="-122"/>
              <a:cs typeface="Times New Roman" pitchFamily="18" charset="0"/>
            </a:endParaRPr>
          </a:p>
          <a:p>
            <a:pPr lvl="1">
              <a:lnSpc>
                <a:spcPct val="150000"/>
              </a:lnSpc>
            </a:pPr>
            <a:r>
              <a:rPr lang="zh-CN" altLang="en-US" dirty="0">
                <a:latin typeface="华文新魏" pitchFamily="2" charset="-122"/>
                <a:ea typeface="华文新魏" pitchFamily="2" charset="-122"/>
                <a:cs typeface="Times New Roman" pitchFamily="18" charset="0"/>
              </a:rPr>
              <a:t>所以，所有的</a:t>
            </a:r>
            <a:r>
              <a:rPr lang="en-US" altLang="zh-CN" dirty="0">
                <a:latin typeface="华文新魏" pitchFamily="2" charset="-122"/>
                <a:ea typeface="华文新魏" pitchFamily="2" charset="-122"/>
                <a:cs typeface="Times New Roman" pitchFamily="18" charset="0"/>
              </a:rPr>
              <a:t>S</a:t>
            </a:r>
            <a:r>
              <a:rPr lang="zh-CN" altLang="en-US" dirty="0">
                <a:latin typeface="华文新魏" pitchFamily="2" charset="-122"/>
                <a:ea typeface="华文新魏" pitchFamily="2" charset="-122"/>
                <a:cs typeface="Times New Roman" pitchFamily="18" charset="0"/>
              </a:rPr>
              <a:t>都是</a:t>
            </a:r>
            <a:r>
              <a:rPr lang="en-US" altLang="zh-CN" dirty="0">
                <a:latin typeface="华文新魏" pitchFamily="2" charset="-122"/>
                <a:ea typeface="华文新魏" pitchFamily="2" charset="-122"/>
                <a:cs typeface="Times New Roman" pitchFamily="18" charset="0"/>
              </a:rPr>
              <a:t>P</a:t>
            </a:r>
            <a:r>
              <a:rPr lang="zh-CN" altLang="en-US" dirty="0">
                <a:latin typeface="华文新魏" pitchFamily="2" charset="-122"/>
                <a:ea typeface="华文新魏" pitchFamily="2" charset="-122"/>
                <a:cs typeface="Times New Roman" pitchFamily="18" charset="0"/>
              </a:rPr>
              <a:t>。</a:t>
            </a:r>
          </a:p>
          <a:p>
            <a:endParaRPr lang="zh-CN" altLang="en-US" dirty="0"/>
          </a:p>
        </p:txBody>
      </p:sp>
      <p:cxnSp>
        <p:nvCxnSpPr>
          <p:cNvPr id="5" name="直接连接符 4"/>
          <p:cNvCxnSpPr/>
          <p:nvPr/>
        </p:nvCxnSpPr>
        <p:spPr>
          <a:xfrm>
            <a:off x="1763688" y="4150241"/>
            <a:ext cx="5572125" cy="1587"/>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3347864" y="5014337"/>
            <a:ext cx="2736304" cy="430887"/>
          </a:xfrm>
          <a:prstGeom prst="rect">
            <a:avLst/>
          </a:prstGeom>
        </p:spPr>
        <p:style>
          <a:lnRef idx="1">
            <a:schemeClr val="accent2"/>
          </a:lnRef>
          <a:fillRef idx="2">
            <a:schemeClr val="accent2"/>
          </a:fillRef>
          <a:effectRef idx="1">
            <a:schemeClr val="accent2"/>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前提真，结论一定真</a:t>
            </a:r>
            <a:endParaRPr lang="zh-CN" altLang="en-US" sz="22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par>
                                <p:cTn id="13" presetID="3" presetClass="entr" presetSubtype="1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linds(horizontal)">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55" presetClass="entr" presetSubtype="0"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 calcmode="lin" valueType="num">
                                      <p:cBhvr>
                                        <p:cTn id="20" dur="500" fill="hold"/>
                                        <p:tgtEl>
                                          <p:spTgt spid="6"/>
                                        </p:tgtEl>
                                        <p:attrNameLst>
                                          <p:attrName>ppt_w</p:attrName>
                                        </p:attrNameLst>
                                      </p:cBhvr>
                                      <p:tavLst>
                                        <p:tav tm="0">
                                          <p:val>
                                            <p:strVal val="#ppt_w*0.70"/>
                                          </p:val>
                                        </p:tav>
                                        <p:tav tm="100000">
                                          <p:val>
                                            <p:strVal val="#ppt_w"/>
                                          </p:val>
                                        </p:tav>
                                      </p:tavLst>
                                    </p:anim>
                                    <p:anim calcmode="lin" valueType="num">
                                      <p:cBhvr>
                                        <p:cTn id="21" dur="500" fill="hold"/>
                                        <p:tgtEl>
                                          <p:spTgt spid="6"/>
                                        </p:tgtEl>
                                        <p:attrNameLst>
                                          <p:attrName>ppt_h</p:attrName>
                                        </p:attrNameLst>
                                      </p:cBhvr>
                                      <p:tavLst>
                                        <p:tav tm="0">
                                          <p:val>
                                            <p:strVal val="#ppt_h"/>
                                          </p:val>
                                        </p:tav>
                                        <p:tav tm="100000">
                                          <p:val>
                                            <p:strVal val="#ppt_h"/>
                                          </p:val>
                                        </p:tav>
                                      </p:tavLst>
                                    </p:anim>
                                    <p:animEffect transition="in" filter="fade">
                                      <p:cBhvr>
                                        <p:cTn id="2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408738"/>
            <a:ext cx="366712" cy="365125"/>
          </a:xfrm>
          <a:noFill/>
          <a:ln>
            <a:miter lim="800000"/>
            <a:headEnd/>
            <a:tailEnd/>
          </a:ln>
        </p:spPr>
        <p:txBody>
          <a:bodyPr/>
          <a:lstStyle/>
          <a:p>
            <a:fld id="{19B5CF85-BDD1-4515-8011-0F53550CA818}" type="slidenum">
              <a:rPr lang="zh-CN" altLang="en-US"/>
              <a:pPr/>
              <a:t>8</a:t>
            </a:fld>
            <a:endParaRPr lang="en-US" altLang="zh-CN"/>
          </a:p>
        </p:txBody>
      </p:sp>
      <p:sp>
        <p:nvSpPr>
          <p:cNvPr id="6" name="标题 1"/>
          <p:cNvSpPr>
            <a:spLocks noGrp="1"/>
          </p:cNvSpPr>
          <p:nvPr>
            <p:ph type="title"/>
          </p:nvPr>
        </p:nvSpPr>
        <p:spPr>
          <a:xfrm>
            <a:off x="457200" y="544143"/>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第五章</a:t>
            </a:r>
            <a:r>
              <a:rPr lang="en-US" dirty="0" smtClean="0">
                <a:latin typeface="华文新魏" pitchFamily="2" charset="-122"/>
                <a:ea typeface="华文新魏" pitchFamily="2" charset="-122"/>
              </a:rPr>
              <a:t>  </a:t>
            </a:r>
            <a:r>
              <a:rPr lang="zh-CN" altLang="en-US" dirty="0" smtClean="0">
                <a:latin typeface="华文新魏" pitchFamily="2" charset="-122"/>
                <a:ea typeface="华文新魏" pitchFamily="2" charset="-122"/>
              </a:rPr>
              <a:t>归纳逻辑</a:t>
            </a:r>
            <a:endParaRPr lang="zh-CN" altLang="en-US" dirty="0">
              <a:latin typeface="华文新魏" pitchFamily="2" charset="-122"/>
              <a:ea typeface="华文新魏" pitchFamily="2" charset="-122"/>
            </a:endParaRPr>
          </a:p>
        </p:txBody>
      </p:sp>
      <p:sp>
        <p:nvSpPr>
          <p:cNvPr id="12" name="TextBox 11"/>
          <p:cNvSpPr txBox="1"/>
          <p:nvPr/>
        </p:nvSpPr>
        <p:spPr>
          <a:xfrm>
            <a:off x="3995936" y="3009726"/>
            <a:ext cx="5112568" cy="461665"/>
          </a:xfrm>
          <a:prstGeom prst="rect">
            <a:avLst/>
          </a:prstGeom>
          <a:noFill/>
        </p:spPr>
        <p:txBody>
          <a:bodyPr wrap="square" rtlCol="0">
            <a:spAutoFit/>
          </a:bodyPr>
          <a:lstStyle/>
          <a:p>
            <a:r>
              <a:rPr lang="zh-CN" altLang="en-US" sz="2400" b="1" dirty="0">
                <a:latin typeface="+mn-ea"/>
              </a:rPr>
              <a:t>排除归纳法</a:t>
            </a:r>
          </a:p>
        </p:txBody>
      </p:sp>
      <p:sp>
        <p:nvSpPr>
          <p:cNvPr id="13" name="TextBox 12"/>
          <p:cNvSpPr txBox="1"/>
          <p:nvPr/>
        </p:nvSpPr>
        <p:spPr>
          <a:xfrm>
            <a:off x="3995936" y="3903439"/>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类比推理</a:t>
            </a:r>
            <a:endParaRPr lang="zh-CN" altLang="en-US" sz="2400" b="1" dirty="0">
              <a:solidFill>
                <a:schemeClr val="bg1">
                  <a:lumMod val="85000"/>
                </a:schemeClr>
              </a:solidFill>
              <a:latin typeface="+mn-ea"/>
            </a:endParaRPr>
          </a:p>
        </p:txBody>
      </p:sp>
      <p:sp>
        <p:nvSpPr>
          <p:cNvPr id="14" name="TextBox 13"/>
          <p:cNvSpPr txBox="1"/>
          <p:nvPr/>
        </p:nvSpPr>
        <p:spPr>
          <a:xfrm>
            <a:off x="3995936" y="4767535"/>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假说演绎法</a:t>
            </a:r>
          </a:p>
        </p:txBody>
      </p:sp>
      <p:sp>
        <p:nvSpPr>
          <p:cNvPr id="16" name="TextBox 15"/>
          <p:cNvSpPr txBox="1"/>
          <p:nvPr/>
        </p:nvSpPr>
        <p:spPr>
          <a:xfrm>
            <a:off x="3995936" y="2175247"/>
            <a:ext cx="5112568" cy="461665"/>
          </a:xfrm>
          <a:prstGeom prst="rect">
            <a:avLst/>
          </a:prstGeom>
          <a:noFill/>
        </p:spPr>
        <p:txBody>
          <a:bodyPr wrap="square" rtlCol="0">
            <a:spAutoFit/>
          </a:bodyPr>
          <a:lstStyle/>
          <a:p>
            <a:r>
              <a:rPr lang="zh-CN" altLang="en-US" sz="2400" b="1" dirty="0">
                <a:solidFill>
                  <a:schemeClr val="bg1">
                    <a:lumMod val="85000"/>
                  </a:schemeClr>
                </a:solidFill>
              </a:rPr>
              <a:t>简单</a:t>
            </a:r>
            <a:r>
              <a:rPr lang="zh-CN" altLang="en-US" sz="2400" b="1" dirty="0" smtClean="0">
                <a:solidFill>
                  <a:schemeClr val="bg1">
                    <a:lumMod val="85000"/>
                  </a:schemeClr>
                </a:solidFill>
              </a:rPr>
              <a:t>枚举法</a:t>
            </a:r>
            <a:endParaRPr lang="zh-CN" altLang="en-US" sz="2400" b="1" dirty="0">
              <a:solidFill>
                <a:schemeClr val="bg1">
                  <a:lumMod val="85000"/>
                </a:schemeClr>
              </a:solidFill>
            </a:endParaRPr>
          </a:p>
        </p:txBody>
      </p:sp>
      <p:sp>
        <p:nvSpPr>
          <p:cNvPr id="15" name="禁止符 14"/>
          <p:cNvSpPr/>
          <p:nvPr/>
        </p:nvSpPr>
        <p:spPr>
          <a:xfrm>
            <a:off x="3131840" y="21328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7" name="禁止符 16"/>
          <p:cNvSpPr/>
          <p:nvPr/>
        </p:nvSpPr>
        <p:spPr>
          <a:xfrm>
            <a:off x="3131840" y="2996952"/>
            <a:ext cx="504056" cy="504056"/>
          </a:xfrm>
          <a:prstGeom prst="noSmoking">
            <a:avLst/>
          </a:prstGeom>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p>
        </p:txBody>
      </p:sp>
      <p:sp>
        <p:nvSpPr>
          <p:cNvPr id="18" name="禁止符 17"/>
          <p:cNvSpPr/>
          <p:nvPr/>
        </p:nvSpPr>
        <p:spPr>
          <a:xfrm>
            <a:off x="3131840" y="39330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9" name="禁止符 18"/>
          <p:cNvSpPr/>
          <p:nvPr/>
        </p:nvSpPr>
        <p:spPr>
          <a:xfrm>
            <a:off x="3131840" y="47971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Tree>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因果关系的特点</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457200" y="1240160"/>
            <a:ext cx="8229600" cy="820688"/>
          </a:xfrm>
        </p:spPr>
        <p:txBody>
          <a:bodyPr>
            <a:normAutofit/>
          </a:bodyPr>
          <a:lstStyle/>
          <a:p>
            <a:pPr>
              <a:buNone/>
            </a:pPr>
            <a:r>
              <a:rPr lang="zh-CN" altLang="en-US" sz="2000" dirty="0" smtClean="0">
                <a:latin typeface="楷体" pitchFamily="49" charset="-122"/>
                <a:ea typeface="楷体" pitchFamily="49" charset="-122"/>
              </a:rPr>
              <a:t>   根据因果关系的某些特点，把某些明显不是被研究现象的原因的先行情况</a:t>
            </a:r>
            <a:r>
              <a:rPr lang="zh-CN" altLang="en-US" sz="2000" b="1" dirty="0" smtClean="0">
                <a:solidFill>
                  <a:srgbClr val="C00000"/>
                </a:solidFill>
                <a:latin typeface="楷体" pitchFamily="49" charset="-122"/>
                <a:ea typeface="楷体" pitchFamily="49" charset="-122"/>
              </a:rPr>
              <a:t>排除掉</a:t>
            </a:r>
            <a:r>
              <a:rPr lang="zh-CN" altLang="en-US" sz="2000" dirty="0" smtClean="0">
                <a:latin typeface="楷体" pitchFamily="49" charset="-122"/>
                <a:ea typeface="楷体" pitchFamily="49" charset="-122"/>
              </a:rPr>
              <a:t>，而在其余的先行情况与被研究现象之间</a:t>
            </a:r>
            <a:r>
              <a:rPr lang="zh-CN" altLang="en-US" sz="2000" b="1" u="sng" dirty="0" smtClean="0">
                <a:solidFill>
                  <a:srgbClr val="006600"/>
                </a:solidFill>
                <a:latin typeface="楷体" pitchFamily="49" charset="-122"/>
                <a:ea typeface="楷体" pitchFamily="49" charset="-122"/>
              </a:rPr>
              <a:t>确立因果</a:t>
            </a:r>
            <a:r>
              <a:rPr lang="zh-CN" altLang="en-US" sz="2000" b="1" u="sng" dirty="0" smtClean="0">
                <a:solidFill>
                  <a:srgbClr val="006600"/>
                </a:solidFill>
                <a:latin typeface="楷体" pitchFamily="49" charset="-122"/>
                <a:ea typeface="楷体" pitchFamily="49" charset="-122"/>
              </a:rPr>
              <a:t>关系</a:t>
            </a:r>
            <a:r>
              <a:rPr lang="zh-CN" altLang="en-US" sz="2000" b="1" dirty="0" smtClean="0">
                <a:latin typeface="楷体" pitchFamily="49" charset="-122"/>
                <a:ea typeface="楷体" pitchFamily="49" charset="-122"/>
              </a:rPr>
              <a:t>。</a:t>
            </a:r>
            <a:endParaRPr lang="zh-CN" altLang="en-US" sz="2000" b="1" dirty="0">
              <a:latin typeface="楷体" pitchFamily="49" charset="-122"/>
              <a:ea typeface="楷体" pitchFamily="49" charset="-122"/>
            </a:endParaRPr>
          </a:p>
        </p:txBody>
      </p:sp>
      <p:grpSp>
        <p:nvGrpSpPr>
          <p:cNvPr id="6" name="组合 5"/>
          <p:cNvGrpSpPr/>
          <p:nvPr/>
        </p:nvGrpSpPr>
        <p:grpSpPr>
          <a:xfrm>
            <a:off x="1310952" y="2492896"/>
            <a:ext cx="1080120" cy="792088"/>
            <a:chOff x="1331640" y="2708920"/>
            <a:chExt cx="1080120" cy="792088"/>
          </a:xfrm>
        </p:grpSpPr>
        <p:sp>
          <p:nvSpPr>
            <p:cNvPr id="4" name="横卷形 3"/>
            <p:cNvSpPr/>
            <p:nvPr/>
          </p:nvSpPr>
          <p:spPr>
            <a:xfrm>
              <a:off x="1331640" y="2708920"/>
              <a:ext cx="1080120" cy="792088"/>
            </a:xfrm>
            <a:prstGeom prst="horizont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5" name="TextBox 4"/>
            <p:cNvSpPr txBox="1"/>
            <p:nvPr/>
          </p:nvSpPr>
          <p:spPr>
            <a:xfrm>
              <a:off x="1403648" y="2924944"/>
              <a:ext cx="1008112"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普遍性</a:t>
              </a:r>
              <a:endParaRPr lang="zh-CN" altLang="en-US" sz="2000" dirty="0">
                <a:latin typeface="华文行楷" pitchFamily="2" charset="-122"/>
                <a:ea typeface="华文行楷" pitchFamily="2" charset="-122"/>
              </a:endParaRPr>
            </a:p>
          </p:txBody>
        </p:sp>
      </p:grpSp>
      <p:sp>
        <p:nvSpPr>
          <p:cNvPr id="7" name="内容占位符 2"/>
          <p:cNvSpPr txBox="1">
            <a:spLocks/>
          </p:cNvSpPr>
          <p:nvPr/>
        </p:nvSpPr>
        <p:spPr>
          <a:xfrm>
            <a:off x="3090464" y="2564904"/>
            <a:ext cx="5421288" cy="82068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b="0" i="0" u="none" strike="noStrike" kern="1200" cap="none" spc="0" normalizeH="0" baseline="0" noProof="0" dirty="0" smtClean="0">
                <a:ln>
                  <a:noFill/>
                </a:ln>
                <a:solidFill>
                  <a:schemeClr val="tx1"/>
                </a:solidFill>
                <a:effectLst/>
                <a:uLnTx/>
                <a:uFillTx/>
                <a:latin typeface="楷体" pitchFamily="49" charset="-122"/>
                <a:ea typeface="楷体" pitchFamily="49" charset="-122"/>
              </a:rPr>
              <a:t>原因和结果总是恒常伴随</a:t>
            </a:r>
            <a:endParaRPr kumimoji="0" lang="en-US" altLang="zh-CN" b="0" i="0" u="none" strike="noStrike" kern="1200" cap="none" spc="0" normalizeH="0" baseline="0" noProof="0" dirty="0" smtClean="0">
              <a:ln>
                <a:noFill/>
              </a:ln>
              <a:solidFill>
                <a:schemeClr val="tx1"/>
              </a:solidFill>
              <a:effectLst/>
              <a:uLnTx/>
              <a:uFillTx/>
              <a:latin typeface="楷体" pitchFamily="49" charset="-122"/>
              <a:ea typeface="楷体" pitchFamily="49" charset="-122"/>
            </a:endParaRPr>
          </a:p>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zh-CN" altLang="en-US" dirty="0">
                <a:latin typeface="楷体" pitchFamily="49" charset="-122"/>
                <a:ea typeface="楷体" pitchFamily="49" charset="-122"/>
              </a:rPr>
              <a:t>因果</a:t>
            </a:r>
            <a:r>
              <a:rPr lang="zh-CN" altLang="en-US" dirty="0" smtClean="0">
                <a:latin typeface="楷体" pitchFamily="49" charset="-122"/>
                <a:ea typeface="楷体" pitchFamily="49" charset="-122"/>
              </a:rPr>
              <a:t>关系是在两个</a:t>
            </a:r>
            <a:r>
              <a:rPr lang="en-US" altLang="zh-CN" dirty="0" smtClean="0">
                <a:latin typeface="楷体" pitchFamily="49" charset="-122"/>
                <a:ea typeface="楷体" pitchFamily="49" charset="-122"/>
              </a:rPr>
              <a:t>/</a:t>
            </a:r>
            <a:r>
              <a:rPr lang="zh-CN" altLang="en-US" dirty="0" smtClean="0">
                <a:latin typeface="楷体" pitchFamily="49" charset="-122"/>
                <a:ea typeface="楷体" pitchFamily="49" charset="-122"/>
              </a:rPr>
              <a:t>类现象、事件之间普遍成立</a:t>
            </a:r>
            <a:endParaRPr kumimoji="0" lang="zh-CN" altLang="en-US" b="0" i="0" u="none" strike="noStrike" kern="1200" cap="none" spc="0" normalizeH="0" baseline="0" noProof="0" dirty="0" smtClean="0">
              <a:ln>
                <a:noFill/>
              </a:ln>
              <a:solidFill>
                <a:schemeClr val="tx1"/>
              </a:solidFill>
              <a:effectLst/>
              <a:uLnTx/>
              <a:uFillTx/>
              <a:latin typeface="楷体" pitchFamily="49" charset="-122"/>
              <a:ea typeface="楷体" pitchFamily="49" charset="-122"/>
            </a:endParaRPr>
          </a:p>
        </p:txBody>
      </p:sp>
      <p:grpSp>
        <p:nvGrpSpPr>
          <p:cNvPr id="8" name="组合 7"/>
          <p:cNvGrpSpPr/>
          <p:nvPr/>
        </p:nvGrpSpPr>
        <p:grpSpPr>
          <a:xfrm>
            <a:off x="1331640" y="3501008"/>
            <a:ext cx="1080120" cy="792088"/>
            <a:chOff x="1331640" y="2708920"/>
            <a:chExt cx="1080120" cy="792088"/>
          </a:xfrm>
        </p:grpSpPr>
        <p:sp>
          <p:nvSpPr>
            <p:cNvPr id="9" name="横卷形 8"/>
            <p:cNvSpPr/>
            <p:nvPr/>
          </p:nvSpPr>
          <p:spPr>
            <a:xfrm>
              <a:off x="1331640" y="2708920"/>
              <a:ext cx="1080120" cy="792088"/>
            </a:xfrm>
            <a:prstGeom prst="horizont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0" name="TextBox 9"/>
            <p:cNvSpPr txBox="1"/>
            <p:nvPr/>
          </p:nvSpPr>
          <p:spPr>
            <a:xfrm>
              <a:off x="1403648" y="2924944"/>
              <a:ext cx="1008112"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共存</a:t>
              </a:r>
              <a:r>
                <a:rPr lang="zh-CN" altLang="en-US" sz="2000" dirty="0" smtClean="0">
                  <a:latin typeface="华文行楷" pitchFamily="2" charset="-122"/>
                  <a:ea typeface="华文行楷" pitchFamily="2" charset="-122"/>
                </a:rPr>
                <a:t>性</a:t>
              </a:r>
              <a:endParaRPr lang="zh-CN" altLang="en-US" sz="2000" dirty="0">
                <a:latin typeface="华文行楷" pitchFamily="2" charset="-122"/>
                <a:ea typeface="华文行楷" pitchFamily="2" charset="-122"/>
              </a:endParaRPr>
            </a:p>
          </p:txBody>
        </p:sp>
      </p:grpSp>
      <p:grpSp>
        <p:nvGrpSpPr>
          <p:cNvPr id="11" name="组合 10"/>
          <p:cNvGrpSpPr/>
          <p:nvPr/>
        </p:nvGrpSpPr>
        <p:grpSpPr>
          <a:xfrm>
            <a:off x="1331640" y="4509120"/>
            <a:ext cx="1080120" cy="792088"/>
            <a:chOff x="1331640" y="2708920"/>
            <a:chExt cx="1080120" cy="792088"/>
          </a:xfrm>
        </p:grpSpPr>
        <p:sp>
          <p:nvSpPr>
            <p:cNvPr id="12" name="横卷形 11"/>
            <p:cNvSpPr/>
            <p:nvPr/>
          </p:nvSpPr>
          <p:spPr>
            <a:xfrm>
              <a:off x="1331640" y="2708920"/>
              <a:ext cx="1080120" cy="792088"/>
            </a:xfrm>
            <a:prstGeom prst="horizont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3" name="TextBox 12"/>
            <p:cNvSpPr txBox="1"/>
            <p:nvPr/>
          </p:nvSpPr>
          <p:spPr>
            <a:xfrm>
              <a:off x="1403648" y="2924944"/>
              <a:ext cx="1008112"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先后</a:t>
              </a:r>
              <a:r>
                <a:rPr lang="zh-CN" altLang="en-US" sz="2000" dirty="0" smtClean="0">
                  <a:latin typeface="华文行楷" pitchFamily="2" charset="-122"/>
                  <a:ea typeface="华文行楷" pitchFamily="2" charset="-122"/>
                </a:rPr>
                <a:t>性</a:t>
              </a:r>
              <a:endParaRPr lang="zh-CN" altLang="en-US" sz="2000" dirty="0">
                <a:latin typeface="华文行楷" pitchFamily="2" charset="-122"/>
                <a:ea typeface="华文行楷" pitchFamily="2" charset="-122"/>
              </a:endParaRPr>
            </a:p>
          </p:txBody>
        </p:sp>
      </p:grpSp>
      <p:grpSp>
        <p:nvGrpSpPr>
          <p:cNvPr id="14" name="组合 13"/>
          <p:cNvGrpSpPr/>
          <p:nvPr/>
        </p:nvGrpSpPr>
        <p:grpSpPr>
          <a:xfrm>
            <a:off x="1115616" y="5517232"/>
            <a:ext cx="1656184" cy="792088"/>
            <a:chOff x="1331640" y="2708920"/>
            <a:chExt cx="1182988" cy="792088"/>
          </a:xfrm>
        </p:grpSpPr>
        <p:sp>
          <p:nvSpPr>
            <p:cNvPr id="15" name="横卷形 14"/>
            <p:cNvSpPr/>
            <p:nvPr/>
          </p:nvSpPr>
          <p:spPr>
            <a:xfrm>
              <a:off x="1331640" y="2708920"/>
              <a:ext cx="1131554" cy="792088"/>
            </a:xfrm>
            <a:prstGeom prst="horizontalScroll">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endParaRPr lang="zh-CN" altLang="en-US"/>
            </a:p>
          </p:txBody>
        </p:sp>
        <p:sp>
          <p:nvSpPr>
            <p:cNvPr id="16" name="TextBox 15"/>
            <p:cNvSpPr txBox="1"/>
            <p:nvPr/>
          </p:nvSpPr>
          <p:spPr>
            <a:xfrm>
              <a:off x="1403648" y="2924944"/>
              <a:ext cx="1110980" cy="400110"/>
            </a:xfrm>
            <a:prstGeom prst="rect">
              <a:avLst/>
            </a:prstGeom>
            <a:noFill/>
          </p:spPr>
          <p:txBody>
            <a:bodyPr wrap="square" rtlCol="0">
              <a:spAutoFit/>
            </a:bodyPr>
            <a:lstStyle/>
            <a:p>
              <a:r>
                <a:rPr lang="zh-CN" altLang="en-US" sz="2000" dirty="0">
                  <a:latin typeface="华文行楷" pitchFamily="2" charset="-122"/>
                  <a:ea typeface="华文行楷" pitchFamily="2" charset="-122"/>
                </a:rPr>
                <a:t>复杂多样</a:t>
              </a:r>
              <a:r>
                <a:rPr lang="zh-CN" altLang="en-US" sz="2000" dirty="0" smtClean="0">
                  <a:latin typeface="华文行楷" pitchFamily="2" charset="-122"/>
                  <a:ea typeface="华文行楷" pitchFamily="2" charset="-122"/>
                </a:rPr>
                <a:t>性</a:t>
              </a:r>
              <a:endParaRPr lang="zh-CN" altLang="en-US" sz="2000" dirty="0">
                <a:latin typeface="华文行楷" pitchFamily="2" charset="-122"/>
                <a:ea typeface="华文行楷" pitchFamily="2" charset="-122"/>
              </a:endParaRPr>
            </a:p>
          </p:txBody>
        </p:sp>
      </p:grpSp>
      <p:sp>
        <p:nvSpPr>
          <p:cNvPr id="17" name="内容占位符 2"/>
          <p:cNvSpPr txBox="1">
            <a:spLocks/>
          </p:cNvSpPr>
          <p:nvPr/>
        </p:nvSpPr>
        <p:spPr>
          <a:xfrm>
            <a:off x="3111152" y="3760440"/>
            <a:ext cx="5421288" cy="46064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b="0" i="0" u="none" strike="noStrike" kern="1200" cap="none" spc="0" normalizeH="0" baseline="0" noProof="0" dirty="0" smtClean="0">
                <a:ln>
                  <a:noFill/>
                </a:ln>
                <a:solidFill>
                  <a:schemeClr val="tx1"/>
                </a:solidFill>
                <a:effectLst/>
                <a:uLnTx/>
                <a:uFillTx/>
                <a:latin typeface="楷体" pitchFamily="49" charset="-122"/>
                <a:ea typeface="楷体" pitchFamily="49" charset="-122"/>
              </a:rPr>
              <a:t>原因和结果总在时空上相互接近，并总是共同变化</a:t>
            </a:r>
            <a:endParaRPr kumimoji="0" lang="en-US" altLang="zh-CN" b="0" i="0" u="none" strike="noStrike" kern="1200" cap="none" spc="0" normalizeH="0" baseline="0" noProof="0" dirty="0" smtClean="0">
              <a:ln>
                <a:noFill/>
              </a:ln>
              <a:solidFill>
                <a:schemeClr val="tx1"/>
              </a:solidFill>
              <a:effectLst/>
              <a:uLnTx/>
              <a:uFillTx/>
              <a:latin typeface="楷体" pitchFamily="49" charset="-122"/>
              <a:ea typeface="楷体" pitchFamily="49" charset="-122"/>
            </a:endParaRPr>
          </a:p>
        </p:txBody>
      </p:sp>
      <p:sp>
        <p:nvSpPr>
          <p:cNvPr id="18" name="内容占位符 2"/>
          <p:cNvSpPr txBox="1">
            <a:spLocks/>
          </p:cNvSpPr>
          <p:nvPr/>
        </p:nvSpPr>
        <p:spPr>
          <a:xfrm>
            <a:off x="3111152" y="4696544"/>
            <a:ext cx="5421288" cy="46064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kumimoji="0" lang="zh-CN" altLang="en-US" b="0" i="0" u="none" strike="noStrike" kern="1200" cap="none" spc="0" normalizeH="0" baseline="0" noProof="0" dirty="0" smtClean="0">
                <a:ln>
                  <a:noFill/>
                </a:ln>
                <a:solidFill>
                  <a:schemeClr val="tx1"/>
                </a:solidFill>
                <a:effectLst/>
                <a:uLnTx/>
                <a:uFillTx/>
                <a:latin typeface="楷体" pitchFamily="49" charset="-122"/>
                <a:ea typeface="楷体" pitchFamily="49" charset="-122"/>
              </a:rPr>
              <a:t>原因一般在先，结果一般在后</a:t>
            </a:r>
            <a:endParaRPr kumimoji="0" lang="en-US" altLang="zh-CN" b="0" i="0" u="none" strike="noStrike" kern="1200" cap="none" spc="0" normalizeH="0" baseline="0" noProof="0" dirty="0" smtClean="0">
              <a:ln>
                <a:noFill/>
              </a:ln>
              <a:solidFill>
                <a:schemeClr val="tx1"/>
              </a:solidFill>
              <a:effectLst/>
              <a:uLnTx/>
              <a:uFillTx/>
              <a:latin typeface="楷体" pitchFamily="49" charset="-122"/>
              <a:ea typeface="楷体" pitchFamily="49" charset="-122"/>
            </a:endParaRPr>
          </a:p>
        </p:txBody>
      </p:sp>
      <p:sp>
        <p:nvSpPr>
          <p:cNvPr id="19" name="内容占位符 2"/>
          <p:cNvSpPr txBox="1">
            <a:spLocks/>
          </p:cNvSpPr>
          <p:nvPr/>
        </p:nvSpPr>
        <p:spPr>
          <a:xfrm>
            <a:off x="3111152" y="5704656"/>
            <a:ext cx="5421288" cy="460648"/>
          </a:xfrm>
          <a:prstGeom prst="rect">
            <a:avLst/>
          </a:prstGeom>
        </p:spPr>
        <p:txBody>
          <a:bodyPr vert="horz" lIns="91440" tIns="45720" rIns="91440" bIns="45720" rtlCol="0">
            <a:normAutofit/>
          </a:bodyPr>
          <a:lstStyle/>
          <a:p>
            <a:pPr marL="342900" marR="0" lvl="0" indent="-342900" algn="l" defTabSz="914400" rtl="0" eaLnBrk="1" fontAlgn="auto" latinLnBrk="0" hangingPunct="1">
              <a:lnSpc>
                <a:spcPct val="100000"/>
              </a:lnSpc>
              <a:spcBef>
                <a:spcPct val="20000"/>
              </a:spcBef>
              <a:spcAft>
                <a:spcPts val="0"/>
              </a:spcAft>
              <a:buClrTx/>
              <a:buSzTx/>
              <a:buFont typeface="Arial" pitchFamily="34" charset="0"/>
              <a:buNone/>
              <a:tabLst/>
              <a:defRPr/>
            </a:pPr>
            <a:r>
              <a:rPr lang="zh-CN" altLang="en-US" dirty="0" smtClean="0">
                <a:latin typeface="楷体" pitchFamily="49" charset="-122"/>
                <a:ea typeface="楷体" pitchFamily="49" charset="-122"/>
              </a:rPr>
              <a:t>因果联系是多种多样的</a:t>
            </a:r>
            <a:endParaRPr kumimoji="0" lang="en-US" altLang="zh-CN" b="0" i="0" u="none" strike="noStrike" kern="1200" cap="none" spc="0" normalizeH="0" baseline="0" noProof="0" dirty="0" smtClean="0">
              <a:ln>
                <a:noFill/>
              </a:ln>
              <a:solidFill>
                <a:schemeClr val="tx1"/>
              </a:solidFill>
              <a:effectLst/>
              <a:uLnTx/>
              <a:uFillTx/>
              <a:latin typeface="楷体" pitchFamily="49" charset="-122"/>
              <a:ea typeface="楷体" pitchFamily="49" charset="-122"/>
            </a:endParaRPr>
          </a:p>
        </p:txBody>
      </p:sp>
      <p:sp>
        <p:nvSpPr>
          <p:cNvPr id="20" name="TextBox 19"/>
          <p:cNvSpPr txBox="1"/>
          <p:nvPr/>
        </p:nvSpPr>
        <p:spPr>
          <a:xfrm>
            <a:off x="3707904" y="1988840"/>
            <a:ext cx="1584176" cy="430887"/>
          </a:xfrm>
          <a:prstGeom prst="rect">
            <a:avLst/>
          </a:prstGeom>
        </p:spPr>
        <p:style>
          <a:lnRef idx="2">
            <a:schemeClr val="accent1"/>
          </a:lnRef>
          <a:fillRef idx="1">
            <a:schemeClr val="lt1"/>
          </a:fillRef>
          <a:effectRef idx="0">
            <a:schemeClr val="accent1"/>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排除归纳法</a:t>
            </a:r>
            <a:endParaRPr lang="zh-CN" altLang="en-US" sz="22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fade">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4" presetClass="entr" presetSubtype="16" fill="hold" nodeType="click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box(in)">
                                      <p:cBhvr>
                                        <p:cTn id="17" dur="500"/>
                                        <p:tgtEl>
                                          <p:spTgt spid="6"/>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entr" presetSubtype="0"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4" presetClass="entr" presetSubtype="16" fill="hold" nodeType="click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ox(i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7" presetClass="entr" presetSubtype="0" fill="hold" grpId="0" nodeType="clickEffect">
                                  <p:stCondLst>
                                    <p:cond delay="0"/>
                                  </p:stCondLst>
                                  <p:childTnLst>
                                    <p:set>
                                      <p:cBhvr>
                                        <p:cTn id="30" dur="1" fill="hold">
                                          <p:stCondLst>
                                            <p:cond delay="0"/>
                                          </p:stCondLst>
                                        </p:cTn>
                                        <p:tgtEl>
                                          <p:spTgt spid="17"/>
                                        </p:tgtEl>
                                        <p:attrNameLst>
                                          <p:attrName>style.visibility</p:attrName>
                                        </p:attrNameLst>
                                      </p:cBhvr>
                                      <p:to>
                                        <p:strVal val="visible"/>
                                      </p:to>
                                    </p:set>
                                    <p:animEffect transition="in" filter="fade">
                                      <p:cBhvr>
                                        <p:cTn id="31" dur="500"/>
                                        <p:tgtEl>
                                          <p:spTgt spid="17"/>
                                        </p:tgtEl>
                                      </p:cBhvr>
                                    </p:animEffect>
                                    <p:anim calcmode="lin" valueType="num">
                                      <p:cBhvr>
                                        <p:cTn id="32" dur="500" fill="hold"/>
                                        <p:tgtEl>
                                          <p:spTgt spid="17"/>
                                        </p:tgtEl>
                                        <p:attrNameLst>
                                          <p:attrName>ppt_x</p:attrName>
                                        </p:attrNameLst>
                                      </p:cBhvr>
                                      <p:tavLst>
                                        <p:tav tm="0">
                                          <p:val>
                                            <p:strVal val="#ppt_x"/>
                                          </p:val>
                                        </p:tav>
                                        <p:tav tm="100000">
                                          <p:val>
                                            <p:strVal val="#ppt_x"/>
                                          </p:val>
                                        </p:tav>
                                      </p:tavLst>
                                    </p:anim>
                                    <p:anim calcmode="lin" valueType="num">
                                      <p:cBhvr>
                                        <p:cTn id="33" dur="500" fill="hold"/>
                                        <p:tgtEl>
                                          <p:spTgt spid="17"/>
                                        </p:tgtEl>
                                        <p:attrNameLst>
                                          <p:attrName>ppt_y</p:attrName>
                                        </p:attrNameLst>
                                      </p:cBhvr>
                                      <p:tavLst>
                                        <p:tav tm="0">
                                          <p:val>
                                            <p:strVal val="#ppt_y-.1"/>
                                          </p:val>
                                        </p:tav>
                                        <p:tav tm="100000">
                                          <p:val>
                                            <p:strVal val="#ppt_y"/>
                                          </p:val>
                                        </p:tav>
                                      </p:tavLst>
                                    </p:anim>
                                  </p:childTnLst>
                                </p:cTn>
                              </p:par>
                            </p:childTnLst>
                          </p:cTn>
                        </p:par>
                      </p:childTnLst>
                    </p:cTn>
                  </p:par>
                  <p:par>
                    <p:cTn id="34" fill="hold">
                      <p:stCondLst>
                        <p:cond delay="indefinite"/>
                      </p:stCondLst>
                      <p:childTnLst>
                        <p:par>
                          <p:cTn id="35" fill="hold">
                            <p:stCondLst>
                              <p:cond delay="0"/>
                            </p:stCondLst>
                            <p:childTnLst>
                              <p:par>
                                <p:cTn id="36" presetID="9" presetClass="entr" presetSubtype="0" fill="hold" nodeType="click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dissolve">
                                      <p:cBhvr>
                                        <p:cTn id="38" dur="500"/>
                                        <p:tgtEl>
                                          <p:spTgt spid="11"/>
                                        </p:tgtEl>
                                      </p:cBhvr>
                                    </p:animEffect>
                                  </p:childTnLst>
                                </p:cTn>
                              </p:par>
                            </p:childTnLst>
                          </p:cTn>
                        </p:par>
                      </p:childTnLst>
                    </p:cTn>
                  </p:par>
                  <p:par>
                    <p:cTn id="39" fill="hold">
                      <p:stCondLst>
                        <p:cond delay="indefinite"/>
                      </p:stCondLst>
                      <p:childTnLst>
                        <p:par>
                          <p:cTn id="40" fill="hold">
                            <p:stCondLst>
                              <p:cond delay="0"/>
                            </p:stCondLst>
                            <p:childTnLst>
                              <p:par>
                                <p:cTn id="41" presetID="55" presetClass="entr" presetSubtype="0" fill="hold" grpId="0" nodeType="clickEffect">
                                  <p:stCondLst>
                                    <p:cond delay="0"/>
                                  </p:stCondLst>
                                  <p:childTnLst>
                                    <p:set>
                                      <p:cBhvr>
                                        <p:cTn id="42" dur="1" fill="hold">
                                          <p:stCondLst>
                                            <p:cond delay="0"/>
                                          </p:stCondLst>
                                        </p:cTn>
                                        <p:tgtEl>
                                          <p:spTgt spid="18"/>
                                        </p:tgtEl>
                                        <p:attrNameLst>
                                          <p:attrName>style.visibility</p:attrName>
                                        </p:attrNameLst>
                                      </p:cBhvr>
                                      <p:to>
                                        <p:strVal val="visible"/>
                                      </p:to>
                                    </p:set>
                                    <p:anim calcmode="lin" valueType="num">
                                      <p:cBhvr>
                                        <p:cTn id="43" dur="500" fill="hold"/>
                                        <p:tgtEl>
                                          <p:spTgt spid="18"/>
                                        </p:tgtEl>
                                        <p:attrNameLst>
                                          <p:attrName>ppt_w</p:attrName>
                                        </p:attrNameLst>
                                      </p:cBhvr>
                                      <p:tavLst>
                                        <p:tav tm="0">
                                          <p:val>
                                            <p:strVal val="#ppt_w*0.70"/>
                                          </p:val>
                                        </p:tav>
                                        <p:tav tm="100000">
                                          <p:val>
                                            <p:strVal val="#ppt_w"/>
                                          </p:val>
                                        </p:tav>
                                      </p:tavLst>
                                    </p:anim>
                                    <p:anim calcmode="lin" valueType="num">
                                      <p:cBhvr>
                                        <p:cTn id="44" dur="500" fill="hold"/>
                                        <p:tgtEl>
                                          <p:spTgt spid="18"/>
                                        </p:tgtEl>
                                        <p:attrNameLst>
                                          <p:attrName>ppt_h</p:attrName>
                                        </p:attrNameLst>
                                      </p:cBhvr>
                                      <p:tavLst>
                                        <p:tav tm="0">
                                          <p:val>
                                            <p:strVal val="#ppt_h"/>
                                          </p:val>
                                        </p:tav>
                                        <p:tav tm="100000">
                                          <p:val>
                                            <p:strVal val="#ppt_h"/>
                                          </p:val>
                                        </p:tav>
                                      </p:tavLst>
                                    </p:anim>
                                    <p:animEffect transition="in" filter="fade">
                                      <p:cBhvr>
                                        <p:cTn id="45" dur="500"/>
                                        <p:tgtEl>
                                          <p:spTgt spid="18"/>
                                        </p:tgtEl>
                                      </p:cBhvr>
                                    </p:animEffect>
                                  </p:childTnLst>
                                </p:cTn>
                              </p:par>
                            </p:childTnLst>
                          </p:cTn>
                        </p:par>
                      </p:childTnLst>
                    </p:cTn>
                  </p:par>
                  <p:par>
                    <p:cTn id="46" fill="hold">
                      <p:stCondLst>
                        <p:cond delay="indefinite"/>
                      </p:stCondLst>
                      <p:childTnLst>
                        <p:par>
                          <p:cTn id="47" fill="hold">
                            <p:stCondLst>
                              <p:cond delay="0"/>
                            </p:stCondLst>
                            <p:childTnLst>
                              <p:par>
                                <p:cTn id="48" presetID="10" presetClass="entr" presetSubtype="0" fill="hold" nodeType="click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fade">
                                      <p:cBhvr>
                                        <p:cTn id="50" dur="500"/>
                                        <p:tgtEl>
                                          <p:spTgt spid="14"/>
                                        </p:tgtEl>
                                      </p:cBhvr>
                                    </p:animEffect>
                                  </p:childTnLst>
                                </p:cTn>
                              </p:par>
                            </p:childTnLst>
                          </p:cTn>
                        </p:par>
                      </p:childTnLst>
                    </p:cTn>
                  </p:par>
                  <p:par>
                    <p:cTn id="51" fill="hold">
                      <p:stCondLst>
                        <p:cond delay="indefinite"/>
                      </p:stCondLst>
                      <p:childTnLst>
                        <p:par>
                          <p:cTn id="52" fill="hold">
                            <p:stCondLst>
                              <p:cond delay="0"/>
                            </p:stCondLst>
                            <p:childTnLst>
                              <p:par>
                                <p:cTn id="53" presetID="3" presetClass="entr" presetSubtype="10" fill="hold" grpId="0" nodeType="clickEffect">
                                  <p:stCondLst>
                                    <p:cond delay="0"/>
                                  </p:stCondLst>
                                  <p:childTnLst>
                                    <p:set>
                                      <p:cBhvr>
                                        <p:cTn id="54" dur="1" fill="hold">
                                          <p:stCondLst>
                                            <p:cond delay="0"/>
                                          </p:stCondLst>
                                        </p:cTn>
                                        <p:tgtEl>
                                          <p:spTgt spid="19"/>
                                        </p:tgtEl>
                                        <p:attrNameLst>
                                          <p:attrName>style.visibility</p:attrName>
                                        </p:attrNameLst>
                                      </p:cBhvr>
                                      <p:to>
                                        <p:strVal val="visible"/>
                                      </p:to>
                                    </p:set>
                                    <p:animEffect transition="in" filter="blinds(horizontal)">
                                      <p:cBhvr>
                                        <p:cTn id="5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7" grpId="0"/>
      <p:bldP spid="17" grpId="0"/>
      <p:bldP spid="18" grpId="0"/>
      <p:bldP spid="19" grpId="0"/>
      <p:bldP spid="20"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求因果五法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673224" y="1340768"/>
            <a:ext cx="3034680" cy="532656"/>
          </a:xfrm>
        </p:spPr>
        <p:txBody>
          <a:bodyPr>
            <a:normAutofit/>
          </a:bodyPr>
          <a:lstStyle/>
          <a:p>
            <a:pPr>
              <a:buNone/>
            </a:pPr>
            <a:r>
              <a:rPr lang="zh-CN" altLang="en-US" sz="2200" dirty="0" smtClean="0">
                <a:solidFill>
                  <a:srgbClr val="C00000"/>
                </a:solidFill>
                <a:latin typeface="华文行楷" pitchFamily="2" charset="-122"/>
                <a:ea typeface="华文行楷" pitchFamily="2" charset="-122"/>
              </a:rPr>
              <a:t>排除归纳法的基本思路</a:t>
            </a:r>
            <a:endParaRPr lang="zh-CN" altLang="en-US" sz="2200" dirty="0">
              <a:solidFill>
                <a:srgbClr val="C00000"/>
              </a:solidFill>
              <a:latin typeface="华文行楷" pitchFamily="2" charset="-122"/>
              <a:ea typeface="华文行楷" pitchFamily="2" charset="-122"/>
            </a:endParaRPr>
          </a:p>
        </p:txBody>
      </p:sp>
      <p:sp>
        <p:nvSpPr>
          <p:cNvPr id="4" name="TextBox 3"/>
          <p:cNvSpPr txBox="1"/>
          <p:nvPr/>
        </p:nvSpPr>
        <p:spPr>
          <a:xfrm>
            <a:off x="971600" y="1772816"/>
            <a:ext cx="7056784" cy="1200329"/>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考察被研究现象出现的一些场合，在它的先行现象或恒常伴随的现象中去寻找它的可能的原因，然后有选择地安排某些事例或实验，根据因果关系的上述特点，排除一些不相干的现象或假设，最后得到比较可靠的</a:t>
            </a:r>
            <a:r>
              <a:rPr lang="zh-CN" altLang="en-US" dirty="0" smtClean="0">
                <a:latin typeface="楷体" pitchFamily="49" charset="-122"/>
                <a:ea typeface="楷体" pitchFamily="49" charset="-122"/>
                <a:cs typeface="Times New Roman" pitchFamily="18" charset="0"/>
              </a:rPr>
              <a:t>结论。</a:t>
            </a:r>
            <a:endParaRPr lang="zh-CN" altLang="en-US" dirty="0">
              <a:latin typeface="楷体" pitchFamily="49" charset="-122"/>
              <a:ea typeface="楷体" pitchFamily="49" charset="-122"/>
            </a:endParaRPr>
          </a:p>
        </p:txBody>
      </p:sp>
      <p:sp>
        <p:nvSpPr>
          <p:cNvPr id="5" name="TextBox 4"/>
          <p:cNvSpPr txBox="1"/>
          <p:nvPr/>
        </p:nvSpPr>
        <p:spPr>
          <a:xfrm>
            <a:off x="3203848" y="3284984"/>
            <a:ext cx="1080120"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求同法</a:t>
            </a:r>
            <a:endParaRPr lang="zh-CN" altLang="en-US" sz="2200" dirty="0">
              <a:latin typeface="华文行楷" pitchFamily="2" charset="-122"/>
              <a:ea typeface="华文行楷" pitchFamily="2" charset="-122"/>
            </a:endParaRPr>
          </a:p>
        </p:txBody>
      </p:sp>
      <p:sp>
        <p:nvSpPr>
          <p:cNvPr id="6" name="TextBox 5"/>
          <p:cNvSpPr txBox="1"/>
          <p:nvPr/>
        </p:nvSpPr>
        <p:spPr>
          <a:xfrm>
            <a:off x="4860032" y="3284984"/>
            <a:ext cx="1080120"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求异法</a:t>
            </a:r>
            <a:endParaRPr lang="zh-CN" altLang="en-US" sz="2200" dirty="0">
              <a:latin typeface="华文行楷" pitchFamily="2" charset="-122"/>
              <a:ea typeface="华文行楷" pitchFamily="2" charset="-122"/>
            </a:endParaRPr>
          </a:p>
        </p:txBody>
      </p:sp>
      <p:sp>
        <p:nvSpPr>
          <p:cNvPr id="7" name="TextBox 6"/>
          <p:cNvSpPr txBox="1"/>
          <p:nvPr/>
        </p:nvSpPr>
        <p:spPr>
          <a:xfrm>
            <a:off x="3491880" y="4006225"/>
            <a:ext cx="2160240"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求同求异并用法</a:t>
            </a:r>
            <a:endParaRPr lang="zh-CN" altLang="en-US" sz="2200" dirty="0">
              <a:latin typeface="华文行楷" pitchFamily="2" charset="-122"/>
              <a:ea typeface="华文行楷" pitchFamily="2" charset="-122"/>
            </a:endParaRPr>
          </a:p>
        </p:txBody>
      </p:sp>
      <p:sp>
        <p:nvSpPr>
          <p:cNvPr id="8" name="TextBox 7"/>
          <p:cNvSpPr txBox="1"/>
          <p:nvPr/>
        </p:nvSpPr>
        <p:spPr>
          <a:xfrm>
            <a:off x="3203848" y="4725144"/>
            <a:ext cx="1080120"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a:latin typeface="华文行楷" pitchFamily="2" charset="-122"/>
                <a:ea typeface="华文行楷" pitchFamily="2" charset="-122"/>
              </a:rPr>
              <a:t>共变</a:t>
            </a:r>
            <a:r>
              <a:rPr lang="zh-CN" altLang="en-US" sz="2200" dirty="0" smtClean="0">
                <a:latin typeface="华文行楷" pitchFamily="2" charset="-122"/>
                <a:ea typeface="华文行楷" pitchFamily="2" charset="-122"/>
              </a:rPr>
              <a:t>法</a:t>
            </a:r>
            <a:endParaRPr lang="zh-CN" altLang="en-US" sz="2200" dirty="0">
              <a:latin typeface="华文行楷" pitchFamily="2" charset="-122"/>
              <a:ea typeface="华文行楷" pitchFamily="2" charset="-122"/>
            </a:endParaRPr>
          </a:p>
        </p:txBody>
      </p:sp>
      <p:sp>
        <p:nvSpPr>
          <p:cNvPr id="9" name="TextBox 8"/>
          <p:cNvSpPr txBox="1"/>
          <p:nvPr/>
        </p:nvSpPr>
        <p:spPr>
          <a:xfrm>
            <a:off x="4860032" y="4726305"/>
            <a:ext cx="1080120"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a:latin typeface="华文行楷" pitchFamily="2" charset="-122"/>
                <a:ea typeface="华文行楷" pitchFamily="2" charset="-122"/>
              </a:rPr>
              <a:t>剩余</a:t>
            </a:r>
            <a:r>
              <a:rPr lang="zh-CN" altLang="en-US" sz="2200" dirty="0" smtClean="0">
                <a:latin typeface="华文行楷" pitchFamily="2" charset="-122"/>
                <a:ea typeface="华文行楷" pitchFamily="2" charset="-122"/>
              </a:rPr>
              <a:t>法</a:t>
            </a:r>
            <a:endParaRPr lang="zh-CN" altLang="en-US" sz="22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linds(horizontal)">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checkerboard(across)">
                                      <p:cBhvr>
                                        <p:cTn id="22" dur="500"/>
                                        <p:tgtEl>
                                          <p:spTgt spid="6"/>
                                        </p:tgtEl>
                                      </p:cBhvr>
                                    </p:animEffect>
                                  </p:childTnLst>
                                </p:cTn>
                              </p:par>
                            </p:childTnLst>
                          </p:cTn>
                        </p:par>
                      </p:childTnLst>
                    </p:cTn>
                  </p:par>
                  <p:par>
                    <p:cTn id="23" fill="hold">
                      <p:stCondLst>
                        <p:cond delay="indefinite"/>
                      </p:stCondLst>
                      <p:childTnLst>
                        <p:par>
                          <p:cTn id="24" fill="hold">
                            <p:stCondLst>
                              <p:cond delay="0"/>
                            </p:stCondLst>
                            <p:childTnLst>
                              <p:par>
                                <p:cTn id="25" presetID="29" presetClass="entr" presetSubtype="0" fill="hold" grpId="0" nodeType="clickEffect">
                                  <p:stCondLst>
                                    <p:cond delay="0"/>
                                  </p:stCondLst>
                                  <p:childTnLst>
                                    <p:set>
                                      <p:cBhvr>
                                        <p:cTn id="26" dur="1" fill="hold">
                                          <p:stCondLst>
                                            <p:cond delay="0"/>
                                          </p:stCondLst>
                                        </p:cTn>
                                        <p:tgtEl>
                                          <p:spTgt spid="7"/>
                                        </p:tgtEl>
                                        <p:attrNameLst>
                                          <p:attrName>style.visibility</p:attrName>
                                        </p:attrNameLst>
                                      </p:cBhvr>
                                      <p:to>
                                        <p:strVal val="visible"/>
                                      </p:to>
                                    </p:set>
                                    <p:anim calcmode="lin" valueType="num">
                                      <p:cBhvr>
                                        <p:cTn id="27" dur="500" fill="hold"/>
                                        <p:tgtEl>
                                          <p:spTgt spid="7"/>
                                        </p:tgtEl>
                                        <p:attrNameLst>
                                          <p:attrName>ppt_x</p:attrName>
                                        </p:attrNameLst>
                                      </p:cBhvr>
                                      <p:tavLst>
                                        <p:tav tm="0">
                                          <p:val>
                                            <p:strVal val="#ppt_x-.2"/>
                                          </p:val>
                                        </p:tav>
                                        <p:tav tm="100000">
                                          <p:val>
                                            <p:strVal val="#ppt_x"/>
                                          </p:val>
                                        </p:tav>
                                      </p:tavLst>
                                    </p:anim>
                                    <p:anim calcmode="lin" valueType="num">
                                      <p:cBhvr>
                                        <p:cTn id="28" dur="500" fill="hold"/>
                                        <p:tgtEl>
                                          <p:spTgt spid="7"/>
                                        </p:tgtEl>
                                        <p:attrNameLst>
                                          <p:attrName>ppt_y</p:attrName>
                                        </p:attrNameLst>
                                      </p:cBhvr>
                                      <p:tavLst>
                                        <p:tav tm="0">
                                          <p:val>
                                            <p:strVal val="#ppt_y"/>
                                          </p:val>
                                        </p:tav>
                                        <p:tav tm="100000">
                                          <p:val>
                                            <p:strVal val="#ppt_y"/>
                                          </p:val>
                                        </p:tav>
                                      </p:tavLst>
                                    </p:anim>
                                    <p:animEffect transition="in" filter="wipe(right)" prLst="gradientSize: 0.1">
                                      <p:cBhvr>
                                        <p:cTn id="29" dur="500"/>
                                        <p:tgtEl>
                                          <p:spTgt spid="7"/>
                                        </p:tgtEl>
                                      </p:cBhvr>
                                    </p:animEffect>
                                  </p:childTnLst>
                                </p:cTn>
                              </p:par>
                            </p:childTnLst>
                          </p:cTn>
                        </p:par>
                      </p:childTnLst>
                    </p:cTn>
                  </p:par>
                  <p:par>
                    <p:cTn id="30" fill="hold">
                      <p:stCondLst>
                        <p:cond delay="indefinite"/>
                      </p:stCondLst>
                      <p:childTnLst>
                        <p:par>
                          <p:cTn id="31" fill="hold">
                            <p:stCondLst>
                              <p:cond delay="0"/>
                            </p:stCondLst>
                            <p:childTnLst>
                              <p:par>
                                <p:cTn id="32" presetID="9" presetClass="entr" presetSubtype="0" fill="hold" grpId="0" nodeType="clickEffect">
                                  <p:stCondLst>
                                    <p:cond delay="0"/>
                                  </p:stCondLst>
                                  <p:childTnLst>
                                    <p:set>
                                      <p:cBhvr>
                                        <p:cTn id="33" dur="1" fill="hold">
                                          <p:stCondLst>
                                            <p:cond delay="0"/>
                                          </p:stCondLst>
                                        </p:cTn>
                                        <p:tgtEl>
                                          <p:spTgt spid="8"/>
                                        </p:tgtEl>
                                        <p:attrNameLst>
                                          <p:attrName>style.visibility</p:attrName>
                                        </p:attrNameLst>
                                      </p:cBhvr>
                                      <p:to>
                                        <p:strVal val="visible"/>
                                      </p:to>
                                    </p:set>
                                    <p:animEffect transition="in" filter="dissolve">
                                      <p:cBhvr>
                                        <p:cTn id="34" dur="500"/>
                                        <p:tgtEl>
                                          <p:spTgt spid="8"/>
                                        </p:tgtEl>
                                      </p:cBhvr>
                                    </p:animEffect>
                                  </p:childTnLst>
                                </p:cTn>
                              </p:par>
                            </p:childTnLst>
                          </p:cTn>
                        </p:par>
                      </p:childTnLst>
                    </p:cTn>
                  </p:par>
                  <p:par>
                    <p:cTn id="35" fill="hold">
                      <p:stCondLst>
                        <p:cond delay="indefinite"/>
                      </p:stCondLst>
                      <p:childTnLst>
                        <p:par>
                          <p:cTn id="36" fill="hold">
                            <p:stCondLst>
                              <p:cond delay="0"/>
                            </p:stCondLst>
                            <p:childTnLst>
                              <p:par>
                                <p:cTn id="37" presetID="47" presetClass="entr" presetSubtype="0" fill="hold" grpId="0"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fade">
                                      <p:cBhvr>
                                        <p:cTn id="39" dur="500"/>
                                        <p:tgtEl>
                                          <p:spTgt spid="9"/>
                                        </p:tgtEl>
                                      </p:cBhvr>
                                    </p:animEffect>
                                    <p:anim calcmode="lin" valueType="num">
                                      <p:cBhvr>
                                        <p:cTn id="40" dur="500" fill="hold"/>
                                        <p:tgtEl>
                                          <p:spTgt spid="9"/>
                                        </p:tgtEl>
                                        <p:attrNameLst>
                                          <p:attrName>ppt_x</p:attrName>
                                        </p:attrNameLst>
                                      </p:cBhvr>
                                      <p:tavLst>
                                        <p:tav tm="0">
                                          <p:val>
                                            <p:strVal val="#ppt_x"/>
                                          </p:val>
                                        </p:tav>
                                        <p:tav tm="100000">
                                          <p:val>
                                            <p:strVal val="#ppt_x"/>
                                          </p:val>
                                        </p:tav>
                                      </p:tavLst>
                                    </p:anim>
                                    <p:anim calcmode="lin" valueType="num">
                                      <p:cBhvr>
                                        <p:cTn id="41" dur="500" fill="hold"/>
                                        <p:tgtEl>
                                          <p:spTgt spid="9"/>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P spid="7" grpId="0" animBg="1"/>
      <p:bldP spid="8" grpId="0" animBg="1"/>
      <p:bldP spid="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求同法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457200" y="1268760"/>
            <a:ext cx="8229600" cy="1396752"/>
          </a:xfrm>
        </p:spPr>
        <p:txBody>
          <a:bodyPr>
            <a:normAutofit/>
          </a:bodyPr>
          <a:lstStyle/>
          <a:p>
            <a:pPr>
              <a:buNone/>
            </a:pPr>
            <a:r>
              <a:rPr lang="zh-CN" altLang="en-US" sz="2000" dirty="0" smtClean="0">
                <a:latin typeface="楷体" pitchFamily="49" charset="-122"/>
                <a:ea typeface="楷体" pitchFamily="49" charset="-122"/>
                <a:cs typeface="Times New Roman" pitchFamily="18" charset="0"/>
              </a:rPr>
              <a:t>   </a:t>
            </a:r>
            <a:r>
              <a:rPr lang="zh-CN" altLang="en-US" sz="2000" b="1" dirty="0" smtClean="0">
                <a:solidFill>
                  <a:srgbClr val="C00000"/>
                </a:solidFill>
                <a:latin typeface="楷体" pitchFamily="49" charset="-122"/>
                <a:ea typeface="楷体" pitchFamily="49" charset="-122"/>
                <a:cs typeface="Times New Roman" pitchFamily="18" charset="0"/>
              </a:rPr>
              <a:t>考察被研究现象</a:t>
            </a:r>
            <a:r>
              <a:rPr lang="zh-CN" altLang="en-US" sz="2000" b="1" u="sng" dirty="0" smtClean="0">
                <a:solidFill>
                  <a:srgbClr val="C00000"/>
                </a:solidFill>
                <a:latin typeface="楷体" pitchFamily="49" charset="-122"/>
                <a:ea typeface="楷体" pitchFamily="49" charset="-122"/>
                <a:cs typeface="Times New Roman" pitchFamily="18" charset="0"/>
              </a:rPr>
              <a:t>出现</a:t>
            </a:r>
            <a:r>
              <a:rPr lang="zh-CN" altLang="en-US" sz="2000" b="1" dirty="0" smtClean="0">
                <a:solidFill>
                  <a:srgbClr val="C00000"/>
                </a:solidFill>
                <a:latin typeface="楷体" pitchFamily="49" charset="-122"/>
                <a:ea typeface="楷体" pitchFamily="49" charset="-122"/>
                <a:cs typeface="Times New Roman" pitchFamily="18" charset="0"/>
              </a:rPr>
              <a:t>的若干场合</a:t>
            </a:r>
            <a:r>
              <a:rPr lang="zh-CN" altLang="en-US" sz="2000" dirty="0" smtClean="0">
                <a:latin typeface="楷体" pitchFamily="49" charset="-122"/>
                <a:ea typeface="楷体" pitchFamily="49" charset="-122"/>
                <a:cs typeface="Times New Roman" pitchFamily="18" charset="0"/>
              </a:rPr>
              <a:t>，找出此现象的先行现象；其中有些现象时而出现时而不出现，由于因果是恒常伴随的，因此这些现象肯定不是被研究现象的原因；在这些场合中保持不变的、总与被研究现象共同出现的那个先行现象，就有可能与被研究现象有因果</a:t>
            </a:r>
            <a:r>
              <a:rPr lang="zh-CN" altLang="en-US" sz="2000" dirty="0" smtClean="0">
                <a:latin typeface="楷体" pitchFamily="49" charset="-122"/>
                <a:ea typeface="楷体" pitchFamily="49" charset="-122"/>
                <a:cs typeface="Times New Roman" pitchFamily="18" charset="0"/>
              </a:rPr>
              <a:t>关系。</a:t>
            </a:r>
            <a:endParaRPr lang="zh-CN" altLang="en-US" sz="2000" dirty="0">
              <a:latin typeface="楷体" pitchFamily="49" charset="-122"/>
              <a:ea typeface="楷体" pitchFamily="49" charset="-122"/>
            </a:endParaRPr>
          </a:p>
        </p:txBody>
      </p:sp>
      <p:sp>
        <p:nvSpPr>
          <p:cNvPr id="4" name="TextBox 3"/>
          <p:cNvSpPr txBox="1"/>
          <p:nvPr/>
        </p:nvSpPr>
        <p:spPr>
          <a:xfrm>
            <a:off x="1403648" y="2664202"/>
            <a:ext cx="6984776" cy="2077492"/>
          </a:xfrm>
          <a:prstGeom prst="rect">
            <a:avLst/>
          </a:prstGeom>
          <a:noFill/>
        </p:spPr>
        <p:txBody>
          <a:bodyPr wrap="square" rtlCol="0">
            <a:spAutoFit/>
          </a:bodyPr>
          <a:lstStyle/>
          <a:p>
            <a:pPr marL="1079500">
              <a:lnSpc>
                <a:spcPct val="150000"/>
              </a:lnSpc>
            </a:pPr>
            <a:r>
              <a:rPr lang="zh-CN" altLang="en-US" dirty="0" smtClean="0">
                <a:latin typeface="华文新魏" pitchFamily="2" charset="-122"/>
                <a:ea typeface="华文新魏" pitchFamily="2" charset="-122"/>
                <a:cs typeface="Times New Roman" pitchFamily="18" charset="0"/>
              </a:rPr>
              <a:t>场合</a:t>
            </a:r>
            <a:r>
              <a:rPr lang="en-US" altLang="zh-CN" dirty="0" smtClean="0">
                <a:latin typeface="华文新魏" pitchFamily="2" charset="-122"/>
                <a:ea typeface="华文新魏" pitchFamily="2" charset="-122"/>
                <a:cs typeface="Times New Roman" pitchFamily="18" charset="0"/>
              </a:rPr>
              <a:t>1</a:t>
            </a: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p>
          <a:p>
            <a:pPr marL="1079500">
              <a:lnSpc>
                <a:spcPct val="150000"/>
              </a:lnSpc>
            </a:pPr>
            <a:r>
              <a:rPr lang="zh-CN" altLang="en-US" dirty="0" smtClean="0">
                <a:latin typeface="华文新魏" pitchFamily="2" charset="-122"/>
                <a:ea typeface="华文新魏" pitchFamily="2" charset="-122"/>
                <a:cs typeface="Times New Roman" pitchFamily="18" charset="0"/>
              </a:rPr>
              <a:t>场合</a:t>
            </a:r>
            <a:r>
              <a:rPr lang="en-US" altLang="zh-CN" dirty="0" smtClean="0">
                <a:latin typeface="华文新魏" pitchFamily="2" charset="-122"/>
                <a:ea typeface="华文新魏" pitchFamily="2" charset="-122"/>
                <a:cs typeface="Times New Roman" pitchFamily="18" charset="0"/>
              </a:rPr>
              <a:t>2</a:t>
            </a: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p>
          <a:p>
            <a:pPr marL="1079500">
              <a:lnSpc>
                <a:spcPct val="150000"/>
              </a:lnSpc>
            </a:pPr>
            <a:r>
              <a:rPr lang="zh-CN" altLang="en-US" dirty="0" smtClean="0">
                <a:latin typeface="华文新魏" pitchFamily="2" charset="-122"/>
                <a:ea typeface="华文新魏" pitchFamily="2" charset="-122"/>
                <a:cs typeface="Times New Roman" pitchFamily="18" charset="0"/>
              </a:rPr>
              <a:t>场合</a:t>
            </a:r>
            <a:r>
              <a:rPr lang="en-US" altLang="zh-CN" dirty="0" smtClean="0">
                <a:latin typeface="华文新魏" pitchFamily="2" charset="-122"/>
                <a:ea typeface="华文新魏" pitchFamily="2" charset="-122"/>
                <a:cs typeface="Times New Roman" pitchFamily="18" charset="0"/>
              </a:rPr>
              <a:t>3</a:t>
            </a: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E</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p>
          <a:p>
            <a:pPr marL="1079500">
              <a:lnSpc>
                <a:spcPct val="150000"/>
              </a:lnSpc>
            </a:pPr>
            <a:r>
              <a:rPr lang="zh-CN" altLang="en-US" dirty="0" smtClean="0">
                <a:latin typeface="华文新魏" pitchFamily="2" charset="-122"/>
                <a:ea typeface="华文新魏" pitchFamily="2" charset="-122"/>
                <a:cs typeface="Times New Roman" pitchFamily="18" charset="0"/>
              </a:rPr>
              <a:t>所以，</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（可能）是</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的原因</a:t>
            </a:r>
            <a:r>
              <a:rPr lang="zh-CN" altLang="en-US" sz="2000" dirty="0" smtClean="0">
                <a:latin typeface="华文新魏" pitchFamily="2" charset="-122"/>
                <a:ea typeface="华文新魏" pitchFamily="2" charset="-122"/>
                <a:cs typeface="Times New Roman" pitchFamily="18" charset="0"/>
              </a:rPr>
              <a:t>。</a:t>
            </a:r>
          </a:p>
          <a:p>
            <a:endParaRPr lang="zh-CN" altLang="en-US" dirty="0">
              <a:latin typeface="华文新魏" pitchFamily="2" charset="-122"/>
              <a:ea typeface="华文新魏" pitchFamily="2" charset="-122"/>
            </a:endParaRPr>
          </a:p>
        </p:txBody>
      </p:sp>
      <p:cxnSp>
        <p:nvCxnSpPr>
          <p:cNvPr id="5" name="直接连接符 4"/>
          <p:cNvCxnSpPr/>
          <p:nvPr/>
        </p:nvCxnSpPr>
        <p:spPr>
          <a:xfrm>
            <a:off x="2195736" y="4005064"/>
            <a:ext cx="5328592" cy="0"/>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1051992" y="4582289"/>
            <a:ext cx="1359768" cy="430887"/>
          </a:xfrm>
          <a:prstGeom prst="rect">
            <a:avLst/>
          </a:prstGeom>
          <a:noFill/>
        </p:spPr>
        <p:txBody>
          <a:bodyPr wrap="square" rtlCol="0">
            <a:spAutoFit/>
          </a:bodyPr>
          <a:lstStyle/>
          <a:p>
            <a:r>
              <a:rPr lang="zh-CN" altLang="en-US" sz="2200" u="sng" dirty="0" smtClean="0">
                <a:solidFill>
                  <a:srgbClr val="00B050"/>
                </a:solidFill>
                <a:latin typeface="华文行楷" pitchFamily="2" charset="-122"/>
                <a:ea typeface="华文行楷" pitchFamily="2" charset="-122"/>
              </a:rPr>
              <a:t>挑战：</a:t>
            </a:r>
            <a:endParaRPr lang="zh-CN" altLang="en-US" sz="2200" u="sng" dirty="0">
              <a:solidFill>
                <a:srgbClr val="00B050"/>
              </a:solidFill>
              <a:latin typeface="华文行楷" pitchFamily="2" charset="-122"/>
              <a:ea typeface="华文行楷" pitchFamily="2" charset="-122"/>
            </a:endParaRPr>
          </a:p>
        </p:txBody>
      </p:sp>
      <p:sp>
        <p:nvSpPr>
          <p:cNvPr id="10" name="TextBox 9"/>
          <p:cNvSpPr txBox="1"/>
          <p:nvPr/>
        </p:nvSpPr>
        <p:spPr>
          <a:xfrm>
            <a:off x="1403648" y="5014917"/>
            <a:ext cx="6912768" cy="646331"/>
          </a:xfrm>
          <a:prstGeom prst="rect">
            <a:avLst/>
          </a:prstGeom>
          <a:noFill/>
        </p:spPr>
        <p:txBody>
          <a:bodyPr wrap="square" rtlCol="0">
            <a:spAutoFit/>
          </a:bodyPr>
          <a:lstStyle/>
          <a:p>
            <a:r>
              <a:rPr lang="zh-CN" altLang="en-US" dirty="0" smtClean="0">
                <a:latin typeface="楷体" pitchFamily="49" charset="-122"/>
                <a:ea typeface="楷体" pitchFamily="49" charset="-122"/>
              </a:rPr>
              <a:t>先行现象中表面的“同”可能掩盖着本质的“异”，表面的“异”可能掩盖本质的</a:t>
            </a:r>
            <a:r>
              <a:rPr lang="zh-CN" altLang="en-US" dirty="0" smtClean="0">
                <a:latin typeface="楷体" pitchFamily="49" charset="-122"/>
                <a:ea typeface="楷体" pitchFamily="49" charset="-122"/>
              </a:rPr>
              <a:t>“同”。</a:t>
            </a:r>
            <a:endParaRPr lang="zh-CN" altLang="en-US" dirty="0">
              <a:latin typeface="楷体" pitchFamily="49" charset="-122"/>
              <a:ea typeface="楷体" pitchFamily="49" charset="-122"/>
            </a:endParaRPr>
          </a:p>
        </p:txBody>
      </p:sp>
      <p:sp>
        <p:nvSpPr>
          <p:cNvPr id="11" name="TextBox 10"/>
          <p:cNvSpPr txBox="1"/>
          <p:nvPr/>
        </p:nvSpPr>
        <p:spPr>
          <a:xfrm>
            <a:off x="1403648" y="5661248"/>
            <a:ext cx="6912768" cy="369332"/>
          </a:xfrm>
          <a:prstGeom prst="rect">
            <a:avLst/>
          </a:prstGeom>
          <a:noFill/>
        </p:spPr>
        <p:txBody>
          <a:bodyPr wrap="square" rtlCol="0">
            <a:spAutoFit/>
          </a:bodyPr>
          <a:lstStyle/>
          <a:p>
            <a:r>
              <a:rPr lang="zh-CN" altLang="en-US" dirty="0" smtClean="0">
                <a:latin typeface="楷体" pitchFamily="49" charset="-122"/>
                <a:ea typeface="楷体" pitchFamily="49" charset="-122"/>
              </a:rPr>
              <a:t>相同的先行现象可能有好多</a:t>
            </a:r>
            <a:r>
              <a:rPr lang="zh-CN" altLang="en-US" dirty="0" smtClean="0">
                <a:latin typeface="楷体" pitchFamily="49" charset="-122"/>
                <a:ea typeface="楷体" pitchFamily="49" charset="-122"/>
              </a:rPr>
              <a:t>个。</a:t>
            </a:r>
            <a:endParaRPr lang="zh-CN" altLang="en-US" dirty="0">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dissolv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box(in)">
                                      <p:cBhvr>
                                        <p:cTn id="25" dur="500"/>
                                        <p:tgtEl>
                                          <p:spTgt spid="10"/>
                                        </p:tgtEl>
                                      </p:cBhvr>
                                    </p:animEffect>
                                  </p:childTnLst>
                                </p:cTn>
                              </p:par>
                            </p:childTnLst>
                          </p:cTn>
                        </p:par>
                      </p:childTnLst>
                    </p:cTn>
                  </p:par>
                  <p:par>
                    <p:cTn id="26" fill="hold">
                      <p:stCondLst>
                        <p:cond delay="indefinite"/>
                      </p:stCondLst>
                      <p:childTnLst>
                        <p:par>
                          <p:cTn id="27" fill="hold">
                            <p:stCondLst>
                              <p:cond delay="0"/>
                            </p:stCondLst>
                            <p:childTnLst>
                              <p:par>
                                <p:cTn id="28" presetID="47" presetClass="entr" presetSubtype="0" fill="hold" grpId="0" nodeType="click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fade">
                                      <p:cBhvr>
                                        <p:cTn id="30" dur="500"/>
                                        <p:tgtEl>
                                          <p:spTgt spid="11"/>
                                        </p:tgtEl>
                                      </p:cBhvr>
                                    </p:animEffect>
                                    <p:anim calcmode="lin" valueType="num">
                                      <p:cBhvr>
                                        <p:cTn id="31" dur="500" fill="hold"/>
                                        <p:tgtEl>
                                          <p:spTgt spid="11"/>
                                        </p:tgtEl>
                                        <p:attrNameLst>
                                          <p:attrName>ppt_x</p:attrName>
                                        </p:attrNameLst>
                                      </p:cBhvr>
                                      <p:tavLst>
                                        <p:tav tm="0">
                                          <p:val>
                                            <p:strVal val="#ppt_x"/>
                                          </p:val>
                                        </p:tav>
                                        <p:tav tm="100000">
                                          <p:val>
                                            <p:strVal val="#ppt_x"/>
                                          </p:val>
                                        </p:tav>
                                      </p:tavLst>
                                    </p:anim>
                                    <p:anim calcmode="lin" valueType="num">
                                      <p:cBhvr>
                                        <p:cTn id="32" dur="500" fill="hold"/>
                                        <p:tgtEl>
                                          <p:spTgt spid="11"/>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9" grpId="0"/>
      <p:bldP spid="10" grpId="0"/>
      <p:bldP spid="11"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求异法</a:t>
            </a:r>
            <a:endParaRPr lang="zh-CN" altLang="en-US" dirty="0">
              <a:latin typeface="华文新魏" pitchFamily="2" charset="-122"/>
              <a:ea typeface="华文新魏" pitchFamily="2" charset="-122"/>
            </a:endParaRPr>
          </a:p>
        </p:txBody>
      </p:sp>
      <p:sp>
        <p:nvSpPr>
          <p:cNvPr id="4" name="TextBox 3"/>
          <p:cNvSpPr txBox="1"/>
          <p:nvPr/>
        </p:nvSpPr>
        <p:spPr>
          <a:xfrm>
            <a:off x="899592" y="1340768"/>
            <a:ext cx="7560840" cy="1323439"/>
          </a:xfrm>
          <a:prstGeom prst="rect">
            <a:avLst/>
          </a:prstGeom>
          <a:noFill/>
        </p:spPr>
        <p:txBody>
          <a:bodyPr wrap="square" rtlCol="0">
            <a:spAutoFit/>
          </a:bodyPr>
          <a:lstStyle/>
          <a:p>
            <a:r>
              <a:rPr lang="zh-CN" altLang="en-US" sz="2000" b="1" dirty="0" smtClean="0">
                <a:solidFill>
                  <a:srgbClr val="C00000"/>
                </a:solidFill>
                <a:latin typeface="楷体" pitchFamily="49" charset="-122"/>
                <a:ea typeface="楷体" pitchFamily="49" charset="-122"/>
                <a:cs typeface="Times New Roman" pitchFamily="18" charset="0"/>
              </a:rPr>
              <a:t>考察被研究现象</a:t>
            </a:r>
            <a:r>
              <a:rPr lang="zh-CN" altLang="en-US" sz="2000" b="1" u="sng" dirty="0" smtClean="0">
                <a:solidFill>
                  <a:srgbClr val="C00000"/>
                </a:solidFill>
                <a:latin typeface="楷体" pitchFamily="49" charset="-122"/>
                <a:ea typeface="楷体" pitchFamily="49" charset="-122"/>
                <a:cs typeface="Times New Roman" pitchFamily="18" charset="0"/>
              </a:rPr>
              <a:t>出现和不出现</a:t>
            </a:r>
            <a:r>
              <a:rPr lang="zh-CN" altLang="en-US" sz="2000" b="1" dirty="0" smtClean="0">
                <a:solidFill>
                  <a:srgbClr val="C00000"/>
                </a:solidFill>
                <a:latin typeface="楷体" pitchFamily="49" charset="-122"/>
                <a:ea typeface="楷体" pitchFamily="49" charset="-122"/>
                <a:cs typeface="Times New Roman" pitchFamily="18" charset="0"/>
              </a:rPr>
              <a:t>的两种场合</a:t>
            </a:r>
            <a:r>
              <a:rPr lang="zh-CN" altLang="en-US" sz="2000" dirty="0" smtClean="0">
                <a:latin typeface="楷体" pitchFamily="49" charset="-122"/>
                <a:ea typeface="楷体" pitchFamily="49" charset="-122"/>
                <a:cs typeface="Times New Roman" pitchFamily="18" charset="0"/>
              </a:rPr>
              <a:t>，在这两种场合都出现的那些先行现象肯定不是被研究现象的原因，而在被研究现象出现时出现、在被研究现象不出现时不出现的那个先行现象，则（可能）与被研究现象有因果联系</a:t>
            </a:r>
            <a:endParaRPr lang="zh-CN" altLang="en-US" sz="2000" dirty="0">
              <a:latin typeface="楷体" pitchFamily="49" charset="-122"/>
              <a:ea typeface="楷体" pitchFamily="49" charset="-122"/>
            </a:endParaRPr>
          </a:p>
        </p:txBody>
      </p:sp>
      <p:sp>
        <p:nvSpPr>
          <p:cNvPr id="5" name="TextBox 4"/>
          <p:cNvSpPr txBox="1"/>
          <p:nvPr/>
        </p:nvSpPr>
        <p:spPr>
          <a:xfrm>
            <a:off x="1043608" y="2204864"/>
            <a:ext cx="7164288" cy="2356671"/>
          </a:xfrm>
          <a:prstGeom prst="rect">
            <a:avLst/>
          </a:prstGeom>
          <a:noFill/>
        </p:spPr>
        <p:txBody>
          <a:bodyPr wrap="square" rtlCol="0">
            <a:spAutoFit/>
          </a:bodyPr>
          <a:lstStyle/>
          <a:p>
            <a:pPr marL="1079500">
              <a:lnSpc>
                <a:spcPct val="150000"/>
              </a:lnSpc>
            </a:pPr>
            <a:endParaRPr lang="en-US" altLang="zh-CN" sz="2000" dirty="0" smtClean="0">
              <a:latin typeface="华文新魏" pitchFamily="2" charset="-122"/>
              <a:ea typeface="华文新魏" pitchFamily="2" charset="-122"/>
              <a:cs typeface="Times New Roman" pitchFamily="18" charset="0"/>
            </a:endParaRPr>
          </a:p>
          <a:p>
            <a:pPr marL="1079500">
              <a:lnSpc>
                <a:spcPct val="150000"/>
              </a:lnSpc>
            </a:pPr>
            <a:r>
              <a:rPr lang="zh-CN" altLang="en-US" sz="2000" dirty="0" smtClean="0">
                <a:latin typeface="华文新魏" pitchFamily="2" charset="-122"/>
                <a:ea typeface="华文新魏" pitchFamily="2" charset="-122"/>
                <a:cs typeface="Times New Roman" pitchFamily="18" charset="0"/>
              </a:rPr>
              <a:t>场合</a:t>
            </a:r>
            <a:r>
              <a:rPr lang="en-US" altLang="zh-CN" sz="2000" dirty="0" smtClean="0">
                <a:latin typeface="华文新魏" pitchFamily="2" charset="-122"/>
                <a:ea typeface="华文新魏" pitchFamily="2" charset="-122"/>
                <a:cs typeface="Times New Roman" pitchFamily="18" charset="0"/>
              </a:rPr>
              <a:t>1</a:t>
            </a:r>
            <a:r>
              <a:rPr lang="zh-CN" altLang="en-US" sz="2000" dirty="0" smtClean="0">
                <a:latin typeface="华文新魏" pitchFamily="2" charset="-122"/>
                <a:ea typeface="华文新魏" pitchFamily="2" charset="-122"/>
                <a:cs typeface="Times New Roman" pitchFamily="18" charset="0"/>
              </a:rPr>
              <a:t>：有先行现象</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B</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C</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D</a:t>
            </a:r>
            <a:r>
              <a:rPr lang="zh-CN" altLang="en-US" sz="2000" dirty="0" smtClean="0">
                <a:latin typeface="华文新魏" pitchFamily="2" charset="-122"/>
                <a:ea typeface="华文新魏" pitchFamily="2" charset="-122"/>
                <a:cs typeface="Times New Roman" pitchFamily="18" charset="0"/>
              </a:rPr>
              <a:t>，有被研究现象</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a:t>
            </a:r>
          </a:p>
          <a:p>
            <a:pPr marL="1079500">
              <a:lnSpc>
                <a:spcPct val="150000"/>
              </a:lnSpc>
            </a:pPr>
            <a:r>
              <a:rPr lang="zh-CN" altLang="en-US" sz="2000" dirty="0" smtClean="0">
                <a:latin typeface="华文新魏" pitchFamily="2" charset="-122"/>
                <a:ea typeface="华文新魏" pitchFamily="2" charset="-122"/>
                <a:cs typeface="Times New Roman" pitchFamily="18" charset="0"/>
              </a:rPr>
              <a:t>场合</a:t>
            </a:r>
            <a:r>
              <a:rPr lang="en-US" altLang="zh-CN" sz="2000" dirty="0" smtClean="0">
                <a:latin typeface="华文新魏" pitchFamily="2" charset="-122"/>
                <a:ea typeface="华文新魏" pitchFamily="2" charset="-122"/>
                <a:cs typeface="Times New Roman" pitchFamily="18" charset="0"/>
              </a:rPr>
              <a:t>2</a:t>
            </a:r>
            <a:r>
              <a:rPr lang="zh-CN" altLang="en-US" sz="2000" dirty="0" smtClean="0">
                <a:latin typeface="华文新魏" pitchFamily="2" charset="-122"/>
                <a:ea typeface="华文新魏" pitchFamily="2" charset="-122"/>
                <a:cs typeface="Times New Roman" pitchFamily="18" charset="0"/>
              </a:rPr>
              <a:t>：有先行现象</a:t>
            </a:r>
            <a:r>
              <a:rPr lang="en-US" altLang="zh-CN" sz="2000" dirty="0" smtClean="0">
                <a:latin typeface="华文新魏" pitchFamily="2" charset="-122"/>
                <a:ea typeface="华文新魏" pitchFamily="2" charset="-122"/>
                <a:cs typeface="Times New Roman" pitchFamily="18" charset="0"/>
              </a:rPr>
              <a:t>B</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C</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D</a:t>
            </a:r>
            <a:r>
              <a:rPr lang="zh-CN" altLang="en-US" sz="2000" dirty="0" smtClean="0">
                <a:latin typeface="华文新魏" pitchFamily="2" charset="-122"/>
                <a:ea typeface="华文新魏" pitchFamily="2" charset="-122"/>
                <a:cs typeface="Times New Roman" pitchFamily="18" charset="0"/>
              </a:rPr>
              <a:t>，没有被研究现象</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a:t>
            </a:r>
          </a:p>
          <a:p>
            <a:pPr marL="1079500">
              <a:lnSpc>
                <a:spcPct val="150000"/>
              </a:lnSpc>
            </a:pPr>
            <a:r>
              <a:rPr lang="zh-CN" altLang="en-US" sz="2000" dirty="0" smtClean="0">
                <a:latin typeface="华文新魏" pitchFamily="2" charset="-122"/>
                <a:ea typeface="华文新魏" pitchFamily="2" charset="-122"/>
                <a:cs typeface="Times New Roman" pitchFamily="18" charset="0"/>
              </a:rPr>
              <a:t>所以，</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是</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的原因。</a:t>
            </a:r>
          </a:p>
          <a:p>
            <a:pPr>
              <a:lnSpc>
                <a:spcPct val="150000"/>
              </a:lnSpc>
            </a:pPr>
            <a:endParaRPr lang="zh-CN" altLang="en-US" sz="2000" dirty="0">
              <a:latin typeface="华文新魏" pitchFamily="2" charset="-122"/>
              <a:ea typeface="华文新魏" pitchFamily="2" charset="-122"/>
            </a:endParaRPr>
          </a:p>
        </p:txBody>
      </p:sp>
      <p:cxnSp>
        <p:nvCxnSpPr>
          <p:cNvPr id="6" name="直接连接符 5"/>
          <p:cNvCxnSpPr/>
          <p:nvPr/>
        </p:nvCxnSpPr>
        <p:spPr>
          <a:xfrm>
            <a:off x="1835696" y="3645024"/>
            <a:ext cx="6192688" cy="0"/>
          </a:xfrm>
          <a:prstGeom prst="line">
            <a:avLst/>
          </a:prstGeom>
        </p:spPr>
        <p:style>
          <a:lnRef idx="1">
            <a:schemeClr val="dk1"/>
          </a:lnRef>
          <a:fillRef idx="0">
            <a:schemeClr val="dk1"/>
          </a:fillRef>
          <a:effectRef idx="0">
            <a:schemeClr val="dk1"/>
          </a:effectRef>
          <a:fontRef idx="minor">
            <a:schemeClr val="tx1"/>
          </a:fontRef>
        </p:style>
      </p:cxnSp>
      <p:sp>
        <p:nvSpPr>
          <p:cNvPr id="9" name="TextBox 8"/>
          <p:cNvSpPr txBox="1"/>
          <p:nvPr/>
        </p:nvSpPr>
        <p:spPr>
          <a:xfrm>
            <a:off x="971600" y="4221088"/>
            <a:ext cx="1368152" cy="430887"/>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200" dirty="0" smtClean="0">
                <a:latin typeface="华文行楷" pitchFamily="2" charset="-122"/>
                <a:ea typeface="华文行楷" pitchFamily="2" charset="-122"/>
              </a:rPr>
              <a:t>成立条件</a:t>
            </a:r>
            <a:endParaRPr lang="zh-CN" altLang="en-US" sz="2200" dirty="0">
              <a:latin typeface="华文行楷" pitchFamily="2" charset="-122"/>
              <a:ea typeface="华文行楷" pitchFamily="2" charset="-122"/>
            </a:endParaRPr>
          </a:p>
        </p:txBody>
      </p:sp>
      <p:sp>
        <p:nvSpPr>
          <p:cNvPr id="10" name="TextBox 9"/>
          <p:cNvSpPr txBox="1"/>
          <p:nvPr/>
        </p:nvSpPr>
        <p:spPr>
          <a:xfrm>
            <a:off x="1187624" y="4798893"/>
            <a:ext cx="6984776" cy="646331"/>
          </a:xfrm>
          <a:prstGeom prst="rect">
            <a:avLst/>
          </a:prstGeom>
          <a:noFill/>
        </p:spPr>
        <p:txBody>
          <a:bodyPr wrap="square" rtlCol="0">
            <a:spAutoFit/>
          </a:bodyPr>
          <a:lstStyle/>
          <a:p>
            <a:r>
              <a:rPr lang="zh-CN" altLang="en-US" dirty="0" smtClean="0">
                <a:latin typeface="楷体" pitchFamily="49" charset="-122"/>
                <a:ea typeface="楷体" pitchFamily="49" charset="-122"/>
                <a:cs typeface="Times New Roman" pitchFamily="18" charset="0"/>
              </a:rPr>
              <a:t>在被比较的两种不同场合之间，</a:t>
            </a:r>
            <a:r>
              <a:rPr lang="zh-CN" altLang="en-US" b="1" u="sng" dirty="0" smtClean="0">
                <a:solidFill>
                  <a:srgbClr val="7030A0"/>
                </a:solidFill>
                <a:latin typeface="楷体" pitchFamily="49" charset="-122"/>
                <a:ea typeface="楷体" pitchFamily="49" charset="-122"/>
                <a:cs typeface="Times New Roman" pitchFamily="18" charset="0"/>
              </a:rPr>
              <a:t>只有一个</a:t>
            </a:r>
            <a:r>
              <a:rPr lang="zh-CN" altLang="en-US" dirty="0" smtClean="0">
                <a:latin typeface="楷体" pitchFamily="49" charset="-122"/>
                <a:ea typeface="楷体" pitchFamily="49" charset="-122"/>
                <a:cs typeface="Times New Roman" pitchFamily="18" charset="0"/>
              </a:rPr>
              <a:t>先行情况或伴随情况</a:t>
            </a:r>
            <a:r>
              <a:rPr lang="zh-CN" altLang="en-US" b="1" u="sng" dirty="0" smtClean="0">
                <a:solidFill>
                  <a:srgbClr val="00B050"/>
                </a:solidFill>
                <a:latin typeface="楷体" pitchFamily="49" charset="-122"/>
                <a:ea typeface="楷体" pitchFamily="49" charset="-122"/>
                <a:cs typeface="Times New Roman" pitchFamily="18" charset="0"/>
              </a:rPr>
              <a:t>不同</a:t>
            </a:r>
            <a:r>
              <a:rPr lang="zh-CN" altLang="en-US" dirty="0" smtClean="0">
                <a:latin typeface="楷体" pitchFamily="49" charset="-122"/>
                <a:ea typeface="楷体" pitchFamily="49" charset="-122"/>
                <a:cs typeface="Times New Roman" pitchFamily="18" charset="0"/>
              </a:rPr>
              <a:t>，其他情况都相同</a:t>
            </a:r>
            <a:endParaRPr lang="zh-CN" altLang="en-US" dirty="0">
              <a:latin typeface="楷体" pitchFamily="49" charset="-122"/>
              <a:ea typeface="楷体" pitchFamily="49"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linds(horizontal)">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box(in)">
                                      <p:cBhvr>
                                        <p:cTn id="12" dur="500"/>
                                        <p:tgtEl>
                                          <p:spTgt spid="5"/>
                                        </p:tgtEl>
                                      </p:cBhvr>
                                    </p:animEffect>
                                  </p:childTnLst>
                                </p:cTn>
                              </p:par>
                              <p:par>
                                <p:cTn id="13" presetID="4" presetClass="entr" presetSubtype="16" fill="hold" nodeType="withEffect">
                                  <p:stCondLst>
                                    <p:cond delay="0"/>
                                  </p:stCondLst>
                                  <p:childTnLst>
                                    <p:set>
                                      <p:cBhvr>
                                        <p:cTn id="14" dur="1" fill="hold">
                                          <p:stCondLst>
                                            <p:cond delay="0"/>
                                          </p:stCondLst>
                                        </p:cTn>
                                        <p:tgtEl>
                                          <p:spTgt spid="6"/>
                                        </p:tgtEl>
                                        <p:attrNameLst>
                                          <p:attrName>style.visibility</p:attrName>
                                        </p:attrNameLst>
                                      </p:cBhvr>
                                      <p:to>
                                        <p:strVal val="visible"/>
                                      </p:to>
                                    </p:set>
                                    <p:animEffect transition="in" filter="box(in)">
                                      <p:cBhvr>
                                        <p:cTn id="15" dur="500"/>
                                        <p:tgtEl>
                                          <p:spTgt spid="6"/>
                                        </p:tgtEl>
                                      </p:cBhvr>
                                    </p:animEffect>
                                  </p:childTnLst>
                                </p:cTn>
                              </p:par>
                            </p:childTnLst>
                          </p:cTn>
                        </p:par>
                      </p:childTnLst>
                    </p:cTn>
                  </p:par>
                  <p:par>
                    <p:cTn id="16" fill="hold">
                      <p:stCondLst>
                        <p:cond delay="indefinite"/>
                      </p:stCondLst>
                      <p:childTnLst>
                        <p:par>
                          <p:cTn id="17" fill="hold">
                            <p:stCondLst>
                              <p:cond delay="0"/>
                            </p:stCondLst>
                            <p:childTnLst>
                              <p:par>
                                <p:cTn id="18" presetID="9" presetClass="entr" presetSubtype="0" fill="hold" grpId="0" nodeType="click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dissolve">
                                      <p:cBhvr>
                                        <p:cTn id="20" dur="500"/>
                                        <p:tgtEl>
                                          <p:spTgt spid="9"/>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ppt_w</p:attrName>
                                        </p:attrNameLst>
                                      </p:cBhvr>
                                      <p:tavLst>
                                        <p:tav tm="0">
                                          <p:val>
                                            <p:strVal val="#ppt_w*0.70"/>
                                          </p:val>
                                        </p:tav>
                                        <p:tav tm="100000">
                                          <p:val>
                                            <p:strVal val="#ppt_w"/>
                                          </p:val>
                                        </p:tav>
                                      </p:tavLst>
                                    </p:anim>
                                    <p:anim calcmode="lin" valueType="num">
                                      <p:cBhvr>
                                        <p:cTn id="26" dur="500" fill="hold"/>
                                        <p:tgtEl>
                                          <p:spTgt spid="10"/>
                                        </p:tgtEl>
                                        <p:attrNameLst>
                                          <p:attrName>ppt_h</p:attrName>
                                        </p:attrNameLst>
                                      </p:cBhvr>
                                      <p:tavLst>
                                        <p:tav tm="0">
                                          <p:val>
                                            <p:strVal val="#ppt_h"/>
                                          </p:val>
                                        </p:tav>
                                        <p:tav tm="100000">
                                          <p:val>
                                            <p:strVal val="#ppt_h"/>
                                          </p:val>
                                        </p:tav>
                                      </p:tavLst>
                                    </p:anim>
                                    <p:animEffect transition="in" filter="fade">
                                      <p:cBhvr>
                                        <p:cTn id="2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5" grpId="0"/>
      <p:bldP spid="9" grpId="0" animBg="1"/>
      <p:bldP spid="10"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44624"/>
            <a:ext cx="8229600" cy="1143000"/>
          </a:xfrm>
        </p:spPr>
        <p:txBody>
          <a:bodyPr/>
          <a:lstStyle/>
          <a:p>
            <a:r>
              <a:rPr lang="zh-CN" altLang="en-US" dirty="0" smtClean="0">
                <a:latin typeface="华文新魏" pitchFamily="2" charset="-122"/>
                <a:ea typeface="华文新魏" pitchFamily="2" charset="-122"/>
              </a:rPr>
              <a:t>求同求异并用法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590872" y="1052737"/>
            <a:ext cx="8013576" cy="2088231"/>
          </a:xfrm>
          <a:ln w="19050">
            <a:prstDash val="sysDot"/>
          </a:ln>
        </p:spPr>
        <p:style>
          <a:lnRef idx="2">
            <a:schemeClr val="accent5"/>
          </a:lnRef>
          <a:fillRef idx="1">
            <a:schemeClr val="lt1"/>
          </a:fillRef>
          <a:effectRef idx="0">
            <a:schemeClr val="accent5"/>
          </a:effectRef>
          <a:fontRef idx="minor">
            <a:schemeClr val="dk1"/>
          </a:fontRef>
        </p:style>
        <p:txBody>
          <a:bodyPr>
            <a:normAutofit/>
          </a:bodyPr>
          <a:lstStyle/>
          <a:p>
            <a:pPr>
              <a:buNone/>
            </a:pPr>
            <a:r>
              <a:rPr lang="en-US" altLang="zh-CN" sz="2000" dirty="0" smtClean="0">
                <a:latin typeface="楷体" pitchFamily="49" charset="-122"/>
                <a:ea typeface="楷体" pitchFamily="49" charset="-122"/>
                <a:cs typeface="Times New Roman" pitchFamily="18" charset="0"/>
              </a:rPr>
              <a:t>(1)</a:t>
            </a:r>
            <a:r>
              <a:rPr lang="zh-CN" altLang="en-US" sz="2000" b="1" dirty="0" smtClean="0">
                <a:solidFill>
                  <a:srgbClr val="C00000"/>
                </a:solidFill>
                <a:latin typeface="楷体" pitchFamily="49" charset="-122"/>
                <a:ea typeface="楷体" pitchFamily="49" charset="-122"/>
                <a:cs typeface="Times New Roman" pitchFamily="18" charset="0"/>
              </a:rPr>
              <a:t>在正面场合</a:t>
            </a:r>
            <a:r>
              <a:rPr lang="zh-CN" altLang="en-US" sz="2000" b="1" u="sng" dirty="0" smtClean="0">
                <a:solidFill>
                  <a:srgbClr val="C00000"/>
                </a:solidFill>
                <a:latin typeface="楷体" pitchFamily="49" charset="-122"/>
                <a:ea typeface="楷体" pitchFamily="49" charset="-122"/>
                <a:cs typeface="Times New Roman" pitchFamily="18" charset="0"/>
              </a:rPr>
              <a:t>求同</a:t>
            </a:r>
            <a:r>
              <a:rPr lang="zh-CN" altLang="en-US" sz="2000" dirty="0" smtClean="0">
                <a:latin typeface="楷体" pitchFamily="49" charset="-122"/>
                <a:ea typeface="楷体" pitchFamily="49" charset="-122"/>
                <a:cs typeface="Times New Roman" pitchFamily="18" charset="0"/>
              </a:rPr>
              <a:t>：在被研究现象出现的几个场合中，只有一个共同的先行情况；</a:t>
            </a:r>
            <a:endParaRPr lang="en-US" altLang="zh-CN" sz="2000" dirty="0" smtClean="0">
              <a:latin typeface="楷体" pitchFamily="49" charset="-122"/>
              <a:ea typeface="楷体" pitchFamily="49" charset="-122"/>
              <a:cs typeface="Times New Roman" pitchFamily="18" charset="0"/>
            </a:endParaRPr>
          </a:p>
          <a:p>
            <a:pPr>
              <a:buNone/>
            </a:pPr>
            <a:r>
              <a:rPr lang="en-US" altLang="zh-CN" sz="2000" dirty="0" smtClean="0">
                <a:latin typeface="楷体" pitchFamily="49" charset="-122"/>
                <a:ea typeface="楷体" pitchFamily="49" charset="-122"/>
                <a:cs typeface="Times New Roman" pitchFamily="18" charset="0"/>
              </a:rPr>
              <a:t>(2)</a:t>
            </a:r>
            <a:r>
              <a:rPr lang="zh-CN" altLang="en-US" sz="2000" b="1" dirty="0" smtClean="0">
                <a:solidFill>
                  <a:srgbClr val="C00000"/>
                </a:solidFill>
                <a:latin typeface="楷体" pitchFamily="49" charset="-122"/>
                <a:ea typeface="楷体" pitchFamily="49" charset="-122"/>
                <a:cs typeface="Times New Roman" pitchFamily="18" charset="0"/>
              </a:rPr>
              <a:t>在反面场合</a:t>
            </a:r>
            <a:r>
              <a:rPr lang="zh-CN" altLang="en-US" sz="2000" b="1" u="sng" dirty="0" smtClean="0">
                <a:solidFill>
                  <a:srgbClr val="C00000"/>
                </a:solidFill>
                <a:latin typeface="楷体" pitchFamily="49" charset="-122"/>
                <a:ea typeface="楷体" pitchFamily="49" charset="-122"/>
                <a:cs typeface="Times New Roman" pitchFamily="18" charset="0"/>
              </a:rPr>
              <a:t>求同</a:t>
            </a:r>
            <a:r>
              <a:rPr lang="zh-CN" altLang="en-US" sz="2000" dirty="0" smtClean="0">
                <a:latin typeface="楷体" pitchFamily="49" charset="-122"/>
                <a:ea typeface="楷体" pitchFamily="49" charset="-122"/>
                <a:cs typeface="Times New Roman" pitchFamily="18" charset="0"/>
              </a:rPr>
              <a:t>：在被研究现象不出现的几个场合中，都没有这个先行情况；</a:t>
            </a:r>
            <a:endParaRPr lang="en-US" altLang="zh-CN" sz="2000" dirty="0" smtClean="0">
              <a:latin typeface="楷体" pitchFamily="49" charset="-122"/>
              <a:ea typeface="楷体" pitchFamily="49" charset="-122"/>
              <a:cs typeface="Times New Roman" pitchFamily="18" charset="0"/>
            </a:endParaRPr>
          </a:p>
          <a:p>
            <a:pPr>
              <a:buNone/>
            </a:pPr>
            <a:r>
              <a:rPr lang="en-US" altLang="zh-CN" sz="2000" dirty="0" smtClean="0">
                <a:latin typeface="楷体" pitchFamily="49" charset="-122"/>
                <a:ea typeface="楷体" pitchFamily="49" charset="-122"/>
                <a:cs typeface="Times New Roman" pitchFamily="18" charset="0"/>
              </a:rPr>
              <a:t>(3)</a:t>
            </a:r>
            <a:r>
              <a:rPr lang="zh-CN" altLang="en-US" sz="2000" b="1" dirty="0" smtClean="0">
                <a:solidFill>
                  <a:srgbClr val="C00000"/>
                </a:solidFill>
                <a:latin typeface="楷体" pitchFamily="49" charset="-122"/>
                <a:ea typeface="楷体" pitchFamily="49" charset="-122"/>
                <a:cs typeface="Times New Roman" pitchFamily="18" charset="0"/>
              </a:rPr>
              <a:t>在正反场合之间</a:t>
            </a:r>
            <a:r>
              <a:rPr lang="zh-CN" altLang="en-US" sz="2000" b="1" u="sng" dirty="0" smtClean="0">
                <a:solidFill>
                  <a:srgbClr val="C00000"/>
                </a:solidFill>
                <a:latin typeface="楷体" pitchFamily="49" charset="-122"/>
                <a:ea typeface="楷体" pitchFamily="49" charset="-122"/>
                <a:cs typeface="Times New Roman" pitchFamily="18" charset="0"/>
              </a:rPr>
              <a:t>求异</a:t>
            </a:r>
            <a:r>
              <a:rPr lang="en-US" altLang="zh-CN" sz="2000" dirty="0">
                <a:latin typeface="楷体" pitchFamily="49" charset="-122"/>
                <a:ea typeface="楷体" pitchFamily="49" charset="-122"/>
                <a:cs typeface="Times New Roman" pitchFamily="18" charset="0"/>
              </a:rPr>
              <a:t>:</a:t>
            </a:r>
            <a:r>
              <a:rPr lang="zh-CN" altLang="en-US" sz="2000" dirty="0" smtClean="0">
                <a:latin typeface="楷体" pitchFamily="49" charset="-122"/>
                <a:ea typeface="楷体" pitchFamily="49" charset="-122"/>
                <a:cs typeface="Times New Roman" pitchFamily="18" charset="0"/>
              </a:rPr>
              <a:t>得出结论说</a:t>
            </a:r>
            <a:r>
              <a:rPr lang="zh-CN" altLang="en-US" sz="2000" dirty="0">
                <a:latin typeface="楷体" pitchFamily="49" charset="-122"/>
                <a:ea typeface="楷体" pitchFamily="49" charset="-122"/>
                <a:cs typeface="Times New Roman" pitchFamily="18" charset="0"/>
              </a:rPr>
              <a:t>，</a:t>
            </a:r>
            <a:r>
              <a:rPr lang="zh-CN" altLang="en-US" sz="2000" dirty="0" smtClean="0">
                <a:latin typeface="楷体" pitchFamily="49" charset="-122"/>
                <a:ea typeface="楷体" pitchFamily="49" charset="-122"/>
                <a:cs typeface="Times New Roman" pitchFamily="18" charset="0"/>
              </a:rPr>
              <a:t>这个先行情况与被研究现象之间有因果</a:t>
            </a:r>
            <a:r>
              <a:rPr lang="zh-CN" altLang="en-US" sz="2000" dirty="0" smtClean="0">
                <a:latin typeface="楷体" pitchFamily="49" charset="-122"/>
                <a:ea typeface="楷体" pitchFamily="49" charset="-122"/>
                <a:cs typeface="Times New Roman" pitchFamily="18" charset="0"/>
              </a:rPr>
              <a:t>联系。</a:t>
            </a:r>
            <a:endParaRPr lang="zh-CN" altLang="en-US" sz="2000" dirty="0">
              <a:latin typeface="楷体" pitchFamily="49" charset="-122"/>
              <a:ea typeface="楷体" pitchFamily="49" charset="-122"/>
            </a:endParaRPr>
          </a:p>
        </p:txBody>
      </p:sp>
      <p:sp>
        <p:nvSpPr>
          <p:cNvPr id="4" name="TextBox 3"/>
          <p:cNvSpPr txBox="1"/>
          <p:nvPr/>
        </p:nvSpPr>
        <p:spPr>
          <a:xfrm>
            <a:off x="1835696" y="3147933"/>
            <a:ext cx="6336704" cy="2585323"/>
          </a:xfrm>
          <a:prstGeom prst="rect">
            <a:avLst/>
          </a:prstGeom>
          <a:noFill/>
        </p:spPr>
        <p:txBody>
          <a:bodyPr wrap="square" rtlCol="0">
            <a:spAutoFit/>
          </a:bodyPr>
          <a:lstStyle/>
          <a:p>
            <a:pPr marL="365760" indent="-256032">
              <a:lnSpc>
                <a:spcPct val="160000"/>
              </a:lnSpc>
              <a:defRPr/>
            </a:pPr>
            <a:r>
              <a:rPr lang="zh-CN" altLang="en-US" dirty="0">
                <a:latin typeface="华文新魏" pitchFamily="2" charset="-122"/>
                <a:ea typeface="华文新魏" pitchFamily="2" charset="-122"/>
                <a:cs typeface="Times New Roman" pitchFamily="18" charset="0"/>
              </a:rPr>
              <a:t>正面场合：有先行现象</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B</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C</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D</a:t>
            </a:r>
            <a:r>
              <a:rPr lang="zh-CN" altLang="en-US" dirty="0">
                <a:latin typeface="华文新魏" pitchFamily="2" charset="-122"/>
                <a:ea typeface="华文新魏" pitchFamily="2" charset="-122"/>
                <a:cs typeface="Times New Roman" pitchFamily="18" charset="0"/>
              </a:rPr>
              <a:t>，有被研究现象</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a:t>
            </a:r>
          </a:p>
          <a:p>
            <a:pPr marL="365760" indent="-256032">
              <a:lnSpc>
                <a:spcPct val="160000"/>
              </a:lnSpc>
              <a:defRPr/>
            </a:pPr>
            <a:r>
              <a:rPr lang="zh-CN" altLang="en-US" dirty="0">
                <a:latin typeface="华文新魏" pitchFamily="2" charset="-122"/>
                <a:ea typeface="华文新魏" pitchFamily="2" charset="-122"/>
                <a:cs typeface="Times New Roman" pitchFamily="18" charset="0"/>
              </a:rPr>
              <a:t>                     有先行现象</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D</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E</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F</a:t>
            </a:r>
            <a:r>
              <a:rPr lang="zh-CN" altLang="en-US" dirty="0">
                <a:latin typeface="华文新魏" pitchFamily="2" charset="-122"/>
                <a:ea typeface="华文新魏" pitchFamily="2" charset="-122"/>
                <a:cs typeface="Times New Roman" pitchFamily="18" charset="0"/>
              </a:rPr>
              <a:t>，有被研究现象</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a:t>
            </a:r>
          </a:p>
          <a:p>
            <a:pPr marL="365760" indent="-256032">
              <a:lnSpc>
                <a:spcPct val="160000"/>
              </a:lnSpc>
              <a:defRPr/>
            </a:pPr>
            <a:r>
              <a:rPr lang="zh-CN" altLang="en-US" dirty="0">
                <a:latin typeface="华文新魏" pitchFamily="2" charset="-122"/>
                <a:ea typeface="华文新魏" pitchFamily="2" charset="-122"/>
                <a:cs typeface="Times New Roman" pitchFamily="18" charset="0"/>
              </a:rPr>
              <a:t>反面场合：有先行现象</a:t>
            </a:r>
            <a:r>
              <a:rPr lang="en-US" altLang="zh-CN" dirty="0">
                <a:latin typeface="华文新魏" pitchFamily="2" charset="-122"/>
                <a:ea typeface="华文新魏" pitchFamily="2" charset="-122"/>
                <a:cs typeface="Times New Roman" pitchFamily="18" charset="0"/>
              </a:rPr>
              <a:t>B</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C</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D</a:t>
            </a:r>
            <a:r>
              <a:rPr lang="zh-CN" altLang="en-US" dirty="0">
                <a:latin typeface="华文新魏" pitchFamily="2" charset="-122"/>
                <a:ea typeface="华文新魏" pitchFamily="2" charset="-122"/>
                <a:cs typeface="Times New Roman" pitchFamily="18" charset="0"/>
              </a:rPr>
              <a:t>，没有被研究现象</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a:t>
            </a:r>
          </a:p>
          <a:p>
            <a:pPr marL="365760" indent="-256032">
              <a:lnSpc>
                <a:spcPct val="160000"/>
              </a:lnSpc>
              <a:defRPr/>
            </a:pPr>
            <a:r>
              <a:rPr lang="zh-CN" altLang="en-US" dirty="0">
                <a:latin typeface="华文新魏" pitchFamily="2" charset="-122"/>
                <a:ea typeface="华文新魏" pitchFamily="2" charset="-122"/>
                <a:cs typeface="Times New Roman" pitchFamily="18" charset="0"/>
              </a:rPr>
              <a:t>                     有先行现象</a:t>
            </a:r>
            <a:r>
              <a:rPr lang="en-US" altLang="zh-CN" dirty="0">
                <a:latin typeface="华文新魏" pitchFamily="2" charset="-122"/>
                <a:ea typeface="华文新魏" pitchFamily="2" charset="-122"/>
                <a:cs typeface="Times New Roman" pitchFamily="18" charset="0"/>
              </a:rPr>
              <a:t>D</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E</a:t>
            </a:r>
            <a:r>
              <a:rPr lang="zh-CN" altLang="en-US" dirty="0">
                <a:latin typeface="华文新魏" pitchFamily="2" charset="-122"/>
                <a:ea typeface="华文新魏" pitchFamily="2" charset="-122"/>
                <a:cs typeface="Times New Roman" pitchFamily="18" charset="0"/>
              </a:rPr>
              <a:t>、</a:t>
            </a:r>
            <a:r>
              <a:rPr lang="en-US" altLang="zh-CN" dirty="0">
                <a:latin typeface="华文新魏" pitchFamily="2" charset="-122"/>
                <a:ea typeface="华文新魏" pitchFamily="2" charset="-122"/>
                <a:cs typeface="Times New Roman" pitchFamily="18" charset="0"/>
              </a:rPr>
              <a:t>F</a:t>
            </a:r>
            <a:r>
              <a:rPr lang="zh-CN" altLang="en-US" dirty="0">
                <a:latin typeface="华文新魏" pitchFamily="2" charset="-122"/>
                <a:ea typeface="华文新魏" pitchFamily="2" charset="-122"/>
                <a:cs typeface="Times New Roman" pitchFamily="18" charset="0"/>
              </a:rPr>
              <a:t>，没有被研究现象</a:t>
            </a:r>
            <a:r>
              <a:rPr lang="en-US" altLang="zh-CN" dirty="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   </a:t>
            </a:r>
            <a:endParaRPr lang="zh-CN" altLang="en-US" dirty="0">
              <a:latin typeface="华文新魏" pitchFamily="2" charset="-122"/>
              <a:ea typeface="华文新魏" pitchFamily="2" charset="-122"/>
              <a:cs typeface="Times New Roman" pitchFamily="18" charset="0"/>
            </a:endParaRPr>
          </a:p>
          <a:p>
            <a:pPr marL="365760" indent="-256032">
              <a:lnSpc>
                <a:spcPct val="160000"/>
              </a:lnSpc>
              <a:defRPr/>
            </a:pPr>
            <a:r>
              <a:rPr lang="zh-CN" altLang="en-US" dirty="0" smtClean="0">
                <a:latin typeface="华文新魏" pitchFamily="2" charset="-122"/>
                <a:ea typeface="华文新魏" pitchFamily="2" charset="-122"/>
                <a:cs typeface="Times New Roman" pitchFamily="18" charset="0"/>
              </a:rPr>
              <a:t>       所以  ，</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（可能）是</a:t>
            </a:r>
            <a:r>
              <a:rPr lang="en-US" altLang="zh-CN" dirty="0">
                <a:latin typeface="华文新魏" pitchFamily="2" charset="-122"/>
                <a:ea typeface="华文新魏" pitchFamily="2" charset="-122"/>
                <a:cs typeface="Times New Roman" pitchFamily="18" charset="0"/>
              </a:rPr>
              <a:t>a</a:t>
            </a:r>
            <a:r>
              <a:rPr lang="zh-CN" altLang="en-US" dirty="0">
                <a:latin typeface="华文新魏" pitchFamily="2" charset="-122"/>
                <a:ea typeface="华文新魏" pitchFamily="2" charset="-122"/>
                <a:cs typeface="Times New Roman" pitchFamily="18" charset="0"/>
              </a:rPr>
              <a:t>的原因。</a:t>
            </a:r>
          </a:p>
          <a:p>
            <a:endParaRPr lang="zh-CN" altLang="en-US" dirty="0">
              <a:latin typeface="华文新魏" pitchFamily="2" charset="-122"/>
              <a:ea typeface="华文新魏" pitchFamily="2" charset="-122"/>
            </a:endParaRPr>
          </a:p>
        </p:txBody>
      </p:sp>
      <p:cxnSp>
        <p:nvCxnSpPr>
          <p:cNvPr id="8" name="直接连接符 7"/>
          <p:cNvCxnSpPr/>
          <p:nvPr/>
        </p:nvCxnSpPr>
        <p:spPr>
          <a:xfrm>
            <a:off x="1619672" y="5020140"/>
            <a:ext cx="6192688"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1835696" y="5805264"/>
            <a:ext cx="2016224" cy="400110"/>
          </a:xfrm>
          <a:prstGeom prst="rect">
            <a:avLst/>
          </a:prstGeom>
        </p:spPr>
        <p:style>
          <a:lnRef idx="1">
            <a:schemeClr val="accent3"/>
          </a:lnRef>
          <a:fillRef idx="2">
            <a:schemeClr val="accent3"/>
          </a:fillRef>
          <a:effectRef idx="1">
            <a:schemeClr val="accent3"/>
          </a:effectRef>
          <a:fontRef idx="minor">
            <a:schemeClr val="dk1"/>
          </a:fontRef>
        </p:style>
        <p:txBody>
          <a:bodyPr wrap="square" rtlCol="0">
            <a:spAutoFit/>
          </a:bodyPr>
          <a:lstStyle/>
          <a:p>
            <a:r>
              <a:rPr lang="zh-CN" altLang="en-US" sz="2000" dirty="0">
                <a:latin typeface="华文行楷" pitchFamily="2" charset="-122"/>
                <a:ea typeface="华文行楷" pitchFamily="2" charset="-122"/>
                <a:cs typeface="Times New Roman" pitchFamily="18" charset="0"/>
              </a:rPr>
              <a:t>更多的</a:t>
            </a:r>
            <a:r>
              <a:rPr lang="zh-CN" altLang="en-US" sz="2000" dirty="0" smtClean="0">
                <a:latin typeface="华文行楷" pitchFamily="2" charset="-122"/>
                <a:ea typeface="华文行楷" pitchFamily="2" charset="-122"/>
                <a:cs typeface="Times New Roman" pitchFamily="18" charset="0"/>
              </a:rPr>
              <a:t>正反例证</a:t>
            </a:r>
            <a:endParaRPr lang="zh-CN" altLang="en-US" sz="2000" dirty="0">
              <a:latin typeface="华文行楷" pitchFamily="2" charset="-122"/>
              <a:ea typeface="华文行楷" pitchFamily="2" charset="-122"/>
            </a:endParaRPr>
          </a:p>
        </p:txBody>
      </p:sp>
      <p:sp>
        <p:nvSpPr>
          <p:cNvPr id="11" name="TextBox 10"/>
          <p:cNvSpPr txBox="1"/>
          <p:nvPr/>
        </p:nvSpPr>
        <p:spPr>
          <a:xfrm>
            <a:off x="5220072" y="5661248"/>
            <a:ext cx="2016224" cy="707886"/>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000" dirty="0" smtClean="0">
                <a:latin typeface="华文行楷" pitchFamily="2" charset="-122"/>
                <a:ea typeface="华文行楷" pitchFamily="2" charset="-122"/>
                <a:cs typeface="Times New Roman" pitchFamily="18" charset="0"/>
              </a:rPr>
              <a:t>与正面场合更类似的反面场合</a:t>
            </a:r>
            <a:endParaRPr lang="zh-CN" altLang="en-US" sz="20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bg/>
                                          </p:spTgt>
                                        </p:tgtEl>
                                        <p:attrNameLst>
                                          <p:attrName>style.visibility</p:attrName>
                                        </p:attrNameLst>
                                      </p:cBhvr>
                                      <p:to>
                                        <p:strVal val="visible"/>
                                      </p:to>
                                    </p:set>
                                    <p:animEffect transition="in" filter="blinds(horizontal)">
                                      <p:cBhvr>
                                        <p:cTn id="7" dur="500"/>
                                        <p:tgtEl>
                                          <p:spTgt spid="3">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linds(horizontal)">
                                      <p:cBhvr>
                                        <p:cTn id="10" dur="500"/>
                                        <p:tgtEl>
                                          <p:spTgt spid="3">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3" presetClass="entr" presetSubtype="10" fill="hold" grpId="0" nodeType="click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blinds(horizontal)">
                                      <p:cBhvr>
                                        <p:cTn id="15" dur="500"/>
                                        <p:tgtEl>
                                          <p:spTgt spid="3">
                                            <p:txEl>
                                              <p:pRg st="1" end="1"/>
                                            </p:txEl>
                                          </p:spTgt>
                                        </p:tgtEl>
                                      </p:cBhvr>
                                    </p:animEffect>
                                  </p:childTnLst>
                                </p:cTn>
                              </p:par>
                            </p:childTnLst>
                          </p:cTn>
                        </p:par>
                      </p:childTnLst>
                    </p:cTn>
                  </p:par>
                  <p:par>
                    <p:cTn id="16" fill="hold">
                      <p:stCondLst>
                        <p:cond delay="indefinite"/>
                      </p:stCondLst>
                      <p:childTnLst>
                        <p:par>
                          <p:cTn id="17" fill="hold">
                            <p:stCondLst>
                              <p:cond delay="0"/>
                            </p:stCondLst>
                            <p:childTnLst>
                              <p:par>
                                <p:cTn id="18" presetID="3" presetClass="entr" presetSubtype="10" fill="hold" grpId="0" nodeType="clickEffect">
                                  <p:stCondLst>
                                    <p:cond delay="0"/>
                                  </p:stCondLst>
                                  <p:childTnLst>
                                    <p:set>
                                      <p:cBhvr>
                                        <p:cTn id="19" dur="1" fill="hold">
                                          <p:stCondLst>
                                            <p:cond delay="0"/>
                                          </p:stCondLst>
                                        </p:cTn>
                                        <p:tgtEl>
                                          <p:spTgt spid="3">
                                            <p:txEl>
                                              <p:pRg st="2" end="2"/>
                                            </p:txEl>
                                          </p:spTgt>
                                        </p:tgtEl>
                                        <p:attrNameLst>
                                          <p:attrName>style.visibility</p:attrName>
                                        </p:attrNameLst>
                                      </p:cBhvr>
                                      <p:to>
                                        <p:strVal val="visible"/>
                                      </p:to>
                                    </p:set>
                                    <p:animEffect transition="in" filter="blinds(horizontal)">
                                      <p:cBhvr>
                                        <p:cTn id="20" dur="500"/>
                                        <p:tgtEl>
                                          <p:spTgt spid="3">
                                            <p:txEl>
                                              <p:pRg st="2" end="2"/>
                                            </p:txEl>
                                          </p:spTgt>
                                        </p:tgtEl>
                                      </p:cBhvr>
                                    </p:animEffec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nodeType="clickEffect">
                                  <p:stCondLst>
                                    <p:cond delay="0"/>
                                  </p:stCondLst>
                                  <p:childTnLst>
                                    <p:set>
                                      <p:cBhvr>
                                        <p:cTn id="24" dur="1" fill="hold">
                                          <p:stCondLst>
                                            <p:cond delay="0"/>
                                          </p:stCondLst>
                                        </p:cTn>
                                        <p:tgtEl>
                                          <p:spTgt spid="8"/>
                                        </p:tgtEl>
                                        <p:attrNameLst>
                                          <p:attrName>style.visibility</p:attrName>
                                        </p:attrNameLst>
                                      </p:cBhvr>
                                      <p:to>
                                        <p:strVal val="visible"/>
                                      </p:to>
                                    </p:set>
                                    <p:animEffect transition="in" filter="box(in)">
                                      <p:cBhvr>
                                        <p:cTn id="25" dur="500"/>
                                        <p:tgtEl>
                                          <p:spTgt spid="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fade">
                                      <p:cBhvr>
                                        <p:cTn id="28" dur="500"/>
                                        <p:tgtEl>
                                          <p:spTgt spid="4"/>
                                        </p:tgtEl>
                                      </p:cBhvr>
                                    </p:animEffect>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500"/>
                                        <p:tgtEl>
                                          <p:spTgt spid="10"/>
                                        </p:tgtEl>
                                      </p:cBhvr>
                                    </p:animEffect>
                                    <p:anim calcmode="lin" valueType="num">
                                      <p:cBhvr>
                                        <p:cTn id="34" dur="500" fill="hold"/>
                                        <p:tgtEl>
                                          <p:spTgt spid="10"/>
                                        </p:tgtEl>
                                        <p:attrNameLst>
                                          <p:attrName>ppt_x</p:attrName>
                                        </p:attrNameLst>
                                      </p:cBhvr>
                                      <p:tavLst>
                                        <p:tav tm="0">
                                          <p:val>
                                            <p:strVal val="#ppt_x"/>
                                          </p:val>
                                        </p:tav>
                                        <p:tav tm="100000">
                                          <p:val>
                                            <p:strVal val="#ppt_x"/>
                                          </p:val>
                                        </p:tav>
                                      </p:tavLst>
                                    </p:anim>
                                    <p:anim calcmode="lin" valueType="num">
                                      <p:cBhvr>
                                        <p:cTn id="35" dur="500" fill="hold"/>
                                        <p:tgtEl>
                                          <p:spTgt spid="10"/>
                                        </p:tgtEl>
                                        <p:attrNameLst>
                                          <p:attrName>ppt_y</p:attrName>
                                        </p:attrNameLst>
                                      </p:cBhvr>
                                      <p:tavLst>
                                        <p:tav tm="0">
                                          <p:val>
                                            <p:strVal val="#ppt_y-.1"/>
                                          </p:val>
                                        </p:tav>
                                        <p:tav tm="100000">
                                          <p:val>
                                            <p:strVal val="#ppt_y"/>
                                          </p:val>
                                        </p:tav>
                                      </p:tavLst>
                                    </p:anim>
                                  </p:childTnLst>
                                </p:cTn>
                              </p:par>
                            </p:childTnLst>
                          </p:cTn>
                        </p:par>
                      </p:childTnLst>
                    </p:cTn>
                  </p:par>
                  <p:par>
                    <p:cTn id="36" fill="hold">
                      <p:stCondLst>
                        <p:cond delay="indefinite"/>
                      </p:stCondLst>
                      <p:childTnLst>
                        <p:par>
                          <p:cTn id="37" fill="hold">
                            <p:stCondLst>
                              <p:cond delay="0"/>
                            </p:stCondLst>
                            <p:childTnLst>
                              <p:par>
                                <p:cTn id="38" presetID="5" presetClass="entr" presetSubtype="10" fill="hold" grpId="0" nodeType="clickEffect">
                                  <p:stCondLst>
                                    <p:cond delay="0"/>
                                  </p:stCondLst>
                                  <p:childTnLst>
                                    <p:set>
                                      <p:cBhvr>
                                        <p:cTn id="39" dur="1" fill="hold">
                                          <p:stCondLst>
                                            <p:cond delay="0"/>
                                          </p:stCondLst>
                                        </p:cTn>
                                        <p:tgtEl>
                                          <p:spTgt spid="11"/>
                                        </p:tgtEl>
                                        <p:attrNameLst>
                                          <p:attrName>style.visibility</p:attrName>
                                        </p:attrNameLst>
                                      </p:cBhvr>
                                      <p:to>
                                        <p:strVal val="visible"/>
                                      </p:to>
                                    </p:set>
                                    <p:animEffect transition="in" filter="checkerboard(across)">
                                      <p:cBhvr>
                                        <p:cTn id="4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animBg="1"/>
      <p:bldP spid="4" grpId="0"/>
      <p:bldP spid="10" grpId="0" animBg="1"/>
      <p:bldP spid="11"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共变法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251520" y="1312168"/>
            <a:ext cx="8424936" cy="1324744"/>
          </a:xfrm>
        </p:spPr>
        <p:txBody>
          <a:bodyPr>
            <a:normAutofit/>
          </a:bodyPr>
          <a:lstStyle/>
          <a:p>
            <a:pPr>
              <a:buNone/>
            </a:pPr>
            <a:r>
              <a:rPr lang="zh-CN" altLang="en-US" sz="2000" dirty="0" smtClean="0">
                <a:latin typeface="楷体" pitchFamily="49" charset="-122"/>
                <a:ea typeface="楷体" pitchFamily="49" charset="-122"/>
                <a:cs typeface="Times New Roman" pitchFamily="18" charset="0"/>
              </a:rPr>
              <a:t>   根据因果关系的特点，若两个现象之间没有共变关系，则可以肯定它们之间没有因果关系；每当某一现象发生一定程度的变化时，另一现象也随之发生一定程度的变化，则这两个现象之间（可能）有因果</a:t>
            </a:r>
            <a:r>
              <a:rPr lang="zh-CN" altLang="en-US" sz="2000" dirty="0" smtClean="0">
                <a:latin typeface="楷体" pitchFamily="49" charset="-122"/>
                <a:ea typeface="楷体" pitchFamily="49" charset="-122"/>
                <a:cs typeface="Times New Roman" pitchFamily="18" charset="0"/>
              </a:rPr>
              <a:t>联系。</a:t>
            </a:r>
            <a:endParaRPr lang="zh-CN" altLang="en-US" sz="2000" dirty="0">
              <a:latin typeface="楷体" pitchFamily="49" charset="-122"/>
              <a:ea typeface="楷体" pitchFamily="49" charset="-122"/>
            </a:endParaRPr>
          </a:p>
        </p:txBody>
      </p:sp>
      <p:sp>
        <p:nvSpPr>
          <p:cNvPr id="4" name="TextBox 3"/>
          <p:cNvSpPr txBox="1"/>
          <p:nvPr/>
        </p:nvSpPr>
        <p:spPr>
          <a:xfrm>
            <a:off x="2987824" y="2420888"/>
            <a:ext cx="5184576" cy="1714765"/>
          </a:xfrm>
          <a:prstGeom prst="rect">
            <a:avLst/>
          </a:prstGeom>
          <a:noFill/>
        </p:spPr>
        <p:txBody>
          <a:bodyPr wrap="square" rtlCol="0">
            <a:spAutoFit/>
          </a:bodyPr>
          <a:lstStyle/>
          <a:p>
            <a:pPr>
              <a:lnSpc>
                <a:spcPct val="150000"/>
              </a:lnSpc>
            </a:pP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1</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1</a:t>
            </a:r>
            <a:r>
              <a:rPr lang="zh-CN" altLang="en-US" dirty="0" smtClean="0">
                <a:latin typeface="华文新魏" pitchFamily="2" charset="-122"/>
                <a:ea typeface="华文新魏" pitchFamily="2" charset="-122"/>
                <a:cs typeface="Times New Roman" pitchFamily="18" charset="0"/>
              </a:rPr>
              <a:t>；</a:t>
            </a:r>
          </a:p>
          <a:p>
            <a:pPr>
              <a:lnSpc>
                <a:spcPct val="150000"/>
              </a:lnSpc>
            </a:pP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2</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2</a:t>
            </a:r>
            <a:r>
              <a:rPr lang="zh-CN" altLang="en-US" dirty="0" smtClean="0">
                <a:latin typeface="华文新魏" pitchFamily="2" charset="-122"/>
                <a:ea typeface="华文新魏" pitchFamily="2" charset="-122"/>
                <a:cs typeface="Times New Roman" pitchFamily="18" charset="0"/>
              </a:rPr>
              <a:t>；</a:t>
            </a:r>
          </a:p>
          <a:p>
            <a:pPr>
              <a:lnSpc>
                <a:spcPct val="150000"/>
              </a:lnSpc>
            </a:pPr>
            <a:r>
              <a:rPr lang="zh-CN" altLang="en-US" dirty="0" smtClean="0">
                <a:latin typeface="华文新魏" pitchFamily="2" charset="-122"/>
                <a:ea typeface="华文新魏" pitchFamily="2" charset="-122"/>
                <a:cs typeface="Times New Roman" pitchFamily="18" charset="0"/>
              </a:rPr>
              <a:t>有先行现象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3</a:t>
            </a:r>
            <a:r>
              <a:rPr lang="zh-CN" altLang="en-US" dirty="0" smtClean="0">
                <a:latin typeface="华文新魏" pitchFamily="2" charset="-122"/>
                <a:ea typeface="华文新魏" pitchFamily="2" charset="-122"/>
                <a:cs typeface="Times New Roman" pitchFamily="18" charset="0"/>
              </a:rPr>
              <a:t>，有被研究现象</a:t>
            </a:r>
            <a:r>
              <a:rPr lang="en-US" altLang="zh-CN" dirty="0" smtClean="0">
                <a:latin typeface="华文新魏" pitchFamily="2" charset="-122"/>
                <a:ea typeface="华文新魏" pitchFamily="2" charset="-122"/>
                <a:cs typeface="Times New Roman" pitchFamily="18" charset="0"/>
              </a:rPr>
              <a:t>a</a:t>
            </a:r>
            <a:r>
              <a:rPr lang="en-US" altLang="zh-CN" baseline="-25000" dirty="0" smtClean="0">
                <a:latin typeface="华文新魏" pitchFamily="2" charset="-122"/>
                <a:ea typeface="华文新魏" pitchFamily="2" charset="-122"/>
                <a:cs typeface="Times New Roman" pitchFamily="18" charset="0"/>
              </a:rPr>
              <a:t>3</a:t>
            </a:r>
            <a:r>
              <a:rPr lang="zh-CN" altLang="en-US" dirty="0" smtClean="0">
                <a:latin typeface="华文新魏" pitchFamily="2" charset="-122"/>
                <a:ea typeface="华文新魏" pitchFamily="2" charset="-122"/>
                <a:cs typeface="Times New Roman" pitchFamily="18" charset="0"/>
              </a:rPr>
              <a:t>；</a:t>
            </a:r>
          </a:p>
          <a:p>
            <a:pPr>
              <a:lnSpc>
                <a:spcPct val="150000"/>
              </a:lnSpc>
            </a:pPr>
            <a:r>
              <a:rPr lang="zh-CN" altLang="en-US" dirty="0" smtClean="0">
                <a:latin typeface="华文新魏" pitchFamily="2" charset="-122"/>
                <a:ea typeface="华文新魏" pitchFamily="2" charset="-122"/>
                <a:cs typeface="Times New Roman" pitchFamily="18" charset="0"/>
              </a:rPr>
              <a:t>所以，</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是</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的原因</a:t>
            </a:r>
            <a:endParaRPr lang="zh-CN" altLang="en-US" dirty="0">
              <a:latin typeface="华文新魏" pitchFamily="2" charset="-122"/>
              <a:ea typeface="华文新魏" pitchFamily="2" charset="-122"/>
            </a:endParaRPr>
          </a:p>
        </p:txBody>
      </p:sp>
      <p:cxnSp>
        <p:nvCxnSpPr>
          <p:cNvPr id="5" name="直接连接符 4"/>
          <p:cNvCxnSpPr/>
          <p:nvPr/>
        </p:nvCxnSpPr>
        <p:spPr>
          <a:xfrm>
            <a:off x="2699792" y="3789040"/>
            <a:ext cx="3960440" cy="0"/>
          </a:xfrm>
          <a:prstGeom prst="line">
            <a:avLst/>
          </a:prstGeom>
        </p:spPr>
        <p:style>
          <a:lnRef idx="1">
            <a:schemeClr val="dk1"/>
          </a:lnRef>
          <a:fillRef idx="0">
            <a:schemeClr val="dk1"/>
          </a:fillRef>
          <a:effectRef idx="0">
            <a:schemeClr val="dk1"/>
          </a:effectRef>
          <a:fontRef idx="minor">
            <a:schemeClr val="tx1"/>
          </a:fontRef>
        </p:style>
      </p:cxnSp>
      <p:grpSp>
        <p:nvGrpSpPr>
          <p:cNvPr id="10" name="组合 9"/>
          <p:cNvGrpSpPr/>
          <p:nvPr/>
        </p:nvGrpSpPr>
        <p:grpSpPr>
          <a:xfrm>
            <a:off x="1331640" y="4509120"/>
            <a:ext cx="2304256" cy="936104"/>
            <a:chOff x="1331640" y="4509120"/>
            <a:chExt cx="2304256" cy="936104"/>
          </a:xfrm>
        </p:grpSpPr>
        <p:sp>
          <p:nvSpPr>
            <p:cNvPr id="8" name="流程图: 资料带 7"/>
            <p:cNvSpPr/>
            <p:nvPr/>
          </p:nvSpPr>
          <p:spPr>
            <a:xfrm>
              <a:off x="1331640" y="4509120"/>
              <a:ext cx="2232248" cy="936104"/>
            </a:xfrm>
            <a:prstGeom prst="flowChartPunchedTap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9" name="TextBox 8"/>
            <p:cNvSpPr txBox="1"/>
            <p:nvPr/>
          </p:nvSpPr>
          <p:spPr>
            <a:xfrm>
              <a:off x="1331640" y="4797152"/>
              <a:ext cx="2304256"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其他因素保持不变</a:t>
              </a:r>
              <a:endParaRPr lang="zh-CN" altLang="en-US" sz="2000" dirty="0">
                <a:latin typeface="华文行楷" pitchFamily="2" charset="-122"/>
                <a:ea typeface="华文行楷" pitchFamily="2" charset="-122"/>
              </a:endParaRPr>
            </a:p>
          </p:txBody>
        </p:sp>
      </p:grpSp>
      <p:grpSp>
        <p:nvGrpSpPr>
          <p:cNvPr id="11" name="组合 10"/>
          <p:cNvGrpSpPr/>
          <p:nvPr/>
        </p:nvGrpSpPr>
        <p:grpSpPr>
          <a:xfrm>
            <a:off x="5292080" y="4437112"/>
            <a:ext cx="2376264" cy="936104"/>
            <a:chOff x="1331640" y="4509120"/>
            <a:chExt cx="2376264" cy="936104"/>
          </a:xfrm>
        </p:grpSpPr>
        <p:sp>
          <p:nvSpPr>
            <p:cNvPr id="12" name="流程图: 资料带 11"/>
            <p:cNvSpPr/>
            <p:nvPr/>
          </p:nvSpPr>
          <p:spPr>
            <a:xfrm>
              <a:off x="1331640" y="4509120"/>
              <a:ext cx="2088232" cy="936104"/>
            </a:xfrm>
            <a:prstGeom prst="flowChartPunchedTape">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zh-CN" altLang="en-US"/>
            </a:p>
          </p:txBody>
        </p:sp>
        <p:sp>
          <p:nvSpPr>
            <p:cNvPr id="13" name="TextBox 12"/>
            <p:cNvSpPr txBox="1"/>
            <p:nvPr/>
          </p:nvSpPr>
          <p:spPr>
            <a:xfrm>
              <a:off x="1403648" y="4829090"/>
              <a:ext cx="2304256" cy="400110"/>
            </a:xfrm>
            <a:prstGeom prst="rect">
              <a:avLst/>
            </a:prstGeom>
            <a:noFill/>
          </p:spPr>
          <p:txBody>
            <a:bodyPr wrap="square" rtlCol="0">
              <a:spAutoFit/>
            </a:bodyPr>
            <a:lstStyle/>
            <a:p>
              <a:r>
                <a:rPr lang="zh-CN" altLang="en-US" sz="2000" dirty="0" smtClean="0">
                  <a:latin typeface="华文行楷" pitchFamily="2" charset="-122"/>
                  <a:ea typeface="华文行楷" pitchFamily="2" charset="-122"/>
                </a:rPr>
                <a:t>共变有一定限度</a:t>
              </a:r>
              <a:endParaRPr lang="zh-CN" altLang="en-US" sz="2000" dirty="0">
                <a:latin typeface="华文行楷" pitchFamily="2" charset="-122"/>
                <a:ea typeface="华文行楷"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par>
                                <p:cTn id="13" presetID="4"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nodeType="clickEffect">
                                  <p:stCondLst>
                                    <p:cond delay="0"/>
                                  </p:stCondLst>
                                  <p:childTnLst>
                                    <p:set>
                                      <p:cBhvr>
                                        <p:cTn id="19" dur="1" fill="hold">
                                          <p:stCondLst>
                                            <p:cond delay="0"/>
                                          </p:stCondLst>
                                        </p:cTn>
                                        <p:tgtEl>
                                          <p:spTgt spid="10"/>
                                        </p:tgtEl>
                                        <p:attrNameLst>
                                          <p:attrName>style.visibility</p:attrName>
                                        </p:attrNameLst>
                                      </p:cBhvr>
                                      <p:to>
                                        <p:strVal val="visible"/>
                                      </p:to>
                                    </p:set>
                                    <p:animEffect transition="in" filter="box(in)">
                                      <p:cBhvr>
                                        <p:cTn id="20" dur="500"/>
                                        <p:tgtEl>
                                          <p:spTgt spid="10"/>
                                        </p:tgtEl>
                                      </p:cBhvr>
                                    </p:animEffect>
                                  </p:childTnLst>
                                </p:cTn>
                              </p:par>
                            </p:childTnLst>
                          </p:cTn>
                        </p:par>
                      </p:childTnLst>
                    </p:cTn>
                  </p:par>
                  <p:par>
                    <p:cTn id="21" fill="hold">
                      <p:stCondLst>
                        <p:cond delay="indefinite"/>
                      </p:stCondLst>
                      <p:childTnLst>
                        <p:par>
                          <p:cTn id="22" fill="hold">
                            <p:stCondLst>
                              <p:cond delay="0"/>
                            </p:stCondLst>
                            <p:childTnLst>
                              <p:par>
                                <p:cTn id="23" presetID="55" presetClass="entr" presetSubtype="0" fill="hold" nodeType="clickEffect">
                                  <p:stCondLst>
                                    <p:cond delay="0"/>
                                  </p:stCondLst>
                                  <p:childTnLst>
                                    <p:set>
                                      <p:cBhvr>
                                        <p:cTn id="24" dur="1" fill="hold">
                                          <p:stCondLst>
                                            <p:cond delay="0"/>
                                          </p:stCondLst>
                                        </p:cTn>
                                        <p:tgtEl>
                                          <p:spTgt spid="11"/>
                                        </p:tgtEl>
                                        <p:attrNameLst>
                                          <p:attrName>style.visibility</p:attrName>
                                        </p:attrNameLst>
                                      </p:cBhvr>
                                      <p:to>
                                        <p:strVal val="visible"/>
                                      </p:to>
                                    </p:set>
                                    <p:anim calcmode="lin" valueType="num">
                                      <p:cBhvr>
                                        <p:cTn id="25" dur="1000" fill="hold"/>
                                        <p:tgtEl>
                                          <p:spTgt spid="11"/>
                                        </p:tgtEl>
                                        <p:attrNameLst>
                                          <p:attrName>ppt_w</p:attrName>
                                        </p:attrNameLst>
                                      </p:cBhvr>
                                      <p:tavLst>
                                        <p:tav tm="0">
                                          <p:val>
                                            <p:strVal val="#ppt_w*0.70"/>
                                          </p:val>
                                        </p:tav>
                                        <p:tav tm="100000">
                                          <p:val>
                                            <p:strVal val="#ppt_w"/>
                                          </p:val>
                                        </p:tav>
                                      </p:tavLst>
                                    </p:anim>
                                    <p:anim calcmode="lin" valueType="num">
                                      <p:cBhvr>
                                        <p:cTn id="26" dur="1000" fill="hold"/>
                                        <p:tgtEl>
                                          <p:spTgt spid="11"/>
                                        </p:tgtEl>
                                        <p:attrNameLst>
                                          <p:attrName>ppt_h</p:attrName>
                                        </p:attrNameLst>
                                      </p:cBhvr>
                                      <p:tavLst>
                                        <p:tav tm="0">
                                          <p:val>
                                            <p:strVal val="#ppt_h"/>
                                          </p:val>
                                        </p:tav>
                                        <p:tav tm="100000">
                                          <p:val>
                                            <p:strVal val="#ppt_h"/>
                                          </p:val>
                                        </p:tav>
                                      </p:tavLst>
                                    </p:anim>
                                    <p:animEffect transition="in" filter="fade">
                                      <p:cBhvr>
                                        <p:cTn id="27" dur="10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剩余法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457200" y="1196752"/>
            <a:ext cx="8229600" cy="1324744"/>
          </a:xfrm>
        </p:spPr>
        <p:txBody>
          <a:bodyPr/>
          <a:lstStyle/>
          <a:p>
            <a:pPr>
              <a:buNone/>
            </a:pPr>
            <a:r>
              <a:rPr lang="zh-CN" altLang="en-US" dirty="0" smtClean="0">
                <a:latin typeface="Times New Roman" pitchFamily="18" charset="0"/>
                <a:cs typeface="Times New Roman" pitchFamily="18" charset="0"/>
              </a:rPr>
              <a:t>    </a:t>
            </a:r>
            <a:r>
              <a:rPr lang="zh-CN" altLang="en-US" sz="2000" dirty="0" smtClean="0">
                <a:latin typeface="楷体" pitchFamily="49" charset="-122"/>
                <a:ea typeface="楷体" pitchFamily="49" charset="-122"/>
                <a:cs typeface="Times New Roman" pitchFamily="18" charset="0"/>
              </a:rPr>
              <a:t>如果已知某一复杂现象是另一复杂现象的原因，同时又知前一现象中某一部分是后一现象中某一部分的原因，那么，前一现象的其余部分与后一现象的其余部分有因果</a:t>
            </a:r>
            <a:r>
              <a:rPr lang="zh-CN" altLang="en-US" sz="2000" dirty="0" smtClean="0">
                <a:latin typeface="楷体" pitchFamily="49" charset="-122"/>
                <a:ea typeface="楷体" pitchFamily="49" charset="-122"/>
                <a:cs typeface="Times New Roman" pitchFamily="18" charset="0"/>
              </a:rPr>
              <a:t>联系。</a:t>
            </a:r>
            <a:endParaRPr lang="zh-CN" altLang="en-US" dirty="0">
              <a:latin typeface="楷体" pitchFamily="49" charset="-122"/>
              <a:ea typeface="楷体" pitchFamily="49" charset="-122"/>
            </a:endParaRPr>
          </a:p>
        </p:txBody>
      </p:sp>
      <p:sp>
        <p:nvSpPr>
          <p:cNvPr id="4" name="TextBox 3"/>
          <p:cNvSpPr txBox="1"/>
          <p:nvPr/>
        </p:nvSpPr>
        <p:spPr>
          <a:xfrm>
            <a:off x="2267744" y="2636912"/>
            <a:ext cx="4464496" cy="2169825"/>
          </a:xfrm>
          <a:prstGeom prst="rect">
            <a:avLst/>
          </a:prstGeom>
          <a:noFill/>
        </p:spPr>
        <p:txBody>
          <a:bodyPr wrap="square" rtlCol="0">
            <a:spAutoFit/>
          </a:bodyPr>
          <a:lstStyle/>
          <a:p>
            <a:pPr>
              <a:lnSpc>
                <a:spcPct val="150000"/>
              </a:lnSpc>
            </a:pP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是</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的原因，</a:t>
            </a:r>
          </a:p>
          <a:p>
            <a:pPr>
              <a:lnSpc>
                <a:spcPct val="150000"/>
              </a:lnSpc>
            </a:pP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是</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的原因，</a:t>
            </a:r>
          </a:p>
          <a:p>
            <a:pPr>
              <a:lnSpc>
                <a:spcPct val="150000"/>
              </a:lnSpc>
            </a:pP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是</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的原因，</a:t>
            </a:r>
          </a:p>
          <a:p>
            <a:pPr>
              <a:lnSpc>
                <a:spcPct val="150000"/>
              </a:lnSpc>
            </a:pP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是</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的原因，</a:t>
            </a:r>
          </a:p>
          <a:p>
            <a:pPr>
              <a:lnSpc>
                <a:spcPct val="150000"/>
              </a:lnSpc>
            </a:pPr>
            <a:r>
              <a:rPr lang="zh-CN" altLang="en-US" dirty="0" smtClean="0">
                <a:latin typeface="华文新魏" pitchFamily="2" charset="-122"/>
                <a:ea typeface="华文新魏" pitchFamily="2" charset="-122"/>
                <a:cs typeface="Times New Roman" pitchFamily="18" charset="0"/>
              </a:rPr>
              <a:t>所以，</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与</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之间有因果联系。</a:t>
            </a:r>
            <a:endParaRPr lang="zh-CN" altLang="en-US" dirty="0">
              <a:latin typeface="华文新魏" pitchFamily="2" charset="-122"/>
              <a:ea typeface="华文新魏" pitchFamily="2" charset="-122"/>
            </a:endParaRPr>
          </a:p>
        </p:txBody>
      </p:sp>
      <p:cxnSp>
        <p:nvCxnSpPr>
          <p:cNvPr id="5" name="直接连接符 4"/>
          <p:cNvCxnSpPr/>
          <p:nvPr/>
        </p:nvCxnSpPr>
        <p:spPr>
          <a:xfrm>
            <a:off x="2051720" y="4365104"/>
            <a:ext cx="4176464" cy="0"/>
          </a:xfrm>
          <a:prstGeom prst="line">
            <a:avLst/>
          </a:prstGeom>
        </p:spPr>
        <p:style>
          <a:lnRef idx="1">
            <a:schemeClr val="dk1"/>
          </a:lnRef>
          <a:fillRef idx="0">
            <a:schemeClr val="dk1"/>
          </a:fillRef>
          <a:effectRef idx="0">
            <a:schemeClr val="dk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checkerboard(across)">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4"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408738"/>
            <a:ext cx="366712" cy="365125"/>
          </a:xfrm>
          <a:noFill/>
          <a:ln>
            <a:miter lim="800000"/>
            <a:headEnd/>
            <a:tailEnd/>
          </a:ln>
        </p:spPr>
        <p:txBody>
          <a:bodyPr/>
          <a:lstStyle/>
          <a:p>
            <a:fld id="{19B5CF85-BDD1-4515-8011-0F53550CA818}" type="slidenum">
              <a:rPr lang="zh-CN" altLang="en-US"/>
              <a:pPr/>
              <a:t>16</a:t>
            </a:fld>
            <a:endParaRPr lang="en-US" altLang="zh-CN"/>
          </a:p>
        </p:txBody>
      </p:sp>
      <p:sp>
        <p:nvSpPr>
          <p:cNvPr id="6" name="标题 1"/>
          <p:cNvSpPr>
            <a:spLocks noGrp="1"/>
          </p:cNvSpPr>
          <p:nvPr>
            <p:ph type="title"/>
          </p:nvPr>
        </p:nvSpPr>
        <p:spPr>
          <a:xfrm>
            <a:off x="457200" y="544143"/>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第五章</a:t>
            </a:r>
            <a:r>
              <a:rPr lang="en-US" dirty="0" smtClean="0">
                <a:latin typeface="华文新魏" pitchFamily="2" charset="-122"/>
                <a:ea typeface="华文新魏" pitchFamily="2" charset="-122"/>
              </a:rPr>
              <a:t>  </a:t>
            </a:r>
            <a:r>
              <a:rPr lang="zh-CN" altLang="en-US" dirty="0" smtClean="0">
                <a:latin typeface="华文新魏" pitchFamily="2" charset="-122"/>
                <a:ea typeface="华文新魏" pitchFamily="2" charset="-122"/>
              </a:rPr>
              <a:t>归纳逻辑</a:t>
            </a:r>
            <a:endParaRPr lang="zh-CN" altLang="en-US" dirty="0">
              <a:latin typeface="华文新魏" pitchFamily="2" charset="-122"/>
              <a:ea typeface="华文新魏" pitchFamily="2" charset="-122"/>
            </a:endParaRPr>
          </a:p>
        </p:txBody>
      </p:sp>
      <p:sp>
        <p:nvSpPr>
          <p:cNvPr id="12" name="TextBox 11"/>
          <p:cNvSpPr txBox="1"/>
          <p:nvPr/>
        </p:nvSpPr>
        <p:spPr>
          <a:xfrm>
            <a:off x="3995936" y="3009726"/>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排除归纳法</a:t>
            </a:r>
          </a:p>
        </p:txBody>
      </p:sp>
      <p:sp>
        <p:nvSpPr>
          <p:cNvPr id="13" name="TextBox 12"/>
          <p:cNvSpPr txBox="1"/>
          <p:nvPr/>
        </p:nvSpPr>
        <p:spPr>
          <a:xfrm>
            <a:off x="3995936" y="3903439"/>
            <a:ext cx="5112568" cy="461665"/>
          </a:xfrm>
          <a:prstGeom prst="rect">
            <a:avLst/>
          </a:prstGeom>
          <a:noFill/>
        </p:spPr>
        <p:txBody>
          <a:bodyPr wrap="square" rtlCol="0">
            <a:spAutoFit/>
          </a:bodyPr>
          <a:lstStyle/>
          <a:p>
            <a:r>
              <a:rPr lang="zh-CN" altLang="en-US" sz="2400" b="1" dirty="0" smtClean="0">
                <a:latin typeface="+mn-ea"/>
              </a:rPr>
              <a:t>类比推理</a:t>
            </a:r>
            <a:endParaRPr lang="zh-CN" altLang="en-US" sz="2400" b="1" dirty="0">
              <a:latin typeface="+mn-ea"/>
            </a:endParaRPr>
          </a:p>
        </p:txBody>
      </p:sp>
      <p:sp>
        <p:nvSpPr>
          <p:cNvPr id="14" name="TextBox 13"/>
          <p:cNvSpPr txBox="1"/>
          <p:nvPr/>
        </p:nvSpPr>
        <p:spPr>
          <a:xfrm>
            <a:off x="3995936" y="4767535"/>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假说演绎法</a:t>
            </a:r>
          </a:p>
        </p:txBody>
      </p:sp>
      <p:sp>
        <p:nvSpPr>
          <p:cNvPr id="16" name="TextBox 15"/>
          <p:cNvSpPr txBox="1"/>
          <p:nvPr/>
        </p:nvSpPr>
        <p:spPr>
          <a:xfrm>
            <a:off x="3995936" y="2175247"/>
            <a:ext cx="5112568" cy="461665"/>
          </a:xfrm>
          <a:prstGeom prst="rect">
            <a:avLst/>
          </a:prstGeom>
          <a:noFill/>
        </p:spPr>
        <p:txBody>
          <a:bodyPr wrap="square" rtlCol="0">
            <a:spAutoFit/>
          </a:bodyPr>
          <a:lstStyle/>
          <a:p>
            <a:r>
              <a:rPr lang="zh-CN" altLang="en-US" sz="2400" b="1" dirty="0">
                <a:solidFill>
                  <a:schemeClr val="bg1">
                    <a:lumMod val="85000"/>
                  </a:schemeClr>
                </a:solidFill>
              </a:rPr>
              <a:t>简单</a:t>
            </a:r>
            <a:r>
              <a:rPr lang="zh-CN" altLang="en-US" sz="2400" b="1" dirty="0" smtClean="0">
                <a:solidFill>
                  <a:schemeClr val="bg1">
                    <a:lumMod val="85000"/>
                  </a:schemeClr>
                </a:solidFill>
              </a:rPr>
              <a:t>枚举法</a:t>
            </a:r>
            <a:endParaRPr lang="zh-CN" altLang="en-US" sz="2400" b="1" dirty="0">
              <a:solidFill>
                <a:schemeClr val="bg1">
                  <a:lumMod val="85000"/>
                </a:schemeClr>
              </a:solidFill>
            </a:endParaRPr>
          </a:p>
        </p:txBody>
      </p:sp>
      <p:sp>
        <p:nvSpPr>
          <p:cNvPr id="15" name="禁止符 14"/>
          <p:cNvSpPr/>
          <p:nvPr/>
        </p:nvSpPr>
        <p:spPr>
          <a:xfrm>
            <a:off x="3131840" y="21328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7" name="禁止符 16"/>
          <p:cNvSpPr/>
          <p:nvPr/>
        </p:nvSpPr>
        <p:spPr>
          <a:xfrm>
            <a:off x="3131840" y="29969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8" name="禁止符 17"/>
          <p:cNvSpPr/>
          <p:nvPr/>
        </p:nvSpPr>
        <p:spPr>
          <a:xfrm>
            <a:off x="3131840" y="3933056"/>
            <a:ext cx="504056" cy="504056"/>
          </a:xfrm>
          <a:prstGeom prst="noSmoking">
            <a:avLst/>
          </a:prstGeom>
          <a:solidFill>
            <a:srgbClr val="FFFF00"/>
          </a:solidFill>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
        <p:nvSpPr>
          <p:cNvPr id="19" name="禁止符 18"/>
          <p:cNvSpPr/>
          <p:nvPr/>
        </p:nvSpPr>
        <p:spPr>
          <a:xfrm>
            <a:off x="3131840" y="47971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Tree>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类比推理</a:t>
            </a:r>
            <a:endParaRPr lang="zh-CN" altLang="en-US" dirty="0">
              <a:latin typeface="华文新魏" pitchFamily="2" charset="-122"/>
              <a:ea typeface="华文新魏" pitchFamily="2" charset="-122"/>
            </a:endParaRPr>
          </a:p>
        </p:txBody>
      </p:sp>
      <p:sp>
        <p:nvSpPr>
          <p:cNvPr id="4" name="内容占位符 2"/>
          <p:cNvSpPr>
            <a:spLocks noGrp="1"/>
          </p:cNvSpPr>
          <p:nvPr>
            <p:ph idx="1"/>
          </p:nvPr>
        </p:nvSpPr>
        <p:spPr>
          <a:xfrm>
            <a:off x="395536" y="1340769"/>
            <a:ext cx="7992888" cy="720079"/>
          </a:xfrm>
          <a:ln w="19050">
            <a:noFill/>
            <a:prstDash val="sysDot"/>
          </a:ln>
        </p:spPr>
        <p:style>
          <a:lnRef idx="2">
            <a:schemeClr val="accent5"/>
          </a:lnRef>
          <a:fillRef idx="1">
            <a:schemeClr val="lt1"/>
          </a:fillRef>
          <a:effectRef idx="0">
            <a:schemeClr val="accent5"/>
          </a:effectRef>
          <a:fontRef idx="minor">
            <a:schemeClr val="dk1"/>
          </a:fontRef>
        </p:style>
        <p:txBody>
          <a:bodyPr>
            <a:normAutofit/>
          </a:bodyPr>
          <a:lstStyle/>
          <a:p>
            <a:pPr>
              <a:buNone/>
            </a:pPr>
            <a:r>
              <a:rPr lang="zh-CN" altLang="en-US" sz="2000" dirty="0" smtClean="0">
                <a:latin typeface="楷体" pitchFamily="49" charset="-122"/>
                <a:ea typeface="楷体" pitchFamily="49" charset="-122"/>
                <a:cs typeface="Times New Roman" pitchFamily="18" charset="0"/>
              </a:rPr>
              <a:t>   根据两个或两类事物在一系列属性上相似，从而推出它们在另一个或另一些属性上也相似的</a:t>
            </a:r>
            <a:r>
              <a:rPr lang="zh-CN" altLang="en-US" sz="2000" dirty="0" smtClean="0">
                <a:latin typeface="楷体" pitchFamily="49" charset="-122"/>
                <a:ea typeface="楷体" pitchFamily="49" charset="-122"/>
                <a:cs typeface="Times New Roman" pitchFamily="18" charset="0"/>
              </a:rPr>
              <a:t>推理。</a:t>
            </a:r>
            <a:endParaRPr lang="zh-CN" altLang="en-US" sz="2000" dirty="0">
              <a:latin typeface="楷体" pitchFamily="49" charset="-122"/>
              <a:ea typeface="楷体" pitchFamily="49" charset="-122"/>
            </a:endParaRPr>
          </a:p>
        </p:txBody>
      </p:sp>
      <p:sp>
        <p:nvSpPr>
          <p:cNvPr id="5" name="TextBox 4"/>
          <p:cNvSpPr txBox="1"/>
          <p:nvPr/>
        </p:nvSpPr>
        <p:spPr>
          <a:xfrm>
            <a:off x="2627784" y="2060848"/>
            <a:ext cx="3888432" cy="1782026"/>
          </a:xfrm>
          <a:prstGeom prst="rect">
            <a:avLst/>
          </a:prstGeom>
          <a:noFill/>
        </p:spPr>
        <p:txBody>
          <a:bodyPr wrap="square" rtlCol="0">
            <a:spAutoFit/>
          </a:bodyPr>
          <a:lstStyle/>
          <a:p>
            <a:pPr>
              <a:lnSpc>
                <a:spcPct val="170000"/>
              </a:lnSpc>
            </a:pP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（类）对象具有属性</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a:t>
            </a:r>
          </a:p>
          <a:p>
            <a:pPr>
              <a:lnSpc>
                <a:spcPct val="170000"/>
              </a:lnSpc>
            </a:pP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（类）对象也具有属性</a:t>
            </a:r>
            <a:r>
              <a:rPr lang="en-US" altLang="zh-CN" dirty="0" smtClean="0">
                <a:latin typeface="华文新魏" pitchFamily="2" charset="-122"/>
                <a:ea typeface="华文新魏" pitchFamily="2" charset="-122"/>
                <a:cs typeface="Times New Roman" pitchFamily="18" charset="0"/>
              </a:rPr>
              <a:t>a</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a:t>
            </a:r>
            <a:r>
              <a:rPr lang="en-US" altLang="zh-CN" dirty="0" smtClean="0">
                <a:latin typeface="华文新魏" pitchFamily="2" charset="-122"/>
                <a:ea typeface="华文新魏" pitchFamily="2" charset="-122"/>
                <a:cs typeface="Times New Roman" pitchFamily="18" charset="0"/>
              </a:rPr>
              <a:t>c</a:t>
            </a:r>
            <a:r>
              <a:rPr lang="zh-CN" altLang="en-US" dirty="0" smtClean="0">
                <a:latin typeface="华文新魏" pitchFamily="2" charset="-122"/>
                <a:ea typeface="华文新魏" pitchFamily="2" charset="-122"/>
                <a:cs typeface="Times New Roman" pitchFamily="18" charset="0"/>
              </a:rPr>
              <a:t>，</a:t>
            </a:r>
          </a:p>
          <a:p>
            <a:pPr>
              <a:lnSpc>
                <a:spcPct val="170000"/>
              </a:lnSpc>
            </a:pPr>
            <a:r>
              <a:rPr lang="en-US" altLang="zh-CN" dirty="0" smtClean="0">
                <a:latin typeface="华文新魏" pitchFamily="2" charset="-122"/>
                <a:ea typeface="华文新魏" pitchFamily="2" charset="-122"/>
                <a:cs typeface="Times New Roman" pitchFamily="18" charset="0"/>
              </a:rPr>
              <a:t>B</a:t>
            </a:r>
            <a:r>
              <a:rPr lang="zh-CN" altLang="en-US" dirty="0" smtClean="0">
                <a:latin typeface="华文新魏" pitchFamily="2" charset="-122"/>
                <a:ea typeface="华文新魏" pitchFamily="2" charset="-122"/>
                <a:cs typeface="Times New Roman" pitchFamily="18" charset="0"/>
              </a:rPr>
              <a:t>（类）对象也具有属性</a:t>
            </a:r>
            <a:r>
              <a:rPr lang="en-US" altLang="zh-CN" dirty="0" smtClean="0">
                <a:latin typeface="华文新魏" pitchFamily="2" charset="-122"/>
                <a:ea typeface="华文新魏" pitchFamily="2" charset="-122"/>
                <a:cs typeface="Times New Roman" pitchFamily="18" charset="0"/>
              </a:rPr>
              <a:t>d</a:t>
            </a:r>
            <a:r>
              <a:rPr lang="zh-CN" altLang="en-US" dirty="0" smtClean="0">
                <a:latin typeface="华文新魏" pitchFamily="2" charset="-122"/>
                <a:ea typeface="华文新魏" pitchFamily="2" charset="-122"/>
                <a:cs typeface="Times New Roman" pitchFamily="18" charset="0"/>
              </a:rPr>
              <a:t>。</a:t>
            </a:r>
          </a:p>
          <a:p>
            <a:endParaRPr lang="zh-CN" altLang="en-US" dirty="0"/>
          </a:p>
        </p:txBody>
      </p:sp>
      <p:cxnSp>
        <p:nvCxnSpPr>
          <p:cNvPr id="6" name="直接连接符 5"/>
          <p:cNvCxnSpPr/>
          <p:nvPr/>
        </p:nvCxnSpPr>
        <p:spPr>
          <a:xfrm>
            <a:off x="2483768" y="3068960"/>
            <a:ext cx="3960440" cy="0"/>
          </a:xfrm>
          <a:prstGeom prst="line">
            <a:avLst/>
          </a:prstGeom>
        </p:spPr>
        <p:style>
          <a:lnRef idx="1">
            <a:schemeClr val="dk1"/>
          </a:lnRef>
          <a:fillRef idx="0">
            <a:schemeClr val="dk1"/>
          </a:fillRef>
          <a:effectRef idx="0">
            <a:schemeClr val="dk1"/>
          </a:effectRef>
          <a:fontRef idx="minor">
            <a:schemeClr val="tx1"/>
          </a:fontRef>
        </p:style>
      </p:cxnSp>
      <p:sp>
        <p:nvSpPr>
          <p:cNvPr id="7" name="TextBox 6"/>
          <p:cNvSpPr txBox="1"/>
          <p:nvPr/>
        </p:nvSpPr>
        <p:spPr>
          <a:xfrm>
            <a:off x="6228184" y="3574177"/>
            <a:ext cx="1656184" cy="430887"/>
          </a:xfrm>
          <a:prstGeom prst="rect">
            <a:avLst/>
          </a:prstGeom>
          <a:noFill/>
        </p:spPr>
        <p:txBody>
          <a:bodyPr wrap="square" rtlCol="0">
            <a:spAutoFit/>
          </a:bodyPr>
          <a:lstStyle/>
          <a:p>
            <a:r>
              <a:rPr lang="zh-CN" altLang="en-US" sz="2200" dirty="0">
                <a:solidFill>
                  <a:srgbClr val="C00000"/>
                </a:solidFill>
                <a:latin typeface="华文行楷" pitchFamily="2" charset="-122"/>
                <a:ea typeface="华文行楷" pitchFamily="2" charset="-122"/>
              </a:rPr>
              <a:t>或然性</a:t>
            </a:r>
            <a:r>
              <a:rPr lang="zh-CN" altLang="en-US" sz="2200" dirty="0" smtClean="0">
                <a:solidFill>
                  <a:srgbClr val="C00000"/>
                </a:solidFill>
                <a:latin typeface="华文行楷" pitchFamily="2" charset="-122"/>
                <a:ea typeface="华文行楷" pitchFamily="2" charset="-122"/>
              </a:rPr>
              <a:t>推理</a:t>
            </a:r>
            <a:endParaRPr lang="zh-CN" altLang="en-US" sz="2200" dirty="0">
              <a:solidFill>
                <a:srgbClr val="C00000"/>
              </a:solidFill>
              <a:latin typeface="华文行楷" pitchFamily="2" charset="-122"/>
              <a:ea typeface="华文行楷" pitchFamily="2" charset="-122"/>
            </a:endParaRPr>
          </a:p>
        </p:txBody>
      </p:sp>
      <p:sp>
        <p:nvSpPr>
          <p:cNvPr id="8" name="TextBox 7"/>
          <p:cNvSpPr txBox="1"/>
          <p:nvPr/>
        </p:nvSpPr>
        <p:spPr>
          <a:xfrm>
            <a:off x="899592" y="3861048"/>
            <a:ext cx="2232248" cy="400110"/>
          </a:xfrm>
          <a:prstGeom prst="rect">
            <a:avLst/>
          </a:prstGeom>
          <a:noFill/>
        </p:spPr>
        <p:txBody>
          <a:bodyPr wrap="square" rtlCol="0">
            <a:spAutoFit/>
          </a:bodyPr>
          <a:lstStyle/>
          <a:p>
            <a:r>
              <a:rPr lang="zh-CN" altLang="en-US" sz="2000" u="sng" dirty="0" smtClean="0">
                <a:solidFill>
                  <a:srgbClr val="00B050"/>
                </a:solidFill>
                <a:latin typeface="华文行楷" pitchFamily="2" charset="-122"/>
                <a:ea typeface="华文行楷" pitchFamily="2" charset="-122"/>
              </a:rPr>
              <a:t>可靠性程度取决于：</a:t>
            </a:r>
            <a:endParaRPr lang="zh-CN" altLang="en-US" sz="2000" u="sng" dirty="0">
              <a:solidFill>
                <a:srgbClr val="00B050"/>
              </a:solidFill>
              <a:latin typeface="华文行楷" pitchFamily="2" charset="-122"/>
              <a:ea typeface="华文行楷" pitchFamily="2" charset="-122"/>
            </a:endParaRPr>
          </a:p>
        </p:txBody>
      </p:sp>
      <p:sp>
        <p:nvSpPr>
          <p:cNvPr id="9" name="TextBox 8"/>
          <p:cNvSpPr txBox="1"/>
          <p:nvPr/>
        </p:nvSpPr>
        <p:spPr>
          <a:xfrm>
            <a:off x="2195736" y="4365104"/>
            <a:ext cx="2016224" cy="400110"/>
          </a:xfrm>
          <a:prstGeom prst="rect">
            <a:avLst/>
          </a:prstGeom>
          <a:noFill/>
          <a:ln w="19050">
            <a:solidFill>
              <a:schemeClr val="tx1"/>
            </a:solidFill>
            <a:prstDash val="sysDot"/>
          </a:ln>
        </p:spPr>
        <p:txBody>
          <a:bodyPr wrap="square" rtlCol="0">
            <a:spAutoFit/>
          </a:bodyPr>
          <a:lstStyle/>
          <a:p>
            <a:r>
              <a:rPr lang="zh-CN" altLang="en-US" sz="2000" dirty="0" smtClean="0">
                <a:latin typeface="华文新魏" pitchFamily="2" charset="-122"/>
                <a:ea typeface="华文新魏" pitchFamily="2" charset="-122"/>
                <a:cs typeface="Times New Roman" pitchFamily="18" charset="0"/>
              </a:rPr>
              <a:t>相似属性的数量</a:t>
            </a:r>
            <a:endParaRPr lang="zh-CN" altLang="en-US" sz="2000" dirty="0">
              <a:latin typeface="华文新魏" pitchFamily="2" charset="-122"/>
              <a:ea typeface="华文新魏" pitchFamily="2" charset="-122"/>
            </a:endParaRPr>
          </a:p>
        </p:txBody>
      </p:sp>
      <p:sp>
        <p:nvSpPr>
          <p:cNvPr id="10" name="TextBox 9"/>
          <p:cNvSpPr txBox="1"/>
          <p:nvPr/>
        </p:nvSpPr>
        <p:spPr>
          <a:xfrm>
            <a:off x="2195736" y="4941168"/>
            <a:ext cx="2232248" cy="400110"/>
          </a:xfrm>
          <a:prstGeom prst="rect">
            <a:avLst/>
          </a:prstGeom>
          <a:noFill/>
          <a:ln w="19050">
            <a:solidFill>
              <a:schemeClr val="tx1"/>
            </a:solidFill>
            <a:prstDash val="sysDot"/>
          </a:ln>
        </p:spPr>
        <p:txBody>
          <a:bodyPr wrap="square" rtlCol="0">
            <a:spAutoFit/>
          </a:bodyPr>
          <a:lstStyle/>
          <a:p>
            <a:r>
              <a:rPr lang="zh-CN" altLang="en-US" sz="2000" dirty="0" smtClean="0">
                <a:latin typeface="华文新魏" pitchFamily="2" charset="-122"/>
                <a:ea typeface="华文新魏" pitchFamily="2" charset="-122"/>
                <a:cs typeface="Times New Roman" pitchFamily="18" charset="0"/>
              </a:rPr>
              <a:t>相似方面的相关性</a:t>
            </a:r>
            <a:endParaRPr lang="zh-CN" altLang="en-US" sz="2000" dirty="0">
              <a:latin typeface="华文新魏" pitchFamily="2" charset="-122"/>
              <a:ea typeface="华文新魏" pitchFamily="2" charset="-122"/>
            </a:endParaRPr>
          </a:p>
        </p:txBody>
      </p:sp>
      <p:sp>
        <p:nvSpPr>
          <p:cNvPr id="11" name="TextBox 10"/>
          <p:cNvSpPr txBox="1"/>
          <p:nvPr/>
        </p:nvSpPr>
        <p:spPr>
          <a:xfrm>
            <a:off x="2195736" y="5549170"/>
            <a:ext cx="2520280" cy="400110"/>
          </a:xfrm>
          <a:prstGeom prst="rect">
            <a:avLst/>
          </a:prstGeom>
          <a:noFill/>
          <a:ln w="19050">
            <a:solidFill>
              <a:schemeClr val="tx1"/>
            </a:solidFill>
            <a:prstDash val="sysDot"/>
          </a:ln>
        </p:spPr>
        <p:txBody>
          <a:bodyPr wrap="square" rtlCol="0">
            <a:spAutoFit/>
          </a:bodyPr>
          <a:lstStyle/>
          <a:p>
            <a:r>
              <a:rPr lang="zh-CN" altLang="en-US" sz="2000" dirty="0" smtClean="0">
                <a:latin typeface="华文新魏" pitchFamily="2" charset="-122"/>
                <a:ea typeface="华文新魏" pitchFamily="2" charset="-122"/>
                <a:cs typeface="Times New Roman" pitchFamily="18" charset="0"/>
              </a:rPr>
              <a:t>不相似方面的相关性</a:t>
            </a:r>
            <a:endParaRPr lang="zh-CN" altLang="en-US" sz="2000" dirty="0">
              <a:latin typeface="华文新魏" pitchFamily="2" charset="-122"/>
              <a:ea typeface="华文新魏" pitchFamily="2" charset="-122"/>
            </a:endParaRPr>
          </a:p>
        </p:txBody>
      </p:sp>
      <p:sp>
        <p:nvSpPr>
          <p:cNvPr id="12" name="TextBox 11"/>
          <p:cNvSpPr txBox="1"/>
          <p:nvPr/>
        </p:nvSpPr>
        <p:spPr>
          <a:xfrm>
            <a:off x="5292080" y="4941168"/>
            <a:ext cx="3312368" cy="430887"/>
          </a:xfrm>
          <a:prstGeom prst="rect">
            <a:avLst/>
          </a:prstGeom>
          <a:noFill/>
        </p:spPr>
        <p:txBody>
          <a:bodyPr wrap="square" rtlCol="0">
            <a:spAutoFit/>
          </a:bodyPr>
          <a:lstStyle/>
          <a:p>
            <a:r>
              <a:rPr lang="zh-CN" altLang="en-US" sz="2200" dirty="0" smtClean="0">
                <a:solidFill>
                  <a:srgbClr val="7030A0"/>
                </a:solidFill>
                <a:latin typeface="华文行楷" pitchFamily="2" charset="-122"/>
                <a:ea typeface="华文行楷" pitchFamily="2" charset="-122"/>
              </a:rPr>
              <a:t>以其人之道还治其人之身</a:t>
            </a:r>
            <a:endParaRPr lang="zh-CN" altLang="en-US" sz="2200" dirty="0">
              <a:solidFill>
                <a:srgbClr val="7030A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4">
                                            <p:bg/>
                                          </p:spTgt>
                                        </p:tgtEl>
                                        <p:attrNameLst>
                                          <p:attrName>style.visibility</p:attrName>
                                        </p:attrNameLst>
                                      </p:cBhvr>
                                      <p:to>
                                        <p:strVal val="visible"/>
                                      </p:to>
                                    </p:set>
                                    <p:animEffect transition="in" filter="blinds(horizontal)">
                                      <p:cBhvr>
                                        <p:cTn id="7" dur="500"/>
                                        <p:tgtEl>
                                          <p:spTgt spid="4">
                                            <p:bg/>
                                          </p:spTgt>
                                        </p:tgtEl>
                                      </p:cBhvr>
                                    </p:animEffect>
                                  </p:childTnLst>
                                </p:cTn>
                              </p:par>
                              <p:par>
                                <p:cTn id="8" presetID="3" presetClass="entr" presetSubtype="10" fill="hold" grpId="0" nodeType="withEffect">
                                  <p:stCondLst>
                                    <p:cond delay="0"/>
                                  </p:stCondLst>
                                  <p:childTnLst>
                                    <p:set>
                                      <p:cBhvr>
                                        <p:cTn id="9" dur="1" fill="hold">
                                          <p:stCondLst>
                                            <p:cond delay="0"/>
                                          </p:stCondLst>
                                        </p:cTn>
                                        <p:tgtEl>
                                          <p:spTgt spid="4">
                                            <p:txEl>
                                              <p:pRg st="0" end="0"/>
                                            </p:txEl>
                                          </p:spTgt>
                                        </p:tgtEl>
                                        <p:attrNameLst>
                                          <p:attrName>style.visibility</p:attrName>
                                        </p:attrNameLst>
                                      </p:cBhvr>
                                      <p:to>
                                        <p:strVal val="visible"/>
                                      </p:to>
                                    </p:set>
                                    <p:animEffect transition="in" filter="blinds(horizontal)">
                                      <p:cBhvr>
                                        <p:cTn id="10" dur="500"/>
                                        <p:tgtEl>
                                          <p:spTgt spid="4">
                                            <p:txEl>
                                              <p:pRg st="0" end="0"/>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par>
                                <p:cTn id="16" presetID="4" presetClass="entr" presetSubtype="16" fill="hold"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9" presetClass="entr" presetSubtype="0" fill="hold" grpId="0" nodeType="clickEffect">
                                  <p:stCondLst>
                                    <p:cond delay="0"/>
                                  </p:stCondLst>
                                  <p:childTnLst>
                                    <p:set>
                                      <p:cBhvr>
                                        <p:cTn id="22" dur="1" fill="hold">
                                          <p:stCondLst>
                                            <p:cond delay="0"/>
                                          </p:stCondLst>
                                        </p:cTn>
                                        <p:tgtEl>
                                          <p:spTgt spid="7"/>
                                        </p:tgtEl>
                                        <p:attrNameLst>
                                          <p:attrName>style.visibility</p:attrName>
                                        </p:attrNameLst>
                                      </p:cBhvr>
                                      <p:to>
                                        <p:strVal val="visible"/>
                                      </p:to>
                                    </p:set>
                                    <p:animEffect transition="in" filter="dissolve">
                                      <p:cBhvr>
                                        <p:cTn id="23" dur="500"/>
                                        <p:tgtEl>
                                          <p:spTgt spid="7"/>
                                        </p:tgtEl>
                                      </p:cBhvr>
                                    </p:animEffect>
                                  </p:childTnLst>
                                </p:cTn>
                              </p:par>
                            </p:childTnLst>
                          </p:cTn>
                        </p:par>
                      </p:childTnLst>
                    </p:cTn>
                  </p:par>
                  <p:par>
                    <p:cTn id="24" fill="hold">
                      <p:stCondLst>
                        <p:cond delay="indefinite"/>
                      </p:stCondLst>
                      <p:childTnLst>
                        <p:par>
                          <p:cTn id="25" fill="hold">
                            <p:stCondLst>
                              <p:cond delay="0"/>
                            </p:stCondLst>
                            <p:childTnLst>
                              <p:par>
                                <p:cTn id="26" presetID="4" presetClass="entr" presetSubtype="16" fill="hold" grpId="0" nodeType="clickEffect">
                                  <p:stCondLst>
                                    <p:cond delay="0"/>
                                  </p:stCondLst>
                                  <p:childTnLst>
                                    <p:set>
                                      <p:cBhvr>
                                        <p:cTn id="27" dur="1" fill="hold">
                                          <p:stCondLst>
                                            <p:cond delay="0"/>
                                          </p:stCondLst>
                                        </p:cTn>
                                        <p:tgtEl>
                                          <p:spTgt spid="8"/>
                                        </p:tgtEl>
                                        <p:attrNameLst>
                                          <p:attrName>style.visibility</p:attrName>
                                        </p:attrNameLst>
                                      </p:cBhvr>
                                      <p:to>
                                        <p:strVal val="visible"/>
                                      </p:to>
                                    </p:set>
                                    <p:animEffect transition="in" filter="box(in)">
                                      <p:cBhvr>
                                        <p:cTn id="28" dur="500"/>
                                        <p:tgtEl>
                                          <p:spTgt spid="8"/>
                                        </p:tgtEl>
                                      </p:cBhvr>
                                    </p:animEffec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9"/>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childTnLst>
                                </p:cTn>
                              </p:par>
                            </p:childTnLst>
                          </p:cTn>
                        </p:par>
                      </p:childTnLst>
                    </p:cTn>
                  </p:par>
                  <p:par>
                    <p:cTn id="37" fill="hold">
                      <p:stCondLst>
                        <p:cond delay="indefinite"/>
                      </p:stCondLst>
                      <p:childTnLst>
                        <p:par>
                          <p:cTn id="38" fill="hold">
                            <p:stCondLst>
                              <p:cond delay="0"/>
                            </p:stCondLst>
                            <p:childTnLst>
                              <p:par>
                                <p:cTn id="39" presetID="1" presetClass="entr" presetSubtype="0" fill="hold" grpId="0" nodeType="clickEffect">
                                  <p:stCondLst>
                                    <p:cond delay="0"/>
                                  </p:stCondLst>
                                  <p:childTnLst>
                                    <p:set>
                                      <p:cBhvr>
                                        <p:cTn id="40" dur="1" fill="hold">
                                          <p:stCondLst>
                                            <p:cond delay="0"/>
                                          </p:stCondLst>
                                        </p:cTn>
                                        <p:tgtEl>
                                          <p:spTgt spid="11"/>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9" presetClass="entr" presetSubtype="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dissolve">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animBg="1"/>
      <p:bldP spid="5" grpId="0"/>
      <p:bldP spid="7" grpId="0"/>
      <p:bldP spid="8" grpId="0"/>
      <p:bldP spid="9" grpId="0" animBg="1"/>
      <p:bldP spid="10" grpId="0" animBg="1"/>
      <p:bldP spid="11" grpId="0" animBg="1"/>
      <p:bldP spid="12"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模拟方法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395536" y="1340768"/>
            <a:ext cx="8229600" cy="1324744"/>
          </a:xfrm>
        </p:spPr>
        <p:txBody>
          <a:bodyPr>
            <a:normAutofit/>
          </a:bodyPr>
          <a:lstStyle/>
          <a:p>
            <a:pPr>
              <a:buNone/>
            </a:pPr>
            <a:r>
              <a:rPr lang="zh-CN" altLang="en-US" sz="2400" dirty="0" smtClean="0">
                <a:latin typeface="楷体" pitchFamily="49" charset="-122"/>
                <a:ea typeface="楷体" pitchFamily="49" charset="-122"/>
                <a:cs typeface="Times New Roman" pitchFamily="18" charset="0"/>
              </a:rPr>
              <a:t>  在实验室中模拟在自然界中出现的某些现象或过程，构造出相应的模型，从模型中探讨其规律，然后再把经反复实验检验的模型加以放大，成为真实的自然现象或人造物</a:t>
            </a:r>
            <a:endParaRPr lang="zh-CN" altLang="en-US" sz="2400" dirty="0">
              <a:latin typeface="楷体" pitchFamily="49" charset="-122"/>
              <a:ea typeface="楷体" pitchFamily="49" charset="-122"/>
            </a:endParaRPr>
          </a:p>
        </p:txBody>
      </p:sp>
      <p:sp>
        <p:nvSpPr>
          <p:cNvPr id="4" name="TextBox 3"/>
          <p:cNvSpPr txBox="1"/>
          <p:nvPr/>
        </p:nvSpPr>
        <p:spPr>
          <a:xfrm>
            <a:off x="2627784" y="2852936"/>
            <a:ext cx="3960440" cy="1754326"/>
          </a:xfrm>
          <a:prstGeom prst="rect">
            <a:avLst/>
          </a:prstGeom>
          <a:noFill/>
        </p:spPr>
        <p:txBody>
          <a:bodyPr wrap="square" rtlCol="0">
            <a:spAutoFit/>
          </a:bodyPr>
          <a:lstStyle/>
          <a:p>
            <a:pPr>
              <a:lnSpc>
                <a:spcPct val="150000"/>
              </a:lnSpc>
            </a:pPr>
            <a:r>
              <a:rPr lang="zh-CN" altLang="en-US" sz="2000" dirty="0" smtClean="0">
                <a:latin typeface="华文新魏" pitchFamily="2" charset="-122"/>
                <a:ea typeface="华文新魏" pitchFamily="2" charset="-122"/>
                <a:cs typeface="Times New Roman" pitchFamily="18" charset="0"/>
              </a:rPr>
              <a:t>实验模型具有性质</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b</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c</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d</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e</a:t>
            </a:r>
            <a:r>
              <a:rPr lang="zh-CN" altLang="en-US" sz="2000" dirty="0" smtClean="0">
                <a:latin typeface="华文新魏" pitchFamily="2" charset="-122"/>
                <a:ea typeface="华文新魏" pitchFamily="2" charset="-122"/>
                <a:cs typeface="Times New Roman" pitchFamily="18" charset="0"/>
              </a:rPr>
              <a:t>，</a:t>
            </a:r>
          </a:p>
          <a:p>
            <a:pPr>
              <a:lnSpc>
                <a:spcPct val="150000"/>
              </a:lnSpc>
            </a:pPr>
            <a:r>
              <a:rPr lang="zh-CN" altLang="en-US" sz="2000" dirty="0" smtClean="0">
                <a:latin typeface="华文新魏" pitchFamily="2" charset="-122"/>
                <a:ea typeface="华文新魏" pitchFamily="2" charset="-122"/>
                <a:cs typeface="Times New Roman" pitchFamily="18" charset="0"/>
              </a:rPr>
              <a:t>研制原型具有性质</a:t>
            </a:r>
            <a:r>
              <a:rPr lang="en-US" altLang="zh-CN" sz="2000" dirty="0" smtClean="0">
                <a:latin typeface="华文新魏" pitchFamily="2" charset="-122"/>
                <a:ea typeface="华文新魏" pitchFamily="2" charset="-122"/>
                <a:cs typeface="Times New Roman" pitchFamily="18" charset="0"/>
              </a:rPr>
              <a:t>a</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b</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c</a:t>
            </a:r>
            <a:r>
              <a:rPr lang="zh-CN" altLang="en-US" sz="2000" dirty="0" smtClean="0">
                <a:latin typeface="华文新魏" pitchFamily="2" charset="-122"/>
                <a:ea typeface="华文新魏" pitchFamily="2" charset="-122"/>
                <a:cs typeface="Times New Roman" pitchFamily="18" charset="0"/>
              </a:rPr>
              <a:t>、</a:t>
            </a:r>
            <a:r>
              <a:rPr lang="en-US" altLang="zh-CN" sz="2000" dirty="0" smtClean="0">
                <a:latin typeface="华文新魏" pitchFamily="2" charset="-122"/>
                <a:ea typeface="华文新魏" pitchFamily="2" charset="-122"/>
                <a:cs typeface="Times New Roman" pitchFamily="18" charset="0"/>
              </a:rPr>
              <a:t>d</a:t>
            </a:r>
            <a:r>
              <a:rPr lang="zh-CN" altLang="en-US" sz="2000" dirty="0" smtClean="0">
                <a:latin typeface="华文新魏" pitchFamily="2" charset="-122"/>
                <a:ea typeface="华文新魏" pitchFamily="2" charset="-122"/>
                <a:cs typeface="Times New Roman" pitchFamily="18" charset="0"/>
              </a:rPr>
              <a:t>，</a:t>
            </a:r>
          </a:p>
          <a:p>
            <a:pPr>
              <a:lnSpc>
                <a:spcPct val="150000"/>
              </a:lnSpc>
            </a:pPr>
            <a:r>
              <a:rPr lang="zh-CN" altLang="en-US" sz="2000" dirty="0" smtClean="0">
                <a:latin typeface="华文新魏" pitchFamily="2" charset="-122"/>
                <a:ea typeface="华文新魏" pitchFamily="2" charset="-122"/>
                <a:cs typeface="Times New Roman" pitchFamily="18" charset="0"/>
              </a:rPr>
              <a:t>所以，研制原型也具有性质</a:t>
            </a:r>
            <a:r>
              <a:rPr lang="en-US" altLang="zh-CN" sz="2000" dirty="0" smtClean="0">
                <a:latin typeface="华文新魏" pitchFamily="2" charset="-122"/>
                <a:ea typeface="华文新魏" pitchFamily="2" charset="-122"/>
                <a:cs typeface="Times New Roman" pitchFamily="18" charset="0"/>
              </a:rPr>
              <a:t>e</a:t>
            </a:r>
            <a:r>
              <a:rPr lang="zh-CN" altLang="en-US" sz="2000" dirty="0" smtClean="0">
                <a:latin typeface="华文新魏" pitchFamily="2" charset="-122"/>
                <a:ea typeface="华文新魏" pitchFamily="2" charset="-122"/>
                <a:cs typeface="Times New Roman" pitchFamily="18" charset="0"/>
              </a:rPr>
              <a:t>。</a:t>
            </a:r>
          </a:p>
          <a:p>
            <a:endParaRPr lang="zh-CN" altLang="en-US" dirty="0"/>
          </a:p>
        </p:txBody>
      </p:sp>
      <p:cxnSp>
        <p:nvCxnSpPr>
          <p:cNvPr id="5" name="直接连接符 4"/>
          <p:cNvCxnSpPr/>
          <p:nvPr/>
        </p:nvCxnSpPr>
        <p:spPr>
          <a:xfrm>
            <a:off x="2411760" y="3861048"/>
            <a:ext cx="4320480" cy="0"/>
          </a:xfrm>
          <a:prstGeom prst="line">
            <a:avLst/>
          </a:prstGeom>
        </p:spPr>
        <p:style>
          <a:lnRef idx="1">
            <a:schemeClr val="dk1"/>
          </a:lnRef>
          <a:fillRef idx="0">
            <a:schemeClr val="dk1"/>
          </a:fillRef>
          <a:effectRef idx="0">
            <a:schemeClr val="dk1"/>
          </a:effectRef>
          <a:fontRef idx="minor">
            <a:schemeClr val="tx1"/>
          </a:fontRef>
        </p:style>
      </p:cxnSp>
      <p:grpSp>
        <p:nvGrpSpPr>
          <p:cNvPr id="9" name="组合 8"/>
          <p:cNvGrpSpPr/>
          <p:nvPr/>
        </p:nvGrpSpPr>
        <p:grpSpPr>
          <a:xfrm>
            <a:off x="3203848" y="4869160"/>
            <a:ext cx="2808312" cy="864096"/>
            <a:chOff x="1979712" y="5445224"/>
            <a:chExt cx="2808312" cy="864096"/>
          </a:xfrm>
        </p:grpSpPr>
        <p:sp>
          <p:nvSpPr>
            <p:cNvPr id="8" name="横卷形 7"/>
            <p:cNvSpPr/>
            <p:nvPr/>
          </p:nvSpPr>
          <p:spPr>
            <a:xfrm>
              <a:off x="1979712" y="5445224"/>
              <a:ext cx="2736304" cy="864096"/>
            </a:xfrm>
            <a:prstGeom prst="horizontalScroll">
              <a:avLst/>
            </a:prstGeom>
          </p:spPr>
          <p:style>
            <a:lnRef idx="3">
              <a:schemeClr val="lt1"/>
            </a:lnRef>
            <a:fillRef idx="1">
              <a:schemeClr val="accent2"/>
            </a:fillRef>
            <a:effectRef idx="1">
              <a:schemeClr val="accent2"/>
            </a:effectRef>
            <a:fontRef idx="minor">
              <a:schemeClr val="lt1"/>
            </a:fontRef>
          </p:style>
          <p:txBody>
            <a:bodyPr rtlCol="0" anchor="ctr"/>
            <a:lstStyle/>
            <a:p>
              <a:pPr algn="ctr"/>
              <a:endParaRPr lang="zh-CN" altLang="en-US"/>
            </a:p>
          </p:txBody>
        </p:sp>
        <p:sp>
          <p:nvSpPr>
            <p:cNvPr id="7" name="TextBox 6"/>
            <p:cNvSpPr txBox="1"/>
            <p:nvPr/>
          </p:nvSpPr>
          <p:spPr>
            <a:xfrm>
              <a:off x="2123728" y="5661248"/>
              <a:ext cx="2664296" cy="430887"/>
            </a:xfrm>
            <a:prstGeom prst="rect">
              <a:avLst/>
            </a:prstGeom>
            <a:noFill/>
          </p:spPr>
          <p:txBody>
            <a:bodyPr wrap="square" rtlCol="0">
              <a:spAutoFit/>
            </a:bodyPr>
            <a:lstStyle/>
            <a:p>
              <a:r>
                <a:rPr lang="zh-CN" altLang="en-US" sz="2200" dirty="0" smtClean="0">
                  <a:solidFill>
                    <a:schemeClr val="bg1"/>
                  </a:solidFill>
                  <a:latin typeface="华文行楷" pitchFamily="2" charset="-122"/>
                  <a:ea typeface="华文行楷" pitchFamily="2" charset="-122"/>
                </a:rPr>
                <a:t>现代科学中的应用</a:t>
              </a:r>
              <a:endParaRPr lang="zh-CN" altLang="en-US" sz="2200" dirty="0">
                <a:solidFill>
                  <a:schemeClr val="bg1"/>
                </a:solidFill>
                <a:latin typeface="华文行楷" pitchFamily="2" charset="-122"/>
                <a:ea typeface="华文行楷"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2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 calcmode="lin" valueType="num">
                                      <p:cBhvr>
                                        <p:cTn id="12" dur="500" fill="hold"/>
                                        <p:tgtEl>
                                          <p:spTgt spid="4"/>
                                        </p:tgtEl>
                                        <p:attrNameLst>
                                          <p:attrName>ppt_x</p:attrName>
                                        </p:attrNameLst>
                                      </p:cBhvr>
                                      <p:tavLst>
                                        <p:tav tm="0">
                                          <p:val>
                                            <p:strVal val="#ppt_x-.2"/>
                                          </p:val>
                                        </p:tav>
                                        <p:tav tm="100000">
                                          <p:val>
                                            <p:strVal val="#ppt_x"/>
                                          </p:val>
                                        </p:tav>
                                      </p:tavLst>
                                    </p:anim>
                                    <p:anim calcmode="lin" valueType="num">
                                      <p:cBhvr>
                                        <p:cTn id="13" dur="500" fill="hold"/>
                                        <p:tgtEl>
                                          <p:spTgt spid="4"/>
                                        </p:tgtEl>
                                        <p:attrNameLst>
                                          <p:attrName>ppt_y</p:attrName>
                                        </p:attrNameLst>
                                      </p:cBhvr>
                                      <p:tavLst>
                                        <p:tav tm="0">
                                          <p:val>
                                            <p:strVal val="#ppt_y"/>
                                          </p:val>
                                        </p:tav>
                                        <p:tav tm="100000">
                                          <p:val>
                                            <p:strVal val="#ppt_y"/>
                                          </p:val>
                                        </p:tav>
                                      </p:tavLst>
                                    </p:anim>
                                    <p:animEffect transition="in" filter="wipe(right)" prLst="gradientSize: 0.1">
                                      <p:cBhvr>
                                        <p:cTn id="14" dur="500"/>
                                        <p:tgtEl>
                                          <p:spTgt spid="4"/>
                                        </p:tgtEl>
                                      </p:cBhvr>
                                    </p:animEffect>
                                  </p:childTnLst>
                                </p:cTn>
                              </p:par>
                              <p:par>
                                <p:cTn id="15" presetID="4" presetClass="entr" presetSubtype="16" fill="hold" nodeType="with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ox(in)">
                                      <p:cBhvr>
                                        <p:cTn id="17" dur="500"/>
                                        <p:tgtEl>
                                          <p:spTgt spid="5"/>
                                        </p:tgtEl>
                                      </p:cBhvr>
                                    </p:animEffect>
                                  </p:childTnLst>
                                </p:cTn>
                              </p:par>
                            </p:childTnLst>
                          </p:cTn>
                        </p:par>
                      </p:childTnLst>
                    </p:cTn>
                  </p:par>
                  <p:par>
                    <p:cTn id="18" fill="hold">
                      <p:stCondLst>
                        <p:cond delay="indefinite"/>
                      </p:stCondLst>
                      <p:childTnLst>
                        <p:par>
                          <p:cTn id="19" fill="hold">
                            <p:stCondLst>
                              <p:cond delay="0"/>
                            </p:stCondLst>
                            <p:childTnLst>
                              <p:par>
                                <p:cTn id="20" presetID="55" presetClass="entr" presetSubtype="0"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 calcmode="lin" valueType="num">
                                      <p:cBhvr>
                                        <p:cTn id="22" dur="500" fill="hold"/>
                                        <p:tgtEl>
                                          <p:spTgt spid="9"/>
                                        </p:tgtEl>
                                        <p:attrNameLst>
                                          <p:attrName>ppt_w</p:attrName>
                                        </p:attrNameLst>
                                      </p:cBhvr>
                                      <p:tavLst>
                                        <p:tav tm="0">
                                          <p:val>
                                            <p:strVal val="#ppt_w*0.70"/>
                                          </p:val>
                                        </p:tav>
                                        <p:tav tm="100000">
                                          <p:val>
                                            <p:strVal val="#ppt_w"/>
                                          </p:val>
                                        </p:tav>
                                      </p:tavLst>
                                    </p:anim>
                                    <p:anim calcmode="lin" valueType="num">
                                      <p:cBhvr>
                                        <p:cTn id="23" dur="500" fill="hold"/>
                                        <p:tgtEl>
                                          <p:spTgt spid="9"/>
                                        </p:tgtEl>
                                        <p:attrNameLst>
                                          <p:attrName>ppt_h</p:attrName>
                                        </p:attrNameLst>
                                      </p:cBhvr>
                                      <p:tavLst>
                                        <p:tav tm="0">
                                          <p:val>
                                            <p:strVal val="#ppt_h"/>
                                          </p:val>
                                        </p:tav>
                                        <p:tav tm="100000">
                                          <p:val>
                                            <p:strVal val="#ppt_h"/>
                                          </p:val>
                                        </p:tav>
                                      </p:tavLst>
                                    </p:anim>
                                    <p:animEffect transition="in" filter="fade">
                                      <p:cBhvr>
                                        <p:cTn id="2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比较方法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457200" y="1340768"/>
            <a:ext cx="8229600" cy="1252736"/>
          </a:xfrm>
        </p:spPr>
        <p:txBody>
          <a:bodyPr/>
          <a:lstStyle/>
          <a:p>
            <a:pPr marL="342900" lvl="1" indent="-342900">
              <a:buNone/>
            </a:pPr>
            <a:r>
              <a:rPr lang="zh-CN" altLang="en-US" sz="2400" dirty="0" smtClean="0">
                <a:latin typeface="楷体" pitchFamily="49" charset="-122"/>
                <a:ea typeface="楷体" pitchFamily="49" charset="-122"/>
                <a:cs typeface="Times New Roman" pitchFamily="18" charset="0"/>
              </a:rPr>
              <a:t>  确定事物之间相同点和相异点的思维方法。通过比较，既可以认识具体事物之间的相似，也可以了解具体事物之间的差异，从而为进一步的科学分类提供基础。</a:t>
            </a:r>
          </a:p>
          <a:p>
            <a:pPr>
              <a:buNone/>
            </a:pPr>
            <a:endParaRPr lang="zh-CN" altLang="en-US" dirty="0"/>
          </a:p>
        </p:txBody>
      </p:sp>
      <p:sp>
        <p:nvSpPr>
          <p:cNvPr id="4" name="TextBox 3"/>
          <p:cNvSpPr txBox="1"/>
          <p:nvPr/>
        </p:nvSpPr>
        <p:spPr>
          <a:xfrm>
            <a:off x="899592" y="2708920"/>
            <a:ext cx="2232248" cy="400110"/>
          </a:xfrm>
          <a:prstGeom prst="rect">
            <a:avLst/>
          </a:prstGeom>
          <a:noFill/>
        </p:spPr>
        <p:txBody>
          <a:bodyPr wrap="square" rtlCol="0">
            <a:spAutoFit/>
          </a:bodyPr>
          <a:lstStyle/>
          <a:p>
            <a:r>
              <a:rPr lang="zh-CN" altLang="en-US" sz="2000" u="sng" dirty="0" smtClean="0">
                <a:solidFill>
                  <a:srgbClr val="00B050"/>
                </a:solidFill>
                <a:latin typeface="华文行楷" pitchFamily="2" charset="-122"/>
                <a:ea typeface="华文行楷" pitchFamily="2" charset="-122"/>
              </a:rPr>
              <a:t>主要类型：</a:t>
            </a:r>
            <a:endParaRPr lang="zh-CN" altLang="en-US" sz="2000" u="sng" dirty="0">
              <a:solidFill>
                <a:srgbClr val="00B050"/>
              </a:solidFill>
              <a:latin typeface="华文行楷" pitchFamily="2" charset="-122"/>
              <a:ea typeface="华文行楷" pitchFamily="2" charset="-122"/>
            </a:endParaRPr>
          </a:p>
        </p:txBody>
      </p:sp>
      <p:sp>
        <p:nvSpPr>
          <p:cNvPr id="5" name="TextBox 4"/>
          <p:cNvSpPr txBox="1"/>
          <p:nvPr/>
        </p:nvSpPr>
        <p:spPr>
          <a:xfrm>
            <a:off x="2195736" y="3212976"/>
            <a:ext cx="2520280" cy="400110"/>
          </a:xfrm>
          <a:prstGeom prst="rect">
            <a:avLst/>
          </a:prstGeom>
          <a:noFill/>
          <a:ln w="19050">
            <a:solidFill>
              <a:schemeClr val="tx1"/>
            </a:solidFill>
            <a:prstDash val="sysDot"/>
          </a:ln>
        </p:spPr>
        <p:txBody>
          <a:bodyPr wrap="square" rtlCol="0">
            <a:spAutoFit/>
          </a:bodyPr>
          <a:lstStyle/>
          <a:p>
            <a:r>
              <a:rPr lang="zh-CN" altLang="en-US" sz="2000" dirty="0">
                <a:latin typeface="华文新魏" pitchFamily="2" charset="-122"/>
                <a:ea typeface="华文新魏" pitchFamily="2" charset="-122"/>
                <a:cs typeface="Times New Roman" pitchFamily="18" charset="0"/>
              </a:rPr>
              <a:t>纵向</a:t>
            </a:r>
            <a:r>
              <a:rPr lang="zh-CN" altLang="en-US" sz="2000" dirty="0" smtClean="0">
                <a:latin typeface="华文新魏" pitchFamily="2" charset="-122"/>
                <a:ea typeface="华文新魏" pitchFamily="2" charset="-122"/>
                <a:cs typeface="Times New Roman" pitchFamily="18" charset="0"/>
              </a:rPr>
              <a:t>比较和横向比较</a:t>
            </a:r>
            <a:endParaRPr lang="zh-CN" altLang="en-US" sz="2000" dirty="0">
              <a:latin typeface="华文新魏" pitchFamily="2" charset="-122"/>
              <a:ea typeface="华文新魏" pitchFamily="2" charset="-122"/>
            </a:endParaRPr>
          </a:p>
        </p:txBody>
      </p:sp>
      <p:sp>
        <p:nvSpPr>
          <p:cNvPr id="6" name="TextBox 5"/>
          <p:cNvSpPr txBox="1"/>
          <p:nvPr/>
        </p:nvSpPr>
        <p:spPr>
          <a:xfrm>
            <a:off x="2195736" y="3789040"/>
            <a:ext cx="2520280" cy="400110"/>
          </a:xfrm>
          <a:prstGeom prst="rect">
            <a:avLst/>
          </a:prstGeom>
          <a:noFill/>
          <a:ln w="19050">
            <a:solidFill>
              <a:schemeClr val="tx1"/>
            </a:solidFill>
            <a:prstDash val="sysDot"/>
          </a:ln>
        </p:spPr>
        <p:txBody>
          <a:bodyPr wrap="square" rtlCol="0">
            <a:spAutoFit/>
          </a:bodyPr>
          <a:lstStyle/>
          <a:p>
            <a:r>
              <a:rPr lang="zh-CN" altLang="en-US" sz="2000" dirty="0" smtClean="0">
                <a:latin typeface="华文新魏" pitchFamily="2" charset="-122"/>
                <a:ea typeface="华文新魏" pitchFamily="2" charset="-122"/>
              </a:rPr>
              <a:t>定性比较和定量比较</a:t>
            </a:r>
            <a:endParaRPr lang="zh-CN" altLang="en-US" sz="2000" dirty="0">
              <a:latin typeface="华文新魏" pitchFamily="2" charset="-122"/>
              <a:ea typeface="华文新魏" pitchFamily="2" charset="-122"/>
            </a:endParaRPr>
          </a:p>
        </p:txBody>
      </p:sp>
      <p:sp>
        <p:nvSpPr>
          <p:cNvPr id="7" name="TextBox 6"/>
          <p:cNvSpPr txBox="1"/>
          <p:nvPr/>
        </p:nvSpPr>
        <p:spPr>
          <a:xfrm>
            <a:off x="899592" y="4469050"/>
            <a:ext cx="2232248" cy="400110"/>
          </a:xfrm>
          <a:prstGeom prst="rect">
            <a:avLst/>
          </a:prstGeom>
          <a:noFill/>
        </p:spPr>
        <p:txBody>
          <a:bodyPr wrap="square" rtlCol="0">
            <a:spAutoFit/>
          </a:bodyPr>
          <a:lstStyle/>
          <a:p>
            <a:r>
              <a:rPr lang="zh-CN" altLang="en-US" sz="2000" u="sng" dirty="0" smtClean="0">
                <a:solidFill>
                  <a:srgbClr val="C00000"/>
                </a:solidFill>
                <a:latin typeface="华文行楷" pitchFamily="2" charset="-122"/>
                <a:ea typeface="华文行楷" pitchFamily="2" charset="-122"/>
              </a:rPr>
              <a:t>遵循原则：</a:t>
            </a:r>
            <a:endParaRPr lang="zh-CN" altLang="en-US" sz="2000" u="sng" dirty="0">
              <a:solidFill>
                <a:srgbClr val="C00000"/>
              </a:solidFill>
              <a:latin typeface="华文行楷" pitchFamily="2" charset="-122"/>
              <a:ea typeface="华文行楷" pitchFamily="2" charset="-122"/>
            </a:endParaRPr>
          </a:p>
        </p:txBody>
      </p:sp>
      <p:sp>
        <p:nvSpPr>
          <p:cNvPr id="8" name="TextBox 7"/>
          <p:cNvSpPr txBox="1"/>
          <p:nvPr/>
        </p:nvSpPr>
        <p:spPr>
          <a:xfrm>
            <a:off x="1187624" y="4869160"/>
            <a:ext cx="5688632" cy="1179425"/>
          </a:xfrm>
          <a:prstGeom prst="rect">
            <a:avLst/>
          </a:prstGeom>
          <a:noFill/>
        </p:spPr>
        <p:txBody>
          <a:bodyPr wrap="square" rtlCol="0">
            <a:spAutoFit/>
          </a:bodyPr>
          <a:lstStyle/>
          <a:p>
            <a:pPr lvl="2">
              <a:lnSpc>
                <a:spcPct val="120000"/>
              </a:lnSpc>
            </a:pPr>
            <a:r>
              <a:rPr lang="en-US" altLang="zh-CN" sz="2000" dirty="0" smtClean="0">
                <a:latin typeface="华文新魏" pitchFamily="2" charset="-122"/>
                <a:ea typeface="华文新魏" pitchFamily="2" charset="-122"/>
              </a:rPr>
              <a:t>1. </a:t>
            </a:r>
            <a:r>
              <a:rPr lang="zh-CN" altLang="en-US" sz="2000" dirty="0" smtClean="0">
                <a:latin typeface="华文新魏" pitchFamily="2" charset="-122"/>
                <a:ea typeface="华文新魏" pitchFamily="2" charset="-122"/>
                <a:cs typeface="Times New Roman" pitchFamily="18" charset="0"/>
              </a:rPr>
              <a:t>必须在同一关系下对事物进行比较；</a:t>
            </a:r>
            <a:endParaRPr lang="en-US" altLang="zh-CN" sz="2000" dirty="0" smtClean="0">
              <a:latin typeface="华文新魏" pitchFamily="2" charset="-122"/>
              <a:ea typeface="华文新魏" pitchFamily="2" charset="-122"/>
              <a:cs typeface="Times New Roman" pitchFamily="18" charset="0"/>
            </a:endParaRPr>
          </a:p>
          <a:p>
            <a:pPr lvl="2">
              <a:lnSpc>
                <a:spcPct val="120000"/>
              </a:lnSpc>
            </a:pPr>
            <a:r>
              <a:rPr lang="en-US" altLang="zh-CN" sz="2000" dirty="0" smtClean="0">
                <a:latin typeface="华文新魏" pitchFamily="2" charset="-122"/>
                <a:ea typeface="华文新魏" pitchFamily="2" charset="-122"/>
                <a:cs typeface="Times New Roman" pitchFamily="18" charset="0"/>
              </a:rPr>
              <a:t>2. </a:t>
            </a:r>
            <a:r>
              <a:rPr lang="zh-CN" altLang="en-US" sz="2000" dirty="0" smtClean="0">
                <a:latin typeface="华文新魏" pitchFamily="2" charset="-122"/>
                <a:ea typeface="华文新魏" pitchFamily="2" charset="-122"/>
                <a:cs typeface="Times New Roman" pitchFamily="18" charset="0"/>
              </a:rPr>
              <a:t>应就事物的内在关系进行比较；</a:t>
            </a:r>
            <a:endParaRPr lang="en-US" altLang="zh-CN" sz="2000" dirty="0" smtClean="0">
              <a:latin typeface="华文新魏" pitchFamily="2" charset="-122"/>
              <a:ea typeface="华文新魏" pitchFamily="2" charset="-122"/>
              <a:cs typeface="Times New Roman" pitchFamily="18" charset="0"/>
            </a:endParaRPr>
          </a:p>
          <a:p>
            <a:pPr lvl="2">
              <a:lnSpc>
                <a:spcPct val="120000"/>
              </a:lnSpc>
            </a:pPr>
            <a:r>
              <a:rPr lang="en-US" altLang="zh-CN" sz="2000" dirty="0" smtClean="0">
                <a:latin typeface="华文新魏" pitchFamily="2" charset="-122"/>
                <a:ea typeface="华文新魏" pitchFamily="2" charset="-122"/>
                <a:cs typeface="Times New Roman" pitchFamily="18" charset="0"/>
              </a:rPr>
              <a:t>3. </a:t>
            </a:r>
            <a:r>
              <a:rPr lang="zh-CN" altLang="en-US" sz="2000" dirty="0" smtClean="0">
                <a:latin typeface="华文新魏" pitchFamily="2" charset="-122"/>
                <a:ea typeface="华文新魏" pitchFamily="2" charset="-122"/>
                <a:cs typeface="Times New Roman" pitchFamily="18" charset="0"/>
              </a:rPr>
              <a:t>要有确定的比较标准</a:t>
            </a:r>
            <a:endParaRPr lang="zh-CN" altLang="en-US" sz="2000" dirty="0">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5"/>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4" presetClass="entr" presetSubtype="16"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ox(in)">
                                      <p:cBhvr>
                                        <p:cTn id="25" dur="500"/>
                                        <p:tgtEl>
                                          <p:spTgt spid="7"/>
                                        </p:tgtEl>
                                      </p:cBhvr>
                                    </p:animEffect>
                                  </p:childTnLst>
                                </p:cTn>
                              </p:par>
                            </p:childTnLst>
                          </p:cTn>
                        </p:par>
                      </p:childTnLst>
                    </p:cTn>
                  </p:par>
                  <p:par>
                    <p:cTn id="26" fill="hold">
                      <p:stCondLst>
                        <p:cond delay="indefinite"/>
                      </p:stCondLst>
                      <p:childTnLst>
                        <p:par>
                          <p:cTn id="27" fill="hold">
                            <p:stCondLst>
                              <p:cond delay="0"/>
                            </p:stCondLst>
                            <p:childTnLst>
                              <p:par>
                                <p:cTn id="28" presetID="4" presetClass="entr" presetSubtype="16"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box(in)">
                                      <p:cBhvr>
                                        <p:cTn id="3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5" grpId="0" animBg="1"/>
      <p:bldP spid="6" grpId="0" animBg="1"/>
      <p:bldP spid="7" grpId="0"/>
      <p:bldP spid="8" grpId="0"/>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灯片编号占位符 3"/>
          <p:cNvSpPr>
            <a:spLocks noGrp="1"/>
          </p:cNvSpPr>
          <p:nvPr>
            <p:ph type="sldNum" sz="quarter" idx="12"/>
          </p:nvPr>
        </p:nvSpPr>
        <p:spPr bwMode="auto">
          <a:xfrm>
            <a:off x="8647113" y="6408738"/>
            <a:ext cx="366712" cy="365125"/>
          </a:xfrm>
          <a:noFill/>
          <a:ln>
            <a:miter lim="800000"/>
            <a:headEnd/>
            <a:tailEnd/>
          </a:ln>
        </p:spPr>
        <p:txBody>
          <a:bodyPr/>
          <a:lstStyle/>
          <a:p>
            <a:fld id="{19B5CF85-BDD1-4515-8011-0F53550CA818}" type="slidenum">
              <a:rPr lang="zh-CN" altLang="en-US"/>
              <a:pPr/>
              <a:t>20</a:t>
            </a:fld>
            <a:endParaRPr lang="en-US" altLang="zh-CN"/>
          </a:p>
        </p:txBody>
      </p:sp>
      <p:sp>
        <p:nvSpPr>
          <p:cNvPr id="6" name="标题 1"/>
          <p:cNvSpPr>
            <a:spLocks noGrp="1"/>
          </p:cNvSpPr>
          <p:nvPr>
            <p:ph type="title"/>
          </p:nvPr>
        </p:nvSpPr>
        <p:spPr>
          <a:xfrm>
            <a:off x="457200" y="544143"/>
            <a:ext cx="8229600" cy="1131910"/>
          </a:xfrm>
        </p:spPr>
        <p:txBody>
          <a:bodyPr/>
          <a:lstStyle/>
          <a:p>
            <a:pPr algn="ctr" eaLnBrk="1" fontAlgn="auto" hangingPunct="1">
              <a:lnSpc>
                <a:spcPct val="150000"/>
              </a:lnSpc>
              <a:spcAft>
                <a:spcPts val="0"/>
              </a:spcAft>
              <a:defRPr/>
            </a:pPr>
            <a:r>
              <a:rPr lang="zh-CN" altLang="en-US" dirty="0" smtClean="0">
                <a:latin typeface="华文新魏" pitchFamily="2" charset="-122"/>
                <a:ea typeface="华文新魏" pitchFamily="2" charset="-122"/>
              </a:rPr>
              <a:t>第五章</a:t>
            </a:r>
            <a:r>
              <a:rPr lang="en-US" dirty="0" smtClean="0">
                <a:latin typeface="华文新魏" pitchFamily="2" charset="-122"/>
                <a:ea typeface="华文新魏" pitchFamily="2" charset="-122"/>
              </a:rPr>
              <a:t>  </a:t>
            </a:r>
            <a:r>
              <a:rPr lang="zh-CN" altLang="en-US" dirty="0" smtClean="0">
                <a:latin typeface="华文新魏" pitchFamily="2" charset="-122"/>
                <a:ea typeface="华文新魏" pitchFamily="2" charset="-122"/>
              </a:rPr>
              <a:t>归纳逻辑</a:t>
            </a:r>
            <a:endParaRPr lang="zh-CN" altLang="en-US" dirty="0">
              <a:latin typeface="华文新魏" pitchFamily="2" charset="-122"/>
              <a:ea typeface="华文新魏" pitchFamily="2" charset="-122"/>
            </a:endParaRPr>
          </a:p>
        </p:txBody>
      </p:sp>
      <p:sp>
        <p:nvSpPr>
          <p:cNvPr id="12" name="TextBox 11"/>
          <p:cNvSpPr txBox="1"/>
          <p:nvPr/>
        </p:nvSpPr>
        <p:spPr>
          <a:xfrm>
            <a:off x="3995936" y="3009726"/>
            <a:ext cx="5112568" cy="461665"/>
          </a:xfrm>
          <a:prstGeom prst="rect">
            <a:avLst/>
          </a:prstGeom>
          <a:noFill/>
        </p:spPr>
        <p:txBody>
          <a:bodyPr wrap="square" rtlCol="0">
            <a:spAutoFit/>
          </a:bodyPr>
          <a:lstStyle/>
          <a:p>
            <a:r>
              <a:rPr lang="zh-CN" altLang="en-US" sz="2400" b="1" dirty="0">
                <a:solidFill>
                  <a:schemeClr val="bg1">
                    <a:lumMod val="85000"/>
                  </a:schemeClr>
                </a:solidFill>
                <a:latin typeface="+mn-ea"/>
              </a:rPr>
              <a:t>排除归纳法</a:t>
            </a:r>
          </a:p>
        </p:txBody>
      </p:sp>
      <p:sp>
        <p:nvSpPr>
          <p:cNvPr id="13" name="TextBox 12"/>
          <p:cNvSpPr txBox="1"/>
          <p:nvPr/>
        </p:nvSpPr>
        <p:spPr>
          <a:xfrm>
            <a:off x="3995936" y="3903439"/>
            <a:ext cx="5112568" cy="461665"/>
          </a:xfrm>
          <a:prstGeom prst="rect">
            <a:avLst/>
          </a:prstGeom>
          <a:noFill/>
        </p:spPr>
        <p:txBody>
          <a:bodyPr wrap="square" rtlCol="0">
            <a:spAutoFit/>
          </a:bodyPr>
          <a:lstStyle/>
          <a:p>
            <a:r>
              <a:rPr lang="zh-CN" altLang="en-US" sz="2400" b="1" dirty="0" smtClean="0">
                <a:solidFill>
                  <a:schemeClr val="bg1">
                    <a:lumMod val="85000"/>
                  </a:schemeClr>
                </a:solidFill>
                <a:latin typeface="+mn-ea"/>
              </a:rPr>
              <a:t>类比推理</a:t>
            </a:r>
            <a:endParaRPr lang="zh-CN" altLang="en-US" sz="2400" b="1" dirty="0">
              <a:solidFill>
                <a:schemeClr val="bg1">
                  <a:lumMod val="85000"/>
                </a:schemeClr>
              </a:solidFill>
              <a:latin typeface="+mn-ea"/>
            </a:endParaRPr>
          </a:p>
        </p:txBody>
      </p:sp>
      <p:sp>
        <p:nvSpPr>
          <p:cNvPr id="14" name="TextBox 13"/>
          <p:cNvSpPr txBox="1"/>
          <p:nvPr/>
        </p:nvSpPr>
        <p:spPr>
          <a:xfrm>
            <a:off x="3995936" y="4767535"/>
            <a:ext cx="5112568" cy="461665"/>
          </a:xfrm>
          <a:prstGeom prst="rect">
            <a:avLst/>
          </a:prstGeom>
          <a:noFill/>
        </p:spPr>
        <p:txBody>
          <a:bodyPr wrap="square" rtlCol="0">
            <a:spAutoFit/>
          </a:bodyPr>
          <a:lstStyle/>
          <a:p>
            <a:r>
              <a:rPr lang="zh-CN" altLang="en-US" sz="2400" b="1" dirty="0">
                <a:latin typeface="+mn-ea"/>
              </a:rPr>
              <a:t>假说演绎法</a:t>
            </a:r>
          </a:p>
        </p:txBody>
      </p:sp>
      <p:sp>
        <p:nvSpPr>
          <p:cNvPr id="16" name="TextBox 15"/>
          <p:cNvSpPr txBox="1"/>
          <p:nvPr/>
        </p:nvSpPr>
        <p:spPr>
          <a:xfrm>
            <a:off x="3995936" y="2175247"/>
            <a:ext cx="5112568" cy="461665"/>
          </a:xfrm>
          <a:prstGeom prst="rect">
            <a:avLst/>
          </a:prstGeom>
          <a:noFill/>
        </p:spPr>
        <p:txBody>
          <a:bodyPr wrap="square" rtlCol="0">
            <a:spAutoFit/>
          </a:bodyPr>
          <a:lstStyle/>
          <a:p>
            <a:r>
              <a:rPr lang="zh-CN" altLang="en-US" sz="2400" b="1" dirty="0">
                <a:solidFill>
                  <a:schemeClr val="bg1">
                    <a:lumMod val="85000"/>
                  </a:schemeClr>
                </a:solidFill>
              </a:rPr>
              <a:t>简单</a:t>
            </a:r>
            <a:r>
              <a:rPr lang="zh-CN" altLang="en-US" sz="2400" b="1" dirty="0" smtClean="0">
                <a:solidFill>
                  <a:schemeClr val="bg1">
                    <a:lumMod val="85000"/>
                  </a:schemeClr>
                </a:solidFill>
              </a:rPr>
              <a:t>枚举法</a:t>
            </a:r>
            <a:endParaRPr lang="zh-CN" altLang="en-US" sz="2400" b="1" dirty="0">
              <a:solidFill>
                <a:schemeClr val="bg1">
                  <a:lumMod val="85000"/>
                </a:schemeClr>
              </a:solidFill>
            </a:endParaRPr>
          </a:p>
        </p:txBody>
      </p:sp>
      <p:sp>
        <p:nvSpPr>
          <p:cNvPr id="15" name="禁止符 14"/>
          <p:cNvSpPr/>
          <p:nvPr/>
        </p:nvSpPr>
        <p:spPr>
          <a:xfrm>
            <a:off x="3131840" y="21328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7" name="禁止符 16"/>
          <p:cNvSpPr/>
          <p:nvPr/>
        </p:nvSpPr>
        <p:spPr>
          <a:xfrm>
            <a:off x="3131840" y="2996952"/>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8" name="禁止符 17"/>
          <p:cNvSpPr/>
          <p:nvPr/>
        </p:nvSpPr>
        <p:spPr>
          <a:xfrm>
            <a:off x="3131840" y="3933056"/>
            <a:ext cx="504056" cy="504056"/>
          </a:xfrm>
          <a:prstGeom prst="noSmoking">
            <a:avLst/>
          </a:prstGeom>
          <a:solidFill>
            <a:schemeClr val="bg1">
              <a:lumMod val="85000"/>
            </a:schemeClr>
          </a:solidFill>
          <a:ln>
            <a:solidFill>
              <a:schemeClr val="bg1">
                <a:lumMod val="95000"/>
              </a:schemeClr>
            </a:solidFill>
          </a:ln>
        </p:spPr>
        <p:style>
          <a:lnRef idx="0">
            <a:schemeClr val="accent3"/>
          </a:lnRef>
          <a:fillRef idx="3">
            <a:schemeClr val="accent3"/>
          </a:fillRef>
          <a:effectRef idx="3">
            <a:schemeClr val="accent3"/>
          </a:effectRef>
          <a:fontRef idx="minor">
            <a:schemeClr val="lt1"/>
          </a:fontRef>
        </p:style>
        <p:txBody>
          <a:bodyPr rtlCol="0" anchor="ctr"/>
          <a:lstStyle/>
          <a:p>
            <a:pPr algn="ctr"/>
            <a:endParaRPr lang="zh-CN" altLang="en-US">
              <a:solidFill>
                <a:schemeClr val="bg1">
                  <a:lumMod val="75000"/>
                </a:schemeClr>
              </a:solidFill>
            </a:endParaRPr>
          </a:p>
        </p:txBody>
      </p:sp>
      <p:sp>
        <p:nvSpPr>
          <p:cNvPr id="19" name="禁止符 18"/>
          <p:cNvSpPr/>
          <p:nvPr/>
        </p:nvSpPr>
        <p:spPr>
          <a:xfrm>
            <a:off x="3131840" y="4797152"/>
            <a:ext cx="504056" cy="504056"/>
          </a:xfrm>
          <a:prstGeom prst="noSmoking">
            <a:avLst/>
          </a:prstGeom>
        </p:spPr>
        <p:style>
          <a:lnRef idx="0">
            <a:schemeClr val="accent5"/>
          </a:lnRef>
          <a:fillRef idx="3">
            <a:schemeClr val="accent5"/>
          </a:fillRef>
          <a:effectRef idx="3">
            <a:schemeClr val="accent5"/>
          </a:effectRef>
          <a:fontRef idx="minor">
            <a:schemeClr val="lt1"/>
          </a:fontRef>
        </p:style>
        <p:txBody>
          <a:bodyPr rtlCol="0" anchor="ctr"/>
          <a:lstStyle/>
          <a:p>
            <a:pPr algn="ctr"/>
            <a:endParaRPr lang="zh-CN" altLang="en-US"/>
          </a:p>
        </p:txBody>
      </p:sp>
    </p:spTree>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假说演绎法</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323528" y="1268760"/>
            <a:ext cx="8229600" cy="2044824"/>
          </a:xfrm>
        </p:spPr>
        <p:txBody>
          <a:bodyPr>
            <a:normAutofit/>
          </a:bodyPr>
          <a:lstStyle/>
          <a:p>
            <a:pPr>
              <a:buNone/>
            </a:pPr>
            <a:r>
              <a:rPr lang="zh-CN" altLang="en-US" sz="2000" dirty="0" smtClean="0">
                <a:latin typeface="楷体" pitchFamily="49" charset="-122"/>
                <a:ea typeface="楷体" pitchFamily="49" charset="-122"/>
                <a:cs typeface="Times New Roman" pitchFamily="18" charset="0"/>
              </a:rPr>
              <a:t>   在科学研究过程中，研究者在观察、实验的基础上，对所获得的事实材料进行加工制作，首先提出某种作为理论基本前提的猜测性假说，然后从它们逻辑地演绎出一组具体结论，交付观察或实验去检验。若这些结论被证实，则该假说得到一定程度的支持；若被证伪，则说明该假说至少存在某些问题，需要被修改甚至被抛弃。循此方法不断重复，我们将会达到可靠性程度越来越高的假说。</a:t>
            </a:r>
            <a:endParaRPr lang="zh-CN" altLang="en-US" sz="2000" dirty="0">
              <a:latin typeface="楷体" pitchFamily="49" charset="-122"/>
              <a:ea typeface="楷体" pitchFamily="49" charset="-122"/>
            </a:endParaRPr>
          </a:p>
        </p:txBody>
      </p:sp>
      <p:sp>
        <p:nvSpPr>
          <p:cNvPr id="4" name="TextBox 3"/>
          <p:cNvSpPr txBox="1"/>
          <p:nvPr/>
        </p:nvSpPr>
        <p:spPr>
          <a:xfrm>
            <a:off x="1619672" y="3501008"/>
            <a:ext cx="1728192" cy="461665"/>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400" dirty="0" smtClean="0">
                <a:latin typeface="华文行楷" pitchFamily="2" charset="-122"/>
                <a:ea typeface="华文行楷" pitchFamily="2" charset="-122"/>
              </a:rPr>
              <a:t>假说的提出</a:t>
            </a:r>
            <a:endParaRPr lang="zh-CN" altLang="en-US" sz="2400" dirty="0">
              <a:latin typeface="华文行楷" pitchFamily="2" charset="-122"/>
              <a:ea typeface="华文行楷" pitchFamily="2" charset="-122"/>
            </a:endParaRPr>
          </a:p>
        </p:txBody>
      </p:sp>
      <p:sp>
        <p:nvSpPr>
          <p:cNvPr id="5" name="TextBox 4"/>
          <p:cNvSpPr txBox="1"/>
          <p:nvPr/>
        </p:nvSpPr>
        <p:spPr>
          <a:xfrm>
            <a:off x="3779912" y="3501008"/>
            <a:ext cx="1728192" cy="461665"/>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400" dirty="0" smtClean="0">
                <a:latin typeface="华文行楷" pitchFamily="2" charset="-122"/>
                <a:ea typeface="华文行楷" pitchFamily="2" charset="-122"/>
              </a:rPr>
              <a:t>假说的展开</a:t>
            </a:r>
            <a:endParaRPr lang="zh-CN" altLang="en-US" sz="2400" dirty="0">
              <a:latin typeface="华文行楷" pitchFamily="2" charset="-122"/>
              <a:ea typeface="华文行楷" pitchFamily="2" charset="-122"/>
            </a:endParaRPr>
          </a:p>
        </p:txBody>
      </p:sp>
      <p:sp>
        <p:nvSpPr>
          <p:cNvPr id="6" name="TextBox 5"/>
          <p:cNvSpPr txBox="1"/>
          <p:nvPr/>
        </p:nvSpPr>
        <p:spPr>
          <a:xfrm>
            <a:off x="5940152" y="3501008"/>
            <a:ext cx="1728192" cy="461665"/>
          </a:xfrm>
          <a:prstGeom prst="rect">
            <a:avLst/>
          </a:prstGeom>
          <a:ln w="38100"/>
        </p:spPr>
        <p:style>
          <a:lnRef idx="2">
            <a:schemeClr val="accent5"/>
          </a:lnRef>
          <a:fillRef idx="1">
            <a:schemeClr val="lt1"/>
          </a:fillRef>
          <a:effectRef idx="0">
            <a:schemeClr val="accent5"/>
          </a:effectRef>
          <a:fontRef idx="minor">
            <a:schemeClr val="dk1"/>
          </a:fontRef>
        </p:style>
        <p:txBody>
          <a:bodyPr wrap="square" rtlCol="0">
            <a:spAutoFit/>
          </a:bodyPr>
          <a:lstStyle/>
          <a:p>
            <a:r>
              <a:rPr lang="zh-CN" altLang="en-US" sz="2400" dirty="0" smtClean="0">
                <a:latin typeface="华文行楷" pitchFamily="2" charset="-122"/>
                <a:ea typeface="华文行楷" pitchFamily="2" charset="-122"/>
              </a:rPr>
              <a:t>假说的检验</a:t>
            </a:r>
            <a:endParaRPr lang="zh-CN" altLang="en-US" sz="2400" dirty="0">
              <a:latin typeface="华文行楷" pitchFamily="2" charset="-122"/>
              <a:ea typeface="华文行楷" pitchFamily="2" charset="-122"/>
            </a:endParaRPr>
          </a:p>
        </p:txBody>
      </p:sp>
      <p:cxnSp>
        <p:nvCxnSpPr>
          <p:cNvPr id="8" name="直接箭头连接符 7"/>
          <p:cNvCxnSpPr/>
          <p:nvPr/>
        </p:nvCxnSpPr>
        <p:spPr>
          <a:xfrm flipV="1">
            <a:off x="2483768" y="4149080"/>
            <a:ext cx="0" cy="504056"/>
          </a:xfrm>
          <a:prstGeom prst="straightConnector1">
            <a:avLst/>
          </a:prstGeom>
          <a:ln w="38100">
            <a:tailEnd type="arrow"/>
          </a:ln>
        </p:spPr>
        <p:style>
          <a:lnRef idx="1">
            <a:schemeClr val="accent2"/>
          </a:lnRef>
          <a:fillRef idx="0">
            <a:schemeClr val="accent2"/>
          </a:fillRef>
          <a:effectRef idx="0">
            <a:schemeClr val="accent2"/>
          </a:effectRef>
          <a:fontRef idx="minor">
            <a:schemeClr val="tx1"/>
          </a:fontRef>
        </p:style>
      </p:cxnSp>
      <p:sp>
        <p:nvSpPr>
          <p:cNvPr id="9" name="TextBox 8"/>
          <p:cNvSpPr txBox="1"/>
          <p:nvPr/>
        </p:nvSpPr>
        <p:spPr>
          <a:xfrm>
            <a:off x="1619672" y="4695527"/>
            <a:ext cx="2088232" cy="461665"/>
          </a:xfrm>
          <a:prstGeom prst="rect">
            <a:avLst/>
          </a:prstGeom>
          <a:noFill/>
        </p:spPr>
        <p:txBody>
          <a:bodyPr wrap="square" rtlCol="0">
            <a:spAutoFit/>
          </a:bodyPr>
          <a:lstStyle/>
          <a:p>
            <a:r>
              <a:rPr lang="zh-CN" altLang="en-US" sz="2400" dirty="0">
                <a:solidFill>
                  <a:srgbClr val="00B050"/>
                </a:solidFill>
                <a:latin typeface="隶书" pitchFamily="49" charset="-122"/>
                <a:ea typeface="隶书" pitchFamily="49" charset="-122"/>
              </a:rPr>
              <a:t>问题和困境</a:t>
            </a:r>
          </a:p>
        </p:txBody>
      </p:sp>
      <p:sp>
        <p:nvSpPr>
          <p:cNvPr id="10" name="左中括号 9"/>
          <p:cNvSpPr/>
          <p:nvPr/>
        </p:nvSpPr>
        <p:spPr>
          <a:xfrm>
            <a:off x="3635896" y="4653136"/>
            <a:ext cx="144016" cy="720080"/>
          </a:xfrm>
          <a:prstGeom prst="leftBracket">
            <a:avLst/>
          </a:prstGeom>
          <a:ln w="38100"/>
        </p:spPr>
        <p:style>
          <a:lnRef idx="1">
            <a:schemeClr val="accent1"/>
          </a:lnRef>
          <a:fillRef idx="0">
            <a:schemeClr val="accent1"/>
          </a:fillRef>
          <a:effectRef idx="0">
            <a:schemeClr val="accent1"/>
          </a:effectRef>
          <a:fontRef idx="minor">
            <a:schemeClr val="tx1"/>
          </a:fontRef>
        </p:style>
        <p:txBody>
          <a:bodyPr rtlCol="0" anchor="ctr"/>
          <a:lstStyle/>
          <a:p>
            <a:pPr algn="ctr"/>
            <a:endParaRPr lang="zh-CN" altLang="en-US"/>
          </a:p>
        </p:txBody>
      </p:sp>
      <p:sp>
        <p:nvSpPr>
          <p:cNvPr id="11" name="TextBox 10"/>
          <p:cNvSpPr txBox="1"/>
          <p:nvPr/>
        </p:nvSpPr>
        <p:spPr>
          <a:xfrm>
            <a:off x="3923928" y="4469050"/>
            <a:ext cx="3168352" cy="400110"/>
          </a:xfrm>
          <a:prstGeom prst="rect">
            <a:avLst/>
          </a:prstGeom>
          <a:noFill/>
        </p:spPr>
        <p:txBody>
          <a:bodyPr wrap="square" rtlCol="0">
            <a:spAutoFit/>
          </a:bodyPr>
          <a:lstStyle/>
          <a:p>
            <a:r>
              <a:rPr lang="zh-CN" altLang="en-US" sz="2000" dirty="0" smtClean="0">
                <a:latin typeface="华文新魏" pitchFamily="2" charset="-122"/>
                <a:ea typeface="华文新魏" pitchFamily="2" charset="-122"/>
              </a:rPr>
              <a:t>理论和事实材料的冲突</a:t>
            </a:r>
            <a:endParaRPr lang="zh-CN" altLang="en-US" sz="2000" dirty="0">
              <a:latin typeface="华文新魏" pitchFamily="2" charset="-122"/>
              <a:ea typeface="华文新魏" pitchFamily="2" charset="-122"/>
            </a:endParaRPr>
          </a:p>
        </p:txBody>
      </p:sp>
      <p:sp>
        <p:nvSpPr>
          <p:cNvPr id="12" name="TextBox 11"/>
          <p:cNvSpPr txBox="1"/>
          <p:nvPr/>
        </p:nvSpPr>
        <p:spPr>
          <a:xfrm>
            <a:off x="3923928" y="5157192"/>
            <a:ext cx="3168352" cy="400110"/>
          </a:xfrm>
          <a:prstGeom prst="rect">
            <a:avLst/>
          </a:prstGeom>
          <a:noFill/>
        </p:spPr>
        <p:txBody>
          <a:bodyPr wrap="square" rtlCol="0">
            <a:spAutoFit/>
          </a:bodyPr>
          <a:lstStyle/>
          <a:p>
            <a:r>
              <a:rPr lang="zh-CN" altLang="en-US" sz="2000" dirty="0" smtClean="0">
                <a:latin typeface="华文新魏" pitchFamily="2" charset="-122"/>
                <a:ea typeface="华文新魏" pitchFamily="2" charset="-122"/>
              </a:rPr>
              <a:t>已有理论之间的冲突</a:t>
            </a:r>
            <a:endParaRPr lang="zh-CN" altLang="en-US" sz="2000" dirty="0">
              <a:latin typeface="华文新魏" pitchFamily="2" charset="-122"/>
              <a:ea typeface="华文新魏"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9" presetClass="entr" presetSubtype="0"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dissolve">
                                      <p:cBhvr>
                                        <p:cTn id="12" dur="500"/>
                                        <p:tgtEl>
                                          <p:spTgt spid="4"/>
                                        </p:tgtEl>
                                      </p:cBhvr>
                                    </p:animEffect>
                                  </p:childTnLst>
                                </p:cTn>
                              </p:par>
                              <p:par>
                                <p:cTn id="13" presetID="9" presetClass="entr" presetSubtype="0" fill="hold" grpId="0"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dissolve">
                                      <p:cBhvr>
                                        <p:cTn id="15" dur="500"/>
                                        <p:tgtEl>
                                          <p:spTgt spid="5"/>
                                        </p:tgtEl>
                                      </p:cBhvr>
                                    </p:animEffect>
                                  </p:childTnLst>
                                </p:cTn>
                              </p:par>
                              <p:par>
                                <p:cTn id="16" presetID="9" presetClass="entr" presetSubtype="0"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dissolve">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ox(in)">
                                      <p:cBhvr>
                                        <p:cTn id="23" dur="500"/>
                                        <p:tgtEl>
                                          <p:spTgt spid="8"/>
                                        </p:tgtEl>
                                      </p:cBhvr>
                                    </p:animEffect>
                                  </p:childTnLst>
                                </p:cTn>
                              </p:par>
                              <p:par>
                                <p:cTn id="24" presetID="29" presetClass="entr" presetSubtype="0" fill="hold" grpId="0" nodeType="withEffect">
                                  <p:stCondLst>
                                    <p:cond delay="0"/>
                                  </p:stCondLst>
                                  <p:childTnLst>
                                    <p:set>
                                      <p:cBhvr>
                                        <p:cTn id="25" dur="1" fill="hold">
                                          <p:stCondLst>
                                            <p:cond delay="0"/>
                                          </p:stCondLst>
                                        </p:cTn>
                                        <p:tgtEl>
                                          <p:spTgt spid="9"/>
                                        </p:tgtEl>
                                        <p:attrNameLst>
                                          <p:attrName>style.visibility</p:attrName>
                                        </p:attrNameLst>
                                      </p:cBhvr>
                                      <p:to>
                                        <p:strVal val="visible"/>
                                      </p:to>
                                    </p:set>
                                    <p:anim calcmode="lin" valueType="num">
                                      <p:cBhvr>
                                        <p:cTn id="26" dur="500" fill="hold"/>
                                        <p:tgtEl>
                                          <p:spTgt spid="9"/>
                                        </p:tgtEl>
                                        <p:attrNameLst>
                                          <p:attrName>ppt_x</p:attrName>
                                        </p:attrNameLst>
                                      </p:cBhvr>
                                      <p:tavLst>
                                        <p:tav tm="0">
                                          <p:val>
                                            <p:strVal val="#ppt_x-.2"/>
                                          </p:val>
                                        </p:tav>
                                        <p:tav tm="100000">
                                          <p:val>
                                            <p:strVal val="#ppt_x"/>
                                          </p:val>
                                        </p:tav>
                                      </p:tavLst>
                                    </p:anim>
                                    <p:anim calcmode="lin" valueType="num">
                                      <p:cBhvr>
                                        <p:cTn id="27" dur="500" fill="hold"/>
                                        <p:tgtEl>
                                          <p:spTgt spid="9"/>
                                        </p:tgtEl>
                                        <p:attrNameLst>
                                          <p:attrName>ppt_y</p:attrName>
                                        </p:attrNameLst>
                                      </p:cBhvr>
                                      <p:tavLst>
                                        <p:tav tm="0">
                                          <p:val>
                                            <p:strVal val="#ppt_y"/>
                                          </p:val>
                                        </p:tav>
                                        <p:tav tm="100000">
                                          <p:val>
                                            <p:strVal val="#ppt_y"/>
                                          </p:val>
                                        </p:tav>
                                      </p:tavLst>
                                    </p:anim>
                                    <p:animEffect transition="in" filter="wipe(right)" prLst="gradientSize: 0.1">
                                      <p:cBhvr>
                                        <p:cTn id="28" dur="500"/>
                                        <p:tgtEl>
                                          <p:spTgt spid="9"/>
                                        </p:tgtEl>
                                      </p:cBhvr>
                                    </p:animEffect>
                                  </p:childTnLst>
                                </p:cTn>
                              </p:par>
                            </p:childTnLst>
                          </p:cTn>
                        </p:par>
                      </p:childTnLst>
                    </p:cTn>
                  </p:par>
                  <p:par>
                    <p:cTn id="29" fill="hold">
                      <p:stCondLst>
                        <p:cond delay="indefinite"/>
                      </p:stCondLst>
                      <p:childTnLst>
                        <p:par>
                          <p:cTn id="30" fill="hold">
                            <p:stCondLst>
                              <p:cond delay="0"/>
                            </p:stCondLst>
                            <p:childTnLst>
                              <p:par>
                                <p:cTn id="31" presetID="47" presetClass="entr" presetSubtype="0" fill="hold" grpId="0" nodeType="click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par>
                                <p:cTn id="36" presetID="47" presetClass="entr" presetSubtype="0" fill="hold" grpId="0" nodeType="withEffect">
                                  <p:stCondLst>
                                    <p:cond delay="0"/>
                                  </p:stCondLst>
                                  <p:childTnLst>
                                    <p:set>
                                      <p:cBhvr>
                                        <p:cTn id="37" dur="1" fill="hold">
                                          <p:stCondLst>
                                            <p:cond delay="0"/>
                                          </p:stCondLst>
                                        </p:cTn>
                                        <p:tgtEl>
                                          <p:spTgt spid="11"/>
                                        </p:tgtEl>
                                        <p:attrNameLst>
                                          <p:attrName>style.visibility</p:attrName>
                                        </p:attrNameLst>
                                      </p:cBhvr>
                                      <p:to>
                                        <p:strVal val="visible"/>
                                      </p:to>
                                    </p:set>
                                    <p:animEffect transition="in" filter="fade">
                                      <p:cBhvr>
                                        <p:cTn id="38" dur="1000"/>
                                        <p:tgtEl>
                                          <p:spTgt spid="11"/>
                                        </p:tgtEl>
                                      </p:cBhvr>
                                    </p:animEffect>
                                    <p:anim calcmode="lin" valueType="num">
                                      <p:cBhvr>
                                        <p:cTn id="39" dur="1000" fill="hold"/>
                                        <p:tgtEl>
                                          <p:spTgt spid="11"/>
                                        </p:tgtEl>
                                        <p:attrNameLst>
                                          <p:attrName>ppt_x</p:attrName>
                                        </p:attrNameLst>
                                      </p:cBhvr>
                                      <p:tavLst>
                                        <p:tav tm="0">
                                          <p:val>
                                            <p:strVal val="#ppt_x"/>
                                          </p:val>
                                        </p:tav>
                                        <p:tav tm="100000">
                                          <p:val>
                                            <p:strVal val="#ppt_x"/>
                                          </p:val>
                                        </p:tav>
                                      </p:tavLst>
                                    </p:anim>
                                    <p:anim calcmode="lin" valueType="num">
                                      <p:cBhvr>
                                        <p:cTn id="40" dur="1000" fill="hold"/>
                                        <p:tgtEl>
                                          <p:spTgt spid="11"/>
                                        </p:tgtEl>
                                        <p:attrNameLst>
                                          <p:attrName>ppt_y</p:attrName>
                                        </p:attrNameLst>
                                      </p:cBhvr>
                                      <p:tavLst>
                                        <p:tav tm="0">
                                          <p:val>
                                            <p:strVal val="#ppt_y-.1"/>
                                          </p:val>
                                        </p:tav>
                                        <p:tav tm="100000">
                                          <p:val>
                                            <p:strVal val="#ppt_y"/>
                                          </p:val>
                                        </p:tav>
                                      </p:tavLst>
                                    </p:anim>
                                  </p:childTnLst>
                                </p:cTn>
                              </p:par>
                            </p:childTnLst>
                          </p:cTn>
                        </p:par>
                      </p:childTnLst>
                    </p:cTn>
                  </p:par>
                  <p:par>
                    <p:cTn id="41" fill="hold">
                      <p:stCondLst>
                        <p:cond delay="indefinite"/>
                      </p:stCondLst>
                      <p:childTnLst>
                        <p:par>
                          <p:cTn id="42" fill="hold">
                            <p:stCondLst>
                              <p:cond delay="0"/>
                            </p:stCondLst>
                            <p:childTnLst>
                              <p:par>
                                <p:cTn id="43" presetID="5" presetClass="entr" presetSubtype="10" fill="hold" grpId="0" nodeType="clickEffect">
                                  <p:stCondLst>
                                    <p:cond delay="0"/>
                                  </p:stCondLst>
                                  <p:childTnLst>
                                    <p:set>
                                      <p:cBhvr>
                                        <p:cTn id="44" dur="1" fill="hold">
                                          <p:stCondLst>
                                            <p:cond delay="0"/>
                                          </p:stCondLst>
                                        </p:cTn>
                                        <p:tgtEl>
                                          <p:spTgt spid="12"/>
                                        </p:tgtEl>
                                        <p:attrNameLst>
                                          <p:attrName>style.visibility</p:attrName>
                                        </p:attrNameLst>
                                      </p:cBhvr>
                                      <p:to>
                                        <p:strVal val="visible"/>
                                      </p:to>
                                    </p:set>
                                    <p:animEffect transition="in" filter="checkerboard(across)">
                                      <p:cBhvr>
                                        <p:cTn id="45"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animBg="1"/>
      <p:bldP spid="5" grpId="0" animBg="1"/>
      <p:bldP spid="6" grpId="0" animBg="1"/>
      <p:bldP spid="9" grpId="0"/>
      <p:bldP spid="10" grpId="0" animBg="1"/>
      <p:bldP spid="11" grpId="0"/>
      <p:bldP spid="12"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457200" y="159023"/>
            <a:ext cx="8229600" cy="1143000"/>
          </a:xfrm>
        </p:spPr>
        <p:txBody>
          <a:bodyPr/>
          <a:lstStyle/>
          <a:p>
            <a:r>
              <a:rPr lang="zh-CN" altLang="en-US" dirty="0" smtClean="0">
                <a:latin typeface="华文新魏" pitchFamily="2" charset="-122"/>
                <a:ea typeface="华文新魏" pitchFamily="2" charset="-122"/>
              </a:rPr>
              <a:t>形成假说：溯因推理</a:t>
            </a:r>
            <a:endParaRPr lang="zh-CN" altLang="en-US" dirty="0">
              <a:latin typeface="华文新魏" pitchFamily="2" charset="-122"/>
              <a:ea typeface="华文新魏" pitchFamily="2" charset="-122"/>
            </a:endParaRPr>
          </a:p>
        </p:txBody>
      </p:sp>
      <p:sp>
        <p:nvSpPr>
          <p:cNvPr id="3" name="内容占位符 2"/>
          <p:cNvSpPr>
            <a:spLocks noGrp="1"/>
          </p:cNvSpPr>
          <p:nvPr>
            <p:ph idx="1"/>
          </p:nvPr>
        </p:nvSpPr>
        <p:spPr>
          <a:xfrm>
            <a:off x="251520" y="1153145"/>
            <a:ext cx="8435280" cy="892696"/>
          </a:xfrm>
        </p:spPr>
        <p:txBody>
          <a:bodyPr>
            <a:normAutofit/>
          </a:bodyPr>
          <a:lstStyle/>
          <a:p>
            <a:pPr>
              <a:buNone/>
            </a:pPr>
            <a:r>
              <a:rPr lang="zh-CN" altLang="en-US" sz="2400" dirty="0" smtClean="0">
                <a:latin typeface="楷体" pitchFamily="49" charset="-122"/>
                <a:ea typeface="楷体" pitchFamily="49" charset="-122"/>
                <a:cs typeface="Times New Roman" pitchFamily="18" charset="0"/>
              </a:rPr>
              <a:t>   从某个待解释现象出发，如果用某个一般性规律就能解释该现象何以如此发生，由此就推出该一般规律有可能</a:t>
            </a:r>
            <a:r>
              <a:rPr lang="zh-CN" altLang="en-US" sz="2400" dirty="0" smtClean="0">
                <a:latin typeface="楷体" pitchFamily="49" charset="-122"/>
                <a:ea typeface="楷体" pitchFamily="49" charset="-122"/>
                <a:cs typeface="Times New Roman" pitchFamily="18" charset="0"/>
              </a:rPr>
              <a:t>成立。</a:t>
            </a:r>
            <a:endParaRPr lang="zh-CN" altLang="en-US" sz="2400" dirty="0">
              <a:latin typeface="楷体" pitchFamily="49" charset="-122"/>
              <a:ea typeface="楷体" pitchFamily="49" charset="-122"/>
            </a:endParaRPr>
          </a:p>
        </p:txBody>
      </p:sp>
      <p:sp>
        <p:nvSpPr>
          <p:cNvPr id="4" name="TextBox 4"/>
          <p:cNvSpPr txBox="1">
            <a:spLocks noChangeArrowheads="1"/>
          </p:cNvSpPr>
          <p:nvPr/>
        </p:nvSpPr>
        <p:spPr bwMode="auto">
          <a:xfrm>
            <a:off x="3779912" y="2061952"/>
            <a:ext cx="2232719" cy="1179425"/>
          </a:xfrm>
          <a:prstGeom prst="rect">
            <a:avLst/>
          </a:prstGeom>
          <a:noFill/>
          <a:ln w="9525">
            <a:noFill/>
            <a:miter lim="800000"/>
            <a:headEnd/>
            <a:tailEnd/>
          </a:ln>
        </p:spPr>
        <p:txBody>
          <a:bodyPr wrap="square">
            <a:spAutoFit/>
          </a:bodyPr>
          <a:lstStyle/>
          <a:p>
            <a:pPr>
              <a:lnSpc>
                <a:spcPct val="120000"/>
              </a:lnSpc>
            </a:pPr>
            <a:r>
              <a:rPr lang="zh-CN" altLang="en-US" sz="2000" dirty="0">
                <a:latin typeface="华文新魏" pitchFamily="2" charset="-122"/>
                <a:ea typeface="华文新魏" pitchFamily="2" charset="-122"/>
                <a:cs typeface="Times New Roman" pitchFamily="18" charset="0"/>
              </a:rPr>
              <a:t>待解释现象</a:t>
            </a:r>
            <a:r>
              <a:rPr lang="en-US" altLang="zh-CN" sz="2000" dirty="0">
                <a:latin typeface="华文新魏" pitchFamily="2" charset="-122"/>
                <a:ea typeface="华文新魏" pitchFamily="2" charset="-122"/>
                <a:cs typeface="Times New Roman" pitchFamily="18" charset="0"/>
              </a:rPr>
              <a:t>e</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如果</a:t>
            </a:r>
            <a:r>
              <a:rPr lang="en-US" altLang="zh-CN" sz="2000" dirty="0">
                <a:latin typeface="华文新魏" pitchFamily="2" charset="-122"/>
                <a:ea typeface="华文新魏" pitchFamily="2" charset="-122"/>
                <a:cs typeface="Times New Roman" pitchFamily="18" charset="0"/>
              </a:rPr>
              <a:t>h</a:t>
            </a:r>
            <a:r>
              <a:rPr lang="zh-CN" altLang="en-US" sz="2000" dirty="0">
                <a:latin typeface="华文新魏" pitchFamily="2" charset="-122"/>
                <a:ea typeface="华文新魏" pitchFamily="2" charset="-122"/>
                <a:cs typeface="Times New Roman" pitchFamily="18" charset="0"/>
              </a:rPr>
              <a:t>，则</a:t>
            </a:r>
            <a:r>
              <a:rPr lang="en-US" altLang="zh-CN" sz="2000" dirty="0">
                <a:latin typeface="华文新魏" pitchFamily="2" charset="-122"/>
                <a:ea typeface="华文新魏" pitchFamily="2" charset="-122"/>
                <a:cs typeface="Times New Roman" pitchFamily="18" charset="0"/>
              </a:rPr>
              <a:t>e</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所以，</a:t>
            </a:r>
            <a:r>
              <a:rPr lang="en-US" altLang="zh-CN" sz="2000" dirty="0">
                <a:latin typeface="华文新魏" pitchFamily="2" charset="-122"/>
                <a:ea typeface="华文新魏" pitchFamily="2" charset="-122"/>
                <a:cs typeface="Times New Roman" pitchFamily="18" charset="0"/>
              </a:rPr>
              <a:t>h</a:t>
            </a:r>
            <a:endParaRPr lang="zh-CN" altLang="en-US" sz="2000" dirty="0">
              <a:latin typeface="华文新魏" pitchFamily="2" charset="-122"/>
              <a:ea typeface="华文新魏" pitchFamily="2" charset="-122"/>
              <a:cs typeface="Times New Roman" pitchFamily="18" charset="0"/>
            </a:endParaRPr>
          </a:p>
        </p:txBody>
      </p:sp>
      <p:cxnSp>
        <p:nvCxnSpPr>
          <p:cNvPr id="5" name="直接连接符 4"/>
          <p:cNvCxnSpPr/>
          <p:nvPr/>
        </p:nvCxnSpPr>
        <p:spPr>
          <a:xfrm>
            <a:off x="3579862" y="2854040"/>
            <a:ext cx="2000250" cy="1588"/>
          </a:xfrm>
          <a:prstGeom prst="line">
            <a:avLst/>
          </a:prstGeom>
        </p:spPr>
        <p:style>
          <a:lnRef idx="1">
            <a:schemeClr val="dk1"/>
          </a:lnRef>
          <a:fillRef idx="0">
            <a:schemeClr val="dk1"/>
          </a:fillRef>
          <a:effectRef idx="0">
            <a:schemeClr val="dk1"/>
          </a:effectRef>
          <a:fontRef idx="minor">
            <a:schemeClr val="tx1"/>
          </a:fontRef>
        </p:style>
      </p:cxnSp>
      <p:sp>
        <p:nvSpPr>
          <p:cNvPr id="6" name="TextBox 5"/>
          <p:cNvSpPr txBox="1"/>
          <p:nvPr/>
        </p:nvSpPr>
        <p:spPr>
          <a:xfrm>
            <a:off x="971600" y="3273315"/>
            <a:ext cx="1656184" cy="400110"/>
          </a:xfrm>
          <a:prstGeom prst="rect">
            <a:avLst/>
          </a:prstGeom>
        </p:spPr>
        <p:style>
          <a:lnRef idx="1">
            <a:schemeClr val="accent5"/>
          </a:lnRef>
          <a:fillRef idx="2">
            <a:schemeClr val="accent5"/>
          </a:fillRef>
          <a:effectRef idx="1">
            <a:schemeClr val="accent5"/>
          </a:effectRef>
          <a:fontRef idx="minor">
            <a:schemeClr val="dk1"/>
          </a:fontRef>
        </p:style>
        <p:txBody>
          <a:bodyPr wrap="square" rtlCol="0">
            <a:spAutoFit/>
          </a:bodyPr>
          <a:lstStyle/>
          <a:p>
            <a:r>
              <a:rPr lang="zh-CN" altLang="en-US" sz="2000" dirty="0" smtClean="0">
                <a:solidFill>
                  <a:schemeClr val="tx1"/>
                </a:solidFill>
                <a:latin typeface="华文行楷" pitchFamily="2" charset="-122"/>
                <a:ea typeface="华文行楷" pitchFamily="2" charset="-122"/>
              </a:rPr>
              <a:t>其复杂形式：</a:t>
            </a:r>
            <a:endParaRPr lang="zh-CN" altLang="en-US" sz="2000" dirty="0">
              <a:solidFill>
                <a:schemeClr val="tx1"/>
              </a:solidFill>
              <a:latin typeface="华文行楷" pitchFamily="2" charset="-122"/>
              <a:ea typeface="华文行楷" pitchFamily="2" charset="-122"/>
            </a:endParaRPr>
          </a:p>
        </p:txBody>
      </p:sp>
      <p:sp>
        <p:nvSpPr>
          <p:cNvPr id="7" name="TextBox 4"/>
          <p:cNvSpPr txBox="1">
            <a:spLocks noChangeArrowheads="1"/>
          </p:cNvSpPr>
          <p:nvPr/>
        </p:nvSpPr>
        <p:spPr bwMode="auto">
          <a:xfrm>
            <a:off x="2950617" y="3645024"/>
            <a:ext cx="4357687" cy="2656753"/>
          </a:xfrm>
          <a:prstGeom prst="rect">
            <a:avLst/>
          </a:prstGeom>
          <a:noFill/>
          <a:ln w="9525">
            <a:noFill/>
            <a:miter lim="800000"/>
            <a:headEnd/>
            <a:tailEnd/>
          </a:ln>
        </p:spPr>
        <p:txBody>
          <a:bodyPr>
            <a:spAutoFit/>
          </a:bodyPr>
          <a:lstStyle/>
          <a:p>
            <a:pPr>
              <a:lnSpc>
                <a:spcPct val="120000"/>
              </a:lnSpc>
            </a:pPr>
            <a:r>
              <a:rPr lang="zh-CN" altLang="en-US" sz="2000" dirty="0">
                <a:latin typeface="华文新魏" pitchFamily="2" charset="-122"/>
                <a:ea typeface="华文新魏" pitchFamily="2" charset="-122"/>
                <a:cs typeface="Times New Roman" pitchFamily="18" charset="0"/>
              </a:rPr>
              <a:t>待解释现象</a:t>
            </a:r>
            <a:r>
              <a:rPr lang="en-US" altLang="zh-CN" sz="2000" dirty="0">
                <a:latin typeface="华文新魏" pitchFamily="2" charset="-122"/>
                <a:ea typeface="华文新魏" pitchFamily="2" charset="-122"/>
                <a:cs typeface="Times New Roman" pitchFamily="18" charset="0"/>
              </a:rPr>
              <a:t>e</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如果</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1</a:t>
            </a:r>
            <a:r>
              <a:rPr lang="zh-CN" altLang="en-US" sz="2000" dirty="0">
                <a:latin typeface="华文新魏" pitchFamily="2" charset="-122"/>
                <a:ea typeface="华文新魏" pitchFamily="2" charset="-122"/>
                <a:cs typeface="Times New Roman" pitchFamily="18" charset="0"/>
              </a:rPr>
              <a:t>或者</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2</a:t>
            </a:r>
            <a:r>
              <a:rPr lang="zh-CN" altLang="en-US" sz="2000" dirty="0">
                <a:latin typeface="华文新魏" pitchFamily="2" charset="-122"/>
                <a:ea typeface="华文新魏" pitchFamily="2" charset="-122"/>
                <a:cs typeface="Times New Roman" pitchFamily="18" charset="0"/>
              </a:rPr>
              <a:t>或者</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3</a:t>
            </a:r>
            <a:r>
              <a:rPr lang="en-US" altLang="zh-CN" sz="2000" dirty="0">
                <a:latin typeface="华文新魏" pitchFamily="2" charset="-122"/>
                <a:ea typeface="华文新魏" pitchFamily="2" charset="-122"/>
                <a:cs typeface="Times New Roman" pitchFamily="18" charset="0"/>
              </a:rPr>
              <a:t>…</a:t>
            </a:r>
            <a:r>
              <a:rPr lang="zh-CN" altLang="en-US" sz="2000" dirty="0">
                <a:latin typeface="华文新魏" pitchFamily="2" charset="-122"/>
                <a:ea typeface="华文新魏" pitchFamily="2" charset="-122"/>
                <a:cs typeface="Times New Roman" pitchFamily="18" charset="0"/>
              </a:rPr>
              <a:t>或者</a:t>
            </a:r>
            <a:r>
              <a:rPr lang="en-US" altLang="zh-CN" sz="2000" dirty="0" err="1">
                <a:latin typeface="华文新魏" pitchFamily="2" charset="-122"/>
                <a:ea typeface="华文新魏" pitchFamily="2" charset="-122"/>
                <a:cs typeface="Times New Roman" pitchFamily="18" charset="0"/>
              </a:rPr>
              <a:t>h</a:t>
            </a:r>
            <a:r>
              <a:rPr lang="en-US" altLang="zh-CN" sz="2000" baseline="-25000" dirty="0" err="1">
                <a:latin typeface="华文新魏" pitchFamily="2" charset="-122"/>
                <a:ea typeface="华文新魏" pitchFamily="2" charset="-122"/>
                <a:cs typeface="Times New Roman" pitchFamily="18" charset="0"/>
              </a:rPr>
              <a:t>n</a:t>
            </a:r>
            <a:r>
              <a:rPr lang="zh-CN" altLang="en-US" sz="2000" dirty="0">
                <a:latin typeface="华文新魏" pitchFamily="2" charset="-122"/>
                <a:ea typeface="华文新魏" pitchFamily="2" charset="-122"/>
                <a:cs typeface="Times New Roman" pitchFamily="18" charset="0"/>
              </a:rPr>
              <a:t>，则</a:t>
            </a:r>
            <a:r>
              <a:rPr lang="en-US" altLang="zh-CN" sz="2000" dirty="0">
                <a:latin typeface="华文新魏" pitchFamily="2" charset="-122"/>
                <a:ea typeface="华文新魏" pitchFamily="2" charset="-122"/>
                <a:cs typeface="Times New Roman" pitchFamily="18" charset="0"/>
              </a:rPr>
              <a:t>e</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并非</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1</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并非</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2</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并非</a:t>
            </a:r>
            <a:r>
              <a:rPr lang="en-US" altLang="zh-CN" sz="2000" dirty="0">
                <a:latin typeface="华文新魏" pitchFamily="2" charset="-122"/>
                <a:ea typeface="华文新魏" pitchFamily="2" charset="-122"/>
                <a:cs typeface="Times New Roman" pitchFamily="18" charset="0"/>
              </a:rPr>
              <a:t>h</a:t>
            </a:r>
            <a:r>
              <a:rPr lang="en-US" altLang="zh-CN" sz="2000" baseline="-25000" dirty="0">
                <a:latin typeface="华文新魏" pitchFamily="2" charset="-122"/>
                <a:ea typeface="华文新魏" pitchFamily="2" charset="-122"/>
                <a:cs typeface="Times New Roman" pitchFamily="18" charset="0"/>
              </a:rPr>
              <a:t>3</a:t>
            </a:r>
            <a:endParaRPr lang="zh-CN" altLang="en-US" sz="2000" dirty="0">
              <a:latin typeface="华文新魏" pitchFamily="2" charset="-122"/>
              <a:ea typeface="华文新魏" pitchFamily="2" charset="-122"/>
              <a:cs typeface="Times New Roman" pitchFamily="18" charset="0"/>
            </a:endParaRPr>
          </a:p>
          <a:p>
            <a:pPr>
              <a:lnSpc>
                <a:spcPct val="120000"/>
              </a:lnSpc>
            </a:pPr>
            <a:r>
              <a:rPr lang="zh-CN" altLang="en-US" sz="2000" dirty="0">
                <a:latin typeface="华文新魏" pitchFamily="2" charset="-122"/>
                <a:ea typeface="华文新魏" pitchFamily="2" charset="-122"/>
                <a:cs typeface="Times New Roman" pitchFamily="18" charset="0"/>
              </a:rPr>
              <a:t>┆</a:t>
            </a:r>
          </a:p>
          <a:p>
            <a:pPr>
              <a:lnSpc>
                <a:spcPct val="120000"/>
              </a:lnSpc>
            </a:pPr>
            <a:r>
              <a:rPr lang="zh-CN" altLang="en-US" sz="2000" dirty="0">
                <a:latin typeface="华文新魏" pitchFamily="2" charset="-122"/>
                <a:ea typeface="华文新魏" pitchFamily="2" charset="-122"/>
                <a:cs typeface="Times New Roman" pitchFamily="18" charset="0"/>
              </a:rPr>
              <a:t>所以，</a:t>
            </a:r>
            <a:r>
              <a:rPr lang="en-US" altLang="zh-CN" sz="2000" dirty="0" err="1">
                <a:latin typeface="华文新魏" pitchFamily="2" charset="-122"/>
                <a:ea typeface="华文新魏" pitchFamily="2" charset="-122"/>
                <a:cs typeface="Times New Roman" pitchFamily="18" charset="0"/>
              </a:rPr>
              <a:t>h</a:t>
            </a:r>
            <a:r>
              <a:rPr lang="en-US" altLang="zh-CN" sz="2000" baseline="-25000" dirty="0" err="1">
                <a:latin typeface="华文新魏" pitchFamily="2" charset="-122"/>
                <a:ea typeface="华文新魏" pitchFamily="2" charset="-122"/>
                <a:cs typeface="Times New Roman" pitchFamily="18" charset="0"/>
              </a:rPr>
              <a:t>n</a:t>
            </a:r>
            <a:endParaRPr lang="zh-CN" altLang="en-US" sz="2000" dirty="0">
              <a:latin typeface="华文新魏" pitchFamily="2" charset="-122"/>
              <a:ea typeface="华文新魏" pitchFamily="2" charset="-122"/>
              <a:cs typeface="Times New Roman" pitchFamily="18" charset="0"/>
            </a:endParaRPr>
          </a:p>
        </p:txBody>
      </p:sp>
      <p:cxnSp>
        <p:nvCxnSpPr>
          <p:cNvPr id="8" name="直接连接符 7"/>
          <p:cNvCxnSpPr/>
          <p:nvPr/>
        </p:nvCxnSpPr>
        <p:spPr>
          <a:xfrm>
            <a:off x="2518569" y="5941737"/>
            <a:ext cx="4645719" cy="0"/>
          </a:xfrm>
          <a:prstGeom prst="line">
            <a:avLst/>
          </a:prstGeom>
        </p:spPr>
        <p:style>
          <a:lnRef idx="1">
            <a:schemeClr val="dk1"/>
          </a:lnRef>
          <a:fillRef idx="0">
            <a:schemeClr val="dk1"/>
          </a:fillRef>
          <a:effectRef idx="0">
            <a:schemeClr val="dk1"/>
          </a:effectRef>
          <a:fontRef idx="minor">
            <a:schemeClr val="tx1"/>
          </a:fontRef>
        </p:style>
      </p:cxnSp>
      <p:sp>
        <p:nvSpPr>
          <p:cNvPr id="10" name="TextBox 9"/>
          <p:cNvSpPr txBox="1"/>
          <p:nvPr/>
        </p:nvSpPr>
        <p:spPr>
          <a:xfrm>
            <a:off x="5292080" y="6085753"/>
            <a:ext cx="3888432" cy="461665"/>
          </a:xfrm>
          <a:prstGeom prst="rect">
            <a:avLst/>
          </a:prstGeom>
          <a:noFill/>
        </p:spPr>
        <p:txBody>
          <a:bodyPr wrap="square" rtlCol="0">
            <a:spAutoFit/>
          </a:bodyPr>
          <a:lstStyle/>
          <a:p>
            <a:r>
              <a:rPr lang="zh-CN" altLang="en-US" sz="2400" u="sng" dirty="0" smtClean="0">
                <a:solidFill>
                  <a:srgbClr val="C00000"/>
                </a:solidFill>
                <a:latin typeface="华文行楷" pitchFamily="2" charset="-122"/>
                <a:ea typeface="华文行楷" pitchFamily="2" charset="-122"/>
              </a:rPr>
              <a:t>从假说可推出观察结论</a:t>
            </a:r>
            <a:endParaRPr lang="zh-CN" altLang="en-US" sz="2400" u="sng" dirty="0">
              <a:solidFill>
                <a:srgbClr val="C00000"/>
              </a:solidFill>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blinds(horizontal)">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
                                        </p:tgtEl>
                                        <p:attrNameLst>
                                          <p:attrName>style.visibility</p:attrName>
                                        </p:attrNameLst>
                                      </p:cBhvr>
                                      <p:to>
                                        <p:strVal val="visible"/>
                                      </p:to>
                                    </p:set>
                                    <p:animEffect transition="in" filter="box(in)">
                                      <p:cBhvr>
                                        <p:cTn id="12" dur="500"/>
                                        <p:tgtEl>
                                          <p:spTgt spid="4"/>
                                        </p:tgtEl>
                                      </p:cBhvr>
                                    </p:animEffect>
                                  </p:childTnLst>
                                </p:cTn>
                              </p:par>
                              <p:par>
                                <p:cTn id="13" presetID="4" presetClass="entr" presetSubtype="16" fill="hold" nodeType="withEffect">
                                  <p:stCondLst>
                                    <p:cond delay="0"/>
                                  </p:stCondLst>
                                  <p:childTnLst>
                                    <p:set>
                                      <p:cBhvr>
                                        <p:cTn id="14" dur="1" fill="hold">
                                          <p:stCondLst>
                                            <p:cond delay="0"/>
                                          </p:stCondLst>
                                        </p:cTn>
                                        <p:tgtEl>
                                          <p:spTgt spid="5"/>
                                        </p:tgtEl>
                                        <p:attrNameLst>
                                          <p:attrName>style.visibility</p:attrName>
                                        </p:attrNameLst>
                                      </p:cBhvr>
                                      <p:to>
                                        <p:strVal val="visible"/>
                                      </p:to>
                                    </p:set>
                                    <p:animEffect transition="in" filter="box(in)">
                                      <p:cBhvr>
                                        <p:cTn id="15" dur="500"/>
                                        <p:tgtEl>
                                          <p:spTgt spid="5"/>
                                        </p:tgtEl>
                                      </p:cBhvr>
                                    </p:animEffect>
                                  </p:childTnLst>
                                </p:cTn>
                              </p:par>
                            </p:childTnLst>
                          </p:cTn>
                        </p:par>
                      </p:childTnLst>
                    </p:cTn>
                  </p:par>
                  <p:par>
                    <p:cTn id="16" fill="hold">
                      <p:stCondLst>
                        <p:cond delay="indefinite"/>
                      </p:stCondLst>
                      <p:childTnLst>
                        <p:par>
                          <p:cTn id="17" fill="hold">
                            <p:stCondLst>
                              <p:cond delay="0"/>
                            </p:stCondLst>
                            <p:childTnLst>
                              <p:par>
                                <p:cTn id="18" presetID="4" presetClass="entr" presetSubtype="16" fill="hold" grpId="0" nodeType="clickEffect">
                                  <p:stCondLst>
                                    <p:cond delay="0"/>
                                  </p:stCondLst>
                                  <p:childTnLst>
                                    <p:set>
                                      <p:cBhvr>
                                        <p:cTn id="19" dur="1" fill="hold">
                                          <p:stCondLst>
                                            <p:cond delay="0"/>
                                          </p:stCondLst>
                                        </p:cTn>
                                        <p:tgtEl>
                                          <p:spTgt spid="6"/>
                                        </p:tgtEl>
                                        <p:attrNameLst>
                                          <p:attrName>style.visibility</p:attrName>
                                        </p:attrNameLst>
                                      </p:cBhvr>
                                      <p:to>
                                        <p:strVal val="visible"/>
                                      </p:to>
                                    </p:set>
                                    <p:animEffect transition="in" filter="box(in)">
                                      <p:cBhvr>
                                        <p:cTn id="20" dur="500"/>
                                        <p:tgtEl>
                                          <p:spTgt spid="6"/>
                                        </p:tgtEl>
                                      </p:cBhvr>
                                    </p:animEffect>
                                  </p:childTnLst>
                                </p:cTn>
                              </p:par>
                            </p:childTnLst>
                          </p:cTn>
                        </p:par>
                      </p:childTnLst>
                    </p:cTn>
                  </p:par>
                  <p:par>
                    <p:cTn id="21" fill="hold">
                      <p:stCondLst>
                        <p:cond delay="indefinite"/>
                      </p:stCondLst>
                      <p:childTnLst>
                        <p:par>
                          <p:cTn id="22" fill="hold">
                            <p:stCondLst>
                              <p:cond delay="0"/>
                            </p:stCondLst>
                            <p:childTnLst>
                              <p:par>
                                <p:cTn id="23" presetID="47" presetClass="entr" presetSubtype="0"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fade">
                                      <p:cBhvr>
                                        <p:cTn id="25" dur="1000"/>
                                        <p:tgtEl>
                                          <p:spTgt spid="7"/>
                                        </p:tgtEl>
                                      </p:cBhvr>
                                    </p:animEffect>
                                    <p:anim calcmode="lin" valueType="num">
                                      <p:cBhvr>
                                        <p:cTn id="26" dur="1000" fill="hold"/>
                                        <p:tgtEl>
                                          <p:spTgt spid="7"/>
                                        </p:tgtEl>
                                        <p:attrNameLst>
                                          <p:attrName>ppt_x</p:attrName>
                                        </p:attrNameLst>
                                      </p:cBhvr>
                                      <p:tavLst>
                                        <p:tav tm="0">
                                          <p:val>
                                            <p:strVal val="#ppt_x"/>
                                          </p:val>
                                        </p:tav>
                                        <p:tav tm="100000">
                                          <p:val>
                                            <p:strVal val="#ppt_x"/>
                                          </p:val>
                                        </p:tav>
                                      </p:tavLst>
                                    </p:anim>
                                    <p:anim calcmode="lin" valueType="num">
                                      <p:cBhvr>
                                        <p:cTn id="27" dur="1000" fill="hold"/>
                                        <p:tgtEl>
                                          <p:spTgt spid="7"/>
                                        </p:tgtEl>
                                        <p:attrNameLst>
                                          <p:attrName>ppt_y</p:attrName>
                                        </p:attrNameLst>
                                      </p:cBhvr>
                                      <p:tavLst>
                                        <p:tav tm="0">
                                          <p:val>
                                            <p:strVal val="#ppt_y-.1"/>
                                          </p:val>
                                        </p:tav>
                                        <p:tav tm="100000">
                                          <p:val>
                                            <p:strVal val="#ppt_y"/>
                                          </p:val>
                                        </p:tav>
                                      </p:tavLst>
                                    </p:anim>
                                  </p:childTnLst>
                                </p:cTn>
                              </p:par>
                              <p:par>
                                <p:cTn id="28" presetID="47" presetClass="entr" presetSubtype="0" fill="hold" nodeType="with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fade">
                                      <p:cBhvr>
                                        <p:cTn id="30" dur="1000"/>
                                        <p:tgtEl>
                                          <p:spTgt spid="8"/>
                                        </p:tgtEl>
                                      </p:cBhvr>
                                    </p:animEffect>
                                    <p:anim calcmode="lin" valueType="num">
                                      <p:cBhvr>
                                        <p:cTn id="31" dur="1000" fill="hold"/>
                                        <p:tgtEl>
                                          <p:spTgt spid="8"/>
                                        </p:tgtEl>
                                        <p:attrNameLst>
                                          <p:attrName>ppt_x</p:attrName>
                                        </p:attrNameLst>
                                      </p:cBhvr>
                                      <p:tavLst>
                                        <p:tav tm="0">
                                          <p:val>
                                            <p:strVal val="#ppt_x"/>
                                          </p:val>
                                        </p:tav>
                                        <p:tav tm="100000">
                                          <p:val>
                                            <p:strVal val="#ppt_x"/>
                                          </p:val>
                                        </p:tav>
                                      </p:tavLst>
                                    </p:anim>
                                    <p:anim calcmode="lin" valueType="num">
                                      <p:cBhvr>
                                        <p:cTn id="32" dur="1000" fill="hold"/>
                                        <p:tgtEl>
                                          <p:spTgt spid="8"/>
                                        </p:tgtEl>
                                        <p:attrNameLst>
                                          <p:attrName>ppt_y</p:attrName>
                                        </p:attrNameLst>
                                      </p:cBhvr>
                                      <p:tavLst>
                                        <p:tav tm="0">
                                          <p:val>
                                            <p:strVal val="#ppt_y-.1"/>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box(in)">
                                      <p:cBhvr>
                                        <p:cTn id="37"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4" grpId="0"/>
      <p:bldP spid="6" grpId="0" animBg="1"/>
      <p:bldP spid="7" grpId="0"/>
      <p:bldP spid="10"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验证假说：证实和证伪</a:t>
            </a:r>
            <a:endParaRPr lang="zh-CN" altLang="en-US" dirty="0">
              <a:latin typeface="华文新魏" pitchFamily="2" charset="-122"/>
              <a:ea typeface="华文新魏" pitchFamily="2" charset="-122"/>
            </a:endParaRPr>
          </a:p>
        </p:txBody>
      </p:sp>
      <p:sp>
        <p:nvSpPr>
          <p:cNvPr id="4" name="TextBox 3"/>
          <p:cNvSpPr txBox="1"/>
          <p:nvPr/>
        </p:nvSpPr>
        <p:spPr>
          <a:xfrm>
            <a:off x="611560" y="1412776"/>
            <a:ext cx="8280920" cy="400110"/>
          </a:xfrm>
          <a:prstGeom prst="rect">
            <a:avLst/>
          </a:prstGeom>
          <a:noFill/>
        </p:spPr>
        <p:txBody>
          <a:bodyPr wrap="square" rtlCol="0">
            <a:spAutoFit/>
          </a:bodyPr>
          <a:lstStyle/>
          <a:p>
            <a:r>
              <a:rPr lang="zh-CN" altLang="en-US" sz="2000" dirty="0" smtClean="0">
                <a:latin typeface="楷体" pitchFamily="49" charset="-122"/>
                <a:ea typeface="楷体" pitchFamily="49" charset="-122"/>
                <a:cs typeface="Times New Roman" pitchFamily="18" charset="0"/>
              </a:rPr>
              <a:t>从假说推演出的观察结论可交付实践去检验，从而确定该假说是否</a:t>
            </a:r>
            <a:r>
              <a:rPr lang="zh-CN" altLang="en-US" sz="2000" dirty="0" smtClean="0">
                <a:latin typeface="楷体" pitchFamily="49" charset="-122"/>
                <a:ea typeface="楷体" pitchFamily="49" charset="-122"/>
                <a:cs typeface="Times New Roman" pitchFamily="18" charset="0"/>
              </a:rPr>
              <a:t>成立。</a:t>
            </a:r>
            <a:endParaRPr lang="zh-CN" altLang="en-US" sz="2000" dirty="0">
              <a:latin typeface="楷体" pitchFamily="49" charset="-122"/>
              <a:ea typeface="楷体" pitchFamily="49" charset="-122"/>
            </a:endParaRPr>
          </a:p>
        </p:txBody>
      </p:sp>
      <p:sp>
        <p:nvSpPr>
          <p:cNvPr id="5" name="TextBox 4"/>
          <p:cNvSpPr txBox="1"/>
          <p:nvPr/>
        </p:nvSpPr>
        <p:spPr>
          <a:xfrm>
            <a:off x="2627784" y="2319263"/>
            <a:ext cx="864096" cy="461665"/>
          </a:xfrm>
          <a:prstGeom prst="rect">
            <a:avLst/>
          </a:prstGeom>
        </p:spPr>
        <p:style>
          <a:lnRef idx="3">
            <a:schemeClr val="lt1"/>
          </a:lnRef>
          <a:fillRef idx="1">
            <a:schemeClr val="accent2"/>
          </a:fillRef>
          <a:effectRef idx="1">
            <a:schemeClr val="accent2"/>
          </a:effectRef>
          <a:fontRef idx="minor">
            <a:schemeClr val="lt1"/>
          </a:fontRef>
        </p:style>
        <p:txBody>
          <a:bodyPr wrap="square" rtlCol="0">
            <a:spAutoFit/>
          </a:bodyPr>
          <a:lstStyle/>
          <a:p>
            <a:r>
              <a:rPr lang="zh-CN" altLang="en-US" sz="2400" dirty="0" smtClean="0">
                <a:latin typeface="华文行楷" pitchFamily="2" charset="-122"/>
                <a:ea typeface="华文行楷" pitchFamily="2" charset="-122"/>
              </a:rPr>
              <a:t>证实</a:t>
            </a:r>
            <a:endParaRPr lang="zh-CN" altLang="en-US" sz="2400" dirty="0">
              <a:latin typeface="华文行楷" pitchFamily="2" charset="-122"/>
              <a:ea typeface="华文行楷" pitchFamily="2" charset="-122"/>
            </a:endParaRPr>
          </a:p>
        </p:txBody>
      </p:sp>
      <p:sp>
        <p:nvSpPr>
          <p:cNvPr id="6" name="TextBox 5"/>
          <p:cNvSpPr txBox="1"/>
          <p:nvPr/>
        </p:nvSpPr>
        <p:spPr>
          <a:xfrm>
            <a:off x="5292080" y="2319263"/>
            <a:ext cx="864096" cy="461665"/>
          </a:xfrm>
          <a:prstGeom prst="rect">
            <a:avLst/>
          </a:prstGeom>
        </p:spPr>
        <p:style>
          <a:lnRef idx="3">
            <a:schemeClr val="lt1"/>
          </a:lnRef>
          <a:fillRef idx="1">
            <a:schemeClr val="accent1"/>
          </a:fillRef>
          <a:effectRef idx="1">
            <a:schemeClr val="accent1"/>
          </a:effectRef>
          <a:fontRef idx="minor">
            <a:schemeClr val="lt1"/>
          </a:fontRef>
        </p:style>
        <p:txBody>
          <a:bodyPr wrap="square" rtlCol="0">
            <a:spAutoFit/>
          </a:bodyPr>
          <a:lstStyle/>
          <a:p>
            <a:r>
              <a:rPr lang="zh-CN" altLang="en-US" sz="2400" dirty="0" smtClean="0">
                <a:latin typeface="华文行楷" pitchFamily="2" charset="-122"/>
                <a:ea typeface="华文行楷" pitchFamily="2" charset="-122"/>
              </a:rPr>
              <a:t>证伪</a:t>
            </a:r>
            <a:endParaRPr lang="zh-CN" altLang="en-US" sz="2400" dirty="0">
              <a:latin typeface="华文行楷" pitchFamily="2" charset="-122"/>
              <a:ea typeface="华文行楷" pitchFamily="2" charset="-122"/>
            </a:endParaRPr>
          </a:p>
        </p:txBody>
      </p:sp>
      <p:cxnSp>
        <p:nvCxnSpPr>
          <p:cNvPr id="7" name="直接箭头连接符 6"/>
          <p:cNvCxnSpPr/>
          <p:nvPr/>
        </p:nvCxnSpPr>
        <p:spPr>
          <a:xfrm flipV="1">
            <a:off x="3059832" y="2924944"/>
            <a:ext cx="0" cy="504056"/>
          </a:xfrm>
          <a:prstGeom prst="straightConnector1">
            <a:avLst/>
          </a:prstGeom>
          <a:ln w="38100">
            <a:solidFill>
              <a:srgbClr val="7030A0"/>
            </a:solidFill>
            <a:tailEnd type="arrow"/>
          </a:ln>
        </p:spPr>
        <p:style>
          <a:lnRef idx="1">
            <a:schemeClr val="accent2"/>
          </a:lnRef>
          <a:fillRef idx="0">
            <a:schemeClr val="accent2"/>
          </a:fillRef>
          <a:effectRef idx="0">
            <a:schemeClr val="accent2"/>
          </a:effectRef>
          <a:fontRef idx="minor">
            <a:schemeClr val="tx1"/>
          </a:fontRef>
        </p:style>
      </p:cxnSp>
      <p:sp>
        <p:nvSpPr>
          <p:cNvPr id="8" name="TextBox 7"/>
          <p:cNvSpPr txBox="1"/>
          <p:nvPr/>
        </p:nvSpPr>
        <p:spPr>
          <a:xfrm>
            <a:off x="2483768" y="3471391"/>
            <a:ext cx="1224136" cy="461665"/>
          </a:xfrm>
          <a:prstGeom prst="rect">
            <a:avLst/>
          </a:prstGeom>
          <a:noFill/>
        </p:spPr>
        <p:txBody>
          <a:bodyPr wrap="square" rtlCol="0">
            <a:spAutoFit/>
          </a:bodyPr>
          <a:lstStyle/>
          <a:p>
            <a:r>
              <a:rPr lang="zh-CN" altLang="en-US" sz="2400" dirty="0" smtClean="0">
                <a:solidFill>
                  <a:srgbClr val="00B050"/>
                </a:solidFill>
                <a:latin typeface="隶书" pitchFamily="49" charset="-122"/>
                <a:ea typeface="隶书" pitchFamily="49" charset="-122"/>
              </a:rPr>
              <a:t>可应用</a:t>
            </a:r>
            <a:endParaRPr lang="zh-CN" altLang="en-US" sz="2400" dirty="0">
              <a:solidFill>
                <a:srgbClr val="00B050"/>
              </a:solidFill>
              <a:latin typeface="隶书" pitchFamily="49" charset="-122"/>
              <a:ea typeface="隶书" pitchFamily="49" charset="-122"/>
            </a:endParaRPr>
          </a:p>
        </p:txBody>
      </p:sp>
      <p:cxnSp>
        <p:nvCxnSpPr>
          <p:cNvPr id="9" name="直接箭头连接符 8"/>
          <p:cNvCxnSpPr/>
          <p:nvPr/>
        </p:nvCxnSpPr>
        <p:spPr>
          <a:xfrm flipV="1">
            <a:off x="5724128" y="2924944"/>
            <a:ext cx="0" cy="504056"/>
          </a:xfrm>
          <a:prstGeom prst="straightConnector1">
            <a:avLst/>
          </a:prstGeom>
          <a:ln w="38100">
            <a:solidFill>
              <a:srgbClr val="7030A0"/>
            </a:solidFill>
            <a:tailEnd type="arrow"/>
          </a:ln>
        </p:spPr>
        <p:style>
          <a:lnRef idx="1">
            <a:schemeClr val="accent2"/>
          </a:lnRef>
          <a:fillRef idx="0">
            <a:schemeClr val="accent2"/>
          </a:fillRef>
          <a:effectRef idx="0">
            <a:schemeClr val="accent2"/>
          </a:effectRef>
          <a:fontRef idx="minor">
            <a:schemeClr val="tx1"/>
          </a:fontRef>
        </p:style>
      </p:cxnSp>
      <p:sp>
        <p:nvSpPr>
          <p:cNvPr id="10" name="TextBox 9"/>
          <p:cNvSpPr txBox="1"/>
          <p:nvPr/>
        </p:nvSpPr>
        <p:spPr>
          <a:xfrm>
            <a:off x="5004048" y="3471391"/>
            <a:ext cx="1728192" cy="461665"/>
          </a:xfrm>
          <a:prstGeom prst="rect">
            <a:avLst/>
          </a:prstGeom>
          <a:noFill/>
        </p:spPr>
        <p:txBody>
          <a:bodyPr wrap="square" rtlCol="0">
            <a:spAutoFit/>
          </a:bodyPr>
          <a:lstStyle/>
          <a:p>
            <a:r>
              <a:rPr lang="zh-CN" altLang="en-US" sz="2400" dirty="0" smtClean="0">
                <a:solidFill>
                  <a:srgbClr val="00B050"/>
                </a:solidFill>
                <a:latin typeface="隶书" pitchFamily="49" charset="-122"/>
                <a:ea typeface="隶书" pitchFamily="49" charset="-122"/>
              </a:rPr>
              <a:t>修改</a:t>
            </a:r>
            <a:r>
              <a:rPr lang="en-US" altLang="zh-CN" sz="2400" dirty="0" smtClean="0">
                <a:solidFill>
                  <a:srgbClr val="00B050"/>
                </a:solidFill>
                <a:latin typeface="隶书" pitchFamily="49" charset="-122"/>
                <a:ea typeface="隶书" pitchFamily="49" charset="-122"/>
              </a:rPr>
              <a:t>/</a:t>
            </a:r>
            <a:r>
              <a:rPr lang="zh-CN" altLang="en-US" sz="2400" dirty="0" smtClean="0">
                <a:solidFill>
                  <a:srgbClr val="00B050"/>
                </a:solidFill>
                <a:latin typeface="隶书" pitchFamily="49" charset="-122"/>
                <a:ea typeface="隶书" pitchFamily="49" charset="-122"/>
              </a:rPr>
              <a:t>放弃</a:t>
            </a:r>
            <a:endParaRPr lang="zh-CN" altLang="en-US" sz="2400" dirty="0">
              <a:solidFill>
                <a:srgbClr val="00B050"/>
              </a:solidFill>
              <a:latin typeface="隶书" pitchFamily="49" charset="-122"/>
              <a:ea typeface="隶书" pitchFamily="49" charset="-122"/>
            </a:endParaRPr>
          </a:p>
        </p:txBody>
      </p:sp>
      <p:grpSp>
        <p:nvGrpSpPr>
          <p:cNvPr id="12" name="组合 11"/>
          <p:cNvGrpSpPr/>
          <p:nvPr/>
        </p:nvGrpSpPr>
        <p:grpSpPr>
          <a:xfrm>
            <a:off x="3491880" y="4437112"/>
            <a:ext cx="2016224" cy="864096"/>
            <a:chOff x="1979712" y="5445224"/>
            <a:chExt cx="2912324" cy="864096"/>
          </a:xfrm>
        </p:grpSpPr>
        <p:sp>
          <p:nvSpPr>
            <p:cNvPr id="13" name="横卷形 12"/>
            <p:cNvSpPr/>
            <p:nvPr/>
          </p:nvSpPr>
          <p:spPr>
            <a:xfrm>
              <a:off x="1979712" y="5445224"/>
              <a:ext cx="2736304" cy="864096"/>
            </a:xfrm>
            <a:prstGeom prst="horizontalScroll">
              <a:avLst/>
            </a:prstGeom>
          </p:spPr>
          <p:style>
            <a:lnRef idx="1">
              <a:schemeClr val="accent5"/>
            </a:lnRef>
            <a:fillRef idx="2">
              <a:schemeClr val="accent5"/>
            </a:fillRef>
            <a:effectRef idx="1">
              <a:schemeClr val="accent5"/>
            </a:effectRef>
            <a:fontRef idx="minor">
              <a:schemeClr val="dk1"/>
            </a:fontRef>
          </p:style>
          <p:txBody>
            <a:bodyPr rtlCol="0" anchor="ctr"/>
            <a:lstStyle/>
            <a:p>
              <a:pPr algn="ctr"/>
              <a:endParaRPr lang="zh-CN" altLang="en-US"/>
            </a:p>
          </p:txBody>
        </p:sp>
        <p:sp>
          <p:nvSpPr>
            <p:cNvPr id="14" name="TextBox 13"/>
            <p:cNvSpPr txBox="1"/>
            <p:nvPr/>
          </p:nvSpPr>
          <p:spPr>
            <a:xfrm>
              <a:off x="2227739" y="5661248"/>
              <a:ext cx="2664297" cy="430887"/>
            </a:xfrm>
            <a:prstGeom prst="rect">
              <a:avLst/>
            </a:prstGeom>
            <a:noFill/>
          </p:spPr>
          <p:txBody>
            <a:bodyPr wrap="square" rtlCol="0">
              <a:spAutoFit/>
            </a:bodyPr>
            <a:lstStyle/>
            <a:p>
              <a:r>
                <a:rPr lang="zh-CN" altLang="en-US" sz="2200" dirty="0">
                  <a:latin typeface="华文行楷" pitchFamily="2" charset="-122"/>
                  <a:ea typeface="华文行楷" pitchFamily="2" charset="-122"/>
                </a:rPr>
                <a:t>判决</a:t>
              </a:r>
              <a:r>
                <a:rPr lang="zh-CN" altLang="en-US" sz="2200" dirty="0" smtClean="0">
                  <a:latin typeface="华文行楷" pitchFamily="2" charset="-122"/>
                  <a:ea typeface="华文行楷" pitchFamily="2" charset="-122"/>
                </a:rPr>
                <a:t>性实验</a:t>
              </a:r>
              <a:endParaRPr lang="zh-CN" altLang="en-US" sz="2200" dirty="0">
                <a:latin typeface="华文行楷" pitchFamily="2" charset="-122"/>
                <a:ea typeface="华文行楷" pitchFamily="2" charset="-122"/>
              </a:endParaRPr>
            </a:p>
          </p:txBody>
        </p: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9"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dissolve">
                                      <p:cBhvr>
                                        <p:cTn id="7" dur="500"/>
                                        <p:tgtEl>
                                          <p:spTgt spid="4"/>
                                        </p:tgtEl>
                                      </p:cBhvr>
                                    </p:animEffect>
                                  </p:childTnLst>
                                </p:cTn>
                              </p:par>
                            </p:childTnLst>
                          </p:cTn>
                        </p:par>
                      </p:childTnLst>
                    </p:cTn>
                  </p:par>
                  <p:par>
                    <p:cTn id="8" fill="hold">
                      <p:stCondLst>
                        <p:cond delay="indefinite"/>
                      </p:stCondLst>
                      <p:childTnLst>
                        <p:par>
                          <p:cTn id="9" fill="hold">
                            <p:stCondLst>
                              <p:cond delay="0"/>
                            </p:stCondLst>
                            <p:childTnLst>
                              <p:par>
                                <p:cTn id="10" presetID="4" presetClass="entr" presetSubtype="16" fill="hold" nodeType="click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box(in)">
                                      <p:cBhvr>
                                        <p:cTn id="12" dur="500"/>
                                        <p:tgtEl>
                                          <p:spTgt spid="7"/>
                                        </p:tgtEl>
                                      </p:cBhvr>
                                    </p:animEffect>
                                  </p:childTnLst>
                                </p:cTn>
                              </p:par>
                              <p:par>
                                <p:cTn id="13" presetID="29"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 calcmode="lin" valueType="num">
                                      <p:cBhvr>
                                        <p:cTn id="15" dur="500" fill="hold"/>
                                        <p:tgtEl>
                                          <p:spTgt spid="8"/>
                                        </p:tgtEl>
                                        <p:attrNameLst>
                                          <p:attrName>ppt_x</p:attrName>
                                        </p:attrNameLst>
                                      </p:cBhvr>
                                      <p:tavLst>
                                        <p:tav tm="0">
                                          <p:val>
                                            <p:strVal val="#ppt_x-.2"/>
                                          </p:val>
                                        </p:tav>
                                        <p:tav tm="100000">
                                          <p:val>
                                            <p:strVal val="#ppt_x"/>
                                          </p:val>
                                        </p:tav>
                                      </p:tavLst>
                                    </p:anim>
                                    <p:anim calcmode="lin" valueType="num">
                                      <p:cBhvr>
                                        <p:cTn id="16" dur="500" fill="hold"/>
                                        <p:tgtEl>
                                          <p:spTgt spid="8"/>
                                        </p:tgtEl>
                                        <p:attrNameLst>
                                          <p:attrName>ppt_y</p:attrName>
                                        </p:attrNameLst>
                                      </p:cBhvr>
                                      <p:tavLst>
                                        <p:tav tm="0">
                                          <p:val>
                                            <p:strVal val="#ppt_y"/>
                                          </p:val>
                                        </p:tav>
                                        <p:tav tm="100000">
                                          <p:val>
                                            <p:strVal val="#ppt_y"/>
                                          </p:val>
                                        </p:tav>
                                      </p:tavLst>
                                    </p:anim>
                                    <p:animEffect transition="in" filter="wipe(right)" prLst="gradientSize: 0.1">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4" presetClass="entr" presetSubtype="16" fill="hold" nodeType="clickEffect">
                                  <p:stCondLst>
                                    <p:cond delay="0"/>
                                  </p:stCondLst>
                                  <p:childTnLst>
                                    <p:set>
                                      <p:cBhvr>
                                        <p:cTn id="21" dur="1" fill="hold">
                                          <p:stCondLst>
                                            <p:cond delay="0"/>
                                          </p:stCondLst>
                                        </p:cTn>
                                        <p:tgtEl>
                                          <p:spTgt spid="9"/>
                                        </p:tgtEl>
                                        <p:attrNameLst>
                                          <p:attrName>style.visibility</p:attrName>
                                        </p:attrNameLst>
                                      </p:cBhvr>
                                      <p:to>
                                        <p:strVal val="visible"/>
                                      </p:to>
                                    </p:set>
                                    <p:animEffect transition="in" filter="box(in)">
                                      <p:cBhvr>
                                        <p:cTn id="22" dur="500"/>
                                        <p:tgtEl>
                                          <p:spTgt spid="9"/>
                                        </p:tgtEl>
                                      </p:cBhvr>
                                    </p:animEffect>
                                  </p:childTnLst>
                                </p:cTn>
                              </p:par>
                              <p:par>
                                <p:cTn id="23" presetID="29" presetClass="entr" presetSubtype="0" fill="hold" grpId="0" nodeType="withEffect">
                                  <p:stCondLst>
                                    <p:cond delay="0"/>
                                  </p:stCondLst>
                                  <p:childTnLst>
                                    <p:set>
                                      <p:cBhvr>
                                        <p:cTn id="24" dur="1" fill="hold">
                                          <p:stCondLst>
                                            <p:cond delay="0"/>
                                          </p:stCondLst>
                                        </p:cTn>
                                        <p:tgtEl>
                                          <p:spTgt spid="10"/>
                                        </p:tgtEl>
                                        <p:attrNameLst>
                                          <p:attrName>style.visibility</p:attrName>
                                        </p:attrNameLst>
                                      </p:cBhvr>
                                      <p:to>
                                        <p:strVal val="visible"/>
                                      </p:to>
                                    </p:set>
                                    <p:anim calcmode="lin" valueType="num">
                                      <p:cBhvr>
                                        <p:cTn id="25" dur="500" fill="hold"/>
                                        <p:tgtEl>
                                          <p:spTgt spid="10"/>
                                        </p:tgtEl>
                                        <p:attrNameLst>
                                          <p:attrName>ppt_x</p:attrName>
                                        </p:attrNameLst>
                                      </p:cBhvr>
                                      <p:tavLst>
                                        <p:tav tm="0">
                                          <p:val>
                                            <p:strVal val="#ppt_x-.2"/>
                                          </p:val>
                                        </p:tav>
                                        <p:tav tm="100000">
                                          <p:val>
                                            <p:strVal val="#ppt_x"/>
                                          </p:val>
                                        </p:tav>
                                      </p:tavLst>
                                    </p:anim>
                                    <p:anim calcmode="lin" valueType="num">
                                      <p:cBhvr>
                                        <p:cTn id="26" dur="500" fill="hold"/>
                                        <p:tgtEl>
                                          <p:spTgt spid="10"/>
                                        </p:tgtEl>
                                        <p:attrNameLst>
                                          <p:attrName>ppt_y</p:attrName>
                                        </p:attrNameLst>
                                      </p:cBhvr>
                                      <p:tavLst>
                                        <p:tav tm="0">
                                          <p:val>
                                            <p:strVal val="#ppt_y"/>
                                          </p:val>
                                        </p:tav>
                                        <p:tav tm="100000">
                                          <p:val>
                                            <p:strVal val="#ppt_y"/>
                                          </p:val>
                                        </p:tav>
                                      </p:tavLst>
                                    </p:anim>
                                    <p:animEffect transition="in" filter="wipe(right)" prLst="gradientSize: 0.1">
                                      <p:cBhvr>
                                        <p:cTn id="27" dur="5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55" presetClass="entr" presetSubtype="0" fill="hold" nodeType="clickEffect">
                                  <p:stCondLst>
                                    <p:cond delay="0"/>
                                  </p:stCondLst>
                                  <p:childTnLst>
                                    <p:set>
                                      <p:cBhvr>
                                        <p:cTn id="31" dur="1" fill="hold">
                                          <p:stCondLst>
                                            <p:cond delay="0"/>
                                          </p:stCondLst>
                                        </p:cTn>
                                        <p:tgtEl>
                                          <p:spTgt spid="12"/>
                                        </p:tgtEl>
                                        <p:attrNameLst>
                                          <p:attrName>style.visibility</p:attrName>
                                        </p:attrNameLst>
                                      </p:cBhvr>
                                      <p:to>
                                        <p:strVal val="visible"/>
                                      </p:to>
                                    </p:set>
                                    <p:anim calcmode="lin" valueType="num">
                                      <p:cBhvr>
                                        <p:cTn id="32" dur="500" fill="hold"/>
                                        <p:tgtEl>
                                          <p:spTgt spid="12"/>
                                        </p:tgtEl>
                                        <p:attrNameLst>
                                          <p:attrName>ppt_w</p:attrName>
                                        </p:attrNameLst>
                                      </p:cBhvr>
                                      <p:tavLst>
                                        <p:tav tm="0">
                                          <p:val>
                                            <p:strVal val="#ppt_w*0.70"/>
                                          </p:val>
                                        </p:tav>
                                        <p:tav tm="100000">
                                          <p:val>
                                            <p:strVal val="#ppt_w"/>
                                          </p:val>
                                        </p:tav>
                                      </p:tavLst>
                                    </p:anim>
                                    <p:anim calcmode="lin" valueType="num">
                                      <p:cBhvr>
                                        <p:cTn id="33" dur="500" fill="hold"/>
                                        <p:tgtEl>
                                          <p:spTgt spid="12"/>
                                        </p:tgtEl>
                                        <p:attrNameLst>
                                          <p:attrName>ppt_h</p:attrName>
                                        </p:attrNameLst>
                                      </p:cBhvr>
                                      <p:tavLst>
                                        <p:tav tm="0">
                                          <p:val>
                                            <p:strVal val="#ppt_h"/>
                                          </p:val>
                                        </p:tav>
                                        <p:tav tm="100000">
                                          <p:val>
                                            <p:strVal val="#ppt_h"/>
                                          </p:val>
                                        </p:tav>
                                      </p:tavLst>
                                    </p:anim>
                                    <p:animEffect transition="in" filter="fade">
                                      <p:cBhvr>
                                        <p:cTn id="34"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8" grpId="0"/>
      <p:bldP spid="10"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smtClean="0">
                <a:latin typeface="华文新魏" pitchFamily="2" charset="-122"/>
                <a:ea typeface="华文新魏" pitchFamily="2" charset="-122"/>
              </a:rPr>
              <a:t>科学假说的评价标准</a:t>
            </a:r>
            <a:endParaRPr lang="zh-CN" altLang="en-US" dirty="0">
              <a:latin typeface="华文新魏" pitchFamily="2" charset="-122"/>
              <a:ea typeface="华文新魏" pitchFamily="2" charset="-122"/>
            </a:endParaRPr>
          </a:p>
        </p:txBody>
      </p:sp>
      <p:sp>
        <p:nvSpPr>
          <p:cNvPr id="4" name="流程图: 顺序访问存储器 3"/>
          <p:cNvSpPr/>
          <p:nvPr/>
        </p:nvSpPr>
        <p:spPr>
          <a:xfrm>
            <a:off x="2051720" y="1700808"/>
            <a:ext cx="1512168" cy="936104"/>
          </a:xfrm>
          <a:prstGeom prst="flowChartMagneticTape">
            <a:avLst/>
          </a:prstGeom>
          <a:ln>
            <a:solidFill>
              <a:srgbClr val="00B050"/>
            </a:solidFill>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b="1" dirty="0"/>
          </a:p>
        </p:txBody>
      </p:sp>
      <p:sp>
        <p:nvSpPr>
          <p:cNvPr id="5" name="TextBox 4"/>
          <p:cNvSpPr txBox="1"/>
          <p:nvPr/>
        </p:nvSpPr>
        <p:spPr>
          <a:xfrm>
            <a:off x="2267744" y="1959223"/>
            <a:ext cx="1512168" cy="461665"/>
          </a:xfrm>
          <a:prstGeom prst="rect">
            <a:avLst/>
          </a:prstGeom>
          <a:noFill/>
        </p:spPr>
        <p:txBody>
          <a:bodyPr wrap="square" rtlCol="0">
            <a:spAutoFit/>
          </a:bodyPr>
          <a:lstStyle/>
          <a:p>
            <a:r>
              <a:rPr lang="zh-CN" altLang="en-US" sz="2400" dirty="0" smtClean="0">
                <a:latin typeface="华文行楷" pitchFamily="2" charset="-122"/>
                <a:ea typeface="华文行楷" pitchFamily="2" charset="-122"/>
              </a:rPr>
              <a:t>保守性</a:t>
            </a:r>
            <a:endParaRPr lang="zh-CN" altLang="en-US" sz="2400" dirty="0">
              <a:latin typeface="华文行楷" pitchFamily="2" charset="-122"/>
              <a:ea typeface="华文行楷" pitchFamily="2" charset="-122"/>
            </a:endParaRPr>
          </a:p>
        </p:txBody>
      </p:sp>
      <p:sp>
        <p:nvSpPr>
          <p:cNvPr id="6" name="流程图: 顺序访问存储器 5"/>
          <p:cNvSpPr/>
          <p:nvPr/>
        </p:nvSpPr>
        <p:spPr>
          <a:xfrm>
            <a:off x="2051720" y="2924944"/>
            <a:ext cx="1512168" cy="936104"/>
          </a:xfrm>
          <a:prstGeom prst="flowChartMagneticTape">
            <a:avLst/>
          </a:prstGeom>
          <a:ln/>
        </p:spPr>
        <p:style>
          <a:lnRef idx="2">
            <a:schemeClr val="accent2"/>
          </a:lnRef>
          <a:fillRef idx="1">
            <a:schemeClr val="lt1"/>
          </a:fillRef>
          <a:effectRef idx="0">
            <a:schemeClr val="accent2"/>
          </a:effectRef>
          <a:fontRef idx="minor">
            <a:schemeClr val="dk1"/>
          </a:fontRef>
        </p:style>
        <p:txBody>
          <a:bodyPr rtlCol="0" anchor="ctr"/>
          <a:lstStyle/>
          <a:p>
            <a:pPr algn="ctr"/>
            <a:endParaRPr lang="zh-CN" altLang="en-US" b="1" dirty="0"/>
          </a:p>
        </p:txBody>
      </p:sp>
      <p:sp>
        <p:nvSpPr>
          <p:cNvPr id="7" name="TextBox 6"/>
          <p:cNvSpPr txBox="1"/>
          <p:nvPr/>
        </p:nvSpPr>
        <p:spPr>
          <a:xfrm>
            <a:off x="2267744" y="3183359"/>
            <a:ext cx="1512168" cy="461665"/>
          </a:xfrm>
          <a:prstGeom prst="rect">
            <a:avLst/>
          </a:prstGeom>
          <a:noFill/>
        </p:spPr>
        <p:txBody>
          <a:bodyPr wrap="square" rtlCol="0">
            <a:spAutoFit/>
          </a:bodyPr>
          <a:lstStyle/>
          <a:p>
            <a:r>
              <a:rPr lang="zh-CN" altLang="en-US" sz="2400" dirty="0" smtClean="0">
                <a:latin typeface="华文行楷" pitchFamily="2" charset="-122"/>
                <a:ea typeface="华文行楷" pitchFamily="2" charset="-122"/>
              </a:rPr>
              <a:t>普通性</a:t>
            </a:r>
            <a:endParaRPr lang="zh-CN" altLang="en-US" sz="2400" dirty="0">
              <a:latin typeface="华文行楷" pitchFamily="2" charset="-122"/>
              <a:ea typeface="华文行楷" pitchFamily="2" charset="-122"/>
            </a:endParaRPr>
          </a:p>
        </p:txBody>
      </p:sp>
      <p:sp>
        <p:nvSpPr>
          <p:cNvPr id="8" name="流程图: 顺序访问存储器 7"/>
          <p:cNvSpPr/>
          <p:nvPr/>
        </p:nvSpPr>
        <p:spPr>
          <a:xfrm>
            <a:off x="2051720" y="4149080"/>
            <a:ext cx="1512168" cy="936104"/>
          </a:xfrm>
          <a:prstGeom prst="flowChartMagneticTape">
            <a:avLst/>
          </a:prstGeom>
          <a:ln/>
        </p:spPr>
        <p:style>
          <a:lnRef idx="2">
            <a:schemeClr val="accent5"/>
          </a:lnRef>
          <a:fillRef idx="1">
            <a:schemeClr val="lt1"/>
          </a:fillRef>
          <a:effectRef idx="0">
            <a:schemeClr val="accent5"/>
          </a:effectRef>
          <a:fontRef idx="minor">
            <a:schemeClr val="dk1"/>
          </a:fontRef>
        </p:style>
        <p:txBody>
          <a:bodyPr rtlCol="0" anchor="ctr"/>
          <a:lstStyle/>
          <a:p>
            <a:pPr algn="ctr"/>
            <a:endParaRPr lang="zh-CN" altLang="en-US" b="1" dirty="0"/>
          </a:p>
        </p:txBody>
      </p:sp>
      <p:sp>
        <p:nvSpPr>
          <p:cNvPr id="9" name="TextBox 8"/>
          <p:cNvSpPr txBox="1"/>
          <p:nvPr/>
        </p:nvSpPr>
        <p:spPr>
          <a:xfrm>
            <a:off x="2267744" y="4407495"/>
            <a:ext cx="1512168" cy="461665"/>
          </a:xfrm>
          <a:prstGeom prst="rect">
            <a:avLst/>
          </a:prstGeom>
          <a:noFill/>
        </p:spPr>
        <p:txBody>
          <a:bodyPr wrap="square" rtlCol="0">
            <a:spAutoFit/>
          </a:bodyPr>
          <a:lstStyle/>
          <a:p>
            <a:r>
              <a:rPr lang="zh-CN" altLang="en-US" sz="2400" dirty="0" smtClean="0">
                <a:latin typeface="华文行楷" pitchFamily="2" charset="-122"/>
                <a:ea typeface="华文行楷" pitchFamily="2" charset="-122"/>
              </a:rPr>
              <a:t>简单性</a:t>
            </a:r>
            <a:endParaRPr lang="zh-CN" altLang="en-US" sz="2400" dirty="0">
              <a:latin typeface="华文行楷" pitchFamily="2" charset="-122"/>
              <a:ea typeface="华文行楷" pitchFamily="2" charset="-122"/>
            </a:endParaRPr>
          </a:p>
        </p:txBody>
      </p:sp>
      <p:sp>
        <p:nvSpPr>
          <p:cNvPr id="10" name="流程图: 顺序访问存储器 9"/>
          <p:cNvSpPr/>
          <p:nvPr/>
        </p:nvSpPr>
        <p:spPr>
          <a:xfrm>
            <a:off x="5508104" y="1700808"/>
            <a:ext cx="1512168" cy="936104"/>
          </a:xfrm>
          <a:prstGeom prst="flowChartMagneticTape">
            <a:avLst/>
          </a:prstGeom>
          <a:ln/>
        </p:spPr>
        <p:style>
          <a:lnRef idx="2">
            <a:schemeClr val="accent4"/>
          </a:lnRef>
          <a:fillRef idx="1">
            <a:schemeClr val="lt1"/>
          </a:fillRef>
          <a:effectRef idx="0">
            <a:schemeClr val="accent4"/>
          </a:effectRef>
          <a:fontRef idx="minor">
            <a:schemeClr val="dk1"/>
          </a:fontRef>
        </p:style>
        <p:txBody>
          <a:bodyPr rtlCol="0" anchor="ctr"/>
          <a:lstStyle/>
          <a:p>
            <a:pPr algn="ctr"/>
            <a:endParaRPr lang="zh-CN" altLang="en-US" b="1" dirty="0"/>
          </a:p>
        </p:txBody>
      </p:sp>
      <p:sp>
        <p:nvSpPr>
          <p:cNvPr id="11" name="TextBox 10"/>
          <p:cNvSpPr txBox="1"/>
          <p:nvPr/>
        </p:nvSpPr>
        <p:spPr>
          <a:xfrm>
            <a:off x="5580112" y="1959223"/>
            <a:ext cx="1512168" cy="461665"/>
          </a:xfrm>
          <a:prstGeom prst="rect">
            <a:avLst/>
          </a:prstGeom>
          <a:noFill/>
        </p:spPr>
        <p:txBody>
          <a:bodyPr wrap="square" rtlCol="0">
            <a:spAutoFit/>
          </a:bodyPr>
          <a:lstStyle/>
          <a:p>
            <a:r>
              <a:rPr lang="zh-CN" altLang="en-US" sz="2400" dirty="0">
                <a:latin typeface="华文行楷" pitchFamily="2" charset="-122"/>
                <a:ea typeface="华文行楷" pitchFamily="2" charset="-122"/>
              </a:rPr>
              <a:t>可反驳</a:t>
            </a:r>
            <a:r>
              <a:rPr lang="zh-CN" altLang="en-US" sz="2400" dirty="0" smtClean="0">
                <a:latin typeface="华文行楷" pitchFamily="2" charset="-122"/>
                <a:ea typeface="华文行楷" pitchFamily="2" charset="-122"/>
              </a:rPr>
              <a:t>性</a:t>
            </a:r>
            <a:endParaRPr lang="zh-CN" altLang="en-US" sz="2400" dirty="0">
              <a:latin typeface="华文行楷" pitchFamily="2" charset="-122"/>
              <a:ea typeface="华文行楷" pitchFamily="2" charset="-122"/>
            </a:endParaRPr>
          </a:p>
        </p:txBody>
      </p:sp>
      <p:sp>
        <p:nvSpPr>
          <p:cNvPr id="12" name="流程图: 顺序访问存储器 11"/>
          <p:cNvSpPr/>
          <p:nvPr/>
        </p:nvSpPr>
        <p:spPr>
          <a:xfrm>
            <a:off x="5508104" y="2996952"/>
            <a:ext cx="1512168" cy="936104"/>
          </a:xfrm>
          <a:prstGeom prst="flowChartMagneticTape">
            <a:avLst/>
          </a:prstGeom>
          <a:ln/>
        </p:spPr>
        <p:style>
          <a:lnRef idx="2">
            <a:schemeClr val="accent6"/>
          </a:lnRef>
          <a:fillRef idx="1">
            <a:schemeClr val="lt1"/>
          </a:fillRef>
          <a:effectRef idx="0">
            <a:schemeClr val="accent6"/>
          </a:effectRef>
          <a:fontRef idx="minor">
            <a:schemeClr val="dk1"/>
          </a:fontRef>
        </p:style>
        <p:txBody>
          <a:bodyPr rtlCol="0" anchor="ctr"/>
          <a:lstStyle/>
          <a:p>
            <a:pPr algn="ctr"/>
            <a:endParaRPr lang="zh-CN" altLang="en-US" b="1" dirty="0"/>
          </a:p>
        </p:txBody>
      </p:sp>
      <p:sp>
        <p:nvSpPr>
          <p:cNvPr id="13" name="TextBox 12"/>
          <p:cNvSpPr txBox="1"/>
          <p:nvPr/>
        </p:nvSpPr>
        <p:spPr>
          <a:xfrm>
            <a:off x="5724128" y="3255367"/>
            <a:ext cx="1512168" cy="461665"/>
          </a:xfrm>
          <a:prstGeom prst="rect">
            <a:avLst/>
          </a:prstGeom>
          <a:noFill/>
        </p:spPr>
        <p:txBody>
          <a:bodyPr wrap="square" rtlCol="0">
            <a:spAutoFit/>
          </a:bodyPr>
          <a:lstStyle/>
          <a:p>
            <a:r>
              <a:rPr lang="zh-CN" altLang="en-US" sz="2400" dirty="0">
                <a:latin typeface="华文行楷" pitchFamily="2" charset="-122"/>
                <a:ea typeface="华文行楷" pitchFamily="2" charset="-122"/>
              </a:rPr>
              <a:t>谦和</a:t>
            </a:r>
            <a:r>
              <a:rPr lang="zh-CN" altLang="en-US" sz="2400" dirty="0" smtClean="0">
                <a:latin typeface="华文行楷" pitchFamily="2" charset="-122"/>
                <a:ea typeface="华文行楷" pitchFamily="2" charset="-122"/>
              </a:rPr>
              <a:t>性</a:t>
            </a:r>
            <a:endParaRPr lang="zh-CN" altLang="en-US" sz="2400" dirty="0">
              <a:latin typeface="华文行楷" pitchFamily="2" charset="-122"/>
              <a:ea typeface="华文行楷" pitchFamily="2" charset="-122"/>
            </a:endParaRPr>
          </a:p>
        </p:txBody>
      </p:sp>
      <p:sp>
        <p:nvSpPr>
          <p:cNvPr id="14" name="流程图: 顺序访问存储器 13"/>
          <p:cNvSpPr/>
          <p:nvPr/>
        </p:nvSpPr>
        <p:spPr>
          <a:xfrm>
            <a:off x="5508104" y="4221088"/>
            <a:ext cx="1512168" cy="936104"/>
          </a:xfrm>
          <a:prstGeom prst="flowChartMagneticTape">
            <a:avLst/>
          </a:prstGeom>
          <a:ln/>
        </p:spPr>
        <p:style>
          <a:lnRef idx="2">
            <a:schemeClr val="dk1"/>
          </a:lnRef>
          <a:fillRef idx="1">
            <a:schemeClr val="lt1"/>
          </a:fillRef>
          <a:effectRef idx="0">
            <a:schemeClr val="dk1"/>
          </a:effectRef>
          <a:fontRef idx="minor">
            <a:schemeClr val="dk1"/>
          </a:fontRef>
        </p:style>
        <p:txBody>
          <a:bodyPr rtlCol="0" anchor="ctr"/>
          <a:lstStyle/>
          <a:p>
            <a:pPr algn="ctr"/>
            <a:endParaRPr lang="zh-CN" altLang="en-US" b="1" dirty="0"/>
          </a:p>
        </p:txBody>
      </p:sp>
      <p:sp>
        <p:nvSpPr>
          <p:cNvPr id="15" name="TextBox 14"/>
          <p:cNvSpPr txBox="1"/>
          <p:nvPr/>
        </p:nvSpPr>
        <p:spPr>
          <a:xfrm>
            <a:off x="5724128" y="4479503"/>
            <a:ext cx="1512168" cy="461665"/>
          </a:xfrm>
          <a:prstGeom prst="rect">
            <a:avLst/>
          </a:prstGeom>
          <a:noFill/>
        </p:spPr>
        <p:txBody>
          <a:bodyPr wrap="square" rtlCol="0">
            <a:spAutoFit/>
          </a:bodyPr>
          <a:lstStyle/>
          <a:p>
            <a:r>
              <a:rPr lang="zh-CN" altLang="en-US" sz="2400" dirty="0">
                <a:latin typeface="华文行楷" pitchFamily="2" charset="-122"/>
                <a:ea typeface="华文行楷" pitchFamily="2" charset="-122"/>
              </a:rPr>
              <a:t>精确</a:t>
            </a:r>
            <a:r>
              <a:rPr lang="zh-CN" altLang="en-US" sz="2400" dirty="0" smtClean="0">
                <a:latin typeface="华文行楷" pitchFamily="2" charset="-122"/>
                <a:ea typeface="华文行楷" pitchFamily="2" charset="-122"/>
              </a:rPr>
              <a:t>性</a:t>
            </a:r>
            <a:endParaRPr lang="zh-CN" altLang="en-US" sz="2400" dirty="0">
              <a:latin typeface="华文行楷" pitchFamily="2" charset="-122"/>
              <a:ea typeface="华文行楷"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box(in)">
                                      <p:cBhvr>
                                        <p:cTn id="7" dur="500"/>
                                        <p:tgtEl>
                                          <p:spTgt spid="4"/>
                                        </p:tgtEl>
                                      </p:cBhvr>
                                    </p:animEffect>
                                  </p:childTnLst>
                                </p:cTn>
                              </p:par>
                              <p:par>
                                <p:cTn id="8" presetID="4" presetClass="entr" presetSubtype="16"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box(in)">
                                      <p:cBhvr>
                                        <p:cTn id="10" dur="500"/>
                                        <p:tgtEl>
                                          <p:spTgt spid="5"/>
                                        </p:tgtEl>
                                      </p:cBhvr>
                                    </p:animEffect>
                                  </p:childTnLst>
                                </p:cTn>
                              </p:par>
                            </p:childTnLst>
                          </p:cTn>
                        </p:par>
                      </p:childTnLst>
                    </p:cTn>
                  </p:par>
                  <p:par>
                    <p:cTn id="11" fill="hold">
                      <p:stCondLst>
                        <p:cond delay="indefinite"/>
                      </p:stCondLst>
                      <p:childTnLst>
                        <p:par>
                          <p:cTn id="12" fill="hold">
                            <p:stCondLst>
                              <p:cond delay="0"/>
                            </p:stCondLst>
                            <p:childTnLst>
                              <p:par>
                                <p:cTn id="13" presetID="4" presetClass="entr" presetSubtype="16" fill="hold" grpId="0" nodeType="clickEffect">
                                  <p:stCondLst>
                                    <p:cond delay="0"/>
                                  </p:stCondLst>
                                  <p:childTnLst>
                                    <p:set>
                                      <p:cBhvr>
                                        <p:cTn id="14" dur="1" fill="hold">
                                          <p:stCondLst>
                                            <p:cond delay="0"/>
                                          </p:stCondLst>
                                        </p:cTn>
                                        <p:tgtEl>
                                          <p:spTgt spid="7"/>
                                        </p:tgtEl>
                                        <p:attrNameLst>
                                          <p:attrName>style.visibility</p:attrName>
                                        </p:attrNameLst>
                                      </p:cBhvr>
                                      <p:to>
                                        <p:strVal val="visible"/>
                                      </p:to>
                                    </p:set>
                                    <p:animEffect transition="in" filter="box(in)">
                                      <p:cBhvr>
                                        <p:cTn id="15" dur="500"/>
                                        <p:tgtEl>
                                          <p:spTgt spid="7"/>
                                        </p:tgtEl>
                                      </p:cBhvr>
                                    </p:animEffect>
                                  </p:childTnLst>
                                </p:cTn>
                              </p:par>
                              <p:par>
                                <p:cTn id="16" presetID="4" presetClass="entr" presetSubtype="16" fill="hold" grpId="0" nodeType="with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box(in)">
                                      <p:cBhvr>
                                        <p:cTn id="18" dur="500"/>
                                        <p:tgtEl>
                                          <p:spTgt spid="6"/>
                                        </p:tgtEl>
                                      </p:cBhvr>
                                    </p:animEffect>
                                  </p:childTnLst>
                                </p:cTn>
                              </p:par>
                            </p:childTnLst>
                          </p:cTn>
                        </p:par>
                      </p:childTnLst>
                    </p:cTn>
                  </p:par>
                  <p:par>
                    <p:cTn id="19" fill="hold">
                      <p:stCondLst>
                        <p:cond delay="indefinite"/>
                      </p:stCondLst>
                      <p:childTnLst>
                        <p:par>
                          <p:cTn id="20" fill="hold">
                            <p:stCondLst>
                              <p:cond delay="0"/>
                            </p:stCondLst>
                            <p:childTnLst>
                              <p:par>
                                <p:cTn id="21" presetID="4" presetClass="entr" presetSubtype="16" fill="hold" grpId="0" nodeType="clickEffect">
                                  <p:stCondLst>
                                    <p:cond delay="0"/>
                                  </p:stCondLst>
                                  <p:childTnLst>
                                    <p:set>
                                      <p:cBhvr>
                                        <p:cTn id="22" dur="1" fill="hold">
                                          <p:stCondLst>
                                            <p:cond delay="0"/>
                                          </p:stCondLst>
                                        </p:cTn>
                                        <p:tgtEl>
                                          <p:spTgt spid="9"/>
                                        </p:tgtEl>
                                        <p:attrNameLst>
                                          <p:attrName>style.visibility</p:attrName>
                                        </p:attrNameLst>
                                      </p:cBhvr>
                                      <p:to>
                                        <p:strVal val="visible"/>
                                      </p:to>
                                    </p:set>
                                    <p:animEffect transition="in" filter="box(in)">
                                      <p:cBhvr>
                                        <p:cTn id="23" dur="500"/>
                                        <p:tgtEl>
                                          <p:spTgt spid="9"/>
                                        </p:tgtEl>
                                      </p:cBhvr>
                                    </p:animEffect>
                                  </p:childTnLst>
                                </p:cTn>
                              </p:par>
                              <p:par>
                                <p:cTn id="24" presetID="4" presetClass="entr" presetSubtype="16" fill="hold" grpId="0" nodeType="with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box(in)">
                                      <p:cBhvr>
                                        <p:cTn id="26" dur="500"/>
                                        <p:tgtEl>
                                          <p:spTgt spid="8"/>
                                        </p:tgtEl>
                                      </p:cBhvr>
                                    </p:animEffect>
                                  </p:childTnLst>
                                </p:cTn>
                              </p:par>
                            </p:childTnLst>
                          </p:cTn>
                        </p:par>
                      </p:childTnLst>
                    </p:cTn>
                  </p:par>
                  <p:par>
                    <p:cTn id="27" fill="hold">
                      <p:stCondLst>
                        <p:cond delay="indefinite"/>
                      </p:stCondLst>
                      <p:childTnLst>
                        <p:par>
                          <p:cTn id="28" fill="hold">
                            <p:stCondLst>
                              <p:cond delay="0"/>
                            </p:stCondLst>
                            <p:childTnLst>
                              <p:par>
                                <p:cTn id="29" presetID="4" presetClass="entr" presetSubtype="16" fill="hold" grpId="0" nodeType="click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box(in)">
                                      <p:cBhvr>
                                        <p:cTn id="31" dur="500"/>
                                        <p:tgtEl>
                                          <p:spTgt spid="11"/>
                                        </p:tgtEl>
                                      </p:cBhvr>
                                    </p:animEffect>
                                  </p:childTnLst>
                                </p:cTn>
                              </p:par>
                              <p:par>
                                <p:cTn id="32" presetID="4" presetClass="entr" presetSubtype="16" fill="hold" grpId="0" nodeType="withEffect">
                                  <p:stCondLst>
                                    <p:cond delay="0"/>
                                  </p:stCondLst>
                                  <p:childTnLst>
                                    <p:set>
                                      <p:cBhvr>
                                        <p:cTn id="33" dur="1" fill="hold">
                                          <p:stCondLst>
                                            <p:cond delay="0"/>
                                          </p:stCondLst>
                                        </p:cTn>
                                        <p:tgtEl>
                                          <p:spTgt spid="10"/>
                                        </p:tgtEl>
                                        <p:attrNameLst>
                                          <p:attrName>style.visibility</p:attrName>
                                        </p:attrNameLst>
                                      </p:cBhvr>
                                      <p:to>
                                        <p:strVal val="visible"/>
                                      </p:to>
                                    </p:set>
                                    <p:animEffect transition="in" filter="box(in)">
                                      <p:cBhvr>
                                        <p:cTn id="34" dur="500"/>
                                        <p:tgtEl>
                                          <p:spTgt spid="10"/>
                                        </p:tgtEl>
                                      </p:cBhvr>
                                    </p:animEffect>
                                  </p:childTnLst>
                                </p:cTn>
                              </p:par>
                            </p:childTnLst>
                          </p:cTn>
                        </p:par>
                      </p:childTnLst>
                    </p:cTn>
                  </p:par>
                  <p:par>
                    <p:cTn id="35" fill="hold">
                      <p:stCondLst>
                        <p:cond delay="indefinite"/>
                      </p:stCondLst>
                      <p:childTnLst>
                        <p:par>
                          <p:cTn id="36" fill="hold">
                            <p:stCondLst>
                              <p:cond delay="0"/>
                            </p:stCondLst>
                            <p:childTnLst>
                              <p:par>
                                <p:cTn id="37" presetID="4" presetClass="entr" presetSubtype="16" fill="hold" grpId="0" nodeType="clickEffect">
                                  <p:stCondLst>
                                    <p:cond delay="0"/>
                                  </p:stCondLst>
                                  <p:childTnLst>
                                    <p:set>
                                      <p:cBhvr>
                                        <p:cTn id="38" dur="1" fill="hold">
                                          <p:stCondLst>
                                            <p:cond delay="0"/>
                                          </p:stCondLst>
                                        </p:cTn>
                                        <p:tgtEl>
                                          <p:spTgt spid="13"/>
                                        </p:tgtEl>
                                        <p:attrNameLst>
                                          <p:attrName>style.visibility</p:attrName>
                                        </p:attrNameLst>
                                      </p:cBhvr>
                                      <p:to>
                                        <p:strVal val="visible"/>
                                      </p:to>
                                    </p:set>
                                    <p:animEffect transition="in" filter="box(in)">
                                      <p:cBhvr>
                                        <p:cTn id="39" dur="500"/>
                                        <p:tgtEl>
                                          <p:spTgt spid="13"/>
                                        </p:tgtEl>
                                      </p:cBhvr>
                                    </p:animEffect>
                                  </p:childTnLst>
                                </p:cTn>
                              </p:par>
                              <p:par>
                                <p:cTn id="40" presetID="4" presetClass="entr" presetSubtype="16" fill="hold" grpId="0" nodeType="withEffect">
                                  <p:stCondLst>
                                    <p:cond delay="0"/>
                                  </p:stCondLst>
                                  <p:childTnLst>
                                    <p:set>
                                      <p:cBhvr>
                                        <p:cTn id="41" dur="1" fill="hold">
                                          <p:stCondLst>
                                            <p:cond delay="0"/>
                                          </p:stCondLst>
                                        </p:cTn>
                                        <p:tgtEl>
                                          <p:spTgt spid="12"/>
                                        </p:tgtEl>
                                        <p:attrNameLst>
                                          <p:attrName>style.visibility</p:attrName>
                                        </p:attrNameLst>
                                      </p:cBhvr>
                                      <p:to>
                                        <p:strVal val="visible"/>
                                      </p:to>
                                    </p:set>
                                    <p:animEffect transition="in" filter="box(in)">
                                      <p:cBhvr>
                                        <p:cTn id="42" dur="500"/>
                                        <p:tgtEl>
                                          <p:spTgt spid="12"/>
                                        </p:tgtEl>
                                      </p:cBhvr>
                                    </p:animEffect>
                                  </p:childTnLst>
                                </p:cTn>
                              </p:par>
                            </p:childTnLst>
                          </p:cTn>
                        </p:par>
                      </p:childTnLst>
                    </p:cTn>
                  </p:par>
                  <p:par>
                    <p:cTn id="43" fill="hold">
                      <p:stCondLst>
                        <p:cond delay="indefinite"/>
                      </p:stCondLst>
                      <p:childTnLst>
                        <p:par>
                          <p:cTn id="44" fill="hold">
                            <p:stCondLst>
                              <p:cond delay="0"/>
                            </p:stCondLst>
                            <p:childTnLst>
                              <p:par>
                                <p:cTn id="45" presetID="4" presetClass="entr" presetSubtype="16" fill="hold" grpId="0" nodeType="clickEffect">
                                  <p:stCondLst>
                                    <p:cond delay="0"/>
                                  </p:stCondLst>
                                  <p:childTnLst>
                                    <p:set>
                                      <p:cBhvr>
                                        <p:cTn id="46" dur="1" fill="hold">
                                          <p:stCondLst>
                                            <p:cond delay="0"/>
                                          </p:stCondLst>
                                        </p:cTn>
                                        <p:tgtEl>
                                          <p:spTgt spid="15"/>
                                        </p:tgtEl>
                                        <p:attrNameLst>
                                          <p:attrName>style.visibility</p:attrName>
                                        </p:attrNameLst>
                                      </p:cBhvr>
                                      <p:to>
                                        <p:strVal val="visible"/>
                                      </p:to>
                                    </p:set>
                                    <p:animEffect transition="in" filter="box(in)">
                                      <p:cBhvr>
                                        <p:cTn id="47" dur="500"/>
                                        <p:tgtEl>
                                          <p:spTgt spid="15"/>
                                        </p:tgtEl>
                                      </p:cBhvr>
                                    </p:animEffect>
                                  </p:childTnLst>
                                </p:cTn>
                              </p:par>
                              <p:par>
                                <p:cTn id="48" presetID="4" presetClass="entr" presetSubtype="16" fill="hold" grpId="0" nodeType="withEffect">
                                  <p:stCondLst>
                                    <p:cond delay="0"/>
                                  </p:stCondLst>
                                  <p:childTnLst>
                                    <p:set>
                                      <p:cBhvr>
                                        <p:cTn id="49" dur="1" fill="hold">
                                          <p:stCondLst>
                                            <p:cond delay="0"/>
                                          </p:stCondLst>
                                        </p:cTn>
                                        <p:tgtEl>
                                          <p:spTgt spid="14"/>
                                        </p:tgtEl>
                                        <p:attrNameLst>
                                          <p:attrName>style.visibility</p:attrName>
                                        </p:attrNameLst>
                                      </p:cBhvr>
                                      <p:to>
                                        <p:strVal val="visible"/>
                                      </p:to>
                                    </p:set>
                                    <p:animEffect transition="in" filter="box(in)">
                                      <p:cBhvr>
                                        <p:cTn id="50" dur="500"/>
                                        <p:tgtEl>
                                          <p:spTgt spid="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5" grpId="0"/>
      <p:bldP spid="6" grpId="0" animBg="1"/>
      <p:bldP spid="7" grpId="0"/>
      <p:bldP spid="8" grpId="0" animBg="1"/>
      <p:bldP spid="9" grpId="0"/>
      <p:bldP spid="10" grpId="0" animBg="1"/>
      <p:bldP spid="11" grpId="0"/>
      <p:bldP spid="12" grpId="0" animBg="1"/>
      <p:bldP spid="13" grpId="0"/>
      <p:bldP spid="14" grpId="0" animBg="1"/>
      <p:bldP spid="15" grpId="0"/>
    </p:bld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761</TotalTime>
  <Words>1904</Words>
  <Application>Microsoft Office PowerPoint</Application>
  <PresentationFormat>全屏显示(4:3)</PresentationFormat>
  <Paragraphs>208</Paragraphs>
  <Slides>24</Slides>
  <Notes>2</Notes>
  <HiddenSlides>0</HiddenSlides>
  <MMClips>0</MMClips>
  <ScaleCrop>false</ScaleCrop>
  <HeadingPairs>
    <vt:vector size="4" baseType="variant">
      <vt:variant>
        <vt:lpstr>主题</vt:lpstr>
      </vt:variant>
      <vt:variant>
        <vt:i4>1</vt:i4>
      </vt:variant>
      <vt:variant>
        <vt:lpstr>幻灯片标题</vt:lpstr>
      </vt:variant>
      <vt:variant>
        <vt:i4>24</vt:i4>
      </vt:variant>
    </vt:vector>
  </HeadingPairs>
  <TitlesOfParts>
    <vt:vector size="25" baseType="lpstr">
      <vt:lpstr>Office 主题</vt:lpstr>
      <vt:lpstr>幻灯片 1</vt:lpstr>
      <vt:lpstr>归纳逻辑和归纳推理</vt:lpstr>
      <vt:lpstr>第五章  归纳逻辑</vt:lpstr>
      <vt:lpstr>第五章  归纳逻辑</vt:lpstr>
      <vt:lpstr>简单枚举法</vt:lpstr>
      <vt:lpstr>科学归纳法</vt:lpstr>
      <vt:lpstr>完全归纳法</vt:lpstr>
      <vt:lpstr>第五章  归纳逻辑</vt:lpstr>
      <vt:lpstr>因果关系的特点</vt:lpstr>
      <vt:lpstr>求因果五法</vt:lpstr>
      <vt:lpstr>求同法</vt:lpstr>
      <vt:lpstr>求异法</vt:lpstr>
      <vt:lpstr>求同求异并用法</vt:lpstr>
      <vt:lpstr>共变法</vt:lpstr>
      <vt:lpstr>剩余法</vt:lpstr>
      <vt:lpstr>第五章  归纳逻辑</vt:lpstr>
      <vt:lpstr>类比推理</vt:lpstr>
      <vt:lpstr>模拟方法</vt:lpstr>
      <vt:lpstr>比较方法</vt:lpstr>
      <vt:lpstr>第五章  归纳逻辑</vt:lpstr>
      <vt:lpstr>假说演绎法</vt:lpstr>
      <vt:lpstr>形成假说：溯因推理</vt:lpstr>
      <vt:lpstr>验证假说：证实和证伪</vt:lpstr>
      <vt:lpstr>科学假说的评价标准</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幻灯片 1</dc:title>
  <dc:creator>dell</dc:creator>
  <cp:lastModifiedBy>CBS</cp:lastModifiedBy>
  <cp:revision>75</cp:revision>
  <dcterms:created xsi:type="dcterms:W3CDTF">2014-08-18T02:19:54Z</dcterms:created>
  <dcterms:modified xsi:type="dcterms:W3CDTF">2014-08-22T07:51:43Z</dcterms:modified>
</cp:coreProperties>
</file>