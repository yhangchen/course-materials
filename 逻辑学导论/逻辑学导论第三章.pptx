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7" r:id="rId5"/>
    <p:sldId id="264" r:id="rId6"/>
    <p:sldId id="265" r:id="rId7"/>
    <p:sldId id="266" r:id="rId8"/>
    <p:sldId id="268" r:id="rId9"/>
    <p:sldId id="269" r:id="rId10"/>
    <p:sldId id="270" r:id="rId11"/>
    <p:sldId id="271" r:id="rId12"/>
    <p:sldId id="260" r:id="rId13"/>
    <p:sldId id="272" r:id="rId14"/>
    <p:sldId id="273" r:id="rId15"/>
    <p:sldId id="261" r:id="rId16"/>
    <p:sldId id="274" r:id="rId17"/>
    <p:sldId id="275" r:id="rId18"/>
    <p:sldId id="276" r:id="rId19"/>
    <p:sldId id="277" r:id="rId20"/>
    <p:sldId id="279" r:id="rId21"/>
    <p:sldId id="278" r:id="rId22"/>
    <p:sldId id="280" r:id="rId23"/>
    <p:sldId id="262" r:id="rId24"/>
    <p:sldId id="281" r:id="rId25"/>
    <p:sldId id="282" r:id="rId26"/>
    <p:sldId id="263" r:id="rId27"/>
    <p:sldId id="283" r:id="rId28"/>
    <p:sldId id="285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FFFFFF"/>
    <a:srgbClr val="0033CC"/>
    <a:srgbClr val="CC0000"/>
    <a:srgbClr val="006600"/>
    <a:srgbClr val="FF33CC"/>
    <a:srgbClr val="009900"/>
    <a:srgbClr val="FF9900"/>
    <a:srgbClr val="D6009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F534E-A3AE-40EC-AA31-5CEF178DCB31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6B34A-111F-4653-83EA-47A4F72E14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FDFEB-08AF-464D-AA94-B73A5CAA2AD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6B34A-111F-4653-83EA-47A4F72E144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6B34A-111F-4653-83EA-47A4F72E1443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AF5D1-97A1-4188-BAEE-3420A3E271F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B9BB9-7C36-4943-977B-C6AC20E36C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83568" y="1916832"/>
            <a:ext cx="7772400" cy="1829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逻辑学导论</a:t>
            </a:r>
            <a:endParaRPr kumimoji="0" lang="en-US" altLang="zh-CN" sz="5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（第三版）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683568" y="4293096"/>
            <a:ext cx="7772400" cy="120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新魏" pitchFamily="2" charset="-122"/>
                <a:ea typeface="华文新魏" pitchFamily="2" charset="-122"/>
              </a:rPr>
              <a:t>陈波 著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  <a:p>
            <a:pPr lvl="0" algn="ctr">
              <a:spcBef>
                <a:spcPct val="20000"/>
              </a:spcBef>
            </a:pPr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中国人民大学出版社（</a:t>
            </a:r>
            <a:r>
              <a:rPr lang="en-US" altLang="zh-CN" sz="2800" dirty="0" smtClean="0">
                <a:latin typeface="华文新魏" pitchFamily="2" charset="-122"/>
                <a:ea typeface="华文新魏" pitchFamily="2" charset="-122"/>
              </a:rPr>
              <a:t>2014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 rot="10800000" flipV="1">
            <a:off x="1143000" y="680393"/>
            <a:ext cx="70723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新编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21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世纪系列教材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三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词项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2679303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直接推理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357301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三段论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864" y="443711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直言</a:t>
            </a:r>
            <a:r>
              <a:rPr lang="zh-CN" altLang="en-US" sz="2400" b="1" dirty="0" smtClean="0">
                <a:latin typeface="+mn-ea"/>
              </a:rPr>
              <a:t>命题的存在含义问题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7864" y="534359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文</a:t>
            </a:r>
            <a:r>
              <a:rPr lang="zh-CN" altLang="en-US" sz="2400" b="1" dirty="0" smtClean="0">
                <a:latin typeface="+mn-ea"/>
              </a:rPr>
              <a:t>恩图解法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直言命题</a:t>
            </a:r>
          </a:p>
        </p:txBody>
      </p:sp>
      <p:sp>
        <p:nvSpPr>
          <p:cNvPr id="17" name="心形 16"/>
          <p:cNvSpPr/>
          <p:nvPr/>
        </p:nvSpPr>
        <p:spPr>
          <a:xfrm>
            <a:off x="2267744" y="1844824"/>
            <a:ext cx="576064" cy="504056"/>
          </a:xfrm>
          <a:prstGeom prst="hear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心形 17"/>
          <p:cNvSpPr/>
          <p:nvPr/>
        </p:nvSpPr>
        <p:spPr>
          <a:xfrm>
            <a:off x="2267744" y="2708920"/>
            <a:ext cx="576064" cy="504056"/>
          </a:xfrm>
          <a:prstGeom prst="hear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心形 18"/>
          <p:cNvSpPr/>
          <p:nvPr/>
        </p:nvSpPr>
        <p:spPr>
          <a:xfrm>
            <a:off x="2267744" y="3573016"/>
            <a:ext cx="576064" cy="504056"/>
          </a:xfrm>
          <a:prstGeom prst="heart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心形 19"/>
          <p:cNvSpPr/>
          <p:nvPr/>
        </p:nvSpPr>
        <p:spPr>
          <a:xfrm>
            <a:off x="2267744" y="4437112"/>
            <a:ext cx="576064" cy="504056"/>
          </a:xfrm>
          <a:prstGeom prst="hear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心形 20"/>
          <p:cNvSpPr/>
          <p:nvPr/>
        </p:nvSpPr>
        <p:spPr>
          <a:xfrm>
            <a:off x="2267744" y="5301208"/>
            <a:ext cx="576064" cy="504056"/>
          </a:xfrm>
          <a:prstGeom prst="hear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三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词项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2679303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直接推理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357301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三段论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864" y="443711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直言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命题的存在含义问题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7864" y="534359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文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恩图解法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直言命题</a:t>
            </a:r>
          </a:p>
        </p:txBody>
      </p:sp>
      <p:sp>
        <p:nvSpPr>
          <p:cNvPr id="18" name="心形 17"/>
          <p:cNvSpPr/>
          <p:nvPr/>
        </p:nvSpPr>
        <p:spPr>
          <a:xfrm>
            <a:off x="2267744" y="1844824"/>
            <a:ext cx="576064" cy="504056"/>
          </a:xfrm>
          <a:prstGeom prst="hear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心形 18"/>
          <p:cNvSpPr/>
          <p:nvPr/>
        </p:nvSpPr>
        <p:spPr>
          <a:xfrm>
            <a:off x="2267744" y="2708920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心形 19"/>
          <p:cNvSpPr/>
          <p:nvPr/>
        </p:nvSpPr>
        <p:spPr>
          <a:xfrm>
            <a:off x="2267744" y="3573016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心形 20"/>
          <p:cNvSpPr/>
          <p:nvPr/>
        </p:nvSpPr>
        <p:spPr>
          <a:xfrm>
            <a:off x="2267744" y="4437112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心形 21"/>
          <p:cNvSpPr/>
          <p:nvPr/>
        </p:nvSpPr>
        <p:spPr>
          <a:xfrm>
            <a:off x="2267744" y="5301208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直言命题（主谓式命题）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19872" y="2679303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主项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04248" y="2708920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谓项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3851920" y="3111351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59832" y="3903439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普遍词项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S/</a:t>
            </a:r>
          </a:p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单称词项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a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4288" y="390343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P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7308304" y="3140968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1475656" y="2636912"/>
            <a:ext cx="1325256" cy="576064"/>
            <a:chOff x="1619672" y="1916832"/>
            <a:chExt cx="1325256" cy="576064"/>
          </a:xfrm>
        </p:grpSpPr>
        <p:sp>
          <p:nvSpPr>
            <p:cNvPr id="11" name="椭圆 10"/>
            <p:cNvSpPr/>
            <p:nvPr/>
          </p:nvSpPr>
          <p:spPr>
            <a:xfrm>
              <a:off x="1619672" y="1916832"/>
              <a:ext cx="1296144" cy="576064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92800" y="1969676"/>
              <a:ext cx="1152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华文楷体" pitchFamily="2" charset="-122"/>
                  <a:ea typeface="华文楷体" pitchFamily="2" charset="-122"/>
                </a:rPr>
                <a:t>量项</a:t>
              </a:r>
              <a:endParaRPr lang="zh-CN" altLang="en-US" sz="2800" b="1" dirty="0">
                <a:latin typeface="华文楷体" pitchFamily="2" charset="-122"/>
                <a:ea typeface="华文楷体" pitchFamily="2" charset="-122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>
          <a:xfrm>
            <a:off x="2123728" y="3110488"/>
            <a:ext cx="0" cy="432000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1640" y="390343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所有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有些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32040" y="2636912"/>
            <a:ext cx="1325256" cy="576064"/>
            <a:chOff x="1619672" y="1916832"/>
            <a:chExt cx="1325256" cy="576064"/>
          </a:xfrm>
        </p:grpSpPr>
        <p:sp>
          <p:nvSpPr>
            <p:cNvPr id="16" name="椭圆 15"/>
            <p:cNvSpPr/>
            <p:nvPr/>
          </p:nvSpPr>
          <p:spPr>
            <a:xfrm>
              <a:off x="1619672" y="1916832"/>
              <a:ext cx="1296144" cy="576064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92800" y="1969676"/>
              <a:ext cx="1152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华文楷体" pitchFamily="2" charset="-122"/>
                  <a:ea typeface="华文楷体" pitchFamily="2" charset="-122"/>
                </a:rPr>
                <a:t>联项</a:t>
              </a:r>
              <a:endParaRPr lang="zh-CN" altLang="en-US" sz="2800" b="1" dirty="0">
                <a:latin typeface="华文楷体" pitchFamily="2" charset="-122"/>
                <a:ea typeface="华文楷体" pitchFamily="2" charset="-122"/>
              </a:endParaRPr>
            </a:p>
          </p:txBody>
        </p:sp>
      </p:grpSp>
      <p:cxnSp>
        <p:nvCxnSpPr>
          <p:cNvPr id="18" name="直接箭头连接符 17"/>
          <p:cNvCxnSpPr/>
          <p:nvPr/>
        </p:nvCxnSpPr>
        <p:spPr>
          <a:xfrm>
            <a:off x="5580112" y="3110488"/>
            <a:ext cx="0" cy="432000"/>
          </a:xfrm>
          <a:prstGeom prst="straightConnector1">
            <a:avLst/>
          </a:prstGeom>
          <a:ln w="57150">
            <a:solidFill>
              <a:srgbClr val="0066CC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04048" y="390343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是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不是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3568" y="1628800"/>
            <a:ext cx="784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100" dirty="0" smtClean="0">
                <a:latin typeface="楷体" pitchFamily="49" charset="-122"/>
                <a:ea typeface="楷体" pitchFamily="49" charset="-122"/>
                <a:cs typeface="Times New Roman"/>
              </a:rPr>
              <a:t>它断定了某个数量的对象具有或者不具有某种性质，也叫“性质命题”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1" name="右箭头 20"/>
          <p:cNvSpPr/>
          <p:nvPr/>
        </p:nvSpPr>
        <p:spPr>
          <a:xfrm>
            <a:off x="4427984" y="5013176"/>
            <a:ext cx="576064" cy="432048"/>
          </a:xfrm>
          <a:prstGeom prst="rightArrow">
            <a:avLst/>
          </a:prstGeom>
          <a:scene3d>
            <a:camera prst="orthographicFront">
              <a:rot lat="0" lon="0" rev="189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6516216" y="5013176"/>
            <a:ext cx="576064" cy="432048"/>
          </a:xfrm>
          <a:prstGeom prst="rightArrow">
            <a:avLst/>
          </a:prstGeom>
          <a:scene3d>
            <a:camera prst="orthographicFront">
              <a:rot lat="0" lon="0" rev="135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364088" y="5445224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词项</a:t>
            </a:r>
            <a:endParaRPr lang="zh-CN" altLang="en-US" sz="28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14" grpId="0"/>
      <p:bldP spid="19" grpId="0"/>
      <p:bldP spid="20" grpId="0"/>
      <p:bldP spid="21" grpId="0" animBg="1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波形 4"/>
          <p:cNvSpPr/>
          <p:nvPr/>
        </p:nvSpPr>
        <p:spPr>
          <a:xfrm>
            <a:off x="2267744" y="1412776"/>
            <a:ext cx="1944215" cy="648072"/>
          </a:xfrm>
          <a:prstGeom prst="wav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直言命题的类型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35761" y="1556792"/>
            <a:ext cx="228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全称肯定命题</a:t>
            </a:r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788024" y="16288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所有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都是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en-US" dirty="0"/>
          </a:p>
        </p:txBody>
      </p:sp>
      <p:sp>
        <p:nvSpPr>
          <p:cNvPr id="7" name="波形 6"/>
          <p:cNvSpPr/>
          <p:nvPr/>
        </p:nvSpPr>
        <p:spPr>
          <a:xfrm>
            <a:off x="2267744" y="2204864"/>
            <a:ext cx="1944215" cy="648072"/>
          </a:xfrm>
          <a:prstGeom prst="wav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435761" y="2348880"/>
            <a:ext cx="228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全称否定命题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788024" y="242088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所有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都不是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en-US" dirty="0"/>
          </a:p>
        </p:txBody>
      </p:sp>
      <p:sp>
        <p:nvSpPr>
          <p:cNvPr id="10" name="波形 9"/>
          <p:cNvSpPr/>
          <p:nvPr/>
        </p:nvSpPr>
        <p:spPr>
          <a:xfrm>
            <a:off x="2267744" y="2996952"/>
            <a:ext cx="1944215" cy="648072"/>
          </a:xfrm>
          <a:prstGeom prst="wav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435761" y="3140968"/>
            <a:ext cx="228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</a:t>
            </a:r>
            <a:r>
              <a:rPr lang="zh-CN" altLang="en-US" b="1" dirty="0" smtClean="0"/>
              <a:t>称肯定命题</a:t>
            </a:r>
            <a:endParaRPr lang="zh-CN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88024" y="321297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有的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en-US" dirty="0"/>
          </a:p>
        </p:txBody>
      </p:sp>
      <p:sp>
        <p:nvSpPr>
          <p:cNvPr id="13" name="波形 12"/>
          <p:cNvSpPr/>
          <p:nvPr/>
        </p:nvSpPr>
        <p:spPr>
          <a:xfrm>
            <a:off x="2267744" y="3789040"/>
            <a:ext cx="1944215" cy="648072"/>
          </a:xfrm>
          <a:prstGeom prst="wav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435761" y="3933056"/>
            <a:ext cx="228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特称</a:t>
            </a:r>
            <a:r>
              <a:rPr lang="zh-CN" altLang="en-US" b="1" dirty="0"/>
              <a:t>否</a:t>
            </a:r>
            <a:r>
              <a:rPr lang="zh-CN" altLang="en-US" b="1" dirty="0" smtClean="0"/>
              <a:t>定命题</a:t>
            </a:r>
            <a:endParaRPr lang="zh-CN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788025" y="40050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有的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不是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en-US" dirty="0"/>
          </a:p>
        </p:txBody>
      </p:sp>
      <p:sp>
        <p:nvSpPr>
          <p:cNvPr id="16" name="波形 15"/>
          <p:cNvSpPr/>
          <p:nvPr/>
        </p:nvSpPr>
        <p:spPr>
          <a:xfrm>
            <a:off x="2267744" y="4581128"/>
            <a:ext cx="1944215" cy="648072"/>
          </a:xfrm>
          <a:prstGeom prst="wav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435761" y="4725144"/>
            <a:ext cx="228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单称肯定命题</a:t>
            </a:r>
            <a:endParaRPr lang="zh-CN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860033" y="479715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en-US" dirty="0"/>
          </a:p>
        </p:txBody>
      </p:sp>
      <p:sp>
        <p:nvSpPr>
          <p:cNvPr id="19" name="波形 18"/>
          <p:cNvSpPr/>
          <p:nvPr/>
        </p:nvSpPr>
        <p:spPr>
          <a:xfrm>
            <a:off x="2267744" y="5373216"/>
            <a:ext cx="1944215" cy="648072"/>
          </a:xfrm>
          <a:prstGeom prst="wav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435761" y="5517232"/>
            <a:ext cx="228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单</a:t>
            </a:r>
            <a:r>
              <a:rPr lang="zh-CN" altLang="en-US" b="1" dirty="0" smtClean="0"/>
              <a:t>称否定命题</a:t>
            </a:r>
            <a:endParaRPr lang="zh-CN" alt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860033" y="557994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不是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en-US" dirty="0"/>
          </a:p>
        </p:txBody>
      </p:sp>
      <p:sp>
        <p:nvSpPr>
          <p:cNvPr id="22" name="左中括号 21"/>
          <p:cNvSpPr/>
          <p:nvPr/>
        </p:nvSpPr>
        <p:spPr>
          <a:xfrm>
            <a:off x="1835696" y="1700808"/>
            <a:ext cx="144016" cy="864096"/>
          </a:xfrm>
          <a:prstGeom prst="lef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中括号 22"/>
          <p:cNvSpPr/>
          <p:nvPr/>
        </p:nvSpPr>
        <p:spPr>
          <a:xfrm>
            <a:off x="1835696" y="4869160"/>
            <a:ext cx="144016" cy="864096"/>
          </a:xfrm>
          <a:prstGeom prst="lef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弧形箭头 23"/>
          <p:cNvSpPr/>
          <p:nvPr/>
        </p:nvSpPr>
        <p:spPr>
          <a:xfrm>
            <a:off x="755576" y="2204864"/>
            <a:ext cx="720080" cy="3240360"/>
          </a:xfrm>
          <a:prstGeom prst="curvedRightArrow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876256" y="1630541"/>
            <a:ext cx="1368152" cy="646331"/>
            <a:chOff x="7020272" y="1630541"/>
            <a:chExt cx="1368152" cy="646331"/>
          </a:xfrm>
        </p:grpSpPr>
        <p:sp>
          <p:nvSpPr>
            <p:cNvPr id="26" name="流程图: 顺序访问存储器 25"/>
            <p:cNvSpPr/>
            <p:nvPr/>
          </p:nvSpPr>
          <p:spPr>
            <a:xfrm>
              <a:off x="7020272" y="1630541"/>
              <a:ext cx="936104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36296" y="1630541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SAP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76256" y="2422629"/>
            <a:ext cx="1368152" cy="646331"/>
            <a:chOff x="7020272" y="1630541"/>
            <a:chExt cx="1368152" cy="646331"/>
          </a:xfrm>
        </p:grpSpPr>
        <p:sp>
          <p:nvSpPr>
            <p:cNvPr id="29" name="流程图: 顺序访问存储器 28"/>
            <p:cNvSpPr/>
            <p:nvPr/>
          </p:nvSpPr>
          <p:spPr>
            <a:xfrm>
              <a:off x="7020272" y="1630541"/>
              <a:ext cx="936104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36296" y="1630541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SEP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876256" y="3212976"/>
            <a:ext cx="1368152" cy="646331"/>
            <a:chOff x="7020272" y="1630541"/>
            <a:chExt cx="1368152" cy="646331"/>
          </a:xfrm>
        </p:grpSpPr>
        <p:sp>
          <p:nvSpPr>
            <p:cNvPr id="32" name="流程图: 顺序访问存储器 31"/>
            <p:cNvSpPr/>
            <p:nvPr/>
          </p:nvSpPr>
          <p:spPr>
            <a:xfrm>
              <a:off x="7020272" y="1630541"/>
              <a:ext cx="936104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36296" y="1630541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SIP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76256" y="4005064"/>
            <a:ext cx="1368152" cy="646331"/>
            <a:chOff x="7020272" y="1630541"/>
            <a:chExt cx="1368152" cy="646331"/>
          </a:xfrm>
        </p:grpSpPr>
        <p:sp>
          <p:nvSpPr>
            <p:cNvPr id="35" name="流程图: 顺序访问存储器 34"/>
            <p:cNvSpPr/>
            <p:nvPr/>
          </p:nvSpPr>
          <p:spPr>
            <a:xfrm>
              <a:off x="7020272" y="1630541"/>
              <a:ext cx="936104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36296" y="1630541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SOP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sp>
        <p:nvSpPr>
          <p:cNvPr id="37" name="左中括号 36"/>
          <p:cNvSpPr/>
          <p:nvPr/>
        </p:nvSpPr>
        <p:spPr>
          <a:xfrm>
            <a:off x="1835696" y="3284984"/>
            <a:ext cx="144016" cy="864096"/>
          </a:xfrm>
          <a:prstGeom prst="lef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171317" y="1476073"/>
            <a:ext cx="4331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</a:t>
            </a:r>
            <a:endParaRPr lang="zh-CN" altLang="en-US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196444" y="2276872"/>
            <a:ext cx="3850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E</a:t>
            </a:r>
            <a:endParaRPr lang="zh-CN" altLang="en-US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242130" y="3068960"/>
            <a:ext cx="2936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</a:t>
            </a:r>
            <a:endParaRPr lang="zh-CN" altLang="en-US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157972" y="3861048"/>
            <a:ext cx="46198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O</a:t>
            </a:r>
            <a:endParaRPr lang="zh-CN" altLang="en-US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37" grpId="0" animBg="1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直言命题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中主谓项的关系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云形 3"/>
          <p:cNvSpPr/>
          <p:nvPr/>
        </p:nvSpPr>
        <p:spPr>
          <a:xfrm>
            <a:off x="827584" y="1772816"/>
            <a:ext cx="1368152" cy="1008112"/>
          </a:xfrm>
          <a:prstGeom prst="cloud">
            <a:avLst/>
          </a:prstGeom>
          <a:ln>
            <a:solidFill>
              <a:srgbClr val="33993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043608" y="198884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内涵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27784" y="2060848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该词项所指称的对象所具有的特有属性或本质属性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云形 6"/>
          <p:cNvSpPr/>
          <p:nvPr/>
        </p:nvSpPr>
        <p:spPr>
          <a:xfrm>
            <a:off x="827584" y="3140968"/>
            <a:ext cx="1368152" cy="1008112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43608" y="3356992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外延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784" y="3429000"/>
            <a:ext cx="55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该词项所表示或指称的那个对象或对象的类别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1" name="折角形 10"/>
          <p:cNvSpPr/>
          <p:nvPr/>
        </p:nvSpPr>
        <p:spPr>
          <a:xfrm>
            <a:off x="2411760" y="4437112"/>
            <a:ext cx="4464496" cy="648072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555776" y="4551511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词项逻辑主要处理词项的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外延</a:t>
            </a:r>
            <a:endParaRPr lang="zh-CN" altLang="en-US" sz="24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5856" y="5517232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欧拉图（或文恩图）</a:t>
            </a:r>
            <a:endParaRPr lang="zh-CN" altLang="en-US" sz="24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1" grpId="0" animBg="1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外延之间的五种关系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642938" y="2348880"/>
          <a:ext cx="7813675" cy="1714500"/>
        </p:xfrm>
        <a:graphic>
          <a:graphicData uri="http://schemas.openxmlformats.org/presentationml/2006/ole">
            <p:oleObj spid="_x0000_s1026" name="Picture" r:id="rId4" imgW="4901184" imgH="1072896" progId="Word.Picture.8">
              <p:embed/>
            </p:oleObj>
          </a:graphicData>
        </a:graphic>
      </p:graphicFrame>
      <p:sp>
        <p:nvSpPr>
          <p:cNvPr id="5" name="左中括号 4"/>
          <p:cNvSpPr/>
          <p:nvPr/>
        </p:nvSpPr>
        <p:spPr>
          <a:xfrm>
            <a:off x="3059832" y="3645024"/>
            <a:ext cx="144016" cy="1080120"/>
          </a:xfrm>
          <a:prstGeom prst="leftBracket">
            <a:avLst/>
          </a:prstGeom>
          <a:ln w="38100">
            <a:solidFill>
              <a:srgbClr val="CC0000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11760" y="436510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华文琥珀" pitchFamily="2" charset="-122"/>
                <a:ea typeface="华文琥珀" pitchFamily="2" charset="-122"/>
              </a:rPr>
              <a:t>种属关系</a:t>
            </a:r>
            <a:endParaRPr lang="zh-CN" altLang="en-US" sz="2400" dirty="0">
              <a:solidFill>
                <a:srgbClr val="0070C0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7812360" y="3933056"/>
            <a:ext cx="360040" cy="360040"/>
          </a:xfrm>
          <a:prstGeom prst="rightArrow">
            <a:avLst/>
          </a:prstGeom>
          <a:scene3d>
            <a:camera prst="orthographicFront">
              <a:rot lat="0" lon="0" rev="189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6732240" y="3933056"/>
            <a:ext cx="360040" cy="360040"/>
          </a:xfrm>
          <a:prstGeom prst="rightArrow">
            <a:avLst/>
          </a:prstGeom>
          <a:scene3d>
            <a:camera prst="orthographicFront">
              <a:rot lat="0" lon="0" rev="135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796136" y="4407495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矛盾关系</a:t>
            </a:r>
            <a:endParaRPr lang="zh-CN" altLang="en-US" sz="2400" dirty="0">
              <a:solidFill>
                <a:srgbClr val="FF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8344" y="4437112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反对</a:t>
            </a:r>
            <a:r>
              <a:rPr lang="zh-CN" altLang="en-US" sz="2400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关系</a:t>
            </a:r>
            <a:endParaRPr lang="zh-CN" altLang="en-US" sz="2400" dirty="0">
              <a:solidFill>
                <a:srgbClr val="FF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580112" y="4869160"/>
            <a:ext cx="1575792" cy="1368152"/>
            <a:chOff x="1475656" y="4725144"/>
            <a:chExt cx="1575792" cy="1368152"/>
          </a:xfrm>
        </p:grpSpPr>
        <p:pic>
          <p:nvPicPr>
            <p:cNvPr id="13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 t="10249" r="53439"/>
            <a:stretch>
              <a:fillRect/>
            </a:stretch>
          </p:blipFill>
          <p:spPr bwMode="auto">
            <a:xfrm>
              <a:off x="1475656" y="4725144"/>
              <a:ext cx="1575792" cy="1261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矩形 13"/>
            <p:cNvSpPr/>
            <p:nvPr/>
          </p:nvSpPr>
          <p:spPr>
            <a:xfrm>
              <a:off x="1835696" y="5677200"/>
              <a:ext cx="1008112" cy="416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919864" y="4869160"/>
            <a:ext cx="1224136" cy="1440160"/>
            <a:chOff x="5724128" y="4293096"/>
            <a:chExt cx="1224136" cy="1440160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 l="63830" t="10249"/>
            <a:stretch>
              <a:fillRect/>
            </a:stretch>
          </p:blipFill>
          <p:spPr bwMode="auto">
            <a:xfrm>
              <a:off x="5724128" y="4293096"/>
              <a:ext cx="1224136" cy="1261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矩形 15"/>
            <p:cNvSpPr/>
            <p:nvPr/>
          </p:nvSpPr>
          <p:spPr>
            <a:xfrm>
              <a:off x="5796136" y="5270400"/>
              <a:ext cx="1080120" cy="4628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" name="直接箭头连接符 18"/>
          <p:cNvCxnSpPr/>
          <p:nvPr/>
        </p:nvCxnSpPr>
        <p:spPr>
          <a:xfrm flipV="1">
            <a:off x="2699792" y="2276872"/>
            <a:ext cx="576064" cy="57606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1619672" y="2276872"/>
            <a:ext cx="576064" cy="576064"/>
          </a:xfrm>
          <a:prstGeom prst="straightConnector1">
            <a:avLst/>
          </a:prstGeom>
          <a:ln w="19050">
            <a:tailEnd type="arrow"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43808" y="1804754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种概念</a:t>
            </a:r>
            <a:endParaRPr lang="zh-CN" altLang="en-US" sz="2000" b="1" dirty="0">
              <a:solidFill>
                <a:srgbClr val="00B05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7624" y="1804754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属</a:t>
            </a:r>
            <a:r>
              <a:rPr lang="zh-CN" altLang="en-US" sz="2000" b="1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概念</a:t>
            </a:r>
            <a:endParaRPr lang="zh-CN" altLang="en-US" sz="2000" b="1" dirty="0">
              <a:solidFill>
                <a:srgbClr val="00B05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63688" y="1340768"/>
            <a:ext cx="158417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属加种差定义</a:t>
            </a:r>
            <a:endParaRPr lang="zh-CN" altLang="en-US" dirty="0"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04048" y="5025370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正概念</a:t>
            </a:r>
            <a:endParaRPr lang="en-US" altLang="zh-CN" sz="2000" b="1" dirty="0" smtClean="0">
              <a:solidFill>
                <a:srgbClr val="0066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sz="2000" dirty="0" smtClean="0"/>
              <a:t>S</a:t>
            </a:r>
            <a:endParaRPr lang="zh-CN" altLang="en-US" sz="2000" b="1" dirty="0">
              <a:solidFill>
                <a:srgbClr val="0066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04248" y="5013176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负</a:t>
            </a:r>
            <a:r>
              <a:rPr lang="zh-CN" altLang="en-US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概念</a:t>
            </a:r>
            <a:endParaRPr lang="en-US" altLang="zh-CN" sz="2000" b="1" dirty="0" smtClean="0">
              <a:solidFill>
                <a:srgbClr val="0066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dirty="0"/>
              <a:t> </a:t>
            </a:r>
            <a:r>
              <a:rPr lang="en-US" altLang="zh-CN" sz="2000" dirty="0" smtClean="0">
                <a:ea typeface="宋体" pitchFamily="2" charset="-122"/>
                <a:sym typeface="Symbol" pitchFamily="18" charset="2"/>
              </a:rPr>
              <a:t></a:t>
            </a:r>
            <a:r>
              <a:rPr lang="en-US" altLang="zh-CN" sz="2000" dirty="0" smtClean="0"/>
              <a:t>S</a:t>
            </a:r>
            <a:endParaRPr lang="zh-CN" altLang="en-US" sz="2000" b="1" dirty="0">
              <a:solidFill>
                <a:srgbClr val="006600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1" animBg="1"/>
      <p:bldP spid="8" grpId="1" animBg="1"/>
      <p:bldP spid="9" grpId="0"/>
      <p:bldP spid="10" grpId="0"/>
      <p:bldP spid="21" grpId="0"/>
      <p:bldP spid="22" grpId="0"/>
      <p:bldP spid="23" grpId="0" animBg="1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直言命题间的对当关系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556792"/>
            <a:ext cx="80648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是指有</a:t>
            </a:r>
            <a:r>
              <a:rPr lang="zh-CN" altLang="en-US" sz="2200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相同素材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（即相同主项和谓项）的</a:t>
            </a:r>
            <a:r>
              <a:rPr lang="zh-CN" altLang="en-US" sz="2200" u="sng" dirty="0" smtClean="0">
                <a:latin typeface="楷体" pitchFamily="49" charset="-122"/>
                <a:ea typeface="楷体" pitchFamily="49" charset="-122"/>
              </a:rPr>
              <a:t>直言命题间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的</a:t>
            </a:r>
            <a:r>
              <a:rPr lang="zh-CN" altLang="en-US" sz="2200" dirty="0" smtClean="0">
                <a:solidFill>
                  <a:srgbClr val="0033CC"/>
                </a:solidFill>
                <a:latin typeface="楷体" pitchFamily="49" charset="-122"/>
                <a:ea typeface="楷体" pitchFamily="49" charset="-122"/>
              </a:rPr>
              <a:t>真假关系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2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" name="横卷形 11"/>
          <p:cNvSpPr/>
          <p:nvPr/>
        </p:nvSpPr>
        <p:spPr>
          <a:xfrm>
            <a:off x="1403648" y="2060848"/>
            <a:ext cx="5976664" cy="1008112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547664" y="2348880"/>
            <a:ext cx="59046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行楷" pitchFamily="2" charset="-122"/>
                <a:ea typeface="华文行楷" pitchFamily="2" charset="-122"/>
              </a:rPr>
              <a:t>直言命题的真假，取决于外延关系的真假判定</a:t>
            </a:r>
            <a:endParaRPr lang="zh-CN" altLang="en-US" sz="2200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212976"/>
            <a:ext cx="801052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直言命题间的对当关系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1484784"/>
            <a:ext cx="1440160" cy="461665"/>
          </a:xfrm>
          <a:prstGeom prst="rect">
            <a:avLst/>
          </a:prstGeom>
          <a:noFill/>
          <a:ln w="28575">
            <a:solidFill>
              <a:srgbClr val="339933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反对关系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43808" y="1516722"/>
            <a:ext cx="56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指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E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的关系，它们之间不能同真，但可以同假。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2420888"/>
            <a:ext cx="1440160" cy="461665"/>
          </a:xfrm>
          <a:prstGeom prst="rect">
            <a:avLst/>
          </a:prstGeom>
          <a:noFill/>
          <a:ln w="28575">
            <a:solidFill>
              <a:srgbClr val="FF33CC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矛盾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关系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3808" y="2276872"/>
            <a:ext cx="5832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指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O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E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的关系，它们之间既不能同真，也不能同假。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592" y="4077072"/>
            <a:ext cx="1440160" cy="461665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差等关系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3808" y="3585210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指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E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O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之间的关系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概括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为：如果全称命题真，则相应的特称命题真；如果特称命题假，则相应的全称命题假；如果全称命题假，则相应的特称命题真假不定；如果特称命题真，则相应的全称命题真假不定。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808" y="5589240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指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O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的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关系，它们之间可以同真，但不能同假</a:t>
            </a:r>
            <a:r>
              <a:rPr lang="zh-CN" altLang="en-US" sz="2000" dirty="0" smtClean="0"/>
              <a:t>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576" y="5559623"/>
            <a:ext cx="1728192" cy="461665"/>
          </a:xfrm>
          <a:prstGeom prst="rect">
            <a:avLst/>
          </a:prstGeom>
          <a:noFill/>
          <a:ln w="28575">
            <a:solidFill>
              <a:srgbClr val="0033CC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下反对关系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7944" y="2708920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 smtClean="0">
                <a:cs typeface="Times New Roman" pitchFamily="18" charset="0"/>
              </a:rPr>
              <a:t>SAP</a:t>
            </a:r>
            <a:r>
              <a:rPr lang="en-US" altLang="zh-CN" dirty="0" smtClean="0">
                <a:cs typeface="Times New Roman" pitchFamily="18" charset="0"/>
                <a:sym typeface="Symbol" pitchFamily="18" charset="2"/>
              </a:rPr>
              <a:t>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cs typeface="Times New Roman" pitchFamily="18" charset="0"/>
              </a:rPr>
              <a:t>SOP       SEP</a:t>
            </a:r>
            <a:r>
              <a:rPr lang="en-US" altLang="zh-CN" dirty="0" smtClean="0">
                <a:cs typeface="Times New Roman" pitchFamily="18" charset="0"/>
                <a:sym typeface="Symbol" pitchFamily="18" charset="2"/>
              </a:rPr>
              <a:t>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cs typeface="Times New Roman" pitchFamily="18" charset="0"/>
              </a:rPr>
              <a:t>SIP</a:t>
            </a:r>
            <a:endParaRPr lang="zh-CN" altLang="en-US" dirty="0" smtClean="0"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cs typeface="Times New Roman" pitchFamily="18" charset="0"/>
              </a:rPr>
              <a:t>SIP</a:t>
            </a:r>
            <a:r>
              <a:rPr lang="en-US" altLang="zh-CN" dirty="0" smtClean="0">
                <a:cs typeface="Times New Roman" pitchFamily="18" charset="0"/>
                <a:sym typeface="Symbol" pitchFamily="18" charset="2"/>
              </a:rPr>
              <a:t>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cs typeface="Times New Roman" pitchFamily="18" charset="0"/>
              </a:rPr>
              <a:t>SEP</a:t>
            </a:r>
            <a:r>
              <a:rPr lang="zh-CN" altLang="en-US" dirty="0">
                <a:cs typeface="Times New Roman" pitchFamily="18" charset="0"/>
              </a:rPr>
              <a:t> </a:t>
            </a:r>
            <a:r>
              <a:rPr lang="zh-CN" altLang="en-US" dirty="0" smtClean="0">
                <a:cs typeface="Times New Roman" pitchFamily="18" charset="0"/>
              </a:rPr>
              <a:t>        </a:t>
            </a:r>
            <a:r>
              <a:rPr lang="en-US" altLang="zh-CN" dirty="0" smtClean="0">
                <a:cs typeface="Times New Roman" pitchFamily="18" charset="0"/>
              </a:rPr>
              <a:t>SOP</a:t>
            </a:r>
            <a:r>
              <a:rPr lang="en-US" altLang="zh-CN" dirty="0" smtClean="0">
                <a:cs typeface="Times New Roman" pitchFamily="18" charset="0"/>
                <a:sym typeface="Symbol" pitchFamily="18" charset="2"/>
              </a:rPr>
              <a:t>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cs typeface="Times New Roman" pitchFamily="18" charset="0"/>
              </a:rPr>
              <a:t>SAP</a:t>
            </a:r>
            <a:endParaRPr lang="zh-CN" altLang="en-US" dirty="0" smtClean="0">
              <a:cs typeface="Times New Roman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对当方阵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3574177"/>
            <a:ext cx="2448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考虑单称命题的话：</a:t>
            </a:r>
            <a:endParaRPr lang="zh-CN" altLang="en-US" sz="22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4427984" y="3573016"/>
            <a:ext cx="360040" cy="360040"/>
          </a:xfrm>
          <a:prstGeom prst="rightArrow">
            <a:avLst/>
          </a:prstGeom>
          <a:scene3d>
            <a:camera prst="orthographicFront">
              <a:rot lat="0" lon="0" rev="162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0670" y="1052736"/>
            <a:ext cx="280149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4077072"/>
            <a:ext cx="5996186" cy="2407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词项的周延性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052736"/>
            <a:ext cx="72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在直言命题中，若断定了一个词项的全部外延，则称它是</a:t>
            </a:r>
            <a:r>
              <a:rPr lang="zh-CN" altLang="en-US" sz="2200" b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周延的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，否则是不周延的。</a:t>
            </a:r>
            <a:endParaRPr lang="zh-CN" altLang="en-US" sz="22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916832"/>
            <a:ext cx="1944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周延性的特点：</a:t>
            </a:r>
            <a:endParaRPr lang="zh-CN" altLang="en-US" sz="22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6" name="折角形 5"/>
          <p:cNvSpPr/>
          <p:nvPr/>
        </p:nvSpPr>
        <p:spPr>
          <a:xfrm>
            <a:off x="1331640" y="2492896"/>
            <a:ext cx="6336704" cy="792088"/>
          </a:xfrm>
          <a:prstGeom prst="foldedCorne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03648" y="2564904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只有直言命题的主项和谓项才有周延与否的问题，离开直言命题的一个单独词项，无所谓周延和不周延。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1331640" y="3501008"/>
            <a:ext cx="6336704" cy="792088"/>
          </a:xfrm>
          <a:prstGeom prst="foldedCorne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403648" y="3573016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行楷" pitchFamily="2" charset="-122"/>
                <a:ea typeface="华文行楷" pitchFamily="2" charset="-122"/>
              </a:rPr>
              <a:t>主、谓项的周延性是由直言命题的形式决定的，而不是相对于直言命题所断定的对象本身的实际情况而言的。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339754" y="4653136"/>
          <a:ext cx="4392486" cy="185420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464162"/>
                <a:gridCol w="1464162"/>
                <a:gridCol w="146416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命题类型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主项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谓项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SAP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不周延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SEP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SIP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不周延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不周延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SOP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不周延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周延</a:t>
                      </a:r>
                      <a:endParaRPr lang="zh-CN" altLang="en-US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三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词项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2679303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直接推理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357301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三段论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864" y="443711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直言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命题的存在含义问题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7864" y="534359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文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恩图解法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直言命题</a:t>
            </a:r>
          </a:p>
        </p:txBody>
      </p:sp>
      <p:sp>
        <p:nvSpPr>
          <p:cNvPr id="17" name="心形 16"/>
          <p:cNvSpPr/>
          <p:nvPr/>
        </p:nvSpPr>
        <p:spPr>
          <a:xfrm>
            <a:off x="2339752" y="1844824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心形 17"/>
          <p:cNvSpPr/>
          <p:nvPr/>
        </p:nvSpPr>
        <p:spPr>
          <a:xfrm>
            <a:off x="2339752" y="2708920"/>
            <a:ext cx="576064" cy="504056"/>
          </a:xfrm>
          <a:prstGeom prst="hear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心形 18"/>
          <p:cNvSpPr/>
          <p:nvPr/>
        </p:nvSpPr>
        <p:spPr>
          <a:xfrm>
            <a:off x="2339752" y="3573016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心形 19"/>
          <p:cNvSpPr/>
          <p:nvPr/>
        </p:nvSpPr>
        <p:spPr>
          <a:xfrm>
            <a:off x="2339752" y="4437112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心形 20"/>
          <p:cNvSpPr/>
          <p:nvPr/>
        </p:nvSpPr>
        <p:spPr>
          <a:xfrm>
            <a:off x="2339752" y="5301208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直言推理的方法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云形 4"/>
          <p:cNvSpPr/>
          <p:nvPr/>
        </p:nvSpPr>
        <p:spPr>
          <a:xfrm>
            <a:off x="827584" y="1425550"/>
            <a:ext cx="1728192" cy="1008112"/>
          </a:xfrm>
          <a:prstGeom prst="cloud">
            <a:avLst/>
          </a:prstGeom>
          <a:ln>
            <a:solidFill>
              <a:srgbClr val="33993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43608" y="1641574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换质法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5816" y="1209526"/>
            <a:ext cx="56886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将一个直言命题由肯定变为否定，或者由否定变为肯定，并且将其谓项变成其矛盾概念，由此得到一个与原直言命题</a:t>
            </a:r>
            <a:r>
              <a:rPr lang="zh-CN" altLang="en-US" sz="2000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等值的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直言命题。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云形 7"/>
          <p:cNvSpPr/>
          <p:nvPr/>
        </p:nvSpPr>
        <p:spPr>
          <a:xfrm>
            <a:off x="827584" y="3153742"/>
            <a:ext cx="1728192" cy="1008112"/>
          </a:xfrm>
          <a:prstGeom prst="cloud">
            <a:avLst/>
          </a:prstGeom>
          <a:ln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43608" y="336976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换位法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15816" y="3009726"/>
            <a:ext cx="56166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将一个直言命题的主项和谓项互换位置，但让它的质保持不变，原为肯定仍为肯定，原为否定仍为否定，并相应地改变量项，由此得到一个</a:t>
            </a:r>
            <a:r>
              <a:rPr lang="zh-CN" altLang="en-US" sz="2000" u="sng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新的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直言命题。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744416" y="2204864"/>
            <a:ext cx="4572000" cy="646331"/>
            <a:chOff x="3744416" y="2924944"/>
            <a:chExt cx="4572000" cy="646331"/>
          </a:xfrm>
        </p:grpSpPr>
        <p:sp>
          <p:nvSpPr>
            <p:cNvPr id="12" name="矩形 11"/>
            <p:cNvSpPr/>
            <p:nvPr/>
          </p:nvSpPr>
          <p:spPr>
            <a:xfrm>
              <a:off x="3744416" y="2924944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lvl="1"/>
              <a:r>
                <a:rPr lang="en-US" altLang="zh-CN" dirty="0" smtClean="0"/>
                <a:t>SAP</a:t>
              </a:r>
              <a:r>
                <a:rPr lang="en-US" altLang="zh-CN" dirty="0" smtClean="0">
                  <a:sym typeface="Symbol" pitchFamily="18" charset="2"/>
                </a:rPr>
                <a:t></a:t>
              </a:r>
              <a:r>
                <a:rPr lang="en-US" altLang="zh-CN" dirty="0" smtClean="0"/>
                <a:t>SE</a:t>
              </a:r>
              <a:r>
                <a:rPr lang="zh-CN" altLang="en-US" dirty="0"/>
                <a:t> </a:t>
              </a:r>
              <a:r>
                <a:rPr lang="zh-CN" altLang="en-US" dirty="0" smtClean="0"/>
                <a:t>              </a:t>
              </a:r>
              <a:r>
                <a:rPr lang="en-US" altLang="zh-CN" dirty="0" smtClean="0"/>
                <a:t>SEP</a:t>
              </a:r>
              <a:r>
                <a:rPr lang="en-US" altLang="zh-CN" dirty="0" smtClean="0">
                  <a:sym typeface="Symbol" pitchFamily="18" charset="2"/>
                </a:rPr>
                <a:t></a:t>
              </a:r>
              <a:r>
                <a:rPr lang="en-US" altLang="zh-CN" dirty="0" smtClean="0"/>
                <a:t>SA</a:t>
              </a:r>
              <a:endParaRPr lang="zh-CN" altLang="en-US" dirty="0" smtClean="0"/>
            </a:p>
            <a:p>
              <a:pPr lvl="1"/>
              <a:r>
                <a:rPr lang="en-US" altLang="zh-CN" dirty="0" smtClean="0"/>
                <a:t>SIP</a:t>
              </a:r>
              <a:r>
                <a:rPr lang="en-US" altLang="zh-CN" dirty="0" smtClean="0">
                  <a:sym typeface="Symbol" pitchFamily="18" charset="2"/>
                </a:rPr>
                <a:t></a:t>
              </a:r>
              <a:r>
                <a:rPr lang="en-US" altLang="zh-CN" dirty="0" smtClean="0"/>
                <a:t>SO</a:t>
              </a:r>
              <a:r>
                <a:rPr lang="zh-CN" altLang="en-US" dirty="0"/>
                <a:t> </a:t>
              </a:r>
              <a:r>
                <a:rPr lang="zh-CN" altLang="en-US" dirty="0" smtClean="0"/>
                <a:t>               </a:t>
              </a:r>
              <a:r>
                <a:rPr lang="en-US" altLang="zh-CN" dirty="0" smtClean="0"/>
                <a:t>SOP</a:t>
              </a:r>
              <a:r>
                <a:rPr lang="en-US" altLang="zh-CN" dirty="0" smtClean="0">
                  <a:sym typeface="Symbol" pitchFamily="18" charset="2"/>
                </a:rPr>
                <a:t></a:t>
              </a:r>
              <a:r>
                <a:rPr lang="en-US" altLang="zh-CN" dirty="0" smtClean="0"/>
                <a:t>SI</a:t>
              </a:r>
              <a:endParaRPr lang="zh-CN" altLang="en-US" dirty="0" smtClean="0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816800" y="2924944"/>
              <a:ext cx="2151911" cy="641188"/>
              <a:chOff x="4816800" y="2924944"/>
              <a:chExt cx="2151911" cy="641188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6444208" y="2924944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 </a:t>
                </a:r>
                <a:r>
                  <a:rPr lang="en-US" altLang="zh-CN" dirty="0" smtClean="0">
                    <a:sym typeface="Symbol" pitchFamily="18" charset="2"/>
                  </a:rPr>
                  <a:t></a:t>
                </a:r>
                <a:r>
                  <a:rPr lang="en-US" altLang="zh-CN" dirty="0" smtClean="0"/>
                  <a:t>P </a:t>
                </a:r>
                <a:endParaRPr lang="zh-CN" altLang="en-US" dirty="0"/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4816800" y="2924944"/>
                <a:ext cx="567735" cy="637588"/>
                <a:chOff x="4816800" y="2924944"/>
                <a:chExt cx="567735" cy="637588"/>
              </a:xfrm>
            </p:grpSpPr>
            <p:sp>
              <p:nvSpPr>
                <p:cNvPr id="14" name="TextBox 13"/>
                <p:cNvSpPr txBox="1"/>
                <p:nvPr/>
              </p:nvSpPr>
              <p:spPr>
                <a:xfrm>
                  <a:off x="4860032" y="2924944"/>
                  <a:ext cx="5245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 </a:t>
                  </a:r>
                  <a:r>
                    <a:rPr lang="en-US" altLang="zh-CN" dirty="0" smtClean="0">
                      <a:sym typeface="Symbol" pitchFamily="18" charset="2"/>
                    </a:rPr>
                    <a:t></a:t>
                  </a:r>
                  <a:r>
                    <a:rPr lang="en-US" altLang="zh-CN" dirty="0" smtClean="0"/>
                    <a:t>P </a:t>
                  </a:r>
                  <a:endParaRPr lang="zh-CN" altLang="en-US" dirty="0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4816800" y="3193200"/>
                  <a:ext cx="5245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 </a:t>
                  </a:r>
                  <a:r>
                    <a:rPr lang="en-US" altLang="zh-CN" dirty="0" smtClean="0">
                      <a:sym typeface="Symbol" pitchFamily="18" charset="2"/>
                    </a:rPr>
                    <a:t></a:t>
                  </a:r>
                  <a:r>
                    <a:rPr lang="en-US" altLang="zh-CN" dirty="0" smtClean="0"/>
                    <a:t>P </a:t>
                  </a:r>
                  <a:endParaRPr lang="zh-CN" altLang="en-US" dirty="0"/>
                </a:p>
              </p:txBody>
            </p:sp>
          </p:grpSp>
          <p:sp>
            <p:nvSpPr>
              <p:cNvPr id="17" name="TextBox 16"/>
              <p:cNvSpPr txBox="1"/>
              <p:nvPr/>
            </p:nvSpPr>
            <p:spPr>
              <a:xfrm>
                <a:off x="6423761" y="3196800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 </a:t>
                </a:r>
                <a:r>
                  <a:rPr lang="en-US" altLang="zh-CN" dirty="0" smtClean="0">
                    <a:sym typeface="Symbol" pitchFamily="18" charset="2"/>
                  </a:rPr>
                  <a:t></a:t>
                </a:r>
                <a:r>
                  <a:rPr lang="en-US" altLang="zh-CN" dirty="0" smtClean="0"/>
                  <a:t>P </a:t>
                </a:r>
                <a:endParaRPr lang="zh-CN" altLang="en-US" dirty="0"/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3707904" y="4233862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/>
              <a:t>SAP</a:t>
            </a:r>
            <a:r>
              <a:rPr lang="zh-CN" altLang="en-US" dirty="0"/>
              <a:t>→</a:t>
            </a:r>
            <a:r>
              <a:rPr lang="en-US" altLang="zh-CN" dirty="0"/>
              <a:t>PIS</a:t>
            </a:r>
            <a:r>
              <a:rPr lang="zh-CN" altLang="en-US" dirty="0"/>
              <a:t>               </a:t>
            </a:r>
            <a:r>
              <a:rPr lang="en-US" altLang="zh-CN" dirty="0"/>
              <a:t>SEP</a:t>
            </a:r>
            <a:r>
              <a:rPr lang="zh-CN" altLang="en-US" dirty="0"/>
              <a:t>→</a:t>
            </a:r>
            <a:r>
              <a:rPr lang="en-US" altLang="zh-CN" dirty="0"/>
              <a:t>PES</a:t>
            </a:r>
            <a:endParaRPr lang="zh-CN" altLang="en-US" dirty="0"/>
          </a:p>
          <a:p>
            <a:pPr lvl="1"/>
            <a:r>
              <a:rPr lang="en-US" altLang="zh-CN" dirty="0"/>
              <a:t>SIP</a:t>
            </a:r>
            <a:r>
              <a:rPr lang="zh-CN" altLang="en-US" dirty="0"/>
              <a:t>→</a:t>
            </a:r>
            <a:r>
              <a:rPr lang="en-US" altLang="zh-CN" dirty="0"/>
              <a:t>PIS</a:t>
            </a:r>
            <a:r>
              <a:rPr lang="zh-CN" altLang="en-US" dirty="0"/>
              <a:t>                 </a:t>
            </a:r>
            <a:r>
              <a:rPr lang="en-US" altLang="zh-CN" dirty="0"/>
              <a:t>SOP</a:t>
            </a:r>
            <a:r>
              <a:rPr lang="zh-CN" altLang="en-US" dirty="0"/>
              <a:t>不能</a:t>
            </a:r>
            <a:r>
              <a:rPr lang="zh-CN" altLang="en-US" dirty="0" smtClean="0"/>
              <a:t>换位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2" name="云形 21"/>
          <p:cNvSpPr/>
          <p:nvPr/>
        </p:nvSpPr>
        <p:spPr>
          <a:xfrm>
            <a:off x="539552" y="5169552"/>
            <a:ext cx="2160240" cy="1152128"/>
          </a:xfrm>
          <a:prstGeom prst="cloud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27584" y="543842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换</a:t>
            </a:r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质位法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11760" y="5097544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对一个直言命题先换质，再换位，由此得到一个</a:t>
            </a:r>
            <a:r>
              <a:rPr lang="zh-CN" altLang="en-US" sz="2000" u="sng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新的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直言命题。</a:t>
            </a:r>
            <a:endParaRPr lang="en-US" altLang="zh-CN" sz="2000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19872" y="5745616"/>
            <a:ext cx="4824536" cy="923744"/>
            <a:chOff x="3419872" y="5601600"/>
            <a:chExt cx="4824536" cy="923744"/>
          </a:xfrm>
        </p:grpSpPr>
        <p:sp>
          <p:nvSpPr>
            <p:cNvPr id="25" name="TextBox 24"/>
            <p:cNvSpPr txBox="1"/>
            <p:nvPr/>
          </p:nvSpPr>
          <p:spPr>
            <a:xfrm>
              <a:off x="3419872" y="5602014"/>
              <a:ext cx="482453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altLang="zh-CN" dirty="0" smtClean="0"/>
                <a:t>SAP</a:t>
              </a:r>
              <a:r>
                <a:rPr lang="zh-CN" altLang="en-US" dirty="0" smtClean="0"/>
                <a:t>→</a:t>
              </a:r>
              <a:r>
                <a:rPr lang="en-US" altLang="zh-CN" dirty="0" smtClean="0"/>
                <a:t>SE</a:t>
              </a:r>
              <a:r>
                <a:rPr lang="en-US" altLang="zh-CN" dirty="0">
                  <a:sym typeface="Symbol" pitchFamily="18" charset="2"/>
                </a:rPr>
                <a:t> </a:t>
              </a:r>
              <a:r>
                <a:rPr lang="en-US" altLang="zh-CN" dirty="0" smtClean="0">
                  <a:sym typeface="Symbol" pitchFamily="18" charset="2"/>
                </a:rPr>
                <a:t>  </a:t>
              </a:r>
              <a:r>
                <a:rPr lang="zh-CN" altLang="en-US" dirty="0" smtClean="0"/>
                <a:t>→</a:t>
              </a:r>
              <a:r>
                <a:rPr lang="en-US" altLang="zh-CN" dirty="0">
                  <a:sym typeface="Symbol" pitchFamily="18" charset="2"/>
                </a:rPr>
                <a:t> </a:t>
              </a:r>
              <a:r>
                <a:rPr lang="en-US" altLang="zh-CN" dirty="0" smtClean="0">
                  <a:sym typeface="Symbol" pitchFamily="18" charset="2"/>
                </a:rPr>
                <a:t> </a:t>
              </a:r>
              <a:r>
                <a:rPr lang="en-US" altLang="zh-CN" dirty="0" smtClean="0"/>
                <a:t>ES </a:t>
              </a:r>
              <a:r>
                <a:rPr lang="zh-CN" altLang="en-US" dirty="0"/>
                <a:t> </a:t>
              </a:r>
              <a:r>
                <a:rPr lang="zh-CN" altLang="en-US" dirty="0" smtClean="0"/>
                <a:t>              </a:t>
              </a:r>
              <a:r>
                <a:rPr lang="en-US" altLang="zh-CN" dirty="0" smtClean="0"/>
                <a:t>SEP</a:t>
              </a:r>
              <a:r>
                <a:rPr lang="zh-CN" altLang="en-US" dirty="0" smtClean="0"/>
                <a:t>→</a:t>
              </a:r>
              <a:r>
                <a:rPr lang="en-US" altLang="zh-CN" dirty="0" smtClean="0"/>
                <a:t>SA</a:t>
              </a:r>
              <a:r>
                <a:rPr lang="zh-CN" altLang="en-US" dirty="0">
                  <a:sym typeface="Symbol" pitchFamily="18" charset="2"/>
                </a:rPr>
                <a:t> </a:t>
              </a:r>
              <a:r>
                <a:rPr lang="zh-CN" altLang="en-US" dirty="0" smtClean="0">
                  <a:sym typeface="Symbol" pitchFamily="18" charset="2"/>
                </a:rPr>
                <a:t>  </a:t>
              </a:r>
              <a:r>
                <a:rPr lang="zh-CN" altLang="en-US" dirty="0" smtClean="0"/>
                <a:t>→</a:t>
              </a:r>
              <a:r>
                <a:rPr lang="zh-CN" altLang="en-US" dirty="0">
                  <a:sym typeface="Symbol" pitchFamily="18" charset="2"/>
                </a:rPr>
                <a:t> </a:t>
              </a:r>
              <a:r>
                <a:rPr lang="zh-CN" altLang="en-US" dirty="0" smtClean="0">
                  <a:sym typeface="Symbol" pitchFamily="18" charset="2"/>
                </a:rPr>
                <a:t> </a:t>
              </a:r>
              <a:r>
                <a:rPr lang="en-US" altLang="zh-CN" dirty="0" smtClean="0"/>
                <a:t>IS</a:t>
              </a:r>
              <a:endParaRPr lang="zh-CN" altLang="en-US" dirty="0" smtClean="0"/>
            </a:p>
            <a:p>
              <a:pPr lvl="1"/>
              <a:r>
                <a:rPr lang="en-US" altLang="zh-CN" dirty="0" smtClean="0"/>
                <a:t>SIP</a:t>
              </a:r>
              <a:r>
                <a:rPr lang="zh-CN" altLang="en-US" dirty="0" smtClean="0"/>
                <a:t>不能换质位                 </a:t>
              </a:r>
              <a:r>
                <a:rPr lang="en-US" altLang="zh-CN" dirty="0" smtClean="0"/>
                <a:t>SOP</a:t>
              </a:r>
              <a:r>
                <a:rPr lang="zh-CN" altLang="en-US" dirty="0" smtClean="0"/>
                <a:t>→</a:t>
              </a:r>
              <a:r>
                <a:rPr lang="en-US" altLang="zh-CN" dirty="0" smtClean="0"/>
                <a:t>SI</a:t>
              </a:r>
              <a:r>
                <a:rPr lang="zh-CN" altLang="en-US" dirty="0">
                  <a:sym typeface="Symbol" pitchFamily="18" charset="2"/>
                </a:rPr>
                <a:t> </a:t>
              </a:r>
              <a:r>
                <a:rPr lang="zh-CN" altLang="en-US" dirty="0" smtClean="0">
                  <a:sym typeface="Symbol" pitchFamily="18" charset="2"/>
                </a:rPr>
                <a:t>  </a:t>
              </a:r>
              <a:r>
                <a:rPr lang="zh-CN" altLang="en-US" dirty="0" smtClean="0"/>
                <a:t>→</a:t>
              </a:r>
              <a:r>
                <a:rPr lang="zh-CN" altLang="en-US" dirty="0">
                  <a:sym typeface="Symbol" pitchFamily="18" charset="2"/>
                </a:rPr>
                <a:t> </a:t>
              </a:r>
              <a:r>
                <a:rPr lang="zh-CN" altLang="en-US" dirty="0" smtClean="0">
                  <a:sym typeface="Symbol" pitchFamily="18" charset="2"/>
                </a:rPr>
                <a:t> </a:t>
              </a:r>
              <a:r>
                <a:rPr lang="en-US" altLang="zh-CN" dirty="0" smtClean="0"/>
                <a:t>IS</a:t>
              </a:r>
              <a:endParaRPr lang="zh-CN" altLang="en-US" dirty="0" smtClean="0"/>
            </a:p>
            <a:p>
              <a:endParaRPr lang="zh-CN" alt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27600" y="5601600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 </a:t>
              </a:r>
              <a:r>
                <a:rPr lang="en-US" altLang="zh-CN" dirty="0" smtClean="0">
                  <a:sym typeface="Symbol" pitchFamily="18" charset="2"/>
                </a:rPr>
                <a:t></a:t>
              </a:r>
              <a:r>
                <a:rPr lang="en-US" altLang="zh-CN" dirty="0" smtClean="0"/>
                <a:t>P 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499992" y="5605200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 </a:t>
              </a:r>
              <a:r>
                <a:rPr lang="en-US" altLang="zh-CN" dirty="0" smtClean="0">
                  <a:sym typeface="Symbol" pitchFamily="18" charset="2"/>
                </a:rPr>
                <a:t></a:t>
              </a:r>
              <a:r>
                <a:rPr lang="en-US" altLang="zh-CN" dirty="0" smtClean="0"/>
                <a:t>P 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04248" y="5601600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 </a:t>
              </a:r>
              <a:r>
                <a:rPr lang="en-US" altLang="zh-CN" dirty="0" smtClean="0">
                  <a:sym typeface="Symbol" pitchFamily="18" charset="2"/>
                </a:rPr>
                <a:t></a:t>
              </a:r>
              <a:r>
                <a:rPr lang="en-US" altLang="zh-CN" dirty="0" smtClean="0"/>
                <a:t>P 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28000" y="5601600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 </a:t>
              </a:r>
              <a:r>
                <a:rPr lang="en-US" altLang="zh-CN" dirty="0" smtClean="0">
                  <a:sym typeface="Symbol" pitchFamily="18" charset="2"/>
                </a:rPr>
                <a:t></a:t>
              </a:r>
              <a:r>
                <a:rPr lang="en-US" altLang="zh-CN" dirty="0" smtClean="0"/>
                <a:t>P </a:t>
              </a:r>
              <a:endParaRPr lang="zh-CN" alt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83801" y="5877272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 </a:t>
              </a:r>
              <a:r>
                <a:rPr lang="en-US" altLang="zh-CN" dirty="0" smtClean="0">
                  <a:sym typeface="Symbol" pitchFamily="18" charset="2"/>
                </a:rPr>
                <a:t></a:t>
              </a:r>
              <a:r>
                <a:rPr lang="en-US" altLang="zh-CN" dirty="0" smtClean="0"/>
                <a:t>P 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120800" y="5875200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 </a:t>
              </a:r>
              <a:r>
                <a:rPr lang="en-US" altLang="zh-CN" dirty="0" smtClean="0">
                  <a:sym typeface="Symbol" pitchFamily="18" charset="2"/>
                </a:rPr>
                <a:t></a:t>
              </a:r>
              <a:r>
                <a:rPr lang="en-US" altLang="zh-CN" dirty="0" smtClean="0"/>
                <a:t>P 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8" grpId="0"/>
      <p:bldP spid="22" grpId="0" animBg="1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云形 3"/>
          <p:cNvSpPr/>
          <p:nvPr/>
        </p:nvSpPr>
        <p:spPr>
          <a:xfrm>
            <a:off x="755576" y="1340768"/>
            <a:ext cx="2232248" cy="1296144"/>
          </a:xfrm>
          <a:prstGeom prst="cloud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15616" y="1556792"/>
            <a:ext cx="187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对当关系推理</a:t>
            </a:r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法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5816" y="1700808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根据直言命题间的对当关系进行的推理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直言推理的方法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7544" y="2924944"/>
            <a:ext cx="1800200" cy="400110"/>
          </a:xfrm>
          <a:prstGeom prst="rect">
            <a:avLst/>
          </a:prstGeom>
          <a:noFill/>
          <a:ln w="19050">
            <a:solidFill>
              <a:srgbClr val="339933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反对关系推理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7784" y="2924944"/>
            <a:ext cx="1728192" cy="400110"/>
          </a:xfrm>
          <a:prstGeom prst="rect">
            <a:avLst/>
          </a:prstGeom>
          <a:noFill/>
          <a:ln w="19050">
            <a:solidFill>
              <a:srgbClr val="339933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矛盾关系推理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6016" y="2924944"/>
            <a:ext cx="1800200" cy="400110"/>
          </a:xfrm>
          <a:prstGeom prst="rect">
            <a:avLst/>
          </a:prstGeom>
          <a:noFill/>
          <a:ln w="19050">
            <a:solidFill>
              <a:srgbClr val="339933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差等关系推理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56" y="2924944"/>
            <a:ext cx="2016224" cy="400110"/>
          </a:xfrm>
          <a:prstGeom prst="rect">
            <a:avLst/>
          </a:prstGeom>
          <a:noFill/>
          <a:ln w="19050">
            <a:solidFill>
              <a:srgbClr val="339933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下反对关系推理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3369766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 smtClean="0"/>
              <a:t>SAP</a:t>
            </a:r>
            <a:r>
              <a:rPr lang="zh-CN" altLang="en-US" dirty="0" smtClean="0"/>
              <a:t>→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SEP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SEP</a:t>
            </a:r>
            <a:r>
              <a:rPr lang="zh-CN" altLang="en-US" dirty="0" smtClean="0"/>
              <a:t>→</a:t>
            </a:r>
            <a:r>
              <a:rPr lang="en-US" altLang="zh-CN" baseline="30000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SAP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499992" y="3369600"/>
            <a:ext cx="2160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 smtClean="0"/>
              <a:t>SAP</a:t>
            </a:r>
            <a:r>
              <a:rPr lang="zh-CN" altLang="en-US" dirty="0" smtClean="0"/>
              <a:t>→</a:t>
            </a:r>
            <a:r>
              <a:rPr lang="en-US" altLang="zh-CN" dirty="0" smtClean="0"/>
              <a:t>SIP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SEP</a:t>
            </a:r>
            <a:r>
              <a:rPr lang="zh-CN" altLang="en-US" dirty="0" smtClean="0"/>
              <a:t>→</a:t>
            </a:r>
            <a:r>
              <a:rPr lang="en-US" altLang="zh-CN" dirty="0" smtClean="0"/>
              <a:t>SOP</a:t>
            </a:r>
            <a:endParaRPr lang="zh-CN" altLang="en-US" dirty="0" smtClean="0"/>
          </a:p>
          <a:p>
            <a:pPr lvl="1"/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SIP</a:t>
            </a:r>
            <a:r>
              <a:rPr lang="zh-CN" altLang="en-US" dirty="0" smtClean="0"/>
              <a:t>→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SAP</a:t>
            </a:r>
            <a:endParaRPr lang="zh-CN" altLang="en-US" dirty="0" smtClean="0"/>
          </a:p>
          <a:p>
            <a:pPr lvl="1"/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SOP</a:t>
            </a:r>
            <a:r>
              <a:rPr lang="zh-CN" altLang="en-US" dirty="0" smtClean="0"/>
              <a:t>→</a:t>
            </a:r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SEP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25" name="内容占位符 2"/>
          <p:cNvSpPr>
            <a:spLocks noGrp="1"/>
          </p:cNvSpPr>
          <p:nvPr>
            <p:ph idx="1"/>
          </p:nvPr>
        </p:nvSpPr>
        <p:spPr>
          <a:xfrm>
            <a:off x="2483768" y="3369600"/>
            <a:ext cx="2448272" cy="2578397"/>
          </a:xfrm>
        </p:spPr>
        <p:txBody>
          <a:bodyPr>
            <a:noAutofit/>
          </a:bodyPr>
          <a:lstStyle/>
          <a:p>
            <a:pPr marL="621792" lvl="1">
              <a:spcBef>
                <a:spcPts val="324"/>
              </a:spcBef>
              <a:buNone/>
              <a:defRPr/>
            </a:pPr>
            <a:r>
              <a:rPr lang="en-US" sz="1800" dirty="0" smtClean="0"/>
              <a:t>SAP</a:t>
            </a:r>
            <a:r>
              <a:rPr lang="zh-CN" altLang="en-US" sz="1800" dirty="0" smtClean="0"/>
              <a:t>→</a:t>
            </a: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SOP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sz="1800" dirty="0" smtClean="0"/>
              <a:t>SEP</a:t>
            </a:r>
            <a:r>
              <a:rPr lang="zh-CN" altLang="en-US" sz="1800" dirty="0" smtClean="0"/>
              <a:t>→</a:t>
            </a: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SIP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sz="1800" dirty="0" smtClean="0"/>
              <a:t>SIP</a:t>
            </a:r>
            <a:r>
              <a:rPr lang="zh-CN" altLang="en-US" sz="1800" dirty="0" smtClean="0"/>
              <a:t>→</a:t>
            </a: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SEP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sz="1800" dirty="0" smtClean="0"/>
              <a:t>SOP</a:t>
            </a:r>
            <a:r>
              <a:rPr lang="zh-CN" altLang="en-US" sz="1800" dirty="0" smtClean="0"/>
              <a:t>→</a:t>
            </a: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SAP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SAP</a:t>
            </a:r>
            <a:r>
              <a:rPr lang="zh-CN" altLang="en-US" sz="1800" dirty="0" smtClean="0"/>
              <a:t>→</a:t>
            </a:r>
            <a:r>
              <a:rPr lang="en-US" sz="1800" dirty="0" smtClean="0"/>
              <a:t>SOP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SEP</a:t>
            </a:r>
            <a:r>
              <a:rPr lang="zh-CN" altLang="en-US" sz="1800" dirty="0" smtClean="0"/>
              <a:t>→</a:t>
            </a:r>
            <a:r>
              <a:rPr lang="en-US" sz="1800" dirty="0" smtClean="0"/>
              <a:t>SIP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SIP</a:t>
            </a:r>
            <a:r>
              <a:rPr lang="zh-CN" altLang="en-US" sz="1800" dirty="0" smtClean="0"/>
              <a:t>→</a:t>
            </a:r>
            <a:r>
              <a:rPr lang="en-US" sz="1800" dirty="0" smtClean="0"/>
              <a:t>SEP</a:t>
            </a:r>
            <a:endParaRPr lang="zh-CN" altLang="en-US" sz="1800" dirty="0" smtClean="0"/>
          </a:p>
          <a:p>
            <a:pPr marL="621792" lvl="1">
              <a:spcBef>
                <a:spcPts val="324"/>
              </a:spcBef>
              <a:buNone/>
              <a:defRPr/>
            </a:pPr>
            <a:r>
              <a:rPr lang="en-US" altLang="zh-CN" sz="1800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1800" dirty="0" smtClean="0"/>
              <a:t>SOP</a:t>
            </a:r>
            <a:r>
              <a:rPr lang="zh-CN" altLang="en-US" sz="1800" dirty="0" smtClean="0"/>
              <a:t>→</a:t>
            </a:r>
            <a:r>
              <a:rPr lang="en-US" sz="1800" dirty="0" smtClean="0"/>
              <a:t>SAP</a:t>
            </a:r>
            <a:endParaRPr lang="zh-CN" altLang="en-US" sz="18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6732240" y="3369600"/>
            <a:ext cx="1907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SIP</a:t>
            </a:r>
            <a:r>
              <a:rPr lang="zh-CN" altLang="en-US" dirty="0" smtClean="0"/>
              <a:t>→</a:t>
            </a:r>
            <a:r>
              <a:rPr lang="en-US" altLang="zh-CN" dirty="0" smtClean="0"/>
              <a:t>SOP</a:t>
            </a:r>
            <a:endParaRPr lang="zh-CN" altLang="en-US" dirty="0" smtClean="0"/>
          </a:p>
          <a:p>
            <a:pPr lvl="1"/>
            <a:r>
              <a:rPr lang="en-US" altLang="zh-CN" baseline="30000" dirty="0" smtClean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/>
              <a:t>SOP</a:t>
            </a:r>
            <a:r>
              <a:rPr lang="zh-CN" altLang="en-US" dirty="0" smtClean="0"/>
              <a:t>→</a:t>
            </a:r>
            <a:r>
              <a:rPr lang="en-US" altLang="zh-CN" dirty="0" smtClean="0"/>
              <a:t>SIP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968552" y="5517232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 smtClean="0"/>
              <a:t>SAP</a:t>
            </a:r>
            <a:r>
              <a:rPr lang="zh-CN" altLang="en-US" dirty="0" smtClean="0"/>
              <a:t>→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</a:t>
            </a:r>
            <a:r>
              <a:rPr lang="en-US" altLang="zh-CN" dirty="0" smtClean="0"/>
              <a:t>P</a:t>
            </a:r>
            <a:r>
              <a:rPr lang="zh-CN" altLang="en-US" dirty="0"/>
              <a:t> </a:t>
            </a:r>
            <a:r>
              <a:rPr lang="zh-CN" altLang="en-US" dirty="0" smtClean="0"/>
              <a:t>         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</a:t>
            </a:r>
            <a:r>
              <a:rPr lang="en-US" altLang="zh-CN" dirty="0" smtClean="0"/>
              <a:t>P</a:t>
            </a:r>
            <a:r>
              <a:rPr lang="zh-CN" altLang="en-US" dirty="0" smtClean="0"/>
              <a:t>→</a:t>
            </a:r>
            <a:r>
              <a:rPr lang="en-US" altLang="zh-CN" dirty="0" smtClean="0"/>
              <a:t>SIP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076056" y="5157192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33CC"/>
                </a:solidFill>
                <a:latin typeface="华文行楷" pitchFamily="2" charset="-122"/>
                <a:ea typeface="华文行楷" pitchFamily="2" charset="-122"/>
              </a:rPr>
              <a:t>单称命题与其他命题之间的推理：</a:t>
            </a:r>
            <a:endParaRPr lang="zh-CN" altLang="en-US" dirty="0">
              <a:solidFill>
                <a:srgbClr val="0033CC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 build="p"/>
      <p:bldP spid="26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三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词项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2679303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直接推理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357301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三段论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864" y="443711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直言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命题的存在含义问题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7864" y="534359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文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恩图解法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直言命题</a:t>
            </a:r>
          </a:p>
        </p:txBody>
      </p:sp>
      <p:sp>
        <p:nvSpPr>
          <p:cNvPr id="17" name="心形 16"/>
          <p:cNvSpPr/>
          <p:nvPr/>
        </p:nvSpPr>
        <p:spPr>
          <a:xfrm>
            <a:off x="2339752" y="1844824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心形 17"/>
          <p:cNvSpPr/>
          <p:nvPr/>
        </p:nvSpPr>
        <p:spPr>
          <a:xfrm>
            <a:off x="2339752" y="2708920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心形 18"/>
          <p:cNvSpPr/>
          <p:nvPr/>
        </p:nvSpPr>
        <p:spPr>
          <a:xfrm>
            <a:off x="2339752" y="3573016"/>
            <a:ext cx="576064" cy="504056"/>
          </a:xfrm>
          <a:prstGeom prst="heart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心形 19"/>
          <p:cNvSpPr/>
          <p:nvPr/>
        </p:nvSpPr>
        <p:spPr>
          <a:xfrm>
            <a:off x="2339752" y="4437112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心形 20"/>
          <p:cNvSpPr/>
          <p:nvPr/>
        </p:nvSpPr>
        <p:spPr>
          <a:xfrm>
            <a:off x="2339752" y="5301208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200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三段论的定义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844824"/>
            <a:ext cx="7200800" cy="1152127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其中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，结论的主项是</a:t>
            </a:r>
            <a:r>
              <a:rPr lang="zh-CN" altLang="en-US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小项</a:t>
            </a:r>
            <a:r>
              <a:rPr lang="en-US" altLang="zh-CN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(S)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含有小项的前提是小前提；结论的谓项是</a:t>
            </a:r>
            <a:r>
              <a:rPr lang="zh-CN" altLang="en-US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大</a:t>
            </a:r>
            <a:r>
              <a:rPr lang="zh-CN" altLang="en-US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项</a:t>
            </a:r>
            <a:r>
              <a:rPr lang="en-US" altLang="zh-CN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含有大项的前提是大前提；两个前提共有的词项叫做</a:t>
            </a:r>
            <a:r>
              <a:rPr lang="zh-CN" altLang="en-US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中</a:t>
            </a:r>
            <a:r>
              <a:rPr lang="zh-CN" altLang="en-US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项</a:t>
            </a:r>
            <a:r>
              <a:rPr lang="en-US" altLang="zh-CN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0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M</a:t>
            </a:r>
            <a:r>
              <a:rPr lang="en-US" altLang="zh-CN" sz="20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064930"/>
            <a:ext cx="72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是由一个共同词项把</a:t>
            </a:r>
            <a:r>
              <a:rPr lang="zh-CN" altLang="en-US" sz="2000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两个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直言命题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zh-CN" altLang="en-US" sz="2000" dirty="0" smtClean="0">
                <a:solidFill>
                  <a:srgbClr val="0033CC"/>
                </a:solidFill>
                <a:latin typeface="楷体" pitchFamily="49" charset="-122"/>
                <a:ea typeface="楷体" pitchFamily="49" charset="-122"/>
              </a:rPr>
              <a:t>前提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连接起来，得出</a:t>
            </a:r>
            <a:r>
              <a:rPr lang="zh-CN" altLang="en-US" sz="2000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一个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新的直言命题作为</a:t>
            </a:r>
            <a:r>
              <a:rPr lang="zh-CN" altLang="en-US" sz="2000" dirty="0" smtClean="0">
                <a:solidFill>
                  <a:srgbClr val="0033CC"/>
                </a:solidFill>
                <a:latin typeface="楷体" pitchFamily="49" charset="-122"/>
                <a:ea typeface="楷体" pitchFamily="49" charset="-122"/>
              </a:rPr>
              <a:t>结论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的推理。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" name="折角形 11"/>
          <p:cNvSpPr/>
          <p:nvPr/>
        </p:nvSpPr>
        <p:spPr>
          <a:xfrm>
            <a:off x="3635896" y="2780928"/>
            <a:ext cx="1872208" cy="576064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707904" y="2852936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三段论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的格</a:t>
            </a:r>
            <a:endParaRPr lang="zh-CN" altLang="en-US" sz="24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7" name="折角形 16"/>
          <p:cNvSpPr/>
          <p:nvPr/>
        </p:nvSpPr>
        <p:spPr>
          <a:xfrm>
            <a:off x="3635896" y="4941168"/>
            <a:ext cx="1872208" cy="576064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707904" y="5013176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三段论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的式</a:t>
            </a:r>
            <a:endParaRPr lang="zh-CN" altLang="en-US" sz="24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616" y="5661248"/>
            <a:ext cx="6696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根据组成三段论的三个直言命题的质与量，三段论有不同的式。一个三段论，它的大前提、小前提和结论分别可能是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、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E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、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、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O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。</a:t>
            </a:r>
            <a:endParaRPr lang="en-US" altLang="zh-CN" dirty="0" smtClean="0">
              <a:latin typeface="华文新魏" pitchFamily="2" charset="-122"/>
              <a:ea typeface="华文新魏" pitchFamily="2" charset="-122"/>
            </a:endParaRPr>
          </a:p>
          <a:p>
            <a:pPr algn="ctr"/>
            <a:r>
              <a:rPr lang="en-US" altLang="zh-CN" dirty="0" smtClean="0"/>
              <a:t>4×4×4 ×4</a:t>
            </a:r>
            <a:r>
              <a:rPr lang="zh-CN" altLang="en-US" dirty="0" smtClean="0"/>
              <a:t> ＝</a:t>
            </a:r>
            <a:r>
              <a:rPr lang="en-US" altLang="zh-CN" dirty="0" smtClean="0"/>
              <a:t>256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3995" y="3429000"/>
            <a:ext cx="564832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2" grpId="1" animBg="1"/>
      <p:bldP spid="13" grpId="1"/>
      <p:bldP spid="17" grpId="0" animBg="1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三段论有效式的判定方法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流程图: 顺序访问存储器 3"/>
          <p:cNvSpPr/>
          <p:nvPr/>
        </p:nvSpPr>
        <p:spPr>
          <a:xfrm>
            <a:off x="755576" y="1700808"/>
            <a:ext cx="2160240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959223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规则判定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5856" y="198884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先给出三段论必须遵守的一些推理规则，根据这些规则去判定一个具体的三段论是否有效。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755576" y="3140968"/>
            <a:ext cx="2160240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71600" y="3399383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图解判定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法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75856" y="363573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用欧拉图和文恩图去判定一个三段论是否有效。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0" name="流程图: 顺序访问存储器 9"/>
          <p:cNvSpPr/>
          <p:nvPr/>
        </p:nvSpPr>
        <p:spPr>
          <a:xfrm>
            <a:off x="755576" y="4653136"/>
            <a:ext cx="2160240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4911551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公理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演绎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法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5856" y="4941168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首先给出明显有效的三段论公理，再根据保持有效性的推理规则，能够推出的三段论式就是有效的。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848" y="269776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三段论的一般规则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1558008" y="1398786"/>
            <a:ext cx="5328592" cy="576064"/>
          </a:xfrm>
          <a:prstGeom prst="foldedCorne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558008" y="1470794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在一个三段论中，有且只能有三个不同的词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项</a:t>
            </a:r>
            <a:endParaRPr lang="zh-CN" altLang="en-US" sz="2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折角形 5"/>
          <p:cNvSpPr/>
          <p:nvPr/>
        </p:nvSpPr>
        <p:spPr>
          <a:xfrm>
            <a:off x="2494112" y="2118866"/>
            <a:ext cx="3528392" cy="576064"/>
          </a:xfrm>
          <a:prstGeom prst="foldedCorne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94112" y="2190874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中项在前提中至少要周延一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次</a:t>
            </a:r>
            <a:endParaRPr lang="zh-CN" altLang="en-US" sz="2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1702024" y="2838946"/>
            <a:ext cx="5040560" cy="576064"/>
          </a:xfrm>
          <a:prstGeom prst="foldedCorne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702024" y="2910954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在前提中不周延的词项，在结论中不得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周延</a:t>
            </a:r>
            <a:endParaRPr lang="zh-CN" altLang="en-US" sz="2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0" name="折角形 9"/>
          <p:cNvSpPr/>
          <p:nvPr/>
        </p:nvSpPr>
        <p:spPr>
          <a:xfrm>
            <a:off x="1990056" y="3559026"/>
            <a:ext cx="4536504" cy="576064"/>
          </a:xfrm>
          <a:prstGeom prst="foldedCorne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990056" y="3631034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从两个否定前提推不出任何确定的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结论</a:t>
            </a:r>
            <a:endParaRPr lang="zh-CN" altLang="en-US" sz="2000" b="1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269976" y="4279106"/>
            <a:ext cx="6120680" cy="720080"/>
            <a:chOff x="1403648" y="4437112"/>
            <a:chExt cx="6120680" cy="720080"/>
          </a:xfrm>
        </p:grpSpPr>
        <p:sp>
          <p:nvSpPr>
            <p:cNvPr id="12" name="折角形 11"/>
            <p:cNvSpPr/>
            <p:nvPr/>
          </p:nvSpPr>
          <p:spPr>
            <a:xfrm>
              <a:off x="1403648" y="4437112"/>
              <a:ext cx="6120680" cy="720080"/>
            </a:xfrm>
            <a:prstGeom prst="foldedCorner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03648" y="4437112"/>
              <a:ext cx="6048672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2000" dirty="0" smtClean="0">
                  <a:solidFill>
                    <a:schemeClr val="dk1"/>
                  </a:solidFill>
                  <a:latin typeface="楷体" pitchFamily="49" charset="-122"/>
                  <a:ea typeface="楷体" pitchFamily="49" charset="-122"/>
                </a:rPr>
                <a:t>如果两个前提中有一个是否定的，那么结论是否定的；如果结论是否定的，那么必有一个前提是</a:t>
              </a:r>
              <a:r>
                <a:rPr lang="zh-CN" altLang="en-US" sz="2000" dirty="0" smtClean="0">
                  <a:solidFill>
                    <a:schemeClr val="dk1"/>
                  </a:solidFill>
                  <a:latin typeface="楷体" pitchFamily="49" charset="-122"/>
                  <a:ea typeface="楷体" pitchFamily="49" charset="-122"/>
                </a:rPr>
                <a:t>否定的</a:t>
              </a:r>
              <a:r>
                <a:rPr lang="zh-CN" altLang="en-US" sz="2000" dirty="0" smtClean="0">
                  <a:latin typeface="楷体" pitchFamily="49" charset="-122"/>
                  <a:ea typeface="楷体" pitchFamily="49" charset="-122"/>
                </a:rPr>
                <a:t>。</a:t>
              </a:r>
              <a:endParaRPr lang="zh-CN" altLang="en-US" sz="2000" dirty="0">
                <a:solidFill>
                  <a:schemeClr val="dk1"/>
                </a:solidFill>
                <a:latin typeface="楷体" pitchFamily="49" charset="-122"/>
                <a:ea typeface="楷体" pitchFamily="49" charset="-122"/>
              </a:endParaRPr>
            </a:p>
          </p:txBody>
        </p:sp>
      </p:grpSp>
      <p:sp>
        <p:nvSpPr>
          <p:cNvPr id="14" name="折角形 13"/>
          <p:cNvSpPr/>
          <p:nvPr/>
        </p:nvSpPr>
        <p:spPr>
          <a:xfrm>
            <a:off x="2710136" y="5143202"/>
            <a:ext cx="3024336" cy="576064"/>
          </a:xfrm>
          <a:prstGeom prst="foldedCorne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710136" y="5215210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两个特称前提不能得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结论</a:t>
            </a:r>
            <a:endParaRPr lang="zh-CN" altLang="en-US" sz="2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6" name="折角形 15"/>
          <p:cNvSpPr/>
          <p:nvPr/>
        </p:nvSpPr>
        <p:spPr>
          <a:xfrm>
            <a:off x="1558008" y="5863282"/>
            <a:ext cx="5328592" cy="576064"/>
          </a:xfrm>
          <a:prstGeom prst="foldedCorner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558008" y="5935290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如果两个前提中有一个特称，结论必然特称</a:t>
            </a:r>
            <a:endParaRPr lang="zh-CN" altLang="en-US" sz="2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48245" y="1988840"/>
            <a:ext cx="800219" cy="34563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一个结论全称的正确三段论，其中项不能周延两次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7444189" y="3356992"/>
            <a:ext cx="504056" cy="43204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4" grpId="0" animBg="1"/>
      <p:bldP spid="15" grpId="0"/>
      <p:bldP spid="16" grpId="0" animBg="1"/>
      <p:bldP spid="17" grpId="0"/>
      <p:bldP spid="21" grpId="0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三段论的特殊规则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59632" y="1268760"/>
            <a:ext cx="2016224" cy="864096"/>
            <a:chOff x="1907704" y="3789040"/>
            <a:chExt cx="2016224" cy="864096"/>
          </a:xfrm>
        </p:grpSpPr>
        <p:sp>
          <p:nvSpPr>
            <p:cNvPr id="4" name="横卷形 3"/>
            <p:cNvSpPr/>
            <p:nvPr/>
          </p:nvSpPr>
          <p:spPr>
            <a:xfrm>
              <a:off x="1907704" y="3789040"/>
              <a:ext cx="1944216" cy="864096"/>
            </a:xfrm>
            <a:prstGeom prst="horizontalScroll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051720" y="4005064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第一格规则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39552" y="2204864"/>
            <a:ext cx="3528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）小前提必须肯定。</a:t>
            </a:r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）大前提必须全称。</a:t>
            </a:r>
          </a:p>
          <a:p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5292080" y="1268760"/>
            <a:ext cx="2016224" cy="864096"/>
            <a:chOff x="1907704" y="3789040"/>
            <a:chExt cx="2016224" cy="864096"/>
          </a:xfrm>
        </p:grpSpPr>
        <p:sp>
          <p:nvSpPr>
            <p:cNvPr id="9" name="横卷形 8"/>
            <p:cNvSpPr/>
            <p:nvPr/>
          </p:nvSpPr>
          <p:spPr>
            <a:xfrm>
              <a:off x="1907704" y="3789040"/>
              <a:ext cx="1944216" cy="864096"/>
            </a:xfrm>
            <a:prstGeom prst="horizontalScroll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1720" y="4005064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第二格规则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211960" y="2204864"/>
            <a:ext cx="3816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）两个前提必须有一个否定。</a:t>
            </a:r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）大前提必须全称。</a:t>
            </a:r>
          </a:p>
          <a:p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115616" y="3212976"/>
            <a:ext cx="2016224" cy="864096"/>
            <a:chOff x="1907704" y="3789040"/>
            <a:chExt cx="2016224" cy="864096"/>
          </a:xfrm>
        </p:grpSpPr>
        <p:sp>
          <p:nvSpPr>
            <p:cNvPr id="13" name="横卷形 12"/>
            <p:cNvSpPr/>
            <p:nvPr/>
          </p:nvSpPr>
          <p:spPr>
            <a:xfrm>
              <a:off x="1907704" y="3789040"/>
              <a:ext cx="1944216" cy="864096"/>
            </a:xfrm>
            <a:prstGeom prst="horizontalScroll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51720" y="4005064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第三格规则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95536" y="4149080"/>
            <a:ext cx="3528392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）小前提必须肯定。</a:t>
            </a:r>
          </a:p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）结论必须特称。</a:t>
            </a:r>
          </a:p>
          <a:p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5292080" y="3214752"/>
            <a:ext cx="2016224" cy="864096"/>
            <a:chOff x="1907704" y="3789040"/>
            <a:chExt cx="2016224" cy="864096"/>
          </a:xfrm>
        </p:grpSpPr>
        <p:sp>
          <p:nvSpPr>
            <p:cNvPr id="17" name="横卷形 16"/>
            <p:cNvSpPr/>
            <p:nvPr/>
          </p:nvSpPr>
          <p:spPr>
            <a:xfrm>
              <a:off x="1907704" y="3789040"/>
              <a:ext cx="1944216" cy="864096"/>
            </a:xfrm>
            <a:prstGeom prst="horizontalScroll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51720" y="4005064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第四格规则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347864" y="4172887"/>
            <a:ext cx="56886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）如果大前提肯定，则小前提必须全称。</a:t>
            </a:r>
          </a:p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）如果小前提肯定，则结论必须特称。</a:t>
            </a:r>
          </a:p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）如果有一个前提否定，则大前提必须全称。</a:t>
            </a:r>
          </a:p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）如果大前提特称，则两个前提都必须肯定。</a:t>
            </a:r>
          </a:p>
          <a:p>
            <a:pPr lvl="1">
              <a:lnSpc>
                <a:spcPct val="16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）如果小前提特称，则</a:t>
            </a:r>
            <a:r>
              <a:rPr lang="zh-CN" altLang="en-US" smtClean="0"/>
              <a:t>大前提</a:t>
            </a:r>
            <a:r>
              <a:rPr lang="zh-CN" altLang="en-US" smtClean="0"/>
              <a:t>必须全称否定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三段论的全部有效式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Group 22"/>
          <p:cNvGraphicFramePr>
            <a:graphicFrameLocks noGrp="1"/>
          </p:cNvGraphicFramePr>
          <p:nvPr/>
        </p:nvGraphicFramePr>
        <p:xfrm>
          <a:off x="1691680" y="1844824"/>
          <a:ext cx="5894040" cy="271303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05599"/>
                <a:gridCol w="4688441"/>
              </a:tblGrid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楷体" pitchFamily="49" charset="-122"/>
                          <a:ea typeface="楷体" pitchFamily="49" charset="-122"/>
                        </a:rPr>
                        <a:t>第一格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AAA，AAI</a:t>
                      </a:r>
                      <a:r>
                        <a:rPr kumimoji="0" lang="en-US" altLang="zh-CN" sz="2000" u="none" strike="noStrike" cap="none" normalizeH="0" baseline="3000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</a:t>
                      </a: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，AII，EAE，EAO</a:t>
                      </a:r>
                      <a:r>
                        <a:rPr kumimoji="0" lang="en-US" altLang="zh-CN" sz="2000" u="none" strike="noStrike" cap="none" normalizeH="0" baseline="3000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</a:t>
                      </a: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，EIO</a:t>
                      </a: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楷体" pitchFamily="49" charset="-122"/>
                          <a:ea typeface="楷体" pitchFamily="49" charset="-122"/>
                        </a:rPr>
                        <a:t>第二格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AEE，AEO</a:t>
                      </a:r>
                      <a:r>
                        <a:rPr kumimoji="0" lang="en-US" altLang="zh-CN" sz="2000" u="none" strike="noStrike" cap="none" normalizeH="0" baseline="3000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</a:t>
                      </a: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，AOO，EAE，EAO</a:t>
                      </a:r>
                      <a:r>
                        <a:rPr kumimoji="0" lang="en-US" altLang="zh-CN" sz="2000" u="none" strike="noStrike" cap="none" normalizeH="0" baseline="3000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</a:t>
                      </a: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，EIO</a:t>
                      </a: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楷体" pitchFamily="49" charset="-122"/>
                          <a:ea typeface="楷体" pitchFamily="49" charset="-122"/>
                        </a:rPr>
                        <a:t>第三格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AAI，AII，EAO，EIO，IAI，OAO</a:t>
                      </a: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楷体" pitchFamily="49" charset="-122"/>
                          <a:ea typeface="楷体" pitchFamily="49" charset="-122"/>
                        </a:rPr>
                        <a:t>第四格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AAI，AEE，AEO</a:t>
                      </a:r>
                      <a:r>
                        <a:rPr kumimoji="0" lang="en-US" altLang="zh-CN" sz="2000" u="none" strike="noStrike" cap="none" normalizeH="0" baseline="30000" dirty="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</a:t>
                      </a:r>
                      <a:r>
                        <a:rPr kumimoji="0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，EAO，EIO，IAI</a:t>
                      </a:r>
                      <a:endParaRPr kumimoji="0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19872" y="5013176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带星号的叫“</a:t>
            </a:r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差等式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”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三段论的公理化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215405"/>
            <a:ext cx="8208912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他把三段论分为三个格，共有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19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个有效式，其中第一格叫做“完善的格”，其他两个格叫做“不完善的格”。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他运用一套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化归程序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，即利用包括对当关系、换质、换位推理，以及命题逻辑中所讲的反三段论等在内的一些工具，试图把其他各格的有效三段论化归、还原为第一格的三段论。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2000" dirty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若把这套化归程序倒转过来，三段论就可以</a:t>
            </a:r>
            <a:r>
              <a:rPr lang="zh-CN" altLang="en-US" sz="2000" b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被公理化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556792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亚里士多德</a:t>
            </a:r>
            <a:endParaRPr lang="zh-CN" altLang="en-US" sz="24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19872" y="1556792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33CC"/>
                </a:solidFill>
                <a:latin typeface="隶书" pitchFamily="49" charset="-122"/>
                <a:ea typeface="隶书" pitchFamily="49" charset="-122"/>
              </a:rPr>
              <a:t>三段论</a:t>
            </a:r>
            <a:endParaRPr lang="zh-CN" altLang="en-US" sz="2400" dirty="0">
              <a:solidFill>
                <a:srgbClr val="0033CC"/>
              </a:solidFill>
              <a:latin typeface="隶书" pitchFamily="49" charset="-122"/>
              <a:ea typeface="隶书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4572000" y="1807224"/>
            <a:ext cx="504056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20072" y="155679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33CC"/>
                </a:solidFill>
                <a:latin typeface="隶书" pitchFamily="49" charset="-122"/>
                <a:ea typeface="隶书" pitchFamily="49" charset="-122"/>
              </a:rPr>
              <a:t>公理系统</a:t>
            </a:r>
            <a:endParaRPr lang="zh-CN" altLang="en-US" sz="2400" dirty="0">
              <a:solidFill>
                <a:srgbClr val="0033CC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三段论的非标准形式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5589240"/>
            <a:ext cx="8229600" cy="648072"/>
          </a:xfrm>
        </p:spPr>
        <p:txBody>
          <a:bodyPr/>
          <a:lstStyle/>
          <a:p>
            <a:pPr marL="342900" lvl="1" indent="-34290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需要将它们</a:t>
            </a:r>
            <a:r>
              <a:rPr lang="zh-CN" altLang="en-US" sz="2400" b="1" dirty="0" smtClean="0">
                <a:solidFill>
                  <a:srgbClr val="0033CC"/>
                </a:solidFill>
                <a:latin typeface="楷体" pitchFamily="49" charset="-122"/>
                <a:ea typeface="楷体" pitchFamily="49" charset="-122"/>
              </a:rPr>
              <a:t>化归为标准形式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来</a:t>
            </a:r>
            <a:r>
              <a:rPr lang="zh-CN" altLang="en-US" sz="2400" b="1" u="sng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验证其有效性</a:t>
            </a:r>
            <a:endParaRPr lang="zh-CN" altLang="en-US" b="1" u="sng" dirty="0" smtClean="0">
              <a:solidFill>
                <a:srgbClr val="006600"/>
              </a:solidFill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对角圆角矩形 3"/>
          <p:cNvSpPr/>
          <p:nvPr/>
        </p:nvSpPr>
        <p:spPr>
          <a:xfrm>
            <a:off x="3995936" y="1628800"/>
            <a:ext cx="1224136" cy="504056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67944" y="1671191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省略式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对角圆角矩形 5"/>
          <p:cNvSpPr/>
          <p:nvPr/>
        </p:nvSpPr>
        <p:spPr>
          <a:xfrm>
            <a:off x="3563888" y="2420888"/>
            <a:ext cx="2088232" cy="504056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35896" y="246327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带证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式三段论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对角圆角矩形 7"/>
          <p:cNvSpPr/>
          <p:nvPr/>
        </p:nvSpPr>
        <p:spPr>
          <a:xfrm>
            <a:off x="3563888" y="3212976"/>
            <a:ext cx="2088232" cy="504056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635896" y="3284984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复合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式三段论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对角圆角矩形 9"/>
          <p:cNvSpPr/>
          <p:nvPr/>
        </p:nvSpPr>
        <p:spPr>
          <a:xfrm>
            <a:off x="3563888" y="4005064"/>
            <a:ext cx="2088232" cy="504056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635896" y="4047455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连锁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式三段论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2" name="对角圆角矩形 11"/>
          <p:cNvSpPr/>
          <p:nvPr/>
        </p:nvSpPr>
        <p:spPr>
          <a:xfrm>
            <a:off x="3419872" y="4797152"/>
            <a:ext cx="2376264" cy="504056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491880" y="4839543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其他非标准形式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三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词项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2679303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直接推理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357301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三段论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864" y="443711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直言</a:t>
            </a:r>
            <a:r>
              <a:rPr lang="zh-CN" altLang="en-US" sz="2400" b="1" dirty="0" smtClean="0">
                <a:latin typeface="+mn-ea"/>
              </a:rPr>
              <a:t>命题的存在含义问题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7864" y="534359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文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恩图解法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直言命题</a:t>
            </a:r>
          </a:p>
        </p:txBody>
      </p:sp>
      <p:sp>
        <p:nvSpPr>
          <p:cNvPr id="17" name="心形 16"/>
          <p:cNvSpPr/>
          <p:nvPr/>
        </p:nvSpPr>
        <p:spPr>
          <a:xfrm>
            <a:off x="2411760" y="1844824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心形 17"/>
          <p:cNvSpPr/>
          <p:nvPr/>
        </p:nvSpPr>
        <p:spPr>
          <a:xfrm>
            <a:off x="2411760" y="2708920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心形 18"/>
          <p:cNvSpPr/>
          <p:nvPr/>
        </p:nvSpPr>
        <p:spPr>
          <a:xfrm>
            <a:off x="2411760" y="3573016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心形 19"/>
          <p:cNvSpPr/>
          <p:nvPr/>
        </p:nvSpPr>
        <p:spPr>
          <a:xfrm>
            <a:off x="2411760" y="4437112"/>
            <a:ext cx="576064" cy="504056"/>
          </a:xfrm>
          <a:prstGeom prst="hear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心形 20"/>
          <p:cNvSpPr/>
          <p:nvPr/>
        </p:nvSpPr>
        <p:spPr>
          <a:xfrm>
            <a:off x="2411760" y="5301208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直言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命题的存在含义问题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832" y="2852936"/>
            <a:ext cx="8229600" cy="8640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   所有直言推理都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只有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在预先假定的基础上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才有效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en-US" sz="2000" i="1" u="sng" dirty="0" smtClean="0">
                <a:latin typeface="楷体" pitchFamily="49" charset="-122"/>
                <a:ea typeface="楷体" pitchFamily="49" charset="-122"/>
              </a:rPr>
              <a:t>否则很多不再成立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7624" y="1844824"/>
            <a:ext cx="6624736" cy="70788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其主项和谓项既不能是一个空类，也不能是一个全类，而是指称由实存个体组成的一个非空非全的类。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372706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传统词项逻辑的</a:t>
            </a:r>
            <a:r>
              <a:rPr lang="zh-CN" altLang="en-US" sz="2000" i="1" u="sng" dirty="0" smtClean="0">
                <a:latin typeface="楷体" pitchFamily="49" charset="-122"/>
                <a:ea typeface="楷体" pitchFamily="49" charset="-122"/>
              </a:rPr>
              <a:t>假定或预设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：</a:t>
            </a:r>
            <a:endParaRPr lang="zh-CN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427984" y="1311151"/>
            <a:ext cx="3384376" cy="46166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直言命题具有存在含义</a:t>
            </a:r>
            <a:endParaRPr lang="zh-CN" altLang="en-US" sz="2400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4096" y="3653150"/>
            <a:ext cx="79563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(1) A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E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不再具有上反对关系。</a:t>
            </a: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(2) I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O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不再具有下反对关系。</a:t>
            </a: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(3) 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全称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命题和同质的特称命题之间的差等关系不再成立。</a:t>
            </a: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(4) 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限量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换位和连续的换质位（或换位质）不再有效。</a:t>
            </a: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(5) 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由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两个全称前提得出特称结论的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9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个三段论式不再成立。</a:t>
            </a:r>
          </a:p>
          <a:p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60" y="3358153"/>
            <a:ext cx="10081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u="sng" dirty="0" smtClean="0">
                <a:solidFill>
                  <a:srgbClr val="0033CC"/>
                </a:solidFill>
                <a:latin typeface="华文行楷" pitchFamily="2" charset="-122"/>
                <a:ea typeface="华文行楷" pitchFamily="2" charset="-122"/>
              </a:rPr>
              <a:t>例如：</a:t>
            </a:r>
            <a:endParaRPr lang="zh-CN" altLang="en-US" sz="2200" u="sng" dirty="0">
              <a:solidFill>
                <a:srgbClr val="0033CC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三段论恒有效的充分必要条件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923927" y="1340768"/>
            <a:ext cx="3096344" cy="864096"/>
            <a:chOff x="1907704" y="3789040"/>
            <a:chExt cx="2016224" cy="864096"/>
          </a:xfrm>
        </p:grpSpPr>
        <p:sp>
          <p:nvSpPr>
            <p:cNvPr id="6" name="横卷形 5"/>
            <p:cNvSpPr/>
            <p:nvPr/>
          </p:nvSpPr>
          <p:spPr>
            <a:xfrm>
              <a:off x="1907704" y="3789040"/>
              <a:ext cx="1944216" cy="864096"/>
            </a:xfrm>
            <a:prstGeom prst="horizontalScroll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51720" y="4005064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楷体" pitchFamily="49" charset="-122"/>
                  <a:ea typeface="楷体" pitchFamily="49" charset="-122"/>
                </a:rPr>
                <a:t>中项恰好周延一次</a:t>
              </a:r>
              <a:endParaRPr lang="zh-CN" altLang="en-US" sz="2400" dirty="0">
                <a:latin typeface="楷体" pitchFamily="49" charset="-122"/>
                <a:ea typeface="楷体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51719" y="2276872"/>
            <a:ext cx="6552729" cy="864096"/>
            <a:chOff x="1907704" y="3789040"/>
            <a:chExt cx="1834764" cy="864096"/>
          </a:xfrm>
        </p:grpSpPr>
        <p:sp>
          <p:nvSpPr>
            <p:cNvPr id="10" name="横卷形 9"/>
            <p:cNvSpPr/>
            <p:nvPr/>
          </p:nvSpPr>
          <p:spPr>
            <a:xfrm>
              <a:off x="1907704" y="3789040"/>
              <a:ext cx="1834764" cy="864096"/>
            </a:xfrm>
            <a:prstGeom prst="horizontalScroll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48028" y="4005064"/>
              <a:ext cx="17742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楷体" pitchFamily="49" charset="-122"/>
                  <a:ea typeface="楷体" pitchFamily="49" charset="-122"/>
                </a:rPr>
                <a:t>大项和小项在前提和结论中的周延情况应相同</a:t>
              </a:r>
              <a:endParaRPr lang="zh-CN" altLang="en-US" sz="2400" dirty="0">
                <a:latin typeface="楷体" pitchFamily="49" charset="-122"/>
                <a:ea typeface="楷体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5047" y="3212976"/>
            <a:ext cx="4991328" cy="864096"/>
            <a:chOff x="1907704" y="3789040"/>
            <a:chExt cx="1944216" cy="864096"/>
          </a:xfrm>
        </p:grpSpPr>
        <p:sp>
          <p:nvSpPr>
            <p:cNvPr id="13" name="横卷形 12"/>
            <p:cNvSpPr/>
            <p:nvPr/>
          </p:nvSpPr>
          <p:spPr>
            <a:xfrm>
              <a:off x="1907704" y="3789040"/>
              <a:ext cx="1944216" cy="864096"/>
            </a:xfrm>
            <a:prstGeom prst="horizontalScroll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67575" y="4005065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楷体" pitchFamily="49" charset="-122"/>
                  <a:ea typeface="楷体" pitchFamily="49" charset="-122"/>
                </a:rPr>
                <a:t>前提和结论中的否定命题数量相同</a:t>
              </a:r>
              <a:endParaRPr lang="zh-CN" altLang="en-US" sz="2400" dirty="0">
                <a:latin typeface="楷体" pitchFamily="49" charset="-122"/>
                <a:ea typeface="楷体" pitchFamily="49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979712" y="4942329"/>
            <a:ext cx="4392488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行楷" pitchFamily="2" charset="-122"/>
                <a:ea typeface="华文行楷" pitchFamily="2" charset="-122"/>
              </a:rPr>
              <a:t>前提和结论中的特称命题数目相同</a:t>
            </a:r>
            <a:endParaRPr lang="zh-CN" altLang="en-US" sz="22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79712" y="5733256"/>
            <a:ext cx="3528392" cy="4308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行楷" pitchFamily="2" charset="-122"/>
                <a:ea typeface="华文行楷" pitchFamily="2" charset="-122"/>
              </a:rPr>
              <a:t>三段论的有效式缩减为</a:t>
            </a:r>
            <a:r>
              <a:rPr lang="en-US" altLang="zh-CN" sz="2200" dirty="0" smtClean="0">
                <a:latin typeface="华文行楷" pitchFamily="2" charset="-122"/>
                <a:ea typeface="华文行楷" pitchFamily="2" charset="-122"/>
              </a:rPr>
              <a:t>15</a:t>
            </a: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</a:rPr>
              <a:t>个</a:t>
            </a:r>
            <a:endParaRPr lang="zh-CN" altLang="en-US" sz="22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7" name="左中括号 16"/>
          <p:cNvSpPr/>
          <p:nvPr/>
        </p:nvSpPr>
        <p:spPr>
          <a:xfrm>
            <a:off x="1547663" y="1628800"/>
            <a:ext cx="144016" cy="2232248"/>
          </a:xfrm>
          <a:prstGeom prst="lef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弧形箭头 17"/>
          <p:cNvSpPr/>
          <p:nvPr/>
        </p:nvSpPr>
        <p:spPr>
          <a:xfrm>
            <a:off x="395536" y="2852936"/>
            <a:ext cx="720081" cy="2592288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左中括号 18"/>
          <p:cNvSpPr/>
          <p:nvPr/>
        </p:nvSpPr>
        <p:spPr>
          <a:xfrm>
            <a:off x="1556048" y="5085184"/>
            <a:ext cx="63624" cy="864096"/>
          </a:xfrm>
          <a:prstGeom prst="leftBracket">
            <a:avLst/>
          </a:prstGeom>
          <a:ln w="38100">
            <a:solidFill>
              <a:srgbClr val="33993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三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词项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2679303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直接推理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357301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三段论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864" y="443711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直言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命题的存在含义问题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7864" y="534359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文</a:t>
            </a:r>
            <a:r>
              <a:rPr lang="zh-CN" altLang="en-US" sz="2400" b="1" dirty="0" smtClean="0">
                <a:latin typeface="+mn-ea"/>
              </a:rPr>
              <a:t>恩图解法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直言命题</a:t>
            </a:r>
          </a:p>
        </p:txBody>
      </p:sp>
      <p:sp>
        <p:nvSpPr>
          <p:cNvPr id="17" name="心形 16"/>
          <p:cNvSpPr/>
          <p:nvPr/>
        </p:nvSpPr>
        <p:spPr>
          <a:xfrm>
            <a:off x="2411760" y="1844824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心形 17"/>
          <p:cNvSpPr/>
          <p:nvPr/>
        </p:nvSpPr>
        <p:spPr>
          <a:xfrm>
            <a:off x="2411760" y="2708920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心形 18"/>
          <p:cNvSpPr/>
          <p:nvPr/>
        </p:nvSpPr>
        <p:spPr>
          <a:xfrm>
            <a:off x="2411760" y="3573016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心形 19"/>
          <p:cNvSpPr/>
          <p:nvPr/>
        </p:nvSpPr>
        <p:spPr>
          <a:xfrm>
            <a:off x="2411760" y="4437112"/>
            <a:ext cx="576064" cy="504056"/>
          </a:xfrm>
          <a:prstGeom prst="hear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心形 20"/>
          <p:cNvSpPr/>
          <p:nvPr/>
        </p:nvSpPr>
        <p:spPr>
          <a:xfrm>
            <a:off x="2411760" y="5301208"/>
            <a:ext cx="576064" cy="504056"/>
          </a:xfrm>
          <a:prstGeom prst="hear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文恩图解法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691680" y="1700808"/>
            <a:ext cx="1728192" cy="15841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627784" y="1700808"/>
            <a:ext cx="1728192" cy="1584176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95736" y="191683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S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635896" y="191683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</a:t>
            </a: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051720" y="234888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43808" y="234888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2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635896" y="234888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3</a:t>
            </a:r>
            <a:endParaRPr lang="zh-CN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427984" y="234888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4</a:t>
            </a:r>
            <a:endParaRPr lang="zh-CN" altLang="en-US" sz="24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5292080" y="1879664"/>
            <a:ext cx="2448272" cy="1477328"/>
            <a:chOff x="3535200" y="4005064"/>
            <a:chExt cx="2448272" cy="1477328"/>
          </a:xfrm>
        </p:grpSpPr>
        <p:grpSp>
          <p:nvGrpSpPr>
            <p:cNvPr id="18" name="组合 17"/>
            <p:cNvGrpSpPr/>
            <p:nvPr/>
          </p:nvGrpSpPr>
          <p:grpSpPr>
            <a:xfrm>
              <a:off x="3535200" y="4005064"/>
              <a:ext cx="2448272" cy="1477328"/>
              <a:chOff x="8532440" y="2852936"/>
              <a:chExt cx="2448272" cy="1477328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8532440" y="2852936"/>
                <a:ext cx="2448272" cy="1477328"/>
                <a:chOff x="8532440" y="2852936"/>
                <a:chExt cx="2448272" cy="1477328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8532440" y="2852936"/>
                  <a:ext cx="2448272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 smtClean="0">
                      <a:latin typeface="楷体" pitchFamily="49" charset="-122"/>
                      <a:ea typeface="楷体" pitchFamily="49" charset="-122"/>
                    </a:rPr>
                    <a:t>U</a:t>
                  </a:r>
                  <a:r>
                    <a:rPr lang="zh-CN" altLang="en-US" dirty="0" smtClean="0">
                      <a:latin typeface="楷体" pitchFamily="49" charset="-122"/>
                      <a:ea typeface="楷体" pitchFamily="49" charset="-122"/>
                    </a:rPr>
                    <a:t>：整个空间</a:t>
                  </a:r>
                  <a:endParaRPr lang="en-US" altLang="zh-CN" dirty="0" smtClean="0">
                    <a:latin typeface="楷体" pitchFamily="49" charset="-122"/>
                    <a:ea typeface="楷体" pitchFamily="49" charset="-122"/>
                  </a:endParaRPr>
                </a:p>
                <a:p>
                  <a:r>
                    <a:rPr lang="en-US" altLang="zh-CN" dirty="0" smtClean="0"/>
                    <a:t>1</a:t>
                  </a:r>
                  <a:r>
                    <a:rPr lang="zh-CN" altLang="en-US" dirty="0" smtClean="0"/>
                    <a:t>：</a:t>
                  </a:r>
                  <a:r>
                    <a:rPr lang="en-US" altLang="zh-CN" dirty="0" smtClean="0"/>
                    <a:t>S         2:SP</a:t>
                  </a:r>
                </a:p>
                <a:p>
                  <a:r>
                    <a:rPr lang="en-US" altLang="zh-CN" dirty="0" smtClean="0"/>
                    <a:t>3</a:t>
                  </a:r>
                  <a:r>
                    <a:rPr lang="zh-CN" altLang="en-US" dirty="0" smtClean="0"/>
                    <a:t>：</a:t>
                  </a:r>
                  <a:r>
                    <a:rPr lang="en-US" altLang="zh-CN" dirty="0" smtClean="0"/>
                    <a:t>P         4:</a:t>
                  </a:r>
                </a:p>
                <a:p>
                  <a:r>
                    <a:rPr lang="en-US" altLang="zh-CN" dirty="0" smtClean="0">
                      <a:latin typeface="楷体" pitchFamily="49" charset="-122"/>
                      <a:ea typeface="楷体" pitchFamily="49" charset="-122"/>
                    </a:rPr>
                    <a:t>+: </a:t>
                  </a:r>
                  <a:r>
                    <a:rPr lang="zh-CN" altLang="en-US" dirty="0">
                      <a:latin typeface="楷体" pitchFamily="49" charset="-122"/>
                      <a:ea typeface="楷体" pitchFamily="49" charset="-122"/>
                    </a:rPr>
                    <a:t>区域</a:t>
                  </a:r>
                  <a:r>
                    <a:rPr lang="zh-CN" altLang="en-US" dirty="0" smtClean="0">
                      <a:latin typeface="楷体" pitchFamily="49" charset="-122"/>
                      <a:ea typeface="楷体" pitchFamily="49" charset="-122"/>
                    </a:rPr>
                    <a:t>内有元素</a:t>
                  </a:r>
                  <a:endParaRPr lang="en-US" altLang="zh-CN" dirty="0" smtClean="0">
                    <a:latin typeface="楷体" pitchFamily="49" charset="-122"/>
                    <a:ea typeface="楷体" pitchFamily="49" charset="-122"/>
                  </a:endParaRPr>
                </a:p>
                <a:p>
                  <a:r>
                    <a:rPr lang="zh-CN" altLang="en-US" dirty="0" smtClean="0">
                      <a:latin typeface="楷体" pitchFamily="49" charset="-122"/>
                      <a:ea typeface="楷体" pitchFamily="49" charset="-122"/>
                    </a:rPr>
                    <a:t>阴影</a:t>
                  </a:r>
                  <a:r>
                    <a:rPr lang="en-US" altLang="zh-CN" dirty="0" smtClean="0">
                      <a:latin typeface="楷体" pitchFamily="49" charset="-122"/>
                      <a:ea typeface="楷体" pitchFamily="49" charset="-122"/>
                    </a:rPr>
                    <a:t>(</a:t>
                  </a:r>
                  <a:r>
                    <a:rPr lang="el-GR" altLang="zh-CN" dirty="0" smtClean="0">
                      <a:latin typeface="楷体" pitchFamily="49" charset="-122"/>
                      <a:ea typeface="楷体" pitchFamily="49" charset="-122"/>
                    </a:rPr>
                    <a:t>φ</a:t>
                  </a:r>
                  <a:r>
                    <a:rPr lang="en-US" altLang="zh-CN" dirty="0" smtClean="0">
                      <a:latin typeface="楷体" pitchFamily="49" charset="-122"/>
                      <a:ea typeface="楷体" pitchFamily="49" charset="-122"/>
                    </a:rPr>
                    <a:t>)</a:t>
                  </a:r>
                  <a:r>
                    <a:rPr lang="zh-CN" altLang="en-US" dirty="0" smtClean="0">
                      <a:latin typeface="楷体" pitchFamily="49" charset="-122"/>
                      <a:ea typeface="楷体" pitchFamily="49" charset="-122"/>
                    </a:rPr>
                    <a:t>：区域为空</a:t>
                  </a:r>
                  <a:endParaRPr lang="zh-CN" altLang="en-US" dirty="0">
                    <a:latin typeface="楷体" pitchFamily="49" charset="-122"/>
                    <a:ea typeface="楷体" pitchFamily="49" charset="-122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8856320" y="3121112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 smtClean="0">
                      <a:sym typeface="Symbol" pitchFamily="18" charset="2"/>
                    </a:rPr>
                    <a:t> </a:t>
                  </a:r>
                  <a:r>
                    <a:rPr lang="en-US" altLang="zh-CN" dirty="0" smtClean="0"/>
                    <a:t>P</a:t>
                  </a:r>
                  <a:endParaRPr lang="zh-CN" altLang="en-US" dirty="0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8899640" y="3401872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ea typeface="宋体" pitchFamily="2" charset="-122"/>
                    <a:sym typeface="Symbol" pitchFamily="18" charset="2"/>
                  </a:rPr>
                  <a:t></a:t>
                </a:r>
                <a:r>
                  <a:rPr lang="en-US" altLang="zh-CN" dirty="0" smtClean="0"/>
                  <a:t>S</a:t>
                </a:r>
                <a:endParaRPr lang="zh-CN" alt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659240" y="340187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ym typeface="Symbol" pitchFamily="18" charset="2"/>
                  </a:rPr>
                  <a:t> </a:t>
                </a:r>
                <a:r>
                  <a:rPr lang="en-US" altLang="zh-CN" dirty="0" smtClean="0"/>
                  <a:t>P</a:t>
                </a:r>
                <a:endParaRPr lang="zh-CN" altLang="en-US" dirty="0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572000" y="4554000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ea typeface="宋体" pitchFamily="2" charset="-122"/>
                  <a:sym typeface="Symbol" pitchFamily="18" charset="2"/>
                </a:rPr>
                <a:t></a:t>
              </a:r>
              <a:r>
                <a:rPr lang="en-US" altLang="zh-CN" dirty="0" smtClean="0"/>
                <a:t>S</a:t>
              </a:r>
              <a:endParaRPr lang="zh-CN" altLang="en-US" dirty="0"/>
            </a:p>
          </p:txBody>
        </p:sp>
      </p:grp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115616" y="4149080"/>
          <a:ext cx="3168352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399970"/>
                <a:gridCol w="176838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SAP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    = </a:t>
                      </a:r>
                      <a:r>
                        <a:rPr lang="el-GR" altLang="zh-CN" b="0" dirty="0" smtClean="0"/>
                        <a:t>φ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SEP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SP = </a:t>
                      </a:r>
                      <a:r>
                        <a:rPr lang="el-GR" altLang="zh-CN" b="0" dirty="0" smtClean="0"/>
                        <a:t>φ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SIP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SP </a:t>
                      </a:r>
                      <a:r>
                        <a:rPr lang="zh-CN" altLang="en-US" sz="1800" b="0" dirty="0" smtClean="0"/>
                        <a:t>≠ </a:t>
                      </a:r>
                      <a:r>
                        <a:rPr lang="el-GR" altLang="zh-CN" sz="1800" b="0" dirty="0" smtClean="0"/>
                        <a:t>φ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SOP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S   </a:t>
                      </a:r>
                      <a:r>
                        <a:rPr lang="zh-CN" altLang="en-US" sz="1800" b="0" dirty="0" smtClean="0"/>
                        <a:t>≠ </a:t>
                      </a:r>
                      <a:r>
                        <a:rPr lang="el-GR" altLang="zh-CN" sz="1800" b="0" dirty="0" smtClean="0"/>
                        <a:t>φ</a:t>
                      </a:r>
                      <a:endParaRPr lang="zh-CN" altLang="en-US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987824" y="415080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ym typeface="Symbol" pitchFamily="18" charset="2"/>
              </a:rPr>
              <a:t> </a:t>
            </a:r>
            <a:r>
              <a:rPr lang="en-US" altLang="zh-CN" dirty="0" smtClean="0"/>
              <a:t>P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987824" y="526320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ym typeface="Symbol" pitchFamily="18" charset="2"/>
              </a:rPr>
              <a:t> </a:t>
            </a:r>
            <a:r>
              <a:rPr lang="en-US" altLang="zh-CN" dirty="0" smtClean="0"/>
              <a:t>P</a:t>
            </a:r>
            <a:endParaRPr lang="zh-CN" altLang="en-US" dirty="0"/>
          </a:p>
        </p:txBody>
      </p:sp>
      <p:pic>
        <p:nvPicPr>
          <p:cNvPr id="27" name="Picture 1" descr="C:\Users\dell\AppData\Roaming\Tencent\Users\1059058059\QQ\WinTemp\RichOle\ZJ{QEGLO}GVAPNS7KDAM334.jpg"/>
          <p:cNvPicPr>
            <a:picLocks noChangeAspect="1" noChangeArrowheads="1"/>
          </p:cNvPicPr>
          <p:nvPr/>
        </p:nvPicPr>
        <p:blipFill>
          <a:blip r:embed="rId2" cstate="print"/>
          <a:srcRect t="7500" r="66679" b="60873"/>
          <a:stretch>
            <a:fillRect/>
          </a:stretch>
        </p:blipFill>
        <p:spPr bwMode="auto">
          <a:xfrm>
            <a:off x="4572000" y="4005064"/>
            <a:ext cx="1847056" cy="910952"/>
          </a:xfrm>
          <a:prstGeom prst="rect">
            <a:avLst/>
          </a:prstGeom>
          <a:noFill/>
        </p:spPr>
      </p:pic>
      <p:pic>
        <p:nvPicPr>
          <p:cNvPr id="29" name="Picture 1" descr="C:\Users\dell\AppData\Roaming\Tencent\Users\1059058059\QQ\WinTemp\RichOle\ZJ{QEGLO}GVAPNS7KDAM334.jpg"/>
          <p:cNvPicPr>
            <a:picLocks noChangeAspect="1" noChangeArrowheads="1"/>
          </p:cNvPicPr>
          <p:nvPr/>
        </p:nvPicPr>
        <p:blipFill>
          <a:blip r:embed="rId2" cstate="print"/>
          <a:srcRect t="55951" r="64926" b="10000"/>
          <a:stretch>
            <a:fillRect/>
          </a:stretch>
        </p:blipFill>
        <p:spPr bwMode="auto">
          <a:xfrm>
            <a:off x="4590000" y="5112568"/>
            <a:ext cx="1944216" cy="980728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5364088" y="485986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SIP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292080" y="371703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SAP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164288" y="3621600"/>
            <a:ext cx="79208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6805607" y="4881600"/>
            <a:ext cx="1726833" cy="1211696"/>
            <a:chOff x="6805607" y="4881600"/>
            <a:chExt cx="1726833" cy="1211696"/>
          </a:xfrm>
        </p:grpSpPr>
        <p:pic>
          <p:nvPicPr>
            <p:cNvPr id="28673" name="Picture 1" descr="C:\Users\dell\AppData\Roaming\Tencent\Users\1059058059\QQ\WinTemp\RichOle\ZJ{QEGLO}GVAPNS7KDAM334.jpg"/>
            <p:cNvPicPr>
              <a:picLocks noChangeAspect="1" noChangeArrowheads="1"/>
            </p:cNvPicPr>
            <p:nvPr/>
          </p:nvPicPr>
          <p:blipFill>
            <a:blip r:embed="rId2" cstate="print"/>
            <a:srcRect l="68848" t="55000" b="10000"/>
            <a:stretch>
              <a:fillRect/>
            </a:stretch>
          </p:blipFill>
          <p:spPr bwMode="auto">
            <a:xfrm>
              <a:off x="6805607" y="5085184"/>
              <a:ext cx="1726833" cy="1008112"/>
            </a:xfrm>
            <a:prstGeom prst="rect">
              <a:avLst/>
            </a:prstGeom>
            <a:noFill/>
          </p:spPr>
        </p:pic>
        <p:sp>
          <p:nvSpPr>
            <p:cNvPr id="34" name="矩形 33"/>
            <p:cNvSpPr/>
            <p:nvPr/>
          </p:nvSpPr>
          <p:spPr>
            <a:xfrm>
              <a:off x="7164288" y="4881600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164288" y="371703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SEP</a:t>
            </a:r>
            <a:endParaRPr lang="zh-CN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164288" y="485986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SOP</a:t>
            </a:r>
            <a:endParaRPr lang="zh-CN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 b="11060"/>
          <a:stretch>
            <a:fillRect/>
          </a:stretch>
        </p:blipFill>
        <p:spPr bwMode="auto">
          <a:xfrm>
            <a:off x="6792416" y="4005064"/>
            <a:ext cx="152400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23" grpId="0"/>
      <p:bldP spid="24" grpId="0"/>
      <p:bldP spid="30" grpId="0"/>
      <p:bldP spid="31" grpId="0"/>
      <p:bldP spid="36" grpId="0"/>
      <p:bldP spid="3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验证三段论的有效性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3275856" y="2636912"/>
            <a:ext cx="1728192" cy="15841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11960" y="2636912"/>
            <a:ext cx="1728192" cy="1584176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707904" y="354339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S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220072" y="354339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</a:t>
            </a:r>
            <a:endParaRPr lang="zh-CN" altLang="en-US" sz="2400" dirty="0"/>
          </a:p>
        </p:txBody>
      </p:sp>
      <p:sp>
        <p:nvSpPr>
          <p:cNvPr id="8" name="椭圆 7"/>
          <p:cNvSpPr/>
          <p:nvPr/>
        </p:nvSpPr>
        <p:spPr>
          <a:xfrm>
            <a:off x="3707904" y="1916832"/>
            <a:ext cx="1728192" cy="1584176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55976" y="2060848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M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372200" y="2996952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339933"/>
                </a:solidFill>
                <a:latin typeface="华文行楷" pitchFamily="2" charset="-122"/>
                <a:ea typeface="华文行楷" pitchFamily="2" charset="-122"/>
              </a:rPr>
              <a:t>先全称，后特称</a:t>
            </a:r>
            <a:endParaRPr lang="zh-CN" altLang="en-US" sz="2000" dirty="0">
              <a:solidFill>
                <a:srgbClr val="339933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23928" y="27809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+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4067944" y="4005064"/>
            <a:ext cx="432048" cy="2160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553200" y="3645024"/>
            <a:ext cx="705600" cy="3528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3779912" y="3861048"/>
            <a:ext cx="584448" cy="2796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3419872" y="3429000"/>
            <a:ext cx="792088" cy="4152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3275856" y="3140968"/>
            <a:ext cx="584448" cy="2796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3326400" y="2977200"/>
            <a:ext cx="432048" cy="2160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3290400" y="3301752"/>
            <a:ext cx="736848" cy="34327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39952" y="291565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+</a:t>
            </a:r>
            <a:endParaRPr lang="zh-CN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267744" y="4757082"/>
            <a:ext cx="4824536" cy="400110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看两个前提的图解是否包含了结论的图解</a:t>
            </a:r>
            <a:endParaRPr lang="zh-CN" altLang="en-US" sz="2000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/>
      <p:bldP spid="10" grpId="0"/>
      <p:bldP spid="11" grpId="0"/>
      <p:bldP spid="11" grpId="1"/>
      <p:bldP spid="35" grpId="0"/>
      <p:bldP spid="36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1925</Words>
  <Application>Microsoft Office PowerPoint</Application>
  <PresentationFormat>全屏显示(4:3)</PresentationFormat>
  <Paragraphs>306</Paragraphs>
  <Slides>28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Office 主题</vt:lpstr>
      <vt:lpstr>Picture</vt:lpstr>
      <vt:lpstr>幻灯片 1</vt:lpstr>
      <vt:lpstr>第三章  词项逻辑</vt:lpstr>
      <vt:lpstr>第三章  词项逻辑</vt:lpstr>
      <vt:lpstr>直言命题（主谓式命题）</vt:lpstr>
      <vt:lpstr>直言命题的类型</vt:lpstr>
      <vt:lpstr>直言命题中主谓项的关系</vt:lpstr>
      <vt:lpstr>外延之间的五种关系</vt:lpstr>
      <vt:lpstr>直言命题间的对当关系</vt:lpstr>
      <vt:lpstr>直言命题间的对当关系</vt:lpstr>
      <vt:lpstr>对当方阵</vt:lpstr>
      <vt:lpstr>词项的周延性</vt:lpstr>
      <vt:lpstr>第三章  词项逻辑</vt:lpstr>
      <vt:lpstr>直言推理的方法</vt:lpstr>
      <vt:lpstr>直言推理的方法</vt:lpstr>
      <vt:lpstr>第三章  词项逻辑</vt:lpstr>
      <vt:lpstr>三段论的定义</vt:lpstr>
      <vt:lpstr>三段论有效式的判定方法</vt:lpstr>
      <vt:lpstr>三段论的一般规则</vt:lpstr>
      <vt:lpstr>三段论的特殊规则</vt:lpstr>
      <vt:lpstr>三段论的全部有效式</vt:lpstr>
      <vt:lpstr>三段论的公理化</vt:lpstr>
      <vt:lpstr>三段论的非标准形式</vt:lpstr>
      <vt:lpstr>第三章  词项逻辑</vt:lpstr>
      <vt:lpstr>直言命题的存在含义问题</vt:lpstr>
      <vt:lpstr>三段论恒有效的充分必要条件</vt:lpstr>
      <vt:lpstr>第三章  词项逻辑</vt:lpstr>
      <vt:lpstr>文恩图解法</vt:lpstr>
      <vt:lpstr>验证三段论的有效性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CBS</cp:lastModifiedBy>
  <cp:revision>107</cp:revision>
  <dcterms:created xsi:type="dcterms:W3CDTF">2014-08-15T00:52:53Z</dcterms:created>
  <dcterms:modified xsi:type="dcterms:W3CDTF">2014-08-21T08:34:16Z</dcterms:modified>
</cp:coreProperties>
</file>