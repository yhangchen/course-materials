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73" r:id="rId3"/>
    <p:sldId id="257" r:id="rId4"/>
    <p:sldId id="286" r:id="rId5"/>
    <p:sldId id="261" r:id="rId6"/>
    <p:sldId id="262" r:id="rId7"/>
    <p:sldId id="263" r:id="rId8"/>
    <p:sldId id="274" r:id="rId9"/>
    <p:sldId id="275" r:id="rId10"/>
    <p:sldId id="276" r:id="rId11"/>
    <p:sldId id="277" r:id="rId12"/>
    <p:sldId id="278" r:id="rId13"/>
    <p:sldId id="279" r:id="rId14"/>
    <p:sldId id="260" r:id="rId15"/>
    <p:sldId id="280" r:id="rId16"/>
    <p:sldId id="281" r:id="rId17"/>
    <p:sldId id="264" r:id="rId18"/>
    <p:sldId id="265" r:id="rId19"/>
    <p:sldId id="266" r:id="rId20"/>
    <p:sldId id="282" r:id="rId21"/>
    <p:sldId id="283" r:id="rId22"/>
    <p:sldId id="284" r:id="rId23"/>
    <p:sldId id="285" r:id="rId24"/>
    <p:sldId id="267" r:id="rId25"/>
    <p:sldId id="268" r:id="rId26"/>
    <p:sldId id="259" r:id="rId27"/>
    <p:sldId id="269" r:id="rId28"/>
    <p:sldId id="270" r:id="rId29"/>
    <p:sldId id="271" r:id="rId30"/>
    <p:sldId id="272" r:id="rId3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55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0B0FE1-63E1-4414-A6CA-2FAE08C2B661}" type="datetimeFigureOut">
              <a:rPr lang="zh-CN" altLang="en-US" smtClean="0"/>
              <a:pPr/>
              <a:t>2014-8-21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AA451A-214B-482B-8953-929FD937C9A4}"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4DFDFEB-08AF-464D-AA94-B73A5CAA2AD3}" type="slidenum">
              <a:rPr lang="zh-CN" altLang="en-US" smtClean="0"/>
              <a:pPr/>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67A1-DF4F-43B6-9B0A-64FE0823A170}"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BE143-B7EC-4AE6-ACD6-E46D6D4E413F}" type="datetimeFigureOut">
              <a:rPr lang="zh-CN" altLang="en-US" smtClean="0"/>
              <a:pPr/>
              <a:t>2014-8-21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67A1-DF4F-43B6-9B0A-64FE0823A170}"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683568" y="1916832"/>
            <a:ext cx="7772400" cy="1829761"/>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54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rPr>
              <a:t>逻辑学导论</a:t>
            </a:r>
            <a:endParaRPr kumimoji="0" lang="en-US" altLang="zh-CN" sz="54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8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rPr>
              <a:t>（第三版）</a:t>
            </a:r>
            <a:endParaRPr kumimoji="0" lang="zh-CN" altLang="en-US" sz="2800" b="0" i="0" u="none" strike="noStrike" kern="1200" cap="none" spc="0" normalizeH="0" baseline="0" noProof="0" dirty="0">
              <a:ln>
                <a:noFill/>
              </a:ln>
              <a:solidFill>
                <a:schemeClr val="tx1"/>
              </a:solidFill>
              <a:effectLst/>
              <a:uLnTx/>
              <a:uFillTx/>
              <a:latin typeface="华文新魏" pitchFamily="2" charset="-122"/>
              <a:ea typeface="华文新魏" pitchFamily="2" charset="-122"/>
              <a:cs typeface="+mj-cs"/>
            </a:endParaRPr>
          </a:p>
        </p:txBody>
      </p:sp>
      <p:sp>
        <p:nvSpPr>
          <p:cNvPr id="5" name="副标题 2"/>
          <p:cNvSpPr txBox="1">
            <a:spLocks/>
          </p:cNvSpPr>
          <p:nvPr/>
        </p:nvSpPr>
        <p:spPr>
          <a:xfrm>
            <a:off x="683568" y="4293096"/>
            <a:ext cx="7772400" cy="120015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2800" b="0" i="0" u="none" strike="noStrike" kern="1200" cap="none" spc="0" normalizeH="0" baseline="0" noProof="0" dirty="0" smtClean="0">
                <a:ln>
                  <a:noFill/>
                </a:ln>
                <a:effectLst/>
                <a:uLnTx/>
                <a:uFillTx/>
                <a:latin typeface="华文新魏" pitchFamily="2" charset="-122"/>
                <a:ea typeface="华文新魏" pitchFamily="2" charset="-122"/>
              </a:rPr>
              <a:t>陈波 著</a:t>
            </a:r>
            <a:endParaRPr kumimoji="0" lang="en-US" altLang="zh-CN" sz="2800" b="0" i="0" u="none" strike="noStrike" kern="1200" cap="none" spc="0" normalizeH="0" baseline="0" noProof="0" dirty="0" smtClean="0">
              <a:ln>
                <a:noFill/>
              </a:ln>
              <a:effectLst/>
              <a:uLnTx/>
              <a:uFillTx/>
              <a:latin typeface="华文新魏" pitchFamily="2" charset="-122"/>
              <a:ea typeface="华文新魏" pitchFamily="2" charset="-122"/>
            </a:endParaRPr>
          </a:p>
          <a:p>
            <a:pPr lvl="0" algn="ctr">
              <a:spcBef>
                <a:spcPct val="20000"/>
              </a:spcBef>
            </a:pPr>
            <a:r>
              <a:rPr lang="zh-CN" altLang="en-US" sz="2800" dirty="0" smtClean="0">
                <a:latin typeface="华文新魏" pitchFamily="2" charset="-122"/>
                <a:ea typeface="华文新魏" pitchFamily="2" charset="-122"/>
              </a:rPr>
              <a:t>中国人民大学出版社（</a:t>
            </a:r>
            <a:r>
              <a:rPr lang="en-US" altLang="zh-CN" sz="2800" dirty="0" smtClean="0">
                <a:latin typeface="华文新魏" pitchFamily="2" charset="-122"/>
                <a:ea typeface="华文新魏" pitchFamily="2" charset="-122"/>
              </a:rPr>
              <a:t>2014</a:t>
            </a:r>
            <a:r>
              <a:rPr lang="zh-CN" altLang="en-US" sz="2800" dirty="0">
                <a:latin typeface="华文新魏" pitchFamily="2" charset="-122"/>
                <a:ea typeface="华文新魏" pitchFamily="2" charset="-122"/>
              </a:rPr>
              <a:t>）</a:t>
            </a:r>
            <a:endParaRPr kumimoji="0" lang="zh-CN" altLang="en-US" sz="2800" b="0" i="0" u="none" strike="noStrike" kern="1200" cap="none" spc="0" normalizeH="0" baseline="0" noProof="0" dirty="0" smtClean="0">
              <a:ln>
                <a:noFill/>
              </a:ln>
              <a:effectLst/>
              <a:uLnTx/>
              <a:uFillTx/>
              <a:latin typeface="华文新魏" pitchFamily="2" charset="-122"/>
              <a:ea typeface="华文新魏" pitchFamily="2" charset="-122"/>
            </a:endParaRPr>
          </a:p>
        </p:txBody>
      </p:sp>
      <p:sp>
        <p:nvSpPr>
          <p:cNvPr id="6" name="TextBox 6"/>
          <p:cNvSpPr txBox="1">
            <a:spLocks noChangeArrowheads="1"/>
          </p:cNvSpPr>
          <p:nvPr/>
        </p:nvSpPr>
        <p:spPr bwMode="auto">
          <a:xfrm rot="10800000" flipV="1">
            <a:off x="1143000" y="680393"/>
            <a:ext cx="7072313" cy="461665"/>
          </a:xfrm>
          <a:prstGeom prst="rect">
            <a:avLst/>
          </a:prstGeom>
          <a:noFill/>
          <a:ln w="9525">
            <a:noFill/>
            <a:miter lim="800000"/>
            <a:headEnd/>
            <a:tailEnd/>
          </a:ln>
        </p:spPr>
        <p:txBody>
          <a:bodyPr>
            <a:spAutoFit/>
          </a:bodyPr>
          <a:lstStyle/>
          <a:p>
            <a:pPr eaLnBrk="1" hangingPunct="1"/>
            <a:r>
              <a:rPr lang="zh-CN" altLang="en-US" sz="2400" b="1" dirty="0">
                <a:latin typeface="华文新魏" pitchFamily="2" charset="-122"/>
                <a:ea typeface="华文新魏" pitchFamily="2" charset="-122"/>
                <a:cs typeface="Times New Roman" pitchFamily="18" charset="0"/>
              </a:rPr>
              <a:t>新编</a:t>
            </a:r>
            <a:r>
              <a:rPr lang="en-US" altLang="zh-CN" sz="2400" b="1" dirty="0">
                <a:latin typeface="华文新魏" pitchFamily="2" charset="-122"/>
                <a:ea typeface="华文新魏" pitchFamily="2" charset="-122"/>
                <a:cs typeface="Times New Roman" pitchFamily="18" charset="0"/>
              </a:rPr>
              <a:t>21</a:t>
            </a:r>
            <a:r>
              <a:rPr lang="zh-CN" altLang="en-US" sz="2400" b="1" dirty="0">
                <a:latin typeface="华文新魏" pitchFamily="2" charset="-122"/>
                <a:ea typeface="华文新魏" pitchFamily="2" charset="-122"/>
                <a:cs typeface="Times New Roman" pitchFamily="18" charset="0"/>
              </a:rPr>
              <a:t>世纪系列教材</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非形式逻辑</a:t>
            </a:r>
            <a:endParaRPr lang="zh-CN" altLang="en-US" dirty="0">
              <a:latin typeface="华文新魏" pitchFamily="2" charset="-122"/>
              <a:ea typeface="华文新魏" pitchFamily="2" charset="-122"/>
            </a:endParaRPr>
          </a:p>
        </p:txBody>
      </p:sp>
      <p:grpSp>
        <p:nvGrpSpPr>
          <p:cNvPr id="6" name="组合 5"/>
          <p:cNvGrpSpPr/>
          <p:nvPr/>
        </p:nvGrpSpPr>
        <p:grpSpPr>
          <a:xfrm>
            <a:off x="3779912" y="1340768"/>
            <a:ext cx="1944216" cy="864096"/>
            <a:chOff x="3779912" y="1556792"/>
            <a:chExt cx="1944216" cy="864096"/>
          </a:xfrm>
        </p:grpSpPr>
        <p:sp>
          <p:nvSpPr>
            <p:cNvPr id="4" name="横卷形 3"/>
            <p:cNvSpPr/>
            <p:nvPr/>
          </p:nvSpPr>
          <p:spPr>
            <a:xfrm>
              <a:off x="3779912" y="1556792"/>
              <a:ext cx="1800200" cy="864096"/>
            </a:xfrm>
            <a:prstGeom prst="horizont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 name="TextBox 4"/>
            <p:cNvSpPr txBox="1"/>
            <p:nvPr/>
          </p:nvSpPr>
          <p:spPr>
            <a:xfrm>
              <a:off x="3923928" y="1772816"/>
              <a:ext cx="1800200" cy="430887"/>
            </a:xfrm>
            <a:prstGeom prst="rect">
              <a:avLst/>
            </a:prstGeom>
            <a:noFill/>
          </p:spPr>
          <p:txBody>
            <a:bodyPr wrap="square" rtlCol="0">
              <a:spAutoFit/>
            </a:bodyPr>
            <a:lstStyle/>
            <a:p>
              <a:r>
                <a:rPr lang="zh-CN" altLang="en-US" sz="2200" dirty="0" smtClean="0">
                  <a:latin typeface="华文行楷" pitchFamily="2" charset="-122"/>
                  <a:ea typeface="华文行楷" pitchFamily="2" charset="-122"/>
                </a:rPr>
                <a:t>批判性思维</a:t>
              </a:r>
              <a:endParaRPr lang="zh-CN" altLang="en-US" sz="2200" dirty="0">
                <a:latin typeface="华文行楷" pitchFamily="2" charset="-122"/>
                <a:ea typeface="华文行楷" pitchFamily="2" charset="-122"/>
              </a:endParaRPr>
            </a:p>
          </p:txBody>
        </p:sp>
      </p:grpSp>
      <p:sp>
        <p:nvSpPr>
          <p:cNvPr id="7" name="TextBox 6"/>
          <p:cNvSpPr txBox="1"/>
          <p:nvPr/>
        </p:nvSpPr>
        <p:spPr>
          <a:xfrm>
            <a:off x="1043608" y="2204864"/>
            <a:ext cx="1368152"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关注重点：</a:t>
            </a:r>
            <a:endParaRPr lang="zh-CN" altLang="en-US" sz="2200" u="sng" dirty="0">
              <a:solidFill>
                <a:srgbClr val="C00000"/>
              </a:solidFill>
              <a:latin typeface="华文行楷" pitchFamily="2" charset="-122"/>
              <a:ea typeface="华文行楷" pitchFamily="2" charset="-122"/>
            </a:endParaRPr>
          </a:p>
        </p:txBody>
      </p:sp>
      <p:sp>
        <p:nvSpPr>
          <p:cNvPr id="8" name="TextBox 7"/>
          <p:cNvSpPr txBox="1"/>
          <p:nvPr/>
        </p:nvSpPr>
        <p:spPr>
          <a:xfrm>
            <a:off x="1331640" y="2564904"/>
            <a:ext cx="6840760" cy="369332"/>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如何识别、构造、特别是评价实际思维中各种推理和论证的能力</a:t>
            </a:r>
            <a:endParaRPr lang="zh-CN" altLang="en-US" dirty="0">
              <a:latin typeface="楷体" pitchFamily="49" charset="-122"/>
              <a:ea typeface="楷体" pitchFamily="49" charset="-122"/>
            </a:endParaRPr>
          </a:p>
        </p:txBody>
      </p:sp>
      <p:sp>
        <p:nvSpPr>
          <p:cNvPr id="9" name="TextBox 8"/>
          <p:cNvSpPr txBox="1"/>
          <p:nvPr/>
        </p:nvSpPr>
        <p:spPr>
          <a:xfrm>
            <a:off x="1331640" y="3140968"/>
            <a:ext cx="6696744" cy="923330"/>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它要求给出一个人信念或行动的各种理由，分析、评价一个人自己的推理或论证以及他人的推理或论证，设计、构造更好的推理或论证</a:t>
            </a:r>
            <a:endParaRPr lang="zh-CN" altLang="en-US" dirty="0">
              <a:latin typeface="楷体" pitchFamily="49" charset="-122"/>
              <a:ea typeface="楷体" pitchFamily="49" charset="-122"/>
            </a:endParaRPr>
          </a:p>
        </p:txBody>
      </p:sp>
      <p:grpSp>
        <p:nvGrpSpPr>
          <p:cNvPr id="12" name="组合 11"/>
          <p:cNvGrpSpPr/>
          <p:nvPr/>
        </p:nvGrpSpPr>
        <p:grpSpPr>
          <a:xfrm>
            <a:off x="1547664" y="4581128"/>
            <a:ext cx="1656184" cy="936104"/>
            <a:chOff x="1115616" y="4581128"/>
            <a:chExt cx="1656184" cy="936104"/>
          </a:xfrm>
        </p:grpSpPr>
        <p:sp>
          <p:nvSpPr>
            <p:cNvPr id="10" name="云形 9"/>
            <p:cNvSpPr/>
            <p:nvPr/>
          </p:nvSpPr>
          <p:spPr>
            <a:xfrm>
              <a:off x="1115616" y="4581128"/>
              <a:ext cx="1656184" cy="936104"/>
            </a:xfrm>
            <a:prstGeom prst="cloud">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11" name="TextBox 10"/>
            <p:cNvSpPr txBox="1"/>
            <p:nvPr/>
          </p:nvSpPr>
          <p:spPr>
            <a:xfrm>
              <a:off x="1259632" y="4797152"/>
              <a:ext cx="1440160" cy="430887"/>
            </a:xfrm>
            <a:prstGeom prst="rect">
              <a:avLst/>
            </a:prstGeom>
            <a:noFill/>
          </p:spPr>
          <p:txBody>
            <a:bodyPr wrap="square" rtlCol="0">
              <a:spAutoFit/>
            </a:bodyPr>
            <a:lstStyle/>
            <a:p>
              <a:r>
                <a:rPr lang="zh-CN" altLang="en-US" sz="2200" dirty="0" smtClean="0">
                  <a:latin typeface="华文新魏" pitchFamily="2" charset="-122"/>
                  <a:ea typeface="华文新魏" pitchFamily="2" charset="-122"/>
                </a:rPr>
                <a:t>定义理论</a:t>
              </a:r>
              <a:endParaRPr lang="zh-CN" altLang="en-US" sz="2200" dirty="0">
                <a:latin typeface="华文新魏" pitchFamily="2" charset="-122"/>
                <a:ea typeface="华文新魏" pitchFamily="2" charset="-122"/>
              </a:endParaRPr>
            </a:p>
          </p:txBody>
        </p:sp>
      </p:grpSp>
      <p:grpSp>
        <p:nvGrpSpPr>
          <p:cNvPr id="13" name="组合 12"/>
          <p:cNvGrpSpPr/>
          <p:nvPr/>
        </p:nvGrpSpPr>
        <p:grpSpPr>
          <a:xfrm>
            <a:off x="3707904" y="4581128"/>
            <a:ext cx="1656184" cy="936104"/>
            <a:chOff x="1115616" y="4581128"/>
            <a:chExt cx="1656184" cy="936104"/>
          </a:xfrm>
        </p:grpSpPr>
        <p:sp>
          <p:nvSpPr>
            <p:cNvPr id="14" name="云形 13"/>
            <p:cNvSpPr/>
            <p:nvPr/>
          </p:nvSpPr>
          <p:spPr>
            <a:xfrm>
              <a:off x="1115616" y="4581128"/>
              <a:ext cx="1656184" cy="936104"/>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5" name="TextBox 14"/>
            <p:cNvSpPr txBox="1"/>
            <p:nvPr/>
          </p:nvSpPr>
          <p:spPr>
            <a:xfrm>
              <a:off x="1259632" y="4797152"/>
              <a:ext cx="1440160" cy="430887"/>
            </a:xfrm>
            <a:prstGeom prst="rect">
              <a:avLst/>
            </a:prstGeom>
            <a:noFill/>
          </p:spPr>
          <p:txBody>
            <a:bodyPr wrap="square" rtlCol="0">
              <a:spAutoFit/>
            </a:bodyPr>
            <a:lstStyle/>
            <a:p>
              <a:r>
                <a:rPr lang="zh-CN" altLang="en-US" sz="2200" dirty="0">
                  <a:latin typeface="华文新魏" pitchFamily="2" charset="-122"/>
                  <a:ea typeface="华文新魏" pitchFamily="2" charset="-122"/>
                </a:rPr>
                <a:t>论证</a:t>
              </a:r>
              <a:r>
                <a:rPr lang="zh-CN" altLang="en-US" sz="2200" dirty="0" smtClean="0">
                  <a:latin typeface="华文新魏" pitchFamily="2" charset="-122"/>
                  <a:ea typeface="华文新魏" pitchFamily="2" charset="-122"/>
                </a:rPr>
                <a:t>理论</a:t>
              </a:r>
              <a:endParaRPr lang="zh-CN" altLang="en-US" sz="2200" dirty="0">
                <a:latin typeface="华文新魏" pitchFamily="2" charset="-122"/>
                <a:ea typeface="华文新魏" pitchFamily="2" charset="-122"/>
              </a:endParaRPr>
            </a:p>
          </p:txBody>
        </p:sp>
      </p:grpSp>
      <p:grpSp>
        <p:nvGrpSpPr>
          <p:cNvPr id="16" name="组合 15"/>
          <p:cNvGrpSpPr/>
          <p:nvPr/>
        </p:nvGrpSpPr>
        <p:grpSpPr>
          <a:xfrm>
            <a:off x="5940152" y="4581128"/>
            <a:ext cx="1656184" cy="936104"/>
            <a:chOff x="1115616" y="4581128"/>
            <a:chExt cx="1656184" cy="936104"/>
          </a:xfrm>
        </p:grpSpPr>
        <p:sp>
          <p:nvSpPr>
            <p:cNvPr id="17" name="云形 16"/>
            <p:cNvSpPr/>
            <p:nvPr/>
          </p:nvSpPr>
          <p:spPr>
            <a:xfrm>
              <a:off x="1115616" y="4581128"/>
              <a:ext cx="1656184" cy="936104"/>
            </a:xfrm>
            <a:prstGeom prst="cloud">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8" name="TextBox 17"/>
            <p:cNvSpPr txBox="1"/>
            <p:nvPr/>
          </p:nvSpPr>
          <p:spPr>
            <a:xfrm>
              <a:off x="1259632" y="4797152"/>
              <a:ext cx="1440160" cy="430887"/>
            </a:xfrm>
            <a:prstGeom prst="rect">
              <a:avLst/>
            </a:prstGeom>
            <a:noFill/>
          </p:spPr>
          <p:txBody>
            <a:bodyPr wrap="square" rtlCol="0">
              <a:spAutoFit/>
            </a:bodyPr>
            <a:lstStyle/>
            <a:p>
              <a:r>
                <a:rPr lang="zh-CN" altLang="en-US" sz="2200" dirty="0">
                  <a:latin typeface="华文新魏" pitchFamily="2" charset="-122"/>
                  <a:ea typeface="华文新魏" pitchFamily="2" charset="-122"/>
                </a:rPr>
                <a:t>谬误</a:t>
              </a:r>
              <a:r>
                <a:rPr lang="zh-CN" altLang="en-US" sz="2200" dirty="0" smtClean="0">
                  <a:latin typeface="华文新魏" pitchFamily="2" charset="-122"/>
                  <a:ea typeface="华文新魏" pitchFamily="2" charset="-122"/>
                </a:rPr>
                <a:t>理论</a:t>
              </a:r>
              <a:endParaRPr lang="zh-CN" altLang="en-US" sz="2200" dirty="0">
                <a:latin typeface="华文新魏" pitchFamily="2" charset="-122"/>
                <a:ea typeface="华文新魏"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ppt_x</p:attrName>
                                        </p:attrNameLst>
                                      </p:cBhvr>
                                      <p:tavLst>
                                        <p:tav tm="0">
                                          <p:val>
                                            <p:strVal val="#ppt_x-.2"/>
                                          </p:val>
                                        </p:tav>
                                        <p:tav tm="100000">
                                          <p:val>
                                            <p:strVal val="#ppt_x"/>
                                          </p:val>
                                        </p:tav>
                                      </p:tavLst>
                                    </p:anim>
                                    <p:anim calcmode="lin" valueType="num">
                                      <p:cBhvr>
                                        <p:cTn id="23"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1000"/>
                                        <p:tgtEl>
                                          <p:spTgt spid="16"/>
                                        </p:tgtEl>
                                      </p:cBhvr>
                                    </p:animEffect>
                                    <p:anim calcmode="lin" valueType="num">
                                      <p:cBhvr>
                                        <p:cTn id="40" dur="1000" fill="hold"/>
                                        <p:tgtEl>
                                          <p:spTgt spid="16"/>
                                        </p:tgtEl>
                                        <p:attrNameLst>
                                          <p:attrName>ppt_x</p:attrName>
                                        </p:attrNameLst>
                                      </p:cBhvr>
                                      <p:tavLst>
                                        <p:tav tm="0">
                                          <p:val>
                                            <p:strVal val="#ppt_x"/>
                                          </p:val>
                                        </p:tav>
                                        <p:tav tm="100000">
                                          <p:val>
                                            <p:strVal val="#ppt_x"/>
                                          </p:val>
                                        </p:tav>
                                      </p:tavLst>
                                    </p:anim>
                                    <p:anim calcmode="lin" valueType="num">
                                      <p:cBhvr>
                                        <p:cTn id="4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592267"/>
            <a:ext cx="366712" cy="365125"/>
          </a:xfrm>
          <a:noFill/>
          <a:ln>
            <a:miter lim="800000"/>
            <a:headEnd/>
            <a:tailEnd/>
          </a:ln>
        </p:spPr>
        <p:txBody>
          <a:bodyPr/>
          <a:lstStyle/>
          <a:p>
            <a:fld id="{19B5CF85-BDD1-4515-8011-0F53550CA818}" type="slidenum">
              <a:rPr lang="zh-CN" altLang="en-US"/>
              <a:pPr/>
              <a:t>3</a:t>
            </a:fld>
            <a:endParaRPr lang="en-US" altLang="zh-CN"/>
          </a:p>
        </p:txBody>
      </p:sp>
      <p:sp>
        <p:nvSpPr>
          <p:cNvPr id="6" name="标题 1"/>
          <p:cNvSpPr>
            <a:spLocks noGrp="1"/>
          </p:cNvSpPr>
          <p:nvPr>
            <p:ph type="title"/>
          </p:nvPr>
        </p:nvSpPr>
        <p:spPr>
          <a:xfrm>
            <a:off x="457200" y="469257"/>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a:t>
            </a:r>
            <a:r>
              <a:rPr lang="zh-CN" altLang="en-US" dirty="0">
                <a:latin typeface="华文新魏" pitchFamily="2" charset="-122"/>
                <a:ea typeface="华文新魏" pitchFamily="2" charset="-122"/>
              </a:rPr>
              <a:t>六</a:t>
            </a:r>
            <a:r>
              <a:rPr lang="zh-CN" altLang="en-US" dirty="0" smtClean="0">
                <a:latin typeface="华文新魏" pitchFamily="2" charset="-122"/>
                <a:ea typeface="华文新魏" pitchFamily="2" charset="-122"/>
              </a:rPr>
              <a:t>章</a:t>
            </a:r>
            <a:r>
              <a:rPr lang="en-US" dirty="0" smtClean="0">
                <a:latin typeface="华文新魏" pitchFamily="2" charset="-122"/>
                <a:ea typeface="华文新魏" pitchFamily="2" charset="-122"/>
              </a:rPr>
              <a:t>  </a:t>
            </a:r>
            <a:r>
              <a:rPr lang="zh-CN" altLang="en-US" dirty="0">
                <a:latin typeface="华文新魏" pitchFamily="2" charset="-122"/>
                <a:ea typeface="华文新魏" pitchFamily="2" charset="-122"/>
              </a:rPr>
              <a:t>非形式</a:t>
            </a:r>
            <a:r>
              <a:rPr lang="zh-CN" altLang="en-US" dirty="0" smtClean="0">
                <a:latin typeface="华文新魏" pitchFamily="2" charset="-122"/>
                <a:ea typeface="华文新魏" pitchFamily="2" charset="-122"/>
              </a:rPr>
              <a:t>逻辑</a:t>
            </a:r>
            <a:endParaRPr lang="zh-CN" altLang="en-US" dirty="0">
              <a:latin typeface="华文新魏" pitchFamily="2" charset="-122"/>
              <a:ea typeface="华文新魏" pitchFamily="2" charset="-122"/>
            </a:endParaRPr>
          </a:p>
        </p:txBody>
      </p:sp>
      <p:sp>
        <p:nvSpPr>
          <p:cNvPr id="12" name="TextBox 11"/>
          <p:cNvSpPr txBox="1"/>
          <p:nvPr/>
        </p:nvSpPr>
        <p:spPr>
          <a:xfrm>
            <a:off x="4139952" y="2895327"/>
            <a:ext cx="5112568" cy="461665"/>
          </a:xfrm>
          <a:prstGeom prst="rect">
            <a:avLst/>
          </a:prstGeom>
          <a:noFill/>
        </p:spPr>
        <p:txBody>
          <a:bodyPr wrap="square" rtlCol="0">
            <a:spAutoFit/>
          </a:bodyPr>
          <a:lstStyle/>
          <a:p>
            <a:r>
              <a:rPr lang="zh-CN" altLang="en-US" sz="2400" b="1" dirty="0" smtClean="0">
                <a:latin typeface="+mn-ea"/>
              </a:rPr>
              <a:t>论证理论</a:t>
            </a:r>
            <a:endParaRPr lang="zh-CN" altLang="en-US" sz="2400" b="1" dirty="0">
              <a:latin typeface="+mn-ea"/>
            </a:endParaRPr>
          </a:p>
        </p:txBody>
      </p:sp>
      <p:sp>
        <p:nvSpPr>
          <p:cNvPr id="13" name="TextBox 12"/>
          <p:cNvSpPr txBox="1"/>
          <p:nvPr/>
        </p:nvSpPr>
        <p:spPr>
          <a:xfrm>
            <a:off x="4139952" y="3756545"/>
            <a:ext cx="5112568" cy="461665"/>
          </a:xfrm>
          <a:prstGeom prst="rect">
            <a:avLst/>
          </a:prstGeom>
          <a:noFill/>
        </p:spPr>
        <p:txBody>
          <a:bodyPr wrap="square" rtlCol="0">
            <a:spAutoFit/>
          </a:bodyPr>
          <a:lstStyle/>
          <a:p>
            <a:r>
              <a:rPr lang="zh-CN" altLang="en-US" sz="2400" b="1" dirty="0" smtClean="0">
                <a:latin typeface="+mn-ea"/>
              </a:rPr>
              <a:t>谬误理论</a:t>
            </a:r>
            <a:endParaRPr lang="zh-CN" altLang="en-US" sz="2400" b="1" dirty="0">
              <a:latin typeface="+mn-ea"/>
            </a:endParaRPr>
          </a:p>
        </p:txBody>
      </p:sp>
      <p:sp>
        <p:nvSpPr>
          <p:cNvPr id="16" name="TextBox 15"/>
          <p:cNvSpPr txBox="1"/>
          <p:nvPr/>
        </p:nvSpPr>
        <p:spPr>
          <a:xfrm>
            <a:off x="4139952" y="2028353"/>
            <a:ext cx="5112568" cy="461665"/>
          </a:xfrm>
          <a:prstGeom prst="rect">
            <a:avLst/>
          </a:prstGeom>
          <a:noFill/>
        </p:spPr>
        <p:txBody>
          <a:bodyPr wrap="square" rtlCol="0">
            <a:spAutoFit/>
          </a:bodyPr>
          <a:lstStyle/>
          <a:p>
            <a:r>
              <a:rPr lang="zh-CN" altLang="en-US" sz="2400" b="1" dirty="0" smtClean="0"/>
              <a:t>定义理论</a:t>
            </a:r>
            <a:endParaRPr lang="zh-CN" altLang="en-US" sz="2400" b="1" dirty="0"/>
          </a:p>
        </p:txBody>
      </p:sp>
      <p:sp>
        <p:nvSpPr>
          <p:cNvPr id="10" name="太阳形 9"/>
          <p:cNvSpPr/>
          <p:nvPr/>
        </p:nvSpPr>
        <p:spPr>
          <a:xfrm>
            <a:off x="3203848" y="1988840"/>
            <a:ext cx="576064" cy="576064"/>
          </a:xfrm>
          <a:prstGeom prst="su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1" name="太阳形 10"/>
          <p:cNvSpPr/>
          <p:nvPr/>
        </p:nvSpPr>
        <p:spPr>
          <a:xfrm>
            <a:off x="3203848" y="2852936"/>
            <a:ext cx="576064" cy="576064"/>
          </a:xfrm>
          <a:prstGeom prst="sun">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4" name="太阳形 13"/>
          <p:cNvSpPr/>
          <p:nvPr/>
        </p:nvSpPr>
        <p:spPr>
          <a:xfrm>
            <a:off x="3203848" y="3717032"/>
            <a:ext cx="576064" cy="576064"/>
          </a:xfrm>
          <a:prstGeom prst="sun">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592267"/>
            <a:ext cx="366712" cy="365125"/>
          </a:xfrm>
          <a:noFill/>
          <a:ln>
            <a:miter lim="800000"/>
            <a:headEnd/>
            <a:tailEnd/>
          </a:ln>
        </p:spPr>
        <p:txBody>
          <a:bodyPr/>
          <a:lstStyle/>
          <a:p>
            <a:fld id="{19B5CF85-BDD1-4515-8011-0F53550CA818}" type="slidenum">
              <a:rPr lang="zh-CN" altLang="en-US"/>
              <a:pPr/>
              <a:t>4</a:t>
            </a:fld>
            <a:endParaRPr lang="en-US" altLang="zh-CN"/>
          </a:p>
        </p:txBody>
      </p:sp>
      <p:sp>
        <p:nvSpPr>
          <p:cNvPr id="6" name="标题 1"/>
          <p:cNvSpPr>
            <a:spLocks noGrp="1"/>
          </p:cNvSpPr>
          <p:nvPr>
            <p:ph type="title"/>
          </p:nvPr>
        </p:nvSpPr>
        <p:spPr>
          <a:xfrm>
            <a:off x="457200" y="469257"/>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a:t>
            </a:r>
            <a:r>
              <a:rPr lang="zh-CN" altLang="en-US" dirty="0">
                <a:latin typeface="华文新魏" pitchFamily="2" charset="-122"/>
                <a:ea typeface="华文新魏" pitchFamily="2" charset="-122"/>
              </a:rPr>
              <a:t>六</a:t>
            </a:r>
            <a:r>
              <a:rPr lang="zh-CN" altLang="en-US" dirty="0" smtClean="0">
                <a:latin typeface="华文新魏" pitchFamily="2" charset="-122"/>
                <a:ea typeface="华文新魏" pitchFamily="2" charset="-122"/>
              </a:rPr>
              <a:t>章</a:t>
            </a:r>
            <a:r>
              <a:rPr lang="en-US" dirty="0" smtClean="0">
                <a:latin typeface="华文新魏" pitchFamily="2" charset="-122"/>
                <a:ea typeface="华文新魏" pitchFamily="2" charset="-122"/>
              </a:rPr>
              <a:t>  </a:t>
            </a:r>
            <a:r>
              <a:rPr lang="zh-CN" altLang="en-US" dirty="0">
                <a:latin typeface="华文新魏" pitchFamily="2" charset="-122"/>
                <a:ea typeface="华文新魏" pitchFamily="2" charset="-122"/>
              </a:rPr>
              <a:t>非形式</a:t>
            </a:r>
            <a:r>
              <a:rPr lang="zh-CN" altLang="en-US" dirty="0" smtClean="0">
                <a:latin typeface="华文新魏" pitchFamily="2" charset="-122"/>
                <a:ea typeface="华文新魏" pitchFamily="2" charset="-122"/>
              </a:rPr>
              <a:t>逻辑</a:t>
            </a:r>
            <a:endParaRPr lang="zh-CN" altLang="en-US" dirty="0">
              <a:latin typeface="华文新魏" pitchFamily="2" charset="-122"/>
              <a:ea typeface="华文新魏" pitchFamily="2" charset="-122"/>
            </a:endParaRPr>
          </a:p>
        </p:txBody>
      </p:sp>
      <p:sp>
        <p:nvSpPr>
          <p:cNvPr id="12" name="TextBox 11"/>
          <p:cNvSpPr txBox="1"/>
          <p:nvPr/>
        </p:nvSpPr>
        <p:spPr>
          <a:xfrm>
            <a:off x="4139952" y="2895327"/>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论证理论</a:t>
            </a:r>
            <a:endParaRPr lang="zh-CN" altLang="en-US" sz="2400" b="1" dirty="0">
              <a:solidFill>
                <a:schemeClr val="bg1">
                  <a:lumMod val="85000"/>
                </a:schemeClr>
              </a:solidFill>
              <a:latin typeface="+mn-ea"/>
            </a:endParaRPr>
          </a:p>
        </p:txBody>
      </p:sp>
      <p:sp>
        <p:nvSpPr>
          <p:cNvPr id="13" name="TextBox 12"/>
          <p:cNvSpPr txBox="1"/>
          <p:nvPr/>
        </p:nvSpPr>
        <p:spPr>
          <a:xfrm>
            <a:off x="4139952" y="3756545"/>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谬误理论</a:t>
            </a:r>
            <a:endParaRPr lang="zh-CN" altLang="en-US" sz="2400" b="1" dirty="0">
              <a:solidFill>
                <a:schemeClr val="bg1">
                  <a:lumMod val="85000"/>
                </a:schemeClr>
              </a:solidFill>
              <a:latin typeface="+mn-ea"/>
            </a:endParaRPr>
          </a:p>
        </p:txBody>
      </p:sp>
      <p:sp>
        <p:nvSpPr>
          <p:cNvPr id="16" name="TextBox 15"/>
          <p:cNvSpPr txBox="1"/>
          <p:nvPr/>
        </p:nvSpPr>
        <p:spPr>
          <a:xfrm>
            <a:off x="4139952" y="2028353"/>
            <a:ext cx="5112568" cy="461665"/>
          </a:xfrm>
          <a:prstGeom prst="rect">
            <a:avLst/>
          </a:prstGeom>
          <a:noFill/>
        </p:spPr>
        <p:txBody>
          <a:bodyPr wrap="square" rtlCol="0">
            <a:spAutoFit/>
          </a:bodyPr>
          <a:lstStyle/>
          <a:p>
            <a:r>
              <a:rPr lang="zh-CN" altLang="en-US" sz="2400" b="1" dirty="0" smtClean="0"/>
              <a:t>定义理论</a:t>
            </a:r>
            <a:endParaRPr lang="zh-CN" altLang="en-US" sz="2400" b="1" dirty="0"/>
          </a:p>
        </p:txBody>
      </p:sp>
      <p:sp>
        <p:nvSpPr>
          <p:cNvPr id="10" name="太阳形 9"/>
          <p:cNvSpPr/>
          <p:nvPr/>
        </p:nvSpPr>
        <p:spPr>
          <a:xfrm>
            <a:off x="3203848" y="1988840"/>
            <a:ext cx="576064" cy="576064"/>
          </a:xfrm>
          <a:prstGeom prst="sun">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1" name="太阳形 10"/>
          <p:cNvSpPr/>
          <p:nvPr/>
        </p:nvSpPr>
        <p:spPr>
          <a:xfrm>
            <a:off x="3203848" y="2852936"/>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4" name="太阳形 13"/>
          <p:cNvSpPr/>
          <p:nvPr/>
        </p:nvSpPr>
        <p:spPr>
          <a:xfrm>
            <a:off x="3203848" y="3717032"/>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6856" y="274638"/>
            <a:ext cx="8229600" cy="1143000"/>
          </a:xfrm>
        </p:spPr>
        <p:txBody>
          <a:bodyPr/>
          <a:lstStyle/>
          <a:p>
            <a:r>
              <a:rPr lang="zh-CN" altLang="en-US" dirty="0" smtClean="0">
                <a:latin typeface="华文新魏" pitchFamily="2" charset="-122"/>
                <a:ea typeface="华文新魏" pitchFamily="2" charset="-122"/>
              </a:rPr>
              <a:t>词项</a:t>
            </a:r>
            <a:endParaRPr lang="zh-CN" altLang="en-US" dirty="0">
              <a:latin typeface="华文新魏" pitchFamily="2" charset="-122"/>
              <a:ea typeface="华文新魏" pitchFamily="2" charset="-122"/>
            </a:endParaRPr>
          </a:p>
        </p:txBody>
      </p:sp>
      <p:sp>
        <p:nvSpPr>
          <p:cNvPr id="4" name="TextBox 3"/>
          <p:cNvSpPr txBox="1"/>
          <p:nvPr/>
        </p:nvSpPr>
        <p:spPr>
          <a:xfrm>
            <a:off x="4283968" y="1340768"/>
            <a:ext cx="2952328" cy="369332"/>
          </a:xfrm>
          <a:prstGeom prst="rect">
            <a:avLst/>
          </a:prstGeom>
          <a:noFill/>
        </p:spPr>
        <p:txBody>
          <a:bodyPr wrap="square" rtlCol="0">
            <a:spAutoFit/>
          </a:bodyPr>
          <a:lstStyle/>
          <a:p>
            <a:r>
              <a:rPr lang="zh-CN" altLang="en-US" u="sng" dirty="0" smtClean="0">
                <a:latin typeface="楷体" pitchFamily="49" charset="-122"/>
                <a:ea typeface="楷体" pitchFamily="49" charset="-122"/>
              </a:rPr>
              <a:t>最小和最基本的意义单位</a:t>
            </a:r>
            <a:endParaRPr lang="zh-CN" altLang="en-US" u="sng" dirty="0">
              <a:latin typeface="楷体" pitchFamily="49" charset="-122"/>
              <a:ea typeface="楷体" pitchFamily="49" charset="-122"/>
            </a:endParaRPr>
          </a:p>
        </p:txBody>
      </p:sp>
      <p:sp>
        <p:nvSpPr>
          <p:cNvPr id="5" name="TextBox 4"/>
          <p:cNvSpPr txBox="1"/>
          <p:nvPr/>
        </p:nvSpPr>
        <p:spPr>
          <a:xfrm>
            <a:off x="1691680" y="1268760"/>
            <a:ext cx="1512168"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定义的对象</a:t>
            </a:r>
            <a:endParaRPr lang="zh-CN" altLang="en-US" sz="2000" dirty="0">
              <a:latin typeface="华文行楷" pitchFamily="2" charset="-122"/>
              <a:ea typeface="华文行楷" pitchFamily="2" charset="-122"/>
            </a:endParaRPr>
          </a:p>
        </p:txBody>
      </p:sp>
      <p:sp>
        <p:nvSpPr>
          <p:cNvPr id="6" name="TextBox 5"/>
          <p:cNvSpPr txBox="1"/>
          <p:nvPr/>
        </p:nvSpPr>
        <p:spPr>
          <a:xfrm>
            <a:off x="1558008" y="1835532"/>
            <a:ext cx="6552728" cy="812530"/>
          </a:xfrm>
          <a:prstGeom prst="rect">
            <a:avLst/>
          </a:prstGeom>
          <a:noFill/>
        </p:spPr>
        <p:txBody>
          <a:bodyPr wrap="square" rtlCol="0">
            <a:spAutoFit/>
          </a:bodyPr>
          <a:lstStyle/>
          <a:p>
            <a:pPr>
              <a:lnSpc>
                <a:spcPct val="130000"/>
              </a:lnSpc>
            </a:pPr>
            <a:r>
              <a:rPr lang="zh-CN" altLang="en-US" dirty="0" smtClean="0">
                <a:latin typeface="楷体" pitchFamily="49" charset="-122"/>
                <a:ea typeface="楷体" pitchFamily="49" charset="-122"/>
              </a:rPr>
              <a:t>包括所有的</a:t>
            </a:r>
            <a:r>
              <a:rPr lang="zh-CN" altLang="en-US" b="1" dirty="0" smtClean="0">
                <a:solidFill>
                  <a:srgbClr val="C00000"/>
                </a:solidFill>
                <a:latin typeface="楷体" pitchFamily="49" charset="-122"/>
                <a:ea typeface="楷体" pitchFamily="49" charset="-122"/>
              </a:rPr>
              <a:t>实词</a:t>
            </a:r>
            <a:r>
              <a:rPr lang="zh-CN" altLang="en-US" dirty="0" smtClean="0">
                <a:latin typeface="楷体" pitchFamily="49" charset="-122"/>
                <a:ea typeface="楷体" pitchFamily="49" charset="-122"/>
              </a:rPr>
              <a:t>，如名词、动词、形容词、代词、数量词</a:t>
            </a:r>
            <a:r>
              <a:rPr lang="en-US" altLang="zh-CN" dirty="0" smtClean="0">
                <a:latin typeface="楷体" pitchFamily="49" charset="-122"/>
                <a:ea typeface="楷体" pitchFamily="49" charset="-122"/>
              </a:rPr>
              <a:t>,</a:t>
            </a:r>
          </a:p>
          <a:p>
            <a:pPr>
              <a:lnSpc>
                <a:spcPct val="130000"/>
              </a:lnSpc>
            </a:pPr>
            <a:r>
              <a:rPr lang="zh-CN" altLang="en-US" dirty="0" smtClean="0">
                <a:latin typeface="楷体" pitchFamily="49" charset="-122"/>
                <a:ea typeface="楷体" pitchFamily="49" charset="-122"/>
              </a:rPr>
              <a:t>可在直言命题中充当主项和谓项</a:t>
            </a:r>
            <a:endParaRPr lang="zh-CN" altLang="en-US" dirty="0">
              <a:latin typeface="楷体" pitchFamily="49" charset="-122"/>
              <a:ea typeface="楷体" pitchFamily="49" charset="-122"/>
            </a:endParaRPr>
          </a:p>
        </p:txBody>
      </p:sp>
      <p:sp>
        <p:nvSpPr>
          <p:cNvPr id="7" name="TextBox 6"/>
          <p:cNvSpPr txBox="1"/>
          <p:nvPr/>
        </p:nvSpPr>
        <p:spPr>
          <a:xfrm>
            <a:off x="3070176" y="3717032"/>
            <a:ext cx="792088" cy="43088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zh-CN" altLang="en-US" sz="2200" dirty="0" smtClean="0">
                <a:latin typeface="华文新魏" pitchFamily="2" charset="-122"/>
                <a:ea typeface="华文新魏" pitchFamily="2" charset="-122"/>
              </a:rPr>
              <a:t>内涵</a:t>
            </a:r>
            <a:endParaRPr lang="zh-CN" altLang="en-US" sz="2200" dirty="0">
              <a:latin typeface="华文新魏" pitchFamily="2" charset="-122"/>
              <a:ea typeface="华文新魏" pitchFamily="2" charset="-122"/>
            </a:endParaRPr>
          </a:p>
        </p:txBody>
      </p:sp>
      <p:sp>
        <p:nvSpPr>
          <p:cNvPr id="8" name="加号 7"/>
          <p:cNvSpPr/>
          <p:nvPr/>
        </p:nvSpPr>
        <p:spPr>
          <a:xfrm>
            <a:off x="4222304" y="3717032"/>
            <a:ext cx="432048" cy="432048"/>
          </a:xfrm>
          <a:prstGeom prst="mathPlus">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9" name="TextBox 8"/>
          <p:cNvSpPr txBox="1"/>
          <p:nvPr/>
        </p:nvSpPr>
        <p:spPr>
          <a:xfrm>
            <a:off x="5014392" y="3717032"/>
            <a:ext cx="792088" cy="43088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zh-CN" altLang="en-US" sz="2200" dirty="0">
                <a:latin typeface="华文新魏" pitchFamily="2" charset="-122"/>
                <a:ea typeface="华文新魏" pitchFamily="2" charset="-122"/>
              </a:rPr>
              <a:t>外延</a:t>
            </a:r>
          </a:p>
        </p:txBody>
      </p:sp>
      <p:cxnSp>
        <p:nvCxnSpPr>
          <p:cNvPr id="10" name="直接箭头连接符 9"/>
          <p:cNvCxnSpPr/>
          <p:nvPr/>
        </p:nvCxnSpPr>
        <p:spPr>
          <a:xfrm flipV="1">
            <a:off x="3070176" y="4509120"/>
            <a:ext cx="0" cy="504056"/>
          </a:xfrm>
          <a:prstGeom prst="straightConnector1">
            <a:avLst/>
          </a:prstGeom>
          <a:ln w="38100">
            <a:solidFill>
              <a:srgbClr val="7030A0"/>
            </a:solidFill>
            <a:tailEnd type="arrow"/>
          </a:ln>
          <a:scene3d>
            <a:camera prst="orthographicFront">
              <a:rot lat="0" lon="0" rev="8100000"/>
            </a:camera>
            <a:lightRig rig="threePt" dir="t"/>
          </a:scene3d>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1630016" y="5003884"/>
            <a:ext cx="2592288" cy="369332"/>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该词项所表达的概念</a:t>
            </a:r>
            <a:endParaRPr lang="zh-CN" altLang="en-US" dirty="0">
              <a:latin typeface="楷体" pitchFamily="49" charset="-122"/>
              <a:ea typeface="楷体" pitchFamily="49" charset="-122"/>
            </a:endParaRPr>
          </a:p>
        </p:txBody>
      </p:sp>
      <p:cxnSp>
        <p:nvCxnSpPr>
          <p:cNvPr id="12" name="直接箭头连接符 11"/>
          <p:cNvCxnSpPr/>
          <p:nvPr/>
        </p:nvCxnSpPr>
        <p:spPr>
          <a:xfrm flipV="1">
            <a:off x="5806480" y="4509120"/>
            <a:ext cx="0" cy="504056"/>
          </a:xfrm>
          <a:prstGeom prst="straightConnector1">
            <a:avLst/>
          </a:prstGeom>
          <a:ln w="38100">
            <a:solidFill>
              <a:srgbClr val="7030A0"/>
            </a:solidFill>
            <a:tailEnd type="arrow"/>
          </a:ln>
          <a:scene3d>
            <a:camera prst="orthographicFront">
              <a:rot lat="0" lon="0" rev="13500000"/>
            </a:camera>
            <a:lightRig rig="threePt" dir="t"/>
          </a:scene3d>
        </p:spPr>
        <p:style>
          <a:lnRef idx="1">
            <a:schemeClr val="accent2"/>
          </a:lnRef>
          <a:fillRef idx="0">
            <a:schemeClr val="accent2"/>
          </a:fillRef>
          <a:effectRef idx="0">
            <a:schemeClr val="accent2"/>
          </a:effectRef>
          <a:fontRef idx="minor">
            <a:schemeClr val="tx1"/>
          </a:fontRef>
        </p:style>
      </p:cxnSp>
      <p:sp>
        <p:nvSpPr>
          <p:cNvPr id="13" name="TextBox 12"/>
          <p:cNvSpPr txBox="1"/>
          <p:nvPr/>
        </p:nvSpPr>
        <p:spPr>
          <a:xfrm>
            <a:off x="4798368" y="4942909"/>
            <a:ext cx="2808312"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该词项所指的某个对象或某个对象的集合或者类别</a:t>
            </a:r>
            <a:endParaRPr lang="zh-CN" altLang="en-US" dirty="0">
              <a:latin typeface="楷体" pitchFamily="49" charset="-122"/>
              <a:ea typeface="楷体" pitchFamily="49" charset="-122"/>
            </a:endParaRPr>
          </a:p>
        </p:txBody>
      </p:sp>
      <p:sp>
        <p:nvSpPr>
          <p:cNvPr id="14" name="右箭头 13"/>
          <p:cNvSpPr/>
          <p:nvPr/>
        </p:nvSpPr>
        <p:spPr>
          <a:xfrm>
            <a:off x="3995936" y="4221088"/>
            <a:ext cx="936104" cy="21602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5" name="TextBox 14"/>
          <p:cNvSpPr txBox="1"/>
          <p:nvPr/>
        </p:nvSpPr>
        <p:spPr>
          <a:xfrm>
            <a:off x="4139952" y="4365104"/>
            <a:ext cx="1224136" cy="369332"/>
          </a:xfrm>
          <a:prstGeom prst="rect">
            <a:avLst/>
          </a:prstGeom>
          <a:noFill/>
        </p:spPr>
        <p:txBody>
          <a:bodyPr wrap="square" rtlCol="0">
            <a:spAutoFit/>
          </a:bodyPr>
          <a:lstStyle/>
          <a:p>
            <a:r>
              <a:rPr lang="zh-CN" altLang="en-US" b="1" dirty="0" smtClean="0">
                <a:solidFill>
                  <a:srgbClr val="C00000"/>
                </a:solidFill>
                <a:latin typeface="华文新魏" pitchFamily="2" charset="-122"/>
                <a:ea typeface="华文新魏" pitchFamily="2" charset="-122"/>
              </a:rPr>
              <a:t>决定</a:t>
            </a:r>
            <a:endParaRPr lang="zh-CN" altLang="en-US" b="1" dirty="0">
              <a:solidFill>
                <a:srgbClr val="C00000"/>
              </a:solidFill>
              <a:latin typeface="华文新魏" pitchFamily="2" charset="-122"/>
              <a:ea typeface="华文新魏" pitchFamily="2" charset="-122"/>
            </a:endParaRPr>
          </a:p>
        </p:txBody>
      </p:sp>
      <p:sp>
        <p:nvSpPr>
          <p:cNvPr id="17" name="环形箭头 16"/>
          <p:cNvSpPr/>
          <p:nvPr/>
        </p:nvSpPr>
        <p:spPr>
          <a:xfrm>
            <a:off x="3995936" y="3140968"/>
            <a:ext cx="936104" cy="1080120"/>
          </a:xfrm>
          <a:prstGeom prst="circular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solidFill>
                <a:schemeClr val="tx1"/>
              </a:solidFill>
            </a:endParaRPr>
          </a:p>
        </p:txBody>
      </p:sp>
      <p:sp>
        <p:nvSpPr>
          <p:cNvPr id="18" name="TextBox 17"/>
          <p:cNvSpPr txBox="1"/>
          <p:nvPr/>
        </p:nvSpPr>
        <p:spPr>
          <a:xfrm>
            <a:off x="4067944" y="2852936"/>
            <a:ext cx="1512168" cy="369332"/>
          </a:xfrm>
          <a:prstGeom prst="rect">
            <a:avLst/>
          </a:prstGeom>
          <a:noFill/>
        </p:spPr>
        <p:txBody>
          <a:bodyPr wrap="square" rtlCol="0">
            <a:spAutoFit/>
          </a:bodyPr>
          <a:lstStyle/>
          <a:p>
            <a:r>
              <a:rPr lang="zh-CN" altLang="en-US" b="1" dirty="0">
                <a:solidFill>
                  <a:srgbClr val="C00000"/>
                </a:solidFill>
                <a:latin typeface="华文新魏" pitchFamily="2" charset="-122"/>
                <a:ea typeface="华文新魏" pitchFamily="2" charset="-122"/>
              </a:rPr>
              <a:t>成反比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strVal val="#ppt_w*0.70"/>
                                          </p:val>
                                        </p:tav>
                                        <p:tav tm="100000">
                                          <p:val>
                                            <p:strVal val="#ppt_w"/>
                                          </p:val>
                                        </p:tav>
                                      </p:tavLst>
                                    </p:anim>
                                    <p:anim calcmode="lin" valueType="num">
                                      <p:cBhvr>
                                        <p:cTn id="23" dur="500" fill="hold"/>
                                        <p:tgtEl>
                                          <p:spTgt spid="7"/>
                                        </p:tgtEl>
                                        <p:attrNameLst>
                                          <p:attrName>ppt_h</p:attrName>
                                        </p:attrNameLst>
                                      </p:cBhvr>
                                      <p:tavLst>
                                        <p:tav tm="0">
                                          <p:val>
                                            <p:strVal val="#ppt_h"/>
                                          </p:val>
                                        </p:tav>
                                        <p:tav tm="100000">
                                          <p:val>
                                            <p:strVal val="#ppt_h"/>
                                          </p:val>
                                        </p:tav>
                                      </p:tavLst>
                                    </p:anim>
                                    <p:animEffect transition="in" filter="fade">
                                      <p:cBhvr>
                                        <p:cTn id="24" dur="500"/>
                                        <p:tgtEl>
                                          <p:spTgt spid="7"/>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strVal val="#ppt_w*0.70"/>
                                          </p:val>
                                        </p:tav>
                                        <p:tav tm="100000">
                                          <p:val>
                                            <p:strVal val="#ppt_w"/>
                                          </p:val>
                                        </p:tav>
                                      </p:tavLst>
                                    </p:anim>
                                    <p:anim calcmode="lin" valueType="num">
                                      <p:cBhvr>
                                        <p:cTn id="28" dur="500" fill="hold"/>
                                        <p:tgtEl>
                                          <p:spTgt spid="8"/>
                                        </p:tgtEl>
                                        <p:attrNameLst>
                                          <p:attrName>ppt_h</p:attrName>
                                        </p:attrNameLst>
                                      </p:cBhvr>
                                      <p:tavLst>
                                        <p:tav tm="0">
                                          <p:val>
                                            <p:strVal val="#ppt_h"/>
                                          </p:val>
                                        </p:tav>
                                        <p:tav tm="100000">
                                          <p:val>
                                            <p:strVal val="#ppt_h"/>
                                          </p:val>
                                        </p:tav>
                                      </p:tavLst>
                                    </p:anim>
                                    <p:animEffect transition="in" filter="fade">
                                      <p:cBhvr>
                                        <p:cTn id="29" dur="500"/>
                                        <p:tgtEl>
                                          <p:spTgt spid="8"/>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strVal val="#ppt_w*0.70"/>
                                          </p:val>
                                        </p:tav>
                                        <p:tav tm="100000">
                                          <p:val>
                                            <p:strVal val="#ppt_w"/>
                                          </p:val>
                                        </p:tav>
                                      </p:tavLst>
                                    </p:anim>
                                    <p:anim calcmode="lin" valueType="num">
                                      <p:cBhvr>
                                        <p:cTn id="33" dur="500" fill="hold"/>
                                        <p:tgtEl>
                                          <p:spTgt spid="9"/>
                                        </p:tgtEl>
                                        <p:attrNameLst>
                                          <p:attrName>ppt_h</p:attrName>
                                        </p:attrNameLst>
                                      </p:cBhvr>
                                      <p:tavLst>
                                        <p:tav tm="0">
                                          <p:val>
                                            <p:strVal val="#ppt_h"/>
                                          </p:val>
                                        </p:tav>
                                        <p:tav tm="100000">
                                          <p:val>
                                            <p:strVal val="#ppt_h"/>
                                          </p:val>
                                        </p:tav>
                                      </p:tavLst>
                                    </p:anim>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ox(in)">
                                      <p:cBhvr>
                                        <p:cTn id="39" dur="500"/>
                                        <p:tgtEl>
                                          <p:spTgt spid="10"/>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ox(in)">
                                      <p:cBhvr>
                                        <p:cTn id="46" dur="500"/>
                                        <p:tgtEl>
                                          <p:spTgt spid="12"/>
                                        </p:tgtEl>
                                      </p:cBhvr>
                                    </p:animEffec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p:cTn id="53" dur="500" fill="hold"/>
                                        <p:tgtEl>
                                          <p:spTgt spid="15"/>
                                        </p:tgtEl>
                                        <p:attrNameLst>
                                          <p:attrName>ppt_w</p:attrName>
                                        </p:attrNameLst>
                                      </p:cBhvr>
                                      <p:tavLst>
                                        <p:tav tm="0">
                                          <p:val>
                                            <p:strVal val="#ppt_w*0.70"/>
                                          </p:val>
                                        </p:tav>
                                        <p:tav tm="100000">
                                          <p:val>
                                            <p:strVal val="#ppt_w"/>
                                          </p:val>
                                        </p:tav>
                                      </p:tavLst>
                                    </p:anim>
                                    <p:anim calcmode="lin" valueType="num">
                                      <p:cBhvr>
                                        <p:cTn id="54" dur="500" fill="hold"/>
                                        <p:tgtEl>
                                          <p:spTgt spid="15"/>
                                        </p:tgtEl>
                                        <p:attrNameLst>
                                          <p:attrName>ppt_h</p:attrName>
                                        </p:attrNameLst>
                                      </p:cBhvr>
                                      <p:tavLst>
                                        <p:tav tm="0">
                                          <p:val>
                                            <p:strVal val="#ppt_h"/>
                                          </p:val>
                                        </p:tav>
                                        <p:tav tm="100000">
                                          <p:val>
                                            <p:strVal val="#ppt_h"/>
                                          </p:val>
                                        </p:tav>
                                      </p:tavLst>
                                    </p:anim>
                                    <p:animEffect transition="in" filter="fade">
                                      <p:cBhvr>
                                        <p:cTn id="55" dur="500"/>
                                        <p:tgtEl>
                                          <p:spTgt spid="15"/>
                                        </p:tgtEl>
                                      </p:cBhvr>
                                    </p:animEffect>
                                  </p:childTnLst>
                                </p:cTn>
                              </p:par>
                              <p:par>
                                <p:cTn id="56" presetID="55"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strVal val="#ppt_w*0.70"/>
                                          </p:val>
                                        </p:tav>
                                        <p:tav tm="100000">
                                          <p:val>
                                            <p:strVal val="#ppt_w"/>
                                          </p:val>
                                        </p:tav>
                                      </p:tavLst>
                                    </p:anim>
                                    <p:anim calcmode="lin" valueType="num">
                                      <p:cBhvr>
                                        <p:cTn id="59" dur="500" fill="hold"/>
                                        <p:tgtEl>
                                          <p:spTgt spid="14"/>
                                        </p:tgtEl>
                                        <p:attrNameLst>
                                          <p:attrName>ppt_h</p:attrName>
                                        </p:attrNameLst>
                                      </p:cBhvr>
                                      <p:tavLst>
                                        <p:tav tm="0">
                                          <p:val>
                                            <p:strVal val="#ppt_h"/>
                                          </p:val>
                                        </p:tav>
                                        <p:tav tm="100000">
                                          <p:val>
                                            <p:strVal val="#ppt_h"/>
                                          </p:val>
                                        </p:tav>
                                      </p:tavLst>
                                    </p:anim>
                                    <p:animEffect transition="in" filter="fade">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29"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p:cTn id="65" dur="500" fill="hold"/>
                                        <p:tgtEl>
                                          <p:spTgt spid="17"/>
                                        </p:tgtEl>
                                        <p:attrNameLst>
                                          <p:attrName>ppt_x</p:attrName>
                                        </p:attrNameLst>
                                      </p:cBhvr>
                                      <p:tavLst>
                                        <p:tav tm="0">
                                          <p:val>
                                            <p:strVal val="#ppt_x-.2"/>
                                          </p:val>
                                        </p:tav>
                                        <p:tav tm="100000">
                                          <p:val>
                                            <p:strVal val="#ppt_x"/>
                                          </p:val>
                                        </p:tav>
                                      </p:tavLst>
                                    </p:anim>
                                    <p:anim calcmode="lin" valueType="num">
                                      <p:cBhvr>
                                        <p:cTn id="66"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67" dur="500"/>
                                        <p:tgtEl>
                                          <p:spTgt spid="17"/>
                                        </p:tgtEl>
                                      </p:cBhvr>
                                    </p:animEffect>
                                  </p:childTnLst>
                                </p:cTn>
                              </p:par>
                              <p:par>
                                <p:cTn id="68" presetID="29"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500" fill="hold"/>
                                        <p:tgtEl>
                                          <p:spTgt spid="18"/>
                                        </p:tgtEl>
                                        <p:attrNameLst>
                                          <p:attrName>ppt_x</p:attrName>
                                        </p:attrNameLst>
                                      </p:cBhvr>
                                      <p:tavLst>
                                        <p:tav tm="0">
                                          <p:val>
                                            <p:strVal val="#ppt_x-.2"/>
                                          </p:val>
                                        </p:tav>
                                        <p:tav tm="100000">
                                          <p:val>
                                            <p:strVal val="#ppt_x"/>
                                          </p:val>
                                        </p:tav>
                                      </p:tavLst>
                                    </p:anim>
                                    <p:anim calcmode="lin" valueType="num">
                                      <p:cBhvr>
                                        <p:cTn id="71" dur="500" fill="hold"/>
                                        <p:tgtEl>
                                          <p:spTgt spid="18"/>
                                        </p:tgtEl>
                                        <p:attrNameLst>
                                          <p:attrName>ppt_y</p:attrName>
                                        </p:attrNameLst>
                                      </p:cBhvr>
                                      <p:tavLst>
                                        <p:tav tm="0">
                                          <p:val>
                                            <p:strVal val="#ppt_y"/>
                                          </p:val>
                                        </p:tav>
                                        <p:tav tm="100000">
                                          <p:val>
                                            <p:strVal val="#ppt_y"/>
                                          </p:val>
                                        </p:tav>
                                      </p:tavLst>
                                    </p:anim>
                                    <p:animEffect transition="in" filter="wipe(right)" prLst="gradientSize: 0.1">
                                      <p:cBhvr>
                                        <p:cTn id="7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animBg="1"/>
      <p:bldP spid="11" grpId="0"/>
      <p:bldP spid="13" grpId="0"/>
      <p:bldP spid="14" grpId="0" animBg="1"/>
      <p:bldP spid="15" grpId="0"/>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定义</a:t>
            </a:r>
            <a:endParaRPr lang="zh-CN" altLang="en-US" dirty="0">
              <a:latin typeface="华文新魏" pitchFamily="2" charset="-122"/>
              <a:ea typeface="华文新魏" pitchFamily="2" charset="-122"/>
            </a:endParaRPr>
          </a:p>
        </p:txBody>
      </p:sp>
      <p:sp>
        <p:nvSpPr>
          <p:cNvPr id="4" name="TextBox 3"/>
          <p:cNvSpPr txBox="1"/>
          <p:nvPr/>
        </p:nvSpPr>
        <p:spPr>
          <a:xfrm>
            <a:off x="971600" y="1340768"/>
            <a:ext cx="7344816"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以简短的形式揭示词项（概念）、句子（命题）的内涵和外延，使人们明确它们的意义及其使用范围的逻辑方法</a:t>
            </a:r>
            <a:endParaRPr lang="zh-CN" altLang="en-US" dirty="0">
              <a:latin typeface="楷体" pitchFamily="49" charset="-122"/>
              <a:ea typeface="楷体" pitchFamily="49" charset="-122"/>
            </a:endParaRPr>
          </a:p>
        </p:txBody>
      </p:sp>
      <p:sp>
        <p:nvSpPr>
          <p:cNvPr id="5" name="TextBox 4"/>
          <p:cNvSpPr txBox="1"/>
          <p:nvPr/>
        </p:nvSpPr>
        <p:spPr>
          <a:xfrm>
            <a:off x="2267744" y="2893006"/>
            <a:ext cx="1224136"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被定义项</a:t>
            </a:r>
            <a:endParaRPr lang="zh-CN" altLang="en-US" sz="2000" dirty="0">
              <a:latin typeface="华文行楷" pitchFamily="2" charset="-122"/>
              <a:ea typeface="华文行楷" pitchFamily="2" charset="-122"/>
            </a:endParaRPr>
          </a:p>
        </p:txBody>
      </p:sp>
      <p:sp>
        <p:nvSpPr>
          <p:cNvPr id="8" name="TextBox 7"/>
          <p:cNvSpPr txBox="1"/>
          <p:nvPr/>
        </p:nvSpPr>
        <p:spPr>
          <a:xfrm>
            <a:off x="5868144" y="2893006"/>
            <a:ext cx="1008112"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定义项</a:t>
            </a:r>
            <a:endParaRPr lang="zh-CN" altLang="en-US" sz="2000" dirty="0">
              <a:latin typeface="华文行楷" pitchFamily="2" charset="-122"/>
              <a:ea typeface="华文行楷" pitchFamily="2" charset="-122"/>
            </a:endParaRPr>
          </a:p>
        </p:txBody>
      </p:sp>
      <p:sp>
        <p:nvSpPr>
          <p:cNvPr id="9" name="左右箭头 8"/>
          <p:cNvSpPr/>
          <p:nvPr/>
        </p:nvSpPr>
        <p:spPr>
          <a:xfrm>
            <a:off x="3779912" y="2965014"/>
            <a:ext cx="1800200" cy="288032"/>
          </a:xfrm>
          <a:prstGeom prst="lef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4067944" y="2492896"/>
            <a:ext cx="1224136"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定义联项</a:t>
            </a:r>
            <a:endParaRPr lang="zh-CN" altLang="en-US" sz="2000" dirty="0">
              <a:latin typeface="华文行楷" pitchFamily="2" charset="-122"/>
              <a:ea typeface="华文行楷" pitchFamily="2" charset="-122"/>
            </a:endParaRPr>
          </a:p>
        </p:txBody>
      </p:sp>
      <p:sp>
        <p:nvSpPr>
          <p:cNvPr id="11" name="TextBox 10"/>
          <p:cNvSpPr txBox="1"/>
          <p:nvPr/>
        </p:nvSpPr>
        <p:spPr>
          <a:xfrm>
            <a:off x="2699792" y="3429000"/>
            <a:ext cx="864096" cy="369332"/>
          </a:xfrm>
          <a:prstGeom prst="rect">
            <a:avLst/>
          </a:prstGeom>
          <a:noFill/>
        </p:spPr>
        <p:txBody>
          <a:bodyPr wrap="square" rtlCol="0">
            <a:spAutoFit/>
          </a:bodyPr>
          <a:lstStyle/>
          <a:p>
            <a:r>
              <a:rPr lang="en-US" altLang="zh-CN" dirty="0" smtClean="0"/>
              <a:t>D</a:t>
            </a:r>
            <a:r>
              <a:rPr lang="en-US" altLang="zh-CN" baseline="-25000" dirty="0" smtClean="0"/>
              <a:t>s</a:t>
            </a:r>
            <a:endParaRPr lang="zh-CN" altLang="en-US" baseline="-25000" dirty="0"/>
          </a:p>
        </p:txBody>
      </p:sp>
      <p:sp>
        <p:nvSpPr>
          <p:cNvPr id="12" name="TextBox 11"/>
          <p:cNvSpPr txBox="1"/>
          <p:nvPr/>
        </p:nvSpPr>
        <p:spPr>
          <a:xfrm>
            <a:off x="6156176" y="3429000"/>
            <a:ext cx="864096" cy="369332"/>
          </a:xfrm>
          <a:prstGeom prst="rect">
            <a:avLst/>
          </a:prstGeom>
          <a:noFill/>
        </p:spPr>
        <p:txBody>
          <a:bodyPr wrap="square" rtlCol="0">
            <a:spAutoFit/>
          </a:bodyPr>
          <a:lstStyle/>
          <a:p>
            <a:r>
              <a:rPr lang="en-US" altLang="zh-CN" dirty="0" err="1" smtClean="0"/>
              <a:t>D</a:t>
            </a:r>
            <a:r>
              <a:rPr lang="en-US" altLang="zh-CN" baseline="-25000" dirty="0" err="1" smtClean="0"/>
              <a:t>p</a:t>
            </a:r>
            <a:endParaRPr lang="zh-CN" altLang="en-US" baseline="-25000" dirty="0"/>
          </a:p>
        </p:txBody>
      </p:sp>
      <p:sp>
        <p:nvSpPr>
          <p:cNvPr id="13" name="TextBox 12"/>
          <p:cNvSpPr txBox="1"/>
          <p:nvPr/>
        </p:nvSpPr>
        <p:spPr>
          <a:xfrm>
            <a:off x="4355976" y="3212976"/>
            <a:ext cx="864096" cy="400110"/>
          </a:xfrm>
          <a:prstGeom prst="rect">
            <a:avLst/>
          </a:prstGeom>
          <a:noFill/>
        </p:spPr>
        <p:txBody>
          <a:bodyPr wrap="square" rtlCol="0">
            <a:spAutoFit/>
          </a:bodyPr>
          <a:lstStyle/>
          <a:p>
            <a:r>
              <a:rPr lang="zh-CN" altLang="en-US" sz="2000" dirty="0">
                <a:latin typeface="华文新魏" pitchFamily="2" charset="-122"/>
                <a:ea typeface="华文新魏" pitchFamily="2" charset="-122"/>
              </a:rPr>
              <a:t>就是</a:t>
            </a:r>
          </a:p>
        </p:txBody>
      </p:sp>
      <p:grpSp>
        <p:nvGrpSpPr>
          <p:cNvPr id="16" name="组合 15"/>
          <p:cNvGrpSpPr/>
          <p:nvPr/>
        </p:nvGrpSpPr>
        <p:grpSpPr>
          <a:xfrm>
            <a:off x="2123728" y="4149080"/>
            <a:ext cx="1224136" cy="864096"/>
            <a:chOff x="1691680" y="4437112"/>
            <a:chExt cx="1224136" cy="864096"/>
          </a:xfrm>
        </p:grpSpPr>
        <p:sp>
          <p:nvSpPr>
            <p:cNvPr id="14" name="波形 13"/>
            <p:cNvSpPr/>
            <p:nvPr/>
          </p:nvSpPr>
          <p:spPr>
            <a:xfrm>
              <a:off x="1691680" y="4437112"/>
              <a:ext cx="1224136" cy="864096"/>
            </a:xfrm>
            <a:prstGeom prst="wav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15" name="TextBox 14"/>
            <p:cNvSpPr txBox="1"/>
            <p:nvPr/>
          </p:nvSpPr>
          <p:spPr>
            <a:xfrm>
              <a:off x="1691680" y="4653136"/>
              <a:ext cx="1224136" cy="400110"/>
            </a:xfrm>
            <a:prstGeom prst="rect">
              <a:avLst/>
            </a:prstGeom>
            <a:noFill/>
          </p:spPr>
          <p:txBody>
            <a:bodyPr wrap="square" rtlCol="0">
              <a:spAutoFit/>
            </a:bodyPr>
            <a:lstStyle/>
            <a:p>
              <a:r>
                <a:rPr lang="zh-CN" altLang="en-US" sz="2000" dirty="0" smtClean="0">
                  <a:latin typeface="华文新魏" pitchFamily="2" charset="-122"/>
                  <a:ea typeface="华文新魏" pitchFamily="2" charset="-122"/>
                </a:rPr>
                <a:t>内涵定义</a:t>
              </a:r>
              <a:endParaRPr lang="zh-CN" altLang="en-US" sz="2000" dirty="0">
                <a:latin typeface="华文新魏" pitchFamily="2" charset="-122"/>
                <a:ea typeface="华文新魏" pitchFamily="2" charset="-122"/>
              </a:endParaRPr>
            </a:p>
          </p:txBody>
        </p:sp>
      </p:grpSp>
      <p:grpSp>
        <p:nvGrpSpPr>
          <p:cNvPr id="17" name="组合 16"/>
          <p:cNvGrpSpPr/>
          <p:nvPr/>
        </p:nvGrpSpPr>
        <p:grpSpPr>
          <a:xfrm>
            <a:off x="3995936" y="4149080"/>
            <a:ext cx="1224136" cy="864096"/>
            <a:chOff x="1691680" y="4437112"/>
            <a:chExt cx="1224136" cy="864096"/>
          </a:xfrm>
        </p:grpSpPr>
        <p:sp>
          <p:nvSpPr>
            <p:cNvPr id="18" name="波形 17"/>
            <p:cNvSpPr/>
            <p:nvPr/>
          </p:nvSpPr>
          <p:spPr>
            <a:xfrm>
              <a:off x="1691680" y="4437112"/>
              <a:ext cx="1224136" cy="864096"/>
            </a:xfrm>
            <a:prstGeom prst="wav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19" name="TextBox 18"/>
            <p:cNvSpPr txBox="1"/>
            <p:nvPr/>
          </p:nvSpPr>
          <p:spPr>
            <a:xfrm>
              <a:off x="1691680" y="4653136"/>
              <a:ext cx="1224136" cy="400110"/>
            </a:xfrm>
            <a:prstGeom prst="rect">
              <a:avLst/>
            </a:prstGeom>
            <a:noFill/>
          </p:spPr>
          <p:txBody>
            <a:bodyPr wrap="square" rtlCol="0">
              <a:spAutoFit/>
            </a:bodyPr>
            <a:lstStyle/>
            <a:p>
              <a:r>
                <a:rPr lang="zh-CN" altLang="en-US" sz="2000" dirty="0">
                  <a:latin typeface="华文新魏" pitchFamily="2" charset="-122"/>
                  <a:ea typeface="华文新魏" pitchFamily="2" charset="-122"/>
                </a:rPr>
                <a:t>外延</a:t>
              </a:r>
              <a:r>
                <a:rPr lang="zh-CN" altLang="en-US" sz="2000" dirty="0" smtClean="0">
                  <a:latin typeface="华文新魏" pitchFamily="2" charset="-122"/>
                  <a:ea typeface="华文新魏" pitchFamily="2" charset="-122"/>
                </a:rPr>
                <a:t>定义</a:t>
              </a:r>
              <a:endParaRPr lang="zh-CN" altLang="en-US" sz="2000" dirty="0">
                <a:latin typeface="华文新魏" pitchFamily="2" charset="-122"/>
                <a:ea typeface="华文新魏" pitchFamily="2" charset="-122"/>
              </a:endParaRPr>
            </a:p>
          </p:txBody>
        </p:sp>
      </p:grpSp>
      <p:grpSp>
        <p:nvGrpSpPr>
          <p:cNvPr id="20" name="组合 19"/>
          <p:cNvGrpSpPr/>
          <p:nvPr/>
        </p:nvGrpSpPr>
        <p:grpSpPr>
          <a:xfrm>
            <a:off x="5868144" y="4149080"/>
            <a:ext cx="1224136" cy="864096"/>
            <a:chOff x="1691680" y="4437112"/>
            <a:chExt cx="1224136" cy="864096"/>
          </a:xfrm>
        </p:grpSpPr>
        <p:sp>
          <p:nvSpPr>
            <p:cNvPr id="21" name="波形 20"/>
            <p:cNvSpPr/>
            <p:nvPr/>
          </p:nvSpPr>
          <p:spPr>
            <a:xfrm>
              <a:off x="1691680" y="4437112"/>
              <a:ext cx="1224136" cy="864096"/>
            </a:xfrm>
            <a:prstGeom prst="wav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22" name="TextBox 21"/>
            <p:cNvSpPr txBox="1"/>
            <p:nvPr/>
          </p:nvSpPr>
          <p:spPr>
            <a:xfrm>
              <a:off x="1691680" y="4653136"/>
              <a:ext cx="1224136" cy="400110"/>
            </a:xfrm>
            <a:prstGeom prst="rect">
              <a:avLst/>
            </a:prstGeom>
            <a:noFill/>
          </p:spPr>
          <p:txBody>
            <a:bodyPr wrap="square" rtlCol="0">
              <a:spAutoFit/>
            </a:bodyPr>
            <a:lstStyle/>
            <a:p>
              <a:r>
                <a:rPr lang="zh-CN" altLang="en-US" sz="2000" dirty="0">
                  <a:latin typeface="华文新魏" pitchFamily="2" charset="-122"/>
                  <a:ea typeface="华文新魏" pitchFamily="2" charset="-122"/>
                </a:rPr>
                <a:t>语词</a:t>
              </a:r>
              <a:r>
                <a:rPr lang="zh-CN" altLang="en-US" sz="2000" dirty="0" smtClean="0">
                  <a:latin typeface="华文新魏" pitchFamily="2" charset="-122"/>
                  <a:ea typeface="华文新魏" pitchFamily="2" charset="-122"/>
                </a:rPr>
                <a:t>定义</a:t>
              </a:r>
              <a:endParaRPr lang="zh-CN" altLang="en-US" sz="2000" dirty="0">
                <a:latin typeface="华文新魏" pitchFamily="2" charset="-122"/>
                <a:ea typeface="华文新魏"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heckerboard(across)">
                                      <p:cBhvr>
                                        <p:cTn id="18" dur="500"/>
                                        <p:tgtEl>
                                          <p:spTgt spid="10"/>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checkerboard(across)">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dissolv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ox(in)">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checkerboard(across)">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8" grpId="0" animBg="1"/>
      <p:bldP spid="9" grpId="0" animBg="1"/>
      <p:bldP spid="10" grpId="0" animBg="1"/>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内涵定义</a:t>
            </a:r>
            <a:endParaRPr lang="zh-CN" altLang="en-US" dirty="0">
              <a:latin typeface="华文新魏" pitchFamily="2" charset="-122"/>
              <a:ea typeface="华文新魏" pitchFamily="2" charset="-122"/>
            </a:endParaRPr>
          </a:p>
        </p:txBody>
      </p:sp>
      <p:sp>
        <p:nvSpPr>
          <p:cNvPr id="4" name="TextBox 3"/>
          <p:cNvSpPr txBox="1"/>
          <p:nvPr/>
        </p:nvSpPr>
        <p:spPr>
          <a:xfrm>
            <a:off x="2987824" y="1268760"/>
            <a:ext cx="3312368" cy="400110"/>
          </a:xfrm>
          <a:prstGeom prst="rect">
            <a:avLst/>
          </a:prstGeom>
          <a:noFill/>
        </p:spPr>
        <p:txBody>
          <a:bodyPr wrap="square" rtlCol="0">
            <a:spAutoFit/>
          </a:bodyPr>
          <a:lstStyle/>
          <a:p>
            <a:r>
              <a:rPr lang="zh-CN" altLang="en-US" sz="2000" u="sng" dirty="0" smtClean="0">
                <a:latin typeface="楷体" pitchFamily="49" charset="-122"/>
                <a:ea typeface="楷体" pitchFamily="49" charset="-122"/>
                <a:cs typeface="Times New Roman" pitchFamily="18" charset="0"/>
              </a:rPr>
              <a:t>揭示一个词项的内涵的定义</a:t>
            </a:r>
            <a:endParaRPr lang="zh-CN" altLang="en-US" sz="2000" u="sng" dirty="0">
              <a:latin typeface="楷体" pitchFamily="49" charset="-122"/>
              <a:ea typeface="楷体" pitchFamily="49" charset="-122"/>
            </a:endParaRPr>
          </a:p>
        </p:txBody>
      </p:sp>
      <p:sp>
        <p:nvSpPr>
          <p:cNvPr id="5" name="TextBox 4"/>
          <p:cNvSpPr txBox="1"/>
          <p:nvPr/>
        </p:nvSpPr>
        <p:spPr>
          <a:xfrm>
            <a:off x="1043608" y="1763524"/>
            <a:ext cx="1728192" cy="40011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zh-CN" altLang="en-US" sz="2000" dirty="0" smtClean="0">
                <a:latin typeface="华文行楷" pitchFamily="2" charset="-122"/>
                <a:ea typeface="华文行楷" pitchFamily="2" charset="-122"/>
              </a:rPr>
              <a:t>属加种差定义</a:t>
            </a:r>
            <a:endParaRPr lang="zh-CN" altLang="en-US" sz="2000" dirty="0">
              <a:latin typeface="华文行楷" pitchFamily="2" charset="-122"/>
              <a:ea typeface="华文行楷" pitchFamily="2" charset="-122"/>
            </a:endParaRPr>
          </a:p>
        </p:txBody>
      </p:sp>
      <p:sp>
        <p:nvSpPr>
          <p:cNvPr id="6" name="TextBox 5"/>
          <p:cNvSpPr txBox="1"/>
          <p:nvPr/>
        </p:nvSpPr>
        <p:spPr>
          <a:xfrm>
            <a:off x="3203848" y="1835532"/>
            <a:ext cx="2160240"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被定义项</a:t>
            </a:r>
            <a:r>
              <a:rPr lang="en-US" altLang="zh-CN" dirty="0" smtClean="0">
                <a:latin typeface="华文新魏" pitchFamily="2" charset="-122"/>
                <a:ea typeface="华文新魏" pitchFamily="2" charset="-122"/>
              </a:rPr>
              <a:t>=</a:t>
            </a:r>
            <a:r>
              <a:rPr lang="zh-CN" altLang="en-US" dirty="0" smtClean="0">
                <a:latin typeface="华文新魏" pitchFamily="2" charset="-122"/>
                <a:ea typeface="华文新魏" pitchFamily="2" charset="-122"/>
              </a:rPr>
              <a:t>种差</a:t>
            </a:r>
            <a:r>
              <a:rPr lang="en-US" altLang="zh-CN" dirty="0" smtClean="0">
                <a:latin typeface="华文新魏" pitchFamily="2" charset="-122"/>
                <a:ea typeface="华文新魏" pitchFamily="2" charset="-122"/>
              </a:rPr>
              <a:t>+</a:t>
            </a:r>
            <a:r>
              <a:rPr lang="zh-CN" altLang="en-US" dirty="0" smtClean="0">
                <a:latin typeface="华文新魏" pitchFamily="2" charset="-122"/>
                <a:ea typeface="华文新魏" pitchFamily="2" charset="-122"/>
              </a:rPr>
              <a:t>属</a:t>
            </a:r>
            <a:endParaRPr lang="zh-CN" altLang="en-US" dirty="0">
              <a:latin typeface="华文新魏" pitchFamily="2" charset="-122"/>
              <a:ea typeface="华文新魏" pitchFamily="2" charset="-122"/>
            </a:endParaRPr>
          </a:p>
        </p:txBody>
      </p:sp>
      <p:sp>
        <p:nvSpPr>
          <p:cNvPr id="7" name="TextBox 6"/>
          <p:cNvSpPr txBox="1"/>
          <p:nvPr/>
        </p:nvSpPr>
        <p:spPr>
          <a:xfrm>
            <a:off x="3203848" y="2267580"/>
            <a:ext cx="5256584" cy="369332"/>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哺乳动物就是以分泌乳汁喂养初生后代的脊椎动物。</a:t>
            </a:r>
            <a:endParaRPr lang="zh-CN" altLang="en-US" dirty="0">
              <a:latin typeface="楷体" pitchFamily="49" charset="-122"/>
              <a:ea typeface="楷体" pitchFamily="49" charset="-122"/>
            </a:endParaRPr>
          </a:p>
        </p:txBody>
      </p:sp>
      <p:sp>
        <p:nvSpPr>
          <p:cNvPr id="8" name="TextBox 7"/>
          <p:cNvSpPr txBox="1"/>
          <p:nvPr/>
        </p:nvSpPr>
        <p:spPr>
          <a:xfrm>
            <a:off x="2411760" y="2276872"/>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21" name="TextBox 20"/>
          <p:cNvSpPr txBox="1"/>
          <p:nvPr/>
        </p:nvSpPr>
        <p:spPr>
          <a:xfrm>
            <a:off x="1043608" y="3061409"/>
            <a:ext cx="1152128" cy="369332"/>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zh-CN" altLang="en-US" dirty="0">
                <a:latin typeface="华文行楷" pitchFamily="2" charset="-122"/>
                <a:ea typeface="华文行楷" pitchFamily="2" charset="-122"/>
              </a:rPr>
              <a:t>操作</a:t>
            </a:r>
            <a:r>
              <a:rPr lang="zh-CN" altLang="en-US" dirty="0" smtClean="0">
                <a:latin typeface="华文行楷" pitchFamily="2" charset="-122"/>
                <a:ea typeface="华文行楷" pitchFamily="2" charset="-122"/>
              </a:rPr>
              <a:t>定义</a:t>
            </a:r>
            <a:endParaRPr lang="zh-CN" altLang="en-US" dirty="0">
              <a:latin typeface="华文行楷" pitchFamily="2" charset="-122"/>
              <a:ea typeface="华文行楷" pitchFamily="2" charset="-122"/>
            </a:endParaRPr>
          </a:p>
        </p:txBody>
      </p:sp>
      <p:sp>
        <p:nvSpPr>
          <p:cNvPr id="22" name="TextBox 21"/>
          <p:cNvSpPr txBox="1"/>
          <p:nvPr/>
        </p:nvSpPr>
        <p:spPr>
          <a:xfrm>
            <a:off x="3203848" y="2926685"/>
            <a:ext cx="5328592" cy="646331"/>
          </a:xfrm>
          <a:prstGeom prst="rect">
            <a:avLst/>
          </a:prstGeom>
          <a:noFill/>
        </p:spPr>
        <p:txBody>
          <a:bodyPr wrap="square" rtlCol="0">
            <a:spAutoFit/>
          </a:bodyPr>
          <a:lstStyle/>
          <a:p>
            <a:r>
              <a:rPr lang="zh-CN" altLang="en-US" dirty="0" smtClean="0">
                <a:latin typeface="华文新魏" pitchFamily="2" charset="-122"/>
                <a:ea typeface="华文新魏" pitchFamily="2" charset="-122"/>
                <a:cs typeface="Times New Roman" pitchFamily="18" charset="0"/>
              </a:rPr>
              <a:t>通过对一整套相关的操作程序的描述来对被定义项下定义</a:t>
            </a:r>
            <a:endParaRPr lang="zh-CN" altLang="en-US" dirty="0">
              <a:latin typeface="华文新魏" pitchFamily="2" charset="-122"/>
              <a:ea typeface="华文新魏" pitchFamily="2" charset="-122"/>
            </a:endParaRPr>
          </a:p>
        </p:txBody>
      </p:sp>
      <p:sp>
        <p:nvSpPr>
          <p:cNvPr id="23" name="TextBox 22"/>
          <p:cNvSpPr txBox="1"/>
          <p:nvPr/>
        </p:nvSpPr>
        <p:spPr>
          <a:xfrm>
            <a:off x="3203848" y="3574757"/>
            <a:ext cx="5472608" cy="646331"/>
          </a:xfrm>
          <a:prstGeom prst="rect">
            <a:avLst/>
          </a:prstGeom>
          <a:noFill/>
        </p:spPr>
        <p:txBody>
          <a:bodyPr wrap="square" rtlCol="0">
            <a:spAutoFit/>
          </a:bodyPr>
          <a:lstStyle/>
          <a:p>
            <a:r>
              <a:rPr lang="en-US" altLang="zh-CN" dirty="0" smtClean="0">
                <a:latin typeface="Times New Roman" pitchFamily="18" charset="0"/>
                <a:ea typeface="华文楷体" pitchFamily="2" charset="-122"/>
                <a:cs typeface="Times New Roman" pitchFamily="18" charset="0"/>
              </a:rPr>
              <a:t>x</a:t>
            </a:r>
            <a:r>
              <a:rPr lang="zh-CN" altLang="en-US" dirty="0" smtClean="0">
                <a:latin typeface="Times New Roman" pitchFamily="18" charset="0"/>
                <a:ea typeface="华文楷体" pitchFamily="2" charset="-122"/>
                <a:cs typeface="Times New Roman" pitchFamily="18" charset="0"/>
              </a:rPr>
              <a:t>是酸类，如果将</a:t>
            </a:r>
            <a:r>
              <a:rPr lang="en-US" altLang="zh-CN" dirty="0" smtClean="0">
                <a:latin typeface="Times New Roman" pitchFamily="18" charset="0"/>
                <a:ea typeface="华文楷体" pitchFamily="2" charset="-122"/>
                <a:cs typeface="Times New Roman" pitchFamily="18" charset="0"/>
              </a:rPr>
              <a:t>x</a:t>
            </a:r>
            <a:r>
              <a:rPr lang="zh-CN" altLang="en-US" dirty="0" smtClean="0">
                <a:latin typeface="Times New Roman" pitchFamily="18" charset="0"/>
                <a:ea typeface="华文楷体" pitchFamily="2" charset="-122"/>
                <a:cs typeface="Times New Roman" pitchFamily="18" charset="0"/>
              </a:rPr>
              <a:t>与石蕊试纸接触，石蕊试纸就呈现出红色</a:t>
            </a:r>
            <a:r>
              <a:rPr lang="zh-CN" altLang="en-US" dirty="0" smtClean="0">
                <a:latin typeface="Times New Roman" pitchFamily="18" charset="0"/>
                <a:cs typeface="Times New Roman" pitchFamily="18" charset="0"/>
              </a:rPr>
              <a:t>。</a:t>
            </a:r>
            <a:endParaRPr lang="zh-CN" altLang="en-US" dirty="0"/>
          </a:p>
        </p:txBody>
      </p:sp>
      <p:sp>
        <p:nvSpPr>
          <p:cNvPr id="24" name="TextBox 23"/>
          <p:cNvSpPr txBox="1"/>
          <p:nvPr/>
        </p:nvSpPr>
        <p:spPr>
          <a:xfrm>
            <a:off x="1043608" y="4581128"/>
            <a:ext cx="1152128" cy="369332"/>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zh-CN" altLang="en-US" dirty="0">
                <a:latin typeface="华文行楷" pitchFamily="2" charset="-122"/>
                <a:ea typeface="华文行楷" pitchFamily="2" charset="-122"/>
              </a:rPr>
              <a:t>语境</a:t>
            </a:r>
            <a:r>
              <a:rPr lang="zh-CN" altLang="en-US" dirty="0" smtClean="0">
                <a:latin typeface="华文行楷" pitchFamily="2" charset="-122"/>
                <a:ea typeface="华文行楷" pitchFamily="2" charset="-122"/>
              </a:rPr>
              <a:t>定义</a:t>
            </a:r>
            <a:endParaRPr lang="zh-CN" altLang="en-US" dirty="0">
              <a:latin typeface="华文行楷" pitchFamily="2" charset="-122"/>
              <a:ea typeface="华文行楷" pitchFamily="2" charset="-122"/>
            </a:endParaRPr>
          </a:p>
        </p:txBody>
      </p:sp>
      <p:sp>
        <p:nvSpPr>
          <p:cNvPr id="26" name="TextBox 25"/>
          <p:cNvSpPr txBox="1"/>
          <p:nvPr/>
        </p:nvSpPr>
        <p:spPr>
          <a:xfrm>
            <a:off x="2411760" y="3565465"/>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27" name="TextBox 26"/>
          <p:cNvSpPr txBox="1"/>
          <p:nvPr/>
        </p:nvSpPr>
        <p:spPr>
          <a:xfrm>
            <a:off x="3203848" y="4449886"/>
            <a:ext cx="5616624" cy="923330"/>
          </a:xfrm>
          <a:prstGeom prst="rect">
            <a:avLst/>
          </a:prstGeom>
          <a:noFill/>
        </p:spPr>
        <p:txBody>
          <a:bodyPr wrap="square" rtlCol="0">
            <a:spAutoFit/>
          </a:bodyPr>
          <a:lstStyle/>
          <a:p>
            <a:pPr marL="0" lvl="1"/>
            <a:r>
              <a:rPr lang="zh-CN" altLang="en-US" dirty="0" smtClean="0">
                <a:latin typeface="华文新魏" pitchFamily="2" charset="-122"/>
                <a:ea typeface="华文新魏" pitchFamily="2" charset="-122"/>
                <a:cs typeface="Times New Roman" pitchFamily="18" charset="0"/>
              </a:rPr>
              <a:t>指不属于属加种差定义的关系定义，对于有些关系概念，常常采取、有时候也只能采取这种定义形式</a:t>
            </a:r>
          </a:p>
          <a:p>
            <a:endParaRPr lang="zh-CN" altLang="en-US" dirty="0"/>
          </a:p>
        </p:txBody>
      </p:sp>
      <p:sp>
        <p:nvSpPr>
          <p:cNvPr id="28" name="TextBox 27"/>
          <p:cNvSpPr txBox="1"/>
          <p:nvPr/>
        </p:nvSpPr>
        <p:spPr>
          <a:xfrm>
            <a:off x="2411760" y="5085184"/>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29" name="TextBox 28"/>
          <p:cNvSpPr txBox="1"/>
          <p:nvPr/>
        </p:nvSpPr>
        <p:spPr>
          <a:xfrm>
            <a:off x="3203848" y="5097958"/>
            <a:ext cx="5544616" cy="923330"/>
          </a:xfrm>
          <a:prstGeom prst="rect">
            <a:avLst/>
          </a:prstGeom>
          <a:noFill/>
        </p:spPr>
        <p:txBody>
          <a:bodyPr wrap="square" rtlCol="0">
            <a:spAutoFit/>
          </a:bodyPr>
          <a:lstStyle/>
          <a:p>
            <a:pPr marL="0" lvl="1"/>
            <a:r>
              <a:rPr lang="en-US" altLang="zh-CN" dirty="0" smtClean="0">
                <a:latin typeface="楷体" pitchFamily="49" charset="-122"/>
                <a:ea typeface="楷体" pitchFamily="49" charset="-122"/>
                <a:cs typeface="Times New Roman" pitchFamily="18" charset="0"/>
              </a:rPr>
              <a:t>x</a:t>
            </a:r>
            <a:r>
              <a:rPr lang="zh-CN" altLang="en-US" dirty="0" smtClean="0">
                <a:latin typeface="楷体" pitchFamily="49" charset="-122"/>
                <a:ea typeface="楷体" pitchFamily="49" charset="-122"/>
                <a:cs typeface="Times New Roman" pitchFamily="18" charset="0"/>
              </a:rPr>
              <a:t>是一位祖父，当且仅当，存在一个</a:t>
            </a:r>
            <a:r>
              <a:rPr lang="en-US" altLang="zh-CN" dirty="0" smtClean="0">
                <a:latin typeface="楷体" pitchFamily="49" charset="-122"/>
                <a:ea typeface="楷体" pitchFamily="49" charset="-122"/>
                <a:cs typeface="Times New Roman" pitchFamily="18" charset="0"/>
              </a:rPr>
              <a:t>y</a:t>
            </a:r>
            <a:r>
              <a:rPr lang="zh-CN" altLang="en-US" dirty="0" smtClean="0">
                <a:latin typeface="楷体" pitchFamily="49" charset="-122"/>
                <a:ea typeface="楷体" pitchFamily="49" charset="-122"/>
                <a:cs typeface="Times New Roman" pitchFamily="18" charset="0"/>
              </a:rPr>
              <a:t>，并且存在一个</a:t>
            </a:r>
            <a:r>
              <a:rPr lang="en-US" altLang="zh-CN" dirty="0" smtClean="0">
                <a:latin typeface="楷体" pitchFamily="49" charset="-122"/>
                <a:ea typeface="楷体" pitchFamily="49" charset="-122"/>
                <a:cs typeface="Times New Roman" pitchFamily="18" charset="0"/>
              </a:rPr>
              <a:t>z</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x</a:t>
            </a:r>
            <a:r>
              <a:rPr lang="zh-CN" altLang="en-US" dirty="0" smtClean="0">
                <a:latin typeface="楷体" pitchFamily="49" charset="-122"/>
                <a:ea typeface="楷体" pitchFamily="49" charset="-122"/>
                <a:cs typeface="Times New Roman" pitchFamily="18" charset="0"/>
              </a:rPr>
              <a:t>是</a:t>
            </a:r>
            <a:r>
              <a:rPr lang="en-US" altLang="zh-CN" dirty="0" smtClean="0">
                <a:latin typeface="楷体" pitchFamily="49" charset="-122"/>
                <a:ea typeface="楷体" pitchFamily="49" charset="-122"/>
                <a:cs typeface="Times New Roman" pitchFamily="18" charset="0"/>
              </a:rPr>
              <a:t>y</a:t>
            </a:r>
            <a:r>
              <a:rPr lang="zh-CN" altLang="en-US" dirty="0" smtClean="0">
                <a:latin typeface="楷体" pitchFamily="49" charset="-122"/>
                <a:ea typeface="楷体" pitchFamily="49" charset="-122"/>
                <a:cs typeface="Times New Roman" pitchFamily="18" charset="0"/>
              </a:rPr>
              <a:t>的父亲，并且</a:t>
            </a:r>
            <a:r>
              <a:rPr lang="en-US" altLang="zh-CN" dirty="0" smtClean="0">
                <a:latin typeface="楷体" pitchFamily="49" charset="-122"/>
                <a:ea typeface="楷体" pitchFamily="49" charset="-122"/>
                <a:cs typeface="Times New Roman" pitchFamily="18" charset="0"/>
              </a:rPr>
              <a:t>y</a:t>
            </a:r>
            <a:r>
              <a:rPr lang="zh-CN" altLang="en-US" dirty="0" smtClean="0">
                <a:latin typeface="楷体" pitchFamily="49" charset="-122"/>
                <a:ea typeface="楷体" pitchFamily="49" charset="-122"/>
                <a:cs typeface="Times New Roman" pitchFamily="18" charset="0"/>
              </a:rPr>
              <a:t>是</a:t>
            </a:r>
            <a:r>
              <a:rPr lang="en-US" altLang="zh-CN" dirty="0" smtClean="0">
                <a:latin typeface="楷体" pitchFamily="49" charset="-122"/>
                <a:ea typeface="楷体" pitchFamily="49" charset="-122"/>
                <a:cs typeface="Times New Roman" pitchFamily="18" charset="0"/>
              </a:rPr>
              <a:t>z</a:t>
            </a:r>
            <a:r>
              <a:rPr lang="zh-CN" altLang="en-US" dirty="0" smtClean="0">
                <a:latin typeface="楷体" pitchFamily="49" charset="-122"/>
                <a:ea typeface="楷体" pitchFamily="49" charset="-122"/>
                <a:cs typeface="Times New Roman" pitchFamily="18" charset="0"/>
              </a:rPr>
              <a:t>的父亲。</a:t>
            </a:r>
          </a:p>
          <a:p>
            <a:endParaRPr lang="zh-CN" altLang="en-US" dirty="0"/>
          </a:p>
        </p:txBody>
      </p:sp>
      <p:sp>
        <p:nvSpPr>
          <p:cNvPr id="30" name="五角星 29"/>
          <p:cNvSpPr/>
          <p:nvPr/>
        </p:nvSpPr>
        <p:spPr>
          <a:xfrm>
            <a:off x="395536" y="1772816"/>
            <a:ext cx="360040" cy="360040"/>
          </a:xfrm>
          <a:prstGeom prst="star5">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anim calcmode="lin" valueType="num">
                                      <p:cBhvr>
                                        <p:cTn id="29" dur="500" fill="hold"/>
                                        <p:tgtEl>
                                          <p:spTgt spid="21"/>
                                        </p:tgtEl>
                                        <p:attrNameLst>
                                          <p:attrName>ppt_x</p:attrName>
                                        </p:attrNameLst>
                                      </p:cBhvr>
                                      <p:tavLst>
                                        <p:tav tm="0">
                                          <p:val>
                                            <p:strVal val="#ppt_x"/>
                                          </p:val>
                                        </p:tav>
                                        <p:tav tm="100000">
                                          <p:val>
                                            <p:strVal val="#ppt_x"/>
                                          </p:val>
                                        </p:tav>
                                      </p:tavLst>
                                    </p:anim>
                                    <p:anim calcmode="lin" valueType="num">
                                      <p:cBhvr>
                                        <p:cTn id="30"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checkerboard(across)">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dissolve">
                                      <p:cBhvr>
                                        <p:cTn id="40" dur="500"/>
                                        <p:tgtEl>
                                          <p:spTgt spid="2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dissolve">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checkerboard(across)">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blinds(horizontal)">
                                      <p:cBhvr>
                                        <p:cTn id="58" dur="500"/>
                                        <p:tgtEl>
                                          <p:spTgt spid="28"/>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blinds(horizont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box(in)">
                                      <p:cBhvr>
                                        <p:cTn id="6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P spid="21" grpId="0" animBg="1"/>
      <p:bldP spid="22" grpId="0"/>
      <p:bldP spid="23" grpId="0"/>
      <p:bldP spid="24" grpId="0" animBg="1"/>
      <p:bldP spid="26" grpId="0"/>
      <p:bldP spid="27" grpId="0"/>
      <p:bldP spid="28" grpId="0"/>
      <p:bldP spid="29" grpId="0"/>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属加种差定义</a:t>
            </a:r>
            <a:endParaRPr lang="zh-CN" altLang="en-US" dirty="0">
              <a:latin typeface="华文新魏" pitchFamily="2" charset="-122"/>
              <a:ea typeface="华文新魏" pitchFamily="2" charset="-122"/>
            </a:endParaRPr>
          </a:p>
        </p:txBody>
      </p:sp>
      <p:sp>
        <p:nvSpPr>
          <p:cNvPr id="4" name="TextBox 3"/>
          <p:cNvSpPr txBox="1"/>
          <p:nvPr/>
        </p:nvSpPr>
        <p:spPr>
          <a:xfrm>
            <a:off x="3275856" y="1340768"/>
            <a:ext cx="2736304" cy="430887"/>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zh-CN" altLang="en-US" sz="2200" dirty="0" smtClean="0">
                <a:latin typeface="华文行楷" pitchFamily="2" charset="-122"/>
                <a:ea typeface="华文行楷" pitchFamily="2" charset="-122"/>
              </a:rPr>
              <a:t>被定义项 </a:t>
            </a:r>
            <a:r>
              <a:rPr lang="en-US" altLang="zh-CN" sz="2200" dirty="0" smtClean="0">
                <a:latin typeface="华文行楷" pitchFamily="2" charset="-122"/>
                <a:ea typeface="华文行楷" pitchFamily="2" charset="-122"/>
              </a:rPr>
              <a:t>= </a:t>
            </a:r>
            <a:r>
              <a:rPr lang="zh-CN" altLang="en-US" sz="2200" dirty="0" smtClean="0">
                <a:latin typeface="华文行楷" pitchFamily="2" charset="-122"/>
                <a:ea typeface="华文行楷" pitchFamily="2" charset="-122"/>
              </a:rPr>
              <a:t>种差</a:t>
            </a:r>
            <a:r>
              <a:rPr lang="en-US" altLang="zh-CN" sz="2200" dirty="0" smtClean="0">
                <a:latin typeface="华文行楷" pitchFamily="2" charset="-122"/>
                <a:ea typeface="华文行楷" pitchFamily="2" charset="-122"/>
              </a:rPr>
              <a:t>+ </a:t>
            </a:r>
            <a:r>
              <a:rPr lang="zh-CN" altLang="en-US" sz="2200" dirty="0" smtClean="0">
                <a:latin typeface="华文行楷" pitchFamily="2" charset="-122"/>
                <a:ea typeface="华文行楷" pitchFamily="2" charset="-122"/>
              </a:rPr>
              <a:t>属</a:t>
            </a:r>
            <a:endParaRPr lang="zh-CN" altLang="en-US" sz="2200" dirty="0">
              <a:latin typeface="华文行楷" pitchFamily="2" charset="-122"/>
              <a:ea typeface="华文行楷" pitchFamily="2" charset="-122"/>
            </a:endParaRPr>
          </a:p>
        </p:txBody>
      </p:sp>
      <p:sp>
        <p:nvSpPr>
          <p:cNvPr id="5" name="TextBox 4"/>
          <p:cNvSpPr txBox="1"/>
          <p:nvPr/>
        </p:nvSpPr>
        <p:spPr>
          <a:xfrm>
            <a:off x="1043608" y="2195572"/>
            <a:ext cx="1152128" cy="369332"/>
          </a:xfrm>
          <a:prstGeom prst="rect">
            <a:avLst/>
          </a:prstGeom>
          <a:noFill/>
          <a:ln w="28575">
            <a:solidFill>
              <a:srgbClr val="7030A0"/>
            </a:solidFill>
            <a:prstDash val="sysDot"/>
          </a:ln>
        </p:spPr>
        <p:txBody>
          <a:bodyPr wrap="square" rtlCol="0">
            <a:spAutoFit/>
          </a:bodyPr>
          <a:lstStyle/>
          <a:p>
            <a:r>
              <a:rPr lang="zh-CN" altLang="en-US" dirty="0">
                <a:latin typeface="华文行楷" pitchFamily="2" charset="-122"/>
                <a:ea typeface="华文行楷" pitchFamily="2" charset="-122"/>
              </a:rPr>
              <a:t>发生</a:t>
            </a:r>
            <a:r>
              <a:rPr lang="zh-CN" altLang="en-US" dirty="0" smtClean="0">
                <a:latin typeface="华文行楷" pitchFamily="2" charset="-122"/>
                <a:ea typeface="华文行楷" pitchFamily="2" charset="-122"/>
              </a:rPr>
              <a:t>定义</a:t>
            </a:r>
            <a:endParaRPr lang="zh-CN" altLang="en-US" dirty="0">
              <a:latin typeface="华文行楷" pitchFamily="2" charset="-122"/>
              <a:ea typeface="华文行楷" pitchFamily="2" charset="-122"/>
            </a:endParaRPr>
          </a:p>
        </p:txBody>
      </p:sp>
      <p:sp>
        <p:nvSpPr>
          <p:cNvPr id="6" name="TextBox 5"/>
          <p:cNvSpPr txBox="1"/>
          <p:nvPr/>
        </p:nvSpPr>
        <p:spPr>
          <a:xfrm>
            <a:off x="1979712" y="2636912"/>
            <a:ext cx="864096" cy="369332"/>
          </a:xfrm>
          <a:prstGeom prst="rect">
            <a:avLst/>
          </a:prstGeom>
          <a:noFill/>
        </p:spPr>
        <p:txBody>
          <a:bodyPr wrap="square" rtlCol="0">
            <a:spAutoFit/>
          </a:bodyPr>
          <a:lstStyle/>
          <a:p>
            <a:r>
              <a:rPr lang="zh-CN" altLang="en-US" b="1" u="sng" dirty="0" smtClean="0">
                <a:solidFill>
                  <a:srgbClr val="00B050"/>
                </a:solidFill>
                <a:latin typeface="华文行楷" pitchFamily="2" charset="-122"/>
                <a:ea typeface="华文行楷" pitchFamily="2" charset="-122"/>
              </a:rPr>
              <a:t>例如：</a:t>
            </a:r>
            <a:endParaRPr lang="zh-CN" altLang="en-US" b="1" u="sng" dirty="0">
              <a:solidFill>
                <a:srgbClr val="00B050"/>
              </a:solidFill>
              <a:latin typeface="华文行楷" pitchFamily="2" charset="-122"/>
              <a:ea typeface="华文行楷" pitchFamily="2" charset="-122"/>
            </a:endParaRPr>
          </a:p>
        </p:txBody>
      </p:sp>
      <p:sp>
        <p:nvSpPr>
          <p:cNvPr id="7" name="TextBox 6"/>
          <p:cNvSpPr txBox="1"/>
          <p:nvPr/>
        </p:nvSpPr>
        <p:spPr>
          <a:xfrm>
            <a:off x="2915816" y="2062589"/>
            <a:ext cx="5616624" cy="646331"/>
          </a:xfrm>
          <a:prstGeom prst="rect">
            <a:avLst/>
          </a:prstGeom>
          <a:noFill/>
        </p:spPr>
        <p:txBody>
          <a:bodyPr wrap="square" rtlCol="0">
            <a:spAutoFit/>
          </a:bodyPr>
          <a:lstStyle/>
          <a:p>
            <a:r>
              <a:rPr lang="zh-CN" altLang="en-US" dirty="0" smtClean="0">
                <a:latin typeface="华文新魏" pitchFamily="2" charset="-122"/>
                <a:ea typeface="华文新魏" pitchFamily="2" charset="-122"/>
                <a:cs typeface="Times New Roman" pitchFamily="18" charset="0"/>
              </a:rPr>
              <a:t>从被定义概念所代表、指称的事物的发生、来源方面揭示种差的定义形式</a:t>
            </a:r>
            <a:endParaRPr lang="zh-CN" altLang="en-US" dirty="0">
              <a:latin typeface="华文新魏" pitchFamily="2" charset="-122"/>
              <a:ea typeface="华文新魏" pitchFamily="2" charset="-122"/>
            </a:endParaRPr>
          </a:p>
        </p:txBody>
      </p:sp>
      <p:sp>
        <p:nvSpPr>
          <p:cNvPr id="8" name="TextBox 7"/>
          <p:cNvSpPr txBox="1"/>
          <p:nvPr/>
        </p:nvSpPr>
        <p:spPr>
          <a:xfrm>
            <a:off x="2915816" y="2636912"/>
            <a:ext cx="5544616"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核能，亦称原子能，指在核反应过程种，原子核结构发生变化所释放出来的能量。</a:t>
            </a:r>
            <a:endParaRPr lang="zh-CN" altLang="en-US" dirty="0">
              <a:latin typeface="楷体" pitchFamily="49" charset="-122"/>
              <a:ea typeface="楷体" pitchFamily="49" charset="-122"/>
            </a:endParaRPr>
          </a:p>
        </p:txBody>
      </p:sp>
      <p:sp>
        <p:nvSpPr>
          <p:cNvPr id="9" name="TextBox 8"/>
          <p:cNvSpPr txBox="1"/>
          <p:nvPr/>
        </p:nvSpPr>
        <p:spPr>
          <a:xfrm>
            <a:off x="1043608" y="3501008"/>
            <a:ext cx="1152128" cy="369332"/>
          </a:xfrm>
          <a:prstGeom prst="rect">
            <a:avLst/>
          </a:prstGeom>
          <a:noFill/>
          <a:ln w="28575">
            <a:solidFill>
              <a:srgbClr val="7030A0"/>
            </a:solidFill>
            <a:prstDash val="sysDot"/>
          </a:ln>
        </p:spPr>
        <p:txBody>
          <a:bodyPr wrap="square" rtlCol="0">
            <a:spAutoFit/>
          </a:bodyPr>
          <a:lstStyle/>
          <a:p>
            <a:r>
              <a:rPr lang="zh-CN" altLang="en-US" dirty="0">
                <a:latin typeface="华文行楷" pitchFamily="2" charset="-122"/>
                <a:ea typeface="华文行楷" pitchFamily="2" charset="-122"/>
              </a:rPr>
              <a:t>功用</a:t>
            </a:r>
            <a:r>
              <a:rPr lang="zh-CN" altLang="en-US" dirty="0" smtClean="0">
                <a:latin typeface="华文行楷" pitchFamily="2" charset="-122"/>
                <a:ea typeface="华文行楷" pitchFamily="2" charset="-122"/>
              </a:rPr>
              <a:t>定义</a:t>
            </a:r>
            <a:endParaRPr lang="zh-CN" altLang="en-US" dirty="0">
              <a:latin typeface="华文行楷" pitchFamily="2" charset="-122"/>
              <a:ea typeface="华文行楷" pitchFamily="2" charset="-122"/>
            </a:endParaRPr>
          </a:p>
        </p:txBody>
      </p:sp>
      <p:sp>
        <p:nvSpPr>
          <p:cNvPr id="10" name="TextBox 9"/>
          <p:cNvSpPr txBox="1"/>
          <p:nvPr/>
        </p:nvSpPr>
        <p:spPr>
          <a:xfrm>
            <a:off x="1979712" y="3933056"/>
            <a:ext cx="864096" cy="369332"/>
          </a:xfrm>
          <a:prstGeom prst="rect">
            <a:avLst/>
          </a:prstGeom>
          <a:noFill/>
        </p:spPr>
        <p:txBody>
          <a:bodyPr wrap="square" rtlCol="0">
            <a:spAutoFit/>
          </a:bodyPr>
          <a:lstStyle/>
          <a:p>
            <a:r>
              <a:rPr lang="zh-CN" altLang="en-US" b="1" u="sng" dirty="0" smtClean="0">
                <a:solidFill>
                  <a:srgbClr val="00B050"/>
                </a:solidFill>
                <a:latin typeface="华文行楷" pitchFamily="2" charset="-122"/>
                <a:ea typeface="华文行楷" pitchFamily="2" charset="-122"/>
              </a:rPr>
              <a:t>例如：</a:t>
            </a:r>
            <a:endParaRPr lang="zh-CN" altLang="en-US" b="1" u="sng" dirty="0">
              <a:solidFill>
                <a:srgbClr val="00B050"/>
              </a:solidFill>
              <a:latin typeface="华文行楷" pitchFamily="2" charset="-122"/>
              <a:ea typeface="华文行楷" pitchFamily="2" charset="-122"/>
            </a:endParaRPr>
          </a:p>
        </p:txBody>
      </p:sp>
      <p:sp>
        <p:nvSpPr>
          <p:cNvPr id="11" name="TextBox 10"/>
          <p:cNvSpPr txBox="1"/>
          <p:nvPr/>
        </p:nvSpPr>
        <p:spPr>
          <a:xfrm>
            <a:off x="1043608" y="4797152"/>
            <a:ext cx="1152128" cy="369332"/>
          </a:xfrm>
          <a:prstGeom prst="rect">
            <a:avLst/>
          </a:prstGeom>
          <a:noFill/>
          <a:ln w="28575">
            <a:solidFill>
              <a:schemeClr val="tx1"/>
            </a:solidFill>
            <a:prstDash val="sysDot"/>
          </a:ln>
        </p:spPr>
        <p:txBody>
          <a:bodyPr wrap="square" rtlCol="0">
            <a:spAutoFit/>
          </a:bodyPr>
          <a:lstStyle/>
          <a:p>
            <a:r>
              <a:rPr lang="zh-CN" altLang="en-US" dirty="0">
                <a:latin typeface="华文行楷" pitchFamily="2" charset="-122"/>
                <a:ea typeface="华文行楷" pitchFamily="2" charset="-122"/>
              </a:rPr>
              <a:t>关系</a:t>
            </a:r>
            <a:r>
              <a:rPr lang="zh-CN" altLang="en-US" dirty="0" smtClean="0">
                <a:latin typeface="华文行楷" pitchFamily="2" charset="-122"/>
                <a:ea typeface="华文行楷" pitchFamily="2" charset="-122"/>
              </a:rPr>
              <a:t>定义</a:t>
            </a:r>
            <a:endParaRPr lang="zh-CN" altLang="en-US" dirty="0">
              <a:latin typeface="华文行楷" pitchFamily="2" charset="-122"/>
              <a:ea typeface="华文行楷" pitchFamily="2" charset="-122"/>
            </a:endParaRPr>
          </a:p>
        </p:txBody>
      </p:sp>
      <p:sp>
        <p:nvSpPr>
          <p:cNvPr id="12" name="TextBox 11"/>
          <p:cNvSpPr txBox="1"/>
          <p:nvPr/>
        </p:nvSpPr>
        <p:spPr>
          <a:xfrm>
            <a:off x="1979712" y="5238492"/>
            <a:ext cx="864096" cy="369332"/>
          </a:xfrm>
          <a:prstGeom prst="rect">
            <a:avLst/>
          </a:prstGeom>
          <a:noFill/>
        </p:spPr>
        <p:txBody>
          <a:bodyPr wrap="square" rtlCol="0">
            <a:spAutoFit/>
          </a:bodyPr>
          <a:lstStyle/>
          <a:p>
            <a:r>
              <a:rPr lang="zh-CN" altLang="en-US" b="1" u="sng" dirty="0" smtClean="0">
                <a:solidFill>
                  <a:srgbClr val="00B050"/>
                </a:solidFill>
                <a:latin typeface="华文行楷" pitchFamily="2" charset="-122"/>
                <a:ea typeface="华文行楷" pitchFamily="2" charset="-122"/>
              </a:rPr>
              <a:t>例如：</a:t>
            </a:r>
            <a:endParaRPr lang="zh-CN" altLang="en-US" b="1" u="sng" dirty="0">
              <a:solidFill>
                <a:srgbClr val="00B050"/>
              </a:solidFill>
              <a:latin typeface="华文行楷" pitchFamily="2" charset="-122"/>
              <a:ea typeface="华文行楷" pitchFamily="2" charset="-122"/>
            </a:endParaRPr>
          </a:p>
        </p:txBody>
      </p:sp>
      <p:sp>
        <p:nvSpPr>
          <p:cNvPr id="13" name="TextBox 12"/>
          <p:cNvSpPr txBox="1"/>
          <p:nvPr/>
        </p:nvSpPr>
        <p:spPr>
          <a:xfrm>
            <a:off x="2915816" y="3563724"/>
            <a:ext cx="5616624"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cs typeface="Times New Roman" pitchFamily="18" charset="0"/>
              </a:rPr>
              <a:t>以某种事物的特殊用途作为种差的定义形式</a:t>
            </a:r>
            <a:endParaRPr lang="zh-CN" altLang="en-US" dirty="0">
              <a:latin typeface="华文新魏" pitchFamily="2" charset="-122"/>
              <a:ea typeface="华文新魏" pitchFamily="2" charset="-122"/>
            </a:endParaRPr>
          </a:p>
        </p:txBody>
      </p:sp>
      <p:sp>
        <p:nvSpPr>
          <p:cNvPr id="14" name="TextBox 13"/>
          <p:cNvSpPr txBox="1"/>
          <p:nvPr/>
        </p:nvSpPr>
        <p:spPr>
          <a:xfrm>
            <a:off x="2915816" y="3934797"/>
            <a:ext cx="5472608"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粒子对撞机是一种通过两束相向运动的粒子束对撞的方法提高粒子有效相互作用能量的实验装置。</a:t>
            </a:r>
            <a:endParaRPr lang="zh-CN" altLang="en-US" dirty="0">
              <a:latin typeface="楷体" pitchFamily="49" charset="-122"/>
              <a:ea typeface="楷体" pitchFamily="49" charset="-122"/>
            </a:endParaRPr>
          </a:p>
        </p:txBody>
      </p:sp>
      <p:sp>
        <p:nvSpPr>
          <p:cNvPr id="15" name="TextBox 14"/>
          <p:cNvSpPr txBox="1"/>
          <p:nvPr/>
        </p:nvSpPr>
        <p:spPr>
          <a:xfrm>
            <a:off x="2915816" y="4878452"/>
            <a:ext cx="4320480"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cs typeface="Times New Roman" pitchFamily="18" charset="0"/>
              </a:rPr>
              <a:t>以事物之间的特殊关系作为种差的定义</a:t>
            </a:r>
            <a:endParaRPr lang="zh-CN" altLang="en-US" dirty="0">
              <a:latin typeface="华文新魏" pitchFamily="2" charset="-122"/>
              <a:ea typeface="华文新魏" pitchFamily="2" charset="-122"/>
            </a:endParaRPr>
          </a:p>
        </p:txBody>
      </p:sp>
      <p:sp>
        <p:nvSpPr>
          <p:cNvPr id="16" name="TextBox 15"/>
          <p:cNvSpPr txBox="1"/>
          <p:nvPr/>
        </p:nvSpPr>
        <p:spPr>
          <a:xfrm>
            <a:off x="2915816" y="5247784"/>
            <a:ext cx="5616624"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素数，亦称“质数”，指只能被</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和自身整除的大于</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的自然数。</a:t>
            </a:r>
            <a:endParaRPr lang="zh-CN" altLang="en-US" dirty="0">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ox(in)">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dissolve">
                                      <p:cBhvr>
                                        <p:cTn id="41" dur="500"/>
                                        <p:tgtEl>
                                          <p:spTgt spid="10"/>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dissolv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strVal val="#ppt_w*0.70"/>
                                          </p:val>
                                        </p:tav>
                                        <p:tav tm="100000">
                                          <p:val>
                                            <p:strVal val="#ppt_w"/>
                                          </p:val>
                                        </p:tav>
                                      </p:tavLst>
                                    </p:anim>
                                    <p:anim calcmode="lin" valueType="num">
                                      <p:cBhvr>
                                        <p:cTn id="50" dur="500" fill="hold"/>
                                        <p:tgtEl>
                                          <p:spTgt spid="11"/>
                                        </p:tgtEl>
                                        <p:attrNameLst>
                                          <p:attrName>ppt_h</p:attrName>
                                        </p:attrNameLst>
                                      </p:cBhvr>
                                      <p:tavLst>
                                        <p:tav tm="0">
                                          <p:val>
                                            <p:strVal val="#ppt_h"/>
                                          </p:val>
                                        </p:tav>
                                        <p:tav tm="100000">
                                          <p:val>
                                            <p:strVal val="#ppt_h"/>
                                          </p:val>
                                        </p:tav>
                                      </p:tavLst>
                                    </p:anim>
                                    <p:animEffect transition="in" filter="fade">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blinds(horizontal)">
                                      <p:cBhvr>
                                        <p:cTn id="61" dur="500"/>
                                        <p:tgtEl>
                                          <p:spTgt spid="12"/>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blinds(horizontal)">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p:bldP spid="9" grpId="0" animBg="1"/>
      <p:bldP spid="10" grpId="0"/>
      <p:bldP spid="11" grpId="0" animBg="1"/>
      <p:bldP spid="12" grpId="0"/>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外延定义</a:t>
            </a:r>
            <a:endParaRPr lang="zh-CN" altLang="en-US" dirty="0">
              <a:latin typeface="华文新魏" pitchFamily="2" charset="-122"/>
              <a:ea typeface="华文新魏" pitchFamily="2" charset="-122"/>
            </a:endParaRPr>
          </a:p>
        </p:txBody>
      </p:sp>
      <p:sp>
        <p:nvSpPr>
          <p:cNvPr id="4" name="TextBox 3"/>
          <p:cNvSpPr txBox="1"/>
          <p:nvPr/>
        </p:nvSpPr>
        <p:spPr>
          <a:xfrm>
            <a:off x="899592" y="1342509"/>
            <a:ext cx="7272808"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通过列举一个词项的外延，也能使人们获得对该词项的某种理解和认识，从而明确该词项的意义和</a:t>
            </a:r>
            <a:r>
              <a:rPr lang="zh-CN" altLang="en-US" dirty="0" smtClean="0">
                <a:latin typeface="楷体" pitchFamily="49" charset="-122"/>
                <a:ea typeface="楷体" pitchFamily="49" charset="-122"/>
                <a:cs typeface="Times New Roman" pitchFamily="18" charset="0"/>
              </a:rPr>
              <a:t>适用范围</a:t>
            </a:r>
            <a:r>
              <a:rPr lang="zh-CN" altLang="en-US" dirty="0" smtClean="0">
                <a:latin typeface="楷体" pitchFamily="49" charset="-122"/>
                <a:ea typeface="楷体" pitchFamily="49" charset="-122"/>
                <a:cs typeface="Times New Roman" pitchFamily="18" charset="0"/>
              </a:rPr>
              <a:t>。</a:t>
            </a:r>
            <a:endParaRPr lang="zh-CN" altLang="en-US" dirty="0">
              <a:latin typeface="楷体" pitchFamily="49" charset="-122"/>
              <a:ea typeface="楷体" pitchFamily="49" charset="-122"/>
            </a:endParaRPr>
          </a:p>
        </p:txBody>
      </p:sp>
      <p:sp>
        <p:nvSpPr>
          <p:cNvPr id="5" name="流程图: 顺序访问存储器 4"/>
          <p:cNvSpPr/>
          <p:nvPr/>
        </p:nvSpPr>
        <p:spPr>
          <a:xfrm>
            <a:off x="899592" y="2206605"/>
            <a:ext cx="1368152" cy="864096"/>
          </a:xfrm>
          <a:prstGeom prst="flowChartMagneticTap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6" name="TextBox 5"/>
          <p:cNvSpPr txBox="1"/>
          <p:nvPr/>
        </p:nvSpPr>
        <p:spPr>
          <a:xfrm>
            <a:off x="971600" y="2465020"/>
            <a:ext cx="1512168"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穷举定义</a:t>
            </a:r>
            <a:endParaRPr lang="zh-CN" altLang="en-US" sz="2000" dirty="0">
              <a:latin typeface="华文行楷" pitchFamily="2" charset="-122"/>
              <a:ea typeface="华文行楷" pitchFamily="2" charset="-122"/>
            </a:endParaRPr>
          </a:p>
        </p:txBody>
      </p:sp>
      <p:sp>
        <p:nvSpPr>
          <p:cNvPr id="8" name="流程图: 顺序访问存储器 7"/>
          <p:cNvSpPr/>
          <p:nvPr/>
        </p:nvSpPr>
        <p:spPr>
          <a:xfrm>
            <a:off x="899592" y="3573016"/>
            <a:ext cx="1368152" cy="864096"/>
          </a:xfrm>
          <a:prstGeom prst="flowChartMagneticTape">
            <a:avLst/>
          </a:prstGeom>
          <a:ln>
            <a:solidFill>
              <a:srgbClr val="00B05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9" name="TextBox 8"/>
          <p:cNvSpPr txBox="1"/>
          <p:nvPr/>
        </p:nvSpPr>
        <p:spPr>
          <a:xfrm>
            <a:off x="971600" y="3831431"/>
            <a:ext cx="1512168"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列</a:t>
            </a:r>
            <a:r>
              <a:rPr lang="zh-CN" altLang="en-US" sz="2000" dirty="0" smtClean="0">
                <a:latin typeface="华文行楷" pitchFamily="2" charset="-122"/>
                <a:ea typeface="华文行楷" pitchFamily="2" charset="-122"/>
              </a:rPr>
              <a:t>举定义</a:t>
            </a:r>
            <a:endParaRPr lang="zh-CN" altLang="en-US" sz="2000" dirty="0">
              <a:latin typeface="华文行楷" pitchFamily="2" charset="-122"/>
              <a:ea typeface="华文行楷" pitchFamily="2" charset="-122"/>
            </a:endParaRPr>
          </a:p>
        </p:txBody>
      </p:sp>
      <p:sp>
        <p:nvSpPr>
          <p:cNvPr id="10" name="流程图: 顺序访问存储器 9"/>
          <p:cNvSpPr/>
          <p:nvPr/>
        </p:nvSpPr>
        <p:spPr>
          <a:xfrm>
            <a:off x="899592" y="5025950"/>
            <a:ext cx="1368152" cy="864096"/>
          </a:xfrm>
          <a:prstGeom prst="flowChartMagneticTap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b="1" dirty="0"/>
          </a:p>
        </p:txBody>
      </p:sp>
      <p:sp>
        <p:nvSpPr>
          <p:cNvPr id="11" name="TextBox 10"/>
          <p:cNvSpPr txBox="1"/>
          <p:nvPr/>
        </p:nvSpPr>
        <p:spPr>
          <a:xfrm>
            <a:off x="971600" y="5284365"/>
            <a:ext cx="1512168"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实指</a:t>
            </a:r>
            <a:r>
              <a:rPr lang="zh-CN" altLang="en-US" sz="2000" dirty="0" smtClean="0">
                <a:latin typeface="华文行楷" pitchFamily="2" charset="-122"/>
                <a:ea typeface="华文行楷" pitchFamily="2" charset="-122"/>
              </a:rPr>
              <a:t>定义</a:t>
            </a:r>
            <a:endParaRPr lang="zh-CN" altLang="en-US" sz="2000" dirty="0">
              <a:latin typeface="华文行楷" pitchFamily="2" charset="-122"/>
              <a:ea typeface="华文行楷" pitchFamily="2" charset="-122"/>
            </a:endParaRPr>
          </a:p>
        </p:txBody>
      </p:sp>
      <p:sp>
        <p:nvSpPr>
          <p:cNvPr id="16" name="TextBox 15"/>
          <p:cNvSpPr txBox="1"/>
          <p:nvPr/>
        </p:nvSpPr>
        <p:spPr>
          <a:xfrm>
            <a:off x="2915816" y="2134597"/>
            <a:ext cx="5688632" cy="369332"/>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通过列举出属于一个概念的全部对象来对该概念下</a:t>
            </a:r>
            <a:r>
              <a:rPr lang="zh-CN" altLang="en-US" dirty="0" smtClean="0">
                <a:latin typeface="Times New Roman" pitchFamily="18" charset="0"/>
                <a:cs typeface="Times New Roman" pitchFamily="18" charset="0"/>
              </a:rPr>
              <a:t>定义。</a:t>
            </a:r>
            <a:endParaRPr lang="zh-CN" altLang="en-US" dirty="0"/>
          </a:p>
        </p:txBody>
      </p:sp>
      <p:sp>
        <p:nvSpPr>
          <p:cNvPr id="17" name="TextBox 16"/>
          <p:cNvSpPr txBox="1"/>
          <p:nvPr/>
        </p:nvSpPr>
        <p:spPr>
          <a:xfrm>
            <a:off x="2915816" y="2494637"/>
            <a:ext cx="5688632" cy="646331"/>
          </a:xfrm>
          <a:prstGeom prst="rect">
            <a:avLst/>
          </a:prstGeom>
          <a:noFill/>
        </p:spPr>
        <p:txBody>
          <a:bodyPr wrap="square" rtlCol="0">
            <a:spAutoFit/>
          </a:bodyPr>
          <a:lstStyle/>
          <a:p>
            <a:r>
              <a:rPr lang="zh-CN" altLang="en-US" b="1" u="sng" dirty="0" smtClean="0">
                <a:solidFill>
                  <a:srgbClr val="C00000"/>
                </a:solidFill>
                <a:latin typeface="华文新魏" pitchFamily="2" charset="-122"/>
                <a:ea typeface="华文新魏" pitchFamily="2" charset="-122"/>
                <a:cs typeface="Times New Roman" pitchFamily="18" charset="0"/>
              </a:rPr>
              <a:t>例如：</a:t>
            </a:r>
            <a:r>
              <a:rPr lang="zh-CN" altLang="en-US" dirty="0" smtClean="0">
                <a:latin typeface="Times New Roman" pitchFamily="18" charset="0"/>
                <a:ea typeface="华文楷体" pitchFamily="2" charset="-122"/>
                <a:cs typeface="Times New Roman" pitchFamily="18" charset="0"/>
              </a:rPr>
              <a:t>太阳系行星包括水星、金星、地球、火星、木星、土星、天王星、海王星和</a:t>
            </a:r>
            <a:r>
              <a:rPr lang="zh-CN" altLang="en-US" dirty="0" smtClean="0">
                <a:latin typeface="Times New Roman" pitchFamily="18" charset="0"/>
                <a:ea typeface="华文楷体" pitchFamily="2" charset="-122"/>
                <a:cs typeface="Times New Roman" pitchFamily="18" charset="0"/>
              </a:rPr>
              <a:t>冥王星。</a:t>
            </a:r>
            <a:endParaRPr lang="zh-CN" altLang="en-US" dirty="0"/>
          </a:p>
        </p:txBody>
      </p:sp>
      <p:sp>
        <p:nvSpPr>
          <p:cNvPr id="18" name="TextBox 17"/>
          <p:cNvSpPr txBox="1"/>
          <p:nvPr/>
        </p:nvSpPr>
        <p:spPr>
          <a:xfrm>
            <a:off x="2915816" y="3429000"/>
            <a:ext cx="5688632" cy="923330"/>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列举出属于一个概念的外延的某些对象，以帮助人们获得关于该概念所指称的对象的一些</a:t>
            </a:r>
            <a:r>
              <a:rPr lang="zh-CN" altLang="en-US" dirty="0" smtClean="0">
                <a:latin typeface="Times New Roman" pitchFamily="18" charset="0"/>
                <a:cs typeface="Times New Roman" pitchFamily="18" charset="0"/>
              </a:rPr>
              <a:t>了解。</a:t>
            </a:r>
            <a:endParaRPr lang="zh-CN" altLang="en-US" dirty="0" smtClean="0">
              <a:latin typeface="Times New Roman" pitchFamily="18" charset="0"/>
              <a:cs typeface="Times New Roman" pitchFamily="18" charset="0"/>
            </a:endParaRPr>
          </a:p>
          <a:p>
            <a:endParaRPr lang="zh-CN" altLang="en-US" dirty="0"/>
          </a:p>
        </p:txBody>
      </p:sp>
      <p:sp>
        <p:nvSpPr>
          <p:cNvPr id="19" name="TextBox 18"/>
          <p:cNvSpPr txBox="1"/>
          <p:nvPr/>
        </p:nvSpPr>
        <p:spPr>
          <a:xfrm>
            <a:off x="2915816" y="4077072"/>
            <a:ext cx="5760640" cy="923330"/>
          </a:xfrm>
          <a:prstGeom prst="rect">
            <a:avLst/>
          </a:prstGeom>
          <a:noFill/>
        </p:spPr>
        <p:txBody>
          <a:bodyPr wrap="square" rtlCol="0">
            <a:spAutoFit/>
          </a:bodyPr>
          <a:lstStyle/>
          <a:p>
            <a:r>
              <a:rPr lang="zh-CN" altLang="en-US" b="1" u="sng" dirty="0" smtClean="0">
                <a:solidFill>
                  <a:srgbClr val="C00000"/>
                </a:solidFill>
                <a:latin typeface="华文新魏" pitchFamily="2" charset="-122"/>
                <a:ea typeface="华文新魏" pitchFamily="2" charset="-122"/>
                <a:cs typeface="Times New Roman" pitchFamily="18" charset="0"/>
              </a:rPr>
              <a:t>例如：</a:t>
            </a:r>
            <a:r>
              <a:rPr lang="zh-CN" altLang="en-US" dirty="0" smtClean="0">
                <a:latin typeface="Times New Roman" pitchFamily="18" charset="0"/>
                <a:ea typeface="华文楷体" pitchFamily="2" charset="-122"/>
                <a:cs typeface="Times New Roman" pitchFamily="18" charset="0"/>
              </a:rPr>
              <a:t>中国的少数民族有藏族、维吾尔族、蒙古族、回族、壮族、土家族、苗族等</a:t>
            </a:r>
            <a:r>
              <a:rPr lang="zh-CN" altLang="en-US" dirty="0" smtClean="0">
                <a:latin typeface="Times New Roman" pitchFamily="18" charset="0"/>
                <a:cs typeface="Times New Roman" pitchFamily="18" charset="0"/>
              </a:rPr>
              <a:t>。</a:t>
            </a:r>
          </a:p>
          <a:p>
            <a:endParaRPr lang="zh-CN" altLang="en-US" dirty="0"/>
          </a:p>
        </p:txBody>
      </p:sp>
      <p:sp>
        <p:nvSpPr>
          <p:cNvPr id="20" name="TextBox 19"/>
          <p:cNvSpPr txBox="1"/>
          <p:nvPr/>
        </p:nvSpPr>
        <p:spPr>
          <a:xfrm>
            <a:off x="2843808" y="5169966"/>
            <a:ext cx="5832648" cy="923330"/>
          </a:xfrm>
          <a:prstGeom prst="rect">
            <a:avLst/>
          </a:prstGeom>
          <a:noFill/>
        </p:spPr>
        <p:txBody>
          <a:bodyPr wrap="square" rtlCol="0">
            <a:spAutoFit/>
          </a:bodyPr>
          <a:lstStyle/>
          <a:p>
            <a:pPr marL="0" lvl="1"/>
            <a:r>
              <a:rPr lang="zh-CN" altLang="en-US" dirty="0" smtClean="0">
                <a:latin typeface="Times New Roman" pitchFamily="18" charset="0"/>
                <a:cs typeface="Times New Roman" pitchFamily="18" charset="0"/>
              </a:rPr>
              <a:t>通过用手指着某一个对象，从而教会儿童去认识事物和使用语言。据说是儿童学习母语最基本、最有效的</a:t>
            </a:r>
            <a:r>
              <a:rPr lang="zh-CN" altLang="en-US" dirty="0" smtClean="0">
                <a:latin typeface="Times New Roman" pitchFamily="18" charset="0"/>
                <a:cs typeface="Times New Roman" pitchFamily="18" charset="0"/>
              </a:rPr>
              <a:t>手段。</a:t>
            </a:r>
            <a:endParaRPr lang="zh-CN" altLang="en-US" dirty="0" smtClean="0">
              <a:latin typeface="Times New Roman" pitchFamily="18" charset="0"/>
              <a:cs typeface="Times New Roman" pitchFamily="18" charset="0"/>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ox(in)">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ox(in)">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ox(in)">
                                      <p:cBhvr>
                                        <p:cTn id="30" dur="500"/>
                                        <p:tgtEl>
                                          <p:spTgt spid="8"/>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ox(in)">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dissolv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anim calcmode="lin" valueType="num">
                                      <p:cBhvr>
                                        <p:cTn id="44" dur="500" fill="hold"/>
                                        <p:tgtEl>
                                          <p:spTgt spid="19"/>
                                        </p:tgtEl>
                                        <p:attrNameLst>
                                          <p:attrName>ppt_x</p:attrName>
                                        </p:attrNameLst>
                                      </p:cBhvr>
                                      <p:tavLst>
                                        <p:tav tm="0">
                                          <p:val>
                                            <p:strVal val="#ppt_x"/>
                                          </p:val>
                                        </p:tav>
                                        <p:tav tm="100000">
                                          <p:val>
                                            <p:strVal val="#ppt_x"/>
                                          </p:val>
                                        </p:tav>
                                      </p:tavLst>
                                    </p:anim>
                                    <p:anim calcmode="lin" valueType="num">
                                      <p:cBhvr>
                                        <p:cTn id="4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box(in)">
                                      <p:cBhvr>
                                        <p:cTn id="50" dur="500"/>
                                        <p:tgtEl>
                                          <p:spTgt spid="10"/>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ox(in)">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29"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p:cTn id="58" dur="500" fill="hold"/>
                                        <p:tgtEl>
                                          <p:spTgt spid="20"/>
                                        </p:tgtEl>
                                        <p:attrNameLst>
                                          <p:attrName>ppt_x</p:attrName>
                                        </p:attrNameLst>
                                      </p:cBhvr>
                                      <p:tavLst>
                                        <p:tav tm="0">
                                          <p:val>
                                            <p:strVal val="#ppt_x-.2"/>
                                          </p:val>
                                        </p:tav>
                                        <p:tav tm="100000">
                                          <p:val>
                                            <p:strVal val="#ppt_x"/>
                                          </p:val>
                                        </p:tav>
                                      </p:tavLst>
                                    </p:anim>
                                    <p:anim calcmode="lin" valueType="num">
                                      <p:cBhvr>
                                        <p:cTn id="59" dur="5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6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8" grpId="0" animBg="1"/>
      <p:bldP spid="9" grpId="0"/>
      <p:bldP spid="10" grpId="0" animBg="1"/>
      <p:bldP spid="11" grpId="0"/>
      <p:bldP spid="16" grpId="0"/>
      <p:bldP spid="17" grpId="0"/>
      <p:bldP spid="18"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外延定义</a:t>
            </a:r>
            <a:endParaRPr lang="zh-CN" altLang="en-US" dirty="0">
              <a:latin typeface="华文新魏" pitchFamily="2" charset="-122"/>
              <a:ea typeface="华文新魏" pitchFamily="2" charset="-122"/>
            </a:endParaRPr>
          </a:p>
        </p:txBody>
      </p:sp>
      <p:sp>
        <p:nvSpPr>
          <p:cNvPr id="4" name="流程图: 顺序访问存储器 3"/>
          <p:cNvSpPr/>
          <p:nvPr/>
        </p:nvSpPr>
        <p:spPr>
          <a:xfrm>
            <a:off x="1187624" y="3687767"/>
            <a:ext cx="1368152" cy="864096"/>
          </a:xfrm>
          <a:prstGeom prst="flowChartMagneticTap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5" name="TextBox 4"/>
          <p:cNvSpPr txBox="1"/>
          <p:nvPr/>
        </p:nvSpPr>
        <p:spPr>
          <a:xfrm>
            <a:off x="1259632" y="3946182"/>
            <a:ext cx="1512168"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递归</a:t>
            </a:r>
            <a:r>
              <a:rPr lang="zh-CN" altLang="en-US" sz="2000" dirty="0" smtClean="0">
                <a:latin typeface="华文行楷" pitchFamily="2" charset="-122"/>
                <a:ea typeface="华文行楷" pitchFamily="2" charset="-122"/>
              </a:rPr>
              <a:t>定义</a:t>
            </a:r>
            <a:endParaRPr lang="zh-CN" altLang="en-US" sz="2000" dirty="0">
              <a:latin typeface="华文行楷" pitchFamily="2" charset="-122"/>
              <a:ea typeface="华文行楷" pitchFamily="2" charset="-122"/>
            </a:endParaRPr>
          </a:p>
        </p:txBody>
      </p:sp>
      <p:sp>
        <p:nvSpPr>
          <p:cNvPr id="6" name="流程图: 顺序访问存储器 5"/>
          <p:cNvSpPr/>
          <p:nvPr/>
        </p:nvSpPr>
        <p:spPr>
          <a:xfrm>
            <a:off x="1259632" y="1340768"/>
            <a:ext cx="1368152" cy="864096"/>
          </a:xfrm>
          <a:prstGeom prst="flowChartMagneticTape">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b="1" dirty="0"/>
          </a:p>
        </p:txBody>
      </p:sp>
      <p:sp>
        <p:nvSpPr>
          <p:cNvPr id="7" name="TextBox 6"/>
          <p:cNvSpPr txBox="1"/>
          <p:nvPr/>
        </p:nvSpPr>
        <p:spPr>
          <a:xfrm>
            <a:off x="1331640" y="1599183"/>
            <a:ext cx="1512168"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混合</a:t>
            </a:r>
            <a:r>
              <a:rPr lang="zh-CN" altLang="en-US" sz="2000" dirty="0" smtClean="0">
                <a:latin typeface="华文行楷" pitchFamily="2" charset="-122"/>
                <a:ea typeface="华文行楷" pitchFamily="2" charset="-122"/>
              </a:rPr>
              <a:t>定义</a:t>
            </a:r>
            <a:endParaRPr lang="zh-CN" altLang="en-US" sz="2000" dirty="0">
              <a:latin typeface="华文行楷" pitchFamily="2" charset="-122"/>
              <a:ea typeface="华文行楷" pitchFamily="2" charset="-122"/>
            </a:endParaRPr>
          </a:p>
        </p:txBody>
      </p:sp>
      <p:sp>
        <p:nvSpPr>
          <p:cNvPr id="8" name="TextBox 7"/>
          <p:cNvSpPr txBox="1"/>
          <p:nvPr/>
        </p:nvSpPr>
        <p:spPr>
          <a:xfrm>
            <a:off x="3203848" y="1556792"/>
            <a:ext cx="5400600" cy="646331"/>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先给出某个概念的一些或全部内涵，再列举该概念的一些或全部</a:t>
            </a:r>
            <a:r>
              <a:rPr lang="zh-CN" altLang="en-US" dirty="0" smtClean="0">
                <a:latin typeface="Times New Roman" pitchFamily="18" charset="0"/>
                <a:cs typeface="Times New Roman" pitchFamily="18" charset="0"/>
              </a:rPr>
              <a:t>外延。</a:t>
            </a:r>
            <a:endParaRPr lang="zh-CN" altLang="en-US" dirty="0"/>
          </a:p>
        </p:txBody>
      </p:sp>
      <p:sp>
        <p:nvSpPr>
          <p:cNvPr id="9" name="TextBox 8"/>
          <p:cNvSpPr txBox="1"/>
          <p:nvPr/>
        </p:nvSpPr>
        <p:spPr>
          <a:xfrm>
            <a:off x="1043608" y="2204864"/>
            <a:ext cx="7344816" cy="1200329"/>
          </a:xfrm>
          <a:prstGeom prst="rect">
            <a:avLst/>
          </a:prstGeom>
          <a:noFill/>
        </p:spPr>
        <p:txBody>
          <a:bodyPr wrap="square" rtlCol="0">
            <a:spAutoFit/>
          </a:bodyPr>
          <a:lstStyle/>
          <a:p>
            <a:pPr marL="0" lvl="1"/>
            <a:r>
              <a:rPr lang="zh-CN" altLang="en-US" b="1" u="sng" dirty="0" smtClean="0">
                <a:solidFill>
                  <a:srgbClr val="C00000"/>
                </a:solidFill>
                <a:latin typeface="华文新魏" pitchFamily="2" charset="-122"/>
                <a:ea typeface="华文新魏" pitchFamily="2" charset="-122"/>
                <a:cs typeface="Times New Roman" pitchFamily="18" charset="0"/>
              </a:rPr>
              <a:t>例如：</a:t>
            </a:r>
            <a:endParaRPr lang="en-US" altLang="zh-CN" b="1" u="sng" dirty="0" smtClean="0">
              <a:solidFill>
                <a:srgbClr val="C00000"/>
              </a:solidFill>
              <a:latin typeface="华文新魏" pitchFamily="2" charset="-122"/>
              <a:ea typeface="华文新魏" pitchFamily="2" charset="-122"/>
              <a:cs typeface="Times New Roman" pitchFamily="18" charset="0"/>
            </a:endParaRPr>
          </a:p>
          <a:p>
            <a:pPr marL="0" lvl="1"/>
            <a:r>
              <a:rPr lang="zh-CN" altLang="en-US" dirty="0" smtClean="0">
                <a:latin typeface="Times New Roman" pitchFamily="18" charset="0"/>
                <a:ea typeface="华文楷体" pitchFamily="2" charset="-122"/>
                <a:cs typeface="Times New Roman" pitchFamily="18" charset="0"/>
              </a:rPr>
              <a:t>基本粒子是迄今所知、能够以自由状态存在的所有最小物质粒子的统称，包括电子、中子、光子等，它们构成宏观世界的一切实物以及电磁场</a:t>
            </a:r>
            <a:r>
              <a:rPr lang="zh-CN" altLang="en-US" dirty="0" smtClean="0">
                <a:latin typeface="Times New Roman" pitchFamily="18" charset="0"/>
                <a:cs typeface="Times New Roman" pitchFamily="18" charset="0"/>
              </a:rPr>
              <a:t>。</a:t>
            </a:r>
          </a:p>
          <a:p>
            <a:endParaRPr lang="zh-CN" altLang="en-US" dirty="0"/>
          </a:p>
        </p:txBody>
      </p:sp>
      <p:sp>
        <p:nvSpPr>
          <p:cNvPr id="10" name="TextBox 9"/>
          <p:cNvSpPr txBox="1"/>
          <p:nvPr/>
        </p:nvSpPr>
        <p:spPr>
          <a:xfrm>
            <a:off x="2771800" y="3429000"/>
            <a:ext cx="5904656" cy="1698927"/>
          </a:xfrm>
          <a:prstGeom prst="rect">
            <a:avLst/>
          </a:prstGeom>
          <a:noFill/>
        </p:spPr>
        <p:txBody>
          <a:bodyPr wrap="square" rtlCol="0">
            <a:spAutoFit/>
          </a:bodyPr>
          <a:lstStyle/>
          <a:p>
            <a:pPr marL="800100" lvl="1" indent="-342900">
              <a:lnSpc>
                <a:spcPct val="120000"/>
              </a:lnSpc>
              <a:buAutoNum type="arabicParenBoth"/>
            </a:pPr>
            <a:r>
              <a:rPr lang="zh-CN" altLang="en-US" dirty="0" smtClean="0">
                <a:latin typeface="Times New Roman" pitchFamily="18" charset="0"/>
                <a:cs typeface="Times New Roman" pitchFamily="18" charset="0"/>
              </a:rPr>
              <a:t>初始条件，刻画一些个体属于一给定集合；</a:t>
            </a:r>
            <a:endParaRPr lang="en-US" altLang="zh-CN" dirty="0">
              <a:latin typeface="Times New Roman" pitchFamily="18" charset="0"/>
              <a:cs typeface="Times New Roman" pitchFamily="18" charset="0"/>
            </a:endParaRPr>
          </a:p>
          <a:p>
            <a:pPr marL="800100" lvl="1" indent="-342900">
              <a:lnSpc>
                <a:spcPct val="120000"/>
              </a:lnSpc>
              <a:buAutoNum type="arabicParenBoth"/>
            </a:pPr>
            <a:r>
              <a:rPr lang="zh-CN" altLang="en-US" dirty="0" smtClean="0">
                <a:latin typeface="Times New Roman" pitchFamily="18" charset="0"/>
                <a:cs typeface="Times New Roman" pitchFamily="18" charset="0"/>
              </a:rPr>
              <a:t>归纳条件，当在条件（</a:t>
            </a:r>
            <a:r>
              <a:rPr lang="en-US" altLang="zh-CN" dirty="0" smtClean="0">
                <a:latin typeface="Times New Roman" pitchFamily="18" charset="0"/>
                <a:cs typeface="Times New Roman" pitchFamily="18" charset="0"/>
              </a:rPr>
              <a:t>1</a:t>
            </a:r>
            <a:r>
              <a:rPr lang="zh-CN" altLang="en-US" dirty="0" smtClean="0">
                <a:latin typeface="Times New Roman" pitchFamily="18" charset="0"/>
                <a:cs typeface="Times New Roman" pitchFamily="18" charset="0"/>
              </a:rPr>
              <a:t>）中列出的第</a:t>
            </a:r>
            <a:r>
              <a:rPr lang="en-US" altLang="zh-CN" dirty="0" smtClean="0">
                <a:latin typeface="Times New Roman" pitchFamily="18" charset="0"/>
                <a:cs typeface="Times New Roman" pitchFamily="18" charset="0"/>
              </a:rPr>
              <a:t>n</a:t>
            </a:r>
            <a:r>
              <a:rPr lang="zh-CN" altLang="en-US" dirty="0" smtClean="0">
                <a:latin typeface="Times New Roman" pitchFamily="18" charset="0"/>
                <a:cs typeface="Times New Roman" pitchFamily="18" charset="0"/>
              </a:rPr>
              <a:t>个个体属于给定集合时，第</a:t>
            </a:r>
            <a:r>
              <a:rPr lang="en-US" altLang="zh-CN" dirty="0" smtClean="0">
                <a:latin typeface="Times New Roman" pitchFamily="18" charset="0"/>
                <a:cs typeface="Times New Roman" pitchFamily="18" charset="0"/>
              </a:rPr>
              <a:t>n</a:t>
            </a: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1</a:t>
            </a:r>
            <a:r>
              <a:rPr lang="zh-CN" altLang="en-US" dirty="0" smtClean="0">
                <a:latin typeface="Times New Roman" pitchFamily="18" charset="0"/>
                <a:cs typeface="Times New Roman" pitchFamily="18" charset="0"/>
              </a:rPr>
              <a:t>个个体也属于该集合；</a:t>
            </a:r>
            <a:endParaRPr lang="en-US" altLang="zh-CN" dirty="0">
              <a:latin typeface="Times New Roman" pitchFamily="18" charset="0"/>
              <a:cs typeface="Times New Roman" pitchFamily="18" charset="0"/>
            </a:endParaRPr>
          </a:p>
          <a:p>
            <a:pPr marL="800100" lvl="1" indent="-342900">
              <a:lnSpc>
                <a:spcPct val="120000"/>
              </a:lnSpc>
              <a:buAutoNum type="arabicParenBoth"/>
            </a:pPr>
            <a:r>
              <a:rPr lang="zh-CN" altLang="en-US" dirty="0" smtClean="0">
                <a:latin typeface="Times New Roman" pitchFamily="18" charset="0"/>
                <a:cs typeface="Times New Roman" pitchFamily="18" charset="0"/>
              </a:rPr>
              <a:t>此外没有别的个体属于该集合。</a:t>
            </a:r>
            <a:endParaRPr lang="en-US" altLang="zh-CN" dirty="0" smtClean="0">
              <a:latin typeface="Times New Roman" pitchFamily="18" charset="0"/>
              <a:cs typeface="Times New Roman" pitchFamily="18" charset="0"/>
            </a:endParaRPr>
          </a:p>
          <a:p>
            <a:endParaRPr lang="zh-CN" altLang="en-US" dirty="0"/>
          </a:p>
        </p:txBody>
      </p:sp>
      <p:sp>
        <p:nvSpPr>
          <p:cNvPr id="11" name="TextBox 10"/>
          <p:cNvSpPr txBox="1"/>
          <p:nvPr/>
        </p:nvSpPr>
        <p:spPr>
          <a:xfrm>
            <a:off x="611560" y="4915034"/>
            <a:ext cx="8136904" cy="1754326"/>
          </a:xfrm>
          <a:prstGeom prst="rect">
            <a:avLst/>
          </a:prstGeom>
          <a:noFill/>
        </p:spPr>
        <p:txBody>
          <a:bodyPr wrap="square" rtlCol="0">
            <a:spAutoFit/>
          </a:bodyPr>
          <a:lstStyle/>
          <a:p>
            <a:pPr lvl="1">
              <a:lnSpc>
                <a:spcPct val="120000"/>
              </a:lnSpc>
            </a:pPr>
            <a:r>
              <a:rPr lang="zh-CN" altLang="en-US" b="1" u="sng" dirty="0" smtClean="0">
                <a:solidFill>
                  <a:srgbClr val="C00000"/>
                </a:solidFill>
                <a:latin typeface="华文新魏" pitchFamily="2" charset="-122"/>
                <a:ea typeface="华文新魏" pitchFamily="2" charset="-122"/>
                <a:cs typeface="Times New Roman" pitchFamily="18" charset="0"/>
              </a:rPr>
              <a:t>例如：</a:t>
            </a:r>
            <a:r>
              <a:rPr lang="zh-CN" altLang="en-US" dirty="0">
                <a:solidFill>
                  <a:srgbClr val="C00000"/>
                </a:solidFill>
                <a:latin typeface="华文新魏" pitchFamily="2" charset="-122"/>
                <a:ea typeface="华文新魏" pitchFamily="2" charset="-122"/>
                <a:cs typeface="Times New Roman" pitchFamily="18" charset="0"/>
              </a:rPr>
              <a:t> </a:t>
            </a:r>
            <a:r>
              <a:rPr lang="zh-CN" altLang="en-US" dirty="0" smtClean="0">
                <a:latin typeface="楷体" pitchFamily="49" charset="-122"/>
                <a:ea typeface="楷体" pitchFamily="49" charset="-122"/>
                <a:cs typeface="Times New Roman" pitchFamily="18" charset="0"/>
              </a:rPr>
              <a:t>任意实数</a:t>
            </a:r>
            <a:r>
              <a:rPr lang="en-US" altLang="zh-CN" dirty="0" smtClean="0">
                <a:latin typeface="楷体" pitchFamily="49" charset="-122"/>
                <a:ea typeface="楷体" pitchFamily="49" charset="-122"/>
                <a:cs typeface="Times New Roman" pitchFamily="18" charset="0"/>
              </a:rPr>
              <a:t>a</a:t>
            </a:r>
            <a:r>
              <a:rPr lang="zh-CN" altLang="en-US" dirty="0" smtClean="0">
                <a:latin typeface="楷体" pitchFamily="49" charset="-122"/>
                <a:ea typeface="楷体" pitchFamily="49" charset="-122"/>
                <a:cs typeface="Times New Roman" pitchFamily="18" charset="0"/>
              </a:rPr>
              <a:t>的幂</a:t>
            </a:r>
            <a:r>
              <a:rPr lang="en-US" altLang="zh-CN" dirty="0" smtClean="0">
                <a:latin typeface="楷体" pitchFamily="49" charset="-122"/>
                <a:ea typeface="楷体" pitchFamily="49" charset="-122"/>
                <a:cs typeface="Times New Roman" pitchFamily="18" charset="0"/>
              </a:rPr>
              <a:t>a</a:t>
            </a:r>
            <a:r>
              <a:rPr lang="en-US" altLang="zh-CN" baseline="30000" dirty="0" smtClean="0">
                <a:latin typeface="楷体" pitchFamily="49" charset="-122"/>
                <a:ea typeface="楷体" pitchFamily="49" charset="-122"/>
                <a:cs typeface="Times New Roman" pitchFamily="18" charset="0"/>
              </a:rPr>
              <a:t>n</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n</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0</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2</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a:t>
            </a:r>
            <a:r>
              <a:rPr lang="zh-CN" altLang="en-US" dirty="0" smtClean="0">
                <a:latin typeface="楷体" pitchFamily="49" charset="-122"/>
                <a:ea typeface="楷体" pitchFamily="49" charset="-122"/>
                <a:cs typeface="Times New Roman" pitchFamily="18" charset="0"/>
              </a:rPr>
              <a:t>）的递归定义如下：</a:t>
            </a:r>
          </a:p>
          <a:p>
            <a:pPr lvl="2">
              <a:lnSpc>
                <a:spcPct val="120000"/>
              </a:lnSpc>
            </a:pPr>
            <a:r>
              <a:rPr lang="zh-CN" altLang="en-US" dirty="0" smtClean="0">
                <a:latin typeface="楷体" pitchFamily="49" charset="-122"/>
                <a:ea typeface="楷体" pitchFamily="49" charset="-122"/>
                <a:cs typeface="Times New Roman" pitchFamily="18" charset="0"/>
              </a:rPr>
              <a:t>     （</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a</a:t>
            </a:r>
            <a:r>
              <a:rPr lang="en-US" altLang="zh-CN" baseline="30000" dirty="0" smtClean="0">
                <a:latin typeface="楷体" pitchFamily="49" charset="-122"/>
                <a:ea typeface="楷体" pitchFamily="49" charset="-122"/>
                <a:cs typeface="Times New Roman" pitchFamily="18" charset="0"/>
              </a:rPr>
              <a:t>n</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1</a:t>
            </a:r>
            <a:endParaRPr lang="zh-CN" altLang="en-US" dirty="0" smtClean="0">
              <a:latin typeface="楷体" pitchFamily="49" charset="-122"/>
              <a:ea typeface="楷体" pitchFamily="49" charset="-122"/>
              <a:cs typeface="Times New Roman" pitchFamily="18" charset="0"/>
            </a:endParaRPr>
          </a:p>
          <a:p>
            <a:pPr lvl="2">
              <a:lnSpc>
                <a:spcPct val="120000"/>
              </a:lnSpc>
            </a:pPr>
            <a:r>
              <a:rPr lang="zh-CN" altLang="en-US" dirty="0" smtClean="0">
                <a:latin typeface="楷体" pitchFamily="49" charset="-122"/>
                <a:ea typeface="楷体" pitchFamily="49" charset="-122"/>
                <a:cs typeface="Times New Roman" pitchFamily="18" charset="0"/>
              </a:rPr>
              <a:t>     （</a:t>
            </a:r>
            <a:r>
              <a:rPr lang="en-US" altLang="zh-CN" dirty="0" smtClean="0">
                <a:latin typeface="楷体" pitchFamily="49" charset="-122"/>
                <a:ea typeface="楷体" pitchFamily="49" charset="-122"/>
                <a:cs typeface="Times New Roman" pitchFamily="18" charset="0"/>
              </a:rPr>
              <a:t>2</a:t>
            </a:r>
            <a:r>
              <a:rPr lang="zh-CN" altLang="en-US" dirty="0" smtClean="0">
                <a:latin typeface="楷体" pitchFamily="49" charset="-122"/>
                <a:ea typeface="楷体" pitchFamily="49" charset="-122"/>
                <a:cs typeface="Times New Roman" pitchFamily="18" charset="0"/>
              </a:rPr>
              <a:t>）</a:t>
            </a:r>
            <a:r>
              <a:rPr lang="en-US" altLang="zh-CN" dirty="0" err="1" smtClean="0">
                <a:latin typeface="楷体" pitchFamily="49" charset="-122"/>
                <a:ea typeface="楷体" pitchFamily="49" charset="-122"/>
                <a:cs typeface="Times New Roman" pitchFamily="18" charset="0"/>
              </a:rPr>
              <a:t>a</a:t>
            </a:r>
            <a:r>
              <a:rPr lang="en-US" altLang="zh-CN" baseline="30000" dirty="0" err="1" smtClean="0">
                <a:latin typeface="楷体" pitchFamily="49" charset="-122"/>
                <a:ea typeface="楷体" pitchFamily="49" charset="-122"/>
                <a:cs typeface="Times New Roman" pitchFamily="18" charset="0"/>
              </a:rPr>
              <a:t>k</a:t>
            </a:r>
            <a:r>
              <a:rPr lang="zh-CN" altLang="en-US" baseline="30000" dirty="0" smtClean="0">
                <a:latin typeface="楷体" pitchFamily="49" charset="-122"/>
                <a:ea typeface="楷体" pitchFamily="49" charset="-122"/>
                <a:cs typeface="Times New Roman" pitchFamily="18" charset="0"/>
              </a:rPr>
              <a:t>＋</a:t>
            </a:r>
            <a:r>
              <a:rPr lang="en-US" altLang="zh-CN" baseline="30000"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a:t>
            </a:r>
            <a:r>
              <a:rPr lang="en-US" altLang="zh-CN" dirty="0" err="1" smtClean="0">
                <a:latin typeface="楷体" pitchFamily="49" charset="-122"/>
                <a:ea typeface="楷体" pitchFamily="49" charset="-122"/>
                <a:cs typeface="Times New Roman" pitchFamily="18" charset="0"/>
              </a:rPr>
              <a:t>a</a:t>
            </a:r>
            <a:r>
              <a:rPr lang="en-US" altLang="zh-CN" baseline="30000" dirty="0" err="1" smtClean="0">
                <a:latin typeface="楷体" pitchFamily="49" charset="-122"/>
                <a:ea typeface="楷体" pitchFamily="49" charset="-122"/>
                <a:cs typeface="Times New Roman" pitchFamily="18" charset="0"/>
              </a:rPr>
              <a:t>k</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a</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k</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0</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2</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a:t>
            </a:r>
            <a:r>
              <a:rPr lang="zh-CN" altLang="en-US" dirty="0" smtClean="0">
                <a:latin typeface="楷体" pitchFamily="49" charset="-122"/>
                <a:ea typeface="楷体" pitchFamily="49" charset="-122"/>
                <a:cs typeface="Times New Roman" pitchFamily="18" charset="0"/>
              </a:rPr>
              <a:t>）</a:t>
            </a:r>
          </a:p>
          <a:p>
            <a:pPr lvl="2">
              <a:lnSpc>
                <a:spcPct val="120000"/>
              </a:lnSpc>
            </a:pPr>
            <a:r>
              <a:rPr lang="zh-CN" altLang="en-US" dirty="0" smtClean="0">
                <a:latin typeface="楷体" pitchFamily="49" charset="-122"/>
                <a:ea typeface="楷体" pitchFamily="49" charset="-122"/>
                <a:cs typeface="Times New Roman" pitchFamily="18" charset="0"/>
              </a:rPr>
              <a:t>     （</a:t>
            </a:r>
            <a:r>
              <a:rPr lang="en-US" altLang="zh-CN" dirty="0" smtClean="0">
                <a:latin typeface="楷体" pitchFamily="49" charset="-122"/>
                <a:ea typeface="楷体" pitchFamily="49" charset="-122"/>
                <a:cs typeface="Times New Roman" pitchFamily="18" charset="0"/>
              </a:rPr>
              <a:t>3</a:t>
            </a:r>
            <a:r>
              <a:rPr lang="zh-CN" altLang="en-US" dirty="0" smtClean="0">
                <a:latin typeface="楷体" pitchFamily="49" charset="-122"/>
                <a:ea typeface="楷体" pitchFamily="49" charset="-122"/>
                <a:cs typeface="Times New Roman" pitchFamily="18" charset="0"/>
              </a:rPr>
              <a:t>）只有根据（</a:t>
            </a: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a:t>
            </a:r>
            <a:r>
              <a:rPr lang="en-US" altLang="zh-CN" dirty="0" smtClean="0">
                <a:latin typeface="楷体" pitchFamily="49" charset="-122"/>
                <a:ea typeface="楷体" pitchFamily="49" charset="-122"/>
                <a:cs typeface="Times New Roman" pitchFamily="18" charset="0"/>
              </a:rPr>
              <a:t>2</a:t>
            </a:r>
            <a:r>
              <a:rPr lang="zh-CN" altLang="en-US" dirty="0" smtClean="0">
                <a:latin typeface="楷体" pitchFamily="49" charset="-122"/>
                <a:ea typeface="楷体" pitchFamily="49" charset="-122"/>
                <a:cs typeface="Times New Roman" pitchFamily="18" charset="0"/>
              </a:rPr>
              <a:t>）形成的是</a:t>
            </a:r>
            <a:r>
              <a:rPr lang="en-US" altLang="zh-CN" dirty="0" smtClean="0">
                <a:latin typeface="楷体" pitchFamily="49" charset="-122"/>
                <a:ea typeface="楷体" pitchFamily="49" charset="-122"/>
                <a:cs typeface="Times New Roman" pitchFamily="18" charset="0"/>
              </a:rPr>
              <a:t>a</a:t>
            </a:r>
            <a:r>
              <a:rPr lang="zh-CN" altLang="en-US" dirty="0" smtClean="0">
                <a:latin typeface="楷体" pitchFamily="49" charset="-122"/>
                <a:ea typeface="楷体" pitchFamily="49" charset="-122"/>
                <a:cs typeface="Times New Roman" pitchFamily="18" charset="0"/>
              </a:rPr>
              <a:t>的幂</a:t>
            </a:r>
            <a:r>
              <a:rPr lang="en-US" altLang="zh-CN" dirty="0" smtClean="0">
                <a:latin typeface="楷体" pitchFamily="49" charset="-122"/>
                <a:ea typeface="楷体" pitchFamily="49" charset="-122"/>
                <a:cs typeface="Times New Roman" pitchFamily="18" charset="0"/>
              </a:rPr>
              <a:t>a</a:t>
            </a:r>
            <a:r>
              <a:rPr lang="en-US" altLang="zh-CN" baseline="30000" dirty="0" smtClean="0">
                <a:latin typeface="楷体" pitchFamily="49" charset="-122"/>
                <a:ea typeface="楷体" pitchFamily="49" charset="-122"/>
                <a:cs typeface="Times New Roman" pitchFamily="18" charset="0"/>
              </a:rPr>
              <a:t>n</a:t>
            </a:r>
            <a:r>
              <a:rPr lang="zh-CN" altLang="en-US" dirty="0" smtClean="0">
                <a:latin typeface="楷体" pitchFamily="49" charset="-122"/>
                <a:ea typeface="楷体" pitchFamily="49" charset="-122"/>
                <a:cs typeface="Times New Roman" pitchFamily="18" charset="0"/>
              </a:rPr>
              <a:t>。</a:t>
            </a:r>
          </a:p>
          <a:p>
            <a:pPr>
              <a:lnSpc>
                <a:spcPct val="120000"/>
              </a:lnSpc>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ox(i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anim calcmode="lin" valueType="num">
                                      <p:cBhvr>
                                        <p:cTn id="30" dur="500" fill="hold"/>
                                        <p:tgtEl>
                                          <p:spTgt spid="5"/>
                                        </p:tgtEl>
                                        <p:attrNameLst>
                                          <p:attrName>ppt_x</p:attrName>
                                        </p:attrNameLst>
                                      </p:cBhvr>
                                      <p:tavLst>
                                        <p:tav tm="0">
                                          <p:val>
                                            <p:strVal val="#ppt_x"/>
                                          </p:val>
                                        </p:tav>
                                        <p:tav tm="100000">
                                          <p:val>
                                            <p:strVal val="#ppt_x"/>
                                          </p:val>
                                        </p:tav>
                                      </p:tavLst>
                                    </p:anim>
                                    <p:anim calcmode="lin" valueType="num">
                                      <p:cBhvr>
                                        <p:cTn id="31"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heckerboard(across)">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dissolve">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a:latin typeface="华文新魏" pitchFamily="2" charset="-122"/>
                <a:ea typeface="华文新魏" pitchFamily="2" charset="-122"/>
              </a:rPr>
              <a:t>语词定义</a:t>
            </a:r>
          </a:p>
        </p:txBody>
      </p:sp>
      <p:sp>
        <p:nvSpPr>
          <p:cNvPr id="4" name="TextBox 3"/>
          <p:cNvSpPr txBox="1"/>
          <p:nvPr/>
        </p:nvSpPr>
        <p:spPr>
          <a:xfrm>
            <a:off x="971600" y="980728"/>
            <a:ext cx="7272808"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定义的对象是语词，常常涉及该语词的词源、意义、用法等，而不涉及该语词所代表、指称的事物和</a:t>
            </a:r>
            <a:r>
              <a:rPr lang="zh-CN" altLang="en-US" dirty="0" smtClean="0">
                <a:latin typeface="楷体" pitchFamily="49" charset="-122"/>
                <a:ea typeface="楷体" pitchFamily="49" charset="-122"/>
                <a:cs typeface="Times New Roman" pitchFamily="18" charset="0"/>
              </a:rPr>
              <a:t>对象。</a:t>
            </a:r>
            <a:endParaRPr lang="zh-CN" altLang="en-US" dirty="0">
              <a:latin typeface="楷体" pitchFamily="49" charset="-122"/>
              <a:ea typeface="楷体" pitchFamily="49" charset="-122"/>
            </a:endParaRPr>
          </a:p>
        </p:txBody>
      </p:sp>
      <p:sp>
        <p:nvSpPr>
          <p:cNvPr id="5" name="TextBox 4"/>
          <p:cNvSpPr txBox="1"/>
          <p:nvPr/>
        </p:nvSpPr>
        <p:spPr>
          <a:xfrm>
            <a:off x="3779912" y="1700808"/>
            <a:ext cx="1512168" cy="40011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zh-CN" altLang="en-US" sz="2000" dirty="0" smtClean="0">
                <a:latin typeface="华文行楷" pitchFamily="2" charset="-122"/>
                <a:ea typeface="华文行楷" pitchFamily="2" charset="-122"/>
              </a:rPr>
              <a:t>描述性定义</a:t>
            </a:r>
            <a:endParaRPr lang="zh-CN" altLang="en-US" sz="2000" dirty="0">
              <a:latin typeface="华文行楷" pitchFamily="2" charset="-122"/>
              <a:ea typeface="华文行楷" pitchFamily="2" charset="-122"/>
            </a:endParaRPr>
          </a:p>
        </p:txBody>
      </p:sp>
      <p:sp>
        <p:nvSpPr>
          <p:cNvPr id="6" name="TextBox 5"/>
          <p:cNvSpPr txBox="1"/>
          <p:nvPr/>
        </p:nvSpPr>
        <p:spPr>
          <a:xfrm>
            <a:off x="1403648" y="2132856"/>
            <a:ext cx="6984776" cy="646331"/>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亦称“报道定义”，它是对被定义语词既有用法的报道或描述，语言词典上的定义大多是这种类型，故常称</a:t>
            </a:r>
            <a:r>
              <a:rPr lang="zh-CN" altLang="en-US" dirty="0" smtClean="0">
                <a:latin typeface="Times New Roman" pitchFamily="18" charset="0"/>
                <a:cs typeface="Times New Roman" pitchFamily="18" charset="0"/>
              </a:rPr>
              <a:t>“词典定义”。</a:t>
            </a:r>
            <a:endParaRPr lang="zh-CN" altLang="en-US" dirty="0"/>
          </a:p>
        </p:txBody>
      </p:sp>
      <p:sp>
        <p:nvSpPr>
          <p:cNvPr id="7" name="TextBox 6"/>
          <p:cNvSpPr txBox="1"/>
          <p:nvPr/>
        </p:nvSpPr>
        <p:spPr>
          <a:xfrm>
            <a:off x="1979712" y="2852936"/>
            <a:ext cx="6336704" cy="1200329"/>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胡：①古代泛称北方和西方的少数民族，如“胡人”；②古代称来自北方和西方少数民族的东西，也泛指来自国外的东西，如“胡琴”，“胡桃”，“胡椒”；③百家姓之一种。（</a:t>
            </a:r>
            <a:r>
              <a:rPr lang="en-US" altLang="zh-CN" dirty="0" smtClean="0">
                <a:latin typeface="楷体" pitchFamily="49" charset="-122"/>
                <a:ea typeface="楷体" pitchFamily="49" charset="-122"/>
                <a:cs typeface="Times New Roman" pitchFamily="18" charset="0"/>
              </a:rPr>
              <a:t>《</a:t>
            </a:r>
            <a:r>
              <a:rPr lang="zh-CN" altLang="en-US" dirty="0" smtClean="0">
                <a:latin typeface="楷体" pitchFamily="49" charset="-122"/>
                <a:ea typeface="楷体" pitchFamily="49" charset="-122"/>
                <a:cs typeface="Times New Roman" pitchFamily="18" charset="0"/>
              </a:rPr>
              <a:t>现代汉语词典</a:t>
            </a:r>
            <a:r>
              <a:rPr lang="en-US" altLang="zh-CN" dirty="0" smtClean="0">
                <a:latin typeface="楷体" pitchFamily="49" charset="-122"/>
                <a:ea typeface="楷体" pitchFamily="49" charset="-122"/>
                <a:cs typeface="Times New Roman" pitchFamily="18" charset="0"/>
              </a:rPr>
              <a:t>》</a:t>
            </a:r>
            <a:r>
              <a:rPr lang="zh-CN" altLang="en-US" dirty="0" smtClean="0">
                <a:latin typeface="楷体" pitchFamily="49" charset="-122"/>
                <a:ea typeface="楷体" pitchFamily="49" charset="-122"/>
                <a:cs typeface="Times New Roman" pitchFamily="18" charset="0"/>
              </a:rPr>
              <a:t>）</a:t>
            </a:r>
            <a:endParaRPr lang="zh-CN" altLang="en-US" dirty="0">
              <a:latin typeface="楷体" pitchFamily="49" charset="-122"/>
              <a:ea typeface="楷体" pitchFamily="49" charset="-122"/>
            </a:endParaRPr>
          </a:p>
        </p:txBody>
      </p:sp>
      <p:sp>
        <p:nvSpPr>
          <p:cNvPr id="8" name="TextBox 7"/>
          <p:cNvSpPr txBox="1"/>
          <p:nvPr/>
        </p:nvSpPr>
        <p:spPr>
          <a:xfrm>
            <a:off x="1115616" y="2780928"/>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9" name="TextBox 8"/>
          <p:cNvSpPr txBox="1"/>
          <p:nvPr/>
        </p:nvSpPr>
        <p:spPr>
          <a:xfrm>
            <a:off x="1115616" y="4221088"/>
            <a:ext cx="1296144" cy="400110"/>
          </a:xfrm>
          <a:prstGeom prst="rect">
            <a:avLst/>
          </a:prstGeom>
          <a:noFill/>
          <a:ln w="28575">
            <a:solidFill>
              <a:srgbClr val="00B050"/>
            </a:solidFill>
            <a:prstDash val="sysDot"/>
          </a:ln>
        </p:spPr>
        <p:txBody>
          <a:bodyPr wrap="square" rtlCol="0">
            <a:spAutoFit/>
          </a:bodyPr>
          <a:lstStyle/>
          <a:p>
            <a:r>
              <a:rPr lang="zh-CN" altLang="en-US" sz="2000" dirty="0" smtClean="0">
                <a:latin typeface="华文行楷" pitchFamily="2" charset="-122"/>
                <a:ea typeface="华文行楷" pitchFamily="2" charset="-122"/>
              </a:rPr>
              <a:t>词源定义</a:t>
            </a:r>
            <a:endParaRPr lang="zh-CN" altLang="en-US" sz="2000" dirty="0">
              <a:latin typeface="华文行楷" pitchFamily="2" charset="-122"/>
              <a:ea typeface="华文行楷" pitchFamily="2" charset="-122"/>
            </a:endParaRPr>
          </a:p>
        </p:txBody>
      </p:sp>
      <p:sp>
        <p:nvSpPr>
          <p:cNvPr id="10" name="TextBox 9"/>
          <p:cNvSpPr txBox="1"/>
          <p:nvPr/>
        </p:nvSpPr>
        <p:spPr>
          <a:xfrm>
            <a:off x="2627784" y="4293096"/>
            <a:ext cx="5112568"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cs typeface="Times New Roman" pitchFamily="18" charset="0"/>
              </a:rPr>
              <a:t>通过刻画某个词的来源、演变来说明该词的</a:t>
            </a:r>
            <a:r>
              <a:rPr lang="zh-CN" altLang="en-US" dirty="0" smtClean="0">
                <a:latin typeface="华文新魏" pitchFamily="2" charset="-122"/>
                <a:ea typeface="华文新魏" pitchFamily="2" charset="-122"/>
                <a:cs typeface="Times New Roman" pitchFamily="18" charset="0"/>
              </a:rPr>
              <a:t>意义。</a:t>
            </a:r>
            <a:endParaRPr lang="zh-CN" altLang="en-US" dirty="0">
              <a:latin typeface="华文新魏" pitchFamily="2" charset="-122"/>
              <a:ea typeface="华文新魏" pitchFamily="2" charset="-122"/>
            </a:endParaRPr>
          </a:p>
        </p:txBody>
      </p:sp>
      <p:sp>
        <p:nvSpPr>
          <p:cNvPr id="11" name="TextBox 10"/>
          <p:cNvSpPr txBox="1"/>
          <p:nvPr/>
        </p:nvSpPr>
        <p:spPr>
          <a:xfrm>
            <a:off x="1979712" y="4797152"/>
            <a:ext cx="6480720" cy="1754326"/>
          </a:xfrm>
          <a:prstGeom prst="rect">
            <a:avLst/>
          </a:prstGeom>
          <a:noFill/>
        </p:spPr>
        <p:txBody>
          <a:bodyPr wrap="square" rtlCol="0">
            <a:spAutoFit/>
          </a:bodyPr>
          <a:lstStyle/>
          <a:p>
            <a:r>
              <a:rPr lang="zh-CN" altLang="en-US" dirty="0" smtClean="0">
                <a:latin typeface="Times New Roman" pitchFamily="18" charset="0"/>
                <a:ea typeface="华文楷体" pitchFamily="2" charset="-122"/>
                <a:cs typeface="Times New Roman" pitchFamily="18" charset="0"/>
              </a:rPr>
              <a:t>马太效应</a:t>
            </a:r>
            <a:r>
              <a:rPr lang="en-US" altLang="zh-CN" dirty="0" smtClean="0">
                <a:latin typeface="Times New Roman" pitchFamily="18" charset="0"/>
                <a:ea typeface="华文楷体" pitchFamily="2" charset="-122"/>
                <a:cs typeface="Times New Roman" pitchFamily="18" charset="0"/>
              </a:rPr>
              <a:t>  </a:t>
            </a:r>
            <a:r>
              <a:rPr lang="zh-CN" altLang="en-US" dirty="0" smtClean="0">
                <a:latin typeface="Times New Roman" pitchFamily="18" charset="0"/>
                <a:ea typeface="华文楷体" pitchFamily="2" charset="-122"/>
                <a:cs typeface="Times New Roman" pitchFamily="18" charset="0"/>
              </a:rPr>
              <a:t>在</a:t>
            </a:r>
            <a:r>
              <a:rPr lang="en-US" altLang="zh-CN" dirty="0" smtClean="0">
                <a:latin typeface="Times New Roman" pitchFamily="18" charset="0"/>
                <a:ea typeface="华文楷体" pitchFamily="2" charset="-122"/>
                <a:cs typeface="Times New Roman" pitchFamily="18" charset="0"/>
              </a:rPr>
              <a:t>《</a:t>
            </a:r>
            <a:r>
              <a:rPr lang="zh-CN" altLang="en-US" dirty="0" smtClean="0">
                <a:latin typeface="Times New Roman" pitchFamily="18" charset="0"/>
                <a:ea typeface="华文楷体" pitchFamily="2" charset="-122"/>
                <a:cs typeface="Times New Roman" pitchFamily="18" charset="0"/>
              </a:rPr>
              <a:t>圣经</a:t>
            </a:r>
            <a:r>
              <a:rPr lang="en-US" altLang="zh-CN" dirty="0" smtClean="0">
                <a:latin typeface="Times New Roman" pitchFamily="18" charset="0"/>
                <a:ea typeface="华文楷体" pitchFamily="2" charset="-122"/>
                <a:cs typeface="Times New Roman" pitchFamily="18" charset="0"/>
              </a:rPr>
              <a:t>》</a:t>
            </a:r>
            <a:r>
              <a:rPr lang="zh-CN" altLang="en-US" dirty="0" smtClean="0">
                <a:latin typeface="Times New Roman" pitchFamily="18" charset="0"/>
                <a:ea typeface="华文楷体" pitchFamily="2" charset="-122"/>
                <a:cs typeface="Times New Roman" pitchFamily="18" charset="0"/>
              </a:rPr>
              <a:t>中的“马太福音”第</a:t>
            </a:r>
            <a:r>
              <a:rPr lang="en-US" altLang="zh-CN" dirty="0" smtClean="0">
                <a:latin typeface="Times New Roman" pitchFamily="18" charset="0"/>
                <a:ea typeface="华文楷体" pitchFamily="2" charset="-122"/>
                <a:cs typeface="Times New Roman" pitchFamily="18" charset="0"/>
              </a:rPr>
              <a:t>25</a:t>
            </a:r>
            <a:r>
              <a:rPr lang="zh-CN" altLang="en-US" dirty="0" smtClean="0">
                <a:latin typeface="Times New Roman" pitchFamily="18" charset="0"/>
                <a:ea typeface="华文楷体" pitchFamily="2" charset="-122"/>
                <a:cs typeface="Times New Roman" pitchFamily="18" charset="0"/>
              </a:rPr>
              <a:t>章有这么几句话：“凡有的，还要加给他教他多余；没有的，连他所有的也要夺过来。”</a:t>
            </a:r>
            <a:r>
              <a:rPr lang="en-US" altLang="zh-CN" dirty="0" smtClean="0">
                <a:latin typeface="Times New Roman" pitchFamily="18" charset="0"/>
                <a:ea typeface="华文楷体" pitchFamily="2" charset="-122"/>
                <a:cs typeface="Times New Roman" pitchFamily="18" charset="0"/>
              </a:rPr>
              <a:t>1973</a:t>
            </a:r>
            <a:r>
              <a:rPr lang="zh-CN" altLang="en-US" dirty="0" smtClean="0">
                <a:latin typeface="Times New Roman" pitchFamily="18" charset="0"/>
                <a:ea typeface="华文楷体" pitchFamily="2" charset="-122"/>
                <a:cs typeface="Times New Roman" pitchFamily="18" charset="0"/>
              </a:rPr>
              <a:t>年，美国科学史家默顿用这句话来概括一种社会心理现象：“对已有相当声誉的科学家做出的科学贡献给予的荣誉越来越多，而对那些未出名的科学家则不承认他们的成绩。”默顿将这种社会心理现象命名为“马太效应”</a:t>
            </a:r>
            <a:r>
              <a:rPr lang="zh-CN" altLang="en-US" dirty="0" smtClean="0">
                <a:latin typeface="Times New Roman" pitchFamily="18" charset="0"/>
                <a:cs typeface="Times New Roman" pitchFamily="18" charset="0"/>
              </a:rPr>
              <a:t>。</a:t>
            </a:r>
            <a:endParaRPr lang="zh-CN" altLang="en-US" dirty="0">
              <a:latin typeface="楷体" pitchFamily="49" charset="-122"/>
              <a:ea typeface="楷体" pitchFamily="49" charset="-122"/>
            </a:endParaRPr>
          </a:p>
        </p:txBody>
      </p:sp>
      <p:sp>
        <p:nvSpPr>
          <p:cNvPr id="12" name="TextBox 11"/>
          <p:cNvSpPr txBox="1"/>
          <p:nvPr/>
        </p:nvSpPr>
        <p:spPr>
          <a:xfrm>
            <a:off x="1115616" y="4725144"/>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9"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checkerboard(across)">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P spid="9" grpId="0" animBg="1"/>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57200" y="44624"/>
            <a:ext cx="8229600" cy="1143000"/>
          </a:xfrm>
        </p:spPr>
        <p:txBody>
          <a:bodyPr/>
          <a:lstStyle/>
          <a:p>
            <a:r>
              <a:rPr lang="zh-CN" altLang="en-US" dirty="0">
                <a:latin typeface="华文新魏" pitchFamily="2" charset="-122"/>
                <a:ea typeface="华文新魏" pitchFamily="2" charset="-122"/>
              </a:rPr>
              <a:t>语词定义</a:t>
            </a:r>
          </a:p>
        </p:txBody>
      </p:sp>
      <p:grpSp>
        <p:nvGrpSpPr>
          <p:cNvPr id="5" name="组合 4"/>
          <p:cNvGrpSpPr/>
          <p:nvPr/>
        </p:nvGrpSpPr>
        <p:grpSpPr>
          <a:xfrm>
            <a:off x="1331640" y="1052736"/>
            <a:ext cx="1944216" cy="720080"/>
            <a:chOff x="3779912" y="1556792"/>
            <a:chExt cx="1944216" cy="720080"/>
          </a:xfrm>
        </p:grpSpPr>
        <p:sp>
          <p:nvSpPr>
            <p:cNvPr id="6" name="横卷形 5"/>
            <p:cNvSpPr/>
            <p:nvPr/>
          </p:nvSpPr>
          <p:spPr>
            <a:xfrm>
              <a:off x="3779912" y="1556792"/>
              <a:ext cx="1800200" cy="720080"/>
            </a:xfrm>
            <a:prstGeom prst="horizont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TextBox 6"/>
            <p:cNvSpPr txBox="1"/>
            <p:nvPr/>
          </p:nvSpPr>
          <p:spPr>
            <a:xfrm>
              <a:off x="3923928" y="1700808"/>
              <a:ext cx="1800200" cy="430887"/>
            </a:xfrm>
            <a:prstGeom prst="rect">
              <a:avLst/>
            </a:prstGeom>
            <a:noFill/>
          </p:spPr>
          <p:txBody>
            <a:bodyPr wrap="square" rtlCol="0">
              <a:spAutoFit/>
            </a:bodyPr>
            <a:lstStyle/>
            <a:p>
              <a:r>
                <a:rPr lang="zh-CN" altLang="en-US" sz="2200" dirty="0">
                  <a:latin typeface="华文行楷" pitchFamily="2" charset="-122"/>
                  <a:ea typeface="华文行楷" pitchFamily="2" charset="-122"/>
                </a:rPr>
                <a:t>约定</a:t>
              </a:r>
              <a:r>
                <a:rPr lang="zh-CN" altLang="en-US" sz="2200" dirty="0" smtClean="0">
                  <a:latin typeface="华文行楷" pitchFamily="2" charset="-122"/>
                  <a:ea typeface="华文行楷" pitchFamily="2" charset="-122"/>
                </a:rPr>
                <a:t>性定义</a:t>
              </a:r>
              <a:endParaRPr lang="zh-CN" altLang="en-US" sz="2200" dirty="0">
                <a:latin typeface="华文行楷" pitchFamily="2" charset="-122"/>
                <a:ea typeface="华文行楷" pitchFamily="2" charset="-122"/>
              </a:endParaRPr>
            </a:p>
          </p:txBody>
        </p:sp>
      </p:grpSp>
      <p:sp>
        <p:nvSpPr>
          <p:cNvPr id="8" name="TextBox 7"/>
          <p:cNvSpPr txBox="1"/>
          <p:nvPr/>
        </p:nvSpPr>
        <p:spPr>
          <a:xfrm>
            <a:off x="1259632" y="1772816"/>
            <a:ext cx="6984776" cy="1200329"/>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在科学研究和日常交往中，有时候为了保密，更多的时候是为了简便和实用，有时候也为了避免一些熟知词语往往带有的某些不相关意义的干扰，需要发明新词，或者需要使用缩略语，这都要求对该新词或缩略语的意义有所</a:t>
            </a:r>
            <a:r>
              <a:rPr lang="zh-CN" altLang="en-US" dirty="0" smtClean="0">
                <a:latin typeface="Times New Roman" pitchFamily="18" charset="0"/>
                <a:cs typeface="Times New Roman" pitchFamily="18" charset="0"/>
              </a:rPr>
              <a:t>规定。</a:t>
            </a:r>
            <a:endParaRPr lang="zh-CN" altLang="en-US" dirty="0"/>
          </a:p>
        </p:txBody>
      </p:sp>
      <p:sp>
        <p:nvSpPr>
          <p:cNvPr id="9" name="TextBox 8"/>
          <p:cNvSpPr txBox="1"/>
          <p:nvPr/>
        </p:nvSpPr>
        <p:spPr>
          <a:xfrm>
            <a:off x="1259632" y="2996952"/>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10" name="TextBox 9"/>
          <p:cNvSpPr txBox="1"/>
          <p:nvPr/>
        </p:nvSpPr>
        <p:spPr>
          <a:xfrm>
            <a:off x="2051720" y="3068960"/>
            <a:ext cx="5976664" cy="923330"/>
          </a:xfrm>
          <a:prstGeom prst="rect">
            <a:avLst/>
          </a:prstGeom>
          <a:noFill/>
        </p:spPr>
        <p:txBody>
          <a:bodyPr wrap="square" rtlCol="0">
            <a:spAutoFit/>
          </a:bodyPr>
          <a:lstStyle/>
          <a:p>
            <a:r>
              <a:rPr lang="zh-CN" altLang="en-US" dirty="0" smtClean="0">
                <a:latin typeface="Times New Roman" pitchFamily="18" charset="0"/>
                <a:ea typeface="华文楷体" pitchFamily="2" charset="-122"/>
                <a:cs typeface="Times New Roman" pitchFamily="18" charset="0"/>
              </a:rPr>
              <a:t>三个代表：指“代表先进生产力，代表先进文化的前进方向，代表最广大人民群众的最根本的利益”，是由中国共产党前总书记江泽民所提出的一种建党学说的简称</a:t>
            </a:r>
            <a:r>
              <a:rPr lang="zh-CN" altLang="en-US" dirty="0" smtClean="0">
                <a:latin typeface="Times New Roman" pitchFamily="18" charset="0"/>
                <a:cs typeface="Times New Roman" pitchFamily="18" charset="0"/>
              </a:rPr>
              <a:t>。</a:t>
            </a:r>
            <a:endParaRPr lang="zh-CN" altLang="en-US" dirty="0"/>
          </a:p>
        </p:txBody>
      </p:sp>
      <p:sp>
        <p:nvSpPr>
          <p:cNvPr id="11" name="横卷形 10"/>
          <p:cNvSpPr/>
          <p:nvPr/>
        </p:nvSpPr>
        <p:spPr>
          <a:xfrm>
            <a:off x="1331640" y="4077072"/>
            <a:ext cx="1800200" cy="720080"/>
          </a:xfrm>
          <a:prstGeom prst="horizontalScroll">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TextBox 11"/>
          <p:cNvSpPr txBox="1"/>
          <p:nvPr/>
        </p:nvSpPr>
        <p:spPr>
          <a:xfrm>
            <a:off x="1475656" y="4221088"/>
            <a:ext cx="1800200" cy="430887"/>
          </a:xfrm>
          <a:prstGeom prst="rect">
            <a:avLst/>
          </a:prstGeom>
          <a:noFill/>
        </p:spPr>
        <p:txBody>
          <a:bodyPr wrap="square" rtlCol="0">
            <a:spAutoFit/>
          </a:bodyPr>
          <a:lstStyle/>
          <a:p>
            <a:r>
              <a:rPr lang="zh-CN" altLang="en-US" sz="2200" dirty="0">
                <a:latin typeface="华文行楷" pitchFamily="2" charset="-122"/>
                <a:ea typeface="华文行楷" pitchFamily="2" charset="-122"/>
              </a:rPr>
              <a:t>修正</a:t>
            </a:r>
            <a:r>
              <a:rPr lang="zh-CN" altLang="en-US" sz="2200" dirty="0" smtClean="0">
                <a:latin typeface="华文行楷" pitchFamily="2" charset="-122"/>
                <a:ea typeface="华文行楷" pitchFamily="2" charset="-122"/>
              </a:rPr>
              <a:t>性定义</a:t>
            </a:r>
            <a:endParaRPr lang="zh-CN" altLang="en-US" sz="2200" dirty="0">
              <a:latin typeface="华文行楷" pitchFamily="2" charset="-122"/>
              <a:ea typeface="华文行楷" pitchFamily="2" charset="-122"/>
            </a:endParaRPr>
          </a:p>
        </p:txBody>
      </p:sp>
      <p:sp>
        <p:nvSpPr>
          <p:cNvPr id="13" name="TextBox 12"/>
          <p:cNvSpPr txBox="1"/>
          <p:nvPr/>
        </p:nvSpPr>
        <p:spPr>
          <a:xfrm>
            <a:off x="1259632" y="4797152"/>
            <a:ext cx="6696744" cy="646331"/>
          </a:xfrm>
          <a:prstGeom prst="rect">
            <a:avLst/>
          </a:prstGeom>
          <a:noFill/>
        </p:spPr>
        <p:txBody>
          <a:bodyPr wrap="square" rtlCol="0">
            <a:spAutoFit/>
          </a:bodyPr>
          <a:lstStyle/>
          <a:p>
            <a:r>
              <a:rPr lang="zh-CN" altLang="en-US" dirty="0" smtClean="0">
                <a:latin typeface="Times New Roman" pitchFamily="18" charset="0"/>
                <a:cs typeface="Times New Roman" pitchFamily="18" charset="0"/>
              </a:rPr>
              <a:t>既有描述性成分，也有约定性或规定性成分。在科学研究中、在法律、法规等政策性文件中用得比较</a:t>
            </a:r>
            <a:r>
              <a:rPr lang="zh-CN" altLang="en-US" dirty="0" smtClean="0">
                <a:latin typeface="Times New Roman" pitchFamily="18" charset="0"/>
                <a:cs typeface="Times New Roman" pitchFamily="18" charset="0"/>
              </a:rPr>
              <a:t>多。</a:t>
            </a:r>
            <a:endParaRPr lang="zh-CN" altLang="en-US" dirty="0"/>
          </a:p>
        </p:txBody>
      </p:sp>
      <p:sp>
        <p:nvSpPr>
          <p:cNvPr id="14" name="TextBox 13"/>
          <p:cNvSpPr txBox="1"/>
          <p:nvPr/>
        </p:nvSpPr>
        <p:spPr>
          <a:xfrm>
            <a:off x="1259632" y="5445224"/>
            <a:ext cx="864096" cy="369332"/>
          </a:xfrm>
          <a:prstGeom prst="rect">
            <a:avLst/>
          </a:prstGeom>
          <a:noFill/>
        </p:spPr>
        <p:txBody>
          <a:bodyPr wrap="square" rtlCol="0">
            <a:spAutoFit/>
          </a:bodyPr>
          <a:lstStyle/>
          <a:p>
            <a:r>
              <a:rPr lang="zh-CN" altLang="en-US" u="sng" dirty="0" smtClean="0">
                <a:solidFill>
                  <a:srgbClr val="C00000"/>
                </a:solidFill>
                <a:latin typeface="华文行楷" pitchFamily="2" charset="-122"/>
                <a:ea typeface="华文行楷" pitchFamily="2" charset="-122"/>
              </a:rPr>
              <a:t>例如：</a:t>
            </a:r>
            <a:endParaRPr lang="zh-CN" altLang="en-US" u="sng" dirty="0">
              <a:solidFill>
                <a:srgbClr val="C00000"/>
              </a:solidFill>
              <a:latin typeface="华文行楷" pitchFamily="2" charset="-122"/>
              <a:ea typeface="华文行楷" pitchFamily="2" charset="-122"/>
            </a:endParaRPr>
          </a:p>
        </p:txBody>
      </p:sp>
      <p:sp>
        <p:nvSpPr>
          <p:cNvPr id="15" name="TextBox 14"/>
          <p:cNvSpPr txBox="1"/>
          <p:nvPr/>
        </p:nvSpPr>
        <p:spPr>
          <a:xfrm>
            <a:off x="2051720" y="5517232"/>
            <a:ext cx="6120680" cy="923330"/>
          </a:xfrm>
          <a:prstGeom prst="rect">
            <a:avLst/>
          </a:prstGeom>
          <a:noFill/>
        </p:spPr>
        <p:txBody>
          <a:bodyPr wrap="square" rtlCol="0">
            <a:spAutoFit/>
          </a:bodyPr>
          <a:lstStyle/>
          <a:p>
            <a:r>
              <a:rPr lang="zh-CN" altLang="en-US" dirty="0" smtClean="0">
                <a:latin typeface="Times New Roman" pitchFamily="18" charset="0"/>
                <a:ea typeface="华文楷体"/>
                <a:cs typeface="Times New Roman" pitchFamily="18" charset="0"/>
              </a:rPr>
              <a:t>任何人遇到以下情况之一，即</a:t>
            </a:r>
            <a:r>
              <a:rPr lang="zh-CN" altLang="en-US" b="1" dirty="0" smtClean="0">
                <a:latin typeface="Times New Roman" pitchFamily="18" charset="0"/>
                <a:ea typeface="华文楷体"/>
                <a:cs typeface="Times New Roman" pitchFamily="18" charset="0"/>
              </a:rPr>
              <a:t>死亡</a:t>
            </a:r>
            <a:r>
              <a:rPr lang="zh-CN" altLang="en-US" dirty="0" smtClean="0">
                <a:latin typeface="Times New Roman" pitchFamily="18" charset="0"/>
                <a:ea typeface="华文楷体"/>
                <a:cs typeface="Times New Roman" pitchFamily="18" charset="0"/>
              </a:rPr>
              <a:t>：①循环系统和呼吸系统的功能永久停顿；②整个脑部（包括脑髓体）所有功能永久停顿</a:t>
            </a:r>
            <a:r>
              <a:rPr lang="zh-CN" altLang="en-US" dirty="0" smtClean="0">
                <a:latin typeface="Times New Roman" pitchFamily="18" charset="0"/>
                <a:cs typeface="Times New Roman" pitchFamily="18" charset="0"/>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9"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checkerboard(across)">
                                      <p:cBhvr>
                                        <p:cTn id="24" dur="500"/>
                                        <p:tgtEl>
                                          <p:spTgt spid="12"/>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55"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strVal val="#ppt_w*0.70"/>
                                          </p:val>
                                        </p:tav>
                                        <p:tav tm="100000">
                                          <p:val>
                                            <p:strVal val="#ppt_w"/>
                                          </p:val>
                                        </p:tav>
                                      </p:tavLst>
                                    </p:anim>
                                    <p:anim calcmode="lin" valueType="num">
                                      <p:cBhvr>
                                        <p:cTn id="42" dur="500" fill="hold"/>
                                        <p:tgtEl>
                                          <p:spTgt spid="15"/>
                                        </p:tgtEl>
                                        <p:attrNameLst>
                                          <p:attrName>ppt_h</p:attrName>
                                        </p:attrNameLst>
                                      </p:cBhvr>
                                      <p:tavLst>
                                        <p:tav tm="0">
                                          <p:val>
                                            <p:strVal val="#ppt_h"/>
                                          </p:val>
                                        </p:tav>
                                        <p:tav tm="100000">
                                          <p:val>
                                            <p:strVal val="#ppt_h"/>
                                          </p:val>
                                        </p:tav>
                                      </p:tavLst>
                                    </p:anim>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定义的规则和作用</a:t>
            </a:r>
            <a:endParaRPr lang="zh-CN" altLang="en-US" dirty="0">
              <a:latin typeface="华文新魏" pitchFamily="2" charset="-122"/>
              <a:ea typeface="华文新魏" pitchFamily="2" charset="-122"/>
            </a:endParaRPr>
          </a:p>
        </p:txBody>
      </p:sp>
      <p:sp>
        <p:nvSpPr>
          <p:cNvPr id="4" name="TextBox 3"/>
          <p:cNvSpPr txBox="1"/>
          <p:nvPr/>
        </p:nvSpPr>
        <p:spPr>
          <a:xfrm>
            <a:off x="2339752" y="1412776"/>
            <a:ext cx="4536504"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定义必须揭示被定义对象的区别性特征</a:t>
            </a:r>
            <a:endParaRPr lang="zh-CN" altLang="en-US" sz="2000" dirty="0">
              <a:latin typeface="华文行楷" pitchFamily="2" charset="-122"/>
              <a:ea typeface="华文行楷" pitchFamily="2" charset="-122"/>
            </a:endParaRPr>
          </a:p>
        </p:txBody>
      </p:sp>
      <p:sp>
        <p:nvSpPr>
          <p:cNvPr id="5" name="TextBox 4"/>
          <p:cNvSpPr txBox="1"/>
          <p:nvPr/>
        </p:nvSpPr>
        <p:spPr>
          <a:xfrm>
            <a:off x="2555776" y="2132856"/>
            <a:ext cx="4032448"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定义项和被定义项的外延必须相等</a:t>
            </a:r>
            <a:endParaRPr lang="zh-CN" altLang="en-US" sz="2000" dirty="0">
              <a:latin typeface="华文行楷" pitchFamily="2" charset="-122"/>
              <a:ea typeface="华文行楷" pitchFamily="2" charset="-122"/>
            </a:endParaRPr>
          </a:p>
        </p:txBody>
      </p:sp>
      <p:sp>
        <p:nvSpPr>
          <p:cNvPr id="6" name="TextBox 5"/>
          <p:cNvSpPr txBox="1"/>
          <p:nvPr/>
        </p:nvSpPr>
        <p:spPr>
          <a:xfrm>
            <a:off x="3419872" y="2852936"/>
            <a:ext cx="2232248"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定义不能恶性循环</a:t>
            </a:r>
            <a:endParaRPr lang="zh-CN" altLang="en-US" sz="2000" dirty="0">
              <a:latin typeface="华文行楷" pitchFamily="2" charset="-122"/>
              <a:ea typeface="华文行楷" pitchFamily="2" charset="-122"/>
            </a:endParaRPr>
          </a:p>
        </p:txBody>
      </p:sp>
      <p:sp>
        <p:nvSpPr>
          <p:cNvPr id="7" name="TextBox 6"/>
          <p:cNvSpPr txBox="1"/>
          <p:nvPr/>
        </p:nvSpPr>
        <p:spPr>
          <a:xfrm>
            <a:off x="2051720" y="3532946"/>
            <a:ext cx="5040560"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定义不可用含混、隐晦或比喻性词语来表示</a:t>
            </a:r>
            <a:endParaRPr lang="zh-CN" altLang="en-US" sz="2000" dirty="0">
              <a:latin typeface="华文行楷" pitchFamily="2" charset="-122"/>
              <a:ea typeface="华文行楷" pitchFamily="2" charset="-122"/>
            </a:endParaRPr>
          </a:p>
        </p:txBody>
      </p:sp>
      <p:sp>
        <p:nvSpPr>
          <p:cNvPr id="8" name="TextBox 7"/>
          <p:cNvSpPr txBox="1"/>
          <p:nvPr/>
        </p:nvSpPr>
        <p:spPr>
          <a:xfrm>
            <a:off x="2195736" y="4221088"/>
            <a:ext cx="4824536"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除非必要，定义不能用否定形式或负概念</a:t>
            </a:r>
            <a:endParaRPr lang="zh-CN" altLang="en-US" sz="2000" dirty="0">
              <a:latin typeface="华文行楷" pitchFamily="2" charset="-122"/>
              <a:ea typeface="华文行楷" pitchFamily="2" charset="-122"/>
            </a:endParaRPr>
          </a:p>
        </p:txBody>
      </p:sp>
      <p:sp>
        <p:nvSpPr>
          <p:cNvPr id="9" name="TextBox 8"/>
          <p:cNvSpPr txBox="1"/>
          <p:nvPr/>
        </p:nvSpPr>
        <p:spPr>
          <a:xfrm>
            <a:off x="3995936" y="4973106"/>
            <a:ext cx="1944216" cy="461665"/>
          </a:xfrm>
          <a:prstGeom prst="rect">
            <a:avLst/>
          </a:prstGeom>
          <a:noFill/>
        </p:spPr>
        <p:txBody>
          <a:bodyPr wrap="square" rtlCol="0">
            <a:spAutoFit/>
          </a:bodyPr>
          <a:lstStyle/>
          <a:p>
            <a:r>
              <a:rPr lang="zh-CN" altLang="en-US" sz="2400" dirty="0" smtClean="0">
                <a:solidFill>
                  <a:srgbClr val="C00000"/>
                </a:solidFill>
                <a:latin typeface="隶书" pitchFamily="49" charset="-122"/>
                <a:ea typeface="隶书" pitchFamily="49" charset="-122"/>
              </a:rPr>
              <a:t>综合作用</a:t>
            </a:r>
            <a:endParaRPr lang="zh-CN" altLang="en-US" sz="2400" dirty="0">
              <a:solidFill>
                <a:srgbClr val="C00000"/>
              </a:solidFill>
              <a:latin typeface="隶书" pitchFamily="49" charset="-122"/>
              <a:ea typeface="隶书" pitchFamily="49" charset="-122"/>
            </a:endParaRPr>
          </a:p>
        </p:txBody>
      </p:sp>
      <p:sp>
        <p:nvSpPr>
          <p:cNvPr id="10" name="TextBox 9"/>
          <p:cNvSpPr txBox="1"/>
          <p:nvPr/>
        </p:nvSpPr>
        <p:spPr>
          <a:xfrm>
            <a:off x="2699792" y="5517232"/>
            <a:ext cx="1944216" cy="461665"/>
          </a:xfrm>
          <a:prstGeom prst="rect">
            <a:avLst/>
          </a:prstGeom>
          <a:noFill/>
        </p:spPr>
        <p:txBody>
          <a:bodyPr wrap="square" rtlCol="0">
            <a:spAutoFit/>
          </a:bodyPr>
          <a:lstStyle/>
          <a:p>
            <a:r>
              <a:rPr lang="zh-CN" altLang="en-US" sz="2400" dirty="0" smtClean="0">
                <a:solidFill>
                  <a:srgbClr val="C00000"/>
                </a:solidFill>
                <a:latin typeface="隶书" pitchFamily="49" charset="-122"/>
                <a:ea typeface="隶书" pitchFamily="49" charset="-122"/>
              </a:rPr>
              <a:t>分析作用</a:t>
            </a:r>
            <a:endParaRPr lang="zh-CN" altLang="en-US" sz="2400" dirty="0">
              <a:solidFill>
                <a:srgbClr val="C00000"/>
              </a:solidFill>
              <a:latin typeface="隶书" pitchFamily="49" charset="-122"/>
              <a:ea typeface="隶书" pitchFamily="49" charset="-122"/>
            </a:endParaRPr>
          </a:p>
        </p:txBody>
      </p:sp>
      <p:sp>
        <p:nvSpPr>
          <p:cNvPr id="11" name="TextBox 10"/>
          <p:cNvSpPr txBox="1"/>
          <p:nvPr/>
        </p:nvSpPr>
        <p:spPr>
          <a:xfrm>
            <a:off x="5292080" y="5517232"/>
            <a:ext cx="1944216" cy="461665"/>
          </a:xfrm>
          <a:prstGeom prst="rect">
            <a:avLst/>
          </a:prstGeom>
          <a:noFill/>
        </p:spPr>
        <p:txBody>
          <a:bodyPr wrap="square" rtlCol="0">
            <a:spAutoFit/>
          </a:bodyPr>
          <a:lstStyle/>
          <a:p>
            <a:r>
              <a:rPr lang="zh-CN" altLang="en-US" sz="2400" dirty="0">
                <a:solidFill>
                  <a:srgbClr val="C00000"/>
                </a:solidFill>
                <a:latin typeface="隶书" pitchFamily="49" charset="-122"/>
                <a:ea typeface="隶书" pitchFamily="49" charset="-122"/>
              </a:rPr>
              <a:t>交流</a:t>
            </a:r>
            <a:r>
              <a:rPr lang="zh-CN" altLang="en-US" sz="2400" dirty="0" smtClean="0">
                <a:solidFill>
                  <a:srgbClr val="C00000"/>
                </a:solidFill>
                <a:latin typeface="隶书" pitchFamily="49" charset="-122"/>
                <a:ea typeface="隶书" pitchFamily="49" charset="-122"/>
              </a:rPr>
              <a:t>作用</a:t>
            </a:r>
            <a:endParaRPr lang="zh-CN" altLang="en-US" sz="2400" dirty="0">
              <a:solidFill>
                <a:srgbClr val="C00000"/>
              </a:solidFill>
              <a:latin typeface="隶书" pitchFamily="49" charset="-122"/>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2"/>
                                          </p:val>
                                        </p:tav>
                                        <p:tav tm="100000">
                                          <p:val>
                                            <p:strVal val="#ppt_x"/>
                                          </p:val>
                                        </p:tav>
                                      </p:tavLst>
                                    </p:anim>
                                    <p:anim calcmode="lin" valueType="num">
                                      <p:cBhvr>
                                        <p:cTn id="13" dur="5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strVal val="#ppt_w*0.70"/>
                                          </p:val>
                                        </p:tav>
                                        <p:tav tm="100000">
                                          <p:val>
                                            <p:strVal val="#ppt_w"/>
                                          </p:val>
                                        </p:tav>
                                      </p:tavLst>
                                    </p:anim>
                                    <p:anim calcmode="lin" valueType="num">
                                      <p:cBhvr>
                                        <p:cTn id="25" dur="500" fill="hold"/>
                                        <p:tgtEl>
                                          <p:spTgt spid="7"/>
                                        </p:tgtEl>
                                        <p:attrNameLst>
                                          <p:attrName>ppt_h</p:attrName>
                                        </p:attrNameLst>
                                      </p:cBhvr>
                                      <p:tavLst>
                                        <p:tav tm="0">
                                          <p:val>
                                            <p:strVal val="#ppt_h"/>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ox(i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592267"/>
            <a:ext cx="366712" cy="365125"/>
          </a:xfrm>
          <a:noFill/>
          <a:ln>
            <a:miter lim="800000"/>
            <a:headEnd/>
            <a:tailEnd/>
          </a:ln>
        </p:spPr>
        <p:txBody>
          <a:bodyPr/>
          <a:lstStyle/>
          <a:p>
            <a:fld id="{19B5CF85-BDD1-4515-8011-0F53550CA818}" type="slidenum">
              <a:rPr lang="zh-CN" altLang="en-US"/>
              <a:pPr/>
              <a:t>14</a:t>
            </a:fld>
            <a:endParaRPr lang="en-US" altLang="zh-CN"/>
          </a:p>
        </p:txBody>
      </p:sp>
      <p:sp>
        <p:nvSpPr>
          <p:cNvPr id="6" name="标题 1"/>
          <p:cNvSpPr>
            <a:spLocks noGrp="1"/>
          </p:cNvSpPr>
          <p:nvPr>
            <p:ph type="title"/>
          </p:nvPr>
        </p:nvSpPr>
        <p:spPr>
          <a:xfrm>
            <a:off x="457200" y="469257"/>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a:t>
            </a:r>
            <a:r>
              <a:rPr lang="zh-CN" altLang="en-US" dirty="0">
                <a:latin typeface="华文新魏" pitchFamily="2" charset="-122"/>
                <a:ea typeface="华文新魏" pitchFamily="2" charset="-122"/>
              </a:rPr>
              <a:t>六</a:t>
            </a:r>
            <a:r>
              <a:rPr lang="zh-CN" altLang="en-US" dirty="0" smtClean="0">
                <a:latin typeface="华文新魏" pitchFamily="2" charset="-122"/>
                <a:ea typeface="华文新魏" pitchFamily="2" charset="-122"/>
              </a:rPr>
              <a:t>章</a:t>
            </a:r>
            <a:r>
              <a:rPr lang="en-US" dirty="0" smtClean="0">
                <a:latin typeface="华文新魏" pitchFamily="2" charset="-122"/>
                <a:ea typeface="华文新魏" pitchFamily="2" charset="-122"/>
              </a:rPr>
              <a:t>  </a:t>
            </a:r>
            <a:r>
              <a:rPr lang="zh-CN" altLang="en-US" dirty="0">
                <a:latin typeface="华文新魏" pitchFamily="2" charset="-122"/>
                <a:ea typeface="华文新魏" pitchFamily="2" charset="-122"/>
              </a:rPr>
              <a:t>非形式</a:t>
            </a:r>
            <a:r>
              <a:rPr lang="zh-CN" altLang="en-US" dirty="0" smtClean="0">
                <a:latin typeface="华文新魏" pitchFamily="2" charset="-122"/>
                <a:ea typeface="华文新魏" pitchFamily="2" charset="-122"/>
              </a:rPr>
              <a:t>逻辑</a:t>
            </a:r>
            <a:endParaRPr lang="zh-CN" altLang="en-US" dirty="0">
              <a:latin typeface="华文新魏" pitchFamily="2" charset="-122"/>
              <a:ea typeface="华文新魏" pitchFamily="2" charset="-122"/>
            </a:endParaRPr>
          </a:p>
        </p:txBody>
      </p:sp>
      <p:sp>
        <p:nvSpPr>
          <p:cNvPr id="12" name="TextBox 11"/>
          <p:cNvSpPr txBox="1"/>
          <p:nvPr/>
        </p:nvSpPr>
        <p:spPr>
          <a:xfrm>
            <a:off x="4139952" y="2895327"/>
            <a:ext cx="5112568" cy="461665"/>
          </a:xfrm>
          <a:prstGeom prst="rect">
            <a:avLst/>
          </a:prstGeom>
          <a:noFill/>
        </p:spPr>
        <p:txBody>
          <a:bodyPr wrap="square" rtlCol="0">
            <a:spAutoFit/>
          </a:bodyPr>
          <a:lstStyle/>
          <a:p>
            <a:r>
              <a:rPr lang="zh-CN" altLang="en-US" sz="2400" b="1" dirty="0" smtClean="0">
                <a:latin typeface="+mn-ea"/>
              </a:rPr>
              <a:t>论证理论</a:t>
            </a:r>
            <a:endParaRPr lang="zh-CN" altLang="en-US" sz="2400" b="1" dirty="0">
              <a:latin typeface="+mn-ea"/>
            </a:endParaRPr>
          </a:p>
        </p:txBody>
      </p:sp>
      <p:sp>
        <p:nvSpPr>
          <p:cNvPr id="13" name="TextBox 12"/>
          <p:cNvSpPr txBox="1"/>
          <p:nvPr/>
        </p:nvSpPr>
        <p:spPr>
          <a:xfrm>
            <a:off x="4139952" y="3756545"/>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谬误理论</a:t>
            </a:r>
            <a:endParaRPr lang="zh-CN" altLang="en-US" sz="2400" b="1" dirty="0">
              <a:solidFill>
                <a:schemeClr val="bg1">
                  <a:lumMod val="85000"/>
                </a:schemeClr>
              </a:solidFill>
              <a:latin typeface="+mn-ea"/>
            </a:endParaRPr>
          </a:p>
        </p:txBody>
      </p:sp>
      <p:sp>
        <p:nvSpPr>
          <p:cNvPr id="16" name="TextBox 15"/>
          <p:cNvSpPr txBox="1"/>
          <p:nvPr/>
        </p:nvSpPr>
        <p:spPr>
          <a:xfrm>
            <a:off x="4139952" y="2028353"/>
            <a:ext cx="5112568" cy="461665"/>
          </a:xfrm>
          <a:prstGeom prst="rect">
            <a:avLst/>
          </a:prstGeom>
          <a:noFill/>
        </p:spPr>
        <p:txBody>
          <a:bodyPr wrap="square" rtlCol="0">
            <a:spAutoFit/>
          </a:bodyPr>
          <a:lstStyle/>
          <a:p>
            <a:r>
              <a:rPr lang="zh-CN" altLang="en-US" sz="2400" b="1" dirty="0" smtClean="0">
                <a:solidFill>
                  <a:schemeClr val="bg1">
                    <a:lumMod val="85000"/>
                  </a:schemeClr>
                </a:solidFill>
              </a:rPr>
              <a:t>定义理论</a:t>
            </a:r>
            <a:endParaRPr lang="zh-CN" altLang="en-US" sz="2400" b="1" dirty="0">
              <a:solidFill>
                <a:schemeClr val="bg1">
                  <a:lumMod val="85000"/>
                </a:schemeClr>
              </a:solidFill>
            </a:endParaRPr>
          </a:p>
        </p:txBody>
      </p:sp>
      <p:sp>
        <p:nvSpPr>
          <p:cNvPr id="10" name="太阳形 9"/>
          <p:cNvSpPr/>
          <p:nvPr/>
        </p:nvSpPr>
        <p:spPr>
          <a:xfrm>
            <a:off x="3275856" y="1988840"/>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1" name="太阳形 10"/>
          <p:cNvSpPr/>
          <p:nvPr/>
        </p:nvSpPr>
        <p:spPr>
          <a:xfrm>
            <a:off x="3275856" y="2852936"/>
            <a:ext cx="576064" cy="576064"/>
          </a:xfrm>
          <a:prstGeom prst="sun">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4" name="太阳形 13"/>
          <p:cNvSpPr/>
          <p:nvPr/>
        </p:nvSpPr>
        <p:spPr>
          <a:xfrm>
            <a:off x="3275856" y="3717032"/>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3792"/>
            <a:ext cx="8229600" cy="1143000"/>
          </a:xfrm>
        </p:spPr>
        <p:txBody>
          <a:bodyPr/>
          <a:lstStyle/>
          <a:p>
            <a:r>
              <a:rPr lang="zh-CN" altLang="en-US" dirty="0" smtClean="0">
                <a:latin typeface="华文新魏" pitchFamily="2" charset="-122"/>
                <a:ea typeface="华文新魏" pitchFamily="2" charset="-122"/>
              </a:rPr>
              <a:t>把一切送上理智的法庭</a:t>
            </a:r>
            <a:endParaRPr lang="zh-CN" altLang="en-US" dirty="0">
              <a:latin typeface="华文新魏" pitchFamily="2" charset="-122"/>
              <a:ea typeface="华文新魏" pitchFamily="2" charset="-122"/>
            </a:endParaRPr>
          </a:p>
        </p:txBody>
      </p:sp>
      <p:sp>
        <p:nvSpPr>
          <p:cNvPr id="4" name="TextBox 3"/>
          <p:cNvSpPr txBox="1"/>
          <p:nvPr/>
        </p:nvSpPr>
        <p:spPr>
          <a:xfrm>
            <a:off x="899592" y="1556792"/>
            <a:ext cx="1440160"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基本预设：</a:t>
            </a:r>
            <a:endParaRPr lang="zh-CN" altLang="en-US" sz="2200" u="sng" dirty="0">
              <a:solidFill>
                <a:srgbClr val="C00000"/>
              </a:solidFill>
              <a:latin typeface="华文行楷" pitchFamily="2" charset="-122"/>
              <a:ea typeface="华文行楷" pitchFamily="2" charset="-122"/>
            </a:endParaRPr>
          </a:p>
        </p:txBody>
      </p:sp>
      <p:sp>
        <p:nvSpPr>
          <p:cNvPr id="5" name="TextBox 4"/>
          <p:cNvSpPr txBox="1"/>
          <p:nvPr/>
        </p:nvSpPr>
        <p:spPr>
          <a:xfrm>
            <a:off x="1043608" y="1987679"/>
            <a:ext cx="7200800" cy="1172629"/>
          </a:xfrm>
          <a:prstGeom prst="rect">
            <a:avLst/>
          </a:prstGeom>
          <a:noFill/>
        </p:spPr>
        <p:txBody>
          <a:bodyPr wrap="square" rtlCol="0">
            <a:spAutoFit/>
          </a:bodyPr>
          <a:lstStyle/>
          <a:p>
            <a:pPr>
              <a:lnSpc>
                <a:spcPct val="130000"/>
              </a:lnSpc>
            </a:pPr>
            <a:r>
              <a:rPr lang="en-US" altLang="zh-CN" dirty="0" smtClean="0">
                <a:latin typeface="楷体" pitchFamily="49" charset="-122"/>
                <a:ea typeface="楷体" pitchFamily="49" charset="-122"/>
                <a:cs typeface="Times New Roman" pitchFamily="18" charset="0"/>
              </a:rPr>
              <a:t>(1)</a:t>
            </a:r>
            <a:r>
              <a:rPr lang="zh-CN" altLang="en-US" dirty="0" smtClean="0">
                <a:latin typeface="楷体" pitchFamily="49" charset="-122"/>
                <a:ea typeface="楷体" pitchFamily="49" charset="-122"/>
                <a:cs typeface="Times New Roman" pitchFamily="18" charset="0"/>
              </a:rPr>
              <a:t>任何观点或思想都可以、并且应该受到质疑和批判</a:t>
            </a:r>
            <a:r>
              <a:rPr lang="en-US" altLang="zh-CN" dirty="0" smtClean="0">
                <a:latin typeface="楷体" pitchFamily="49" charset="-122"/>
                <a:ea typeface="楷体" pitchFamily="49" charset="-122"/>
                <a:cs typeface="Times New Roman" pitchFamily="18" charset="0"/>
              </a:rPr>
              <a:t>;</a:t>
            </a:r>
          </a:p>
          <a:p>
            <a:pPr>
              <a:lnSpc>
                <a:spcPct val="130000"/>
              </a:lnSpc>
            </a:pPr>
            <a:r>
              <a:rPr lang="en-US" altLang="zh-CN" dirty="0" smtClean="0">
                <a:latin typeface="楷体" pitchFamily="49" charset="-122"/>
                <a:ea typeface="楷体" pitchFamily="49" charset="-122"/>
                <a:cs typeface="Times New Roman" pitchFamily="18" charset="0"/>
              </a:rPr>
              <a:t>(2)</a:t>
            </a:r>
            <a:r>
              <a:rPr lang="zh-CN" altLang="en-US" dirty="0" smtClean="0">
                <a:latin typeface="楷体" pitchFamily="49" charset="-122"/>
                <a:ea typeface="楷体" pitchFamily="49" charset="-122"/>
                <a:cs typeface="Times New Roman" pitchFamily="18" charset="0"/>
              </a:rPr>
              <a:t>任何观点或思想都应该通过理性的论证来为自身辩护</a:t>
            </a:r>
            <a:r>
              <a:rPr lang="en-US" altLang="zh-CN" dirty="0" smtClean="0">
                <a:latin typeface="楷体" pitchFamily="49" charset="-122"/>
                <a:ea typeface="楷体" pitchFamily="49" charset="-122"/>
                <a:cs typeface="Times New Roman" pitchFamily="18" charset="0"/>
              </a:rPr>
              <a:t>;</a:t>
            </a:r>
          </a:p>
          <a:p>
            <a:pPr>
              <a:lnSpc>
                <a:spcPct val="130000"/>
              </a:lnSpc>
            </a:pPr>
            <a:r>
              <a:rPr lang="en-US" altLang="zh-CN" dirty="0" smtClean="0">
                <a:latin typeface="楷体" pitchFamily="49" charset="-122"/>
                <a:ea typeface="楷体" pitchFamily="49" charset="-122"/>
                <a:cs typeface="Times New Roman" pitchFamily="18" charset="0"/>
              </a:rPr>
              <a:t>(3)</a:t>
            </a:r>
            <a:r>
              <a:rPr lang="zh-CN" altLang="en-US" dirty="0" smtClean="0">
                <a:latin typeface="楷体" pitchFamily="49" charset="-122"/>
                <a:ea typeface="楷体" pitchFamily="49" charset="-122"/>
                <a:cs typeface="Times New Roman" pitchFamily="18" charset="0"/>
              </a:rPr>
              <a:t>在理性和逻辑面前，任何人或思想都没有对于质疑、批判的</a:t>
            </a:r>
            <a:r>
              <a:rPr lang="zh-CN" altLang="en-US" dirty="0" smtClean="0">
                <a:latin typeface="楷体" pitchFamily="49" charset="-122"/>
                <a:ea typeface="楷体" pitchFamily="49" charset="-122"/>
                <a:cs typeface="Times New Roman" pitchFamily="18" charset="0"/>
              </a:rPr>
              <a:t>豁免权。</a:t>
            </a:r>
            <a:endParaRPr lang="zh-CN" altLang="en-US" dirty="0">
              <a:latin typeface="楷体" pitchFamily="49" charset="-122"/>
              <a:ea typeface="楷体" pitchFamily="49" charset="-122"/>
            </a:endParaRPr>
          </a:p>
        </p:txBody>
      </p:sp>
      <p:sp>
        <p:nvSpPr>
          <p:cNvPr id="6" name="TextBox 5"/>
          <p:cNvSpPr txBox="1"/>
          <p:nvPr/>
        </p:nvSpPr>
        <p:spPr>
          <a:xfrm>
            <a:off x="899592" y="3459603"/>
            <a:ext cx="2808312" cy="430887"/>
          </a:xfrm>
          <a:prstGeom prst="rect">
            <a:avLst/>
          </a:prstGeom>
          <a:noFill/>
        </p:spPr>
        <p:txBody>
          <a:bodyPr wrap="square" rtlCol="0">
            <a:spAutoFit/>
          </a:bodyPr>
          <a:lstStyle/>
          <a:p>
            <a:r>
              <a:rPr lang="zh-CN" altLang="en-US" sz="2200" u="sng" dirty="0" smtClean="0">
                <a:solidFill>
                  <a:srgbClr val="0070C0"/>
                </a:solidFill>
                <a:latin typeface="华文行楷" pitchFamily="2" charset="-122"/>
                <a:ea typeface="华文行楷" pitchFamily="2" charset="-122"/>
                <a:cs typeface="Times New Roman" pitchFamily="18" charset="0"/>
              </a:rPr>
              <a:t>培养学生这样的品质</a:t>
            </a:r>
            <a:r>
              <a:rPr lang="en-US" altLang="zh-CN" sz="2200" u="sng" dirty="0" smtClean="0">
                <a:solidFill>
                  <a:srgbClr val="0070C0"/>
                </a:solidFill>
                <a:latin typeface="华文行楷" pitchFamily="2" charset="-122"/>
                <a:ea typeface="华文行楷" pitchFamily="2" charset="-122"/>
                <a:cs typeface="Times New Roman" pitchFamily="18" charset="0"/>
              </a:rPr>
              <a:t>:</a:t>
            </a:r>
            <a:endParaRPr lang="zh-CN" altLang="en-US" sz="2200" u="sng" dirty="0">
              <a:solidFill>
                <a:srgbClr val="0070C0"/>
              </a:solidFill>
              <a:latin typeface="华文行楷" pitchFamily="2" charset="-122"/>
              <a:ea typeface="华文行楷" pitchFamily="2" charset="-122"/>
            </a:endParaRPr>
          </a:p>
        </p:txBody>
      </p:sp>
      <p:sp>
        <p:nvSpPr>
          <p:cNvPr id="7" name="TextBox 6"/>
          <p:cNvSpPr txBox="1"/>
          <p:nvPr/>
        </p:nvSpPr>
        <p:spPr>
          <a:xfrm>
            <a:off x="1763688" y="3891651"/>
            <a:ext cx="5328592" cy="1121525"/>
          </a:xfrm>
          <a:prstGeom prst="rect">
            <a:avLst/>
          </a:prstGeom>
          <a:noFill/>
        </p:spPr>
        <p:txBody>
          <a:bodyPr wrap="square" rtlCol="0">
            <a:spAutoFit/>
          </a:bodyPr>
          <a:lstStyle/>
          <a:p>
            <a:pPr>
              <a:lnSpc>
                <a:spcPct val="130000"/>
              </a:lnSpc>
            </a:pPr>
            <a:r>
              <a:rPr lang="en-US" altLang="zh-CN" dirty="0" smtClean="0">
                <a:latin typeface="楷体" pitchFamily="49" charset="-122"/>
                <a:ea typeface="楷体" pitchFamily="49" charset="-122"/>
                <a:cs typeface="Times New Roman" pitchFamily="18" charset="0"/>
              </a:rPr>
              <a:t>a. </a:t>
            </a:r>
            <a:r>
              <a:rPr lang="zh-CN" altLang="en-US" dirty="0" smtClean="0">
                <a:latin typeface="楷体" pitchFamily="49" charset="-122"/>
                <a:ea typeface="楷体" pitchFamily="49" charset="-122"/>
                <a:cs typeface="Times New Roman" pitchFamily="18" charset="0"/>
              </a:rPr>
              <a:t>不盲从、不迷信，遇事问为什么</a:t>
            </a:r>
            <a:r>
              <a:rPr lang="en-US" altLang="zh-CN" dirty="0" smtClean="0">
                <a:latin typeface="楷体" pitchFamily="49" charset="-122"/>
                <a:ea typeface="楷体" pitchFamily="49" charset="-122"/>
                <a:cs typeface="Times New Roman" pitchFamily="18" charset="0"/>
              </a:rPr>
              <a:t>;</a:t>
            </a:r>
          </a:p>
          <a:p>
            <a:pPr>
              <a:lnSpc>
                <a:spcPct val="130000"/>
              </a:lnSpc>
            </a:pPr>
            <a:r>
              <a:rPr lang="en-US" altLang="zh-CN" dirty="0" smtClean="0">
                <a:latin typeface="楷体" pitchFamily="49" charset="-122"/>
                <a:ea typeface="楷体" pitchFamily="49" charset="-122"/>
                <a:cs typeface="Times New Roman" pitchFamily="18" charset="0"/>
              </a:rPr>
              <a:t>b. </a:t>
            </a:r>
            <a:r>
              <a:rPr lang="zh-CN" altLang="en-US" dirty="0" smtClean="0">
                <a:latin typeface="楷体" pitchFamily="49" charset="-122"/>
                <a:ea typeface="楷体" pitchFamily="49" charset="-122"/>
                <a:cs typeface="Times New Roman" pitchFamily="18" charset="0"/>
              </a:rPr>
              <a:t>清楚地、有条理地思考，追求合理性；</a:t>
            </a:r>
            <a:endParaRPr lang="en-US" altLang="zh-CN" dirty="0" smtClean="0">
              <a:latin typeface="楷体" pitchFamily="49" charset="-122"/>
              <a:ea typeface="楷体" pitchFamily="49" charset="-122"/>
              <a:cs typeface="Times New Roman" pitchFamily="18" charset="0"/>
            </a:endParaRPr>
          </a:p>
          <a:p>
            <a:pPr>
              <a:lnSpc>
                <a:spcPct val="130000"/>
              </a:lnSpc>
            </a:pPr>
            <a:r>
              <a:rPr lang="en-US" altLang="zh-CN" dirty="0" smtClean="0">
                <a:latin typeface="楷体" pitchFamily="49" charset="-122"/>
                <a:ea typeface="楷体" pitchFamily="49" charset="-122"/>
                <a:cs typeface="Times New Roman" pitchFamily="18" charset="0"/>
              </a:rPr>
              <a:t>c. </a:t>
            </a:r>
            <a:r>
              <a:rPr lang="zh-CN" altLang="en-US" dirty="0" smtClean="0">
                <a:latin typeface="楷体" pitchFamily="49" charset="-122"/>
                <a:ea typeface="楷体" pitchFamily="49" charset="-122"/>
                <a:cs typeface="Times New Roman" pitchFamily="18" charset="0"/>
              </a:rPr>
              <a:t>在游泳中学会游泳，注重推理和论证的实际运用。</a:t>
            </a:r>
            <a:endParaRPr lang="zh-CN" altLang="en-US" dirty="0">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论证</a:t>
            </a:r>
            <a:endParaRPr lang="zh-CN" altLang="en-US" dirty="0">
              <a:latin typeface="华文新魏" pitchFamily="2" charset="-122"/>
              <a:ea typeface="华文新魏" pitchFamily="2" charset="-122"/>
            </a:endParaRPr>
          </a:p>
        </p:txBody>
      </p:sp>
      <p:sp>
        <p:nvSpPr>
          <p:cNvPr id="4" name="TextBox 3"/>
          <p:cNvSpPr txBox="1"/>
          <p:nvPr/>
        </p:nvSpPr>
        <p:spPr>
          <a:xfrm>
            <a:off x="899592" y="1268760"/>
            <a:ext cx="7416824" cy="707886"/>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运用真实的或者至少是可以接受的理由，去论证某个论点或结论的思维过程及其语言表述</a:t>
            </a:r>
            <a:r>
              <a:rPr lang="zh-CN" altLang="en-US" sz="2000" dirty="0" smtClean="0">
                <a:latin typeface="楷体" pitchFamily="49" charset="-122"/>
                <a:ea typeface="楷体" pitchFamily="49" charset="-122"/>
                <a:cs typeface="Times New Roman" pitchFamily="18" charset="0"/>
              </a:rPr>
              <a:t>形式。</a:t>
            </a:r>
            <a:endParaRPr lang="zh-CN" altLang="en-US" sz="2000" dirty="0">
              <a:latin typeface="楷体" pitchFamily="49" charset="-122"/>
              <a:ea typeface="楷体" pitchFamily="49" charset="-122"/>
            </a:endParaRPr>
          </a:p>
        </p:txBody>
      </p:sp>
      <p:sp>
        <p:nvSpPr>
          <p:cNvPr id="5" name="TextBox 4"/>
          <p:cNvSpPr txBox="1"/>
          <p:nvPr/>
        </p:nvSpPr>
        <p:spPr>
          <a:xfrm>
            <a:off x="1115616" y="2371527"/>
            <a:ext cx="792088" cy="43088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200" dirty="0" smtClean="0">
                <a:latin typeface="华文行楷" pitchFamily="2" charset="-122"/>
                <a:ea typeface="华文行楷" pitchFamily="2" charset="-122"/>
              </a:rPr>
              <a:t>论题</a:t>
            </a:r>
            <a:endParaRPr lang="zh-CN" altLang="en-US" sz="2200" dirty="0">
              <a:latin typeface="华文行楷" pitchFamily="2" charset="-122"/>
              <a:ea typeface="华文行楷" pitchFamily="2" charset="-122"/>
            </a:endParaRPr>
          </a:p>
        </p:txBody>
      </p:sp>
      <p:sp>
        <p:nvSpPr>
          <p:cNvPr id="6" name="TextBox 5"/>
          <p:cNvSpPr txBox="1"/>
          <p:nvPr/>
        </p:nvSpPr>
        <p:spPr>
          <a:xfrm>
            <a:off x="2267744" y="2371527"/>
            <a:ext cx="792088" cy="43088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200" dirty="0" smtClean="0">
                <a:latin typeface="华文行楷" pitchFamily="2" charset="-122"/>
                <a:ea typeface="华文行楷" pitchFamily="2" charset="-122"/>
              </a:rPr>
              <a:t>论点</a:t>
            </a:r>
            <a:endParaRPr lang="zh-CN" altLang="en-US" sz="2200" dirty="0">
              <a:latin typeface="华文行楷" pitchFamily="2" charset="-122"/>
              <a:ea typeface="华文行楷" pitchFamily="2" charset="-122"/>
            </a:endParaRPr>
          </a:p>
        </p:txBody>
      </p:sp>
      <p:sp>
        <p:nvSpPr>
          <p:cNvPr id="7" name="TextBox 6"/>
          <p:cNvSpPr txBox="1"/>
          <p:nvPr/>
        </p:nvSpPr>
        <p:spPr>
          <a:xfrm>
            <a:off x="3419872" y="2371527"/>
            <a:ext cx="792088" cy="43088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200" dirty="0">
                <a:latin typeface="华文行楷" pitchFamily="2" charset="-122"/>
                <a:ea typeface="华文行楷" pitchFamily="2" charset="-122"/>
              </a:rPr>
              <a:t>论据</a:t>
            </a:r>
          </a:p>
        </p:txBody>
      </p:sp>
      <p:sp>
        <p:nvSpPr>
          <p:cNvPr id="8" name="TextBox 7"/>
          <p:cNvSpPr txBox="1"/>
          <p:nvPr/>
        </p:nvSpPr>
        <p:spPr>
          <a:xfrm>
            <a:off x="4572000" y="2371527"/>
            <a:ext cx="1368152" cy="43088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200" dirty="0" smtClean="0">
                <a:latin typeface="华文行楷" pitchFamily="2" charset="-122"/>
                <a:ea typeface="华文行楷" pitchFamily="2" charset="-122"/>
              </a:rPr>
              <a:t>论证方式</a:t>
            </a:r>
            <a:endParaRPr lang="zh-CN" altLang="en-US" sz="2200" dirty="0">
              <a:latin typeface="华文行楷" pitchFamily="2" charset="-122"/>
              <a:ea typeface="华文行楷" pitchFamily="2" charset="-122"/>
            </a:endParaRPr>
          </a:p>
        </p:txBody>
      </p:sp>
      <p:sp>
        <p:nvSpPr>
          <p:cNvPr id="9" name="TextBox 8"/>
          <p:cNvSpPr txBox="1"/>
          <p:nvPr/>
        </p:nvSpPr>
        <p:spPr>
          <a:xfrm>
            <a:off x="6300192" y="2227511"/>
            <a:ext cx="1656184" cy="769441"/>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200" dirty="0" smtClean="0">
                <a:latin typeface="华文行楷" pitchFamily="2" charset="-122"/>
                <a:ea typeface="华文行楷" pitchFamily="2" charset="-122"/>
              </a:rPr>
              <a:t>隐含的假设</a:t>
            </a:r>
            <a:endParaRPr lang="en-US" altLang="zh-CN" sz="2200" dirty="0" smtClean="0">
              <a:latin typeface="华文行楷" pitchFamily="2" charset="-122"/>
              <a:ea typeface="华文行楷" pitchFamily="2" charset="-122"/>
            </a:endParaRPr>
          </a:p>
          <a:p>
            <a:r>
              <a:rPr lang="zh-CN" altLang="en-US" sz="2200" dirty="0" smtClean="0">
                <a:latin typeface="华文行楷" pitchFamily="2" charset="-122"/>
                <a:ea typeface="华文行楷" pitchFamily="2" charset="-122"/>
              </a:rPr>
              <a:t>或前提</a:t>
            </a:r>
            <a:endParaRPr lang="zh-CN" altLang="en-US" sz="2200" dirty="0">
              <a:latin typeface="华文行楷" pitchFamily="2" charset="-122"/>
              <a:ea typeface="华文行楷" pitchFamily="2" charset="-122"/>
            </a:endParaRPr>
          </a:p>
        </p:txBody>
      </p:sp>
      <p:sp>
        <p:nvSpPr>
          <p:cNvPr id="10" name="TextBox 9"/>
          <p:cNvSpPr txBox="1"/>
          <p:nvPr/>
        </p:nvSpPr>
        <p:spPr>
          <a:xfrm>
            <a:off x="3707904" y="3284984"/>
            <a:ext cx="2736304" cy="461665"/>
          </a:xfrm>
          <a:prstGeom prst="rect">
            <a:avLst/>
          </a:prstGeom>
          <a:noFill/>
        </p:spPr>
        <p:txBody>
          <a:bodyPr wrap="square" rtlCol="0">
            <a:spAutoFit/>
          </a:bodyPr>
          <a:lstStyle/>
          <a:p>
            <a:r>
              <a:rPr lang="zh-CN" altLang="en-US" sz="2400" dirty="0" smtClean="0">
                <a:solidFill>
                  <a:srgbClr val="00B050"/>
                </a:solidFill>
                <a:latin typeface="华文琥珀" pitchFamily="2" charset="-122"/>
                <a:ea typeface="华文琥珀" pitchFamily="2" charset="-122"/>
              </a:rPr>
              <a:t>论证的图解</a:t>
            </a:r>
            <a:endParaRPr lang="zh-CN" altLang="en-US" sz="2400" dirty="0">
              <a:solidFill>
                <a:srgbClr val="00B050"/>
              </a:solidFill>
              <a:latin typeface="华文琥珀" pitchFamily="2" charset="-122"/>
              <a:ea typeface="华文琥珀" pitchFamily="2" charset="-122"/>
            </a:endParaRPr>
          </a:p>
        </p:txBody>
      </p:sp>
      <p:sp>
        <p:nvSpPr>
          <p:cNvPr id="11" name="TextBox 10"/>
          <p:cNvSpPr txBox="1"/>
          <p:nvPr/>
        </p:nvSpPr>
        <p:spPr>
          <a:xfrm>
            <a:off x="971600" y="3789040"/>
            <a:ext cx="7128792" cy="707886"/>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在考虑了论证的各构成要素及其联系方式之后，用图解法将论证的结构图示出来，以便对论证的结构有一个直观的</a:t>
            </a:r>
            <a:r>
              <a:rPr lang="zh-CN" altLang="en-US" sz="2000" dirty="0" smtClean="0">
                <a:latin typeface="楷体" pitchFamily="49" charset="-122"/>
                <a:ea typeface="楷体" pitchFamily="49" charset="-122"/>
                <a:cs typeface="Times New Roman" pitchFamily="18" charset="0"/>
              </a:rPr>
              <a:t>把握。</a:t>
            </a:r>
            <a:endParaRPr lang="zh-CN" altLang="en-US" sz="2000" dirty="0">
              <a:latin typeface="楷体" pitchFamily="49" charset="-122"/>
              <a:ea typeface="楷体" pitchFamily="49" charset="-122"/>
            </a:endParaRPr>
          </a:p>
        </p:txBody>
      </p:sp>
      <p:sp>
        <p:nvSpPr>
          <p:cNvPr id="12" name="TextBox 11"/>
          <p:cNvSpPr txBox="1"/>
          <p:nvPr/>
        </p:nvSpPr>
        <p:spPr>
          <a:xfrm>
            <a:off x="2915816" y="4715852"/>
            <a:ext cx="1224136" cy="400110"/>
          </a:xfrm>
          <a:prstGeom prst="rect">
            <a:avLst/>
          </a:prstGeom>
          <a:noFill/>
          <a:ln w="28575">
            <a:solidFill>
              <a:srgbClr val="7030A0"/>
            </a:solidFill>
            <a:prstDash val="sysDot"/>
          </a:ln>
        </p:spPr>
        <p:txBody>
          <a:bodyPr wrap="square" rtlCol="0">
            <a:spAutoFit/>
          </a:bodyPr>
          <a:lstStyle/>
          <a:p>
            <a:r>
              <a:rPr lang="zh-CN" altLang="en-US" sz="2000" dirty="0">
                <a:latin typeface="华文行楷" pitchFamily="2" charset="-122"/>
                <a:ea typeface="华文行楷" pitchFamily="2" charset="-122"/>
              </a:rPr>
              <a:t>线性结构</a:t>
            </a:r>
          </a:p>
        </p:txBody>
      </p:sp>
      <p:sp>
        <p:nvSpPr>
          <p:cNvPr id="13" name="TextBox 12"/>
          <p:cNvSpPr txBox="1"/>
          <p:nvPr/>
        </p:nvSpPr>
        <p:spPr>
          <a:xfrm>
            <a:off x="5004048" y="4725144"/>
            <a:ext cx="1512168" cy="400110"/>
          </a:xfrm>
          <a:prstGeom prst="rect">
            <a:avLst/>
          </a:prstGeom>
          <a:noFill/>
          <a:ln w="28575">
            <a:solidFill>
              <a:srgbClr val="7030A0"/>
            </a:solidFill>
            <a:prstDash val="sysDot"/>
          </a:ln>
        </p:spPr>
        <p:txBody>
          <a:bodyPr wrap="square" rtlCol="0">
            <a:spAutoFit/>
          </a:bodyPr>
          <a:lstStyle/>
          <a:p>
            <a:r>
              <a:rPr lang="zh-CN" altLang="en-US" sz="2000" dirty="0">
                <a:latin typeface="华文行楷" pitchFamily="2" charset="-122"/>
                <a:ea typeface="华文行楷" pitchFamily="2" charset="-122"/>
              </a:rPr>
              <a:t>协同式</a:t>
            </a:r>
            <a:r>
              <a:rPr lang="zh-CN" altLang="en-US" sz="2000" dirty="0" smtClean="0">
                <a:latin typeface="华文行楷" pitchFamily="2" charset="-122"/>
                <a:ea typeface="华文行楷" pitchFamily="2" charset="-122"/>
              </a:rPr>
              <a:t>结构</a:t>
            </a:r>
            <a:endParaRPr lang="zh-CN" altLang="en-US" sz="2000" dirty="0">
              <a:latin typeface="华文行楷" pitchFamily="2" charset="-122"/>
              <a:ea typeface="华文行楷" pitchFamily="2" charset="-122"/>
            </a:endParaRPr>
          </a:p>
        </p:txBody>
      </p:sp>
      <p:sp>
        <p:nvSpPr>
          <p:cNvPr id="14" name="TextBox 13"/>
          <p:cNvSpPr txBox="1"/>
          <p:nvPr/>
        </p:nvSpPr>
        <p:spPr>
          <a:xfrm>
            <a:off x="2771800" y="5477162"/>
            <a:ext cx="1512168" cy="400110"/>
          </a:xfrm>
          <a:prstGeom prst="rect">
            <a:avLst/>
          </a:prstGeom>
          <a:noFill/>
          <a:ln w="28575">
            <a:solidFill>
              <a:srgbClr val="7030A0"/>
            </a:solidFill>
            <a:prstDash val="sysDot"/>
          </a:ln>
        </p:spPr>
        <p:txBody>
          <a:bodyPr wrap="square" rtlCol="0">
            <a:spAutoFit/>
          </a:bodyPr>
          <a:lstStyle/>
          <a:p>
            <a:r>
              <a:rPr lang="zh-CN" altLang="en-US" sz="2000" dirty="0">
                <a:latin typeface="华文行楷" pitchFamily="2" charset="-122"/>
                <a:ea typeface="华文行楷" pitchFamily="2" charset="-122"/>
              </a:rPr>
              <a:t>收敛</a:t>
            </a:r>
            <a:r>
              <a:rPr lang="zh-CN" altLang="en-US" sz="2000" dirty="0" smtClean="0">
                <a:latin typeface="华文行楷" pitchFamily="2" charset="-122"/>
                <a:ea typeface="华文行楷" pitchFamily="2" charset="-122"/>
              </a:rPr>
              <a:t>式结构</a:t>
            </a:r>
            <a:endParaRPr lang="zh-CN" altLang="en-US" sz="2000" dirty="0">
              <a:latin typeface="华文行楷" pitchFamily="2" charset="-122"/>
              <a:ea typeface="华文行楷" pitchFamily="2" charset="-122"/>
            </a:endParaRPr>
          </a:p>
        </p:txBody>
      </p:sp>
      <p:sp>
        <p:nvSpPr>
          <p:cNvPr id="15" name="TextBox 14"/>
          <p:cNvSpPr txBox="1"/>
          <p:nvPr/>
        </p:nvSpPr>
        <p:spPr>
          <a:xfrm>
            <a:off x="5004048" y="5477162"/>
            <a:ext cx="1512168" cy="400110"/>
          </a:xfrm>
          <a:prstGeom prst="rect">
            <a:avLst/>
          </a:prstGeom>
          <a:noFill/>
          <a:ln w="28575">
            <a:solidFill>
              <a:srgbClr val="7030A0"/>
            </a:solidFill>
            <a:prstDash val="sysDot"/>
          </a:ln>
        </p:spPr>
        <p:txBody>
          <a:bodyPr wrap="square" rtlCol="0">
            <a:spAutoFit/>
          </a:bodyPr>
          <a:lstStyle/>
          <a:p>
            <a:r>
              <a:rPr lang="zh-CN" altLang="en-US" sz="2000" dirty="0">
                <a:latin typeface="华文行楷" pitchFamily="2" charset="-122"/>
                <a:ea typeface="华文行楷" pitchFamily="2" charset="-122"/>
              </a:rPr>
              <a:t>复合</a:t>
            </a:r>
            <a:r>
              <a:rPr lang="zh-CN" altLang="en-US" sz="2000" dirty="0" smtClean="0">
                <a:latin typeface="华文行楷" pitchFamily="2" charset="-122"/>
                <a:ea typeface="华文行楷" pitchFamily="2" charset="-122"/>
              </a:rPr>
              <a:t>式结构</a:t>
            </a:r>
            <a:endParaRPr lang="zh-CN" altLang="en-US" sz="20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ox(in)">
                                      <p:cBhvr>
                                        <p:cTn id="18" dur="500"/>
                                        <p:tgtEl>
                                          <p:spTgt spid="7"/>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ox(in)">
                                      <p:cBhvr>
                                        <p:cTn id="21" dur="500"/>
                                        <p:tgtEl>
                                          <p:spTgt spid="8"/>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ox(i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heckerboard(across)">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anim calcmode="lin" valueType="num">
                                      <p:cBhvr>
                                        <p:cTn id="35" dur="500" fill="hold"/>
                                        <p:tgtEl>
                                          <p:spTgt spid="11"/>
                                        </p:tgtEl>
                                        <p:attrNameLst>
                                          <p:attrName>ppt_x</p:attrName>
                                        </p:attrNameLst>
                                      </p:cBhvr>
                                      <p:tavLst>
                                        <p:tav tm="0">
                                          <p:val>
                                            <p:strVal val="#ppt_x"/>
                                          </p:val>
                                        </p:tav>
                                        <p:tav tm="100000">
                                          <p:val>
                                            <p:strVal val="#ppt_x"/>
                                          </p:val>
                                        </p:tav>
                                      </p:tavLst>
                                    </p:anim>
                                    <p:anim calcmode="lin" valueType="num">
                                      <p:cBhvr>
                                        <p:cTn id="3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p:bldP spid="11" grpId="0"/>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线性结构</a:t>
            </a:r>
            <a:endParaRPr lang="zh-CN" altLang="en-US" dirty="0">
              <a:latin typeface="华文新魏" pitchFamily="2" charset="-122"/>
              <a:ea typeface="华文新魏" pitchFamily="2" charset="-122"/>
            </a:endParaRPr>
          </a:p>
        </p:txBody>
      </p:sp>
      <p:pic>
        <p:nvPicPr>
          <p:cNvPr id="7170" name="Picture 2"/>
          <p:cNvPicPr>
            <a:picLocks noChangeAspect="1" noChangeArrowheads="1"/>
          </p:cNvPicPr>
          <p:nvPr/>
        </p:nvPicPr>
        <p:blipFill>
          <a:blip r:embed="rId2" cstate="print"/>
          <a:srcRect/>
          <a:stretch>
            <a:fillRect/>
          </a:stretch>
        </p:blipFill>
        <p:spPr bwMode="auto">
          <a:xfrm>
            <a:off x="790575" y="1268760"/>
            <a:ext cx="7562850" cy="904875"/>
          </a:xfrm>
          <a:prstGeom prst="rect">
            <a:avLst/>
          </a:prstGeom>
          <a:noFill/>
          <a:ln w="9525">
            <a:noFill/>
            <a:miter lim="800000"/>
            <a:headEnd/>
            <a:tailEnd/>
          </a:ln>
        </p:spPr>
      </p:pic>
      <p:sp>
        <p:nvSpPr>
          <p:cNvPr id="5" name="TextBox 4"/>
          <p:cNvSpPr txBox="1"/>
          <p:nvPr/>
        </p:nvSpPr>
        <p:spPr>
          <a:xfrm>
            <a:off x="1979712" y="2206025"/>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论点：</a:t>
            </a:r>
            <a:endParaRPr lang="zh-CN" altLang="en-US" sz="2200" u="sng" dirty="0">
              <a:solidFill>
                <a:srgbClr val="C00000"/>
              </a:solidFill>
              <a:latin typeface="华文行楷" pitchFamily="2" charset="-122"/>
              <a:ea typeface="华文行楷" pitchFamily="2" charset="-122"/>
            </a:endParaRPr>
          </a:p>
        </p:txBody>
      </p:sp>
      <p:sp>
        <p:nvSpPr>
          <p:cNvPr id="6" name="TextBox 5"/>
          <p:cNvSpPr txBox="1"/>
          <p:nvPr/>
        </p:nvSpPr>
        <p:spPr>
          <a:xfrm>
            <a:off x="2987824" y="2564904"/>
            <a:ext cx="5256584" cy="400110"/>
          </a:xfrm>
          <a:prstGeom prst="rect">
            <a:avLst/>
          </a:prstGeom>
          <a:noFill/>
        </p:spPr>
        <p:txBody>
          <a:bodyPr wrap="square" rtlCol="0">
            <a:spAutoFit/>
          </a:bodyPr>
          <a:lstStyle/>
          <a:p>
            <a:r>
              <a:rPr lang="en-US" altLang="zh-CN" sz="2000" dirty="0" smtClean="0">
                <a:latin typeface="楷体" pitchFamily="49" charset="-122"/>
                <a:ea typeface="楷体" pitchFamily="49" charset="-122"/>
                <a:cs typeface="Times New Roman" pitchFamily="18" charset="0"/>
                <a:sym typeface="Symbol" pitchFamily="18" charset="2"/>
              </a:rPr>
              <a:t></a:t>
            </a:r>
            <a:r>
              <a:rPr lang="zh-CN" altLang="en-US" sz="2000" dirty="0" smtClean="0">
                <a:latin typeface="楷体" pitchFamily="49" charset="-122"/>
                <a:ea typeface="楷体" pitchFamily="49" charset="-122"/>
                <a:sym typeface="Symbol" pitchFamily="18" charset="2"/>
              </a:rPr>
              <a:t>买卖人的器官，如心脏、肾脏</a:t>
            </a:r>
            <a:r>
              <a:rPr lang="en-US" altLang="zh-CN" sz="2000" dirty="0" smtClean="0">
                <a:latin typeface="楷体" pitchFamily="49" charset="-122"/>
                <a:ea typeface="楷体" pitchFamily="49" charset="-122"/>
                <a:sym typeface="Symbol" pitchFamily="18" charset="2"/>
              </a:rPr>
              <a:t>……</a:t>
            </a:r>
            <a:endParaRPr lang="zh-CN" altLang="en-US" sz="2000" dirty="0">
              <a:latin typeface="楷体" pitchFamily="49" charset="-122"/>
              <a:ea typeface="楷体" pitchFamily="49" charset="-122"/>
            </a:endParaRPr>
          </a:p>
        </p:txBody>
      </p:sp>
      <p:sp>
        <p:nvSpPr>
          <p:cNvPr id="7" name="TextBox 6"/>
          <p:cNvSpPr txBox="1"/>
          <p:nvPr/>
        </p:nvSpPr>
        <p:spPr>
          <a:xfrm>
            <a:off x="899592" y="3247816"/>
            <a:ext cx="6336704" cy="1477328"/>
          </a:xfrm>
          <a:prstGeom prst="rect">
            <a:avLst/>
          </a:prstGeom>
          <a:noFill/>
        </p:spPr>
        <p:txBody>
          <a:bodyPr wrap="square" rtlCol="0">
            <a:spAutoFit/>
          </a:bodyPr>
          <a:lstStyle/>
          <a:p>
            <a:pPr>
              <a:lnSpc>
                <a:spcPct val="150000"/>
              </a:lnSpc>
            </a:pPr>
            <a:r>
              <a:rPr lang="zh-CN" altLang="en-US" sz="2000" dirty="0" smtClean="0">
                <a:latin typeface="楷体" pitchFamily="49" charset="-122"/>
                <a:ea typeface="楷体" pitchFamily="49" charset="-122"/>
                <a:cs typeface="Times New Roman" pitchFamily="18" charset="0"/>
              </a:rPr>
              <a:t>                ①允许买卖器官不可避免地</a:t>
            </a:r>
            <a:r>
              <a:rPr lang="en-US" altLang="zh-CN" sz="2000" dirty="0" smtClean="0">
                <a:latin typeface="楷体" pitchFamily="49" charset="-122"/>
                <a:ea typeface="楷体" pitchFamily="49" charset="-122"/>
                <a:cs typeface="Times New Roman" pitchFamily="18" charset="0"/>
              </a:rPr>
              <a:t>……</a:t>
            </a:r>
            <a:endParaRPr lang="zh-CN" altLang="en-US"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                ②无论何种稀缺的东西作为</a:t>
            </a:r>
            <a:r>
              <a:rPr lang="en-US" altLang="zh-CN" sz="2000" dirty="0" smtClean="0">
                <a:latin typeface="楷体" pitchFamily="49" charset="-122"/>
                <a:ea typeface="楷体" pitchFamily="49" charset="-122"/>
                <a:cs typeface="Times New Roman" pitchFamily="18" charset="0"/>
              </a:rPr>
              <a:t>……</a:t>
            </a:r>
            <a:endParaRPr lang="zh-CN" altLang="en-US"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                ③</a:t>
            </a:r>
            <a:r>
              <a:rPr lang="zh-CN" altLang="en-US" sz="2000" dirty="0">
                <a:latin typeface="楷体" pitchFamily="49" charset="-122"/>
                <a:ea typeface="楷体" pitchFamily="49" charset="-122"/>
                <a:cs typeface="Times New Roman" pitchFamily="18" charset="0"/>
              </a:rPr>
              <a:t>这</a:t>
            </a:r>
            <a:r>
              <a:rPr lang="zh-CN" altLang="en-US" sz="2000" dirty="0" smtClean="0">
                <a:latin typeface="楷体" pitchFamily="49" charset="-122"/>
                <a:ea typeface="楷体" pitchFamily="49" charset="-122"/>
                <a:cs typeface="Times New Roman" pitchFamily="18" charset="0"/>
              </a:rPr>
              <a:t>是由供求规律决定的。</a:t>
            </a:r>
          </a:p>
        </p:txBody>
      </p:sp>
      <p:sp>
        <p:nvSpPr>
          <p:cNvPr id="8" name="TextBox 7"/>
          <p:cNvSpPr txBox="1"/>
          <p:nvPr/>
        </p:nvSpPr>
        <p:spPr>
          <a:xfrm>
            <a:off x="1979712" y="2998113"/>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论据：</a:t>
            </a:r>
            <a:endParaRPr lang="zh-CN" altLang="en-US" sz="2200" u="sng" dirty="0">
              <a:solidFill>
                <a:srgbClr val="C00000"/>
              </a:solidFill>
              <a:latin typeface="华文行楷" pitchFamily="2" charset="-122"/>
              <a:ea typeface="华文行楷" pitchFamily="2" charset="-122"/>
            </a:endParaRPr>
          </a:p>
        </p:txBody>
      </p:sp>
      <p:sp>
        <p:nvSpPr>
          <p:cNvPr id="9" name="TextBox 8"/>
          <p:cNvSpPr txBox="1"/>
          <p:nvPr/>
        </p:nvSpPr>
        <p:spPr>
          <a:xfrm>
            <a:off x="1979712" y="4654297"/>
            <a:ext cx="936104" cy="430887"/>
          </a:xfrm>
          <a:prstGeom prst="rect">
            <a:avLst/>
          </a:prstGeom>
          <a:noFill/>
        </p:spPr>
        <p:txBody>
          <a:bodyPr wrap="square" rtlCol="0">
            <a:spAutoFit/>
          </a:bodyPr>
          <a:lstStyle/>
          <a:p>
            <a:r>
              <a:rPr lang="zh-CN" altLang="en-US" sz="2200" u="sng" dirty="0">
                <a:solidFill>
                  <a:srgbClr val="C00000"/>
                </a:solidFill>
                <a:latin typeface="华文行楷" pitchFamily="2" charset="-122"/>
                <a:ea typeface="华文行楷" pitchFamily="2" charset="-122"/>
              </a:rPr>
              <a:t>图解</a:t>
            </a:r>
            <a:r>
              <a:rPr lang="zh-CN" altLang="en-US" sz="2200" u="sng" dirty="0" smtClean="0">
                <a:solidFill>
                  <a:srgbClr val="C00000"/>
                </a:solidFill>
                <a:latin typeface="华文行楷" pitchFamily="2" charset="-122"/>
                <a:ea typeface="华文行楷" pitchFamily="2" charset="-122"/>
              </a:rPr>
              <a:t>：</a:t>
            </a:r>
            <a:endParaRPr lang="zh-CN" altLang="en-US" sz="2200" u="sng" dirty="0">
              <a:solidFill>
                <a:srgbClr val="C00000"/>
              </a:solidFill>
              <a:latin typeface="华文行楷" pitchFamily="2" charset="-122"/>
              <a:ea typeface="华文行楷" pitchFamily="2" charset="-122"/>
            </a:endParaRPr>
          </a:p>
        </p:txBody>
      </p:sp>
      <p:pic>
        <p:nvPicPr>
          <p:cNvPr id="7171" name="Picture 3"/>
          <p:cNvPicPr>
            <a:picLocks noChangeAspect="1" noChangeArrowheads="1"/>
          </p:cNvPicPr>
          <p:nvPr/>
        </p:nvPicPr>
        <p:blipFill>
          <a:blip r:embed="rId3" cstate="print"/>
          <a:srcRect/>
          <a:stretch>
            <a:fillRect/>
          </a:stretch>
        </p:blipFill>
        <p:spPr bwMode="auto">
          <a:xfrm>
            <a:off x="3563888" y="4855418"/>
            <a:ext cx="1247775" cy="18859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ppt_x</p:attrName>
                                        </p:attrNameLst>
                                      </p:cBhvr>
                                      <p:tavLst>
                                        <p:tav tm="0">
                                          <p:val>
                                            <p:strVal val="#ppt_x-.2"/>
                                          </p:val>
                                        </p:tav>
                                        <p:tav tm="100000">
                                          <p:val>
                                            <p:strVal val="#ppt_x"/>
                                          </p:val>
                                        </p:tav>
                                      </p:tavLst>
                                    </p:anim>
                                    <p:anim calcmode="lin" valueType="num">
                                      <p:cBhvr>
                                        <p:cTn id="18" dur="5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171"/>
                                        </p:tgtEl>
                                        <p:attrNameLst>
                                          <p:attrName>style.visibility</p:attrName>
                                        </p:attrNameLst>
                                      </p:cBhvr>
                                      <p:to>
                                        <p:strVal val="visible"/>
                                      </p:to>
                                    </p:set>
                                    <p:animEffect transition="in" filter="fade">
                                      <p:cBhvr>
                                        <p:cTn id="36"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3792"/>
            <a:ext cx="8229600" cy="1143000"/>
          </a:xfrm>
        </p:spPr>
        <p:txBody>
          <a:bodyPr/>
          <a:lstStyle/>
          <a:p>
            <a:r>
              <a:rPr lang="zh-CN" altLang="en-US" dirty="0" smtClean="0">
                <a:latin typeface="华文新魏" pitchFamily="2" charset="-122"/>
                <a:ea typeface="华文新魏" pitchFamily="2" charset="-122"/>
              </a:rPr>
              <a:t>协同式结构</a:t>
            </a:r>
            <a:endParaRPr lang="zh-CN" altLang="en-US" dirty="0">
              <a:latin typeface="华文新魏" pitchFamily="2" charset="-122"/>
              <a:ea typeface="华文新魏" pitchFamily="2" charset="-122"/>
            </a:endParaRPr>
          </a:p>
        </p:txBody>
      </p:sp>
      <p:pic>
        <p:nvPicPr>
          <p:cNvPr id="1026" name="Picture 2"/>
          <p:cNvPicPr>
            <a:picLocks noChangeAspect="1" noChangeArrowheads="1"/>
          </p:cNvPicPr>
          <p:nvPr/>
        </p:nvPicPr>
        <p:blipFill>
          <a:blip r:embed="rId2" cstate="print"/>
          <a:srcRect/>
          <a:stretch>
            <a:fillRect/>
          </a:stretch>
        </p:blipFill>
        <p:spPr bwMode="auto">
          <a:xfrm>
            <a:off x="611560" y="1781374"/>
            <a:ext cx="8034933" cy="222369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smtClean="0">
                <a:latin typeface="华文新魏" pitchFamily="2" charset="-122"/>
                <a:ea typeface="华文新魏" pitchFamily="2" charset="-122"/>
              </a:rPr>
              <a:t>协同式结构</a:t>
            </a:r>
            <a:endParaRPr lang="zh-CN" altLang="en-US" dirty="0"/>
          </a:p>
        </p:txBody>
      </p:sp>
      <p:sp>
        <p:nvSpPr>
          <p:cNvPr id="4" name="TextBox 3"/>
          <p:cNvSpPr txBox="1"/>
          <p:nvPr/>
        </p:nvSpPr>
        <p:spPr>
          <a:xfrm>
            <a:off x="1835696" y="1022534"/>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论点：</a:t>
            </a:r>
            <a:endParaRPr lang="zh-CN" altLang="en-US" sz="2200" u="sng" dirty="0">
              <a:solidFill>
                <a:srgbClr val="C00000"/>
              </a:solidFill>
              <a:latin typeface="华文行楷" pitchFamily="2" charset="-122"/>
              <a:ea typeface="华文行楷" pitchFamily="2" charset="-122"/>
            </a:endParaRPr>
          </a:p>
        </p:txBody>
      </p:sp>
      <p:sp>
        <p:nvSpPr>
          <p:cNvPr id="5" name="TextBox 4"/>
          <p:cNvSpPr txBox="1"/>
          <p:nvPr/>
        </p:nvSpPr>
        <p:spPr>
          <a:xfrm>
            <a:off x="2987824" y="1022534"/>
            <a:ext cx="2304256" cy="400110"/>
          </a:xfrm>
          <a:prstGeom prst="rect">
            <a:avLst/>
          </a:prstGeom>
          <a:noFill/>
        </p:spPr>
        <p:txBody>
          <a:bodyPr wrap="square" rtlCol="0">
            <a:spAutoFit/>
          </a:bodyPr>
          <a:lstStyle/>
          <a:p>
            <a:r>
              <a:rPr lang="en-US" altLang="zh-CN" sz="2000" dirty="0" smtClean="0">
                <a:latin typeface="楷体" pitchFamily="49" charset="-122"/>
                <a:ea typeface="楷体" pitchFamily="49" charset="-122"/>
                <a:cs typeface="Times New Roman" pitchFamily="18" charset="0"/>
                <a:sym typeface="Symbol" pitchFamily="18" charset="2"/>
              </a:rPr>
              <a:t></a:t>
            </a:r>
            <a:r>
              <a:rPr lang="zh-CN" altLang="en-US" sz="2000" dirty="0" smtClean="0">
                <a:latin typeface="楷体" pitchFamily="49" charset="-122"/>
                <a:ea typeface="楷体" pitchFamily="49" charset="-122"/>
              </a:rPr>
              <a:t>辩论分不出胜负</a:t>
            </a:r>
            <a:endParaRPr lang="zh-CN" altLang="en-US" sz="2000" dirty="0">
              <a:latin typeface="楷体" pitchFamily="49" charset="-122"/>
              <a:ea typeface="楷体" pitchFamily="49" charset="-122"/>
            </a:endParaRPr>
          </a:p>
        </p:txBody>
      </p:sp>
      <p:sp>
        <p:nvSpPr>
          <p:cNvPr id="6" name="TextBox 5"/>
          <p:cNvSpPr txBox="1"/>
          <p:nvPr/>
        </p:nvSpPr>
        <p:spPr>
          <a:xfrm>
            <a:off x="899592" y="1381413"/>
            <a:ext cx="6336704" cy="3631763"/>
          </a:xfrm>
          <a:prstGeom prst="rect">
            <a:avLst/>
          </a:prstGeom>
          <a:noFill/>
        </p:spPr>
        <p:txBody>
          <a:bodyPr wrap="square" rtlCol="0">
            <a:spAutoFit/>
          </a:bodyPr>
          <a:lstStyle/>
          <a:p>
            <a:pPr>
              <a:lnSpc>
                <a:spcPct val="150000"/>
              </a:lnSpc>
            </a:pPr>
            <a:r>
              <a:rPr lang="zh-CN" altLang="en-US" sz="2000" dirty="0" smtClean="0">
                <a:latin typeface="楷体" pitchFamily="49" charset="-122"/>
                <a:ea typeface="楷体" pitchFamily="49" charset="-122"/>
                <a:cs typeface="Times New Roman" pitchFamily="18" charset="0"/>
              </a:rPr>
              <a:t>                ①辩论的胜负需要裁判来裁决。</a:t>
            </a:r>
          </a:p>
          <a:p>
            <a:pPr>
              <a:lnSpc>
                <a:spcPct val="150000"/>
              </a:lnSpc>
            </a:pPr>
            <a:r>
              <a:rPr lang="zh-CN" altLang="en-US" sz="2000" dirty="0" smtClean="0">
                <a:latin typeface="楷体" pitchFamily="49" charset="-122"/>
                <a:ea typeface="楷体" pitchFamily="49" charset="-122"/>
                <a:cs typeface="Times New Roman" pitchFamily="18" charset="0"/>
              </a:rPr>
              <a:t>                ②没有人能够当这样的裁判。</a:t>
            </a:r>
          </a:p>
          <a:p>
            <a:pPr>
              <a:lnSpc>
                <a:spcPct val="150000"/>
              </a:lnSpc>
            </a:pPr>
            <a:r>
              <a:rPr lang="zh-CN" altLang="en-US" sz="2000" dirty="0" smtClean="0">
                <a:latin typeface="楷体" pitchFamily="49" charset="-122"/>
                <a:ea typeface="楷体" pitchFamily="49" charset="-122"/>
                <a:cs typeface="Times New Roman" pitchFamily="18" charset="0"/>
              </a:rPr>
              <a:t>                ③你我不能当这样的裁判。</a:t>
            </a:r>
          </a:p>
          <a:p>
            <a:pPr>
              <a:lnSpc>
                <a:spcPct val="150000"/>
              </a:lnSpc>
            </a:pPr>
            <a:r>
              <a:rPr lang="zh-CN" altLang="en-US" sz="2000" dirty="0" smtClean="0">
                <a:latin typeface="楷体" pitchFamily="49" charset="-122"/>
                <a:ea typeface="楷体" pitchFamily="49" charset="-122"/>
                <a:cs typeface="Times New Roman" pitchFamily="18" charset="0"/>
              </a:rPr>
              <a:t>                ④与你意见相同的人不能当裁判。</a:t>
            </a:r>
          </a:p>
          <a:p>
            <a:pPr>
              <a:lnSpc>
                <a:spcPct val="150000"/>
              </a:lnSpc>
            </a:pPr>
            <a:r>
              <a:rPr lang="zh-CN" altLang="en-US" sz="2000" dirty="0" smtClean="0">
                <a:latin typeface="楷体" pitchFamily="49" charset="-122"/>
                <a:ea typeface="楷体" pitchFamily="49" charset="-122"/>
                <a:cs typeface="Times New Roman" pitchFamily="18" charset="0"/>
              </a:rPr>
              <a:t>                ⑤与我意见相同的人不能当裁判。</a:t>
            </a:r>
          </a:p>
          <a:p>
            <a:pPr>
              <a:lnSpc>
                <a:spcPct val="150000"/>
              </a:lnSpc>
            </a:pPr>
            <a:r>
              <a:rPr lang="zh-CN" altLang="en-US" sz="2000" dirty="0" smtClean="0">
                <a:latin typeface="楷体" pitchFamily="49" charset="-122"/>
                <a:ea typeface="楷体" pitchFamily="49" charset="-122"/>
                <a:cs typeface="Times New Roman" pitchFamily="18" charset="0"/>
              </a:rPr>
              <a:t>                ⑥与你我意见都不同的人不能当裁判。</a:t>
            </a:r>
          </a:p>
          <a:p>
            <a:pPr>
              <a:lnSpc>
                <a:spcPct val="150000"/>
              </a:lnSpc>
            </a:pPr>
            <a:r>
              <a:rPr lang="zh-CN" altLang="en-US" sz="2000" dirty="0" smtClean="0">
                <a:latin typeface="楷体" pitchFamily="49" charset="-122"/>
                <a:ea typeface="楷体" pitchFamily="49" charset="-122"/>
                <a:cs typeface="Times New Roman" pitchFamily="18" charset="0"/>
              </a:rPr>
              <a:t>                ⑦与你我意见都相同的不能当裁判。</a:t>
            </a:r>
          </a:p>
          <a:p>
            <a:endParaRPr lang="zh-CN" altLang="en-US" sz="2000" dirty="0">
              <a:latin typeface="楷体" pitchFamily="49" charset="-122"/>
              <a:ea typeface="楷体" pitchFamily="49" charset="-122"/>
            </a:endParaRPr>
          </a:p>
        </p:txBody>
      </p:sp>
      <p:sp>
        <p:nvSpPr>
          <p:cNvPr id="7" name="TextBox 6"/>
          <p:cNvSpPr txBox="1"/>
          <p:nvPr/>
        </p:nvSpPr>
        <p:spPr>
          <a:xfrm>
            <a:off x="1835696" y="1454582"/>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论据：</a:t>
            </a:r>
            <a:endParaRPr lang="zh-CN" altLang="en-US" sz="2200" u="sng" dirty="0">
              <a:solidFill>
                <a:srgbClr val="C00000"/>
              </a:solidFill>
              <a:latin typeface="华文行楷" pitchFamily="2" charset="-122"/>
              <a:ea typeface="华文行楷" pitchFamily="2" charset="-122"/>
            </a:endParaRPr>
          </a:p>
        </p:txBody>
      </p:sp>
      <p:pic>
        <p:nvPicPr>
          <p:cNvPr id="2050" name="Picture 2"/>
          <p:cNvPicPr>
            <a:picLocks noChangeAspect="1" noChangeArrowheads="1"/>
          </p:cNvPicPr>
          <p:nvPr/>
        </p:nvPicPr>
        <p:blipFill>
          <a:blip r:embed="rId2" cstate="print"/>
          <a:srcRect/>
          <a:stretch>
            <a:fillRect/>
          </a:stretch>
        </p:blipFill>
        <p:spPr bwMode="auto">
          <a:xfrm>
            <a:off x="3632423" y="4725144"/>
            <a:ext cx="3171825" cy="1800225"/>
          </a:xfrm>
          <a:prstGeom prst="rect">
            <a:avLst/>
          </a:prstGeom>
          <a:noFill/>
          <a:ln w="9525">
            <a:noFill/>
            <a:miter lim="800000"/>
            <a:headEnd/>
            <a:tailEnd/>
          </a:ln>
        </p:spPr>
      </p:pic>
      <p:sp>
        <p:nvSpPr>
          <p:cNvPr id="9" name="TextBox 8"/>
          <p:cNvSpPr txBox="1"/>
          <p:nvPr/>
        </p:nvSpPr>
        <p:spPr>
          <a:xfrm>
            <a:off x="1835696" y="4581128"/>
            <a:ext cx="936104" cy="430887"/>
          </a:xfrm>
          <a:prstGeom prst="rect">
            <a:avLst/>
          </a:prstGeom>
          <a:noFill/>
        </p:spPr>
        <p:txBody>
          <a:bodyPr wrap="square" rtlCol="0">
            <a:spAutoFit/>
          </a:bodyPr>
          <a:lstStyle/>
          <a:p>
            <a:r>
              <a:rPr lang="zh-CN" altLang="en-US" sz="2200" u="sng" dirty="0">
                <a:solidFill>
                  <a:srgbClr val="C00000"/>
                </a:solidFill>
                <a:latin typeface="华文行楷" pitchFamily="2" charset="-122"/>
                <a:ea typeface="华文行楷" pitchFamily="2" charset="-122"/>
              </a:rPr>
              <a:t>图解</a:t>
            </a:r>
            <a:r>
              <a:rPr lang="zh-CN" altLang="en-US" sz="2200" u="sng" dirty="0" smtClean="0">
                <a:solidFill>
                  <a:srgbClr val="C00000"/>
                </a:solidFill>
                <a:latin typeface="华文行楷" pitchFamily="2" charset="-122"/>
                <a:ea typeface="华文行楷" pitchFamily="2" charset="-122"/>
              </a:rPr>
              <a:t>：</a:t>
            </a:r>
            <a:endParaRPr lang="zh-CN" altLang="en-US" sz="2200" u="sng" dirty="0">
              <a:solidFill>
                <a:srgbClr val="C0000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2"/>
                                          </p:val>
                                        </p:tav>
                                        <p:tav tm="100000">
                                          <p:val>
                                            <p:strVal val="#ppt_x"/>
                                          </p:val>
                                        </p:tav>
                                      </p:tavLst>
                                    </p:anim>
                                    <p:anim calcmode="lin" valueType="num">
                                      <p:cBhvr>
                                        <p:cTn id="18"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dissolv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2050"/>
                                        </p:tgtEl>
                                        <p:attrNameLst>
                                          <p:attrName>style.visibility</p:attrName>
                                        </p:attrNameLst>
                                      </p:cBhvr>
                                      <p:to>
                                        <p:strVal val="visible"/>
                                      </p:to>
                                    </p:set>
                                    <p:anim calcmode="lin" valueType="num">
                                      <p:cBhvr>
                                        <p:cTn id="36" dur="500" fill="hold"/>
                                        <p:tgtEl>
                                          <p:spTgt spid="2050"/>
                                        </p:tgtEl>
                                        <p:attrNameLst>
                                          <p:attrName>ppt_w</p:attrName>
                                        </p:attrNameLst>
                                      </p:cBhvr>
                                      <p:tavLst>
                                        <p:tav tm="0">
                                          <p:val>
                                            <p:strVal val="#ppt_w*0.70"/>
                                          </p:val>
                                        </p:tav>
                                        <p:tav tm="100000">
                                          <p:val>
                                            <p:strVal val="#ppt_w"/>
                                          </p:val>
                                        </p:tav>
                                      </p:tavLst>
                                    </p:anim>
                                    <p:anim calcmode="lin" valueType="num">
                                      <p:cBhvr>
                                        <p:cTn id="37" dur="500" fill="hold"/>
                                        <p:tgtEl>
                                          <p:spTgt spid="2050"/>
                                        </p:tgtEl>
                                        <p:attrNameLst>
                                          <p:attrName>ppt_h</p:attrName>
                                        </p:attrNameLst>
                                      </p:cBhvr>
                                      <p:tavLst>
                                        <p:tav tm="0">
                                          <p:val>
                                            <p:strVal val="#ppt_h"/>
                                          </p:val>
                                        </p:tav>
                                        <p:tav tm="100000">
                                          <p:val>
                                            <p:strVal val="#ppt_h"/>
                                          </p:val>
                                        </p:tav>
                                      </p:tavLst>
                                    </p:anim>
                                    <p:animEffect transition="in" filter="fade">
                                      <p:cBhvr>
                                        <p:cTn id="38"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收敛式结构</a:t>
            </a:r>
            <a:endParaRPr lang="zh-CN" altLang="en-US" dirty="0">
              <a:latin typeface="华文新魏" pitchFamily="2" charset="-122"/>
              <a:ea typeface="华文新魏" pitchFamily="2" charset="-122"/>
            </a:endParaRPr>
          </a:p>
        </p:txBody>
      </p:sp>
      <p:pic>
        <p:nvPicPr>
          <p:cNvPr id="3074" name="Picture 2"/>
          <p:cNvPicPr>
            <a:picLocks noChangeAspect="1" noChangeArrowheads="1"/>
          </p:cNvPicPr>
          <p:nvPr/>
        </p:nvPicPr>
        <p:blipFill>
          <a:blip r:embed="rId2" cstate="print"/>
          <a:srcRect/>
          <a:stretch>
            <a:fillRect/>
          </a:stretch>
        </p:blipFill>
        <p:spPr bwMode="auto">
          <a:xfrm>
            <a:off x="740990" y="1467594"/>
            <a:ext cx="7791450" cy="3257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linds(horizontal)">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收敛式结构</a:t>
            </a:r>
            <a:endParaRPr lang="zh-CN" altLang="en-US" dirty="0"/>
          </a:p>
        </p:txBody>
      </p:sp>
      <p:sp>
        <p:nvSpPr>
          <p:cNvPr id="4" name="TextBox 3"/>
          <p:cNvSpPr txBox="1"/>
          <p:nvPr/>
        </p:nvSpPr>
        <p:spPr>
          <a:xfrm>
            <a:off x="1043608" y="1358766"/>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论点：</a:t>
            </a:r>
            <a:endParaRPr lang="zh-CN" altLang="en-US" sz="2200" u="sng" dirty="0">
              <a:solidFill>
                <a:srgbClr val="C00000"/>
              </a:solidFill>
              <a:latin typeface="华文行楷" pitchFamily="2" charset="-122"/>
              <a:ea typeface="华文行楷" pitchFamily="2" charset="-122"/>
            </a:endParaRPr>
          </a:p>
        </p:txBody>
      </p:sp>
      <p:sp>
        <p:nvSpPr>
          <p:cNvPr id="5" name="TextBox 4"/>
          <p:cNvSpPr txBox="1"/>
          <p:nvPr/>
        </p:nvSpPr>
        <p:spPr>
          <a:xfrm>
            <a:off x="2195736" y="1358766"/>
            <a:ext cx="5112568" cy="400110"/>
          </a:xfrm>
          <a:prstGeom prst="rect">
            <a:avLst/>
          </a:prstGeom>
          <a:noFill/>
        </p:spPr>
        <p:txBody>
          <a:bodyPr wrap="square" rtlCol="0">
            <a:spAutoFit/>
          </a:bodyPr>
          <a:lstStyle/>
          <a:p>
            <a:r>
              <a:rPr lang="en-US" altLang="zh-CN" sz="2000" dirty="0" smtClean="0">
                <a:latin typeface="楷体" pitchFamily="49" charset="-122"/>
                <a:ea typeface="楷体" pitchFamily="49" charset="-122"/>
                <a:cs typeface="Times New Roman" pitchFamily="18" charset="0"/>
                <a:sym typeface="Symbol" pitchFamily="18" charset="2"/>
              </a:rPr>
              <a:t></a:t>
            </a:r>
            <a:r>
              <a:rPr lang="zh-CN" altLang="en-US" sz="2000" dirty="0" smtClean="0">
                <a:latin typeface="楷体" pitchFamily="49" charset="-122"/>
                <a:ea typeface="楷体" pitchFamily="49" charset="-122"/>
                <a:sym typeface="Symbol" pitchFamily="18" charset="2"/>
              </a:rPr>
              <a:t>摇滚音乐对大学生产生着恶劣的</a:t>
            </a:r>
            <a:r>
              <a:rPr lang="zh-CN" altLang="en-US" sz="2000" dirty="0" smtClean="0">
                <a:latin typeface="楷体" pitchFamily="49" charset="-122"/>
                <a:ea typeface="楷体" pitchFamily="49" charset="-122"/>
                <a:sym typeface="Symbol" pitchFamily="18" charset="2"/>
              </a:rPr>
              <a:t>影响。</a:t>
            </a:r>
            <a:endParaRPr lang="zh-CN" altLang="en-US" sz="2000" dirty="0">
              <a:latin typeface="楷体" pitchFamily="49" charset="-122"/>
              <a:ea typeface="楷体" pitchFamily="49" charset="-122"/>
            </a:endParaRPr>
          </a:p>
        </p:txBody>
      </p:sp>
      <p:sp>
        <p:nvSpPr>
          <p:cNvPr id="6" name="TextBox 5"/>
          <p:cNvSpPr txBox="1"/>
          <p:nvPr/>
        </p:nvSpPr>
        <p:spPr>
          <a:xfrm>
            <a:off x="1043608" y="1863983"/>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论据：</a:t>
            </a:r>
            <a:endParaRPr lang="zh-CN" altLang="en-US" sz="2200" u="sng" dirty="0">
              <a:solidFill>
                <a:srgbClr val="C00000"/>
              </a:solidFill>
              <a:latin typeface="华文行楷" pitchFamily="2" charset="-122"/>
              <a:ea typeface="华文行楷" pitchFamily="2" charset="-122"/>
            </a:endParaRPr>
          </a:p>
        </p:txBody>
      </p:sp>
      <p:sp>
        <p:nvSpPr>
          <p:cNvPr id="7" name="TextBox 6"/>
          <p:cNvSpPr txBox="1"/>
          <p:nvPr/>
        </p:nvSpPr>
        <p:spPr>
          <a:xfrm>
            <a:off x="2123728" y="1790814"/>
            <a:ext cx="6120680" cy="2862322"/>
          </a:xfrm>
          <a:prstGeom prst="rect">
            <a:avLst/>
          </a:prstGeom>
          <a:noFill/>
        </p:spPr>
        <p:txBody>
          <a:bodyPr wrap="square" rtlCol="0">
            <a:spAutoFit/>
          </a:bodyPr>
          <a:lstStyle/>
          <a:p>
            <a:pPr>
              <a:lnSpc>
                <a:spcPct val="150000"/>
              </a:lnSpc>
            </a:pPr>
            <a:r>
              <a:rPr lang="zh-CN" altLang="en-US" sz="2000" dirty="0" smtClean="0">
                <a:latin typeface="楷体" pitchFamily="49" charset="-122"/>
                <a:ea typeface="楷体" pitchFamily="49" charset="-122"/>
                <a:cs typeface="Times New Roman" pitchFamily="18" charset="0"/>
              </a:rPr>
              <a:t>①书籍需要学生们潜心钻研，但它们无法与摇滚乐的通俗易懂、激昂猛烈相竞争。</a:t>
            </a:r>
          </a:p>
          <a:p>
            <a:pPr>
              <a:lnSpc>
                <a:spcPct val="150000"/>
              </a:lnSpc>
            </a:pPr>
            <a:r>
              <a:rPr lang="zh-CN" altLang="en-US" sz="2000" dirty="0" smtClean="0">
                <a:latin typeface="楷体" pitchFamily="49" charset="-122"/>
                <a:ea typeface="楷体" pitchFamily="49" charset="-122"/>
                <a:cs typeface="Times New Roman" pitchFamily="18" charset="0"/>
              </a:rPr>
              <a:t>②摇滚音乐引发的兴趣，使对学习的兴趣相形见绌。</a:t>
            </a:r>
          </a:p>
          <a:p>
            <a:pPr>
              <a:lnSpc>
                <a:spcPct val="150000"/>
              </a:lnSpc>
            </a:pPr>
            <a:r>
              <a:rPr lang="zh-CN" altLang="en-US" sz="2000" dirty="0" smtClean="0">
                <a:latin typeface="楷体" pitchFamily="49" charset="-122"/>
                <a:ea typeface="楷体" pitchFamily="49" charset="-122"/>
                <a:cs typeface="Times New Roman" pitchFamily="18" charset="0"/>
              </a:rPr>
              <a:t>③在回答关羽人生和世界的各种问题时，学生们诉诸于音乐中的简单歌词，却忽视了教授们的深刻思想。</a:t>
            </a:r>
          </a:p>
          <a:p>
            <a:pPr>
              <a:lnSpc>
                <a:spcPct val="150000"/>
              </a:lnSpc>
            </a:pPr>
            <a:r>
              <a:rPr lang="zh-CN" altLang="en-US" sz="2000" dirty="0" smtClean="0">
                <a:latin typeface="楷体" pitchFamily="49" charset="-122"/>
                <a:ea typeface="楷体" pitchFamily="49" charset="-122"/>
                <a:cs typeface="Times New Roman" pitchFamily="18" charset="0"/>
              </a:rPr>
              <a:t>                </a:t>
            </a:r>
            <a:endParaRPr lang="zh-CN" altLang="en-US" sz="2000" dirty="0">
              <a:latin typeface="楷体" pitchFamily="49" charset="-122"/>
              <a:ea typeface="楷体" pitchFamily="49" charset="-122"/>
            </a:endParaRPr>
          </a:p>
        </p:txBody>
      </p:sp>
      <p:pic>
        <p:nvPicPr>
          <p:cNvPr id="4098" name="Picture 2"/>
          <p:cNvPicPr>
            <a:picLocks noChangeAspect="1" noChangeArrowheads="1"/>
          </p:cNvPicPr>
          <p:nvPr/>
        </p:nvPicPr>
        <p:blipFill>
          <a:blip r:embed="rId2" cstate="print"/>
          <a:srcRect/>
          <a:stretch>
            <a:fillRect/>
          </a:stretch>
        </p:blipFill>
        <p:spPr bwMode="auto">
          <a:xfrm>
            <a:off x="3605386" y="4442048"/>
            <a:ext cx="2190750" cy="1219200"/>
          </a:xfrm>
          <a:prstGeom prst="rect">
            <a:avLst/>
          </a:prstGeom>
          <a:noFill/>
          <a:ln w="9525">
            <a:noFill/>
            <a:miter lim="800000"/>
            <a:headEnd/>
            <a:tailEnd/>
          </a:ln>
        </p:spPr>
      </p:pic>
      <p:sp>
        <p:nvSpPr>
          <p:cNvPr id="9" name="TextBox 8"/>
          <p:cNvSpPr txBox="1"/>
          <p:nvPr/>
        </p:nvSpPr>
        <p:spPr>
          <a:xfrm>
            <a:off x="1043608" y="4150241"/>
            <a:ext cx="936104" cy="430887"/>
          </a:xfrm>
          <a:prstGeom prst="rect">
            <a:avLst/>
          </a:prstGeom>
          <a:noFill/>
        </p:spPr>
        <p:txBody>
          <a:bodyPr wrap="square" rtlCol="0">
            <a:spAutoFit/>
          </a:bodyPr>
          <a:lstStyle/>
          <a:p>
            <a:r>
              <a:rPr lang="zh-CN" altLang="en-US" sz="2200" u="sng" dirty="0">
                <a:solidFill>
                  <a:srgbClr val="C00000"/>
                </a:solidFill>
                <a:latin typeface="华文行楷" pitchFamily="2" charset="-122"/>
                <a:ea typeface="华文行楷" pitchFamily="2" charset="-122"/>
              </a:rPr>
              <a:t>图解</a:t>
            </a:r>
            <a:r>
              <a:rPr lang="zh-CN" altLang="en-US" sz="2200" u="sng" dirty="0" smtClean="0">
                <a:solidFill>
                  <a:srgbClr val="C00000"/>
                </a:solidFill>
                <a:latin typeface="华文行楷" pitchFamily="2" charset="-122"/>
                <a:ea typeface="华文行楷" pitchFamily="2" charset="-122"/>
              </a:rPr>
              <a:t>：</a:t>
            </a:r>
            <a:endParaRPr lang="zh-CN" altLang="en-US" sz="2200" u="sng" dirty="0">
              <a:solidFill>
                <a:srgbClr val="C0000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2"/>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9" presetClass="entr" presetSubtype="0" fill="hold" nodeType="clickEffect">
                                  <p:stCondLst>
                                    <p:cond delay="0"/>
                                  </p:stCondLst>
                                  <p:childTnLst>
                                    <p:set>
                                      <p:cBhvr>
                                        <p:cTn id="35" dur="1" fill="hold">
                                          <p:stCondLst>
                                            <p:cond delay="0"/>
                                          </p:stCondLst>
                                        </p:cTn>
                                        <p:tgtEl>
                                          <p:spTgt spid="4098"/>
                                        </p:tgtEl>
                                        <p:attrNameLst>
                                          <p:attrName>style.visibility</p:attrName>
                                        </p:attrNameLst>
                                      </p:cBhvr>
                                      <p:to>
                                        <p:strVal val="visible"/>
                                      </p:to>
                                    </p:set>
                                    <p:anim calcmode="lin" valueType="num">
                                      <p:cBhvr>
                                        <p:cTn id="36" dur="1000" fill="hold"/>
                                        <p:tgtEl>
                                          <p:spTgt spid="4098"/>
                                        </p:tgtEl>
                                        <p:attrNameLst>
                                          <p:attrName>ppt_x</p:attrName>
                                        </p:attrNameLst>
                                      </p:cBhvr>
                                      <p:tavLst>
                                        <p:tav tm="0">
                                          <p:val>
                                            <p:strVal val="#ppt_x-.2"/>
                                          </p:val>
                                        </p:tav>
                                        <p:tav tm="100000">
                                          <p:val>
                                            <p:strVal val="#ppt_x"/>
                                          </p:val>
                                        </p:tav>
                                      </p:tavLst>
                                    </p:anim>
                                    <p:anim calcmode="lin" valueType="num">
                                      <p:cBhvr>
                                        <p:cTn id="37" dur="1000" fill="hold"/>
                                        <p:tgtEl>
                                          <p:spTgt spid="4098"/>
                                        </p:tgtEl>
                                        <p:attrNameLst>
                                          <p:attrName>ppt_y</p:attrName>
                                        </p:attrNameLst>
                                      </p:cBhvr>
                                      <p:tavLst>
                                        <p:tav tm="0">
                                          <p:val>
                                            <p:strVal val="#ppt_y"/>
                                          </p:val>
                                        </p:tav>
                                        <p:tav tm="100000">
                                          <p:val>
                                            <p:strVal val="#ppt_y"/>
                                          </p:val>
                                        </p:tav>
                                      </p:tavLst>
                                    </p:anim>
                                    <p:animEffect transition="in" filter="wipe(right)" prLst="gradientSize: 0.1">
                                      <p:cBhvr>
                                        <p:cTn id="38"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复合式结构</a:t>
            </a:r>
            <a:endParaRPr lang="zh-CN" altLang="en-US" dirty="0">
              <a:latin typeface="华文新魏" pitchFamily="2" charset="-122"/>
              <a:ea typeface="华文新魏" pitchFamily="2" charset="-122"/>
            </a:endParaRPr>
          </a:p>
        </p:txBody>
      </p:sp>
      <p:pic>
        <p:nvPicPr>
          <p:cNvPr id="5122" name="Picture 2"/>
          <p:cNvPicPr>
            <a:picLocks noChangeAspect="1" noChangeArrowheads="1"/>
          </p:cNvPicPr>
          <p:nvPr/>
        </p:nvPicPr>
        <p:blipFill>
          <a:blip r:embed="rId2" cstate="print"/>
          <a:srcRect/>
          <a:stretch>
            <a:fillRect/>
          </a:stretch>
        </p:blipFill>
        <p:spPr bwMode="auto">
          <a:xfrm>
            <a:off x="461963" y="1484784"/>
            <a:ext cx="8220075" cy="2390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143000"/>
          </a:xfrm>
        </p:spPr>
        <p:txBody>
          <a:bodyPr/>
          <a:lstStyle/>
          <a:p>
            <a:r>
              <a:rPr lang="zh-CN" altLang="en-US" dirty="0" smtClean="0">
                <a:latin typeface="华文新魏" pitchFamily="2" charset="-122"/>
                <a:ea typeface="华文新魏" pitchFamily="2" charset="-122"/>
              </a:rPr>
              <a:t>复合式结构</a:t>
            </a:r>
            <a:endParaRPr lang="zh-CN" altLang="en-US" dirty="0"/>
          </a:p>
        </p:txBody>
      </p:sp>
      <p:sp>
        <p:nvSpPr>
          <p:cNvPr id="4" name="TextBox 3"/>
          <p:cNvSpPr txBox="1"/>
          <p:nvPr/>
        </p:nvSpPr>
        <p:spPr>
          <a:xfrm>
            <a:off x="2123728" y="1269921"/>
            <a:ext cx="936104"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论点：</a:t>
            </a:r>
            <a:endParaRPr lang="zh-CN" altLang="en-US" sz="2200" u="sng" dirty="0">
              <a:solidFill>
                <a:srgbClr val="C00000"/>
              </a:solidFill>
              <a:latin typeface="华文行楷" pitchFamily="2" charset="-122"/>
              <a:ea typeface="华文行楷" pitchFamily="2" charset="-122"/>
            </a:endParaRPr>
          </a:p>
        </p:txBody>
      </p:sp>
      <p:sp>
        <p:nvSpPr>
          <p:cNvPr id="5" name="TextBox 4"/>
          <p:cNvSpPr txBox="1"/>
          <p:nvPr/>
        </p:nvSpPr>
        <p:spPr>
          <a:xfrm>
            <a:off x="3275856" y="1268760"/>
            <a:ext cx="5112568" cy="400110"/>
          </a:xfrm>
          <a:prstGeom prst="rect">
            <a:avLst/>
          </a:prstGeom>
          <a:noFill/>
        </p:spPr>
        <p:txBody>
          <a:bodyPr wrap="square" rtlCol="0">
            <a:spAutoFit/>
          </a:bodyPr>
          <a:lstStyle/>
          <a:p>
            <a:r>
              <a:rPr lang="en-US" altLang="zh-CN" sz="2000" dirty="0" smtClean="0">
                <a:latin typeface="楷体" pitchFamily="49" charset="-122"/>
                <a:ea typeface="楷体" pitchFamily="49" charset="-122"/>
                <a:cs typeface="Times New Roman" pitchFamily="18" charset="0"/>
                <a:sym typeface="Symbol" pitchFamily="18" charset="2"/>
              </a:rPr>
              <a:t></a:t>
            </a:r>
            <a:r>
              <a:rPr lang="zh-CN" altLang="en-US" sz="2000" dirty="0">
                <a:latin typeface="楷体" pitchFamily="49" charset="-122"/>
                <a:ea typeface="楷体" pitchFamily="49" charset="-122"/>
                <a:sym typeface="Symbol" pitchFamily="18" charset="2"/>
              </a:rPr>
              <a:t>反对克隆人</a:t>
            </a:r>
            <a:endParaRPr lang="zh-CN" altLang="en-US" sz="2000" dirty="0">
              <a:latin typeface="楷体" pitchFamily="49" charset="-122"/>
              <a:ea typeface="楷体" pitchFamily="49" charset="-122"/>
            </a:endParaRPr>
          </a:p>
        </p:txBody>
      </p:sp>
      <p:sp>
        <p:nvSpPr>
          <p:cNvPr id="6" name="TextBox 5"/>
          <p:cNvSpPr txBox="1"/>
          <p:nvPr/>
        </p:nvSpPr>
        <p:spPr>
          <a:xfrm>
            <a:off x="2123728" y="1700808"/>
            <a:ext cx="936104" cy="430887"/>
          </a:xfrm>
          <a:prstGeom prst="rect">
            <a:avLst/>
          </a:prstGeom>
          <a:noFill/>
        </p:spPr>
        <p:txBody>
          <a:bodyPr wrap="square" rtlCol="0">
            <a:spAutoFit/>
          </a:bodyPr>
          <a:lstStyle/>
          <a:p>
            <a:r>
              <a:rPr lang="zh-CN" altLang="en-US" sz="2200" dirty="0" smtClean="0">
                <a:solidFill>
                  <a:srgbClr val="00B050"/>
                </a:solidFill>
                <a:latin typeface="隶书" pitchFamily="49" charset="-122"/>
                <a:ea typeface="隶书" pitchFamily="49" charset="-122"/>
              </a:rPr>
              <a:t>论据：</a:t>
            </a:r>
            <a:endParaRPr lang="zh-CN" altLang="en-US" sz="2200" dirty="0">
              <a:solidFill>
                <a:srgbClr val="00B050"/>
              </a:solidFill>
              <a:latin typeface="隶书" pitchFamily="49" charset="-122"/>
              <a:ea typeface="隶书" pitchFamily="49" charset="-122"/>
            </a:endParaRPr>
          </a:p>
        </p:txBody>
      </p:sp>
      <p:sp>
        <p:nvSpPr>
          <p:cNvPr id="7" name="TextBox 6"/>
          <p:cNvSpPr txBox="1"/>
          <p:nvPr/>
        </p:nvSpPr>
        <p:spPr>
          <a:xfrm>
            <a:off x="1259632" y="2163628"/>
            <a:ext cx="6120680" cy="3785652"/>
          </a:xfrm>
          <a:prstGeom prst="rect">
            <a:avLst/>
          </a:prstGeom>
          <a:noFill/>
        </p:spPr>
        <p:txBody>
          <a:bodyPr wrap="square" rtlCol="0">
            <a:spAutoFit/>
          </a:bodyPr>
          <a:lstStyle/>
          <a:p>
            <a:pPr>
              <a:lnSpc>
                <a:spcPct val="150000"/>
              </a:lnSpc>
            </a:pPr>
            <a:r>
              <a:rPr lang="zh-CN" altLang="en-US" sz="2000" dirty="0" smtClean="0">
                <a:latin typeface="楷体" pitchFamily="49" charset="-122"/>
                <a:ea typeface="楷体" pitchFamily="49" charset="-122"/>
                <a:cs typeface="Times New Roman" pitchFamily="18" charset="0"/>
              </a:rPr>
              <a:t>①克隆人不安全。</a:t>
            </a:r>
          </a:p>
          <a:p>
            <a:pPr>
              <a:lnSpc>
                <a:spcPct val="150000"/>
              </a:lnSpc>
            </a:pPr>
            <a:r>
              <a:rPr lang="zh-CN" altLang="en-US" sz="2000" dirty="0" smtClean="0">
                <a:latin typeface="楷体" pitchFamily="49" charset="-122"/>
                <a:ea typeface="楷体" pitchFamily="49" charset="-122"/>
                <a:cs typeface="Times New Roman" pitchFamily="18" charset="0"/>
              </a:rPr>
              <a:t>②克隆人可能影响到基因多样性。</a:t>
            </a:r>
          </a:p>
          <a:p>
            <a:pPr>
              <a:lnSpc>
                <a:spcPct val="150000"/>
              </a:lnSpc>
            </a:pPr>
            <a:r>
              <a:rPr lang="zh-CN" altLang="en-US" sz="2000" dirty="0" smtClean="0">
                <a:latin typeface="楷体" pitchFamily="49" charset="-122"/>
                <a:ea typeface="楷体" pitchFamily="49" charset="-122"/>
                <a:cs typeface="Times New Roman" pitchFamily="18" charset="0"/>
              </a:rPr>
              <a:t>③克隆人有损人的尊严。</a:t>
            </a:r>
            <a:endParaRPr lang="en-US" altLang="zh-CN"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④虽然克隆技术</a:t>
            </a:r>
            <a:r>
              <a:rPr lang="en-US" altLang="zh-CN" sz="2000" dirty="0" smtClean="0">
                <a:latin typeface="楷体" pitchFamily="49" charset="-122"/>
                <a:ea typeface="楷体" pitchFamily="49" charset="-122"/>
                <a:cs typeface="Times New Roman" pitchFamily="18" charset="0"/>
              </a:rPr>
              <a:t>……;</a:t>
            </a:r>
            <a:endParaRPr lang="zh-CN" altLang="en-US"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⑤科学界普遍认为</a:t>
            </a:r>
            <a:r>
              <a:rPr lang="en-US" altLang="zh-CN" sz="2000" dirty="0" smtClean="0">
                <a:latin typeface="楷体" pitchFamily="49" charset="-122"/>
                <a:ea typeface="楷体" pitchFamily="49" charset="-122"/>
                <a:cs typeface="Times New Roman" pitchFamily="18" charset="0"/>
              </a:rPr>
              <a:t>……;</a:t>
            </a:r>
            <a:endParaRPr lang="zh-CN" altLang="en-US"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⑥</a:t>
            </a:r>
            <a:r>
              <a:rPr lang="zh-CN" altLang="en-US" sz="2000" dirty="0">
                <a:latin typeface="楷体" pitchFamily="49" charset="-122"/>
                <a:ea typeface="楷体" pitchFamily="49" charset="-122"/>
                <a:cs typeface="Times New Roman" pitchFamily="18" charset="0"/>
              </a:rPr>
              <a:t>克隆</a:t>
            </a:r>
            <a:r>
              <a:rPr lang="zh-CN" altLang="en-US" sz="2000" dirty="0" smtClean="0">
                <a:latin typeface="楷体" pitchFamily="49" charset="-122"/>
                <a:ea typeface="楷体" pitchFamily="49" charset="-122"/>
                <a:cs typeface="Times New Roman" pitchFamily="18" charset="0"/>
              </a:rPr>
              <a:t>人的“闸门”</a:t>
            </a:r>
            <a:r>
              <a:rPr lang="en-US" altLang="zh-CN" sz="2000" dirty="0" smtClean="0">
                <a:latin typeface="楷体" pitchFamily="49" charset="-122"/>
                <a:ea typeface="楷体" pitchFamily="49" charset="-122"/>
                <a:cs typeface="Times New Roman" pitchFamily="18" charset="0"/>
              </a:rPr>
              <a:t>……;</a:t>
            </a:r>
            <a:endParaRPr lang="zh-CN" altLang="en-US" sz="2000" dirty="0" smtClean="0">
              <a:latin typeface="楷体" pitchFamily="49" charset="-122"/>
              <a:ea typeface="楷体" pitchFamily="49" charset="-122"/>
              <a:cs typeface="Times New Roman" pitchFamily="18" charset="0"/>
            </a:endParaRPr>
          </a:p>
          <a:p>
            <a:pPr>
              <a:lnSpc>
                <a:spcPct val="150000"/>
              </a:lnSpc>
            </a:pPr>
            <a:r>
              <a:rPr lang="zh-CN" altLang="en-US" sz="2000" dirty="0" smtClean="0">
                <a:latin typeface="楷体" pitchFamily="49" charset="-122"/>
                <a:ea typeface="楷体" pitchFamily="49" charset="-122"/>
                <a:cs typeface="Times New Roman" pitchFamily="18" charset="0"/>
              </a:rPr>
              <a:t>⑦克隆人违背某些公认的伦理原则。</a:t>
            </a:r>
          </a:p>
          <a:p>
            <a:pPr>
              <a:lnSpc>
                <a:spcPct val="150000"/>
              </a:lnSpc>
            </a:pPr>
            <a:r>
              <a:rPr lang="zh-CN" altLang="en-US" sz="2000" dirty="0" smtClean="0">
                <a:latin typeface="楷体" pitchFamily="49" charset="-122"/>
                <a:ea typeface="楷体" pitchFamily="49" charset="-122"/>
                <a:cs typeface="Times New Roman" pitchFamily="18" charset="0"/>
              </a:rPr>
              <a:t>                </a:t>
            </a:r>
            <a:endParaRPr lang="zh-CN" altLang="en-US" sz="2000" dirty="0">
              <a:latin typeface="楷体" pitchFamily="49" charset="-122"/>
              <a:ea typeface="楷体" pitchFamily="49" charset="-122"/>
            </a:endParaRPr>
          </a:p>
        </p:txBody>
      </p:sp>
      <p:pic>
        <p:nvPicPr>
          <p:cNvPr id="6146" name="Picture 2"/>
          <p:cNvPicPr>
            <a:picLocks noChangeAspect="1" noChangeArrowheads="1"/>
          </p:cNvPicPr>
          <p:nvPr/>
        </p:nvPicPr>
        <p:blipFill>
          <a:blip r:embed="rId2" cstate="print"/>
          <a:srcRect/>
          <a:stretch>
            <a:fillRect/>
          </a:stretch>
        </p:blipFill>
        <p:spPr bwMode="auto">
          <a:xfrm>
            <a:off x="5508104" y="2702793"/>
            <a:ext cx="3133725" cy="2238375"/>
          </a:xfrm>
          <a:prstGeom prst="rect">
            <a:avLst/>
          </a:prstGeom>
          <a:noFill/>
          <a:ln w="9525">
            <a:noFill/>
            <a:miter lim="800000"/>
            <a:headEnd/>
            <a:tailEnd/>
          </a:ln>
        </p:spPr>
      </p:pic>
      <p:sp>
        <p:nvSpPr>
          <p:cNvPr id="9" name="TextBox 8"/>
          <p:cNvSpPr txBox="1"/>
          <p:nvPr/>
        </p:nvSpPr>
        <p:spPr>
          <a:xfrm>
            <a:off x="6660232" y="1700808"/>
            <a:ext cx="936104" cy="430887"/>
          </a:xfrm>
          <a:prstGeom prst="rect">
            <a:avLst/>
          </a:prstGeom>
          <a:noFill/>
        </p:spPr>
        <p:txBody>
          <a:bodyPr wrap="square" rtlCol="0">
            <a:spAutoFit/>
          </a:bodyPr>
          <a:lstStyle/>
          <a:p>
            <a:r>
              <a:rPr lang="zh-CN" altLang="en-US" sz="2200" dirty="0">
                <a:solidFill>
                  <a:srgbClr val="00B050"/>
                </a:solidFill>
                <a:latin typeface="隶书" pitchFamily="49" charset="-122"/>
                <a:ea typeface="隶书" pitchFamily="49" charset="-122"/>
              </a:rPr>
              <a:t>图解</a:t>
            </a:r>
            <a:r>
              <a:rPr lang="zh-CN" altLang="en-US" sz="2200" dirty="0" smtClean="0">
                <a:solidFill>
                  <a:srgbClr val="00B050"/>
                </a:solidFill>
                <a:latin typeface="隶书" pitchFamily="49" charset="-122"/>
                <a:ea typeface="隶书" pitchFamily="49" charset="-122"/>
              </a:rPr>
              <a:t>：</a:t>
            </a:r>
            <a:endParaRPr lang="zh-CN" altLang="en-US" sz="2200" dirty="0">
              <a:solidFill>
                <a:srgbClr val="00B050"/>
              </a:solidFill>
              <a:latin typeface="隶书" pitchFamily="49" charset="-122"/>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2"/>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ppt_x</p:attrName>
                                        </p:attrNameLst>
                                      </p:cBhvr>
                                      <p:tavLst>
                                        <p:tav tm="0">
                                          <p:val>
                                            <p:strVal val="#ppt_x-.2"/>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146"/>
                                        </p:tgtEl>
                                        <p:attrNameLst>
                                          <p:attrName>style.visibility</p:attrName>
                                        </p:attrNameLst>
                                      </p:cBhvr>
                                      <p:to>
                                        <p:strVal val="visible"/>
                                      </p:to>
                                    </p:set>
                                    <p:animEffect transition="in" filter="blinds(horizontal)">
                                      <p:cBhvr>
                                        <p:cTn id="36"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85800"/>
            <a:ext cx="8229600" cy="1143000"/>
          </a:xfrm>
        </p:spPr>
        <p:txBody>
          <a:bodyPr/>
          <a:lstStyle/>
          <a:p>
            <a:r>
              <a:rPr lang="zh-CN" altLang="en-US" dirty="0" smtClean="0">
                <a:latin typeface="华文新魏" pitchFamily="2" charset="-122"/>
                <a:ea typeface="华文新魏" pitchFamily="2" charset="-122"/>
              </a:rPr>
              <a:t>论证的评价</a:t>
            </a:r>
            <a:endParaRPr lang="zh-CN" altLang="en-US" dirty="0">
              <a:latin typeface="华文新魏" pitchFamily="2" charset="-122"/>
              <a:ea typeface="华文新魏" pitchFamily="2" charset="-122"/>
            </a:endParaRPr>
          </a:p>
        </p:txBody>
      </p:sp>
      <p:sp>
        <p:nvSpPr>
          <p:cNvPr id="4" name="TextBox 3"/>
          <p:cNvSpPr txBox="1"/>
          <p:nvPr/>
        </p:nvSpPr>
        <p:spPr>
          <a:xfrm>
            <a:off x="2123728" y="1844824"/>
            <a:ext cx="4680520" cy="369332"/>
          </a:xfrm>
          <a:prstGeom prst="rect">
            <a:avLst/>
          </a:prstGeom>
          <a:ln>
            <a:prstDash val="dashDot"/>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dirty="0" smtClean="0">
                <a:latin typeface="楷体" pitchFamily="49" charset="-122"/>
                <a:ea typeface="楷体" pitchFamily="49" charset="-122"/>
                <a:cs typeface="Times New Roman" pitchFamily="18" charset="0"/>
              </a:rPr>
              <a:t>论证中的论题及关键性概念是否清楚、明白？</a:t>
            </a:r>
            <a:endParaRPr lang="zh-CN" altLang="en-US" dirty="0"/>
          </a:p>
        </p:txBody>
      </p:sp>
      <p:sp>
        <p:nvSpPr>
          <p:cNvPr id="5" name="TextBox 4"/>
          <p:cNvSpPr txBox="1"/>
          <p:nvPr/>
        </p:nvSpPr>
        <p:spPr>
          <a:xfrm>
            <a:off x="2123728" y="2708920"/>
            <a:ext cx="4680520" cy="369332"/>
          </a:xfrm>
          <a:prstGeom prst="rect">
            <a:avLst/>
          </a:prstGeom>
          <a:ln>
            <a:prstDash val="dashDot"/>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dirty="0" smtClean="0">
                <a:latin typeface="楷体" pitchFamily="49" charset="-122"/>
                <a:ea typeface="楷体" pitchFamily="49" charset="-122"/>
                <a:cs typeface="Times New Roman" pitchFamily="18" charset="0"/>
              </a:rPr>
              <a:t>前提和隐含前提是否真实或至少是可接受的？</a:t>
            </a:r>
            <a:endParaRPr lang="zh-CN" altLang="en-US" dirty="0"/>
          </a:p>
        </p:txBody>
      </p:sp>
      <p:sp>
        <p:nvSpPr>
          <p:cNvPr id="6" name="TextBox 5"/>
          <p:cNvSpPr txBox="1"/>
          <p:nvPr/>
        </p:nvSpPr>
        <p:spPr>
          <a:xfrm>
            <a:off x="2627784" y="3573016"/>
            <a:ext cx="3744416" cy="369332"/>
          </a:xfrm>
          <a:prstGeom prst="rect">
            <a:avLst/>
          </a:prstGeom>
          <a:ln>
            <a:prstDash val="dashDot"/>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dirty="0" smtClean="0">
                <a:latin typeface="楷体" pitchFamily="49" charset="-122"/>
                <a:ea typeface="楷体" pitchFamily="49" charset="-122"/>
                <a:cs typeface="Times New Roman" pitchFamily="18" charset="0"/>
              </a:rPr>
              <a:t>前提和结论之间是否具有语义关联？</a:t>
            </a:r>
            <a:endParaRPr lang="zh-CN" altLang="en-US" dirty="0"/>
          </a:p>
        </p:txBody>
      </p:sp>
      <p:sp>
        <p:nvSpPr>
          <p:cNvPr id="7" name="TextBox 6"/>
          <p:cNvSpPr txBox="1"/>
          <p:nvPr/>
        </p:nvSpPr>
        <p:spPr>
          <a:xfrm>
            <a:off x="2627784" y="4437112"/>
            <a:ext cx="3744416" cy="369332"/>
          </a:xfrm>
          <a:prstGeom prst="rect">
            <a:avLst/>
          </a:prstGeom>
          <a:ln>
            <a:prstDash val="dashDot"/>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dirty="0" smtClean="0">
                <a:latin typeface="楷体" pitchFamily="49" charset="-122"/>
                <a:ea typeface="楷体" pitchFamily="49" charset="-122"/>
                <a:cs typeface="Times New Roman" pitchFamily="18" charset="0"/>
              </a:rPr>
              <a:t>论证中前提对结论的支持强度如何？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2656"/>
            <a:ext cx="8229600" cy="1143000"/>
          </a:xfrm>
        </p:spPr>
        <p:txBody>
          <a:bodyPr/>
          <a:lstStyle/>
          <a:p>
            <a:r>
              <a:rPr lang="zh-CN" altLang="en-US" dirty="0" smtClean="0">
                <a:latin typeface="华文新魏" pitchFamily="2" charset="-122"/>
                <a:ea typeface="华文新魏" pitchFamily="2" charset="-122"/>
              </a:rPr>
              <a:t>论证的建构</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539552" y="1484784"/>
            <a:ext cx="8003232" cy="4525963"/>
          </a:xfrm>
        </p:spPr>
        <p:txBody>
          <a:bodyPr>
            <a:normAutofit/>
          </a:bodyPr>
          <a:lstStyle/>
          <a:p>
            <a:pPr marL="365760" indent="-256032">
              <a:lnSpc>
                <a:spcPct val="150000"/>
              </a:lnSpc>
              <a:buNone/>
              <a:defRPr/>
            </a:pPr>
            <a:r>
              <a:rPr lang="en-US" altLang="zh-CN" sz="2400" dirty="0" smtClean="0">
                <a:latin typeface="楷体" pitchFamily="49" charset="-122"/>
                <a:ea typeface="楷体" pitchFamily="49" charset="-122"/>
                <a:cs typeface="Times New Roman" pitchFamily="18" charset="0"/>
              </a:rPr>
              <a:t>(1)</a:t>
            </a:r>
            <a:r>
              <a:rPr lang="zh-CN" altLang="en-US" sz="2400" dirty="0" smtClean="0">
                <a:latin typeface="楷体" pitchFamily="49" charset="-122"/>
                <a:ea typeface="楷体" pitchFamily="49" charset="-122"/>
                <a:cs typeface="Times New Roman" pitchFamily="18" charset="0"/>
              </a:rPr>
              <a:t>论题</a:t>
            </a:r>
            <a:r>
              <a:rPr lang="zh-CN" altLang="en-US" sz="2400" dirty="0">
                <a:latin typeface="楷体" pitchFamily="49" charset="-122"/>
                <a:ea typeface="楷体" pitchFamily="49" charset="-122"/>
                <a:cs typeface="Times New Roman" pitchFamily="18" charset="0"/>
              </a:rPr>
              <a:t>的可信度必须比论据低，并且论题本身必须清楚、确切，在论证过程中要保持同一。</a:t>
            </a:r>
          </a:p>
          <a:p>
            <a:pPr marL="365760" indent="-256032">
              <a:lnSpc>
                <a:spcPct val="150000"/>
              </a:lnSpc>
              <a:buNone/>
              <a:defRPr/>
            </a:pPr>
            <a:r>
              <a:rPr lang="en-US" altLang="zh-CN" sz="2400" dirty="0" smtClean="0">
                <a:latin typeface="楷体" pitchFamily="49" charset="-122"/>
                <a:ea typeface="楷体" pitchFamily="49" charset="-122"/>
                <a:cs typeface="Times New Roman" pitchFamily="18" charset="0"/>
              </a:rPr>
              <a:t>(2)</a:t>
            </a:r>
            <a:r>
              <a:rPr lang="zh-CN" altLang="en-US" sz="2400" dirty="0" smtClean="0">
                <a:latin typeface="楷体" pitchFamily="49" charset="-122"/>
                <a:ea typeface="楷体" pitchFamily="49" charset="-122"/>
                <a:cs typeface="Times New Roman" pitchFamily="18" charset="0"/>
              </a:rPr>
              <a:t>前提</a:t>
            </a:r>
            <a:r>
              <a:rPr lang="zh-CN" altLang="en-US" sz="2400" dirty="0">
                <a:latin typeface="楷体" pitchFamily="49" charset="-122"/>
                <a:ea typeface="楷体" pitchFamily="49" charset="-122"/>
                <a:cs typeface="Times New Roman" pitchFamily="18" charset="0"/>
              </a:rPr>
              <a:t>必须是真实的，或者至少是论辩双方共同接受的</a:t>
            </a:r>
            <a:r>
              <a:rPr lang="zh-CN" altLang="en-US" sz="2400" dirty="0" smtClean="0">
                <a:latin typeface="楷体" pitchFamily="49" charset="-122"/>
                <a:ea typeface="楷体" pitchFamily="49" charset="-122"/>
                <a:cs typeface="Times New Roman" pitchFamily="18" charset="0"/>
              </a:rPr>
              <a:t>。</a:t>
            </a:r>
            <a:endParaRPr lang="en-US" altLang="zh-CN" sz="2400" dirty="0" smtClean="0">
              <a:latin typeface="楷体" pitchFamily="49" charset="-122"/>
              <a:ea typeface="楷体" pitchFamily="49" charset="-122"/>
              <a:cs typeface="Times New Roman" pitchFamily="18" charset="0"/>
            </a:endParaRPr>
          </a:p>
          <a:p>
            <a:pPr marL="365760" indent="-256032">
              <a:lnSpc>
                <a:spcPct val="150000"/>
              </a:lnSpc>
              <a:buNone/>
              <a:defRPr/>
            </a:pPr>
            <a:r>
              <a:rPr lang="en-US" altLang="zh-CN" sz="2400" dirty="0" smtClean="0">
                <a:latin typeface="楷体" pitchFamily="49" charset="-122"/>
                <a:ea typeface="楷体" pitchFamily="49" charset="-122"/>
                <a:cs typeface="Times New Roman" pitchFamily="18" charset="0"/>
              </a:rPr>
              <a:t>(3)</a:t>
            </a:r>
            <a:r>
              <a:rPr lang="zh-CN" altLang="en-US" sz="2400" dirty="0" smtClean="0">
                <a:latin typeface="楷体" pitchFamily="49" charset="-122"/>
                <a:ea typeface="楷体" pitchFamily="49" charset="-122"/>
                <a:cs typeface="Times New Roman" pitchFamily="18" charset="0"/>
              </a:rPr>
              <a:t>论据</a:t>
            </a:r>
            <a:r>
              <a:rPr lang="zh-CN" altLang="en-US" sz="2400" dirty="0">
                <a:latin typeface="楷体" pitchFamily="49" charset="-122"/>
                <a:ea typeface="楷体" pitchFamily="49" charset="-122"/>
                <a:cs typeface="Times New Roman" pitchFamily="18" charset="0"/>
              </a:rPr>
              <a:t>必须是彼此一致和相容的。</a:t>
            </a:r>
          </a:p>
          <a:p>
            <a:pPr marL="365760" indent="-256032">
              <a:lnSpc>
                <a:spcPct val="150000"/>
              </a:lnSpc>
              <a:buNone/>
              <a:defRPr/>
            </a:pPr>
            <a:r>
              <a:rPr lang="en-US" altLang="zh-CN" sz="2400" dirty="0" smtClean="0">
                <a:latin typeface="楷体" pitchFamily="49" charset="-122"/>
                <a:ea typeface="楷体" pitchFamily="49" charset="-122"/>
                <a:cs typeface="Times New Roman" pitchFamily="18" charset="0"/>
              </a:rPr>
              <a:t>(4)</a:t>
            </a:r>
            <a:r>
              <a:rPr lang="zh-CN" altLang="en-US" sz="2400" dirty="0" smtClean="0">
                <a:latin typeface="楷体" pitchFamily="49" charset="-122"/>
                <a:ea typeface="楷体" pitchFamily="49" charset="-122"/>
                <a:cs typeface="Times New Roman" pitchFamily="18" charset="0"/>
              </a:rPr>
              <a:t>论证</a:t>
            </a:r>
            <a:r>
              <a:rPr lang="zh-CN" altLang="en-US" sz="2400" dirty="0">
                <a:latin typeface="楷体" pitchFamily="49" charset="-122"/>
                <a:ea typeface="楷体" pitchFamily="49" charset="-122"/>
                <a:cs typeface="Times New Roman" pitchFamily="18" charset="0"/>
              </a:rPr>
              <a:t>中所使用的推理必须是演绎有效的，或者是归纳强的。</a:t>
            </a:r>
          </a:p>
          <a:p>
            <a:pPr>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592267"/>
            <a:ext cx="366712" cy="365125"/>
          </a:xfrm>
          <a:noFill/>
          <a:ln>
            <a:miter lim="800000"/>
            <a:headEnd/>
            <a:tailEnd/>
          </a:ln>
        </p:spPr>
        <p:txBody>
          <a:bodyPr/>
          <a:lstStyle/>
          <a:p>
            <a:fld id="{19B5CF85-BDD1-4515-8011-0F53550CA818}" type="slidenum">
              <a:rPr lang="zh-CN" altLang="en-US"/>
              <a:pPr/>
              <a:t>26</a:t>
            </a:fld>
            <a:endParaRPr lang="en-US" altLang="zh-CN"/>
          </a:p>
        </p:txBody>
      </p:sp>
      <p:sp>
        <p:nvSpPr>
          <p:cNvPr id="6" name="标题 1"/>
          <p:cNvSpPr>
            <a:spLocks noGrp="1"/>
          </p:cNvSpPr>
          <p:nvPr>
            <p:ph type="title"/>
          </p:nvPr>
        </p:nvSpPr>
        <p:spPr>
          <a:xfrm>
            <a:off x="457200" y="469257"/>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a:t>
            </a:r>
            <a:r>
              <a:rPr lang="zh-CN" altLang="en-US" dirty="0">
                <a:latin typeface="华文新魏" pitchFamily="2" charset="-122"/>
                <a:ea typeface="华文新魏" pitchFamily="2" charset="-122"/>
              </a:rPr>
              <a:t>六</a:t>
            </a:r>
            <a:r>
              <a:rPr lang="zh-CN" altLang="en-US" dirty="0" smtClean="0">
                <a:latin typeface="华文新魏" pitchFamily="2" charset="-122"/>
                <a:ea typeface="华文新魏" pitchFamily="2" charset="-122"/>
              </a:rPr>
              <a:t>章</a:t>
            </a:r>
            <a:r>
              <a:rPr lang="en-US" dirty="0" smtClean="0">
                <a:latin typeface="华文新魏" pitchFamily="2" charset="-122"/>
                <a:ea typeface="华文新魏" pitchFamily="2" charset="-122"/>
              </a:rPr>
              <a:t>  </a:t>
            </a:r>
            <a:r>
              <a:rPr lang="zh-CN" altLang="en-US" dirty="0">
                <a:latin typeface="华文新魏" pitchFamily="2" charset="-122"/>
                <a:ea typeface="华文新魏" pitchFamily="2" charset="-122"/>
              </a:rPr>
              <a:t>非形式</a:t>
            </a:r>
            <a:r>
              <a:rPr lang="zh-CN" altLang="en-US" dirty="0" smtClean="0">
                <a:latin typeface="华文新魏" pitchFamily="2" charset="-122"/>
                <a:ea typeface="华文新魏" pitchFamily="2" charset="-122"/>
              </a:rPr>
              <a:t>逻辑</a:t>
            </a:r>
            <a:endParaRPr lang="zh-CN" altLang="en-US" dirty="0">
              <a:latin typeface="华文新魏" pitchFamily="2" charset="-122"/>
              <a:ea typeface="华文新魏" pitchFamily="2" charset="-122"/>
            </a:endParaRPr>
          </a:p>
        </p:txBody>
      </p:sp>
      <p:sp>
        <p:nvSpPr>
          <p:cNvPr id="12" name="TextBox 11"/>
          <p:cNvSpPr txBox="1"/>
          <p:nvPr/>
        </p:nvSpPr>
        <p:spPr>
          <a:xfrm>
            <a:off x="4139952" y="2895327"/>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论证理论</a:t>
            </a:r>
            <a:endParaRPr lang="zh-CN" altLang="en-US" sz="2400" b="1" dirty="0">
              <a:solidFill>
                <a:schemeClr val="bg1">
                  <a:lumMod val="85000"/>
                </a:schemeClr>
              </a:solidFill>
              <a:latin typeface="+mn-ea"/>
            </a:endParaRPr>
          </a:p>
        </p:txBody>
      </p:sp>
      <p:sp>
        <p:nvSpPr>
          <p:cNvPr id="13" name="TextBox 12"/>
          <p:cNvSpPr txBox="1"/>
          <p:nvPr/>
        </p:nvSpPr>
        <p:spPr>
          <a:xfrm>
            <a:off x="4139952" y="3756545"/>
            <a:ext cx="5112568" cy="461665"/>
          </a:xfrm>
          <a:prstGeom prst="rect">
            <a:avLst/>
          </a:prstGeom>
          <a:noFill/>
        </p:spPr>
        <p:txBody>
          <a:bodyPr wrap="square" rtlCol="0">
            <a:spAutoFit/>
          </a:bodyPr>
          <a:lstStyle/>
          <a:p>
            <a:r>
              <a:rPr lang="zh-CN" altLang="en-US" sz="2400" b="1" dirty="0" smtClean="0">
                <a:latin typeface="+mn-ea"/>
              </a:rPr>
              <a:t>谬误理论</a:t>
            </a:r>
            <a:endParaRPr lang="zh-CN" altLang="en-US" sz="2400" b="1" dirty="0">
              <a:latin typeface="+mn-ea"/>
            </a:endParaRPr>
          </a:p>
        </p:txBody>
      </p:sp>
      <p:sp>
        <p:nvSpPr>
          <p:cNvPr id="16" name="TextBox 15"/>
          <p:cNvSpPr txBox="1"/>
          <p:nvPr/>
        </p:nvSpPr>
        <p:spPr>
          <a:xfrm>
            <a:off x="4139952" y="2028353"/>
            <a:ext cx="5112568" cy="461665"/>
          </a:xfrm>
          <a:prstGeom prst="rect">
            <a:avLst/>
          </a:prstGeom>
          <a:noFill/>
        </p:spPr>
        <p:txBody>
          <a:bodyPr wrap="square" rtlCol="0">
            <a:spAutoFit/>
          </a:bodyPr>
          <a:lstStyle/>
          <a:p>
            <a:r>
              <a:rPr lang="zh-CN" altLang="en-US" sz="2400" b="1" dirty="0" smtClean="0">
                <a:solidFill>
                  <a:schemeClr val="bg1">
                    <a:lumMod val="85000"/>
                  </a:schemeClr>
                </a:solidFill>
              </a:rPr>
              <a:t>定义理论</a:t>
            </a:r>
            <a:endParaRPr lang="zh-CN" altLang="en-US" sz="2400" b="1" dirty="0">
              <a:solidFill>
                <a:schemeClr val="bg1">
                  <a:lumMod val="85000"/>
                </a:schemeClr>
              </a:solidFill>
            </a:endParaRPr>
          </a:p>
        </p:txBody>
      </p:sp>
      <p:sp>
        <p:nvSpPr>
          <p:cNvPr id="10" name="太阳形 9"/>
          <p:cNvSpPr/>
          <p:nvPr/>
        </p:nvSpPr>
        <p:spPr>
          <a:xfrm>
            <a:off x="3203848" y="1988840"/>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1" name="太阳形 10"/>
          <p:cNvSpPr/>
          <p:nvPr/>
        </p:nvSpPr>
        <p:spPr>
          <a:xfrm>
            <a:off x="3203848" y="2852936"/>
            <a:ext cx="576064" cy="576064"/>
          </a:xfrm>
          <a:prstGeom prst="sun">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4" name="太阳形 13"/>
          <p:cNvSpPr/>
          <p:nvPr/>
        </p:nvSpPr>
        <p:spPr>
          <a:xfrm>
            <a:off x="3203848" y="3717032"/>
            <a:ext cx="576064" cy="576064"/>
          </a:xfrm>
          <a:prstGeom prst="sun">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华文新魏" pitchFamily="2" charset="-122"/>
                <a:ea typeface="华文新魏" pitchFamily="2" charset="-122"/>
              </a:rPr>
              <a:t>谬误理论</a:t>
            </a:r>
          </a:p>
        </p:txBody>
      </p:sp>
      <p:sp>
        <p:nvSpPr>
          <p:cNvPr id="3" name="内容占位符 2"/>
          <p:cNvSpPr>
            <a:spLocks noGrp="1"/>
          </p:cNvSpPr>
          <p:nvPr>
            <p:ph idx="1"/>
          </p:nvPr>
        </p:nvSpPr>
        <p:spPr>
          <a:xfrm>
            <a:off x="251520" y="1384176"/>
            <a:ext cx="8229600" cy="1396752"/>
          </a:xfrm>
        </p:spPr>
        <p:txBody>
          <a:bodyPr>
            <a:normAutofit/>
          </a:bodyPr>
          <a:lstStyle/>
          <a:p>
            <a:pPr>
              <a:buNone/>
            </a:pPr>
            <a:r>
              <a:rPr lang="zh-CN" altLang="en-US" sz="2000" dirty="0" smtClean="0">
                <a:latin typeface="Times New Roman" pitchFamily="18" charset="0"/>
                <a:cs typeface="Times New Roman" pitchFamily="18" charset="0"/>
              </a:rPr>
              <a:t>      </a:t>
            </a:r>
            <a:r>
              <a:rPr lang="zh-CN" altLang="en-US" sz="2000" dirty="0" smtClean="0">
                <a:latin typeface="楷体" pitchFamily="49" charset="-122"/>
                <a:ea typeface="楷体" pitchFamily="49" charset="-122"/>
                <a:cs typeface="Times New Roman" pitchFamily="18" charset="0"/>
              </a:rPr>
              <a:t>指有缺陷的推理。它不是指一般的虚假、错误、荒谬的认识、命题或理论，而是指推理或论证过程中所犯的逻辑错误。</a:t>
            </a:r>
          </a:p>
          <a:p>
            <a:pPr>
              <a:buNone/>
            </a:pPr>
            <a:endParaRPr lang="zh-CN" altLang="en-US" sz="2000" dirty="0"/>
          </a:p>
        </p:txBody>
      </p:sp>
      <p:sp>
        <p:nvSpPr>
          <p:cNvPr id="4" name="TextBox 3"/>
          <p:cNvSpPr txBox="1"/>
          <p:nvPr/>
        </p:nvSpPr>
        <p:spPr>
          <a:xfrm>
            <a:off x="827584" y="2348880"/>
            <a:ext cx="144016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400" dirty="0" smtClean="0">
                <a:latin typeface="华文行楷" pitchFamily="2" charset="-122"/>
                <a:ea typeface="华文行楷" pitchFamily="2" charset="-122"/>
              </a:rPr>
              <a:t>形式谬误</a:t>
            </a:r>
            <a:endParaRPr lang="zh-CN" altLang="en-US" sz="2400" dirty="0">
              <a:latin typeface="华文行楷" pitchFamily="2" charset="-122"/>
              <a:ea typeface="华文行楷" pitchFamily="2" charset="-122"/>
            </a:endParaRPr>
          </a:p>
        </p:txBody>
      </p:sp>
      <p:sp>
        <p:nvSpPr>
          <p:cNvPr id="5" name="TextBox 4"/>
          <p:cNvSpPr txBox="1"/>
          <p:nvPr/>
        </p:nvSpPr>
        <p:spPr>
          <a:xfrm>
            <a:off x="2987824" y="2420888"/>
            <a:ext cx="3528392" cy="400110"/>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逻辑上无效的推理、论证</a:t>
            </a:r>
            <a:r>
              <a:rPr lang="zh-CN" altLang="en-US" sz="2000" dirty="0" smtClean="0">
                <a:latin typeface="楷体" pitchFamily="49" charset="-122"/>
                <a:ea typeface="楷体" pitchFamily="49" charset="-122"/>
                <a:cs typeface="Times New Roman" pitchFamily="18" charset="0"/>
              </a:rPr>
              <a:t>形式。</a:t>
            </a:r>
            <a:endParaRPr lang="zh-CN" altLang="en-US" sz="2000" dirty="0">
              <a:latin typeface="楷体" pitchFamily="49" charset="-122"/>
              <a:ea typeface="楷体" pitchFamily="49" charset="-122"/>
            </a:endParaRPr>
          </a:p>
        </p:txBody>
      </p:sp>
      <p:sp>
        <p:nvSpPr>
          <p:cNvPr id="6" name="TextBox 5"/>
          <p:cNvSpPr txBox="1"/>
          <p:nvPr/>
        </p:nvSpPr>
        <p:spPr>
          <a:xfrm>
            <a:off x="755576" y="2978949"/>
            <a:ext cx="7848872" cy="954107"/>
          </a:xfrm>
          <a:prstGeom prst="rect">
            <a:avLst/>
          </a:prstGeom>
          <a:noFill/>
        </p:spPr>
        <p:txBody>
          <a:bodyPr wrap="square" rtlCol="0">
            <a:spAutoFit/>
          </a:bodyPr>
          <a:lstStyle/>
          <a:p>
            <a:r>
              <a:rPr lang="zh-CN" altLang="en-US" sz="2000" u="sng" dirty="0" smtClean="0">
                <a:solidFill>
                  <a:srgbClr val="C00000"/>
                </a:solidFill>
                <a:latin typeface="华文行楷" pitchFamily="2" charset="-122"/>
                <a:ea typeface="华文行楷" pitchFamily="2" charset="-122"/>
              </a:rPr>
              <a:t>例如：</a:t>
            </a:r>
            <a:r>
              <a:rPr lang="zh-CN" altLang="en-US" dirty="0" smtClean="0">
                <a:latin typeface="楷体" pitchFamily="49" charset="-122"/>
                <a:ea typeface="楷体" pitchFamily="49" charset="-122"/>
                <a:cs typeface="Times New Roman" pitchFamily="18" charset="0"/>
              </a:rPr>
              <a:t>命题逻辑中的否定前件式和肯定后件式；词项逻辑中的中项不周延；谓词逻辑中的不正确的量词换序。</a:t>
            </a:r>
          </a:p>
          <a:p>
            <a:endParaRPr lang="zh-CN" altLang="en-US" dirty="0"/>
          </a:p>
        </p:txBody>
      </p:sp>
      <p:sp>
        <p:nvSpPr>
          <p:cNvPr id="7" name="TextBox 6"/>
          <p:cNvSpPr txBox="1"/>
          <p:nvPr/>
        </p:nvSpPr>
        <p:spPr>
          <a:xfrm>
            <a:off x="2987824" y="3925505"/>
            <a:ext cx="5616624" cy="1015663"/>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结论不是依据某种推理、论证形式从前提得出，而是依据语言、心理等方面的因素从前提得出，并且这种推出关系是无效</a:t>
            </a:r>
            <a:r>
              <a:rPr lang="zh-CN" altLang="en-US" sz="2000" dirty="0" smtClean="0">
                <a:latin typeface="楷体" pitchFamily="49" charset="-122"/>
                <a:ea typeface="楷体" pitchFamily="49" charset="-122"/>
                <a:cs typeface="Times New Roman" pitchFamily="18" charset="0"/>
              </a:rPr>
              <a:t>的。</a:t>
            </a:r>
            <a:endParaRPr lang="zh-CN" altLang="en-US" sz="2000" dirty="0">
              <a:latin typeface="楷体" pitchFamily="49" charset="-122"/>
              <a:ea typeface="楷体" pitchFamily="49" charset="-122"/>
            </a:endParaRPr>
          </a:p>
        </p:txBody>
      </p:sp>
      <p:sp>
        <p:nvSpPr>
          <p:cNvPr id="8" name="TextBox 7"/>
          <p:cNvSpPr txBox="1"/>
          <p:nvPr/>
        </p:nvSpPr>
        <p:spPr>
          <a:xfrm>
            <a:off x="755576" y="4221088"/>
            <a:ext cx="1728192"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400" dirty="0" smtClean="0">
                <a:latin typeface="华文行楷" pitchFamily="2" charset="-122"/>
                <a:ea typeface="华文行楷" pitchFamily="2" charset="-122"/>
              </a:rPr>
              <a:t>非形式谬误</a:t>
            </a:r>
            <a:endParaRPr lang="zh-CN" altLang="en-US" sz="2400" dirty="0">
              <a:latin typeface="华文行楷" pitchFamily="2" charset="-122"/>
              <a:ea typeface="华文行楷" pitchFamily="2" charset="-122"/>
            </a:endParaRPr>
          </a:p>
        </p:txBody>
      </p:sp>
      <p:sp>
        <p:nvSpPr>
          <p:cNvPr id="9" name="TextBox 8"/>
          <p:cNvSpPr txBox="1"/>
          <p:nvPr/>
        </p:nvSpPr>
        <p:spPr>
          <a:xfrm>
            <a:off x="1907704" y="5229200"/>
            <a:ext cx="1512168" cy="400110"/>
          </a:xfrm>
          <a:prstGeom prst="rect">
            <a:avLst/>
          </a:prstGeom>
          <a:noFill/>
          <a:ln w="28575">
            <a:solidFill>
              <a:srgbClr val="7030A0"/>
            </a:solidFill>
            <a:prstDash val="sysDot"/>
          </a:ln>
        </p:spPr>
        <p:txBody>
          <a:bodyPr wrap="square" rtlCol="0">
            <a:spAutoFit/>
          </a:bodyPr>
          <a:lstStyle/>
          <a:p>
            <a:pPr algn="ctr"/>
            <a:r>
              <a:rPr lang="zh-CN" altLang="en-US" sz="2000" dirty="0" smtClean="0">
                <a:latin typeface="华文行楷" pitchFamily="2" charset="-122"/>
                <a:ea typeface="华文行楷" pitchFamily="2" charset="-122"/>
              </a:rPr>
              <a:t>歧义性谬误</a:t>
            </a:r>
            <a:endParaRPr lang="zh-CN" altLang="en-US" sz="2000" dirty="0">
              <a:latin typeface="华文行楷" pitchFamily="2" charset="-122"/>
              <a:ea typeface="华文行楷" pitchFamily="2" charset="-122"/>
            </a:endParaRPr>
          </a:p>
        </p:txBody>
      </p:sp>
      <p:sp>
        <p:nvSpPr>
          <p:cNvPr id="10" name="TextBox 9"/>
          <p:cNvSpPr txBox="1"/>
          <p:nvPr/>
        </p:nvSpPr>
        <p:spPr>
          <a:xfrm>
            <a:off x="3779912" y="5229200"/>
            <a:ext cx="1512168"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假设</a:t>
            </a:r>
            <a:r>
              <a:rPr lang="zh-CN" altLang="en-US" sz="2000" dirty="0" smtClean="0">
                <a:latin typeface="华文行楷" pitchFamily="2" charset="-122"/>
                <a:ea typeface="华文行楷" pitchFamily="2" charset="-122"/>
              </a:rPr>
              <a:t>性谬误</a:t>
            </a:r>
            <a:endParaRPr lang="zh-CN" altLang="en-US" sz="2000" dirty="0">
              <a:latin typeface="华文行楷" pitchFamily="2" charset="-122"/>
              <a:ea typeface="华文行楷" pitchFamily="2" charset="-122"/>
            </a:endParaRPr>
          </a:p>
        </p:txBody>
      </p:sp>
      <p:sp>
        <p:nvSpPr>
          <p:cNvPr id="11" name="TextBox 10"/>
          <p:cNvSpPr txBox="1"/>
          <p:nvPr/>
        </p:nvSpPr>
        <p:spPr>
          <a:xfrm>
            <a:off x="5652120" y="5229200"/>
            <a:ext cx="1512168"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关联</a:t>
            </a:r>
            <a:r>
              <a:rPr lang="zh-CN" altLang="en-US" sz="2000" dirty="0" smtClean="0">
                <a:latin typeface="华文行楷" pitchFamily="2" charset="-122"/>
                <a:ea typeface="华文行楷" pitchFamily="2" charset="-122"/>
              </a:rPr>
              <a:t>性谬误</a:t>
            </a:r>
            <a:endParaRPr lang="zh-CN" altLang="en-US" sz="20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strVal val="#ppt_w*0.70"/>
                                          </p:val>
                                        </p:tav>
                                        <p:tav tm="100000">
                                          <p:val>
                                            <p:strVal val="#ppt_w"/>
                                          </p:val>
                                        </p:tav>
                                      </p:tavLst>
                                    </p:anim>
                                    <p:anim calcmode="lin" valueType="num">
                                      <p:cBhvr>
                                        <p:cTn id="23" dur="500" fill="hold"/>
                                        <p:tgtEl>
                                          <p:spTgt spid="6"/>
                                        </p:tgtEl>
                                        <p:attrNameLst>
                                          <p:attrName>ppt_h</p:attrName>
                                        </p:attrNameLst>
                                      </p:cBhvr>
                                      <p:tavLst>
                                        <p:tav tm="0">
                                          <p:val>
                                            <p:strVal val="#ppt_h"/>
                                          </p:val>
                                        </p:tav>
                                        <p:tav tm="100000">
                                          <p:val>
                                            <p:strVal val="#ppt_h"/>
                                          </p:val>
                                        </p:tav>
                                      </p:tavLst>
                                    </p:anim>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ppt_x</p:attrName>
                                        </p:attrNameLst>
                                      </p:cBhvr>
                                      <p:tavLst>
                                        <p:tav tm="0">
                                          <p:val>
                                            <p:strVal val="#ppt_x-.2"/>
                                          </p:val>
                                        </p:tav>
                                        <p:tav tm="100000">
                                          <p:val>
                                            <p:strVal val="#ppt_x"/>
                                          </p:val>
                                        </p:tav>
                                      </p:tavLst>
                                    </p:anim>
                                    <p:anim calcmode="lin" valueType="num">
                                      <p:cBhvr>
                                        <p:cTn id="30" dur="5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dissolv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animBg="1"/>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3792"/>
            <a:ext cx="8229600" cy="1143000"/>
          </a:xfrm>
        </p:spPr>
        <p:txBody>
          <a:bodyPr/>
          <a:lstStyle/>
          <a:p>
            <a:r>
              <a:rPr lang="zh-CN" altLang="en-US" dirty="0" smtClean="0">
                <a:latin typeface="华文新魏" pitchFamily="2" charset="-122"/>
                <a:ea typeface="华文新魏" pitchFamily="2" charset="-122"/>
              </a:rPr>
              <a:t>歧义性谬误</a:t>
            </a:r>
            <a:endParaRPr lang="zh-CN" altLang="en-US" dirty="0">
              <a:latin typeface="华文新魏" pitchFamily="2" charset="-122"/>
              <a:ea typeface="华文新魏" pitchFamily="2" charset="-122"/>
            </a:endParaRPr>
          </a:p>
        </p:txBody>
      </p:sp>
      <p:sp>
        <p:nvSpPr>
          <p:cNvPr id="4" name="TextBox 3"/>
          <p:cNvSpPr txBox="1"/>
          <p:nvPr/>
        </p:nvSpPr>
        <p:spPr>
          <a:xfrm>
            <a:off x="1907704" y="1628800"/>
            <a:ext cx="5472608" cy="400110"/>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利用语词、概念的歧义进行错误的推理和论证</a:t>
            </a:r>
            <a:endParaRPr lang="zh-CN" altLang="en-US" sz="2000" dirty="0">
              <a:latin typeface="楷体" pitchFamily="49" charset="-122"/>
              <a:ea typeface="楷体" pitchFamily="49" charset="-122"/>
            </a:endParaRPr>
          </a:p>
        </p:txBody>
      </p:sp>
      <p:sp>
        <p:nvSpPr>
          <p:cNvPr id="5" name="流程图: 顺序访问存储器 4"/>
          <p:cNvSpPr/>
          <p:nvPr/>
        </p:nvSpPr>
        <p:spPr>
          <a:xfrm>
            <a:off x="1763688" y="2566645"/>
            <a:ext cx="1368152" cy="864096"/>
          </a:xfrm>
          <a:prstGeom prst="flowChartMagneticTap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6" name="TextBox 5"/>
          <p:cNvSpPr txBox="1"/>
          <p:nvPr/>
        </p:nvSpPr>
        <p:spPr>
          <a:xfrm>
            <a:off x="1835696" y="2825060"/>
            <a:ext cx="1512168"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概念混淆</a:t>
            </a:r>
          </a:p>
        </p:txBody>
      </p:sp>
      <p:sp>
        <p:nvSpPr>
          <p:cNvPr id="7" name="流程图: 顺序访问存储器 6"/>
          <p:cNvSpPr/>
          <p:nvPr/>
        </p:nvSpPr>
        <p:spPr>
          <a:xfrm>
            <a:off x="3851920" y="2564904"/>
            <a:ext cx="1368152" cy="864096"/>
          </a:xfrm>
          <a:prstGeom prst="flowChartMagneticTape">
            <a:avLst/>
          </a:prstGeom>
          <a:ln>
            <a:solidFill>
              <a:srgbClr val="00B05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8" name="TextBox 7"/>
          <p:cNvSpPr txBox="1"/>
          <p:nvPr/>
        </p:nvSpPr>
        <p:spPr>
          <a:xfrm>
            <a:off x="3923928" y="2823319"/>
            <a:ext cx="1512168"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构型歧义</a:t>
            </a:r>
            <a:endParaRPr lang="zh-CN" altLang="en-US" sz="2000" dirty="0">
              <a:latin typeface="华文行楷" pitchFamily="2" charset="-122"/>
              <a:ea typeface="华文行楷" pitchFamily="2" charset="-122"/>
            </a:endParaRPr>
          </a:p>
        </p:txBody>
      </p:sp>
      <p:sp>
        <p:nvSpPr>
          <p:cNvPr id="9" name="流程图: 顺序访问存储器 8"/>
          <p:cNvSpPr/>
          <p:nvPr/>
        </p:nvSpPr>
        <p:spPr>
          <a:xfrm>
            <a:off x="5940152" y="2564904"/>
            <a:ext cx="1368152" cy="864096"/>
          </a:xfrm>
          <a:prstGeom prst="flowChartMagneticTap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b="1" dirty="0"/>
          </a:p>
        </p:txBody>
      </p:sp>
      <p:sp>
        <p:nvSpPr>
          <p:cNvPr id="10" name="TextBox 9"/>
          <p:cNvSpPr txBox="1"/>
          <p:nvPr/>
        </p:nvSpPr>
        <p:spPr>
          <a:xfrm>
            <a:off x="6012160" y="2823319"/>
            <a:ext cx="1512168"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错置重音</a:t>
            </a:r>
            <a:endParaRPr lang="zh-CN" altLang="en-US" sz="2000" dirty="0">
              <a:latin typeface="华文行楷" pitchFamily="2" charset="-122"/>
              <a:ea typeface="华文行楷" pitchFamily="2" charset="-122"/>
            </a:endParaRPr>
          </a:p>
        </p:txBody>
      </p:sp>
      <p:sp>
        <p:nvSpPr>
          <p:cNvPr id="11" name="流程图: 顺序访问存储器 10"/>
          <p:cNvSpPr/>
          <p:nvPr/>
        </p:nvSpPr>
        <p:spPr>
          <a:xfrm>
            <a:off x="2843808" y="3933056"/>
            <a:ext cx="864096" cy="720080"/>
          </a:xfrm>
          <a:prstGeom prst="flowChartMagneticTap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b="1" dirty="0"/>
          </a:p>
        </p:txBody>
      </p:sp>
      <p:sp>
        <p:nvSpPr>
          <p:cNvPr id="12" name="TextBox 11"/>
          <p:cNvSpPr txBox="1"/>
          <p:nvPr/>
        </p:nvSpPr>
        <p:spPr>
          <a:xfrm>
            <a:off x="2915816" y="4109010"/>
            <a:ext cx="720080"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合举</a:t>
            </a:r>
            <a:endParaRPr lang="zh-CN" altLang="en-US" sz="2000" dirty="0">
              <a:latin typeface="华文行楷" pitchFamily="2" charset="-122"/>
              <a:ea typeface="华文行楷" pitchFamily="2" charset="-122"/>
            </a:endParaRPr>
          </a:p>
        </p:txBody>
      </p:sp>
      <p:sp>
        <p:nvSpPr>
          <p:cNvPr id="13" name="流程图: 顺序访问存储器 12"/>
          <p:cNvSpPr/>
          <p:nvPr/>
        </p:nvSpPr>
        <p:spPr>
          <a:xfrm>
            <a:off x="5292080" y="3933056"/>
            <a:ext cx="864096" cy="720080"/>
          </a:xfrm>
          <a:prstGeom prst="flowChartMagneticTap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p>
        </p:txBody>
      </p:sp>
      <p:sp>
        <p:nvSpPr>
          <p:cNvPr id="14" name="TextBox 13"/>
          <p:cNvSpPr txBox="1"/>
          <p:nvPr/>
        </p:nvSpPr>
        <p:spPr>
          <a:xfrm>
            <a:off x="5364088" y="4109010"/>
            <a:ext cx="720080"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分</a:t>
            </a:r>
            <a:r>
              <a:rPr lang="zh-CN" altLang="en-US" sz="2000" dirty="0" smtClean="0">
                <a:latin typeface="华文行楷" pitchFamily="2" charset="-122"/>
                <a:ea typeface="华文行楷" pitchFamily="2" charset="-122"/>
              </a:rPr>
              <a:t>举</a:t>
            </a:r>
            <a:endParaRPr lang="zh-CN" altLang="en-US" sz="20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ox(in)">
                                      <p:cBhvr>
                                        <p:cTn id="20" dur="500"/>
                                        <p:tgtEl>
                                          <p:spTgt spid="7"/>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ox(in)">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ox(in)">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ox(in)">
                                      <p:cBhvr>
                                        <p:cTn id="36" dur="500"/>
                                        <p:tgtEl>
                                          <p:spTgt spid="11"/>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box(in)">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ox(in)">
                                      <p:cBhvr>
                                        <p:cTn id="44" dur="500"/>
                                        <p:tgtEl>
                                          <p:spTgt spid="13"/>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ox(in)">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P spid="10" grpId="0"/>
      <p:bldP spid="11" grpId="0" animBg="1"/>
      <p:bldP spid="12" grpId="0"/>
      <p:bldP spid="13" grpId="0" animBg="1"/>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4664"/>
            <a:ext cx="8229600" cy="1143000"/>
          </a:xfrm>
        </p:spPr>
        <p:txBody>
          <a:bodyPr/>
          <a:lstStyle/>
          <a:p>
            <a:r>
              <a:rPr lang="zh-CN" altLang="en-US" dirty="0" smtClean="0">
                <a:latin typeface="华文新魏" pitchFamily="2" charset="-122"/>
                <a:ea typeface="华文新魏" pitchFamily="2" charset="-122"/>
              </a:rPr>
              <a:t>假设性谬误</a:t>
            </a:r>
            <a:endParaRPr lang="zh-CN" altLang="en-US" dirty="0">
              <a:latin typeface="华文新魏" pitchFamily="2" charset="-122"/>
              <a:ea typeface="华文新魏" pitchFamily="2" charset="-122"/>
            </a:endParaRPr>
          </a:p>
        </p:txBody>
      </p:sp>
      <p:sp>
        <p:nvSpPr>
          <p:cNvPr id="4" name="TextBox 3"/>
          <p:cNvSpPr txBox="1"/>
          <p:nvPr/>
        </p:nvSpPr>
        <p:spPr>
          <a:xfrm>
            <a:off x="755576" y="1484784"/>
            <a:ext cx="7776864" cy="707886"/>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论证的前提或推理过程中暗含不当假定、预设的谬误，某种错误结论的得出就依赖于这些不当、甚至错误的假定或预</a:t>
            </a:r>
            <a:r>
              <a:rPr lang="zh-CN" altLang="en-US" sz="2000" dirty="0" smtClean="0">
                <a:latin typeface="楷体" pitchFamily="49" charset="-122"/>
                <a:ea typeface="楷体" pitchFamily="49" charset="-122"/>
                <a:cs typeface="Times New Roman" pitchFamily="18" charset="0"/>
              </a:rPr>
              <a:t>设。</a:t>
            </a:r>
            <a:endParaRPr lang="zh-CN" altLang="en-US" sz="2000" dirty="0">
              <a:latin typeface="楷体" pitchFamily="49" charset="-122"/>
              <a:ea typeface="楷体" pitchFamily="49" charset="-122"/>
            </a:endParaRPr>
          </a:p>
        </p:txBody>
      </p:sp>
      <p:sp>
        <p:nvSpPr>
          <p:cNvPr id="5" name="TextBox 4"/>
          <p:cNvSpPr txBox="1"/>
          <p:nvPr/>
        </p:nvSpPr>
        <p:spPr>
          <a:xfrm>
            <a:off x="2483768" y="2668850"/>
            <a:ext cx="1728192" cy="400110"/>
          </a:xfrm>
          <a:prstGeom prst="rect">
            <a:avLst/>
          </a:prstGeom>
          <a:noFill/>
          <a:ln w="28575">
            <a:solidFill>
              <a:srgbClr val="7030A0"/>
            </a:solidFill>
            <a:prstDash val="sysDot"/>
          </a:ln>
        </p:spPr>
        <p:txBody>
          <a:bodyPr wrap="square" rtlCol="0">
            <a:spAutoFit/>
          </a:bodyPr>
          <a:lstStyle/>
          <a:p>
            <a:pPr algn="ctr"/>
            <a:r>
              <a:rPr lang="zh-CN" altLang="en-US" sz="2000" dirty="0" smtClean="0">
                <a:latin typeface="华文行楷" pitchFamily="2" charset="-122"/>
                <a:ea typeface="华文行楷" pitchFamily="2" charset="-122"/>
              </a:rPr>
              <a:t>非白即黑论证</a:t>
            </a:r>
            <a:endParaRPr lang="zh-CN" altLang="en-US" sz="2000" dirty="0">
              <a:latin typeface="华文行楷" pitchFamily="2" charset="-122"/>
              <a:ea typeface="华文行楷" pitchFamily="2" charset="-122"/>
            </a:endParaRPr>
          </a:p>
        </p:txBody>
      </p:sp>
      <p:sp>
        <p:nvSpPr>
          <p:cNvPr id="6" name="TextBox 5"/>
          <p:cNvSpPr txBox="1"/>
          <p:nvPr/>
        </p:nvSpPr>
        <p:spPr>
          <a:xfrm>
            <a:off x="5436096" y="2668850"/>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smtClean="0">
                <a:latin typeface="华文行楷" pitchFamily="2" charset="-122"/>
                <a:ea typeface="华文行楷" pitchFamily="2" charset="-122"/>
              </a:rPr>
              <a:t>复杂问语</a:t>
            </a:r>
            <a:endParaRPr lang="zh-CN" altLang="en-US" sz="2000" dirty="0">
              <a:latin typeface="华文行楷" pitchFamily="2" charset="-122"/>
              <a:ea typeface="华文行楷" pitchFamily="2" charset="-122"/>
            </a:endParaRPr>
          </a:p>
        </p:txBody>
      </p:sp>
      <p:sp>
        <p:nvSpPr>
          <p:cNvPr id="7" name="TextBox 6"/>
          <p:cNvSpPr txBox="1"/>
          <p:nvPr/>
        </p:nvSpPr>
        <p:spPr>
          <a:xfrm>
            <a:off x="2771800" y="3388930"/>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smtClean="0">
                <a:latin typeface="华文行楷" pitchFamily="2" charset="-122"/>
                <a:ea typeface="华文行楷" pitchFamily="2" charset="-122"/>
              </a:rPr>
              <a:t>以全概偏</a:t>
            </a:r>
            <a:endParaRPr lang="zh-CN" altLang="en-US" sz="2000" dirty="0">
              <a:latin typeface="华文行楷" pitchFamily="2" charset="-122"/>
              <a:ea typeface="华文行楷" pitchFamily="2" charset="-122"/>
            </a:endParaRPr>
          </a:p>
        </p:txBody>
      </p:sp>
      <p:sp>
        <p:nvSpPr>
          <p:cNvPr id="8" name="TextBox 7"/>
          <p:cNvSpPr txBox="1"/>
          <p:nvPr/>
        </p:nvSpPr>
        <p:spPr>
          <a:xfrm>
            <a:off x="5436096" y="3388930"/>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以偏概全</a:t>
            </a:r>
          </a:p>
        </p:txBody>
      </p:sp>
      <p:sp>
        <p:nvSpPr>
          <p:cNvPr id="9" name="TextBox 8"/>
          <p:cNvSpPr txBox="1"/>
          <p:nvPr/>
        </p:nvSpPr>
        <p:spPr>
          <a:xfrm>
            <a:off x="2771800" y="4140948"/>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混淆因果</a:t>
            </a:r>
          </a:p>
        </p:txBody>
      </p:sp>
      <p:sp>
        <p:nvSpPr>
          <p:cNvPr id="10" name="TextBox 9"/>
          <p:cNvSpPr txBox="1"/>
          <p:nvPr/>
        </p:nvSpPr>
        <p:spPr>
          <a:xfrm>
            <a:off x="5436096" y="4140948"/>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虚假类比</a:t>
            </a:r>
          </a:p>
        </p:txBody>
      </p:sp>
      <p:sp>
        <p:nvSpPr>
          <p:cNvPr id="11" name="TextBox 10"/>
          <p:cNvSpPr txBox="1"/>
          <p:nvPr/>
        </p:nvSpPr>
        <p:spPr>
          <a:xfrm>
            <a:off x="2771800" y="4901098"/>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预期</a:t>
            </a:r>
            <a:r>
              <a:rPr lang="zh-CN" altLang="en-US" sz="2000" dirty="0" smtClean="0">
                <a:latin typeface="华文行楷" pitchFamily="2" charset="-122"/>
                <a:ea typeface="华文行楷" pitchFamily="2" charset="-122"/>
              </a:rPr>
              <a:t>理由</a:t>
            </a:r>
            <a:endParaRPr lang="zh-CN" altLang="en-US" sz="2000" dirty="0">
              <a:latin typeface="华文行楷" pitchFamily="2" charset="-122"/>
              <a:ea typeface="华文行楷" pitchFamily="2" charset="-122"/>
            </a:endParaRPr>
          </a:p>
        </p:txBody>
      </p:sp>
      <p:sp>
        <p:nvSpPr>
          <p:cNvPr id="12" name="TextBox 11"/>
          <p:cNvSpPr txBox="1"/>
          <p:nvPr/>
        </p:nvSpPr>
        <p:spPr>
          <a:xfrm>
            <a:off x="5436096" y="4901098"/>
            <a:ext cx="1224136" cy="400110"/>
          </a:xfrm>
          <a:prstGeom prst="rect">
            <a:avLst/>
          </a:prstGeom>
          <a:noFill/>
          <a:ln w="28575">
            <a:solidFill>
              <a:srgbClr val="7030A0"/>
            </a:solidFill>
            <a:prstDash val="sysDot"/>
          </a:ln>
        </p:spPr>
        <p:txBody>
          <a:bodyPr wrap="square" rtlCol="0">
            <a:spAutoFit/>
          </a:bodyPr>
          <a:lstStyle/>
          <a:p>
            <a:pPr algn="ctr"/>
            <a:r>
              <a:rPr lang="zh-CN" altLang="en-US" sz="2000" dirty="0">
                <a:latin typeface="华文行楷" pitchFamily="2" charset="-122"/>
                <a:ea typeface="华文行楷" pitchFamily="2" charset="-122"/>
              </a:rPr>
              <a:t>理由虚假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664"/>
            <a:ext cx="8229600" cy="1143000"/>
          </a:xfrm>
        </p:spPr>
        <p:txBody>
          <a:bodyPr/>
          <a:lstStyle/>
          <a:p>
            <a:r>
              <a:rPr lang="zh-CN" altLang="en-US" dirty="0" smtClean="0">
                <a:latin typeface="华文新魏" pitchFamily="2" charset="-122"/>
                <a:ea typeface="华文新魏" pitchFamily="2" charset="-122"/>
              </a:rPr>
              <a:t>关联性谬误</a:t>
            </a:r>
            <a:endParaRPr lang="zh-CN" altLang="en-US" dirty="0">
              <a:latin typeface="华文新魏" pitchFamily="2" charset="-122"/>
              <a:ea typeface="华文新魏" pitchFamily="2" charset="-122"/>
            </a:endParaRPr>
          </a:p>
        </p:txBody>
      </p:sp>
      <p:sp>
        <p:nvSpPr>
          <p:cNvPr id="4" name="TextBox 3"/>
          <p:cNvSpPr txBox="1"/>
          <p:nvPr/>
        </p:nvSpPr>
        <p:spPr>
          <a:xfrm>
            <a:off x="827584" y="1484784"/>
            <a:ext cx="7704856" cy="707886"/>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从语言、心理上有关，但在逻辑上无关的前提出发进行推理，以至前提与结论的推出不相干，最好称做</a:t>
            </a:r>
            <a:r>
              <a:rPr lang="zh-CN" altLang="en-US" sz="2000" dirty="0" smtClean="0">
                <a:latin typeface="楷体" pitchFamily="49" charset="-122"/>
                <a:ea typeface="楷体" pitchFamily="49" charset="-122"/>
                <a:cs typeface="Times New Roman" pitchFamily="18" charset="0"/>
              </a:rPr>
              <a:t>“不相干谬误”。</a:t>
            </a:r>
            <a:endParaRPr lang="zh-CN" altLang="en-US" sz="2000" dirty="0">
              <a:latin typeface="楷体" pitchFamily="49" charset="-122"/>
              <a:ea typeface="楷体" pitchFamily="49" charset="-122"/>
            </a:endParaRPr>
          </a:p>
        </p:txBody>
      </p:sp>
      <p:sp>
        <p:nvSpPr>
          <p:cNvPr id="5" name="TextBox 4"/>
          <p:cNvSpPr txBox="1"/>
          <p:nvPr/>
        </p:nvSpPr>
        <p:spPr>
          <a:xfrm>
            <a:off x="2915816" y="2524834"/>
            <a:ext cx="1296144" cy="400110"/>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诉诸人身</a:t>
            </a:r>
            <a:endParaRPr lang="zh-CN" altLang="en-US" sz="2000" dirty="0">
              <a:latin typeface="华文行楷" pitchFamily="2" charset="-122"/>
              <a:ea typeface="华文行楷" pitchFamily="2" charset="-122"/>
            </a:endParaRPr>
          </a:p>
        </p:txBody>
      </p:sp>
      <p:sp>
        <p:nvSpPr>
          <p:cNvPr id="6" name="TextBox 5"/>
          <p:cNvSpPr txBox="1"/>
          <p:nvPr/>
        </p:nvSpPr>
        <p:spPr>
          <a:xfrm>
            <a:off x="5148064" y="2524834"/>
            <a:ext cx="1296144" cy="400110"/>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诉诸情感</a:t>
            </a:r>
            <a:endParaRPr lang="zh-CN" altLang="en-US" sz="2000" dirty="0">
              <a:latin typeface="华文行楷" pitchFamily="2" charset="-122"/>
              <a:ea typeface="华文行楷" pitchFamily="2" charset="-122"/>
            </a:endParaRPr>
          </a:p>
        </p:txBody>
      </p:sp>
      <p:sp>
        <p:nvSpPr>
          <p:cNvPr id="7" name="TextBox 6"/>
          <p:cNvSpPr txBox="1"/>
          <p:nvPr/>
        </p:nvSpPr>
        <p:spPr>
          <a:xfrm>
            <a:off x="2915816" y="3172906"/>
            <a:ext cx="1296144" cy="40011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诉诸权威</a:t>
            </a:r>
            <a:endParaRPr lang="zh-CN" altLang="en-US" sz="2000" dirty="0">
              <a:latin typeface="华文行楷" pitchFamily="2" charset="-122"/>
              <a:ea typeface="华文行楷" pitchFamily="2" charset="-122"/>
            </a:endParaRPr>
          </a:p>
        </p:txBody>
      </p:sp>
      <p:sp>
        <p:nvSpPr>
          <p:cNvPr id="8" name="TextBox 7"/>
          <p:cNvSpPr txBox="1"/>
          <p:nvPr/>
        </p:nvSpPr>
        <p:spPr>
          <a:xfrm>
            <a:off x="5148064" y="3172906"/>
            <a:ext cx="1296144" cy="40011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诉诸强力</a:t>
            </a:r>
            <a:endParaRPr lang="zh-CN" altLang="en-US" sz="2000" dirty="0">
              <a:latin typeface="华文行楷" pitchFamily="2" charset="-122"/>
              <a:ea typeface="华文行楷" pitchFamily="2" charset="-122"/>
            </a:endParaRPr>
          </a:p>
        </p:txBody>
      </p:sp>
      <p:sp>
        <p:nvSpPr>
          <p:cNvPr id="9" name="TextBox 8"/>
          <p:cNvSpPr txBox="1"/>
          <p:nvPr/>
        </p:nvSpPr>
        <p:spPr>
          <a:xfrm>
            <a:off x="2915816" y="3820978"/>
            <a:ext cx="1296144"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诉诸无知</a:t>
            </a:r>
            <a:endParaRPr lang="zh-CN" altLang="en-US" sz="2000" dirty="0">
              <a:latin typeface="华文行楷" pitchFamily="2" charset="-122"/>
              <a:ea typeface="华文行楷" pitchFamily="2" charset="-122"/>
            </a:endParaRPr>
          </a:p>
        </p:txBody>
      </p:sp>
      <p:sp>
        <p:nvSpPr>
          <p:cNvPr id="10" name="TextBox 9"/>
          <p:cNvSpPr txBox="1"/>
          <p:nvPr/>
        </p:nvSpPr>
        <p:spPr>
          <a:xfrm>
            <a:off x="5148064" y="3852916"/>
            <a:ext cx="1296144"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zh-CN" altLang="en-US" sz="2000" dirty="0" smtClean="0">
                <a:latin typeface="华文行楷" pitchFamily="2" charset="-122"/>
                <a:ea typeface="华文行楷" pitchFamily="2" charset="-122"/>
              </a:rPr>
              <a:t>诉诸起源</a:t>
            </a:r>
            <a:endParaRPr lang="zh-CN" altLang="en-US" sz="2000" dirty="0">
              <a:latin typeface="华文行楷" pitchFamily="2" charset="-122"/>
              <a:ea typeface="华文行楷" pitchFamily="2" charset="-122"/>
            </a:endParaRPr>
          </a:p>
        </p:txBody>
      </p:sp>
      <p:sp>
        <p:nvSpPr>
          <p:cNvPr id="11" name="TextBox 10"/>
          <p:cNvSpPr txBox="1"/>
          <p:nvPr/>
        </p:nvSpPr>
        <p:spPr>
          <a:xfrm>
            <a:off x="3563888" y="5189130"/>
            <a:ext cx="2088232" cy="400110"/>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zh-CN" altLang="en-US" sz="2000" dirty="0">
                <a:latin typeface="华文行楷" pitchFamily="2" charset="-122"/>
                <a:ea typeface="华文行楷" pitchFamily="2" charset="-122"/>
              </a:rPr>
              <a:t>不据前提的推理</a:t>
            </a:r>
          </a:p>
        </p:txBody>
      </p:sp>
      <p:sp>
        <p:nvSpPr>
          <p:cNvPr id="12" name="TextBox 11"/>
          <p:cNvSpPr txBox="1"/>
          <p:nvPr/>
        </p:nvSpPr>
        <p:spPr>
          <a:xfrm>
            <a:off x="2915816" y="4500988"/>
            <a:ext cx="1296144" cy="40011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zh-CN" altLang="en-US" sz="2000" dirty="0">
                <a:latin typeface="华文行楷" pitchFamily="2" charset="-122"/>
                <a:ea typeface="华文行楷" pitchFamily="2" charset="-122"/>
              </a:rPr>
              <a:t>窃取论题</a:t>
            </a:r>
          </a:p>
        </p:txBody>
      </p:sp>
      <p:sp>
        <p:nvSpPr>
          <p:cNvPr id="13" name="TextBox 12"/>
          <p:cNvSpPr txBox="1"/>
          <p:nvPr/>
        </p:nvSpPr>
        <p:spPr>
          <a:xfrm>
            <a:off x="5004048" y="4500988"/>
            <a:ext cx="1584176" cy="40011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zh-CN" altLang="en-US" sz="2000" dirty="0">
                <a:latin typeface="华文行楷" pitchFamily="2" charset="-122"/>
                <a:ea typeface="华文行楷" pitchFamily="2" charset="-122"/>
              </a:rPr>
              <a:t>稻草人谬误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969</TotalTime>
  <Words>2228</Words>
  <Application>Microsoft Office PowerPoint</Application>
  <PresentationFormat>全屏显示(4:3)</PresentationFormat>
  <Paragraphs>251</Paragraphs>
  <Slides>30</Slides>
  <Notes>1</Notes>
  <HiddenSlides>0</HiddenSlides>
  <MMClips>0</MMClips>
  <ScaleCrop>false</ScaleCrop>
  <HeadingPairs>
    <vt:vector size="4" baseType="variant">
      <vt:variant>
        <vt:lpstr>主题</vt:lpstr>
      </vt:variant>
      <vt:variant>
        <vt:i4>1</vt:i4>
      </vt:variant>
      <vt:variant>
        <vt:lpstr>幻灯片标题</vt:lpstr>
      </vt:variant>
      <vt:variant>
        <vt:i4>30</vt:i4>
      </vt:variant>
    </vt:vector>
  </HeadingPairs>
  <TitlesOfParts>
    <vt:vector size="31" baseType="lpstr">
      <vt:lpstr>Office 主题</vt:lpstr>
      <vt:lpstr>幻灯片 1</vt:lpstr>
      <vt:lpstr>非形式逻辑</vt:lpstr>
      <vt:lpstr>第六章  非形式逻辑</vt:lpstr>
      <vt:lpstr>第六章  非形式逻辑</vt:lpstr>
      <vt:lpstr>词项</vt:lpstr>
      <vt:lpstr>定义</vt:lpstr>
      <vt:lpstr>内涵定义</vt:lpstr>
      <vt:lpstr>属加种差定义</vt:lpstr>
      <vt:lpstr>外延定义</vt:lpstr>
      <vt:lpstr>外延定义</vt:lpstr>
      <vt:lpstr>语词定义</vt:lpstr>
      <vt:lpstr>语词定义</vt:lpstr>
      <vt:lpstr>定义的规则和作用</vt:lpstr>
      <vt:lpstr>第六章  非形式逻辑</vt:lpstr>
      <vt:lpstr>把一切送上理智的法庭</vt:lpstr>
      <vt:lpstr>论证</vt:lpstr>
      <vt:lpstr>线性结构</vt:lpstr>
      <vt:lpstr>协同式结构</vt:lpstr>
      <vt:lpstr>协同式结构</vt:lpstr>
      <vt:lpstr>收敛式结构</vt:lpstr>
      <vt:lpstr>收敛式结构</vt:lpstr>
      <vt:lpstr>复合式结构</vt:lpstr>
      <vt:lpstr>复合式结构</vt:lpstr>
      <vt:lpstr>论证的评价</vt:lpstr>
      <vt:lpstr>论证的建构</vt:lpstr>
      <vt:lpstr>第六章  非形式逻辑</vt:lpstr>
      <vt:lpstr>谬误理论</vt:lpstr>
      <vt:lpstr>歧义性谬误</vt:lpstr>
      <vt:lpstr>假设性谬误</vt:lpstr>
      <vt:lpstr>关联性谬误</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dell</dc:creator>
  <cp:lastModifiedBy>CBS</cp:lastModifiedBy>
  <cp:revision>98</cp:revision>
  <dcterms:created xsi:type="dcterms:W3CDTF">2014-08-18T12:08:29Z</dcterms:created>
  <dcterms:modified xsi:type="dcterms:W3CDTF">2014-08-21T08:11:32Z</dcterms:modified>
</cp:coreProperties>
</file>