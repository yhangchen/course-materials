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74" r:id="rId4"/>
    <p:sldId id="269" r:id="rId5"/>
    <p:sldId id="275" r:id="rId6"/>
    <p:sldId id="276" r:id="rId7"/>
    <p:sldId id="277" r:id="rId8"/>
    <p:sldId id="278" r:id="rId9"/>
    <p:sldId id="270" r:id="rId10"/>
    <p:sldId id="279" r:id="rId11"/>
    <p:sldId id="280" r:id="rId12"/>
    <p:sldId id="281" r:id="rId13"/>
    <p:sldId id="282" r:id="rId14"/>
    <p:sldId id="271" r:id="rId15"/>
    <p:sldId id="283" r:id="rId16"/>
    <p:sldId id="289" r:id="rId17"/>
    <p:sldId id="272" r:id="rId18"/>
    <p:sldId id="284" r:id="rId19"/>
    <p:sldId id="285" r:id="rId20"/>
    <p:sldId id="286" r:id="rId21"/>
    <p:sldId id="287" r:id="rId22"/>
    <p:sldId id="273" r:id="rId23"/>
    <p:sldId id="288" r:id="rId24"/>
    <p:sldId id="290" r:id="rId25"/>
    <p:sldId id="264" r:id="rId26"/>
    <p:sldId id="266" r:id="rId27"/>
    <p:sldId id="267" r:id="rId28"/>
    <p:sldId id="268" r:id="rId29"/>
    <p:sldId id="291" r:id="rId30"/>
    <p:sldId id="265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78" autoAdjust="0"/>
  </p:normalViewPr>
  <p:slideViewPr>
    <p:cSldViewPr>
      <p:cViewPr varScale="1">
        <p:scale>
          <a:sx n="81" d="100"/>
          <a:sy n="81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62607-59EF-4755-86DB-5BBDE7CF267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8973E-C190-4D6A-91DD-2ED53C570C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FDFEB-08AF-464D-AA94-B73A5CAA2AD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A8973E-C190-4D6A-91DD-2ED53C570C4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D891B-8DE6-46DC-9EAF-83408D3C63CE}" type="datetimeFigureOut">
              <a:rPr lang="zh-CN" altLang="en-US" smtClean="0"/>
              <a:pPr/>
              <a:t>2014-8-22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8FBEE-D6B9-4B13-B8D7-F74BB8593B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83568" y="1916832"/>
            <a:ext cx="7772400" cy="1829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逻辑学导论</a:t>
            </a:r>
            <a:endParaRPr kumimoji="0" lang="en-US" altLang="zh-CN" sz="5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（第三版）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683568" y="4293096"/>
            <a:ext cx="7772400" cy="120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新魏" pitchFamily="2" charset="-122"/>
                <a:ea typeface="华文新魏" pitchFamily="2" charset="-122"/>
              </a:rPr>
              <a:t>陈波 著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  <a:p>
            <a:pPr lvl="0" algn="ctr">
              <a:spcBef>
                <a:spcPct val="20000"/>
              </a:spcBef>
            </a:pPr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中国人民大学出版社（</a:t>
            </a:r>
            <a:r>
              <a:rPr lang="en-US" altLang="zh-CN" sz="2800" dirty="0" smtClean="0">
                <a:latin typeface="华文新魏" pitchFamily="2" charset="-122"/>
                <a:ea typeface="华文新魏" pitchFamily="2" charset="-122"/>
              </a:rPr>
              <a:t>2014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 rot="10800000" flipV="1">
            <a:off x="1143000" y="680393"/>
            <a:ext cx="70723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新编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21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世纪系列教材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第四章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谓词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27513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关系</a:t>
            </a:r>
            <a:r>
              <a:rPr lang="zh-CN" altLang="en-US" sz="2400" b="1" dirty="0" smtClean="0">
                <a:latin typeface="+mn-ea"/>
              </a:rPr>
              <a:t>谓词、重叠量化和二元关系的性质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7784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模型和赋值  普遍有效式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7784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普遍有效</a:t>
            </a:r>
            <a:r>
              <a:rPr lang="zh-CN" altLang="en-US" sz="2400" b="1" dirty="0" smtClean="0">
                <a:latin typeface="+mn-ea"/>
              </a:rPr>
              <a:t>式的判定问题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谓词逻辑的自然推理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778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个</a:t>
            </a:r>
            <a:r>
              <a:rPr lang="zh-CN" altLang="en-US" sz="2400" b="1" dirty="0" smtClean="0"/>
              <a:t>体词、性质谓词、量词和公式</a:t>
            </a:r>
            <a:endParaRPr lang="zh-CN" altLang="en-US" sz="2400" b="1" dirty="0"/>
          </a:p>
        </p:txBody>
      </p:sp>
      <p:sp>
        <p:nvSpPr>
          <p:cNvPr id="22" name="流程图: 或者 21"/>
          <p:cNvSpPr/>
          <p:nvPr/>
        </p:nvSpPr>
        <p:spPr>
          <a:xfrm>
            <a:off x="1835696" y="1772816"/>
            <a:ext cx="504056" cy="504056"/>
          </a:xfrm>
          <a:prstGeom prst="flowChar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或者 24"/>
          <p:cNvSpPr/>
          <p:nvPr/>
        </p:nvSpPr>
        <p:spPr>
          <a:xfrm>
            <a:off x="1835696" y="2708920"/>
            <a:ext cx="504056" cy="504056"/>
          </a:xfrm>
          <a:prstGeom prst="flowChar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流程图: 或者 25"/>
          <p:cNvSpPr/>
          <p:nvPr/>
        </p:nvSpPr>
        <p:spPr>
          <a:xfrm>
            <a:off x="1835696" y="3645024"/>
            <a:ext cx="504056" cy="504056"/>
          </a:xfrm>
          <a:prstGeom prst="flowChartOr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或者 26"/>
          <p:cNvSpPr/>
          <p:nvPr/>
        </p:nvSpPr>
        <p:spPr>
          <a:xfrm>
            <a:off x="1835696" y="4509120"/>
            <a:ext cx="504056" cy="504056"/>
          </a:xfrm>
          <a:prstGeom prst="flowChar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或者 27"/>
          <p:cNvSpPr/>
          <p:nvPr/>
        </p:nvSpPr>
        <p:spPr>
          <a:xfrm>
            <a:off x="1835696" y="5373216"/>
            <a:ext cx="504056" cy="504056"/>
          </a:xfrm>
          <a:prstGeom prst="flowChartO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命题逻辑和词项逻辑的局限性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9248" y="1600200"/>
            <a:ext cx="7715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(1)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不能处理关系命题及其推理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endParaRPr lang="en-US" altLang="zh-CN" sz="2400" dirty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(2)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不能处理量词内部含联结词结构的命题及推理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endParaRPr lang="en-US" altLang="zh-CN" sz="2400" dirty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(3)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不能处理多重量化，即两次结构里面还含有其他量词的语句及其推理关系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79912" y="4725144"/>
            <a:ext cx="1656184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谓词逻辑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第四章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谓词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27513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关系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谓词、重叠量化和二元关系的性质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7784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模型和赋值  普遍有效式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7784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普遍有效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式的判定问题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7784" y="18152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个</a:t>
            </a:r>
            <a:r>
              <a:rPr lang="zh-CN" altLang="en-US" sz="2400" b="1" dirty="0" smtClean="0"/>
              <a:t>体词、性质谓词、量词和公式</a:t>
            </a:r>
            <a:endParaRPr lang="zh-CN" altLang="en-US" sz="2400" b="1" dirty="0"/>
          </a:p>
        </p:txBody>
      </p:sp>
      <p:sp>
        <p:nvSpPr>
          <p:cNvPr id="22" name="流程图: 或者 21"/>
          <p:cNvSpPr/>
          <p:nvPr/>
        </p:nvSpPr>
        <p:spPr>
          <a:xfrm>
            <a:off x="1835696" y="1772816"/>
            <a:ext cx="504056" cy="504056"/>
          </a:xfrm>
          <a:prstGeom prst="flowChar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或者 23"/>
          <p:cNvSpPr/>
          <p:nvPr/>
        </p:nvSpPr>
        <p:spPr>
          <a:xfrm>
            <a:off x="1835696" y="27089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流程图: 或者 24"/>
          <p:cNvSpPr/>
          <p:nvPr/>
        </p:nvSpPr>
        <p:spPr>
          <a:xfrm>
            <a:off x="1835696" y="3645024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流程图: 或者 25"/>
          <p:cNvSpPr/>
          <p:nvPr/>
        </p:nvSpPr>
        <p:spPr>
          <a:xfrm>
            <a:off x="1835696" y="45091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流程图: 或者 26"/>
          <p:cNvSpPr/>
          <p:nvPr/>
        </p:nvSpPr>
        <p:spPr>
          <a:xfrm>
            <a:off x="1835696" y="53732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个体词、谓词和原子公式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75856" y="1412776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表示对象域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论域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中的个体的符号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流程图: 顺序访问存储器 4"/>
          <p:cNvSpPr/>
          <p:nvPr/>
        </p:nvSpPr>
        <p:spPr>
          <a:xfrm>
            <a:off x="1331640" y="1484784"/>
            <a:ext cx="1512168" cy="936104"/>
          </a:xfrm>
          <a:prstGeom prst="flowChartMagneticTap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47664" y="174319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个体词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56" y="1918573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个体变项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x,y,z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…)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：论域内的某个</a:t>
            </a:r>
            <a:r>
              <a:rPr lang="zh-CN" altLang="en-US" u="sng" dirty="0" smtClean="0">
                <a:latin typeface="楷体" pitchFamily="49" charset="-122"/>
                <a:ea typeface="楷体" pitchFamily="49" charset="-122"/>
              </a:rPr>
              <a:t>不确定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的对象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个体</a:t>
            </a:r>
            <a:r>
              <a:rPr lang="zh-CN" altLang="en-US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常项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a,b,c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…)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：论域内某个</a:t>
            </a:r>
            <a:r>
              <a:rPr lang="zh-CN" altLang="en-US" u="sng" dirty="0" smtClean="0">
                <a:latin typeface="楷体" pitchFamily="49" charset="-122"/>
                <a:ea typeface="楷体" pitchFamily="49" charset="-122"/>
              </a:rPr>
              <a:t>确定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的对象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1331640" y="3140968"/>
            <a:ext cx="1512168" cy="936104"/>
          </a:xfrm>
          <a:prstGeom prst="flowChartMagneticTap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03648" y="339938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一元谓词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5856" y="3284984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表示单个个体的性质，也叫“性质谓词”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75856" y="3707740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一元谓词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符号：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F,G,R,S…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" name="流程图: 顺序访问存储器 11"/>
          <p:cNvSpPr/>
          <p:nvPr/>
        </p:nvSpPr>
        <p:spPr>
          <a:xfrm>
            <a:off x="1331640" y="4653136"/>
            <a:ext cx="1512168" cy="936104"/>
          </a:xfrm>
          <a:prstGeom prst="flowChartMagneticTap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03648" y="491155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原子公式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5856" y="4797152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在谓词符号后面跟着卸载一对括号内的一个个体词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个体变项或个体常项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形成的公式。如：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F(a),G(x)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20072" y="5445224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0070C0"/>
                </a:solidFill>
                <a:latin typeface="华文琥珀" pitchFamily="2" charset="-122"/>
                <a:ea typeface="华文琥珀" pitchFamily="2" charset="-122"/>
              </a:rPr>
              <a:t>真假判定</a:t>
            </a:r>
            <a:endParaRPr lang="zh-CN" altLang="en-US" sz="2000" dirty="0">
              <a:solidFill>
                <a:srgbClr val="0070C0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量词和量化公式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760" y="1527175"/>
            <a:ext cx="165618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全称量词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  <a:sym typeface="Symbol" pitchFamily="18" charset="2"/>
              </a:rPr>
              <a:t>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48064" y="1527175"/>
            <a:ext cx="165618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存在量词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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235967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 smtClean="0">
                <a:solidFill>
                  <a:srgbClr val="00B050"/>
                </a:solidFill>
                <a:latin typeface="华文新魏" pitchFamily="2" charset="-122"/>
                <a:ea typeface="华文新魏" pitchFamily="2" charset="-122"/>
              </a:rPr>
              <a:t>量化公式：</a:t>
            </a:r>
            <a:endParaRPr lang="zh-CN" altLang="en-US" sz="2400" u="sng" dirty="0">
              <a:solidFill>
                <a:srgbClr val="00B05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27784" y="245201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在原子公式前面加上量词形成的公式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5736" y="2893352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xF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，读做“对于所有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而言，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lvl="1">
              <a:lnSpc>
                <a:spcPct val="150000"/>
              </a:lnSpc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xF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，读做“存在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使得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”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35696" y="4005410"/>
            <a:ext cx="59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可以用命题联结词把原子公式和量化公式连接起来</a:t>
            </a:r>
            <a:endParaRPr lang="zh-CN" altLang="en-US" sz="20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75856" y="4549536"/>
            <a:ext cx="4104456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60000"/>
              </a:lnSpc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x(F(x)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G(x))</a:t>
            </a:r>
            <a:endParaRPr lang="zh-CN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xF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y H(y)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由量词的辖域引出的概念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43608" y="1340768"/>
            <a:ext cx="1152128" cy="792088"/>
            <a:chOff x="827584" y="1340768"/>
            <a:chExt cx="1152128" cy="792088"/>
          </a:xfrm>
        </p:grpSpPr>
        <p:sp>
          <p:nvSpPr>
            <p:cNvPr id="7" name="云形 6"/>
            <p:cNvSpPr/>
            <p:nvPr/>
          </p:nvSpPr>
          <p:spPr>
            <a:xfrm>
              <a:off x="827584" y="1340768"/>
              <a:ext cx="1152128" cy="792088"/>
            </a:xfrm>
            <a:prstGeom prst="clou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71600" y="1484784"/>
              <a:ext cx="864096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华文行楷" pitchFamily="2" charset="-122"/>
                  <a:ea typeface="华文行楷" pitchFamily="2" charset="-122"/>
                </a:rPr>
                <a:t>辖域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27784" y="1619508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量词的管辖范围。有两种情形：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2060848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Both"/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如果一个量词后面有括号，则处于括号内的公式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该量词的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辖域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如果一个量词后面无括号，则量词后面最短的公式，构成该量词的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辖域。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43608" y="3573016"/>
            <a:ext cx="1224136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约束变项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08" y="4181018"/>
            <a:ext cx="1224136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行楷" pitchFamily="2" charset="-122"/>
                <a:ea typeface="华文行楷" pitchFamily="2" charset="-122"/>
              </a:rPr>
              <a:t>自由</a:t>
            </a:r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变项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55776" y="3330858"/>
            <a:ext cx="5688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一个变项的某一次出现，如果处于量词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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或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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的辖域之内的，或作为与该量词一起出现的变项，则称该变项的这一次出现是“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约束出现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”，否则叫做“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自由出现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”。约束出现的变项叫“</a:t>
            </a:r>
            <a:r>
              <a:rPr lang="zh-CN" altLang="en-US" b="1" u="sng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约束变项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”，自由出现的变项叫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“</a:t>
            </a:r>
            <a:r>
              <a:rPr lang="zh-CN" altLang="en-US" b="1" u="sng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自由变项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”。</a:t>
            </a:r>
            <a:endParaRPr lang="zh-CN" altLang="en-US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691680" y="4931876"/>
            <a:ext cx="1512168" cy="720080"/>
            <a:chOff x="1259632" y="5229200"/>
            <a:chExt cx="1512168" cy="720080"/>
          </a:xfrm>
        </p:grpSpPr>
        <p:sp>
          <p:nvSpPr>
            <p:cNvPr id="13" name="横卷形 12"/>
            <p:cNvSpPr/>
            <p:nvPr/>
          </p:nvSpPr>
          <p:spPr>
            <a:xfrm>
              <a:off x="1259632" y="5229200"/>
              <a:ext cx="1224136" cy="720080"/>
            </a:xfrm>
            <a:prstGeom prst="horizontalScroll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31640" y="5415607"/>
              <a:ext cx="1440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开公式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940152" y="4931876"/>
            <a:ext cx="1512168" cy="720080"/>
            <a:chOff x="1259632" y="5229200"/>
            <a:chExt cx="1512168" cy="720080"/>
          </a:xfrm>
        </p:grpSpPr>
        <p:sp>
          <p:nvSpPr>
            <p:cNvPr id="17" name="横卷形 16"/>
            <p:cNvSpPr/>
            <p:nvPr/>
          </p:nvSpPr>
          <p:spPr>
            <a:xfrm>
              <a:off x="1259632" y="5229200"/>
              <a:ext cx="1224136" cy="720080"/>
            </a:xfrm>
            <a:prstGeom prst="horizontalScroll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31640" y="5415607"/>
              <a:ext cx="1440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华文行楷" pitchFamily="2" charset="-122"/>
                  <a:ea typeface="华文行楷" pitchFamily="2" charset="-122"/>
                </a:rPr>
                <a:t>闭</a:t>
              </a:r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公式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7584" y="5867980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含有至少一个自由变项的公式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20072" y="586798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不含任何自由变项的公式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0" grpId="0" animBg="1"/>
      <p:bldP spid="11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自然语言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中性质命题的符号化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95736" y="1412776"/>
            <a:ext cx="4752528" cy="792088"/>
            <a:chOff x="2339752" y="2420888"/>
            <a:chExt cx="4752528" cy="792088"/>
          </a:xfrm>
        </p:grpSpPr>
        <p:sp>
          <p:nvSpPr>
            <p:cNvPr id="5" name="上凸弯带形 4"/>
            <p:cNvSpPr/>
            <p:nvPr/>
          </p:nvSpPr>
          <p:spPr>
            <a:xfrm>
              <a:off x="2339752" y="2420888"/>
              <a:ext cx="4752528" cy="792088"/>
            </a:xfrm>
            <a:prstGeom prst="ellipseRibbon2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35896" y="2492896"/>
              <a:ext cx="223224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200" dirty="0" smtClean="0">
                  <a:latin typeface="华文行楷" pitchFamily="2" charset="-122"/>
                  <a:ea typeface="华文行楷" pitchFamily="2" charset="-122"/>
                </a:rPr>
                <a:t>当论域为全域时</a:t>
              </a:r>
              <a:endParaRPr lang="zh-CN" altLang="en-US" sz="2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411760" y="2636912"/>
            <a:ext cx="4248472" cy="400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u="sng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全称直言命题可符号化为全称</a:t>
            </a:r>
            <a:r>
              <a:rPr lang="zh-CN" altLang="en-US" sz="2000" u="sng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蕴涵式</a:t>
            </a:r>
            <a:endParaRPr lang="zh-CN" altLang="en-US" sz="2000" u="sng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9632" y="2996952"/>
            <a:ext cx="69127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SAP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x(S(x)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P(x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SEP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x(S(x)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P(x))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11760" y="3717032"/>
            <a:ext cx="4248472" cy="400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u="sng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特</a:t>
            </a:r>
            <a:r>
              <a:rPr lang="zh-CN" altLang="en-US" sz="2000" u="sng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称直言命题可符号化为存在合取式</a:t>
            </a:r>
            <a:endParaRPr lang="zh-CN" altLang="en-US" sz="2000" u="sng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9632" y="4124400"/>
            <a:ext cx="74888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SIP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x(S(x)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P(x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SOP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x(S(x)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en-US" altLang="zh-CN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P(x))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11760" y="4829090"/>
            <a:ext cx="4248472" cy="400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u="sng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单称直言命题可符号化为原子公式</a:t>
            </a:r>
            <a:endParaRPr lang="zh-CN" altLang="en-US" sz="2000" u="sng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64" y="5253007"/>
            <a:ext cx="7524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“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《</a:t>
            </a: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春江花月夜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》</a:t>
            </a: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是一支中国古代名曲”可以符号化为：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F(a)</a:t>
            </a:r>
            <a:endParaRPr lang="zh-CN" altLang="en-US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“周作人不是一位具有民族气节的人”可以符号化为：</a:t>
            </a:r>
            <a:r>
              <a:rPr lang="en-US" altLang="zh-CN" baseline="30000" dirty="0"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F(b)</a:t>
            </a:r>
            <a:endParaRPr lang="zh-CN" altLang="en-US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第四章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谓词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27513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关系</a:t>
            </a:r>
            <a:r>
              <a:rPr lang="zh-CN" altLang="en-US" sz="2400" b="1" dirty="0" smtClean="0">
                <a:latin typeface="+mn-ea"/>
              </a:rPr>
              <a:t>谓词、重叠量化和二元关系的性质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7784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模型和赋值  普遍有效式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7784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普遍有效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式的判定问题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7784" y="18448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个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体词、性质谓词、量词和公式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流程图: 或者 21"/>
          <p:cNvSpPr/>
          <p:nvPr/>
        </p:nvSpPr>
        <p:spPr>
          <a:xfrm>
            <a:off x="1835696" y="17728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1835696" y="2708920"/>
            <a:ext cx="504056" cy="504056"/>
          </a:xfrm>
          <a:prstGeom prst="flowChar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或者 24"/>
          <p:cNvSpPr/>
          <p:nvPr/>
        </p:nvSpPr>
        <p:spPr>
          <a:xfrm>
            <a:off x="1835696" y="3645024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流程图: 或者 25"/>
          <p:cNvSpPr/>
          <p:nvPr/>
        </p:nvSpPr>
        <p:spPr>
          <a:xfrm>
            <a:off x="1835696" y="45091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流程图: 或者 26"/>
          <p:cNvSpPr/>
          <p:nvPr/>
        </p:nvSpPr>
        <p:spPr>
          <a:xfrm>
            <a:off x="1835696" y="53732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关系命题与关系谓词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63888" y="177281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断定个体之间具有某种关系的命题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403648" y="1340768"/>
            <a:ext cx="1512168" cy="936104"/>
            <a:chOff x="1403648" y="1484784"/>
            <a:chExt cx="1512168" cy="936104"/>
          </a:xfrm>
        </p:grpSpPr>
        <p:sp>
          <p:nvSpPr>
            <p:cNvPr id="6" name="流程图: 顺序访问存储器 5"/>
            <p:cNvSpPr/>
            <p:nvPr/>
          </p:nvSpPr>
          <p:spPr>
            <a:xfrm>
              <a:off x="1403648" y="1484784"/>
              <a:ext cx="1512168" cy="936104"/>
            </a:xfrm>
            <a:prstGeom prst="flowChartMagneticTap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75656" y="1773977"/>
              <a:ext cx="136815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 smtClean="0">
                  <a:latin typeface="华文行楷" pitchFamily="2" charset="-122"/>
                  <a:ea typeface="华文行楷" pitchFamily="2" charset="-122"/>
                </a:rPr>
                <a:t>关系命题</a:t>
              </a:r>
              <a:endParaRPr lang="zh-CN" altLang="en-US" sz="2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763688" y="2780928"/>
            <a:ext cx="1080120" cy="4308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个体词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3131840" y="2852936"/>
            <a:ext cx="360040" cy="360040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779912" y="2780928"/>
            <a:ext cx="1368152" cy="4308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关系谓词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1" name="加号 10"/>
          <p:cNvSpPr/>
          <p:nvPr/>
        </p:nvSpPr>
        <p:spPr>
          <a:xfrm>
            <a:off x="5436096" y="2852936"/>
            <a:ext cx="360040" cy="360040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084168" y="2780928"/>
            <a:ext cx="792088" cy="4308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量词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4499992" y="3356992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47664" y="393305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表示对象之间所具有的关系，与一元谓词没有实质性区别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51920" y="4509120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u="sng" dirty="0" smtClean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sz="2000" b="1" u="sng" dirty="0" smtClean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元关系</a:t>
            </a:r>
            <a:endParaRPr lang="zh-CN" altLang="en-US" sz="2000" b="1" u="sng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19672" y="5045114"/>
            <a:ext cx="1224136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一阶语言</a:t>
            </a:r>
            <a:endParaRPr lang="zh-CN" altLang="en-US" sz="2000" b="1" dirty="0">
              <a:solidFill>
                <a:schemeClr val="tx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75656" y="5589240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量词只能约束个体变项、不能约束谓词符号的谓词逻辑语言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  <p:bldP spid="10" grpId="0" animBg="1"/>
      <p:bldP spid="11" grpId="0" animBg="1"/>
      <p:bldP spid="12" grpId="0" animBg="1"/>
      <p:bldP spid="18" grpId="0"/>
      <p:bldP spid="19" grpId="0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一阶语言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87624" y="1268760"/>
            <a:ext cx="1584176" cy="720080"/>
            <a:chOff x="1187624" y="2636912"/>
            <a:chExt cx="1584176" cy="720080"/>
          </a:xfrm>
        </p:grpSpPr>
        <p:sp>
          <p:nvSpPr>
            <p:cNvPr id="4" name="流程图: 资料带 3"/>
            <p:cNvSpPr/>
            <p:nvPr/>
          </p:nvSpPr>
          <p:spPr>
            <a:xfrm>
              <a:off x="1187624" y="2636912"/>
              <a:ext cx="1440160" cy="720080"/>
            </a:xfrm>
            <a:prstGeom prst="flowChartPunchedTap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59632" y="2780928"/>
              <a:ext cx="151216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 smtClean="0">
                  <a:latin typeface="华文行楷" pitchFamily="2" charset="-122"/>
                  <a:ea typeface="华文行楷" pitchFamily="2" charset="-122"/>
                </a:rPr>
                <a:t>初始符号</a:t>
              </a:r>
              <a:endParaRPr lang="zh-CN" altLang="en-US" sz="2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7504" y="2140694"/>
            <a:ext cx="936104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个体变项：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…         (ii)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个体常项：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c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…</a:t>
            </a:r>
          </a:p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(iii)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谓词符号：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F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G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R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…    (iv)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量词：全称量词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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，存在量词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</a:t>
            </a:r>
            <a:endParaRPr lang="zh-CN" altLang="en-US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(v)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联结词：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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，∧，∨，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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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    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(vi)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辅足性符号：逗号，左右括号（）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87624" y="3429000"/>
            <a:ext cx="1584176" cy="720080"/>
            <a:chOff x="1187624" y="2636912"/>
            <a:chExt cx="1584176" cy="720080"/>
          </a:xfrm>
        </p:grpSpPr>
        <p:sp>
          <p:nvSpPr>
            <p:cNvPr id="9" name="流程图: 资料带 8"/>
            <p:cNvSpPr/>
            <p:nvPr/>
          </p:nvSpPr>
          <p:spPr>
            <a:xfrm>
              <a:off x="1187624" y="2636912"/>
              <a:ext cx="1440160" cy="720080"/>
            </a:xfrm>
            <a:prstGeom prst="flowChartPunchedTap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59632" y="2780928"/>
              <a:ext cx="151216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 smtClean="0">
                  <a:latin typeface="华文行楷" pitchFamily="2" charset="-122"/>
                  <a:ea typeface="华文行楷" pitchFamily="2" charset="-122"/>
                </a:rPr>
                <a:t>形成规则</a:t>
              </a:r>
              <a:endParaRPr lang="zh-CN" altLang="en-US" sz="2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7504" y="4365104"/>
            <a:ext cx="856895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一个谓词符号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F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，后面跟有写在一对括号内、并用逗点适当分开的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个个体词（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≥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），是原子公式。</a:t>
            </a:r>
          </a:p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(ii)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如果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是公式，则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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是公式。</a:t>
            </a:r>
          </a:p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(iii)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如果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都是公式，则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∧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∨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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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是公式。</a:t>
            </a:r>
          </a:p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(iv)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如果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是公式，则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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  <a:sym typeface="Symbol"/>
              </a:rPr>
              <a:t>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是公式。</a:t>
            </a:r>
          </a:p>
          <a:p>
            <a:pPr marL="621792" lvl="1"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(v)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只有按以上方式形成的符号串是公式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量词的重叠和重叠量化式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47664" y="1340768"/>
            <a:ext cx="2016224" cy="936104"/>
            <a:chOff x="827584" y="1340768"/>
            <a:chExt cx="2016224" cy="936104"/>
          </a:xfrm>
        </p:grpSpPr>
        <p:sp>
          <p:nvSpPr>
            <p:cNvPr id="5" name="云形 4"/>
            <p:cNvSpPr/>
            <p:nvPr/>
          </p:nvSpPr>
          <p:spPr>
            <a:xfrm>
              <a:off x="827584" y="1340768"/>
              <a:ext cx="1872208" cy="936104"/>
            </a:xfrm>
            <a:prstGeom prst="clou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43608" y="1556792"/>
              <a:ext cx="18002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重叠量词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11560" y="2420888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在一个量词的辖域内还有另外的量词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436096" y="1340768"/>
            <a:ext cx="2160240" cy="936104"/>
            <a:chOff x="827584" y="1340768"/>
            <a:chExt cx="2160240" cy="936104"/>
          </a:xfrm>
        </p:grpSpPr>
        <p:sp>
          <p:nvSpPr>
            <p:cNvPr id="9" name="云形 8"/>
            <p:cNvSpPr/>
            <p:nvPr/>
          </p:nvSpPr>
          <p:spPr>
            <a:xfrm>
              <a:off x="827584" y="1340768"/>
              <a:ext cx="2160240" cy="936104"/>
            </a:xfrm>
            <a:prstGeom prst="cloud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43608" y="1556792"/>
              <a:ext cx="18002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重叠量化式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436096" y="241159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包含重叠量词的公式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3648" y="3039343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重复约束：</a:t>
            </a:r>
            <a:endParaRPr lang="zh-CN" altLang="en-US" sz="2400" u="sng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9792" y="3356992"/>
            <a:ext cx="511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有两个或两个以上的量词重复约束某个变项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/>
              </a:rPr>
              <a:t>                     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x(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/>
              </a:rPr>
              <a:t>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yL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(x, y))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3648" y="4479503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空约束：</a:t>
            </a:r>
            <a:endParaRPr lang="zh-CN" altLang="en-US" sz="2400" u="sng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99792" y="4715852"/>
            <a:ext cx="511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量词不约束其辖域内的任何个体变项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/>
              </a:rPr>
              <a:t>                     x y(T(z)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/>
              </a:rPr>
              <a:t>H(y))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自然语言中关系命题的符号化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03648" y="2884874"/>
            <a:ext cx="7416824" cy="60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9536" lvl="2">
              <a:lnSpc>
                <a:spcPct val="170000"/>
              </a:lnSpc>
              <a:defRPr/>
            </a:pP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2</a:t>
            </a: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）织女爱每一个爱牛郎的人。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7744" y="1775079"/>
            <a:ext cx="4680520" cy="688256"/>
          </a:xfrm>
          <a:prstGeom prst="rect">
            <a:avLst/>
          </a:prstGeom>
          <a:noFill/>
        </p:spPr>
        <p:txBody>
          <a:bodyPr wrap="square" tIns="36000" bIns="36000" rtlCol="0">
            <a:spAutoFit/>
          </a:bodyPr>
          <a:lstStyle/>
          <a:p>
            <a:pPr marL="0" lvl="2"/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1</a:t>
            </a: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）牛郎不爱有些爱织女的男人。</a:t>
            </a:r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4151343"/>
            <a:ext cx="6120680" cy="122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9536" lvl="2">
              <a:lnSpc>
                <a:spcPct val="170000"/>
              </a:lnSpc>
              <a:defRPr/>
            </a:pP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3</a:t>
            </a: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）有的投票人赞成所有的候选人。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1840" y="2279134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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x(M(x)</a:t>
            </a:r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L(x, a)</a:t>
            </a:r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000" b="1" baseline="300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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L(b, x))</a:t>
            </a:r>
            <a:endParaRPr lang="zh-CN" altLang="en-US" sz="2000" b="1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31840" y="3532946"/>
            <a:ext cx="338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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x(P(x)</a:t>
            </a:r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L(x, b)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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L(a, x))</a:t>
            </a:r>
            <a:endParaRPr lang="zh-CN" altLang="en-US" sz="2000" b="1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31840" y="4799414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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x(T(x)</a:t>
            </a:r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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y(H(y)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/>
              </a:rPr>
              <a:t></a:t>
            </a:r>
            <a:r>
              <a:rPr lang="en-US" altLang="zh-CN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Z(x, y)))</a:t>
            </a:r>
            <a:endParaRPr lang="zh-CN" altLang="en-US" sz="2000" b="1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第四章 谓词逻辑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27513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关系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谓词、重叠量化和二元关系的性质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7784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模型和赋值  普遍有效式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7784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普遍有效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式的判定问题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7784" y="1887215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个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体词、性质谓词、量词和公式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流程图: 或者 21"/>
          <p:cNvSpPr/>
          <p:nvPr/>
        </p:nvSpPr>
        <p:spPr>
          <a:xfrm>
            <a:off x="1835696" y="17728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1835696" y="27089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流程图: 或者 24"/>
          <p:cNvSpPr/>
          <p:nvPr/>
        </p:nvSpPr>
        <p:spPr>
          <a:xfrm>
            <a:off x="1835696" y="3645024"/>
            <a:ext cx="504056" cy="504056"/>
          </a:xfrm>
          <a:prstGeom prst="flowChartOr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流程图: 或者 25"/>
          <p:cNvSpPr/>
          <p:nvPr/>
        </p:nvSpPr>
        <p:spPr>
          <a:xfrm>
            <a:off x="1835696" y="45091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流程图: 或者 26"/>
          <p:cNvSpPr/>
          <p:nvPr/>
        </p:nvSpPr>
        <p:spPr>
          <a:xfrm>
            <a:off x="1835696" y="53732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856" y="9055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模型和赋值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9976" y="1372706"/>
            <a:ext cx="1296144" cy="4308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个体域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D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2854152" y="1444714"/>
            <a:ext cx="360040" cy="360040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502224" y="1372706"/>
            <a:ext cx="1512168" cy="4308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解释函数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I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等于号 6"/>
          <p:cNvSpPr/>
          <p:nvPr/>
        </p:nvSpPr>
        <p:spPr>
          <a:xfrm>
            <a:off x="5302424" y="1516722"/>
            <a:ext cx="432048" cy="288032"/>
          </a:xfrm>
          <a:prstGeom prst="mathEqua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22504" y="1179329"/>
            <a:ext cx="1800200" cy="7694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一阶语言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L</a:t>
            </a:r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的一个模型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M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918048" y="1948770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10944" y="3894727"/>
            <a:ext cx="284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对自由变项的值</a:t>
            </a:r>
            <a:endParaRPr lang="en-US" altLang="zh-CN" b="1" dirty="0" smtClean="0">
              <a:solidFill>
                <a:srgbClr val="C00000"/>
              </a:solidFill>
              <a:latin typeface="楷体" pitchFamily="49" charset="-122"/>
              <a:ea typeface="楷体" pitchFamily="49" charset="-122"/>
            </a:endParaRPr>
          </a:p>
          <a:p>
            <a:pPr algn="ctr"/>
            <a:r>
              <a:rPr lang="zh-CN" altLang="en-US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进行指派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ρ</a:t>
            </a:r>
            <a:endParaRPr lang="zh-CN" altLang="en-US" b="1" dirty="0">
              <a:solidFill>
                <a:srgbClr val="C00000"/>
              </a:solidFill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4222304" y="1948770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14192" y="2380818"/>
            <a:ext cx="2016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把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中的个体常项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解释为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中某个个体，并且把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中的一元谓词符号解释为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中个体的集合，把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元谓词符号解释为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中个体的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元有序组集合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6886600" y="202077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78488" y="2454567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0070C0"/>
                </a:solidFill>
                <a:latin typeface="华文行楷" pitchFamily="2" charset="-122"/>
                <a:ea typeface="华文行楷" pitchFamily="2" charset="-122"/>
              </a:rPr>
              <a:t>可以确定闭公式的意义和真假</a:t>
            </a:r>
            <a:endParaRPr lang="zh-CN" altLang="en-US" sz="2000" dirty="0">
              <a:solidFill>
                <a:srgbClr val="0070C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38528" y="3388930"/>
            <a:ext cx="1224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开公式？</a:t>
            </a:r>
            <a:endParaRPr lang="zh-CN" altLang="en-US" sz="2200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4344" y="2390943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具有一定性质的个体构成的集合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9976" y="4878451"/>
            <a:ext cx="1080120" cy="4308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模型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M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9" name="加号 18"/>
          <p:cNvSpPr/>
          <p:nvPr/>
        </p:nvSpPr>
        <p:spPr>
          <a:xfrm>
            <a:off x="2638128" y="4950459"/>
            <a:ext cx="360040" cy="360040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3286200" y="4878451"/>
            <a:ext cx="10081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指派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ρ</a:t>
            </a:r>
            <a:endParaRPr lang="zh-CN" altLang="en-US" sz="2200" dirty="0">
              <a:solidFill>
                <a:schemeClr val="bg1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1" name="等于号 20"/>
          <p:cNvSpPr/>
          <p:nvPr/>
        </p:nvSpPr>
        <p:spPr>
          <a:xfrm>
            <a:off x="4510336" y="5022467"/>
            <a:ext cx="432048" cy="288032"/>
          </a:xfrm>
          <a:prstGeom prst="mathEqua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30416" y="4871481"/>
            <a:ext cx="10081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赋值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552" y="490109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(σ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＝＜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＞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dirty="0" smtClean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06080" y="5549170"/>
            <a:ext cx="504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可以确定谓词逻辑所有公式的意义和真假</a:t>
            </a:r>
            <a:endParaRPr lang="zh-CN" altLang="en-US" sz="20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63688" y="5981218"/>
            <a:ext cx="1512168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隶书" pitchFamily="49" charset="-122"/>
                <a:ea typeface="隶书" pitchFamily="49" charset="-122"/>
              </a:rPr>
              <a:t>普遍有效式</a:t>
            </a:r>
            <a:endParaRPr lang="zh-CN" altLang="en-US" sz="20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95936" y="5981218"/>
            <a:ext cx="1512168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隶书" pitchFamily="49" charset="-122"/>
                <a:ea typeface="隶书" pitchFamily="49" charset="-122"/>
              </a:rPr>
              <a:t>不可满足式</a:t>
            </a:r>
            <a:endParaRPr lang="zh-CN" altLang="en-US" sz="20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28184" y="5981218"/>
            <a:ext cx="1224136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隶书" pitchFamily="49" charset="-122"/>
                <a:ea typeface="隶书" pitchFamily="49" charset="-122"/>
              </a:rPr>
              <a:t>可满足式</a:t>
            </a:r>
            <a:endParaRPr lang="zh-CN" altLang="en-US" sz="2000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/>
      <p:bldP spid="13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普遍有效式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672" y="1259468"/>
            <a:ext cx="1584176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(x)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F(y)</a:t>
            </a:r>
            <a:endParaRPr lang="zh-CN" altLang="en-US" sz="20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176352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从一般到个别的推理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0152" y="1268760"/>
            <a:ext cx="1584176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F(y) 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52120" y="177281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从个别到存在的推理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3648" y="2308810"/>
            <a:ext cx="2016224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x(F(x)</a:t>
            </a:r>
            <a:r>
              <a:rPr lang="zh-CN" altLang="en-US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∨</a:t>
            </a:r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F(x))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79712" y="278092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排中律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24128" y="2307600"/>
            <a:ext cx="2088232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x(F(x)</a:t>
            </a:r>
            <a:r>
              <a:rPr lang="zh-CN" altLang="en-US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∧</a:t>
            </a:r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F(x))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2200" y="278092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矛盾律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7624" y="3284984"/>
            <a:ext cx="2376264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 </a:t>
            </a:r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x</a:t>
            </a:r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F(x)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3568" y="3789040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全称量词可以用存在量词来定义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0112" y="3284984"/>
            <a:ext cx="2376264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 </a:t>
            </a:r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x</a:t>
            </a:r>
            <a:r>
              <a:rPr lang="en-US" altLang="zh-CN" sz="2000" b="1" baseline="300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F(x)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76056" y="3789040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存在量词可以用全称量词来定义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9512" y="4355812"/>
            <a:ext cx="4248472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x(F(x) G(x))(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 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xG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1600" y="478786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全称量词对于蕴涵的分配律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16016" y="4355812"/>
            <a:ext cx="4104456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x(F(x)</a:t>
            </a:r>
            <a:r>
              <a:rPr lang="zh-CN" altLang="en-US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∧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G(x))(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</a:t>
            </a:r>
            <a:r>
              <a:rPr lang="zh-CN" altLang="en-US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∧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xG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64088" y="478786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全称量词对于合取的分配律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5373216"/>
            <a:ext cx="4032448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x(F(x)</a:t>
            </a:r>
            <a:r>
              <a:rPr lang="zh-CN" altLang="en-US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∨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G(x))( 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xF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</a:t>
            </a:r>
            <a:r>
              <a:rPr lang="zh-CN" altLang="en-US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∨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xG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1600" y="587727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存在量词对于析取的分配律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92080" y="5374816"/>
            <a:ext cx="3168352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xyR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(x, y)</a:t>
            </a:r>
            <a:r>
              <a:rPr lang="en-US" altLang="zh-CN" sz="2000" b="1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yx</a:t>
            </a:r>
            <a:r>
              <a:rPr lang="en-US" altLang="zh-CN" sz="20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 R(x, y)</a:t>
            </a:r>
            <a:endParaRPr lang="zh-CN" altLang="en-US" sz="2000" b="1" dirty="0" smtClean="0">
              <a:latin typeface="华文新魏" pitchFamily="2" charset="-122"/>
              <a:ea typeface="华文新魏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92080" y="587727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存在量词与全称量词的交换律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第四章 谓词逻辑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27513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关系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谓词、重叠量化和二元关系的性质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7784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模型和赋值  普遍有效式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7784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普遍有效</a:t>
            </a:r>
            <a:r>
              <a:rPr lang="zh-CN" altLang="en-US" sz="2400" b="1" dirty="0" smtClean="0">
                <a:latin typeface="+mn-ea"/>
              </a:rPr>
              <a:t>式的判定问题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7784" y="1887215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个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体词、性质谓词、量词和公式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流程图: 或者 21"/>
          <p:cNvSpPr/>
          <p:nvPr/>
        </p:nvSpPr>
        <p:spPr>
          <a:xfrm>
            <a:off x="1835696" y="17728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1835696" y="27089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流程图: 或者 24"/>
          <p:cNvSpPr/>
          <p:nvPr/>
        </p:nvSpPr>
        <p:spPr>
          <a:xfrm>
            <a:off x="1835696" y="3645024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流程图: 或者 25"/>
          <p:cNvSpPr/>
          <p:nvPr/>
        </p:nvSpPr>
        <p:spPr>
          <a:xfrm>
            <a:off x="1835696" y="4509120"/>
            <a:ext cx="504056" cy="504056"/>
          </a:xfrm>
          <a:prstGeom prst="flowChar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或者 26"/>
          <p:cNvSpPr/>
          <p:nvPr/>
        </p:nvSpPr>
        <p:spPr>
          <a:xfrm>
            <a:off x="1835696" y="53732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一阶树形图方法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1680" y="1772816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命题逻辑原有的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9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个画图规则仍然有效，新增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个画图规则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5696" y="1340768"/>
            <a:ext cx="56886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谓词逻辑的树形图是命题逻辑树形图的扩充</a:t>
            </a:r>
            <a:endParaRPr lang="zh-CN" altLang="en-US" sz="22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5536" y="2348880"/>
            <a:ext cx="1728192" cy="576064"/>
            <a:chOff x="1619672" y="2924944"/>
            <a:chExt cx="1728192" cy="576064"/>
          </a:xfrm>
        </p:grpSpPr>
        <p:sp>
          <p:nvSpPr>
            <p:cNvPr id="6" name="折角形 5"/>
            <p:cNvSpPr/>
            <p:nvPr/>
          </p:nvSpPr>
          <p:spPr>
            <a:xfrm>
              <a:off x="1619672" y="2924944"/>
              <a:ext cx="1224136" cy="576064"/>
            </a:xfrm>
            <a:prstGeom prst="foldedCorner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91680" y="2998113"/>
              <a:ext cx="16561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-</a:t>
              </a:r>
              <a:r>
                <a:rPr lang="zh-CN" altLang="en-US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规则</a:t>
              </a:r>
              <a:endParaRPr lang="zh-CN" altLang="en-US" sz="22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067944" y="2348880"/>
            <a:ext cx="1728192" cy="576064"/>
            <a:chOff x="1619672" y="2924944"/>
            <a:chExt cx="1728192" cy="576064"/>
          </a:xfrm>
        </p:grpSpPr>
        <p:sp>
          <p:nvSpPr>
            <p:cNvPr id="18" name="折角形 17"/>
            <p:cNvSpPr/>
            <p:nvPr/>
          </p:nvSpPr>
          <p:spPr>
            <a:xfrm>
              <a:off x="1619672" y="2924944"/>
              <a:ext cx="1224136" cy="576064"/>
            </a:xfrm>
            <a:prstGeom prst="foldedCorner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91680" y="2998113"/>
              <a:ext cx="16561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baseline="30000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lang="en-US" altLang="zh-CN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</a:t>
              </a:r>
              <a:r>
                <a:rPr lang="zh-CN" altLang="en-US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规则</a:t>
              </a:r>
              <a:endParaRPr lang="zh-CN" altLang="en-US" sz="22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95536" y="4077072"/>
            <a:ext cx="1728192" cy="576064"/>
            <a:chOff x="1619672" y="2924944"/>
            <a:chExt cx="1728192" cy="576064"/>
          </a:xfrm>
        </p:grpSpPr>
        <p:sp>
          <p:nvSpPr>
            <p:cNvPr id="21" name="折角形 20"/>
            <p:cNvSpPr/>
            <p:nvPr/>
          </p:nvSpPr>
          <p:spPr>
            <a:xfrm>
              <a:off x="1619672" y="2924944"/>
              <a:ext cx="1224136" cy="576064"/>
            </a:xfrm>
            <a:prstGeom prst="foldedCorner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691680" y="2998113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</a:t>
              </a:r>
              <a:r>
                <a:rPr lang="en-US" altLang="zh-CN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-</a:t>
              </a:r>
              <a:r>
                <a:rPr lang="zh-CN" altLang="en-US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规则</a:t>
              </a:r>
              <a:endParaRPr lang="zh-CN" altLang="en-US" sz="22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067944" y="4077072"/>
            <a:ext cx="1728192" cy="576064"/>
            <a:chOff x="1619672" y="2924944"/>
            <a:chExt cx="1728192" cy="576064"/>
          </a:xfrm>
        </p:grpSpPr>
        <p:sp>
          <p:nvSpPr>
            <p:cNvPr id="25" name="折角形 24"/>
            <p:cNvSpPr/>
            <p:nvPr/>
          </p:nvSpPr>
          <p:spPr>
            <a:xfrm>
              <a:off x="1619672" y="2924944"/>
              <a:ext cx="1224136" cy="576064"/>
            </a:xfrm>
            <a:prstGeom prst="foldedCorner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91680" y="2998113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baseline="30000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lang="en-US" altLang="zh-CN" sz="24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</a:t>
              </a:r>
              <a:r>
                <a:rPr lang="zh-CN" altLang="en-US" sz="2200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规则</a:t>
              </a:r>
              <a:endParaRPr lang="zh-CN" altLang="en-US" sz="2200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780456" y="2420888"/>
            <a:ext cx="1999456" cy="1592560"/>
            <a:chOff x="1420416" y="3068960"/>
            <a:chExt cx="1999456" cy="1592560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3890" t="16275" r="34345" b="77727"/>
            <a:stretch>
              <a:fillRect/>
            </a:stretch>
          </p:blipFill>
          <p:spPr bwMode="auto">
            <a:xfrm>
              <a:off x="1420416" y="4293096"/>
              <a:ext cx="1999456" cy="368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3" name="组合 32"/>
            <p:cNvGrpSpPr/>
            <p:nvPr/>
          </p:nvGrpSpPr>
          <p:grpSpPr>
            <a:xfrm>
              <a:off x="1547664" y="3068960"/>
              <a:ext cx="1152128" cy="1296144"/>
              <a:chOff x="539552" y="2996952"/>
              <a:chExt cx="1152128" cy="1296144"/>
            </a:xfrm>
          </p:grpSpPr>
          <p:pic>
            <p:nvPicPr>
              <p:cNvPr id="30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1172" r="75934" b="77727"/>
              <a:stretch>
                <a:fillRect/>
              </a:stretch>
            </p:blipFill>
            <p:spPr bwMode="auto">
              <a:xfrm>
                <a:off x="539552" y="2996952"/>
                <a:ext cx="1152128" cy="1296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2" name="矩形 31"/>
              <p:cNvSpPr/>
              <p:nvPr/>
            </p:nvSpPr>
            <p:spPr>
              <a:xfrm>
                <a:off x="1547664" y="3933056"/>
                <a:ext cx="144016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5248795" y="2348880"/>
            <a:ext cx="3499669" cy="1664568"/>
            <a:chOff x="4168675" y="2996952"/>
            <a:chExt cx="3499669" cy="1664568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6899" t="41128" b="52874"/>
            <a:stretch>
              <a:fillRect/>
            </a:stretch>
          </p:blipFill>
          <p:spPr bwMode="auto">
            <a:xfrm>
              <a:off x="4168675" y="4293096"/>
              <a:ext cx="3499669" cy="368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7" name="组合 36"/>
            <p:cNvGrpSpPr/>
            <p:nvPr/>
          </p:nvGrpSpPr>
          <p:grpSpPr>
            <a:xfrm>
              <a:off x="4283968" y="2996952"/>
              <a:ext cx="1512168" cy="1296144"/>
              <a:chOff x="4283968" y="2996952"/>
              <a:chExt cx="1512168" cy="1296144"/>
            </a:xfrm>
          </p:grpSpPr>
          <p:pic>
            <p:nvPicPr>
              <p:cNvPr id="29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26025" r="69918" b="52874"/>
              <a:stretch>
                <a:fillRect/>
              </a:stretch>
            </p:blipFill>
            <p:spPr bwMode="auto">
              <a:xfrm>
                <a:off x="4283968" y="2996952"/>
                <a:ext cx="1440160" cy="1296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6" name="矩形 35"/>
              <p:cNvSpPr/>
              <p:nvPr/>
            </p:nvSpPr>
            <p:spPr>
              <a:xfrm>
                <a:off x="5508104" y="3933056"/>
                <a:ext cx="288032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1187624" y="4509120"/>
            <a:ext cx="3456384" cy="1728192"/>
            <a:chOff x="1187624" y="4509120"/>
            <a:chExt cx="3456384" cy="1728192"/>
          </a:xfrm>
        </p:grpSpPr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3891" t="67055" r="3912" b="25775"/>
            <a:stretch>
              <a:fillRect/>
            </a:stretch>
          </p:blipFill>
          <p:spPr bwMode="auto">
            <a:xfrm>
              <a:off x="1187624" y="5796880"/>
              <a:ext cx="3456384" cy="440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1" name="组合 40"/>
            <p:cNvGrpSpPr/>
            <p:nvPr/>
          </p:nvGrpSpPr>
          <p:grpSpPr>
            <a:xfrm>
              <a:off x="1907704" y="4509120"/>
              <a:ext cx="1224136" cy="1296144"/>
              <a:chOff x="539552" y="4869160"/>
              <a:chExt cx="1224136" cy="1296144"/>
            </a:xfrm>
          </p:grpSpPr>
          <p:pic>
            <p:nvPicPr>
              <p:cNvPr id="28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0780" r="74430" b="28119"/>
              <a:stretch>
                <a:fillRect/>
              </a:stretch>
            </p:blipFill>
            <p:spPr bwMode="auto">
              <a:xfrm>
                <a:off x="539552" y="4869160"/>
                <a:ext cx="1224136" cy="1296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0" name="矩形 39"/>
              <p:cNvSpPr/>
              <p:nvPr/>
            </p:nvSpPr>
            <p:spPr>
              <a:xfrm>
                <a:off x="1619672" y="5877272"/>
                <a:ext cx="144016" cy="2880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5283696" y="4437112"/>
            <a:ext cx="1880592" cy="1871337"/>
            <a:chOff x="5220072" y="4509120"/>
            <a:chExt cx="1880592" cy="1871337"/>
          </a:xfrm>
        </p:grpSpPr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6899" t="91808" r="33819"/>
            <a:stretch>
              <a:fillRect/>
            </a:stretch>
          </p:blipFill>
          <p:spPr bwMode="auto">
            <a:xfrm>
              <a:off x="5220072" y="5877272"/>
              <a:ext cx="1880592" cy="503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5" name="组合 44"/>
            <p:cNvGrpSpPr/>
            <p:nvPr/>
          </p:nvGrpSpPr>
          <p:grpSpPr>
            <a:xfrm>
              <a:off x="5652120" y="4509120"/>
              <a:ext cx="1008112" cy="1368152"/>
              <a:chOff x="5652120" y="4509120"/>
              <a:chExt cx="1008112" cy="1368152"/>
            </a:xfrm>
          </p:grpSpPr>
          <p:pic>
            <p:nvPicPr>
              <p:cNvPr id="11266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l="6016" t="74361" r="72926" b="3366"/>
              <a:stretch>
                <a:fillRect/>
              </a:stretch>
            </p:blipFill>
            <p:spPr bwMode="auto">
              <a:xfrm>
                <a:off x="5652120" y="4509120"/>
                <a:ext cx="1008112" cy="1368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4" name="矩形 43"/>
              <p:cNvSpPr/>
              <p:nvPr/>
            </p:nvSpPr>
            <p:spPr>
              <a:xfrm>
                <a:off x="6516216" y="5661248"/>
                <a:ext cx="144016" cy="2160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例题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4" y="1052736"/>
            <a:ext cx="7920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 smtClean="0">
                <a:latin typeface="华文新魏" pitchFamily="2" charset="-122"/>
                <a:ea typeface="华文新魏" pitchFamily="2" charset="-122"/>
              </a:rPr>
              <a:t>判定</a:t>
            </a:r>
            <a:r>
              <a:rPr lang="en-US" altLang="zh-CN" sz="22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x(M(x)P(x))  ( 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xM</a:t>
            </a:r>
            <a:r>
              <a:rPr lang="en-US" altLang="zh-CN" sz="22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  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xP</a:t>
            </a:r>
            <a:r>
              <a:rPr lang="en-US" altLang="zh-CN" sz="22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(x))</a:t>
            </a:r>
            <a:r>
              <a:rPr lang="zh-CN" altLang="en-US" sz="2200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是否为普遍有效式</a:t>
            </a:r>
          </a:p>
          <a:p>
            <a:endParaRPr lang="zh-CN" altLang="en-US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/>
          <a:srcRect t="4279"/>
          <a:stretch>
            <a:fillRect/>
          </a:stretch>
        </p:blipFill>
        <p:spPr bwMode="auto">
          <a:xfrm>
            <a:off x="2073746" y="1693118"/>
            <a:ext cx="5162550" cy="483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99592" y="1628800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解：</a:t>
            </a:r>
            <a:endParaRPr lang="zh-CN" altLang="en-US" sz="2400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谓词逻辑是半可判定的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8192"/>
            <a:ext cx="8229600" cy="13247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    </a:t>
            </a:r>
            <a:r>
              <a:rPr lang="zh-CN" altLang="en-US" sz="2400" b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不存在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一种机械的、能行的办法，它适合于任一的谓词逻辑公式，将在有穷步内结束，并且就该公式是不是普遍有效式给出唯一确定的结果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5696" y="3717032"/>
            <a:ext cx="273630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一元谓词逻辑公式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6056" y="4087525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可判定</a:t>
            </a:r>
            <a:endParaRPr lang="zh-CN" altLang="en-US" sz="2800" b="1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23728" y="292494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 smtClean="0">
                <a:solidFill>
                  <a:srgbClr val="7030A0"/>
                </a:solidFill>
                <a:latin typeface="+mn-ea"/>
              </a:rPr>
              <a:t>某些特殊类型的谓词逻辑公式例外</a:t>
            </a:r>
            <a:endParaRPr lang="zh-CN" altLang="en-US" sz="2400" u="sng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5656" y="4941168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</a:rPr>
              <a:t>判定任一谓词逻辑公式是否普遍有效</a:t>
            </a:r>
            <a:endParaRPr lang="zh-CN" altLang="en-US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551723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证明任一谓词逻辑共识是否可满足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56176" y="4942329"/>
            <a:ext cx="1368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非常困难</a:t>
            </a:r>
            <a:endParaRPr lang="zh-CN" altLang="en-US" sz="22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56176" y="5518393"/>
            <a:ext cx="1368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容易很多</a:t>
            </a:r>
            <a:endParaRPr lang="zh-CN" altLang="en-US" sz="22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证明非普遍有效式的方法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5656" y="2636912"/>
            <a:ext cx="3312368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行楷" pitchFamily="2" charset="-122"/>
                <a:ea typeface="华文行楷" pitchFamily="2" charset="-122"/>
              </a:rPr>
              <a:t>证明一公式不是普遍有效</a:t>
            </a:r>
            <a:endParaRPr lang="zh-CN" altLang="en-US" sz="22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1720" y="3244914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为该公式找一反模型，使得该公式在其中为假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5656" y="4005064"/>
            <a:ext cx="3024336" cy="430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行楷" pitchFamily="2" charset="-122"/>
                <a:ea typeface="华文行楷" pitchFamily="2" charset="-122"/>
              </a:rPr>
              <a:t>证明一公式是可满足式</a:t>
            </a:r>
            <a:endParaRPr lang="zh-CN" altLang="en-US" sz="22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1720" y="4651975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为该公式找一模型，使得该公式在其中为真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07904" y="1412776"/>
            <a:ext cx="2016224" cy="936104"/>
            <a:chOff x="827584" y="1340768"/>
            <a:chExt cx="2016224" cy="936104"/>
          </a:xfrm>
        </p:grpSpPr>
        <p:sp>
          <p:nvSpPr>
            <p:cNvPr id="9" name="云形 8"/>
            <p:cNvSpPr/>
            <p:nvPr/>
          </p:nvSpPr>
          <p:spPr>
            <a:xfrm>
              <a:off x="827584" y="1340768"/>
              <a:ext cx="1872208" cy="936104"/>
            </a:xfrm>
            <a:prstGeom prst="clou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43608" y="1556792"/>
              <a:ext cx="18002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模型方法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第四章 谓词逻辑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27513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关系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谓词、重叠量化和二元关系的性质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7784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模型和赋值  普遍有效式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7784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普遍有效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式的判定问题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谓词逻辑的自然推理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7784" y="1887215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个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体词、性质谓词、量词和公式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流程图: 或者 21"/>
          <p:cNvSpPr/>
          <p:nvPr/>
        </p:nvSpPr>
        <p:spPr>
          <a:xfrm>
            <a:off x="1835696" y="1772816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1835696" y="27089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流程图: 或者 24"/>
          <p:cNvSpPr/>
          <p:nvPr/>
        </p:nvSpPr>
        <p:spPr>
          <a:xfrm>
            <a:off x="1835696" y="3645024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流程图: 或者 25"/>
          <p:cNvSpPr/>
          <p:nvPr/>
        </p:nvSpPr>
        <p:spPr>
          <a:xfrm>
            <a:off x="1835696" y="4509120"/>
            <a:ext cx="504056" cy="504056"/>
          </a:xfrm>
          <a:prstGeom prst="flowChartOr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流程图: 或者 26"/>
          <p:cNvSpPr/>
          <p:nvPr/>
        </p:nvSpPr>
        <p:spPr>
          <a:xfrm>
            <a:off x="1835696" y="5373216"/>
            <a:ext cx="504056" cy="504056"/>
          </a:xfrm>
          <a:prstGeom prst="flowChartO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推理规则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79712" y="1772816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所有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规则仍然有效，另外新增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个与量词有关的规则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664" y="1340768"/>
            <a:ext cx="69847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谓词逻辑自然推理</a:t>
            </a:r>
            <a:r>
              <a:rPr lang="en-US" altLang="zh-CN" sz="22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Q</a:t>
            </a:r>
            <a:r>
              <a:rPr lang="en-US" altLang="zh-CN" sz="2200" baseline="300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N</a:t>
            </a:r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是命题逻辑自然推理</a:t>
            </a:r>
            <a:r>
              <a:rPr lang="en-US" altLang="zh-CN" sz="22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200" baseline="300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N</a:t>
            </a:r>
            <a:r>
              <a:rPr lang="zh-CN" altLang="en-US" sz="22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的扩充</a:t>
            </a:r>
            <a:endParaRPr lang="zh-CN" altLang="en-US" sz="22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内容占位符 1"/>
          <p:cNvSpPr>
            <a:spLocks noGrp="1"/>
          </p:cNvSpPr>
          <p:nvPr>
            <p:ph idx="1"/>
          </p:nvPr>
        </p:nvSpPr>
        <p:spPr>
          <a:xfrm>
            <a:off x="673224" y="2348880"/>
            <a:ext cx="3754760" cy="51055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全称量词消去规则</a:t>
            </a:r>
            <a:r>
              <a:rPr lang="en-US" altLang="zh-CN" sz="2400" b="1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</a:t>
            </a:r>
            <a:r>
              <a:rPr lang="zh-CN" altLang="en-US" sz="24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400" b="1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3648" y="2978368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dirty="0" err="1" smtClean="0">
                <a:cs typeface="Times New Roman" pitchFamily="18" charset="0"/>
              </a:rPr>
              <a:t>xA</a:t>
            </a:r>
            <a:r>
              <a:rPr lang="en-US" altLang="zh-CN" sz="2400" dirty="0" smtClean="0">
                <a:cs typeface="Times New Roman" pitchFamily="18" charset="0"/>
              </a:rPr>
              <a:t>(x)</a:t>
            </a:r>
            <a:r>
              <a:rPr lang="zh-CN" altLang="en-US" sz="2400" dirty="0" smtClean="0"/>
              <a:t>├</a:t>
            </a:r>
            <a:r>
              <a:rPr lang="en-US" altLang="zh-CN" sz="2400" dirty="0" smtClean="0">
                <a:cs typeface="Times New Roman" pitchFamily="18" charset="0"/>
              </a:rPr>
              <a:t> A(x/t)</a:t>
            </a:r>
            <a:endParaRPr lang="zh-CN" altLang="en-US" sz="2400" dirty="0" smtClean="0"/>
          </a:p>
          <a:p>
            <a:endParaRPr lang="zh-CN" altLang="en-US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2238" y="3501008"/>
            <a:ext cx="177165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835696" y="602128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</a:t>
            </a:r>
            <a:r>
              <a:rPr lang="zh-CN" altLang="en-US" dirty="0" smtClean="0"/>
              <a:t>对</a:t>
            </a:r>
            <a:r>
              <a:rPr lang="en-US" altLang="zh-CN" dirty="0" smtClean="0"/>
              <a:t>x</a:t>
            </a:r>
            <a:r>
              <a:rPr lang="zh-CN" altLang="en-US" dirty="0" smtClean="0"/>
              <a:t>带入自由</a:t>
            </a:r>
            <a:endParaRPr lang="zh-CN" altLang="en-US" dirty="0"/>
          </a:p>
        </p:txBody>
      </p:sp>
      <p:sp>
        <p:nvSpPr>
          <p:cNvPr id="10" name="内容占位符 1"/>
          <p:cNvSpPr txBox="1">
            <a:spLocks/>
          </p:cNvSpPr>
          <p:nvPr/>
        </p:nvSpPr>
        <p:spPr>
          <a:xfrm>
            <a:off x="4860032" y="2348880"/>
            <a:ext cx="3754760" cy="5105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365760" lvl="0" indent="-256032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全称量词引入规则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  <a:sym typeface="Symbol" pitchFamily="18" charset="2"/>
              </a:rPr>
              <a:t></a:t>
            </a:r>
            <a:r>
              <a:rPr lang="en-US" altLang="zh-CN" sz="2400" dirty="0" smtClean="0">
                <a:sym typeface="Symbol"/>
              </a:rPr>
              <a:t> </a:t>
            </a:r>
            <a:r>
              <a:rPr lang="zh-CN" altLang="en-US" sz="2400" baseline="-25000" dirty="0" smtClean="0"/>
              <a:t>＋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  <a:sym typeface="Symbol" pitchFamily="18" charset="2"/>
              </a:rPr>
              <a:t> 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24128" y="2978368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cs typeface="Times New Roman" pitchFamily="18" charset="0"/>
              </a:rPr>
              <a:t>A(x)</a:t>
            </a:r>
            <a:r>
              <a:rPr lang="zh-CN" altLang="en-US" sz="2400" dirty="0" smtClean="0"/>
              <a:t>├</a:t>
            </a:r>
            <a:r>
              <a:rPr lang="en-US" altLang="zh-CN" sz="2400" dirty="0" smtClean="0">
                <a:cs typeface="Times New Roman" pitchFamily="18" charset="0"/>
              </a:rPr>
              <a:t> </a:t>
            </a:r>
            <a:r>
              <a:rPr lang="en-US" altLang="zh-CN" sz="2400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dirty="0" err="1" smtClean="0">
                <a:cs typeface="Times New Roman" pitchFamily="18" charset="0"/>
              </a:rPr>
              <a:t>xA</a:t>
            </a:r>
            <a:r>
              <a:rPr lang="en-US" altLang="zh-CN" sz="2400" dirty="0" smtClean="0">
                <a:cs typeface="Times New Roman" pitchFamily="18" charset="0"/>
              </a:rPr>
              <a:t>(x)</a:t>
            </a:r>
            <a:endParaRPr lang="zh-CN" altLang="en-US" sz="2400" dirty="0" smtClean="0"/>
          </a:p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0152" y="3539455"/>
            <a:ext cx="20383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076056" y="6021288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要保证前提中自由变项</a:t>
            </a:r>
            <a:r>
              <a:rPr lang="en-US" altLang="zh-CN" dirty="0" smtClean="0"/>
              <a:t>x</a:t>
            </a:r>
            <a:r>
              <a:rPr lang="zh-CN" altLang="en-US" dirty="0" smtClean="0"/>
              <a:t>是任意的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p" animBg="1"/>
      <p:bldP spid="7" grpId="0"/>
      <p:bldP spid="10" grpId="0" build="p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b="1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</a:t>
            </a:r>
            <a:r>
              <a:rPr lang="zh-CN" altLang="en-US" baseline="-25000" dirty="0" smtClean="0">
                <a:latin typeface="华文新魏" pitchFamily="2" charset="-122"/>
                <a:ea typeface="华文新魏" pitchFamily="2" charset="-122"/>
              </a:rPr>
              <a:t>＋</a:t>
            </a:r>
            <a:r>
              <a:rPr lang="zh-CN" altLang="en-US" b="1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</a:rPr>
              <a:t>规则</a:t>
            </a:r>
            <a:r>
              <a:rPr lang="zh-CN" altLang="en-US" b="1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的补充说明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4" y="1484784"/>
            <a:ext cx="7416824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若不能确保前提中的自由变项</a:t>
            </a:r>
            <a:r>
              <a:rPr lang="en-US" altLang="zh-CN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x</a:t>
            </a: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是任意的，就要给该</a:t>
            </a:r>
            <a:r>
              <a:rPr lang="en-US" altLang="zh-CN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x</a:t>
            </a:r>
            <a:r>
              <a:rPr lang="zh-CN" altLang="en-US" sz="22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加标记</a:t>
            </a:r>
            <a:endParaRPr lang="zh-CN" altLang="en-US" sz="22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75856" y="2380818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u="sng" dirty="0" smtClean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以下情形需要加标记：</a:t>
            </a:r>
            <a:endParaRPr lang="zh-CN" altLang="en-US" sz="2000" u="sng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36512" y="2911584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给定前提中的自由变项；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(ii)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根据假设引入规则所引入的假设中的自由变项；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(iii)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一个在前提或假设中是自由的变项，在从该前提或假设出发，根据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</a:t>
            </a:r>
            <a:r>
              <a:rPr lang="en-US" altLang="zh-CN" sz="2000" baseline="30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的推演规则所得到的任意一行中也出现，那么，它在后面这些行的出现也应加标记。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321568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Q</a:t>
            </a:r>
            <a:r>
              <a:rPr kumimoji="0" lang="en-US" altLang="zh-CN" sz="44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N</a:t>
            </a:r>
            <a:r>
              <a:rPr kumimoji="0" lang="zh-CN" alt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推理规则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529208" y="1394073"/>
            <a:ext cx="3610744" cy="51055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存在量词消去规则</a:t>
            </a:r>
            <a:r>
              <a:rPr lang="en-US" altLang="zh-CN" sz="2400" dirty="0" smtClean="0">
                <a:ea typeface="宋体" pitchFamily="2" charset="-122"/>
                <a:sym typeface="Symbol" pitchFamily="18" charset="2"/>
              </a:rPr>
              <a:t> </a:t>
            </a:r>
            <a:r>
              <a:rPr lang="zh-CN" altLang="en-US" sz="24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400" b="1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9632" y="2023561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dirty="0" err="1" smtClean="0"/>
              <a:t>xA</a:t>
            </a:r>
            <a:r>
              <a:rPr lang="en-US" altLang="zh-CN" sz="2400" dirty="0" smtClean="0"/>
              <a:t>(x)</a:t>
            </a:r>
            <a:r>
              <a:rPr lang="zh-CN" altLang="en-US" sz="2400" dirty="0" smtClean="0"/>
              <a:t>├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/>
              <a:t>A(α)</a:t>
            </a:r>
            <a:endParaRPr lang="zh-CN" altLang="en-US" sz="2400" dirty="0" smtClean="0"/>
          </a:p>
          <a:p>
            <a:endParaRPr lang="zh-CN" altLang="en-US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8197" y="2402185"/>
            <a:ext cx="1971675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51520" y="4941168"/>
            <a:ext cx="4464496" cy="144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/>
              <a:t>（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）</a:t>
            </a:r>
            <a:r>
              <a:rPr lang="en-US" altLang="zh-CN" dirty="0" smtClean="0"/>
              <a:t>α</a:t>
            </a:r>
            <a:r>
              <a:rPr lang="zh-CN" altLang="en-US" dirty="0" smtClean="0"/>
              <a:t>是先前没有出现过的特指常项；</a:t>
            </a:r>
            <a:endParaRPr lang="en-US" altLang="zh-CN" dirty="0" smtClean="0"/>
          </a:p>
          <a:p>
            <a:pPr>
              <a:lnSpc>
                <a:spcPct val="13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ii</a:t>
            </a:r>
            <a:r>
              <a:rPr lang="zh-CN" altLang="en-US" dirty="0" smtClean="0"/>
              <a:t>）如果公式</a:t>
            </a:r>
            <a:r>
              <a:rPr lang="en-US" altLang="zh-CN" dirty="0" smtClean="0"/>
              <a:t>A</a:t>
            </a:r>
            <a:r>
              <a:rPr lang="zh-CN" altLang="en-US" dirty="0" smtClean="0"/>
              <a:t>含有</a:t>
            </a:r>
            <a:r>
              <a:rPr lang="en-US" altLang="zh-CN" dirty="0" smtClean="0"/>
              <a:t>x</a:t>
            </a:r>
            <a:r>
              <a:rPr lang="zh-CN" altLang="en-US" dirty="0" smtClean="0"/>
              <a:t>之外的自由变项</a:t>
            </a:r>
            <a:r>
              <a:rPr lang="en-US" altLang="zh-CN" dirty="0" smtClean="0"/>
              <a:t>y</a:t>
            </a:r>
            <a:r>
              <a:rPr lang="zh-CN" altLang="en-US" dirty="0" smtClean="0"/>
              <a:t>，应该用该</a:t>
            </a:r>
            <a:r>
              <a:rPr lang="en-US" altLang="zh-CN" dirty="0" smtClean="0"/>
              <a:t>y</a:t>
            </a:r>
            <a:r>
              <a:rPr lang="zh-CN" altLang="en-US" dirty="0" smtClean="0"/>
              <a:t>给特指常项做下标，写成</a:t>
            </a:r>
            <a:r>
              <a:rPr lang="en-US" altLang="zh-CN" dirty="0" err="1" smtClean="0"/>
              <a:t>y</a:t>
            </a:r>
            <a:r>
              <a:rPr lang="en-US" altLang="zh-CN" baseline="-25000" dirty="0" err="1" smtClean="0"/>
              <a:t>α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9" name="内容占位符 1"/>
          <p:cNvSpPr txBox="1">
            <a:spLocks/>
          </p:cNvSpPr>
          <p:nvPr/>
        </p:nvSpPr>
        <p:spPr>
          <a:xfrm>
            <a:off x="4932040" y="1412776"/>
            <a:ext cx="3600400" cy="5105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365760" lvl="0" indent="-256032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.</a:t>
            </a:r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存在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量词引入规则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itchFamily="18" charset="2"/>
              </a:rPr>
              <a:t> </a:t>
            </a:r>
            <a:r>
              <a:rPr lang="zh-CN" altLang="en-US" sz="2400" baseline="-25000" dirty="0" smtClean="0"/>
              <a:t>＋ 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2348880"/>
            <a:ext cx="196215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868144" y="2042264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A(x/t) </a:t>
            </a:r>
            <a:r>
              <a:rPr lang="zh-CN" altLang="en-US" sz="2400" dirty="0" smtClean="0"/>
              <a:t>├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ym typeface="Symbol"/>
              </a:rPr>
              <a:t></a:t>
            </a:r>
            <a:r>
              <a:rPr lang="en-US" altLang="zh-CN" sz="2400" dirty="0" err="1" smtClean="0"/>
              <a:t>xA</a:t>
            </a:r>
            <a:r>
              <a:rPr lang="en-US" altLang="zh-CN" sz="2400" dirty="0" smtClean="0"/>
              <a:t>(x)</a:t>
            </a:r>
            <a:endParaRPr lang="zh-CN" altLang="en-US" sz="2400" dirty="0" smtClean="0"/>
          </a:p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788024" y="4953942"/>
            <a:ext cx="4067944" cy="11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/>
              <a:t>（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） </a:t>
            </a:r>
            <a:r>
              <a:rPr lang="en-US" altLang="zh-CN" dirty="0" smtClean="0"/>
              <a:t>t</a:t>
            </a:r>
            <a:r>
              <a:rPr lang="zh-CN" altLang="en-US" dirty="0" smtClean="0"/>
              <a:t>对于</a:t>
            </a:r>
            <a:r>
              <a:rPr lang="en-US" altLang="zh-CN" dirty="0" smtClean="0"/>
              <a:t>x</a:t>
            </a:r>
            <a:r>
              <a:rPr lang="zh-CN" altLang="en-US" dirty="0" smtClean="0"/>
              <a:t>带入自由</a:t>
            </a:r>
            <a:endParaRPr lang="en-US" altLang="zh-CN" dirty="0" smtClean="0"/>
          </a:p>
          <a:p>
            <a:pPr>
              <a:lnSpc>
                <a:spcPct val="13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ii</a:t>
            </a:r>
            <a:r>
              <a:rPr lang="zh-CN" altLang="en-US" dirty="0" smtClean="0"/>
              <a:t>）新引入的存在量词不会将</a:t>
            </a:r>
            <a:r>
              <a:rPr lang="en-US" altLang="zh-CN" dirty="0" smtClean="0"/>
              <a:t>A(x)</a:t>
            </a:r>
            <a:r>
              <a:rPr lang="zh-CN" altLang="en-US" dirty="0" smtClean="0"/>
              <a:t>中除</a:t>
            </a:r>
            <a:r>
              <a:rPr lang="en-US" altLang="zh-CN" dirty="0" smtClean="0"/>
              <a:t>x</a:t>
            </a:r>
            <a:r>
              <a:rPr lang="zh-CN" altLang="en-US" dirty="0" smtClean="0"/>
              <a:t>之外的其他自由变项一并加以约束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/>
      <p:bldP spid="8" grpId="0"/>
      <p:bldP spid="9" grpId="0" uiExpand="1" build="p" animBg="1"/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定理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3568" y="1412776"/>
          <a:ext cx="7776864" cy="40792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663997"/>
                <a:gridCol w="41128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latin typeface="+mn-lt"/>
                        </a:rPr>
                        <a:t>[1] 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b="0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b="0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sz="1800" b="0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A(x)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latin typeface="+mn-lt"/>
                        </a:rPr>
                        <a:t>[12] 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x(A</a:t>
                      </a:r>
                      <a:r>
                        <a:rPr lang="zh-CN" altLang="en-US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b="0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b="0" dirty="0" smtClean="0">
                          <a:latin typeface="+mn-lt"/>
                          <a:cs typeface="Times New Roman" pitchFamily="18" charset="0"/>
                        </a:rPr>
                        <a:t>(x) (*)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[2]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[13]</a:t>
                      </a:r>
                      <a:r>
                        <a:rPr lang="en-US" altLang="zh-CN" baseline="0" dirty="0" smtClean="0">
                          <a:latin typeface="+mn-lt"/>
                        </a:rPr>
                        <a:t>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[3] </a:t>
                      </a:r>
                      <a:r>
                        <a:rPr lang="en-US" altLang="zh-CN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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A(x) 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+mn-lt"/>
                        </a:rPr>
                        <a:t>[14]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 (*)</a:t>
                      </a:r>
                      <a:endParaRPr lang="zh-CN" altLang="en-US" dirty="0" smtClean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[4] </a:t>
                      </a:r>
                      <a:r>
                        <a:rPr lang="en-US" altLang="zh-CN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baseline="30000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A(x)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[15]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[5]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[16]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[6]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zh-CN" altLang="en-US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[17]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[7]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A(x/t)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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 A(x)</a:t>
                      </a:r>
                      <a:r>
                        <a:rPr lang="en-US" altLang="zh-CN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(*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*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[18]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[8]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[19]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(x))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[9]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[20]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(x))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[10]</a:t>
                      </a:r>
                      <a:r>
                        <a:rPr lang="en-US" altLang="zh-CN" baseline="0" dirty="0" smtClean="0">
                          <a:latin typeface="+mn-lt"/>
                        </a:rPr>
                        <a:t>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[21]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B)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[11]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B(x))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xB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[22] 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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x(A(x)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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</a:t>
                      </a:r>
                      <a:r>
                        <a:rPr lang="en-US" altLang="zh-CN" dirty="0" err="1" smtClean="0">
                          <a:latin typeface="+mn-lt"/>
                          <a:cs typeface="Times New Roman" pitchFamily="18" charset="0"/>
                        </a:rPr>
                        <a:t>xA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(x)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+mn-lt"/>
                          <a:cs typeface="Times New Roman" pitchFamily="18" charset="0"/>
                        </a:rPr>
                        <a:t>B) (*)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59632" y="565195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(*)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表示假设是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在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中不自由 ；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(*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*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表示假设是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t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对于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代入自由     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定理选证（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521183"/>
            <a:ext cx="4896544" cy="5004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979712" y="980728"/>
            <a:ext cx="4896544" cy="36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ctr"/>
            <a:r>
              <a:rPr lang="en-US" altLang="zh-CN" dirty="0" smtClean="0"/>
              <a:t>[14] 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</a:t>
            </a:r>
            <a:r>
              <a:rPr lang="en-US" altLang="zh-CN" dirty="0" smtClean="0">
                <a:cs typeface="Times New Roman" pitchFamily="18" charset="0"/>
              </a:rPr>
              <a:t>x(A</a:t>
            </a:r>
            <a:r>
              <a:rPr lang="zh-CN" altLang="en-US" dirty="0" smtClean="0">
                <a:cs typeface="Times New Roman" pitchFamily="18" charset="0"/>
              </a:rPr>
              <a:t>∨</a:t>
            </a:r>
            <a:r>
              <a:rPr lang="en-US" altLang="zh-CN" dirty="0" smtClean="0">
                <a:cs typeface="Times New Roman" pitchFamily="18" charset="0"/>
              </a:rPr>
              <a:t>B(x))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</a:t>
            </a:r>
            <a:r>
              <a:rPr lang="en-US" altLang="zh-CN" dirty="0" smtClean="0">
                <a:cs typeface="Times New Roman" pitchFamily="18" charset="0"/>
              </a:rPr>
              <a:t>A</a:t>
            </a:r>
            <a:r>
              <a:rPr lang="zh-CN" altLang="en-US" dirty="0" smtClean="0">
                <a:cs typeface="Times New Roman" pitchFamily="18" charset="0"/>
              </a:rPr>
              <a:t>∨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</a:t>
            </a:r>
            <a:r>
              <a:rPr lang="en-US" altLang="zh-CN" dirty="0" err="1" smtClean="0">
                <a:cs typeface="Times New Roman" pitchFamily="18" charset="0"/>
              </a:rPr>
              <a:t>xB</a:t>
            </a:r>
            <a:r>
              <a:rPr lang="en-US" altLang="zh-CN" dirty="0" smtClean="0">
                <a:cs typeface="Times New Roman" pitchFamily="18" charset="0"/>
              </a:rPr>
              <a:t>(x) </a:t>
            </a:r>
            <a:r>
              <a:rPr lang="zh-CN" altLang="en-US" dirty="0" smtClean="0">
                <a:cs typeface="Times New Roman" pitchFamily="18" charset="0"/>
              </a:rPr>
              <a:t>，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若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在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中不自由 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1412776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证明：</a:t>
            </a:r>
            <a:endParaRPr lang="zh-CN" altLang="en-US" sz="2400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定理选证（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）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35696" y="1340768"/>
            <a:ext cx="5040560" cy="360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ctr"/>
            <a:r>
              <a:rPr lang="en-US" altLang="zh-CN" dirty="0" smtClean="0"/>
              <a:t>[21] 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</a:t>
            </a:r>
            <a:r>
              <a:rPr lang="en-US" altLang="zh-CN" dirty="0" smtClean="0">
                <a:cs typeface="Times New Roman" pitchFamily="18" charset="0"/>
              </a:rPr>
              <a:t>x(A(x)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</a:t>
            </a:r>
            <a:r>
              <a:rPr lang="en-US" altLang="zh-CN" dirty="0" smtClean="0">
                <a:cs typeface="Times New Roman" pitchFamily="18" charset="0"/>
              </a:rPr>
              <a:t>B)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</a:t>
            </a:r>
            <a:r>
              <a:rPr lang="en-US" altLang="zh-CN" dirty="0" smtClean="0">
                <a:cs typeface="Times New Roman" pitchFamily="18" charset="0"/>
              </a:rPr>
              <a:t>(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</a:t>
            </a:r>
            <a:r>
              <a:rPr lang="en-US" altLang="zh-CN" dirty="0" err="1" smtClean="0">
                <a:cs typeface="Times New Roman" pitchFamily="18" charset="0"/>
              </a:rPr>
              <a:t>xA</a:t>
            </a:r>
            <a:r>
              <a:rPr lang="en-US" altLang="zh-CN" dirty="0" smtClean="0">
                <a:cs typeface="Times New Roman" pitchFamily="18" charset="0"/>
              </a:rPr>
              <a:t>(x)</a:t>
            </a:r>
            <a:r>
              <a:rPr lang="en-US" altLang="zh-CN" dirty="0" smtClean="0">
                <a:cs typeface="Times New Roman" pitchFamily="18" charset="0"/>
                <a:sym typeface="Symbol"/>
              </a:rPr>
              <a:t></a:t>
            </a:r>
            <a:r>
              <a:rPr lang="en-US" altLang="zh-CN" dirty="0" smtClean="0">
                <a:cs typeface="Times New Roman" pitchFamily="18" charset="0"/>
              </a:rPr>
              <a:t>B) </a:t>
            </a:r>
            <a:r>
              <a:rPr lang="zh-CN" altLang="en-US" dirty="0" smtClean="0">
                <a:cs typeface="Times New Roman" pitchFamily="18" charset="0"/>
              </a:rPr>
              <a:t>，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若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在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中不自由 </a:t>
            </a:r>
            <a:endParaRPr lang="zh-CN" altLang="en-US" dirty="0" smtClean="0"/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619672" y="2420888"/>
            <a:ext cx="6053803" cy="3872360"/>
            <a:chOff x="1619672" y="1772816"/>
            <a:chExt cx="6053803" cy="3872360"/>
          </a:xfrm>
        </p:grpSpPr>
        <p:pic>
          <p:nvPicPr>
            <p:cNvPr id="1025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19672" y="1772816"/>
              <a:ext cx="5829300" cy="552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t="2117"/>
            <a:stretch>
              <a:fillRect/>
            </a:stretch>
          </p:blipFill>
          <p:spPr bwMode="auto">
            <a:xfrm>
              <a:off x="1663200" y="2260800"/>
              <a:ext cx="6010275" cy="3384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827584" y="1959223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证明：</a:t>
            </a:r>
            <a:endParaRPr lang="zh-CN" altLang="en-US" sz="24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975" y="2582391"/>
            <a:ext cx="573405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有前提推演（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206084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证明：</a:t>
            </a:r>
            <a:endParaRPr lang="zh-CN" altLang="en-US" sz="24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484784"/>
            <a:ext cx="7089063" cy="360040"/>
          </a:xfrm>
          <a:prstGeom prst="rect">
            <a:avLst/>
          </a:prstGeom>
          <a:noFill/>
          <a:ln w="19050">
            <a:solidFill>
              <a:srgbClr val="006600"/>
            </a:solidFill>
            <a:prstDash val="solid"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有前提推演（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4" y="980728"/>
            <a:ext cx="7488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任一自然数，如果它能够被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整除，则它是偶数；如果它不能被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整除，则它不是偶数。有的自然数不能被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整除，所以，有的自然数不是偶数。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7678" y="2492896"/>
            <a:ext cx="7438738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27584" y="2031231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证明：</a:t>
            </a:r>
            <a:endParaRPr lang="zh-CN" altLang="en-US" sz="24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2332</Words>
  <Application>Microsoft Office PowerPoint</Application>
  <PresentationFormat>全屏显示(4:3)</PresentationFormat>
  <Paragraphs>260</Paragraphs>
  <Slides>30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主题</vt:lpstr>
      <vt:lpstr>幻灯片 1</vt:lpstr>
      <vt:lpstr>第四章 谓词逻辑</vt:lpstr>
      <vt:lpstr>命题逻辑和词项逻辑的局限性</vt:lpstr>
      <vt:lpstr>第四章 谓词逻辑</vt:lpstr>
      <vt:lpstr>个体词、谓词和原子公式</vt:lpstr>
      <vt:lpstr>量词和量化公式</vt:lpstr>
      <vt:lpstr>由量词的辖域引出的概念</vt:lpstr>
      <vt:lpstr>自然语言中性质命题的符号化</vt:lpstr>
      <vt:lpstr>第四章 谓词逻辑</vt:lpstr>
      <vt:lpstr>关系命题与关系谓词</vt:lpstr>
      <vt:lpstr>一阶语言</vt:lpstr>
      <vt:lpstr>量词的重叠和重叠量化式</vt:lpstr>
      <vt:lpstr>自然语言中关系命题的符号化</vt:lpstr>
      <vt:lpstr>第四章 谓词逻辑</vt:lpstr>
      <vt:lpstr>模型和赋值</vt:lpstr>
      <vt:lpstr>普遍有效式</vt:lpstr>
      <vt:lpstr>第四章 谓词逻辑</vt:lpstr>
      <vt:lpstr>一阶树形图方法</vt:lpstr>
      <vt:lpstr>例题</vt:lpstr>
      <vt:lpstr>谓词逻辑是半可判定的</vt:lpstr>
      <vt:lpstr>证明非普遍有效式的方法</vt:lpstr>
      <vt:lpstr>第四章 谓词逻辑</vt:lpstr>
      <vt:lpstr>QN推理规则</vt:lpstr>
      <vt:lpstr>＋规则的补充说明</vt:lpstr>
      <vt:lpstr>幻灯片 25</vt:lpstr>
      <vt:lpstr>QN定理</vt:lpstr>
      <vt:lpstr>QN定理选证（1）</vt:lpstr>
      <vt:lpstr>QN定理选证（2）</vt:lpstr>
      <vt:lpstr>QN有前提推演（1）</vt:lpstr>
      <vt:lpstr>QN有前提推演（2）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CBS</cp:lastModifiedBy>
  <cp:revision>132</cp:revision>
  <dcterms:created xsi:type="dcterms:W3CDTF">2014-08-16T06:26:34Z</dcterms:created>
  <dcterms:modified xsi:type="dcterms:W3CDTF">2014-08-22T06:16:04Z</dcterms:modified>
</cp:coreProperties>
</file>